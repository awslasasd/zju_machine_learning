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892" r:id="rId3"/>
    <p:sldId id="302" r:id="rId4"/>
    <p:sldId id="848" r:id="rId5"/>
    <p:sldId id="625" r:id="rId6"/>
    <p:sldId id="779" r:id="rId7"/>
    <p:sldId id="846" r:id="rId8"/>
    <p:sldId id="847" r:id="rId9"/>
    <p:sldId id="780" r:id="rId10"/>
    <p:sldId id="768" r:id="rId11"/>
    <p:sldId id="813" r:id="rId12"/>
    <p:sldId id="808" r:id="rId13"/>
    <p:sldId id="810" r:id="rId14"/>
    <p:sldId id="811" r:id="rId15"/>
    <p:sldId id="849" r:id="rId16"/>
    <p:sldId id="770" r:id="rId17"/>
    <p:sldId id="789" r:id="rId18"/>
    <p:sldId id="790" r:id="rId19"/>
    <p:sldId id="791" r:id="rId20"/>
    <p:sldId id="850" r:id="rId21"/>
    <p:sldId id="851" r:id="rId22"/>
    <p:sldId id="852" r:id="rId23"/>
    <p:sldId id="855" r:id="rId24"/>
    <p:sldId id="792" r:id="rId25"/>
    <p:sldId id="793" r:id="rId26"/>
    <p:sldId id="795" r:id="rId27"/>
    <p:sldId id="820" r:id="rId28"/>
    <p:sldId id="796" r:id="rId29"/>
    <p:sldId id="819" r:id="rId30"/>
    <p:sldId id="821" r:id="rId31"/>
    <p:sldId id="856" r:id="rId32"/>
    <p:sldId id="774" r:id="rId33"/>
    <p:sldId id="797" r:id="rId34"/>
    <p:sldId id="798" r:id="rId35"/>
    <p:sldId id="799" r:id="rId36"/>
    <p:sldId id="857" r:id="rId37"/>
    <p:sldId id="776" r:id="rId38"/>
    <p:sldId id="802" r:id="rId39"/>
    <p:sldId id="803" r:id="rId40"/>
    <p:sldId id="804" r:id="rId42"/>
    <p:sldId id="805" r:id="rId43"/>
    <p:sldId id="822" r:id="rId44"/>
    <p:sldId id="823" r:id="rId45"/>
    <p:sldId id="858" r:id="rId46"/>
    <p:sldId id="778" r:id="rId47"/>
    <p:sldId id="806" r:id="rId48"/>
    <p:sldId id="891" r:id="rId49"/>
  </p:sldIdLst>
  <p:sldSz cx="12192000" cy="6858000"/>
  <p:notesSz cx="6858000" cy="9144000"/>
  <p:custDataLst>
    <p:tags r:id="rId5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60905" initials="6"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61" d="100"/>
          <a:sy n="161" d="100"/>
        </p:scale>
        <p:origin x="112" y="2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gs" Target="tags/tag84.xml"/><Relationship Id="rId53" Type="http://schemas.openxmlformats.org/officeDocument/2006/relationships/commentAuthors" Target="commentAuthors.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notesMaster" Target="notesMasters/notesMaster1.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tags" Target="../tags/tag5.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image" Target="../media/image20.png"/><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image" Target="../media/image19.png"/><Relationship Id="rId3" Type="http://schemas.openxmlformats.org/officeDocument/2006/relationships/tags" Target="../tags/tag11.xml"/><Relationship Id="rId27" Type="http://schemas.openxmlformats.org/officeDocument/2006/relationships/slideLayout" Target="../slideLayouts/slideLayout2.xml"/><Relationship Id="rId26" Type="http://schemas.openxmlformats.org/officeDocument/2006/relationships/tags" Target="../tags/tag31.xml"/><Relationship Id="rId25" Type="http://schemas.openxmlformats.org/officeDocument/2006/relationships/tags" Target="../tags/tag30.xml"/><Relationship Id="rId24" Type="http://schemas.openxmlformats.org/officeDocument/2006/relationships/image" Target="../media/image21.png"/><Relationship Id="rId23" Type="http://schemas.openxmlformats.org/officeDocument/2006/relationships/tags" Target="../tags/tag29.xml"/><Relationship Id="rId22" Type="http://schemas.openxmlformats.org/officeDocument/2006/relationships/tags" Target="../tags/tag28.xml"/><Relationship Id="rId21" Type="http://schemas.openxmlformats.org/officeDocument/2006/relationships/tags" Target="../tags/tag27.xml"/><Relationship Id="rId20" Type="http://schemas.openxmlformats.org/officeDocument/2006/relationships/tags" Target="../tags/tag26.xml"/><Relationship Id="rId2" Type="http://schemas.openxmlformats.org/officeDocument/2006/relationships/tags" Target="../tags/tag10.xml"/><Relationship Id="rId19" Type="http://schemas.openxmlformats.org/officeDocument/2006/relationships/tags" Target="../tags/tag25.xml"/><Relationship Id="rId18" Type="http://schemas.openxmlformats.org/officeDocument/2006/relationships/tags" Target="../tags/tag24.xml"/><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5.png"/><Relationship Id="rId2" Type="http://schemas.openxmlformats.org/officeDocument/2006/relationships/tags" Target="../tags/tag32.xml"/><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tags" Target="../tags/tag33.xml"/><Relationship Id="rId1"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6.png"/><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image" Target="../media/image3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7.xml"/><Relationship Id="rId3" Type="http://schemas.openxmlformats.org/officeDocument/2006/relationships/image" Target="../media/image40.png"/><Relationship Id="rId2" Type="http://schemas.openxmlformats.org/officeDocument/2006/relationships/tags" Target="../tags/tag36.xml"/><Relationship Id="rId1"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tags" Target="../tags/tag38.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3.png"/><Relationship Id="rId2" Type="http://schemas.openxmlformats.org/officeDocument/2006/relationships/tags" Target="../tags/tag39.xml"/><Relationship Id="rId1" Type="http://schemas.openxmlformats.org/officeDocument/2006/relationships/image" Target="../media/image42.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tags" Target="../tags/tag4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tags" Target="../tags/tag41.xml"/></Relationships>
</file>

<file path=ppt/slides/_rels/slide38.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1" Type="http://schemas.openxmlformats.org/officeDocument/2006/relationships/notesSlide" Target="../notesSlides/notesSlide1.xml"/><Relationship Id="rId20" Type="http://schemas.openxmlformats.org/officeDocument/2006/relationships/slideLayout" Target="../slideLayouts/slideLayout2.xml"/><Relationship Id="rId2" Type="http://schemas.openxmlformats.org/officeDocument/2006/relationships/tags" Target="../tags/tag42.xml"/><Relationship Id="rId19" Type="http://schemas.openxmlformats.org/officeDocument/2006/relationships/tags" Target="../tags/tag56.xml"/><Relationship Id="rId18" Type="http://schemas.openxmlformats.org/officeDocument/2006/relationships/tags" Target="../tags/tag55.xml"/><Relationship Id="rId17" Type="http://schemas.openxmlformats.org/officeDocument/2006/relationships/tags" Target="../tags/tag54.xml"/><Relationship Id="rId16" Type="http://schemas.openxmlformats.org/officeDocument/2006/relationships/tags" Target="../tags/tag53.xml"/><Relationship Id="rId15" Type="http://schemas.openxmlformats.org/officeDocument/2006/relationships/tags" Target="../tags/tag52.xml"/><Relationship Id="rId14" Type="http://schemas.openxmlformats.org/officeDocument/2006/relationships/image" Target="../media/image51.png"/><Relationship Id="rId13" Type="http://schemas.openxmlformats.org/officeDocument/2006/relationships/tags" Target="../tags/tag51.xml"/><Relationship Id="rId12" Type="http://schemas.openxmlformats.org/officeDocument/2006/relationships/image" Target="../media/image50.png"/><Relationship Id="rId11" Type="http://schemas.openxmlformats.org/officeDocument/2006/relationships/tags" Target="../tags/tag50.xml"/><Relationship Id="rId10" Type="http://schemas.openxmlformats.org/officeDocument/2006/relationships/image" Target="../media/image49.png"/><Relationship Id="rId1" Type="http://schemas.openxmlformats.org/officeDocument/2006/relationships/image" Target="../media/image48.png"/></Relationships>
</file>

<file path=ppt/slides/_rels/slide39.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image" Target="../media/image53.png"/><Relationship Id="rId3" Type="http://schemas.openxmlformats.org/officeDocument/2006/relationships/tags" Target="../tags/tag58.xml"/><Relationship Id="rId24" Type="http://schemas.openxmlformats.org/officeDocument/2006/relationships/slideLayout" Target="../slideLayouts/slideLayout2.xml"/><Relationship Id="rId23" Type="http://schemas.openxmlformats.org/officeDocument/2006/relationships/tags" Target="../tags/tag76.xml"/><Relationship Id="rId22" Type="http://schemas.openxmlformats.org/officeDocument/2006/relationships/tags" Target="../tags/tag75.xml"/><Relationship Id="rId21" Type="http://schemas.openxmlformats.org/officeDocument/2006/relationships/tags" Target="../tags/tag74.xml"/><Relationship Id="rId20" Type="http://schemas.openxmlformats.org/officeDocument/2006/relationships/tags" Target="../tags/tag73.xml"/><Relationship Id="rId2" Type="http://schemas.openxmlformats.org/officeDocument/2006/relationships/tags" Target="../tags/tag57.xml"/><Relationship Id="rId19" Type="http://schemas.openxmlformats.org/officeDocument/2006/relationships/tags" Target="../tags/tag72.xml"/><Relationship Id="rId18" Type="http://schemas.openxmlformats.org/officeDocument/2006/relationships/tags" Target="../tags/tag71.xml"/><Relationship Id="rId17" Type="http://schemas.openxmlformats.org/officeDocument/2006/relationships/tags" Target="../tags/tag70.xml"/><Relationship Id="rId16" Type="http://schemas.openxmlformats.org/officeDocument/2006/relationships/tags" Target="../tags/tag69.xml"/><Relationship Id="rId15" Type="http://schemas.openxmlformats.org/officeDocument/2006/relationships/tags" Target="../tags/tag68.xml"/><Relationship Id="rId14" Type="http://schemas.openxmlformats.org/officeDocument/2006/relationships/tags" Target="../tags/tag67.xml"/><Relationship Id="rId13" Type="http://schemas.openxmlformats.org/officeDocument/2006/relationships/image" Target="../media/image54.png"/><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image" Target="../media/image52.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6.png"/><Relationship Id="rId1" Type="http://schemas.openxmlformats.org/officeDocument/2006/relationships/image" Target="../media/image55.png"/></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image" Target="../media/image58.png"/><Relationship Id="rId1" Type="http://schemas.openxmlformats.org/officeDocument/2006/relationships/image" Target="../media/image57.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4.png"/><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image" Target="../media/image19.png"/><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tags" Target="../tags/tag80.xml"/><Relationship Id="rId1" Type="http://schemas.openxmlformats.org/officeDocument/2006/relationships/tags" Target="../tags/tag79.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5.png"/><Relationship Id="rId1" Type="http://schemas.openxmlformats.org/officeDocument/2006/relationships/tags" Target="../tags/tag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封面背景"/>
          <p:cNvPicPr>
            <a:picLocks noChangeAspect="1"/>
          </p:cNvPicPr>
          <p:nvPr/>
        </p:nvPicPr>
        <p:blipFill>
          <a:blip r:embed="rId1"/>
          <a:stretch>
            <a:fillRect/>
          </a:stretch>
        </p:blipFill>
        <p:spPr>
          <a:xfrm>
            <a:off x="9041450" y="3777941"/>
            <a:ext cx="3083698" cy="2840509"/>
          </a:xfrm>
          <a:prstGeom prst="rect">
            <a:avLst/>
          </a:prstGeom>
        </p:spPr>
      </p:pic>
      <p:pic>
        <p:nvPicPr>
          <p:cNvPr id="6" name="图片 5" descr="AI"/>
          <p:cNvPicPr>
            <a:picLocks noChangeAspect="1"/>
          </p:cNvPicPr>
          <p:nvPr/>
        </p:nvPicPr>
        <p:blipFill>
          <a:blip r:embed="rId2"/>
          <a:stretch>
            <a:fillRect/>
          </a:stretch>
        </p:blipFill>
        <p:spPr>
          <a:xfrm>
            <a:off x="0" y="658027"/>
            <a:ext cx="4818380" cy="3021330"/>
          </a:xfrm>
          <a:prstGeom prst="rect">
            <a:avLst/>
          </a:prstGeom>
        </p:spPr>
      </p:pic>
      <p:sp>
        <p:nvSpPr>
          <p:cNvPr id="7" name="矩形 6"/>
          <p:cNvSpPr/>
          <p:nvPr/>
        </p:nvSpPr>
        <p:spPr>
          <a:xfrm>
            <a:off x="4991201" y="4172834"/>
            <a:ext cx="6096000" cy="2214880"/>
          </a:xfrm>
          <a:prstGeom prst="rect">
            <a:avLst/>
          </a:prstGeom>
        </p:spPr>
        <p:txBody>
          <a:bodyPr>
            <a:spAutoFit/>
          </a:bodyPr>
          <a:lstStyle/>
          <a:p>
            <a:pPr lvl="1">
              <a:lnSpc>
                <a:spcPct val="150000"/>
              </a:lnSpc>
            </a:pPr>
            <a:r>
              <a:rPr lang="zh-CN" altLang="en-US" sz="3600" b="1" dirty="0" smtClean="0">
                <a:latin typeface="黑体" panose="02010609060101010101" charset="-122"/>
                <a:ea typeface="黑体" panose="02010609060101010101" charset="-122"/>
                <a:cs typeface="Times New Roman" panose="02020603050405020304" charset="0"/>
              </a:rPr>
              <a:t>周建光</a:t>
            </a:r>
            <a:endParaRPr lang="en-US" altLang="zh-CN" sz="3600" b="1" dirty="0" smtClean="0">
              <a:latin typeface="黑体" panose="02010609060101010101" charset="-122"/>
              <a:ea typeface="黑体" panose="02010609060101010101" charset="-122"/>
              <a:cs typeface="Times New Roman" panose="02020603050405020304" charset="0"/>
            </a:endParaRPr>
          </a:p>
          <a:p>
            <a:pPr lvl="1">
              <a:lnSpc>
                <a:spcPct val="150000"/>
              </a:lnSpc>
            </a:pPr>
            <a:r>
              <a:rPr lang="en-US" altLang="zh-CN" sz="2800" b="1" dirty="0" err="1" smtClean="0">
                <a:latin typeface="Times New Roman" panose="02020603050405020304" charset="0"/>
                <a:cs typeface="Times New Roman" panose="02020603050405020304" charset="0"/>
              </a:rPr>
              <a:t>jgzhou</a:t>
            </a:r>
            <a:r>
              <a:rPr lang="zh-CN" altLang="en-US" sz="2800" b="1" dirty="0">
                <a:latin typeface="Times New Roman" panose="02020603050405020304" charset="0"/>
                <a:cs typeface="Times New Roman" panose="02020603050405020304" charset="0"/>
              </a:rPr>
              <a:t>@zju.edu.cn 		</a:t>
            </a:r>
            <a:endParaRPr lang="zh-CN" altLang="en-US" sz="2800" b="1" dirty="0">
              <a:latin typeface="Times New Roman" panose="02020603050405020304" charset="0"/>
              <a:cs typeface="Times New Roman" panose="02020603050405020304" charset="0"/>
            </a:endParaRPr>
          </a:p>
          <a:p>
            <a:pPr lvl="1">
              <a:lnSpc>
                <a:spcPct val="150000"/>
              </a:lnSpc>
            </a:pPr>
            <a:r>
              <a:rPr lang="en-US" altLang="zh-CN" sz="2800" b="1" dirty="0" smtClean="0">
                <a:latin typeface="Times New Roman" panose="02020603050405020304" charset="0"/>
                <a:cs typeface="Times New Roman" panose="02020603050405020304" charset="0"/>
              </a:rPr>
              <a:t>15988109537</a:t>
            </a:r>
            <a:endParaRPr lang="zh-CN" altLang="en-US" sz="2800" b="1" kern="0" dirty="0">
              <a:solidFill>
                <a:srgbClr val="0000FF"/>
              </a:solidFill>
              <a:latin typeface="微软雅黑" panose="020B0503020204020204" charset="-122"/>
              <a:ea typeface="微软雅黑" panose="020B0503020204020204" charset="-122"/>
            </a:endParaRPr>
          </a:p>
        </p:txBody>
      </p:sp>
      <p:sp>
        <p:nvSpPr>
          <p:cNvPr id="8" name="文本框 7"/>
          <p:cNvSpPr txBox="1"/>
          <p:nvPr/>
        </p:nvSpPr>
        <p:spPr>
          <a:xfrm>
            <a:off x="4818380" y="2000543"/>
            <a:ext cx="7200900" cy="1015663"/>
          </a:xfrm>
          <a:prstGeom prst="rect">
            <a:avLst/>
          </a:prstGeom>
          <a:noFill/>
        </p:spPr>
        <p:txBody>
          <a:bodyPr wrap="square" rtlCol="0">
            <a:spAutoFit/>
          </a:bodyPr>
          <a:lstStyle/>
          <a:p>
            <a:pPr algn="ctr"/>
            <a:r>
              <a:rPr lang="zh-CN" altLang="en-US" sz="6000" dirty="0" smtClean="0">
                <a:solidFill>
                  <a:srgbClr val="FF0000"/>
                </a:solidFill>
                <a:latin typeface="华文琥珀" panose="02010800040101010101" pitchFamily="2" charset="-122"/>
                <a:ea typeface="华文琥珀" panose="02010800040101010101" pitchFamily="2" charset="-122"/>
                <a:cs typeface="Times New Roman" panose="02020603050405020304" charset="0"/>
              </a:rPr>
              <a:t>人工智能</a:t>
            </a:r>
            <a:r>
              <a:rPr lang="zh-CN" altLang="en-US" sz="6000" dirty="0" smtClean="0">
                <a:solidFill>
                  <a:srgbClr val="FF0000"/>
                </a:solidFill>
                <a:latin typeface="华文琥珀" panose="02010800040101010101" pitchFamily="2" charset="-122"/>
                <a:ea typeface="华文琥珀" panose="02010800040101010101" pitchFamily="2" charset="-122"/>
                <a:cs typeface="Times New Roman" panose="02020603050405020304" charset="0"/>
              </a:rPr>
              <a:t>与机器人</a:t>
            </a:r>
            <a:endParaRPr lang="zh-CN" altLang="en-US" sz="6000" dirty="0">
              <a:solidFill>
                <a:srgbClr val="FF0000"/>
              </a:solidFill>
              <a:latin typeface="华文琥珀" panose="02010800040101010101" pitchFamily="2" charset="-122"/>
              <a:ea typeface="华文琥珀" panose="02010800040101010101" pitchFamily="2" charset="-122"/>
              <a:cs typeface="Times New Roman" panose="02020603050405020304" charset="0"/>
            </a:endParaRPr>
          </a:p>
        </p:txBody>
      </p:sp>
      <p:pic>
        <p:nvPicPr>
          <p:cNvPr id="9" name="图片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943211"/>
            <a:ext cx="4777356" cy="2675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p:cNvPicPr>
            <a:picLocks noChangeAspect="1"/>
          </p:cNvPicPr>
          <p:nvPr/>
        </p:nvPicPr>
        <p:blipFill>
          <a:blip r:embed="rId4" cstate="print"/>
          <a:stretch>
            <a:fillRect/>
          </a:stretch>
        </p:blipFill>
        <p:spPr>
          <a:xfrm>
            <a:off x="8475860" y="0"/>
            <a:ext cx="3710248" cy="1046480"/>
          </a:xfrm>
          <a:prstGeom prst="rect">
            <a:avLst/>
          </a:prstGeom>
        </p:spPr>
      </p:pic>
    </p:spTree>
  </p:cSld>
  <p:clrMapOvr>
    <a:masterClrMapping/>
  </p:clrMapOvr>
  <p:transition advTm="30417"/>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4685665" cy="1325880"/>
          </a:xfrm>
        </p:spPr>
        <p:txBody>
          <a:bodyPr/>
          <a:lstStyle/>
          <a:p>
            <a:r>
              <a:rPr lang="zh-CN" altLang="en-US" dirty="0"/>
              <a:t>本课程内容</a:t>
            </a:r>
            <a:endParaRPr lang="en-GB" dirty="0"/>
          </a:p>
        </p:txBody>
      </p:sp>
      <p:sp>
        <p:nvSpPr>
          <p:cNvPr id="6" name="Content Placeholder 5"/>
          <p:cNvSpPr>
            <a:spLocks noGrp="1"/>
          </p:cNvSpPr>
          <p:nvPr>
            <p:ph idx="1"/>
          </p:nvPr>
        </p:nvSpPr>
        <p:spPr>
          <a:xfrm>
            <a:off x="838200" y="1764030"/>
            <a:ext cx="3955415" cy="2896870"/>
          </a:xfrm>
        </p:spPr>
        <p:txBody>
          <a:bodyPr/>
          <a:lstStyle/>
          <a:p>
            <a:r>
              <a:rPr lang="zh-CN" altLang="en-US" sz="2000" dirty="0"/>
              <a:t>人工智能与机器学习绪论</a:t>
            </a:r>
            <a:endParaRPr lang="zh-CN" altLang="en-US" sz="2000" dirty="0"/>
          </a:p>
          <a:p>
            <a:r>
              <a:rPr lang="zh-CN" altLang="en-US" sz="2000" dirty="0">
                <a:sym typeface="+mn-ea"/>
              </a:rPr>
              <a:t>机器学习——概念学习</a:t>
            </a:r>
            <a:endParaRPr lang="zh-CN" altLang="en-US" sz="2000" dirty="0"/>
          </a:p>
          <a:p>
            <a:pPr algn="l">
              <a:buClrTx/>
              <a:buSzTx/>
            </a:pPr>
            <a:r>
              <a:rPr lang="zh-CN" altLang="en-US" sz="2000" dirty="0"/>
              <a:t>机器学习——决策树与随机森林</a:t>
            </a:r>
            <a:endParaRPr lang="zh-CN" altLang="en-US" sz="2000" dirty="0"/>
          </a:p>
          <a:p>
            <a:pPr algn="l">
              <a:buClrTx/>
              <a:buSzTx/>
            </a:pPr>
            <a:r>
              <a:rPr lang="zh-CN" altLang="en-US" sz="2000" dirty="0"/>
              <a:t>机器学习——神经网络</a:t>
            </a:r>
            <a:endParaRPr lang="zh-CN" altLang="en-US" sz="2000" dirty="0"/>
          </a:p>
          <a:p>
            <a:pPr algn="l">
              <a:buClrTx/>
              <a:buSzTx/>
            </a:pPr>
            <a:r>
              <a:rPr lang="zh-CN" altLang="en-US" sz="2000" dirty="0">
                <a:sym typeface="+mn-ea"/>
              </a:rPr>
              <a:t>机器学习——支持向量机</a:t>
            </a:r>
            <a:endParaRPr lang="zh-CN" altLang="en-US" sz="2000" dirty="0">
              <a:sym typeface="+mn-ea"/>
            </a:endParaRPr>
          </a:p>
          <a:p>
            <a:pPr algn="l">
              <a:buClrTx/>
              <a:buSzTx/>
            </a:pPr>
            <a:r>
              <a:rPr lang="zh-CN" altLang="en-US" sz="2000" b="1" dirty="0">
                <a:solidFill>
                  <a:schemeClr val="accent5">
                    <a:lumMod val="75000"/>
                  </a:schemeClr>
                </a:solidFill>
                <a:sym typeface="+mn-ea"/>
              </a:rPr>
              <a:t>机器学习——贝叶斯分类器</a:t>
            </a:r>
            <a:endParaRPr lang="zh-CN" altLang="en-US" sz="2000" b="1" dirty="0">
              <a:solidFill>
                <a:schemeClr val="accent5">
                  <a:lumMod val="75000"/>
                </a:schemeClr>
              </a:solidFill>
              <a:sym typeface="+mn-ea"/>
            </a:endParaRPr>
          </a:p>
          <a:p>
            <a:r>
              <a:rPr lang="zh-CN" altLang="en-US" sz="2000" dirty="0">
                <a:sym typeface="+mn-ea"/>
              </a:rPr>
              <a:t>机器学习</a:t>
            </a:r>
            <a:r>
              <a:rPr lang="en-US" altLang="zh-CN" sz="2000" dirty="0">
                <a:sym typeface="+mn-ea"/>
              </a:rPr>
              <a:t>——</a:t>
            </a:r>
            <a:r>
              <a:rPr lang="zh-CN" altLang="en-US" sz="2000" dirty="0">
                <a:sym typeface="+mn-ea"/>
              </a:rPr>
              <a:t>强化学习</a:t>
            </a: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flipH="1">
            <a:off x="3823652" y="1411646"/>
            <a:ext cx="5080" cy="475932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p:sp>
        <p:nvSpPr>
          <p:cNvPr id="2" name="文本框 1"/>
          <p:cNvSpPr txBox="1"/>
          <p:nvPr/>
        </p:nvSpPr>
        <p:spPr>
          <a:xfrm>
            <a:off x="4094480" y="1411605"/>
            <a:ext cx="6861175" cy="4759325"/>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贝叶斯定理</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贝叶斯决策论</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极大似然估计</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利用贝叶斯解决实际问题：拼写纠错</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半朴素贝叶斯分类器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贝叶斯网</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6115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贝叶斯定理</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01625" y="1195070"/>
            <a:ext cx="11321415" cy="922020"/>
          </a:xfrm>
          <a:prstGeom prst="rect">
            <a:avLst/>
          </a:prstGeom>
          <a:noFill/>
        </p:spPr>
        <p:txBody>
          <a:bodyPr wrap="square" rtlCol="0" anchor="t">
            <a:spAutoFit/>
          </a:bodyPr>
          <a:p>
            <a:pPr indent="457200"/>
            <a:r>
              <a:rPr lang="zh-CN" altLang="en-US"/>
              <a:t>贝叶斯定理的发明者</a:t>
            </a:r>
            <a:r>
              <a:rPr lang="zh-CN" altLang="en-US">
                <a:solidFill>
                  <a:schemeClr val="accent1"/>
                </a:solidFill>
                <a:effectLst>
                  <a:outerShdw blurRad="38100" dist="25400" dir="5400000" algn="ctr" rotWithShape="0">
                    <a:srgbClr val="6E747A">
                      <a:alpha val="43000"/>
                    </a:srgbClr>
                  </a:outerShdw>
                </a:effectLst>
              </a:rPr>
              <a:t>托马斯·贝叶斯</a:t>
            </a:r>
            <a:r>
              <a:rPr lang="zh-CN" altLang="en-US"/>
              <a:t>提出了一个很有意思的假设：</a:t>
            </a:r>
            <a:r>
              <a:rPr lang="en-US" altLang="zh-CN"/>
              <a:t>“</a:t>
            </a:r>
            <a:r>
              <a:rPr lang="zh-CN" altLang="en-US"/>
              <a:t>如果一个袋子中共有 10 个球，分别是黑球和白球，但是我们不知道它们之间的比例是怎么样的，现在，仅通过摸出的球的颜色，是否能判断出袋子里面黑白球的比例？</a:t>
            </a:r>
            <a:r>
              <a:rPr lang="en-US" altLang="zh-CN"/>
              <a:t>”</a:t>
            </a:r>
            <a:endParaRPr lang="en-US" altLang="zh-CN"/>
          </a:p>
        </p:txBody>
      </p:sp>
      <p:pic>
        <p:nvPicPr>
          <p:cNvPr id="6" name="图片 5" descr="托马斯贝叶斯"/>
          <p:cNvPicPr>
            <a:picLocks noChangeAspect="1"/>
          </p:cNvPicPr>
          <p:nvPr>
            <p:custDataLst>
              <p:tags r:id="rId1"/>
            </p:custDataLst>
          </p:nvPr>
        </p:nvPicPr>
        <p:blipFill>
          <a:blip r:embed="rId2"/>
          <a:stretch>
            <a:fillRect/>
          </a:stretch>
        </p:blipFill>
        <p:spPr>
          <a:xfrm>
            <a:off x="8611235" y="2606040"/>
            <a:ext cx="2895600" cy="3105150"/>
          </a:xfrm>
          <a:prstGeom prst="rect">
            <a:avLst/>
          </a:prstGeom>
        </p:spPr>
      </p:pic>
      <p:sp>
        <p:nvSpPr>
          <p:cNvPr id="7" name="文本框 6"/>
          <p:cNvSpPr txBox="1"/>
          <p:nvPr/>
        </p:nvSpPr>
        <p:spPr>
          <a:xfrm>
            <a:off x="9237980" y="5775325"/>
            <a:ext cx="1642110" cy="368300"/>
          </a:xfrm>
          <a:prstGeom prst="rect">
            <a:avLst/>
          </a:prstGeom>
          <a:noFill/>
        </p:spPr>
        <p:txBody>
          <a:bodyPr wrap="square" rtlCol="0" anchor="t">
            <a:spAutoFit/>
          </a:bodyPr>
          <a:p>
            <a:r>
              <a:rPr lang="zh-CN" altLang="en-US">
                <a:solidFill>
                  <a:schemeClr val="accent1"/>
                </a:solidFill>
                <a:effectLst>
                  <a:outerShdw blurRad="38100" dist="25400" dir="5400000" algn="ctr" rotWithShape="0">
                    <a:srgbClr val="6E747A">
                      <a:alpha val="43000"/>
                    </a:srgbClr>
                  </a:outerShdw>
                </a:effectLst>
                <a:sym typeface="+mn-ea"/>
              </a:rPr>
              <a:t>托马斯·贝叶斯</a:t>
            </a:r>
            <a:endParaRPr lang="zh-CN" altLang="en-US">
              <a:solidFill>
                <a:schemeClr val="accent1"/>
              </a:solidFill>
              <a:effectLst>
                <a:outerShdw blurRad="38100" dist="25400" dir="5400000" algn="ctr" rotWithShape="0">
                  <a:srgbClr val="6E747A">
                    <a:alpha val="43000"/>
                  </a:srgbClr>
                </a:outerShdw>
              </a:effectLst>
              <a:sym typeface="+mn-ea"/>
            </a:endParaRPr>
          </a:p>
        </p:txBody>
      </p:sp>
      <p:sp>
        <p:nvSpPr>
          <p:cNvPr id="9" name="文本框 8"/>
          <p:cNvSpPr txBox="1"/>
          <p:nvPr/>
        </p:nvSpPr>
        <p:spPr>
          <a:xfrm>
            <a:off x="542925" y="2978150"/>
            <a:ext cx="7397750" cy="1753235"/>
          </a:xfrm>
          <a:prstGeom prst="rect">
            <a:avLst/>
          </a:prstGeom>
          <a:noFill/>
        </p:spPr>
        <p:txBody>
          <a:bodyPr wrap="square" rtlCol="0" anchor="t">
            <a:spAutoFit/>
          </a:bodyPr>
          <a:p>
            <a:pPr indent="457200"/>
            <a:r>
              <a:rPr lang="zh-CN" altLang="en-US"/>
              <a:t>上述问题可能与我们高中时期所接受的的概率有所冲突，因为你所接触的概率问题可能是这样的：</a:t>
            </a:r>
            <a:r>
              <a:rPr lang="en-US" altLang="zh-CN"/>
              <a:t>“</a:t>
            </a:r>
            <a:r>
              <a:rPr lang="zh-CN" altLang="en-US"/>
              <a:t>一个袋子里面有 10 个球，其中 4 个黑球，6 个白球，如果你随机抓取一个球，那么是黑球的概率是多少？</a:t>
            </a:r>
            <a:r>
              <a:rPr lang="en-US" altLang="zh-CN"/>
              <a:t>”  </a:t>
            </a:r>
            <a:r>
              <a:rPr lang="zh-CN" altLang="en-US"/>
              <a:t>毫无疑问，答案是 0.4，这个问题非常简单，因为我们事先知道了袋子里面黑球和白球的比例，所以很容易算出摸一个球的概率，但是在某些复杂情况下，我们无法得知比例，此时就引出了贝叶斯提出的问题</a:t>
            </a:r>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6115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贝叶斯定理</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8" name="文本框 7"/>
          <p:cNvSpPr txBox="1"/>
          <p:nvPr/>
        </p:nvSpPr>
        <p:spPr>
          <a:xfrm>
            <a:off x="419735" y="1195070"/>
            <a:ext cx="11066145" cy="1753235"/>
          </a:xfrm>
          <a:prstGeom prst="rect">
            <a:avLst/>
          </a:prstGeom>
          <a:noFill/>
        </p:spPr>
        <p:txBody>
          <a:bodyPr wrap="square" rtlCol="0" anchor="t">
            <a:spAutoFit/>
          </a:bodyPr>
          <a:p>
            <a:r>
              <a:rPr lang="zh-CN" altLang="en-US">
                <a:solidFill>
                  <a:schemeClr val="accent1"/>
                </a:solidFill>
                <a:effectLst>
                  <a:outerShdw blurRad="38100" dist="25400" dir="5400000" algn="ctr" rotWithShape="0">
                    <a:srgbClr val="6E747A">
                      <a:alpha val="43000"/>
                    </a:srgbClr>
                  </a:outerShdw>
                </a:effectLst>
              </a:rPr>
              <a:t>贝叶斯定理</a:t>
            </a:r>
            <a:r>
              <a:rPr lang="zh-CN" altLang="en-US"/>
              <a:t>：英国学者贝叶斯曾提出计算条件概率的公式用来解决如下一类问题：假设H[1], H[2]…H[n]互斥且构成一个完全事件，已知它们的概率P(H[i])（i=1,2…n），现观察到某事件A与H[1], H[2]…H[n]相伴随机出现，且已知条件概率P(A|H[i])，求P(H[i]|A)</a:t>
            </a:r>
            <a:endParaRPr lang="zh-CN" altLang="en-US"/>
          </a:p>
          <a:p>
            <a:endParaRPr lang="zh-CN" altLang="en-US"/>
          </a:p>
          <a:p>
            <a:r>
              <a:rPr lang="zh-CN" altLang="en-US"/>
              <a:t>通俗易懂的方式描述一下</a:t>
            </a:r>
            <a:r>
              <a:rPr lang="zh-CN" altLang="en-US">
                <a:solidFill>
                  <a:schemeClr val="accent1"/>
                </a:solidFill>
                <a:effectLst>
                  <a:outerShdw blurRad="38100" dist="25400" dir="5400000" algn="ctr" rotWithShape="0">
                    <a:srgbClr val="6E747A">
                      <a:alpha val="43000"/>
                    </a:srgbClr>
                  </a:outerShdw>
                </a:effectLst>
              </a:rPr>
              <a:t>贝叶斯定理</a:t>
            </a:r>
            <a:r>
              <a:rPr lang="zh-CN" altLang="en-US"/>
              <a:t>：通常，事件 A 在事件 B 发生的条件下发生与事件 B 在事件 A 发生的条件下发生的概率并不相同，但是它们两者之间存在一定的相关性，并具有以下公式（称之为</a:t>
            </a:r>
            <a:r>
              <a:rPr lang="zh-CN" altLang="en-US">
                <a:solidFill>
                  <a:schemeClr val="accent1"/>
                </a:solidFill>
                <a:effectLst>
                  <a:outerShdw blurRad="38100" dist="25400" dir="5400000" algn="ctr" rotWithShape="0">
                    <a:srgbClr val="6E747A">
                      <a:alpha val="43000"/>
                    </a:srgbClr>
                  </a:outerShdw>
                </a:effectLst>
              </a:rPr>
              <a:t>贝叶斯公式</a:t>
            </a:r>
            <a:r>
              <a:rPr lang="zh-CN" altLang="en-US"/>
              <a:t>）：</a:t>
            </a:r>
            <a:endParaRPr lang="zh-CN" altLang="en-US"/>
          </a:p>
        </p:txBody>
      </p:sp>
      <mc:AlternateContent xmlns:mc="http://schemas.openxmlformats.org/markup-compatibility/2006">
        <mc:Choice xmlns:a14="http://schemas.microsoft.com/office/drawing/2010/main" Requires="a14">
          <p:sp>
            <p:nvSpPr>
              <p:cNvPr id="10" name="文本框 9"/>
              <p:cNvSpPr txBox="1"/>
              <p:nvPr/>
            </p:nvSpPr>
            <p:spPr>
              <a:xfrm>
                <a:off x="4690681" y="3170174"/>
                <a:ext cx="3520440" cy="66294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den>
                      </m:f>
                    </m:oMath>
                  </m:oMathPara>
                </a14:m>
                <a:endParaRPr lang="zh-CN" altLang="en-US"/>
              </a:p>
            </p:txBody>
          </p:sp>
        </mc:Choice>
        <mc:Fallback>
          <p:sp>
            <p:nvSpPr>
              <p:cNvPr id="10" name="文本框 9"/>
              <p:cNvSpPr txBox="1">
                <a:spLocks noRot="1" noChangeAspect="1" noMove="1" noResize="1" noEditPoints="1" noAdjustHandles="1" noChangeArrowheads="1" noChangeShapeType="1" noTextEdit="1"/>
              </p:cNvSpPr>
              <p:nvPr/>
            </p:nvSpPr>
            <p:spPr>
              <a:xfrm>
                <a:off x="4690681" y="3170174"/>
                <a:ext cx="3520440" cy="662940"/>
              </a:xfrm>
              <a:prstGeom prst="rect">
                <a:avLst/>
              </a:prstGeom>
              <a:blipFill rotWithShape="1">
                <a:blip r:embed="rId1"/>
                <a:stretch>
                  <a:fillRect l="-16" t="-38" r="16"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523240" y="4114165"/>
                <a:ext cx="10554970" cy="1891665"/>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先验概率</a:t>
                </a:r>
                <a:r>
                  <a:rPr lang="zh-CN" altLang="en-US"/>
                  <a:t>：</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，事件发生前的预判概率。可以是基于历史数据的统计，可以由背景常识得出，也可以是人的主观观点给出。一般都是单独事件概率</a:t>
                </a: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条件概率</a:t>
                </a:r>
                <a:r>
                  <a:rPr lang="zh-CN" altLang="en-US">
                    <a:latin typeface="Cambria Math" panose="02040503050406030204" pitchFamily="18" charset="0"/>
                    <a:cs typeface="Cambria Math" panose="02040503050406030204" pitchFamily="18" charset="0"/>
                  </a:rPr>
                  <a:t>：</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，一个事件发生后另一个事件发生的概率</a:t>
                </a: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联合概率</a:t>
                </a:r>
                <a:r>
                  <a:rPr lang="zh-CN" altLang="en-US">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𝑃</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𝐴</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𝐵</m:t>
                    </m:r>
                    <m:r>
                      <a:rPr lang="en-US" altLang="zh-CN" i="1">
                        <a:latin typeface="Cambria Math" panose="02040503050406030204" pitchFamily="18" charset="0"/>
                        <a:cs typeface="Cambria Math" panose="02040503050406030204" pitchFamily="18" charset="0"/>
                        <a:sym typeface="+mn-ea"/>
                      </a:rPr>
                      <m:t>)</m:t>
                    </m:r>
                  </m:oMath>
                </a14:m>
                <a:r>
                  <a:rPr lang="zh-CN" altLang="en-US">
                    <a:latin typeface="Cambria Math" panose="02040503050406030204" pitchFamily="18" charset="0"/>
                    <a:cs typeface="Cambria Math" panose="02040503050406030204" pitchFamily="18" charset="0"/>
                    <a:sym typeface="+mn-ea"/>
                  </a:rPr>
                  <a:t>，两个事件同时发生的概率</a:t>
                </a:r>
                <a:endPar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endParaRPr>
              </a:p>
              <a:p>
                <a:pPr>
                  <a:lnSpc>
                    <a:spcPct val="50000"/>
                  </a:lnSpc>
                </a:pPr>
                <a:endPar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endParaRPr>
              </a:p>
              <a:p>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后验概率</a:t>
                </a:r>
                <a:r>
                  <a:rPr lang="zh-CN" altLang="en-US">
                    <a:latin typeface="Cambria Math" panose="02040503050406030204" pitchFamily="18" charset="0"/>
                    <a:cs typeface="Cambria Math" panose="02040503050406030204" pitchFamily="18" charset="0"/>
                  </a:rPr>
                  <a:t>：</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，事件发生后求的反向条件概率；或者说，基于先验概率求得的反向条件概率</a:t>
                </a:r>
                <a:endParaRPr lang="zh-CN" altLang="en-US">
                  <a:latin typeface="Cambria Math" panose="02040503050406030204" pitchFamily="18" charset="0"/>
                  <a:cs typeface="Cambria Math" panose="020405030504060302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523240" y="4114165"/>
                <a:ext cx="10554970" cy="1891665"/>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6115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贝叶斯定理</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8" name="文本框 7"/>
          <p:cNvSpPr txBox="1"/>
          <p:nvPr/>
        </p:nvSpPr>
        <p:spPr>
          <a:xfrm>
            <a:off x="269240" y="1195070"/>
            <a:ext cx="11353800" cy="2167255"/>
          </a:xfrm>
          <a:prstGeom prst="rect">
            <a:avLst/>
          </a:prstGeom>
          <a:noFill/>
        </p:spPr>
        <p:txBody>
          <a:bodyPr wrap="square" rtlCol="0" anchor="t">
            <a:spAutoFit/>
          </a:bodyPr>
          <a:p>
            <a:r>
              <a:rPr lang="zh-CN" altLang="en-US">
                <a:solidFill>
                  <a:schemeClr val="accent1"/>
                </a:solidFill>
                <a:effectLst>
                  <a:outerShdw blurRad="38100" dist="25400" dir="5400000" algn="ctr" rotWithShape="0">
                    <a:srgbClr val="6E747A">
                      <a:alpha val="43000"/>
                    </a:srgbClr>
                  </a:outerShdw>
                </a:effectLst>
              </a:rPr>
              <a:t>先验概率</a:t>
            </a:r>
            <a:r>
              <a:rPr lang="zh-CN" altLang="en-US"/>
              <a:t>：先验概率指根据以往经验和分析得到的概率，它往往作为"</a:t>
            </a:r>
            <a:r>
              <a:rPr lang="zh-CN" altLang="en-US">
                <a:solidFill>
                  <a:schemeClr val="accent2"/>
                </a:solidFill>
              </a:rPr>
              <a:t>由因求果</a:t>
            </a:r>
            <a:r>
              <a:rPr lang="zh-CN" altLang="en-US"/>
              <a:t>"问题中的"</a:t>
            </a:r>
            <a:r>
              <a:rPr lang="zh-CN" altLang="en-US">
                <a:solidFill>
                  <a:schemeClr val="accent2"/>
                </a:solidFill>
              </a:rPr>
              <a:t>因</a:t>
            </a:r>
            <a:r>
              <a:rPr lang="zh-CN" altLang="en-US"/>
              <a:t>"出现的概率</a:t>
            </a:r>
            <a:endParaRPr lang="zh-CN" altLang="en-US"/>
          </a:p>
          <a:p>
            <a:pPr>
              <a:lnSpc>
                <a:spcPct val="50000"/>
              </a:lnSpc>
            </a:pPr>
            <a:endParaRPr lang="zh-CN" altLang="en-US"/>
          </a:p>
          <a:p>
            <a:r>
              <a:rPr lang="zh-CN" altLang="en-US"/>
              <a:t>举例说明何为</a:t>
            </a:r>
            <a:r>
              <a:rPr lang="zh-CN" altLang="en-US">
                <a:solidFill>
                  <a:schemeClr val="accent1"/>
                </a:solidFill>
                <a:effectLst>
                  <a:outerShdw blurRad="38100" dist="25400" dir="5400000" algn="ctr" rotWithShape="0">
                    <a:srgbClr val="6E747A">
                      <a:alpha val="43000"/>
                    </a:srgbClr>
                  </a:outerShdw>
                </a:effectLst>
              </a:rPr>
              <a:t>先验概率</a:t>
            </a:r>
            <a:r>
              <a:rPr lang="zh-CN" altLang="en-US"/>
              <a:t>：</a:t>
            </a:r>
            <a:endParaRPr lang="zh-CN" altLang="en-US"/>
          </a:p>
          <a:p>
            <a:pPr>
              <a:lnSpc>
                <a:spcPct val="40000"/>
              </a:lnSpc>
            </a:pPr>
            <a:endParaRPr lang="zh-CN" altLang="en-US"/>
          </a:p>
          <a:p>
            <a:pPr indent="457200"/>
            <a:r>
              <a:rPr lang="en-US" altLang="zh-CN"/>
              <a:t>1</a:t>
            </a:r>
            <a:r>
              <a:rPr lang="zh-CN" altLang="en-US"/>
              <a:t>）抛一枚硬币，其正面朝上的概率</a:t>
            </a:r>
            <a:endParaRPr lang="zh-CN" altLang="en-US"/>
          </a:p>
          <a:p>
            <a:pPr>
              <a:lnSpc>
                <a:spcPct val="20000"/>
              </a:lnSpc>
            </a:pPr>
            <a:endParaRPr lang="zh-CN" altLang="en-US"/>
          </a:p>
          <a:p>
            <a:pPr indent="457200"/>
            <a:r>
              <a:rPr lang="en-US" altLang="zh-CN"/>
              <a:t>2</a:t>
            </a:r>
            <a:r>
              <a:rPr lang="zh-CN" altLang="en-US"/>
              <a:t>）经大数据统计，中国男人的身高符合正态分布，一个男人170cm身高的概率</a:t>
            </a:r>
            <a:endParaRPr lang="zh-CN" altLang="en-US"/>
          </a:p>
          <a:p>
            <a:pPr indent="457200">
              <a:lnSpc>
                <a:spcPct val="20000"/>
              </a:lnSpc>
            </a:pPr>
            <a:endParaRPr lang="zh-CN" altLang="en-US"/>
          </a:p>
          <a:p>
            <a:pPr indent="457200"/>
            <a:r>
              <a:rPr lang="en-US" altLang="zh-CN"/>
              <a:t>3</a:t>
            </a:r>
            <a:r>
              <a:rPr lang="zh-CN" altLang="en-US"/>
              <a:t>）2022年考研学土木的有10%, 不学土木的有90%，一个考研的人是学土木的概率</a:t>
            </a:r>
            <a:endParaRPr lang="zh-CN" altLang="en-US"/>
          </a:p>
          <a:p>
            <a:pPr indent="457200">
              <a:lnSpc>
                <a:spcPct val="20000"/>
              </a:lnSpc>
            </a:pPr>
            <a:endParaRPr lang="zh-CN" altLang="en-US"/>
          </a:p>
          <a:p>
            <a:pPr indent="457200"/>
            <a:r>
              <a:rPr lang="en-US" altLang="zh-CN"/>
              <a:t>4</a:t>
            </a:r>
            <a:r>
              <a:rPr lang="zh-CN" altLang="en-US"/>
              <a:t>）一批机器已经生产了1000件产品，其中合格的有996件，一个新生产的产品合格的概率</a:t>
            </a:r>
            <a:endParaRPr lang="zh-CN" altLang="en-US"/>
          </a:p>
        </p:txBody>
      </p:sp>
      <p:sp>
        <p:nvSpPr>
          <p:cNvPr id="5" name="文本框 4"/>
          <p:cNvSpPr txBox="1"/>
          <p:nvPr>
            <p:custDataLst>
              <p:tags r:id="rId1"/>
            </p:custDataLst>
          </p:nvPr>
        </p:nvSpPr>
        <p:spPr>
          <a:xfrm>
            <a:off x="301625" y="3820795"/>
            <a:ext cx="11353800" cy="1835150"/>
          </a:xfrm>
          <a:prstGeom prst="rect">
            <a:avLst/>
          </a:prstGeom>
          <a:noFill/>
        </p:spPr>
        <p:txBody>
          <a:bodyPr wrap="square" rtlCol="0" anchor="t">
            <a:spAutoFit/>
          </a:bodyPr>
          <a:p>
            <a:r>
              <a:rPr lang="zh-CN" altLang="en-US">
                <a:solidFill>
                  <a:schemeClr val="accent1"/>
                </a:solidFill>
                <a:effectLst>
                  <a:outerShdw blurRad="38100" dist="25400" dir="5400000" algn="ctr" rotWithShape="0">
                    <a:srgbClr val="6E747A">
                      <a:alpha val="43000"/>
                    </a:srgbClr>
                  </a:outerShdw>
                </a:effectLst>
              </a:rPr>
              <a:t>条件概率</a:t>
            </a:r>
            <a:r>
              <a:rPr lang="zh-CN" altLang="en-US"/>
              <a:t>：条件概率是指事件A在另外一个事件B已经发生条件下的发生概率</a:t>
            </a:r>
            <a:endParaRPr lang="zh-CN" altLang="en-US"/>
          </a:p>
          <a:p>
            <a:pPr>
              <a:lnSpc>
                <a:spcPct val="50000"/>
              </a:lnSpc>
            </a:pPr>
            <a:endParaRPr lang="zh-CN" altLang="en-US"/>
          </a:p>
          <a:p>
            <a:r>
              <a:rPr lang="zh-CN" altLang="en-US"/>
              <a:t>举例说明何为</a:t>
            </a:r>
            <a:r>
              <a:rPr lang="zh-CN" altLang="en-US">
                <a:solidFill>
                  <a:schemeClr val="accent1"/>
                </a:solidFill>
                <a:effectLst>
                  <a:outerShdw blurRad="38100" dist="25400" dir="5400000" algn="ctr" rotWithShape="0">
                    <a:srgbClr val="6E747A">
                      <a:alpha val="43000"/>
                    </a:srgbClr>
                  </a:outerShdw>
                </a:effectLst>
              </a:rPr>
              <a:t>条件概率</a:t>
            </a:r>
            <a:r>
              <a:rPr lang="zh-CN" altLang="en-US"/>
              <a:t>：</a:t>
            </a:r>
            <a:endParaRPr lang="zh-CN" altLang="en-US"/>
          </a:p>
          <a:p>
            <a:pPr>
              <a:lnSpc>
                <a:spcPct val="40000"/>
              </a:lnSpc>
            </a:pPr>
            <a:endParaRPr lang="zh-CN" altLang="en-US"/>
          </a:p>
          <a:p>
            <a:pPr indent="457200"/>
            <a:r>
              <a:rPr lang="en-US" altLang="zh-CN"/>
              <a:t>1</a:t>
            </a:r>
            <a:r>
              <a:rPr lang="zh-CN" altLang="en-US"/>
              <a:t>）掷一个筛子，已知其朝上的为偶数，其朝上的数为</a:t>
            </a:r>
            <a:r>
              <a:rPr lang="en-US" altLang="zh-CN"/>
              <a:t>4</a:t>
            </a:r>
            <a:r>
              <a:rPr lang="zh-CN" altLang="en-US"/>
              <a:t>的概率</a:t>
            </a:r>
            <a:endParaRPr lang="zh-CN" altLang="en-US"/>
          </a:p>
          <a:p>
            <a:pPr>
              <a:lnSpc>
                <a:spcPct val="20000"/>
              </a:lnSpc>
            </a:pPr>
            <a:endParaRPr lang="zh-CN" altLang="en-US"/>
          </a:p>
          <a:p>
            <a:pPr indent="457200"/>
            <a:r>
              <a:rPr lang="en-US" altLang="zh-CN"/>
              <a:t>2</a:t>
            </a:r>
            <a:r>
              <a:rPr lang="zh-CN" altLang="en-US"/>
              <a:t>）核酸试剂盒的阳性准确率为</a:t>
            </a:r>
            <a:r>
              <a:rPr lang="en-US" altLang="zh-CN"/>
              <a:t>97%</a:t>
            </a:r>
            <a:r>
              <a:rPr lang="zh-CN" altLang="en-US"/>
              <a:t>，已知测试结果为阳性，中招的概率</a:t>
            </a:r>
            <a:endParaRPr lang="zh-CN" altLang="en-US"/>
          </a:p>
          <a:p>
            <a:pPr indent="457200">
              <a:lnSpc>
                <a:spcPct val="20000"/>
              </a:lnSpc>
            </a:pPr>
            <a:endParaRPr lang="zh-CN" altLang="en-US"/>
          </a:p>
          <a:p>
            <a:pPr indent="457200"/>
            <a:r>
              <a:rPr lang="en-US" altLang="zh-CN"/>
              <a:t>3</a:t>
            </a:r>
            <a:r>
              <a:rPr lang="zh-CN" altLang="en-US"/>
              <a:t>）一个家庭有两个孩子，已知其中一个为女孩，两个孩子都为女孩的概率</a:t>
            </a:r>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6115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贝叶斯定理</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8" name="文本框 7"/>
          <p:cNvSpPr txBox="1"/>
          <p:nvPr/>
        </p:nvSpPr>
        <p:spPr>
          <a:xfrm>
            <a:off x="269240" y="1195070"/>
            <a:ext cx="11353800" cy="2389505"/>
          </a:xfrm>
          <a:prstGeom prst="rect">
            <a:avLst/>
          </a:prstGeom>
          <a:noFill/>
        </p:spPr>
        <p:txBody>
          <a:bodyPr wrap="square" rtlCol="0" anchor="t">
            <a:spAutoFit/>
          </a:bodyPr>
          <a:p>
            <a:r>
              <a:rPr lang="zh-CN" altLang="en-US">
                <a:solidFill>
                  <a:schemeClr val="accent1"/>
                </a:solidFill>
                <a:effectLst>
                  <a:outerShdw blurRad="38100" dist="25400" dir="5400000" algn="ctr" rotWithShape="0">
                    <a:srgbClr val="6E747A">
                      <a:alpha val="43000"/>
                    </a:srgbClr>
                  </a:outerShdw>
                </a:effectLst>
              </a:rPr>
              <a:t>联合概率</a:t>
            </a:r>
            <a:r>
              <a:rPr lang="zh-CN" altLang="en-US"/>
              <a:t>：联合概率是指在多元的概率分布中多个随机变量分别满足各自条件的概率</a:t>
            </a:r>
            <a:endParaRPr lang="zh-CN" altLang="en-US"/>
          </a:p>
          <a:p>
            <a:pPr>
              <a:lnSpc>
                <a:spcPct val="50000"/>
              </a:lnSpc>
            </a:pPr>
            <a:endParaRPr lang="zh-CN" altLang="en-US"/>
          </a:p>
          <a:p>
            <a:r>
              <a:rPr lang="zh-CN" altLang="en-US"/>
              <a:t>举例说明何为</a:t>
            </a:r>
            <a:r>
              <a:rPr lang="zh-CN" altLang="en-US">
                <a:solidFill>
                  <a:schemeClr val="accent1"/>
                </a:solidFill>
                <a:effectLst>
                  <a:outerShdw blurRad="38100" dist="25400" dir="5400000" algn="ctr" rotWithShape="0">
                    <a:srgbClr val="6E747A">
                      <a:alpha val="43000"/>
                    </a:srgbClr>
                  </a:outerShdw>
                </a:effectLst>
              </a:rPr>
              <a:t>联合概率</a:t>
            </a:r>
            <a:r>
              <a:rPr lang="zh-CN" altLang="en-US"/>
              <a:t>：</a:t>
            </a:r>
            <a:endParaRPr lang="zh-CN" altLang="en-US"/>
          </a:p>
          <a:p>
            <a:pPr>
              <a:lnSpc>
                <a:spcPct val="40000"/>
              </a:lnSpc>
            </a:pPr>
            <a:endParaRPr lang="zh-CN" altLang="en-US"/>
          </a:p>
          <a:p>
            <a:pPr indent="457200"/>
            <a:r>
              <a:rPr lang="en-US" altLang="zh-CN"/>
              <a:t>1</a:t>
            </a:r>
            <a:r>
              <a:rPr lang="zh-CN" altLang="en-US"/>
              <a:t>）已知</a:t>
            </a:r>
            <a:r>
              <a:rPr lang="en-US" altLang="zh-CN"/>
              <a:t>2022</a:t>
            </a:r>
            <a:r>
              <a:rPr lang="zh-CN" altLang="en-US"/>
              <a:t>年杭州下雨天数占全年天数的</a:t>
            </a:r>
            <a:r>
              <a:rPr lang="en-US" altLang="zh-CN"/>
              <a:t>30%</a:t>
            </a:r>
            <a:r>
              <a:rPr lang="zh-CN" altLang="en-US"/>
              <a:t>，刮风天数占全年天数的</a:t>
            </a:r>
            <a:r>
              <a:rPr lang="en-US" altLang="zh-CN"/>
              <a:t>10%</a:t>
            </a:r>
            <a:r>
              <a:rPr lang="zh-CN" altLang="en-US"/>
              <a:t>，明天既刮风又下雨的概率</a:t>
            </a:r>
            <a:endParaRPr lang="zh-CN" altLang="en-US"/>
          </a:p>
          <a:p>
            <a:pPr>
              <a:lnSpc>
                <a:spcPct val="20000"/>
              </a:lnSpc>
            </a:pPr>
            <a:endParaRPr lang="zh-CN" altLang="en-US"/>
          </a:p>
          <a:p>
            <a:pPr indent="457200"/>
            <a:r>
              <a:rPr lang="en-US" altLang="zh-CN"/>
              <a:t>2</a:t>
            </a:r>
            <a:r>
              <a:rPr lang="zh-CN" altLang="en-US"/>
              <a:t>）经大数据统计，中国男人喝过酒的人数占总人数的</a:t>
            </a:r>
            <a:r>
              <a:rPr lang="en-US" altLang="zh-CN"/>
              <a:t>80%</a:t>
            </a:r>
            <a:r>
              <a:rPr lang="zh-CN" altLang="en-US"/>
              <a:t>，抽过烟的人数占总人数的</a:t>
            </a:r>
            <a:r>
              <a:rPr lang="en-US" altLang="zh-CN"/>
              <a:t>30%</a:t>
            </a:r>
            <a:r>
              <a:rPr lang="zh-CN" altLang="en-US"/>
              <a:t>，一名陌生男子</a:t>
            </a:r>
            <a:endParaRPr lang="zh-CN" altLang="en-US"/>
          </a:p>
          <a:p>
            <a:pPr indent="457200"/>
            <a:r>
              <a:rPr lang="zh-CN" altLang="en-US"/>
              <a:t> </a:t>
            </a:r>
            <a:r>
              <a:rPr lang="en-US" altLang="zh-CN"/>
              <a:t>      </a:t>
            </a:r>
            <a:r>
              <a:rPr lang="zh-CN" altLang="en-US"/>
              <a:t>既抽烟又喝酒的概率</a:t>
            </a:r>
            <a:endParaRPr lang="zh-CN" altLang="en-US"/>
          </a:p>
          <a:p>
            <a:pPr indent="457200">
              <a:lnSpc>
                <a:spcPct val="20000"/>
              </a:lnSpc>
            </a:pPr>
            <a:endParaRPr lang="zh-CN" altLang="en-US"/>
          </a:p>
          <a:p>
            <a:pPr indent="457200"/>
            <a:r>
              <a:rPr lang="en-US" altLang="zh-CN"/>
              <a:t>3</a:t>
            </a:r>
            <a:r>
              <a:rPr lang="zh-CN" altLang="en-US"/>
              <a:t>）现如今大学生中玩王者荣耀的人数占比为</a:t>
            </a:r>
            <a:r>
              <a:rPr lang="en-US" altLang="zh-CN"/>
              <a:t>20%</a:t>
            </a:r>
            <a:r>
              <a:rPr lang="zh-CN" altLang="en-US"/>
              <a:t>，玩英雄联盟手游的人数占比为</a:t>
            </a:r>
            <a:r>
              <a:rPr lang="en-US" altLang="zh-CN"/>
              <a:t>10%</a:t>
            </a:r>
            <a:r>
              <a:rPr lang="zh-CN" altLang="en-US"/>
              <a:t>，一名大学生两种游</a:t>
            </a:r>
            <a:endParaRPr lang="zh-CN" altLang="en-US"/>
          </a:p>
          <a:p>
            <a:pPr indent="457200"/>
            <a:r>
              <a:rPr lang="zh-CN" altLang="en-US"/>
              <a:t> </a:t>
            </a:r>
            <a:r>
              <a:rPr lang="en-US" altLang="zh-CN"/>
              <a:t>      </a:t>
            </a:r>
            <a:r>
              <a:rPr lang="zh-CN" altLang="en-US"/>
              <a:t>戏都玩的概率</a:t>
            </a:r>
            <a:endParaRPr lang="zh-CN" altLang="en-US"/>
          </a:p>
        </p:txBody>
      </p:sp>
      <p:sp>
        <p:nvSpPr>
          <p:cNvPr id="5" name="文本框 4"/>
          <p:cNvSpPr txBox="1"/>
          <p:nvPr>
            <p:custDataLst>
              <p:tags r:id="rId1"/>
            </p:custDataLst>
          </p:nvPr>
        </p:nvSpPr>
        <p:spPr>
          <a:xfrm>
            <a:off x="301625" y="3820795"/>
            <a:ext cx="11353800" cy="2334260"/>
          </a:xfrm>
          <a:prstGeom prst="rect">
            <a:avLst/>
          </a:prstGeom>
          <a:noFill/>
        </p:spPr>
        <p:txBody>
          <a:bodyPr wrap="square" rtlCol="0" anchor="t">
            <a:spAutoFit/>
          </a:bodyPr>
          <a:p>
            <a:r>
              <a:rPr lang="zh-CN" altLang="en-US">
                <a:solidFill>
                  <a:schemeClr val="accent1"/>
                </a:solidFill>
                <a:effectLst>
                  <a:outerShdw blurRad="38100" dist="25400" dir="5400000" algn="ctr" rotWithShape="0">
                    <a:srgbClr val="6E747A">
                      <a:alpha val="43000"/>
                    </a:srgbClr>
                  </a:outerShdw>
                </a:effectLst>
              </a:rPr>
              <a:t>后验概率</a:t>
            </a:r>
            <a:r>
              <a:rPr lang="zh-CN" altLang="en-US"/>
              <a:t>：指某件事已经发生,想要计算这件事发生的原因是由某个因素引起的概率，</a:t>
            </a:r>
            <a:r>
              <a:rPr lang="zh-CN" altLang="en-US">
                <a:sym typeface="+mn-ea"/>
              </a:rPr>
              <a:t>它往往作为"</a:t>
            </a:r>
            <a:r>
              <a:rPr lang="zh-CN" altLang="en-US">
                <a:solidFill>
                  <a:schemeClr val="accent2"/>
                </a:solidFill>
                <a:sym typeface="+mn-ea"/>
              </a:rPr>
              <a:t>由果求因</a:t>
            </a:r>
            <a:r>
              <a:rPr lang="zh-CN" altLang="en-US">
                <a:sym typeface="+mn-ea"/>
              </a:rPr>
              <a:t>"问</a:t>
            </a:r>
            <a:endParaRPr lang="zh-CN" altLang="en-US">
              <a:sym typeface="+mn-ea"/>
            </a:endParaRPr>
          </a:p>
          <a:p>
            <a:r>
              <a:rPr lang="zh-CN" altLang="en-US">
                <a:sym typeface="+mn-ea"/>
              </a:rPr>
              <a:t> </a:t>
            </a:r>
            <a:r>
              <a:rPr lang="en-US" altLang="zh-CN">
                <a:sym typeface="+mn-ea"/>
              </a:rPr>
              <a:t>                     </a:t>
            </a:r>
            <a:r>
              <a:rPr lang="zh-CN" altLang="en-US">
                <a:sym typeface="+mn-ea"/>
              </a:rPr>
              <a:t>题中的由某种</a:t>
            </a:r>
            <a:r>
              <a:rPr lang="zh-CN" altLang="en-US">
                <a:solidFill>
                  <a:schemeClr val="accent2"/>
                </a:solidFill>
                <a:sym typeface="+mn-ea"/>
              </a:rPr>
              <a:t>因</a:t>
            </a:r>
            <a:r>
              <a:rPr lang="zh-CN" altLang="en-US">
                <a:sym typeface="+mn-ea"/>
              </a:rPr>
              <a:t>出现的</a:t>
            </a:r>
            <a:r>
              <a:rPr lang="zh-CN" altLang="en-US">
                <a:solidFill>
                  <a:schemeClr val="accent2"/>
                </a:solidFill>
                <a:sym typeface="+mn-ea"/>
              </a:rPr>
              <a:t>果</a:t>
            </a:r>
            <a:r>
              <a:rPr lang="zh-CN" altLang="en-US">
                <a:sym typeface="+mn-ea"/>
              </a:rPr>
              <a:t>的概率</a:t>
            </a:r>
            <a:endParaRPr lang="zh-CN" altLang="en-US"/>
          </a:p>
          <a:p>
            <a:pPr>
              <a:lnSpc>
                <a:spcPct val="50000"/>
              </a:lnSpc>
            </a:pPr>
            <a:endParaRPr lang="zh-CN" altLang="en-US"/>
          </a:p>
          <a:p>
            <a:r>
              <a:rPr lang="zh-CN" altLang="en-US"/>
              <a:t>举例说明何为</a:t>
            </a:r>
            <a:r>
              <a:rPr lang="zh-CN" altLang="en-US">
                <a:solidFill>
                  <a:schemeClr val="accent1"/>
                </a:solidFill>
                <a:effectLst>
                  <a:outerShdw blurRad="38100" dist="25400" dir="5400000" algn="ctr" rotWithShape="0">
                    <a:srgbClr val="6E747A">
                      <a:alpha val="43000"/>
                    </a:srgbClr>
                  </a:outerShdw>
                </a:effectLst>
              </a:rPr>
              <a:t>后验概率</a:t>
            </a:r>
            <a:r>
              <a:rPr lang="zh-CN" altLang="en-US"/>
              <a:t>：</a:t>
            </a:r>
            <a:endParaRPr lang="zh-CN" altLang="en-US"/>
          </a:p>
          <a:p>
            <a:pPr>
              <a:lnSpc>
                <a:spcPct val="40000"/>
              </a:lnSpc>
            </a:pPr>
            <a:endParaRPr lang="zh-CN" altLang="en-US"/>
          </a:p>
          <a:p>
            <a:pPr indent="457200"/>
            <a:r>
              <a:rPr lang="en-US" altLang="zh-CN"/>
              <a:t>1</a:t>
            </a:r>
            <a:r>
              <a:rPr lang="zh-CN" altLang="en-US"/>
              <a:t>）</a:t>
            </a:r>
            <a:r>
              <a:rPr lang="zh-CN" altLang="en-US"/>
              <a:t>一口袋里有3只红球、2只白球，采用不放回方式摸取，已知第二次摸到了红球，求第一次摸到的是红球</a:t>
            </a:r>
            <a:endParaRPr lang="zh-CN" altLang="en-US"/>
          </a:p>
          <a:p>
            <a:pPr indent="457200"/>
            <a:r>
              <a:rPr lang="zh-CN" altLang="en-US"/>
              <a:t> </a:t>
            </a:r>
            <a:r>
              <a:rPr lang="en-US" altLang="zh-CN"/>
              <a:t>      </a:t>
            </a:r>
            <a:r>
              <a:rPr lang="zh-CN" altLang="en-US"/>
              <a:t>的概率</a:t>
            </a:r>
            <a:endParaRPr lang="zh-CN" altLang="en-US"/>
          </a:p>
          <a:p>
            <a:pPr>
              <a:lnSpc>
                <a:spcPct val="20000"/>
              </a:lnSpc>
            </a:pPr>
            <a:endParaRPr lang="zh-CN" altLang="en-US"/>
          </a:p>
          <a:p>
            <a:pPr indent="457200" algn="l">
              <a:buClrTx/>
              <a:buSzTx/>
              <a:buNone/>
            </a:pPr>
            <a:r>
              <a:rPr lang="en-US" altLang="zh-CN"/>
              <a:t>2</a:t>
            </a:r>
            <a:r>
              <a:rPr lang="zh-CN" altLang="en-US"/>
              <a:t>）一个学校里有60%男生和40%女生。女生穿裤子的人数和穿裙子的人数相等，所有男生穿裤子。一个人</a:t>
            </a:r>
            <a:endParaRPr lang="zh-CN" altLang="en-US"/>
          </a:p>
          <a:p>
            <a:pPr indent="457200" algn="l">
              <a:buClrTx/>
              <a:buSzTx/>
              <a:buNone/>
            </a:pPr>
            <a:r>
              <a:rPr lang="zh-CN" altLang="en-US"/>
              <a:t> </a:t>
            </a:r>
            <a:r>
              <a:rPr lang="en-US" altLang="zh-CN"/>
              <a:t>      </a:t>
            </a:r>
            <a:r>
              <a:rPr lang="zh-CN" altLang="en-US"/>
              <a:t>在远处随机看到了一个穿裤子的学生。这个学生是女生的概率</a:t>
            </a:r>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416115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贝叶斯定理</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6" name="文本框 5"/>
          <p:cNvSpPr txBox="1"/>
          <p:nvPr/>
        </p:nvSpPr>
        <p:spPr>
          <a:xfrm>
            <a:off x="419735" y="1492885"/>
            <a:ext cx="1363345" cy="368300"/>
          </a:xfrm>
          <a:prstGeom prst="rect">
            <a:avLst/>
          </a:prstGeom>
          <a:noFill/>
        </p:spPr>
        <p:txBody>
          <a:bodyPr wrap="square" rtlCol="0" anchor="t">
            <a:spAutoFit/>
          </a:bodyPr>
          <a:p>
            <a:r>
              <a:rPr lang="zh-CN" altLang="en-US">
                <a:solidFill>
                  <a:schemeClr val="accent1"/>
                </a:solidFill>
                <a:effectLst>
                  <a:outerShdw blurRad="38100" dist="25400" dir="5400000" algn="ctr" rotWithShape="0">
                    <a:srgbClr val="6E747A">
                      <a:alpha val="43000"/>
                    </a:srgbClr>
                  </a:outerShdw>
                </a:effectLst>
                <a:sym typeface="+mn-ea"/>
              </a:rPr>
              <a:t>贝叶斯公式</a:t>
            </a:r>
            <a:r>
              <a:rPr lang="zh-CN" altLang="en-US">
                <a:solidFill>
                  <a:schemeClr val="tx1"/>
                </a:solidFill>
                <a:effectLst>
                  <a:outerShdw blurRad="38100" dist="25400" dir="5400000" algn="ctr" rotWithShape="0">
                    <a:srgbClr val="6E747A">
                      <a:alpha val="43000"/>
                    </a:srgbClr>
                  </a:outerShdw>
                </a:effectLst>
                <a:sym typeface="+mn-ea"/>
              </a:rPr>
              <a:t>：</a:t>
            </a:r>
            <a:endParaRPr lang="zh-CN" altLang="en-US">
              <a:solidFill>
                <a:schemeClr val="tx1"/>
              </a:solidFill>
              <a:effectLst>
                <a:outerShdw blurRad="38100" dist="25400" dir="5400000" algn="ctr" rotWithShape="0">
                  <a:srgbClr val="6E747A">
                    <a:alpha val="43000"/>
                  </a:srgbClr>
                </a:outerShdw>
              </a:effectLst>
              <a:sym typeface="+mn-ea"/>
            </a:endParaRPr>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1882076" y="1345819"/>
                <a:ext cx="2511425" cy="66294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den>
                      </m:f>
                    </m:oMath>
                  </m:oMathPara>
                </a14:m>
                <a:endParaRPr lang="zh-CN" altLang="en-US"/>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1882076" y="1345819"/>
                <a:ext cx="2511425" cy="662940"/>
              </a:xfrm>
              <a:prstGeom prst="rect">
                <a:avLst/>
              </a:prstGeom>
              <a:blipFill rotWithShape="1">
                <a:blip r:embed="rId3"/>
                <a:stretch>
                  <a:fillRect l="-23" t="-38" r="23"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420370" y="2314575"/>
                <a:ext cx="11202670" cy="92202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条件概率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与</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后验概率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区别：一般的</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条件概率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，条件</a:t>
                </a:r>
                <a:r>
                  <a:rPr lang="en-US" altLang="zh-CN">
                    <a:latin typeface="Cambria Math" panose="02040503050406030204" pitchFamily="18" charset="0"/>
                    <a:cs typeface="Cambria Math" panose="02040503050406030204" pitchFamily="18" charset="0"/>
                  </a:rPr>
                  <a:t>(A)</a:t>
                </a:r>
                <a:r>
                  <a:rPr lang="zh-CN" altLang="en-US">
                    <a:latin typeface="Cambria Math" panose="02040503050406030204" pitchFamily="18" charset="0"/>
                    <a:cs typeface="Cambria Math" panose="02040503050406030204" pitchFamily="18" charset="0"/>
                  </a:rPr>
                  <a:t>和事件</a:t>
                </a:r>
                <a:r>
                  <a:rPr lang="en-US" altLang="zh-CN">
                    <a:latin typeface="Cambria Math" panose="02040503050406030204" pitchFamily="18" charset="0"/>
                    <a:cs typeface="Cambria Math" panose="02040503050406030204" pitchFamily="18" charset="0"/>
                  </a:rPr>
                  <a:t>(B)</a:t>
                </a:r>
                <a:r>
                  <a:rPr lang="zh-CN" altLang="en-US">
                    <a:latin typeface="Cambria Math" panose="02040503050406030204" pitchFamily="18" charset="0"/>
                    <a:cs typeface="Cambria Math" panose="02040503050406030204" pitchFamily="18" charset="0"/>
                  </a:rPr>
                  <a:t>都可以是任意的；</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后验概</a:t>
                </a:r>
                <a:r>
                  <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				         </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𝐴</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是一种条件概率，但是与其它条件概率的不同之处在于，它</a:t>
                </a:r>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限定了事件</a:t>
                </a:r>
                <a:r>
                  <a:rPr lang="en-US" altLang="zh-CN">
                    <a:latin typeface="Cambria Math" panose="02040503050406030204" pitchFamily="18" charset="0"/>
                    <a:cs typeface="Cambria Math" panose="02040503050406030204" pitchFamily="18" charset="0"/>
                  </a:rPr>
                  <a:t>(A)</a:t>
                </a:r>
                <a:r>
                  <a:rPr lang="zh-CN" altLang="en-US">
                    <a:latin typeface="Cambria Math" panose="02040503050406030204" pitchFamily="18" charset="0"/>
                    <a:cs typeface="Cambria Math" panose="02040503050406030204" pitchFamily="18" charset="0"/>
                  </a:rPr>
                  <a:t>为隐变量取值，而其中的条件</a:t>
                </a:r>
                <a:r>
                  <a:rPr lang="en-US" altLang="zh-CN">
                    <a:latin typeface="Cambria Math" panose="02040503050406030204" pitchFamily="18" charset="0"/>
                    <a:cs typeface="Cambria Math" panose="02040503050406030204" pitchFamily="18" charset="0"/>
                  </a:rPr>
                  <a:t>(B)</a:t>
                </a:r>
                <a:r>
                  <a:rPr lang="zh-CN" altLang="en-US">
                    <a:latin typeface="Cambria Math" panose="02040503050406030204" pitchFamily="18" charset="0"/>
                    <a:cs typeface="Cambria Math" panose="02040503050406030204" pitchFamily="18" charset="0"/>
                  </a:rPr>
                  <a:t>为观测结果</a:t>
                </a:r>
                <a:endParaRPr lang="zh-CN" altLang="en-US">
                  <a:latin typeface="Cambria Math" panose="02040503050406030204" pitchFamily="18" charset="0"/>
                  <a:cs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420370" y="2314575"/>
                <a:ext cx="11202670" cy="92202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419735" y="3595370"/>
                <a:ext cx="11203940" cy="2061210"/>
              </a:xfrm>
              <a:prstGeom prst="rect">
                <a:avLst/>
              </a:prstGeom>
              <a:noFill/>
            </p:spPr>
            <p:txBody>
              <a:bodyPr wrap="square" rtlCol="0" anchor="t">
                <a:spAutoFit/>
              </a:bodyPr>
              <a:p>
                <a:r>
                  <a:rPr lang="zh-CN" altLang="en-US"/>
                  <a:t>举例区分</a:t>
                </a:r>
                <a:r>
                  <a:rPr lang="zh-CN" altLang="en-US">
                    <a:solidFill>
                      <a:schemeClr val="accent1"/>
                    </a:solidFill>
                    <a:effectLst>
                      <a:outerShdw blurRad="38100" dist="25400" dir="5400000" algn="ctr" rotWithShape="0">
                        <a:srgbClr val="6E747A">
                          <a:alpha val="43000"/>
                        </a:srgbClr>
                      </a:outerShdw>
                    </a:effectLst>
                  </a:rPr>
                  <a:t>条件概率</a:t>
                </a:r>
                <a:r>
                  <a:rPr lang="zh-CN" altLang="en-US"/>
                  <a:t>与</a:t>
                </a:r>
                <a:r>
                  <a:rPr lang="zh-CN" altLang="en-US">
                    <a:solidFill>
                      <a:schemeClr val="accent1"/>
                    </a:solidFill>
                    <a:effectLst>
                      <a:outerShdw blurRad="38100" dist="25400" dir="5400000" algn="ctr" rotWithShape="0">
                        <a:srgbClr val="6E747A">
                          <a:alpha val="43000"/>
                        </a:srgbClr>
                      </a:outerShdw>
                    </a:effectLst>
                  </a:rPr>
                  <a:t>后验概率</a:t>
                </a:r>
                <a:r>
                  <a:rPr lang="zh-CN" altLang="en-US"/>
                  <a:t>的区别：</a:t>
                </a:r>
                <a:endParaRPr lang="zh-CN" altLang="en-US"/>
              </a:p>
              <a:p>
                <a:endParaRPr lang="zh-CN" altLang="en-US"/>
              </a:p>
              <a:p>
                <a:r>
                  <a:rPr lang="zh-CN" altLang="en-US"/>
                  <a:t>1）如果我们出门之前听到新闻说今天路上出了个交通事故，那么我们想算一下堵车的概率，这个就叫做条件概率 ，也就是</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cs typeface="Cambria Math" panose="02040503050406030204" pitchFamily="18" charset="0"/>
                      </a:rPr>
                      <m:t>堵车</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cs typeface="Cambria Math" panose="02040503050406030204" pitchFamily="18" charset="0"/>
                      </a:rPr>
                      <m:t>交通事故</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a:t>
                </a:r>
                <a:r>
                  <a:rPr lang="zh-CN" altLang="en-US"/>
                  <a:t>这是</a:t>
                </a:r>
                <a:r>
                  <a:rPr lang="zh-CN" altLang="en-US">
                    <a:solidFill>
                      <a:schemeClr val="accent2"/>
                    </a:solidFill>
                  </a:rPr>
                  <a:t>由</a:t>
                </a:r>
                <a:r>
                  <a:rPr lang="zh-CN" altLang="en-US">
                    <a:solidFill>
                      <a:schemeClr val="accent2"/>
                    </a:solidFill>
                  </a:rPr>
                  <a:t>因求果</a:t>
                </a:r>
                <a:endParaRPr lang="zh-CN" altLang="en-US"/>
              </a:p>
              <a:p>
                <a:endParaRPr lang="zh-CN" altLang="en-US"/>
              </a:p>
              <a:p>
                <a:r>
                  <a:rPr lang="zh-CN" altLang="en-US"/>
                  <a:t>2）如果我们已经出了门，然后遇到了堵车，那么我们想算一下堵车是由交通事故引起的概率有多大，那这个就叫做后验概率 ，也就是</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cs typeface="Cambria Math" panose="02040503050406030204" pitchFamily="18" charset="0"/>
                      </a:rPr>
                      <m:t>交通事故</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cs typeface="Cambria Math" panose="02040503050406030204" pitchFamily="18" charset="0"/>
                      </a:rPr>
                      <m:t>堵车</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a:t>
                </a:r>
                <a:r>
                  <a:rPr lang="zh-CN" altLang="en-US"/>
                  <a:t>这是</a:t>
                </a:r>
                <a:r>
                  <a:rPr lang="zh-CN" altLang="en-US">
                    <a:solidFill>
                      <a:schemeClr val="accent2"/>
                    </a:solidFill>
                  </a:rPr>
                  <a:t>由</a:t>
                </a:r>
                <a:r>
                  <a:rPr lang="zh-CN" altLang="en-US">
                    <a:solidFill>
                      <a:schemeClr val="accent2"/>
                    </a:solidFill>
                  </a:rPr>
                  <a:t>果求因</a:t>
                </a:r>
                <a:endParaRPr lang="zh-CN" altLang="en-US">
                  <a:solidFill>
                    <a:schemeClr val="accent2"/>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419735" y="3595370"/>
                <a:ext cx="11203940" cy="2061210"/>
              </a:xfrm>
              <a:prstGeom prst="rect">
                <a:avLst/>
              </a:prstGeom>
              <a:blipFill rotWithShape="1">
                <a:blip r:embed="rId5"/>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贝叶斯定理</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pic>
        <p:nvPicPr>
          <p:cNvPr id="5" name="图片 4"/>
          <p:cNvPicPr>
            <a:picLocks noChangeAspect="1"/>
          </p:cNvPicPr>
          <p:nvPr>
            <p:custDataLst>
              <p:tags r:id="rId1"/>
            </p:custDataLst>
          </p:nvPr>
        </p:nvPicPr>
        <p:blipFill>
          <a:blip r:embed="rId2"/>
          <a:stretch>
            <a:fillRect/>
          </a:stretch>
        </p:blipFill>
        <p:spPr>
          <a:xfrm>
            <a:off x="6600825" y="1308100"/>
            <a:ext cx="4919345" cy="1853565"/>
          </a:xfrm>
          <a:prstGeom prst="rect">
            <a:avLst/>
          </a:prstGeom>
        </p:spPr>
      </p:pic>
      <p:sp>
        <p:nvSpPr>
          <p:cNvPr id="6" name="文本框 5"/>
          <p:cNvSpPr txBox="1"/>
          <p:nvPr/>
        </p:nvSpPr>
        <p:spPr>
          <a:xfrm>
            <a:off x="351790" y="1282700"/>
            <a:ext cx="7672705" cy="2029460"/>
          </a:xfrm>
          <a:prstGeom prst="rect">
            <a:avLst/>
          </a:prstGeom>
          <a:noFill/>
        </p:spPr>
        <p:txBody>
          <a:bodyPr wrap="square" rtlCol="0">
            <a:spAutoFit/>
          </a:bodyPr>
          <a:p>
            <a:r>
              <a:rPr lang="zh-CN" altLang="en-US"/>
              <a:t>例子：穿</a:t>
            </a:r>
            <a:r>
              <a:rPr lang="zh-CN" altLang="en-US"/>
              <a:t>长裤的是男生还是</a:t>
            </a:r>
            <a:r>
              <a:rPr lang="zh-CN" altLang="en-US"/>
              <a:t>女生？</a:t>
            </a:r>
            <a:endParaRPr lang="zh-CN" altLang="en-US"/>
          </a:p>
          <a:p>
            <a:pPr>
              <a:lnSpc>
                <a:spcPct val="40000"/>
              </a:lnSpc>
            </a:pPr>
            <a:endParaRPr lang="zh-CN" altLang="en-US"/>
          </a:p>
          <a:p>
            <a:pPr indent="457200"/>
            <a:r>
              <a:rPr lang="zh-CN" altLang="en-US"/>
              <a:t>一个学校里，男生占总人数的</a:t>
            </a:r>
            <a:r>
              <a:rPr lang="en-US" altLang="zh-CN"/>
              <a:t>60%</a:t>
            </a:r>
            <a:r>
              <a:rPr lang="zh-CN" altLang="en-US"/>
              <a:t>，女生占总人数的</a:t>
            </a:r>
            <a:r>
              <a:rPr lang="en-US" altLang="zh-CN"/>
              <a:t>40%</a:t>
            </a:r>
            <a:r>
              <a:rPr lang="zh-CN" altLang="en-US"/>
              <a:t>；</a:t>
            </a:r>
            <a:endParaRPr lang="zh-CN" altLang="en-US"/>
          </a:p>
          <a:p>
            <a:pPr marL="0" lvl="0" indent="0">
              <a:buNone/>
            </a:pPr>
            <a:r>
              <a:rPr lang="zh-CN" altLang="en-US">
                <a:solidFill>
                  <a:schemeClr val="tx1"/>
                </a:solidFill>
              </a:rPr>
              <a:t>男生总是穿长裤，女生则一半穿长裤一半穿</a:t>
            </a:r>
            <a:r>
              <a:rPr lang="zh-CN" altLang="en-US"/>
              <a:t>裙子</a:t>
            </a:r>
            <a:endParaRPr lang="zh-CN" altLang="en-US"/>
          </a:p>
          <a:p>
            <a:pPr indent="457200"/>
            <a:endParaRPr lang="zh-CN" altLang="en-US"/>
          </a:p>
          <a:p>
            <a:pPr marL="0" lvl="0" indent="0">
              <a:buNone/>
            </a:pPr>
            <a:r>
              <a:rPr lang="zh-CN" altLang="en-US">
                <a:solidFill>
                  <a:schemeClr val="tx1"/>
                </a:solidFill>
              </a:rPr>
              <a:t>问题：</a:t>
            </a:r>
            <a:r>
              <a:rPr lang="en-US" altLang="zh-CN">
                <a:solidFill>
                  <a:schemeClr val="tx1"/>
                </a:solidFill>
              </a:rPr>
              <a:t>1</a:t>
            </a:r>
            <a:r>
              <a:rPr lang="zh-CN" altLang="en-US">
                <a:solidFill>
                  <a:schemeClr val="tx1"/>
                </a:solidFill>
              </a:rPr>
              <a:t>）随机选取一名学生，他</a:t>
            </a:r>
            <a:r>
              <a:rPr lang="en-US" altLang="zh-CN">
                <a:solidFill>
                  <a:schemeClr val="tx1"/>
                </a:solidFill>
              </a:rPr>
              <a:t>(</a:t>
            </a:r>
            <a:r>
              <a:rPr lang="zh-CN" altLang="en-US">
                <a:solidFill>
                  <a:schemeClr val="tx1"/>
                </a:solidFill>
              </a:rPr>
              <a:t>她</a:t>
            </a:r>
            <a:r>
              <a:rPr lang="en-US" altLang="zh-CN">
                <a:solidFill>
                  <a:schemeClr val="tx1"/>
                </a:solidFill>
              </a:rPr>
              <a:t>)</a:t>
            </a:r>
            <a:r>
              <a:rPr lang="zh-CN" altLang="en-US">
                <a:solidFill>
                  <a:schemeClr val="tx1"/>
                </a:solidFill>
              </a:rPr>
              <a:t>穿长裤的概率</a:t>
            </a:r>
            <a:r>
              <a:rPr lang="zh-CN" altLang="en-US">
                <a:solidFill>
                  <a:schemeClr val="tx1"/>
                </a:solidFill>
              </a:rPr>
              <a:t>是多少？</a:t>
            </a:r>
            <a:endParaRPr lang="zh-CN" altLang="en-US">
              <a:solidFill>
                <a:schemeClr val="tx1"/>
              </a:solidFill>
            </a:endParaRPr>
          </a:p>
          <a:p>
            <a:pPr marL="0" lvl="0" indent="0">
              <a:lnSpc>
                <a:spcPct val="60000"/>
              </a:lnSpc>
              <a:buNone/>
            </a:pPr>
            <a:endParaRPr lang="zh-CN" altLang="en-US">
              <a:solidFill>
                <a:schemeClr val="tx1"/>
              </a:solidFill>
            </a:endParaRPr>
          </a:p>
          <a:p>
            <a:pPr marL="0" lvl="0" indent="457200">
              <a:buNone/>
            </a:pPr>
            <a:r>
              <a:rPr lang="en-US" altLang="zh-CN">
                <a:solidFill>
                  <a:schemeClr val="tx1"/>
                </a:solidFill>
              </a:rPr>
              <a:t>     2</a:t>
            </a:r>
            <a:r>
              <a:rPr lang="zh-CN" altLang="en-US">
                <a:solidFill>
                  <a:schemeClr val="tx1"/>
                </a:solidFill>
              </a:rPr>
              <a:t>）迎面走来一个穿长裤的学生，她是女生的概率</a:t>
            </a:r>
            <a:r>
              <a:rPr lang="zh-CN" altLang="en-US">
                <a:solidFill>
                  <a:schemeClr val="tx1"/>
                </a:solidFill>
              </a:rPr>
              <a:t>是多少？</a:t>
            </a:r>
            <a:endParaRPr lang="zh-CN" altLang="en-US">
              <a:solidFill>
                <a:schemeClr val="tx1"/>
              </a:solidFill>
            </a:endParaRPr>
          </a:p>
        </p:txBody>
      </p:sp>
      <mc:AlternateContent xmlns:mc="http://schemas.openxmlformats.org/markup-compatibility/2006">
        <mc:Choice xmlns:a14="http://schemas.microsoft.com/office/drawing/2010/main" Requires="a14">
          <p:sp>
            <p:nvSpPr>
              <p:cNvPr id="7" name="文本框 6"/>
              <p:cNvSpPr txBox="1"/>
              <p:nvPr/>
            </p:nvSpPr>
            <p:spPr>
              <a:xfrm>
                <a:off x="419735" y="3616325"/>
                <a:ext cx="11541760" cy="1955165"/>
              </a:xfrm>
              <a:prstGeom prst="rect">
                <a:avLst/>
              </a:prstGeom>
              <a:noFill/>
            </p:spPr>
            <p:txBody>
              <a:bodyPr wrap="square" rtlCol="0">
                <a:spAutoFit/>
              </a:bodyPr>
              <a:p>
                <a:r>
                  <a:rPr lang="zh-CN" altLang="en-US"/>
                  <a:t>解：</a:t>
                </a:r>
                <a:r>
                  <a:rPr lang="en-US" altLang="zh-CN"/>
                  <a:t>1</a:t>
                </a:r>
                <a:r>
                  <a:rPr lang="zh-CN" altLang="en-US"/>
                  <a:t>）</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穿长裤</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男生</m:t>
                    </m:r>
                    <m:r>
                      <a:rPr lang="en-US" altLang="zh-CN" i="1">
                        <a:latin typeface="Cambria Math" panose="02040503050406030204" pitchFamily="18" charset="0"/>
                        <a:ea typeface="MS Mincho"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穿长裤</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女生</m:t>
                    </m:r>
                    <m:r>
                      <a:rPr lang="en-US" altLang="zh-CN" i="1">
                        <a:latin typeface="Cambria Math" panose="02040503050406030204" pitchFamily="18" charset="0"/>
                        <a:ea typeface="MS Mincho"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穿长裤</m:t>
                    </m:r>
                    <m:r>
                      <a:rPr lang="en-US" altLang="zh-CN" i="1">
                        <a:latin typeface="Cambria Math" panose="02040503050406030204" pitchFamily="18" charset="0"/>
                        <a:cs typeface="Cambria Math" panose="02040503050406030204" pitchFamily="18" charset="0"/>
                      </a:rPr>
                      <m:t>)</m:t>
                    </m:r>
                  </m:oMath>
                </a14:m>
                <a:endParaRPr lang="en-US" altLang="zh-CN" i="1">
                  <a:latin typeface="Cambria Math" panose="02040503050406030204" pitchFamily="18" charset="0"/>
                  <a:cs typeface="Cambria Math" panose="02040503050406030204" pitchFamily="18" charset="0"/>
                </a:endParaRPr>
              </a:p>
              <a:p>
                <a:r>
                  <a:rPr lang="en-US" altLang="zh-CN"/>
                  <a:t>                                     </a:t>
                </a:r>
                <a14:m>
                  <m:oMath xmlns:m="http://schemas.openxmlformats.org/officeDocument/2006/math">
                    <m:r>
                      <a:rPr lang="en-US" altLang="zh-CN" i="1">
                        <a:solidFill>
                          <a:schemeClr val="tx1"/>
                        </a:solidFill>
                        <a:latin typeface="Cambria Math" panose="02040503050406030204" pitchFamily="18" charset="0"/>
                        <a:ea typeface="MS Mincho"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男生</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穿长裤</m:t>
                    </m:r>
                    <m:r>
                      <a:rPr lang="en-US" altLang="zh-CN" i="1">
                        <a:latin typeface="Cambria Math" panose="02040503050406030204" pitchFamily="18" charset="0"/>
                        <a:ea typeface="MS Mincho"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男生</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女生</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穿长裤</m:t>
                    </m:r>
                    <m:r>
                      <a:rPr lang="en-US" altLang="zh-CN" i="1">
                        <a:latin typeface="Cambria Math" panose="02040503050406030204" pitchFamily="18" charset="0"/>
                        <a:ea typeface="MS Mincho"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女生</m:t>
                    </m:r>
                    <m:r>
                      <a:rPr lang="en-US" altLang="zh-CN" i="1">
                        <a:latin typeface="Cambria Math" panose="02040503050406030204" pitchFamily="18" charset="0"/>
                        <a:cs typeface="Cambria Math" panose="02040503050406030204" pitchFamily="18" charset="0"/>
                      </a:rPr>
                      <m:t>)</m:t>
                    </m:r>
                  </m:oMath>
                </a14:m>
                <a:endParaRPr lang="en-US" altLang="zh-CN" i="1">
                  <a:latin typeface="Cambria Math" panose="02040503050406030204" pitchFamily="18" charset="0"/>
                  <a:cs typeface="Cambria Math" panose="02040503050406030204" pitchFamily="18" charset="0"/>
                </a:endParaRPr>
              </a:p>
              <a:p>
                <a:r>
                  <a:rPr lang="en-US" altLang="zh-CN"/>
                  <a:t>                                     </a:t>
                </a:r>
                <a14:m>
                  <m:oMath xmlns:m="http://schemas.openxmlformats.org/officeDocument/2006/math">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60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100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50</m:t>
                    </m:r>
                    <m:r>
                      <a:rPr lang="en-US" altLang="zh-CN" i="1">
                        <a:latin typeface="Cambria Math" panose="02040503050406030204" pitchFamily="18" charset="0"/>
                        <a:cs typeface="Cambria Math" panose="02040503050406030204" pitchFamily="18" charset="0"/>
                      </a:rPr>
                      <m:t>%</m:t>
                    </m:r>
                  </m:oMath>
                </a14:m>
                <a:endParaRPr lang="en-US" altLang="zh-CN" i="1">
                  <a:latin typeface="Cambria Math" panose="02040503050406030204" pitchFamily="18" charset="0"/>
                  <a:cs typeface="Cambria Math" panose="02040503050406030204" pitchFamily="18" charset="0"/>
                </a:endParaRPr>
              </a:p>
              <a:p>
                <a:r>
                  <a:rPr lang="en-US" altLang="zh-CN"/>
                  <a:t>                                     </a:t>
                </a:r>
                <a14:m>
                  <m:oMath xmlns:m="http://schemas.openxmlformats.org/officeDocument/2006/math">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80</m:t>
                    </m:r>
                    <m:r>
                      <a:rPr lang="en-US" altLang="zh-CN" i="1">
                        <a:latin typeface="Cambria Math" panose="02040503050406030204" pitchFamily="18" charset="0"/>
                        <a:cs typeface="Cambria Math" panose="02040503050406030204" pitchFamily="18" charset="0"/>
                      </a:rPr>
                      <m:t>%</m:t>
                    </m:r>
                  </m:oMath>
                </a14:m>
                <a:endParaRPr lang="en-US" altLang="zh-CN" i="1">
                  <a:latin typeface="Cambria Math" panose="02040503050406030204" pitchFamily="18" charset="0"/>
                  <a:cs typeface="Cambria Math" panose="02040503050406030204" pitchFamily="18" charset="0"/>
                </a:endParaRPr>
              </a:p>
              <a:p>
                <a:r>
                  <a:rPr lang="en-US" altLang="zh-CN"/>
                  <a:t>         </a:t>
                </a:r>
                <a:endParaRPr lang="en-US" altLang="zh-CN"/>
              </a:p>
              <a:p>
                <a:pPr indent="457200"/>
                <a:r>
                  <a:rPr lang="en-US" altLang="zh-CN"/>
                  <a:t>2</a:t>
                </a:r>
                <a:r>
                  <a:rPr lang="zh-CN" altLang="en-US"/>
                  <a:t>）</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女生</m:t>
                    </m:r>
                    <m:r>
                      <a:rPr lang="en-US" altLang="zh-CN" i="1">
                        <a:latin typeface="Cambria Math" panose="02040503050406030204" pitchFamily="18" charset="0"/>
                        <a:ea typeface="MS Mincho"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穿长裤</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女生</m:t>
                        </m:r>
                        <m:r>
                          <a:rPr lang="en-US" altLang="zh-CN" i="1">
                            <a:latin typeface="Cambria Math" panose="02040503050406030204" pitchFamily="18" charset="0"/>
                            <a:ea typeface="MS Mincho"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穿长裤</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穿长裤</m:t>
                        </m:r>
                        <m:r>
                          <a:rPr lang="en-US" altLang="zh-CN" i="1">
                            <a:latin typeface="Cambria Math" panose="02040503050406030204" pitchFamily="18" charset="0"/>
                            <a:cs typeface="Cambria Math" panose="02040503050406030204" pitchFamily="18" charset="0"/>
                          </a:rPr>
                          <m:t>)</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女生</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穿长裤</m:t>
                        </m:r>
                        <m:r>
                          <a:rPr lang="en-US" altLang="zh-CN" i="1">
                            <a:latin typeface="Cambria Math" panose="02040503050406030204" pitchFamily="18" charset="0"/>
                            <a:ea typeface="MS Mincho"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女生</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zh-CN" altLang="en-US" i="1">
                            <a:latin typeface="Cambria Math" panose="02040503050406030204" pitchFamily="18" charset="0"/>
                            <a:ea typeface="MS Mincho" charset="0"/>
                            <a:cs typeface="Cambria Math" panose="02040503050406030204" pitchFamily="18" charset="0"/>
                          </a:rPr>
                          <m:t>穿长裤</m:t>
                        </m:r>
                        <m:r>
                          <a:rPr lang="en-US" altLang="zh-CN" i="1">
                            <a:latin typeface="Cambria Math" panose="02040503050406030204" pitchFamily="18" charset="0"/>
                            <a:cs typeface="Cambria Math" panose="02040503050406030204" pitchFamily="18" charset="0"/>
                          </a:rPr>
                          <m:t>)</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40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50</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80</m:t>
                        </m:r>
                        <m:r>
                          <a:rPr lang="en-US" altLang="zh-CN" i="1">
                            <a:latin typeface="Cambria Math" panose="02040503050406030204" pitchFamily="18" charset="0"/>
                            <a:cs typeface="Cambria Math" panose="02040503050406030204" pitchFamily="18" charset="0"/>
                          </a:rPr>
                          <m:t>%</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25</m:t>
                    </m:r>
                    <m:r>
                      <a:rPr lang="en-US" altLang="zh-CN" i="1">
                        <a:latin typeface="Cambria Math" panose="02040503050406030204" pitchFamily="18" charset="0"/>
                        <a:cs typeface="Cambria Math" panose="02040503050406030204" pitchFamily="18" charset="0"/>
                      </a:rPr>
                      <m:t>%</m:t>
                    </m:r>
                  </m:oMath>
                </a14:m>
                <a:endParaRPr lang="en-US" altLang="zh-CN"/>
              </a:p>
            </p:txBody>
          </p:sp>
        </mc:Choice>
        <mc:Fallback>
          <p:sp>
            <p:nvSpPr>
              <p:cNvPr id="7" name="文本框 6"/>
              <p:cNvSpPr txBox="1">
                <a:spLocks noRot="1" noChangeAspect="1" noMove="1" noResize="1" noEditPoints="1" noAdjustHandles="1" noChangeArrowheads="1" noChangeShapeType="1" noTextEdit="1"/>
              </p:cNvSpPr>
              <p:nvPr/>
            </p:nvSpPr>
            <p:spPr>
              <a:xfrm>
                <a:off x="419735" y="3616325"/>
                <a:ext cx="11541760" cy="195516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flipH="1">
            <a:off x="3823652" y="1411646"/>
            <a:ext cx="5080" cy="475932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p:sp>
        <p:nvSpPr>
          <p:cNvPr id="2" name="文本框 1"/>
          <p:cNvSpPr txBox="1"/>
          <p:nvPr/>
        </p:nvSpPr>
        <p:spPr>
          <a:xfrm>
            <a:off x="4094480" y="1411605"/>
            <a:ext cx="6861175" cy="4073525"/>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贝叶斯定理</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贝叶斯决策论</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极大似然估计</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利用贝叶斯解决实际问题：拼写纠错</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半朴素贝叶斯分类器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贝叶斯网</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a:t>
            </a:r>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决策论</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10515" y="1217295"/>
                <a:ext cx="11308080" cy="4324350"/>
              </a:xfrm>
              <a:prstGeom prst="rect">
                <a:avLst/>
              </a:prstGeom>
              <a:noFill/>
            </p:spPr>
            <p:txBody>
              <a:bodyPr wrap="square" rtlCol="0">
                <a:spAutoFit/>
              </a:bodyPr>
              <a:p>
                <a:pPr indent="457200"/>
                <a:r>
                  <a:rPr lang="zh-CN" altLang="en-US">
                    <a:solidFill>
                      <a:schemeClr val="accent1"/>
                    </a:solidFill>
                    <a:effectLst>
                      <a:outerShdw blurRad="38100" dist="25400" dir="5400000" algn="ctr" rotWithShape="0">
                        <a:srgbClr val="6E747A">
                          <a:alpha val="43000"/>
                        </a:srgbClr>
                      </a:outerShdw>
                    </a:effectLst>
                  </a:rPr>
                  <a:t>贝叶斯决策论</a:t>
                </a:r>
                <a:r>
                  <a:rPr lang="zh-CN" altLang="en-US"/>
                  <a:t>是概率框架下实施决策的基本方法，对于分类任务来讲，在所有相关概率都已知的理想情况下，</a:t>
                </a:r>
                <a:r>
                  <a:rPr lang="zh-CN" altLang="en-US">
                    <a:solidFill>
                      <a:schemeClr val="accent1"/>
                    </a:solidFill>
                    <a:effectLst>
                      <a:outerShdw blurRad="38100" dist="25400" dir="5400000" algn="ctr" rotWithShape="0">
                        <a:srgbClr val="6E747A">
                          <a:alpha val="43000"/>
                        </a:srgbClr>
                      </a:outerShdw>
                    </a:effectLst>
                  </a:rPr>
                  <a:t>贝叶斯决策论</a:t>
                </a:r>
                <a:r>
                  <a:rPr lang="zh-CN" altLang="en-US"/>
                  <a:t>考虑如何基于这些概率和误判来选择最优的类别</a:t>
                </a:r>
                <a:r>
                  <a:rPr lang="zh-CN" altLang="en-US"/>
                  <a:t>标记</a:t>
                </a:r>
                <a:endParaRPr lang="zh-CN" altLang="en-US"/>
              </a:p>
              <a:p>
                <a:pPr indent="457200">
                  <a:lnSpc>
                    <a:spcPct val="50000"/>
                  </a:lnSpc>
                </a:pPr>
                <a:endParaRPr lang="zh-CN" altLang="en-US"/>
              </a:p>
              <a:p>
                <a:pPr indent="457200"/>
                <a:r>
                  <a:rPr lang="zh-CN" altLang="en-US"/>
                  <a:t>对于</a:t>
                </a:r>
                <a:r>
                  <a:rPr lang="en-US" altLang="zh-CN"/>
                  <a:t>N</a:t>
                </a:r>
                <a:r>
                  <a:rPr lang="zh-CN" altLang="en-US"/>
                  <a:t>分类任务，即</a:t>
                </a:r>
                <a14:m>
                  <m:oMath xmlns:m="http://schemas.openxmlformats.org/officeDocument/2006/math">
                    <m:r>
                      <a:rPr lang="en-US" altLang="zh-CN" i="1">
                        <a:latin typeface="Cambria Math" panose="02040503050406030204" pitchFamily="18" charset="0"/>
                        <a:cs typeface="Cambria Math" panose="02040503050406030204" pitchFamily="18" charset="0"/>
                      </a:rPr>
                      <m:t>𝛶</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𝐶</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𝐶</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𝐶</m:t>
                        </m:r>
                      </m:e>
                      <m:sub>
                        <m:r>
                          <a:rPr lang="en-US" altLang="zh-CN" i="1">
                            <a:latin typeface="Cambria Math" panose="02040503050406030204" pitchFamily="18" charset="0"/>
                            <a:cs typeface="Cambria Math" panose="02040503050406030204" pitchFamily="18" charset="0"/>
                          </a:rPr>
                          <m:t>𝑁</m:t>
                        </m:r>
                      </m:sub>
                    </m:sSub>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𝜆</m:t>
                        </m:r>
                      </m:e>
                      <m:sub>
                        <m:r>
                          <a:rPr lang="en-US" altLang="zh-CN" i="1">
                            <a:latin typeface="Cambria Math" panose="02040503050406030204" pitchFamily="18" charset="0"/>
                            <a:cs typeface="Cambria Math" panose="02040503050406030204" pitchFamily="18" charset="0"/>
                          </a:rPr>
                          <m:t>𝑖𝑗</m:t>
                        </m:r>
                      </m:sub>
                    </m:sSub>
                  </m:oMath>
                </a14:m>
                <a:r>
                  <a:rPr lang="zh-CN" altLang="en-US">
                    <a:latin typeface="Cambria Math" panose="02040503050406030204" pitchFamily="18" charset="0"/>
                    <a:cs typeface="Cambria Math" panose="02040503050406030204" pitchFamily="18" charset="0"/>
                  </a:rPr>
                  <a:t>是将一个真实标记为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𝐶</m:t>
                        </m:r>
                      </m:e>
                      <m:sub>
                        <m:r>
                          <a:rPr lang="en-US" altLang="zh-CN" i="1">
                            <a:latin typeface="Cambria Math" panose="02040503050406030204" pitchFamily="18" charset="0"/>
                            <a:cs typeface="Cambria Math" panose="02040503050406030204" pitchFamily="18" charset="0"/>
                          </a:rPr>
                          <m:t>𝑗</m:t>
                        </m:r>
                      </m:sub>
                    </m:sSub>
                  </m:oMath>
                </a14:m>
                <a:r>
                  <a:rPr lang="zh-CN" altLang="en-US">
                    <a:latin typeface="Cambria Math" panose="02040503050406030204" pitchFamily="18" charset="0"/>
                    <a:cs typeface="Cambria Math" panose="02040503050406030204" pitchFamily="18" charset="0"/>
                  </a:rPr>
                  <a:t>的样本误分类为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𝐶</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所产生的损失，基于</a:t>
                </a:r>
                <a:r>
                  <a:rPr lang="zh-CN" altLang="en-US">
                    <a:solidFill>
                      <a:schemeClr val="accent1"/>
                    </a:solidFill>
                    <a:effectLst>
                      <a:outerShdw blurRad="38100" dist="25400" dir="5400000" algn="ctr" rotWithShape="0">
                        <a:srgbClr val="6E747A">
                          <a:alpha val="43000"/>
                        </a:srgbClr>
                      </a:outerShdw>
                    </a:effectLst>
                  </a:rPr>
                  <a:t>后验概率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𝐶</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可获得将样本</a:t>
                </a:r>
                <a14:m>
                  <m:oMath xmlns:m="http://schemas.openxmlformats.org/officeDocument/2006/math">
                    <m:r>
                      <a:rPr lang="en-US" altLang="zh-CN" b="1" i="1">
                        <a:latin typeface="Cambria Math" panose="02040503050406030204" pitchFamily="18" charset="0"/>
                        <a:cs typeface="Cambria Math" panose="02040503050406030204" pitchFamily="18" charset="0"/>
                      </a:rPr>
                      <m:t>𝒙</m:t>
                    </m:r>
                  </m:oMath>
                </a14:m>
                <a:r>
                  <a:rPr lang="zh-CN" altLang="en-US">
                    <a:latin typeface="Cambria Math" panose="02040503050406030204" pitchFamily="18" charset="0"/>
                    <a:cs typeface="Cambria Math" panose="02040503050406030204" pitchFamily="18" charset="0"/>
                  </a:rPr>
                  <a:t>分类为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𝐶</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所产生的期望损失，即在样本</a:t>
                </a:r>
                <a14:m>
                  <m:oMath xmlns:m="http://schemas.openxmlformats.org/officeDocument/2006/math">
                    <m:r>
                      <a:rPr lang="en-US" altLang="zh-CN" b="1" i="1">
                        <a:latin typeface="Cambria Math" panose="02040503050406030204" pitchFamily="18" charset="0"/>
                        <a:cs typeface="Cambria Math" panose="02040503050406030204" pitchFamily="18" charset="0"/>
                      </a:rPr>
                      <m:t>𝒙</m:t>
                    </m:r>
                  </m:oMath>
                </a14:m>
                <a:r>
                  <a:rPr lang="zh-CN" altLang="en-US">
                    <a:latin typeface="Cambria Math" panose="02040503050406030204" pitchFamily="18" charset="0"/>
                    <a:cs typeface="Cambria Math" panose="02040503050406030204" pitchFamily="18" charset="0"/>
                  </a:rPr>
                  <a:t>上的</a:t>
                </a:r>
                <a:r>
                  <a:rPr lang="zh-CN" altLang="en-US">
                    <a:solidFill>
                      <a:schemeClr val="accent1"/>
                    </a:solidFill>
                    <a:effectLst>
                      <a:outerShdw blurRad="38100" dist="25400" dir="5400000" algn="ctr" rotWithShape="0">
                        <a:srgbClr val="6E747A">
                          <a:alpha val="43000"/>
                        </a:srgbClr>
                      </a:outerShdw>
                    </a:effectLst>
                  </a:rPr>
                  <a:t>条件风险</a:t>
                </a:r>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𝐶</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𝑁</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𝜆</m:t>
                              </m:r>
                            </m:e>
                            <m:sub>
                              <m:r>
                                <a:rPr lang="en-US" altLang="zh-CN" i="1">
                                  <a:latin typeface="Cambria Math" panose="02040503050406030204" pitchFamily="18" charset="0"/>
                                  <a:cs typeface="Cambria Math" panose="02040503050406030204" pitchFamily="18" charset="0"/>
                                </a:rPr>
                                <m:t>𝑖𝑗</m:t>
                              </m:r>
                            </m:sub>
                          </m:sSub>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𝐶</m:t>
                              </m:r>
                            </m:e>
                            <m:sub>
                              <m:r>
                                <a:rPr lang="en-US" altLang="zh-CN" i="1">
                                  <a:latin typeface="Cambria Math" panose="02040503050406030204" pitchFamily="18" charset="0"/>
                                  <a:cs typeface="Cambria Math" panose="02040503050406030204" pitchFamily="18" charset="0"/>
                                </a:rPr>
                                <m:t>𝑗</m:t>
                              </m:r>
                            </m:sub>
                          </m:sSub>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e>
                      </m:nary>
                    </m:oMath>
                  </m:oMathPara>
                </a14:m>
                <a:endParaRPr lang="en-US" altLang="zh-CN" i="1">
                  <a:latin typeface="Cambria Math" panose="02040503050406030204" pitchFamily="18" charset="0"/>
                  <a:cs typeface="Cambria Math" panose="02040503050406030204" pitchFamily="18" charset="0"/>
                </a:endParaRPr>
              </a:p>
              <a:p>
                <a:pPr indent="457200">
                  <a:lnSpc>
                    <a:spcPct val="70000"/>
                  </a:lnSpc>
                </a:pPr>
                <a:endParaRPr lang="zh-CN" altLang="en-US">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设定一个判别准则</a:t>
                </a:r>
                <a14:m>
                  <m:oMath xmlns:m="http://schemas.openxmlformats.org/officeDocument/2006/math">
                    <m:r>
                      <a:rPr lang="en-US" altLang="zh-CN" i="1">
                        <a:latin typeface="Cambria Math" panose="02040503050406030204" pitchFamily="18" charset="0"/>
                        <a:cs typeface="Cambria Math" panose="02040503050406030204" pitchFamily="18" charset="0"/>
                      </a:rPr>
                      <m:t>ℎ</m:t>
                    </m:r>
                  </m:oMath>
                </a14:m>
                <a:r>
                  <a:rPr lang="zh-CN" altLang="en-US">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rPr>
                  <a:t>总体风险</a:t>
                </a:r>
                <a14:m>
                  <m:oMath xmlns:m="http://schemas.openxmlformats.org/officeDocument/2006/math">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ℎ</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𝐸</m:t>
                        </m:r>
                      </m:e>
                      <m:sub>
                        <m:r>
                          <a:rPr lang="en-US" altLang="zh-CN" i="1">
                            <a:latin typeface="Cambria Math" panose="02040503050406030204" pitchFamily="18" charset="0"/>
                            <a:cs typeface="Cambria Math" panose="02040503050406030204" pitchFamily="18" charset="0"/>
                          </a:rPr>
                          <m:t>𝑥</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ℎ</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，若对每个样本</a:t>
                </a:r>
                <a14:m>
                  <m:oMath xmlns:m="http://schemas.openxmlformats.org/officeDocument/2006/math">
                    <m:r>
                      <a:rPr lang="en-US" altLang="zh-CN" b="1" i="1">
                        <a:latin typeface="Cambria Math" panose="02040503050406030204" pitchFamily="18" charset="0"/>
                        <a:cs typeface="Cambria Math" panose="02040503050406030204" pitchFamily="18" charset="0"/>
                      </a:rPr>
                      <m:t>𝒙</m:t>
                    </m:r>
                  </m:oMath>
                </a14:m>
                <a:r>
                  <a:rPr lang="zh-CN" altLang="en-US">
                    <a:latin typeface="Cambria Math" panose="02040503050406030204" pitchFamily="18" charset="0"/>
                    <a:cs typeface="Cambria Math" panose="02040503050406030204" pitchFamily="18" charset="0"/>
                  </a:rPr>
                  <a:t>，</a:t>
                </a:r>
                <a14:m>
                  <m:oMath xmlns:m="http://schemas.openxmlformats.org/officeDocument/2006/math">
                    <m:r>
                      <a:rPr lang="en-US" altLang="zh-CN" i="1">
                        <a:latin typeface="Cambria Math" panose="02040503050406030204" pitchFamily="18" charset="0"/>
                        <a:cs typeface="Cambria Math" panose="02040503050406030204" pitchFamily="18" charset="0"/>
                      </a:rPr>
                      <m:t>ℎ</m:t>
                    </m:r>
                  </m:oMath>
                </a14:m>
                <a:r>
                  <a:rPr lang="zh-CN" altLang="en-US">
                    <a:latin typeface="Cambria Math" panose="02040503050406030204" pitchFamily="18" charset="0"/>
                    <a:cs typeface="Cambria Math" panose="02040503050406030204" pitchFamily="18" charset="0"/>
                  </a:rPr>
                  <a:t>均能最小化条件风险</a:t>
                </a:r>
                <a14:m>
                  <m:oMath xmlns:m="http://schemas.openxmlformats.org/officeDocument/2006/math">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ℎ</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b="1"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，则</a:t>
                </a:r>
                <a:r>
                  <a:rPr lang="zh-CN" altLang="en-US">
                    <a:solidFill>
                      <a:schemeClr val="accent1"/>
                    </a:solidFill>
                    <a:effectLst>
                      <a:outerShdw blurRad="38100" dist="25400" dir="5400000" algn="ctr" rotWithShape="0">
                        <a:srgbClr val="6E747A">
                          <a:alpha val="43000"/>
                        </a:srgbClr>
                      </a:outerShdw>
                    </a:effectLst>
                  </a:rPr>
                  <a:t>总体风险</a:t>
                </a:r>
                <a14:m>
                  <m:oMath xmlns:m="http://schemas.openxmlformats.org/officeDocument/2006/math">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ℎ</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也将被最小化，这就产生了</a:t>
                </a:r>
                <a:r>
                  <a:rPr lang="zh-CN" altLang="en-US">
                    <a:solidFill>
                      <a:schemeClr val="accent1"/>
                    </a:solidFill>
                    <a:effectLst>
                      <a:outerShdw blurRad="38100" dist="25400" dir="5400000" algn="ctr" rotWithShape="0">
                        <a:srgbClr val="6E747A">
                          <a:alpha val="43000"/>
                        </a:srgbClr>
                      </a:outerShdw>
                    </a:effectLst>
                  </a:rPr>
                  <a:t>贝叶斯判定准则</a:t>
                </a:r>
                <a:r>
                  <a:rPr lang="zh-CN" altLang="en-US">
                    <a:latin typeface="Cambria Math" panose="02040503050406030204" pitchFamily="18" charset="0"/>
                    <a:cs typeface="Cambria Math" panose="02040503050406030204" pitchFamily="18" charset="0"/>
                  </a:rPr>
                  <a:t>：为最小化</a:t>
                </a:r>
                <a:r>
                  <a:rPr lang="zh-CN" altLang="en-US">
                    <a:solidFill>
                      <a:schemeClr val="accent1"/>
                    </a:solidFill>
                    <a:effectLst>
                      <a:outerShdw blurRad="38100" dist="25400" dir="5400000" algn="ctr" rotWithShape="0">
                        <a:srgbClr val="6E747A">
                          <a:alpha val="43000"/>
                        </a:srgbClr>
                      </a:outerShdw>
                    </a:effectLst>
                  </a:rPr>
                  <a:t>总体风险</a:t>
                </a:r>
                <a:r>
                  <a:rPr lang="zh-CN" altLang="en-US">
                    <a:latin typeface="Cambria Math" panose="02040503050406030204" pitchFamily="18" charset="0"/>
                    <a:cs typeface="Cambria Math" panose="02040503050406030204" pitchFamily="18" charset="0"/>
                  </a:rPr>
                  <a:t>，只需在每个样本上选择可以使</a:t>
                </a:r>
                <a:r>
                  <a:rPr lang="zh-CN" altLang="en-US">
                    <a:solidFill>
                      <a:schemeClr val="accent1"/>
                    </a:solidFill>
                    <a:effectLst>
                      <a:outerShdw blurRad="38100" dist="25400" dir="5400000" algn="ctr" rotWithShape="0">
                        <a:srgbClr val="6E747A">
                          <a:alpha val="43000"/>
                        </a:srgbClr>
                      </a:outerShdw>
                    </a:effectLst>
                  </a:rPr>
                  <a:t>条件风险</a:t>
                </a:r>
                <a14:m>
                  <m:oMath xmlns:m="http://schemas.openxmlformats.org/officeDocument/2006/math">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ℎ</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b="1"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最小的类别标记，即：</a:t>
                </a:r>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ℎ</m:t>
                          </m:r>
                        </m:e>
                        <m:sup>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func>
                        <m:funcPr>
                          <m:ctrlPr>
                            <a:rPr lang="en-US" altLang="zh-CN" i="1">
                              <a:latin typeface="Cambria Math" panose="02040503050406030204" pitchFamily="18" charset="0"/>
                              <a:cs typeface="Cambria Math" panose="02040503050406030204" pitchFamily="18" charset="0"/>
                            </a:rPr>
                          </m:ctrlPr>
                        </m:funcPr>
                        <m:fName>
                          <m:limLow>
                            <m:limLowPr>
                              <m:ctrlPr>
                                <a:rPr lang="en-US" altLang="zh-CN">
                                  <a:latin typeface="Cambria Math" panose="02040503050406030204" pitchFamily="18" charset="0"/>
                                  <a:cs typeface="Cambria Math" panose="02040503050406030204" pitchFamily="18" charset="0"/>
                                </a:rPr>
                              </m:ctrlPr>
                            </m:limLowPr>
                            <m:e>
                              <m:r>
                                <m:rPr>
                                  <m:sty m:val="p"/>
                                </m:rPr>
                                <a:rPr lang="en-US" altLang="zh-CN">
                                  <a:latin typeface="Cambria Math" panose="02040503050406030204" pitchFamily="18" charset="0"/>
                                  <a:cs typeface="Cambria Math" panose="02040503050406030204" pitchFamily="18" charset="0"/>
                                </a:rPr>
                                <m:t>argmin</m:t>
                              </m:r>
                            </m:e>
                            <m:lim>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𝛶</m:t>
                              </m:r>
                            </m:lim>
                          </m:limLow>
                        </m:fName>
                        <m:e>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e>
                      </m:func>
                    </m:oMath>
                  </m:oMathPara>
                </a14:m>
                <a:endParaRPr lang="en-US" altLang="zh-CN" i="1">
                  <a:latin typeface="Cambria Math" panose="02040503050406030204" pitchFamily="18" charset="0"/>
                  <a:cs typeface="Cambria Math" panose="02040503050406030204" pitchFamily="18" charset="0"/>
                </a:endParaRPr>
              </a:p>
              <a:p>
                <a:pPr indent="457200">
                  <a:lnSpc>
                    <a:spcPct val="70000"/>
                  </a:lnSpc>
                </a:pPr>
                <a:endParaRPr lang="en-US" altLang="zh-CN" i="1">
                  <a:latin typeface="Cambria Math" panose="02040503050406030204" pitchFamily="18" charset="0"/>
                  <a:cs typeface="Cambria Math" panose="02040503050406030204" pitchFamily="18" charset="0"/>
                </a:endParaRPr>
              </a:p>
              <a:p>
                <a:pPr indent="457200"/>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ℎ</m:t>
                        </m:r>
                      </m:e>
                      <m:sup>
                        <m:r>
                          <a:rPr lang="en-US" altLang="zh-CN" i="1">
                            <a:latin typeface="Cambria Math" panose="02040503050406030204" pitchFamily="18" charset="0"/>
                            <a:cs typeface="Cambria Math" panose="02040503050406030204" pitchFamily="18" charset="0"/>
                          </a:rPr>
                          <m:t>∗</m:t>
                        </m:r>
                      </m:sup>
                    </m:sSup>
                  </m:oMath>
                </a14:m>
                <a:r>
                  <a:rPr lang="zh-CN" altLang="en-US">
                    <a:latin typeface="Cambria Math" panose="02040503050406030204" pitchFamily="18" charset="0"/>
                    <a:cs typeface="Cambria Math" panose="02040503050406030204" pitchFamily="18" charset="0"/>
                  </a:rPr>
                  <a:t>被称为</a:t>
                </a:r>
                <a:r>
                  <a:rPr lang="zh-CN" altLang="en-US">
                    <a:solidFill>
                      <a:schemeClr val="accent1"/>
                    </a:solidFill>
                    <a:effectLst>
                      <a:outerShdw blurRad="38100" dist="25400" dir="5400000" algn="ctr" rotWithShape="0">
                        <a:srgbClr val="6E747A">
                          <a:alpha val="43000"/>
                        </a:srgbClr>
                      </a:outerShdw>
                    </a:effectLst>
                  </a:rPr>
                  <a:t>贝叶斯最优分类器</a:t>
                </a:r>
                <a:r>
                  <a:rPr lang="zh-CN" altLang="en-US">
                    <a:latin typeface="Cambria Math" panose="02040503050406030204" pitchFamily="18" charset="0"/>
                    <a:cs typeface="Cambria Math" panose="02040503050406030204" pitchFamily="18" charset="0"/>
                  </a:rPr>
                  <a:t>，与之对应的</a:t>
                </a:r>
                <a:r>
                  <a:rPr lang="zh-CN" altLang="en-US">
                    <a:solidFill>
                      <a:schemeClr val="accent1"/>
                    </a:solidFill>
                    <a:effectLst>
                      <a:outerShdw blurRad="38100" dist="25400" dir="5400000" algn="ctr" rotWithShape="0">
                        <a:srgbClr val="6E747A">
                          <a:alpha val="43000"/>
                        </a:srgbClr>
                      </a:outerShdw>
                    </a:effectLst>
                  </a:rPr>
                  <a:t>总体风险</a:t>
                </a:r>
                <a14:m>
                  <m:oMath xmlns:m="http://schemas.openxmlformats.org/officeDocument/2006/math">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ℎ</m:t>
                        </m:r>
                      </m:e>
                      <m:sup>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称为</a:t>
                </a:r>
                <a:r>
                  <a:rPr lang="zh-CN" altLang="en-US">
                    <a:solidFill>
                      <a:schemeClr val="accent1"/>
                    </a:solidFill>
                    <a:effectLst>
                      <a:outerShdw blurRad="38100" dist="25400" dir="5400000" algn="ctr" rotWithShape="0">
                        <a:srgbClr val="6E747A">
                          <a:alpha val="43000"/>
                        </a:srgbClr>
                      </a:outerShdw>
                    </a:effectLst>
                  </a:rPr>
                  <a:t>贝叶斯风险</a:t>
                </a:r>
                <a:r>
                  <a:rPr lang="zh-CN" altLang="en-US">
                    <a:latin typeface="Cambria Math" panose="02040503050406030204" pitchFamily="18" charset="0"/>
                    <a:cs typeface="Cambria Math" panose="02040503050406030204" pitchFamily="18" charset="0"/>
                  </a:rPr>
                  <a:t>；</a:t>
                </a:r>
                <a14:m>
                  <m:oMath xmlns:m="http://schemas.openxmlformats.org/officeDocument/2006/math">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ℎ</m:t>
                        </m:r>
                      </m:e>
                      <m:sup>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反映了分类器所能达到的最好性能，即通过机器学习所能产生的模型精度的理论上限</a:t>
                </a:r>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10515" y="1217295"/>
                <a:ext cx="11308080" cy="432435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a:t>
            </a:r>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决策论</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294005" y="1225550"/>
                <a:ext cx="11340465" cy="4509770"/>
              </a:xfrm>
              <a:prstGeom prst="rect">
                <a:avLst/>
              </a:prstGeom>
              <a:noFill/>
            </p:spPr>
            <p:txBody>
              <a:bodyPr wrap="square" rtlCol="0">
                <a:spAutoFit/>
              </a:bodyPr>
              <a:p>
                <a:r>
                  <a:rPr lang="zh-CN" altLang="en-US"/>
                  <a:t>当目标为找到可以最小化</a:t>
                </a:r>
                <a:r>
                  <a:rPr lang="zh-CN" altLang="en-US">
                    <a:solidFill>
                      <a:schemeClr val="accent1"/>
                    </a:solidFill>
                    <a:effectLst>
                      <a:outerShdw blurRad="38100" dist="25400" dir="5400000" algn="ctr" rotWithShape="0">
                        <a:srgbClr val="6E747A">
                          <a:alpha val="43000"/>
                        </a:srgbClr>
                      </a:outerShdw>
                    </a:effectLst>
                  </a:rPr>
                  <a:t>分类错误率</a:t>
                </a:r>
                <a:r>
                  <a:rPr lang="zh-CN" altLang="en-US"/>
                  <a:t>的</a:t>
                </a:r>
                <a:r>
                  <a:rPr lang="zh-CN" altLang="en-US">
                    <a:solidFill>
                      <a:schemeClr val="accent1"/>
                    </a:solidFill>
                    <a:effectLst>
                      <a:outerShdw blurRad="38100" dist="25400" dir="5400000" algn="ctr" rotWithShape="0">
                        <a:srgbClr val="6E747A">
                          <a:alpha val="43000"/>
                        </a:srgbClr>
                      </a:outerShdw>
                    </a:effectLst>
                  </a:rPr>
                  <a:t>贝叶斯最优分类器</a:t>
                </a:r>
                <a:r>
                  <a:rPr lang="zh-CN" altLang="en-US"/>
                  <a:t>时，则</a:t>
                </a:r>
                <a:r>
                  <a:rPr lang="zh-CN" altLang="en-US">
                    <a:solidFill>
                      <a:schemeClr val="accent1"/>
                    </a:solidFill>
                    <a:effectLst>
                      <a:outerShdw blurRad="38100" dist="25400" dir="5400000" algn="ctr" rotWithShape="0">
                        <a:srgbClr val="6E747A">
                          <a:alpha val="43000"/>
                        </a:srgbClr>
                      </a:outerShdw>
                    </a:effectLst>
                  </a:rPr>
                  <a:t>误判损失</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𝜆</m:t>
                        </m:r>
                      </m:e>
                      <m:sub>
                        <m:r>
                          <a:rPr lang="en-US" altLang="zh-CN" i="1">
                            <a:latin typeface="Cambria Math" panose="02040503050406030204" pitchFamily="18" charset="0"/>
                            <a:cs typeface="Cambria Math" panose="02040503050406030204" pitchFamily="18" charset="0"/>
                          </a:rPr>
                          <m:t>𝑖𝑗</m:t>
                        </m:r>
                      </m:sub>
                    </m:sSub>
                  </m:oMath>
                </a14:m>
                <a:r>
                  <a:rPr lang="zh-CN" altLang="en-US">
                    <a:latin typeface="Cambria Math" panose="02040503050406030204" pitchFamily="18" charset="0"/>
                    <a:cs typeface="Cambria Math" panose="02040503050406030204" pitchFamily="18" charset="0"/>
                  </a:rPr>
                  <a:t>可以写为：</a:t>
                </a:r>
                <a:endParaRPr lang="zh-CN" altLang="en-US">
                  <a:latin typeface="Cambria Math" panose="02040503050406030204" pitchFamily="18" charset="0"/>
                  <a:cs typeface="Cambria Math" panose="02040503050406030204" pitchFamily="18" charset="0"/>
                </a:endParaRPr>
              </a:p>
              <a:p>
                <a:pPr>
                  <a:lnSpc>
                    <a:spcPct val="70000"/>
                  </a:lnSpc>
                </a:pPr>
                <a:endParaRPr lang="zh-CN" altLang="en-US">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𝜆</m:t>
                          </m:r>
                        </m:e>
                        <m:sub>
                          <m:r>
                            <a:rPr lang="en-US" altLang="zh-CN" i="1">
                              <a:latin typeface="Cambria Math" panose="02040503050406030204" pitchFamily="18" charset="0"/>
                              <a:cs typeface="Cambria Math" panose="02040503050406030204" pitchFamily="18" charset="0"/>
                            </a:rPr>
                            <m:t>𝑖𝑗</m:t>
                          </m:r>
                        </m:sub>
                      </m:sSub>
                      <m:r>
                        <a:rPr lang="en-US" altLang="zh-CN" i="1">
                          <a:latin typeface="Cambria Math" panose="02040503050406030204" pitchFamily="18" charset="0"/>
                          <a:cs typeface="Cambria Math" panose="02040503050406030204" pitchFamily="18" charset="0"/>
                        </a:rPr>
                        <m:t>=</m:t>
                      </m:r>
                      <m:d>
                        <m:dPr>
                          <m:begChr m:val="{"/>
                          <m:endChr m:val=""/>
                          <m:ctrlPr>
                            <a:rPr lang="en-US" altLang="zh-CN" i="1">
                              <a:latin typeface="Cambria Math" panose="02040503050406030204" pitchFamily="18" charset="0"/>
                              <a:cs typeface="Cambria Math" panose="02040503050406030204" pitchFamily="18" charset="0"/>
                            </a:rPr>
                          </m:ctrlPr>
                        </m:dPr>
                        <m:e>
                          <m:eqArr>
                            <m:eqArrPr>
                              <m:ctrlPr>
                                <a:rPr lang="en-US" altLang="zh-CN" i="1">
                                  <a:latin typeface="Cambria Math" panose="02040503050406030204" pitchFamily="18" charset="0"/>
                                  <a:cs typeface="Cambria Math" panose="02040503050406030204" pitchFamily="18" charset="0"/>
                                </a:rPr>
                              </m:ctrlPr>
                            </m:eqArrPr>
                            <m:e>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𝑖𝑓</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𝑗</m:t>
                              </m:r>
                            </m:e>
                            <m:e>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𝑜𝑡ℎ𝑒𝑟𝑤𝑖𝑠𝑒</m:t>
                              </m:r>
                            </m:e>
                          </m:eqArr>
                        </m:e>
                      </m:d>
                    </m:oMath>
                  </m:oMathPara>
                </a14:m>
                <a:endParaRPr lang="en-US" altLang="zh-CN" i="1">
                  <a:latin typeface="Cambria Math" panose="02040503050406030204" pitchFamily="18" charset="0"/>
                  <a:cs typeface="Cambria Math" panose="02040503050406030204" pitchFamily="18" charset="0"/>
                </a:endParaRPr>
              </a:p>
              <a:p>
                <a:r>
                  <a:rPr lang="zh-CN" altLang="en-US">
                    <a:latin typeface="Cambria Math" panose="02040503050406030204" pitchFamily="18" charset="0"/>
                    <a:cs typeface="Cambria Math" panose="02040503050406030204" pitchFamily="18" charset="0"/>
                  </a:rPr>
                  <a:t>此时将样本</a:t>
                </a:r>
                <a14:m>
                  <m:oMath xmlns:m="http://schemas.openxmlformats.org/officeDocument/2006/math">
                    <m:r>
                      <a:rPr lang="en-US" altLang="zh-CN" b="1" i="1">
                        <a:latin typeface="Cambria Math" panose="02040503050406030204" pitchFamily="18" charset="0"/>
                        <a:cs typeface="Cambria Math" panose="02040503050406030204" pitchFamily="18" charset="0"/>
                      </a:rPr>
                      <m:t>𝒙</m:t>
                    </m:r>
                  </m:oMath>
                </a14:m>
                <a:r>
                  <a:rPr lang="zh-CN" altLang="en-US">
                    <a:latin typeface="Cambria Math" panose="02040503050406030204" pitchFamily="18" charset="0"/>
                    <a:cs typeface="Cambria Math" panose="02040503050406030204" pitchFamily="18" charset="0"/>
                  </a:rPr>
                  <a:t>分类为</a:t>
                </a:r>
                <a14:m>
                  <m:oMath xmlns:m="http://schemas.openxmlformats.org/officeDocument/2006/math">
                    <m:r>
                      <a:rPr lang="en-US" altLang="zh-CN" i="1">
                        <a:latin typeface="Cambria Math" panose="02040503050406030204" pitchFamily="18" charset="0"/>
                        <a:cs typeface="Cambria Math" panose="02040503050406030204" pitchFamily="18" charset="0"/>
                      </a:rPr>
                      <m:t>𝑐</m:t>
                    </m:r>
                  </m:oMath>
                </a14:m>
                <a:r>
                  <a:rPr lang="zh-CN" altLang="en-US">
                    <a:latin typeface="Cambria Math" panose="02040503050406030204" pitchFamily="18" charset="0"/>
                    <a:cs typeface="Cambria Math" panose="02040503050406030204" pitchFamily="18" charset="0"/>
                  </a:rPr>
                  <a:t>的</a:t>
                </a:r>
                <a:r>
                  <a:rPr lang="zh-CN" altLang="en-US">
                    <a:solidFill>
                      <a:schemeClr val="accent1"/>
                    </a:solidFill>
                    <a:effectLst>
                      <a:outerShdw blurRad="38100" dist="25400" dir="5400000" algn="ctr" rotWithShape="0">
                        <a:srgbClr val="6E747A">
                          <a:alpha val="43000"/>
                        </a:srgbClr>
                      </a:outerShdw>
                    </a:effectLst>
                  </a:rPr>
                  <a:t>条件风险</a:t>
                </a:r>
                <a:r>
                  <a:rPr lang="zh-CN" altLang="en-US">
                    <a:latin typeface="Cambria Math" panose="02040503050406030204" pitchFamily="18" charset="0"/>
                    <a:cs typeface="Cambria Math" panose="02040503050406030204" pitchFamily="18" charset="0"/>
                  </a:rPr>
                  <a:t>为：</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𝑅</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r>
                  <a:rPr lang="zh-CN" altLang="en-US">
                    <a:latin typeface="Cambria Math" panose="02040503050406030204" pitchFamily="18" charset="0"/>
                    <a:cs typeface="Cambria Math" panose="02040503050406030204" pitchFamily="18" charset="0"/>
                  </a:rPr>
                  <a:t>因此，最小化</a:t>
                </a:r>
                <a:r>
                  <a:rPr lang="zh-CN" altLang="en-US">
                    <a:solidFill>
                      <a:schemeClr val="accent1"/>
                    </a:solidFill>
                    <a:effectLst>
                      <a:outerShdw blurRad="38100" dist="25400" dir="5400000" algn="ctr" rotWithShape="0">
                        <a:srgbClr val="6E747A">
                          <a:alpha val="43000"/>
                        </a:srgbClr>
                      </a:outerShdw>
                    </a:effectLst>
                  </a:rPr>
                  <a:t>分类错误率</a:t>
                </a:r>
                <a:r>
                  <a:rPr lang="zh-CN" altLang="en-US">
                    <a:latin typeface="Cambria Math" panose="02040503050406030204" pitchFamily="18" charset="0"/>
                    <a:cs typeface="Cambria Math" panose="02040503050406030204" pitchFamily="18" charset="0"/>
                  </a:rPr>
                  <a:t>的</a:t>
                </a:r>
                <a:r>
                  <a:rPr lang="zh-CN" altLang="en-US">
                    <a:solidFill>
                      <a:schemeClr val="accent1"/>
                    </a:solidFill>
                    <a:effectLst>
                      <a:outerShdw blurRad="38100" dist="25400" dir="5400000" algn="ctr" rotWithShape="0">
                        <a:srgbClr val="6E747A">
                          <a:alpha val="43000"/>
                        </a:srgbClr>
                      </a:outerShdw>
                    </a:effectLst>
                  </a:rPr>
                  <a:t>贝叶斯最优分类器</a:t>
                </a:r>
                <a:r>
                  <a:rPr lang="zh-CN" altLang="en-US">
                    <a:latin typeface="Cambria Math" panose="02040503050406030204" pitchFamily="18" charset="0"/>
                    <a:cs typeface="Cambria Math" panose="02040503050406030204" pitchFamily="18" charset="0"/>
                  </a:rPr>
                  <a:t>为：</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ℎ</m:t>
                          </m:r>
                        </m:e>
                        <m:sup>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func>
                        <m:funcPr>
                          <m:ctrlPr>
                            <a:rPr lang="en-US" altLang="zh-CN" i="1">
                              <a:latin typeface="Cambria Math" panose="02040503050406030204" pitchFamily="18" charset="0"/>
                              <a:cs typeface="Cambria Math" panose="02040503050406030204" pitchFamily="18" charset="0"/>
                            </a:rPr>
                          </m:ctrlPr>
                        </m:funcPr>
                        <m:fName>
                          <m:limLow>
                            <m:limLowPr>
                              <m:ctrlPr>
                                <a:rPr lang="en-US" altLang="zh-CN">
                                  <a:latin typeface="Cambria Math" panose="02040503050406030204" pitchFamily="18" charset="0"/>
                                  <a:cs typeface="Cambria Math" panose="02040503050406030204" pitchFamily="18" charset="0"/>
                                </a:rPr>
                              </m:ctrlPr>
                            </m:limLowPr>
                            <m:e>
                              <m:r>
                                <m:rPr>
                                  <m:sty m:val="p"/>
                                </m:rPr>
                                <a:rPr lang="en-US" altLang="zh-CN">
                                  <a:latin typeface="Cambria Math" panose="02040503050406030204" pitchFamily="18" charset="0"/>
                                  <a:cs typeface="Cambria Math" panose="02040503050406030204" pitchFamily="18" charset="0"/>
                                </a:rPr>
                                <m:t>argmax</m:t>
                              </m:r>
                            </m:e>
                            <m:lim>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𝛶</m:t>
                              </m:r>
                            </m:lim>
                          </m:limLow>
                        </m:fName>
                        <m:e>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e>
                      </m:func>
                    </m:oMath>
                  </m:oMathPara>
                </a14:m>
                <a:endParaRPr lang="zh-CN" altLang="en-US">
                  <a:latin typeface="Cambria Math" panose="02040503050406030204" pitchFamily="18" charset="0"/>
                  <a:cs typeface="Cambria Math" panose="02040503050406030204" pitchFamily="18" charset="0"/>
                </a:endParaRPr>
              </a:p>
              <a:p>
                <a:endParaRPr lang="en-US" altLang="zh-CN">
                  <a:latin typeface="Cambria Math" panose="02040503050406030204" pitchFamily="18" charset="0"/>
                  <a:cs typeface="Cambria Math" panose="02040503050406030204" pitchFamily="18" charset="0"/>
                </a:endParaRPr>
              </a:p>
              <a:p>
                <a:r>
                  <a:rPr lang="zh-CN" altLang="en-US">
                    <a:latin typeface="Cambria Math" panose="02040503050406030204" pitchFamily="18" charset="0"/>
                    <a:cs typeface="Cambria Math" panose="02040503050406030204" pitchFamily="18" charset="0"/>
                  </a:rPr>
                  <a:t>即对每个样本</a:t>
                </a:r>
                <a14:m>
                  <m:oMath xmlns:m="http://schemas.openxmlformats.org/officeDocument/2006/math">
                    <m:r>
                      <a:rPr lang="en-US" altLang="zh-CN" b="1" i="1">
                        <a:latin typeface="Cambria Math" panose="02040503050406030204" pitchFamily="18" charset="0"/>
                        <a:cs typeface="Cambria Math" panose="02040503050406030204" pitchFamily="18" charset="0"/>
                      </a:rPr>
                      <m:t>𝒙</m:t>
                    </m:r>
                  </m:oMath>
                </a14:m>
                <a:r>
                  <a:rPr lang="zh-CN" altLang="en-US">
                    <a:latin typeface="Cambria Math" panose="02040503050406030204" pitchFamily="18" charset="0"/>
                    <a:cs typeface="Cambria Math" panose="02040503050406030204" pitchFamily="18" charset="0"/>
                  </a:rPr>
                  <a:t>，选择能使其</a:t>
                </a:r>
                <a:r>
                  <a:rPr lang="zh-CN" altLang="en-US">
                    <a:solidFill>
                      <a:schemeClr val="accent1"/>
                    </a:solidFill>
                    <a:effectLst>
                      <a:outerShdw blurRad="38100" dist="25400" dir="5400000" algn="ctr" rotWithShape="0">
                        <a:srgbClr val="6E747A">
                          <a:alpha val="43000"/>
                        </a:srgbClr>
                      </a:outerShdw>
                    </a:effectLst>
                  </a:rPr>
                  <a:t>后验概率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最大的类别</a:t>
                </a:r>
                <a14:m>
                  <m:oMath xmlns:m="http://schemas.openxmlformats.org/officeDocument/2006/math">
                    <m:r>
                      <a:rPr lang="en-US" altLang="zh-CN" i="1">
                        <a:latin typeface="Cambria Math" panose="02040503050406030204" pitchFamily="18" charset="0"/>
                        <a:cs typeface="Cambria Math" panose="02040503050406030204" pitchFamily="18" charset="0"/>
                      </a:rPr>
                      <m:t>𝑐</m:t>
                    </m:r>
                  </m:oMath>
                </a14:m>
                <a:r>
                  <a:rPr lang="zh-CN" altLang="en-US">
                    <a:latin typeface="Cambria Math" panose="02040503050406030204" pitchFamily="18" charset="0"/>
                    <a:cs typeface="Cambria Math" panose="02040503050406030204" pitchFamily="18" charset="0"/>
                  </a:rPr>
                  <a:t>作为其最终分类结果</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从上面推导可以看出，欲通过贝</a:t>
                </a:r>
                <a:r>
                  <a:rPr lang="zh-CN" altLang="en-US">
                    <a:solidFill>
                      <a:schemeClr val="accent1"/>
                    </a:solidFill>
                    <a:effectLst>
                      <a:outerShdw blurRad="38100" dist="25400" dir="5400000" algn="ctr" rotWithShape="0">
                        <a:srgbClr val="6E747A">
                          <a:alpha val="43000"/>
                        </a:srgbClr>
                      </a:outerShdw>
                    </a:effectLst>
                  </a:rPr>
                  <a:t>叶斯判定准则</a:t>
                </a:r>
                <a:r>
                  <a:rPr lang="zh-CN" altLang="en-US">
                    <a:latin typeface="Cambria Math" panose="02040503050406030204" pitchFamily="18" charset="0"/>
                    <a:cs typeface="Cambria Math" panose="02040503050406030204" pitchFamily="18" charset="0"/>
                  </a:rPr>
                  <a:t>来最小化</a:t>
                </a:r>
                <a:r>
                  <a:rPr lang="zh-CN" altLang="en-US">
                    <a:solidFill>
                      <a:schemeClr val="accent1"/>
                    </a:solidFill>
                    <a:effectLst>
                      <a:outerShdw blurRad="38100" dist="25400" dir="5400000" algn="ctr" rotWithShape="0">
                        <a:srgbClr val="6E747A">
                          <a:alpha val="43000"/>
                        </a:srgbClr>
                      </a:outerShdw>
                    </a:effectLst>
                  </a:rPr>
                  <a:t>决策风险</a:t>
                </a:r>
                <a:r>
                  <a:rPr lang="zh-CN" altLang="en-US">
                    <a:latin typeface="Cambria Math" panose="02040503050406030204" pitchFamily="18" charset="0"/>
                    <a:cs typeface="Cambria Math" panose="02040503050406030204" pitchFamily="18" charset="0"/>
                  </a:rPr>
                  <a:t>，需要获得</a:t>
                </a:r>
                <a:r>
                  <a:rPr lang="zh-CN" altLang="en-US">
                    <a:solidFill>
                      <a:schemeClr val="accent1"/>
                    </a:solidFill>
                    <a:effectLst>
                      <a:outerShdw blurRad="38100" dist="25400" dir="5400000" algn="ctr" rotWithShape="0">
                        <a:srgbClr val="6E747A">
                          <a:alpha val="43000"/>
                        </a:srgbClr>
                      </a:outerShdw>
                    </a:effectLst>
                  </a:rPr>
                  <a:t>后验概率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rPr>
                  <a:t>机器学习</a:t>
                </a:r>
                <a:r>
                  <a:rPr lang="zh-CN" altLang="en-US">
                    <a:latin typeface="Cambria Math" panose="02040503050406030204" pitchFamily="18" charset="0"/>
                    <a:cs typeface="Cambria Math" panose="02040503050406030204" pitchFamily="18" charset="0"/>
                  </a:rPr>
                  <a:t>所要实现的是基于有限的训练样本尽可能准确地估计出后验概率</a:t>
                </a:r>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94005" y="1225550"/>
                <a:ext cx="11340465" cy="450977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a:t>
            </a:r>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决策论</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01625" y="1140460"/>
                <a:ext cx="11322050" cy="4514215"/>
              </a:xfrm>
              <a:prstGeom prst="rect">
                <a:avLst/>
              </a:prstGeom>
              <a:noFill/>
            </p:spPr>
            <p:txBody>
              <a:bodyPr wrap="square" rtlCol="0" anchor="t">
                <a:spAutoFit/>
              </a:bodyPr>
              <a:p>
                <a:r>
                  <a:rPr lang="zh-CN" altLang="en-US">
                    <a:latin typeface="Cambria Math" panose="02040503050406030204" pitchFamily="18" charset="0"/>
                    <a:cs typeface="Cambria Math" panose="02040503050406030204" pitchFamily="18" charset="0"/>
                    <a:sym typeface="+mn-ea"/>
                  </a:rPr>
                  <a:t>基于有限的训练样本尽可能准确地估计出后验概率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主要有两种策略：</a:t>
                </a: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pPr indent="457200"/>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判别式模型</a:t>
                </a:r>
                <a:r>
                  <a:rPr lang="zh-CN" altLang="en-US">
                    <a:latin typeface="Cambria Math" panose="02040503050406030204" pitchFamily="18" charset="0"/>
                    <a:cs typeface="Cambria Math" panose="02040503050406030204" pitchFamily="18" charset="0"/>
                    <a:sym typeface="+mn-ea"/>
                  </a:rPr>
                  <a:t>：给定</a:t>
                </a:r>
                <a14:m>
                  <m:oMath xmlns:m="http://schemas.openxmlformats.org/officeDocument/2006/math">
                    <m:r>
                      <a:rPr lang="en-US" altLang="zh-CN" b="1" i="1">
                        <a:latin typeface="Cambria Math" panose="02040503050406030204" pitchFamily="18" charset="0"/>
                        <a:cs typeface="Cambria Math" panose="02040503050406030204" pitchFamily="18" charset="0"/>
                      </a:rPr>
                      <m:t>𝒙</m:t>
                    </m:r>
                  </m:oMath>
                </a14:m>
                <a:r>
                  <a:rPr lang="zh-CN" altLang="en-US">
                    <a:latin typeface="Cambria Math" panose="02040503050406030204" pitchFamily="18" charset="0"/>
                    <a:cs typeface="Cambria Math" panose="02040503050406030204" pitchFamily="18" charset="0"/>
                  </a:rPr>
                  <a:t>，可通过直接建模</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来预测</a:t>
                </a:r>
                <a14:m>
                  <m:oMath xmlns:m="http://schemas.openxmlformats.org/officeDocument/2006/math">
                    <m:r>
                      <a:rPr lang="en-US" altLang="zh-CN" i="1">
                        <a:latin typeface="Cambria Math" panose="02040503050406030204" pitchFamily="18" charset="0"/>
                        <a:cs typeface="Cambria Math" panose="02040503050406030204" pitchFamily="18" charset="0"/>
                      </a:rPr>
                      <m:t>𝑐</m:t>
                    </m:r>
                  </m:oMath>
                </a14:m>
                <a:r>
                  <a:rPr lang="zh-CN" altLang="en-US">
                    <a:latin typeface="Cambria Math" panose="02040503050406030204" pitchFamily="18" charset="0"/>
                    <a:cs typeface="Cambria Math" panose="02040503050406030204" pitchFamily="18" charset="0"/>
                  </a:rPr>
                  <a:t>，主要方法有</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决策树</a:t>
                </a:r>
                <a:r>
                  <a:rPr lang="zh-CN" altLang="en-US">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神经网络</a:t>
                </a:r>
                <a:r>
                  <a:rPr lang="zh-CN" altLang="en-US">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支持向量机</a:t>
                </a:r>
                <a:endPar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endParaRPr>
              </a:p>
              <a:p>
                <a:pPr indent="457200">
                  <a:lnSpc>
                    <a:spcPct val="50000"/>
                  </a:lnSpc>
                </a:pPr>
                <a:endParaRPr lang="zh-CN" altLang="en-US">
                  <a:latin typeface="Cambria Math" panose="02040503050406030204" pitchFamily="18" charset="0"/>
                  <a:cs typeface="Cambria Math" panose="02040503050406030204" pitchFamily="18" charset="0"/>
                  <a:sym typeface="+mn-ea"/>
                </a:endParaRPr>
              </a:p>
              <a:p>
                <a:pPr indent="457200"/>
                <a:r>
                  <a:rPr lang="zh-CN" altLang="en-US">
                    <a:solidFill>
                      <a:schemeClr val="accent2"/>
                    </a:solidFill>
                    <a:latin typeface="Cambria Math" panose="02040503050406030204" pitchFamily="18" charset="0"/>
                    <a:cs typeface="Cambria Math" panose="02040503050406030204" pitchFamily="18" charset="0"/>
                    <a:sym typeface="+mn-ea"/>
                  </a:rPr>
                  <a:t>生成式模型</a:t>
                </a:r>
                <a:r>
                  <a:rPr lang="zh-CN" altLang="en-US">
                    <a:latin typeface="Cambria Math" panose="02040503050406030204" pitchFamily="18" charset="0"/>
                    <a:cs typeface="Cambria Math" panose="02040503050406030204" pitchFamily="18" charset="0"/>
                    <a:sym typeface="+mn-ea"/>
                  </a:rPr>
                  <a:t>：先对联合概率分布</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建模，然后再由此获得</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，主要方法有</a:t>
                </a:r>
                <a:r>
                  <a:rPr lang="zh-CN" altLang="en-US">
                    <a:solidFill>
                      <a:schemeClr val="accent2"/>
                    </a:solidFill>
                    <a:latin typeface="Cambria Math" panose="02040503050406030204" pitchFamily="18" charset="0"/>
                    <a:cs typeface="Cambria Math" panose="02040503050406030204" pitchFamily="18" charset="0"/>
                  </a:rPr>
                  <a:t>贝叶斯分类器</a:t>
                </a:r>
                <a:endParaRPr lang="zh-CN" altLang="en-US">
                  <a:solidFill>
                    <a:schemeClr val="accent2"/>
                  </a:solidFill>
                  <a:latin typeface="Cambria Math" panose="02040503050406030204" pitchFamily="18" charset="0"/>
                  <a:cs typeface="Cambria Math" panose="02040503050406030204" pitchFamily="18" charset="0"/>
                </a:endParaRPr>
              </a:p>
              <a:p>
                <a:pPr indent="457200"/>
                <a:endParaRPr lang="zh-CN" altLang="en-US">
                  <a:solidFill>
                    <a:schemeClr val="accent2"/>
                  </a:solidFill>
                  <a:latin typeface="Cambria Math" panose="02040503050406030204" pitchFamily="18" charset="0"/>
                  <a:cs typeface="Cambria Math" panose="02040503050406030204" pitchFamily="18" charset="0"/>
                  <a:sym typeface="+mn-ea"/>
                </a:endParaRPr>
              </a:p>
              <a:p>
                <a:pPr algn="l"/>
                <a:r>
                  <a:rPr lang="zh-CN" altLang="en-US">
                    <a:latin typeface="Cambria Math" panose="02040503050406030204" pitchFamily="18" charset="0"/>
                    <a:cs typeface="Cambria Math" panose="02040503050406030204" pitchFamily="18" charset="0"/>
                    <a:sym typeface="+mn-ea"/>
                  </a:rPr>
                  <a:t>由于</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den>
                    </m:f>
                  </m:oMath>
                </a14:m>
                <a:r>
                  <a:rPr lang="zh-CN" altLang="en-US">
                    <a:latin typeface="Cambria Math" panose="02040503050406030204" pitchFamily="18" charset="0"/>
                    <a:cs typeface="Cambria Math" panose="02040503050406030204" pitchFamily="18" charset="0"/>
                    <a:sym typeface="+mn-ea"/>
                  </a:rPr>
                  <a:t>，若想得到</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，则需通过训练集得到</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类先验概率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和</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类条件概率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endParaRPr lang="en-US" altLang="zh-CN" i="1">
                  <a:latin typeface="Cambria Math" panose="02040503050406030204" pitchFamily="18" charset="0"/>
                  <a:cs typeface="Cambria Math" panose="02040503050406030204" pitchFamily="18" charset="0"/>
                </a:endParaRPr>
              </a:p>
              <a:p>
                <a:pPr algn="l"/>
                <a:endParaRPr lang="en-US" altLang="zh-CN">
                  <a:latin typeface="Cambria Math" panose="02040503050406030204" pitchFamily="18" charset="0"/>
                  <a:cs typeface="Cambria Math" panose="02040503050406030204" pitchFamily="18" charset="0"/>
                  <a:sym typeface="+mn-ea"/>
                </a:endParaRPr>
              </a:p>
              <a:p>
                <a:pPr algn="l"/>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类先验概率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：表达了样本空间中各类样本所占比例，根据</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大数定律</a:t>
                </a:r>
                <a:r>
                  <a:rPr lang="zh-CN" altLang="en-US">
                    <a:latin typeface="Cambria Math" panose="02040503050406030204" pitchFamily="18" charset="0"/>
                    <a:cs typeface="Cambria Math" panose="02040503050406030204" pitchFamily="18" charset="0"/>
                  </a:rPr>
                  <a:t>，可通过训练集中各类样本出现的频率</a:t>
                </a:r>
                <a:endParaRPr lang="zh-CN" altLang="en-US">
                  <a:latin typeface="Cambria Math" panose="02040503050406030204" pitchFamily="18" charset="0"/>
                  <a:cs typeface="Cambria Math" panose="02040503050406030204" pitchFamily="18" charset="0"/>
                </a:endParaRPr>
              </a:p>
              <a:p>
                <a:pPr algn="l"/>
                <a:r>
                  <a:rPr lang="zh-CN" altLang="en-US">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得到</a:t>
                </a:r>
                <a:endParaRPr lang="zh-CN" altLang="en-US">
                  <a:latin typeface="Cambria Math" panose="02040503050406030204" pitchFamily="18" charset="0"/>
                  <a:cs typeface="Cambria Math" panose="02040503050406030204" pitchFamily="18" charset="0"/>
                </a:endParaRPr>
              </a:p>
              <a:p>
                <a:pPr algn="l">
                  <a:lnSpc>
                    <a:spcPct val="70000"/>
                  </a:lnSpc>
                </a:pPr>
                <a:endParaRPr lang="zh-CN" altLang="en-US">
                  <a:latin typeface="Cambria Math" panose="02040503050406030204" pitchFamily="18" charset="0"/>
                  <a:cs typeface="Cambria Math" panose="02040503050406030204" pitchFamily="18" charset="0"/>
                  <a:sym typeface="+mn-ea"/>
                </a:endParaRPr>
              </a:p>
              <a:p>
                <a:pPr algn="l"/>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类条件概率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：设计关于样本</a:t>
                </a:r>
                <a14:m>
                  <m:oMath xmlns:m="http://schemas.openxmlformats.org/officeDocument/2006/math">
                    <m:r>
                      <a:rPr lang="en-US" altLang="zh-CN" b="1" i="1">
                        <a:latin typeface="Cambria Math" panose="02040503050406030204" pitchFamily="18" charset="0"/>
                        <a:cs typeface="Cambria Math" panose="02040503050406030204" pitchFamily="18" charset="0"/>
                      </a:rPr>
                      <m:t>𝒙</m:t>
                    </m:r>
                  </m:oMath>
                </a14:m>
                <a:r>
                  <a:rPr lang="zh-CN" altLang="en-US">
                    <a:latin typeface="Cambria Math" panose="02040503050406030204" pitchFamily="18" charset="0"/>
                    <a:cs typeface="Cambria Math" panose="02040503050406030204" pitchFamily="18" charset="0"/>
                  </a:rPr>
                  <a:t>的所有属性的联合概率，通过</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极大似然估计</a:t>
                </a:r>
                <a:r>
                  <a:rPr lang="zh-CN" altLang="en-US">
                    <a:latin typeface="Cambria Math" panose="02040503050406030204" pitchFamily="18" charset="0"/>
                    <a:cs typeface="Cambria Math" panose="02040503050406030204" pitchFamily="18" charset="0"/>
                  </a:rPr>
                  <a:t>得到</a:t>
                </a:r>
                <a:endParaRPr lang="zh-CN" altLang="en-US">
                  <a:latin typeface="Cambria Math" panose="02040503050406030204" pitchFamily="18" charset="0"/>
                  <a:cs typeface="Cambria Math" panose="02040503050406030204" pitchFamily="18" charset="0"/>
                </a:endParaRPr>
              </a:p>
              <a:p>
                <a:pPr algn="l"/>
                <a:endParaRPr lang="zh-CN" altLang="en-US">
                  <a:latin typeface="Cambria Math" panose="02040503050406030204" pitchFamily="18" charset="0"/>
                  <a:cs typeface="Cambria Math" panose="02040503050406030204" pitchFamily="18" charset="0"/>
                  <a:sym typeface="+mn-ea"/>
                </a:endParaRPr>
              </a:p>
              <a:p>
                <a:pPr algn="l"/>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大数定律</a:t>
                </a:r>
                <a:r>
                  <a:rPr lang="zh-CN" altLang="en-US">
                    <a:latin typeface="Cambria Math" panose="02040503050406030204" pitchFamily="18" charset="0"/>
                    <a:cs typeface="Cambria Math" panose="02040503050406030204" pitchFamily="18" charset="0"/>
                    <a:sym typeface="+mn-ea"/>
                  </a:rPr>
                  <a:t>：一种描述当试验次数很大时所呈现的概率性质的定律</a:t>
                </a:r>
                <a:endParaRPr lang="zh-CN" altLang="en-US">
                  <a:latin typeface="Cambria Math" panose="02040503050406030204" pitchFamily="18" charset="0"/>
                  <a:cs typeface="Cambria Math" panose="02040503050406030204" pitchFamily="18" charset="0"/>
                  <a:sym typeface="+mn-ea"/>
                </a:endParaRPr>
              </a:p>
              <a:p>
                <a:pPr algn="l">
                  <a:lnSpc>
                    <a:spcPct val="70000"/>
                  </a:lnSpc>
                </a:pPr>
                <a:endParaRPr lang="zh-CN" altLang="en-US">
                  <a:latin typeface="Cambria Math" panose="02040503050406030204" pitchFamily="18" charset="0"/>
                  <a:cs typeface="Cambria Math" panose="02040503050406030204" pitchFamily="18" charset="0"/>
                  <a:sym typeface="+mn-ea"/>
                </a:endParaRPr>
              </a:p>
              <a:p>
                <a:pPr algn="l"/>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极大似然估计</a:t>
                </a:r>
                <a:r>
                  <a:rPr lang="zh-CN" altLang="en-US">
                    <a:latin typeface="Cambria Math" panose="02040503050406030204" pitchFamily="18" charset="0"/>
                    <a:cs typeface="Cambria Math" panose="02040503050406030204" pitchFamily="18" charset="0"/>
                    <a:sym typeface="+mn-ea"/>
                  </a:rPr>
                  <a:t>：统计学中常用的参数估计方法，极大似然估计的关键就是，利用已知的样本结果信息，反推最</a:t>
                </a:r>
                <a:endParaRPr lang="zh-CN" altLang="en-US">
                  <a:latin typeface="Cambria Math" panose="02040503050406030204" pitchFamily="18" charset="0"/>
                  <a:cs typeface="Cambria Math" panose="02040503050406030204" pitchFamily="18" charset="0"/>
                  <a:sym typeface="+mn-ea"/>
                </a:endParaRPr>
              </a:p>
              <a:p>
                <a:pPr algn="l"/>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大概率导致这些样本结果出现的模型参数值</a:t>
                </a:r>
                <a:endParaRPr lang="zh-CN" altLang="en-US">
                  <a:latin typeface="Cambria Math" panose="02040503050406030204" pitchFamily="18" charset="0"/>
                  <a:cs typeface="Cambria Math" panose="02040503050406030204" pitchFamily="18" charset="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301625" y="1140460"/>
                <a:ext cx="11322050" cy="4514215"/>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flipH="1">
            <a:off x="3823652" y="1411646"/>
            <a:ext cx="5080" cy="475932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p:sp>
        <p:nvSpPr>
          <p:cNvPr id="2" name="文本框 1"/>
          <p:cNvSpPr txBox="1"/>
          <p:nvPr/>
        </p:nvSpPr>
        <p:spPr>
          <a:xfrm>
            <a:off x="4094480" y="1411605"/>
            <a:ext cx="6861175" cy="4073525"/>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贝叶斯定理</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贝叶斯决策论</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极大似然估计</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利用贝叶斯解决实际问题：拼写纠错</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半朴素贝叶斯分类器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贝叶斯网</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极大似然估计</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10515" y="1242060"/>
                <a:ext cx="11299825" cy="4871085"/>
              </a:xfrm>
              <a:prstGeom prst="rect">
                <a:avLst/>
              </a:prstGeom>
              <a:noFill/>
            </p:spPr>
            <p:txBody>
              <a:bodyPr wrap="square" rtlCol="0">
                <a:spAutoFit/>
              </a:bodyPr>
              <a:p>
                <a:pPr indent="457200"/>
                <a:r>
                  <a:rPr lang="zh-CN" altLang="en-US"/>
                  <a:t>估计类条件概率的一种常用策略是先假定其具有某种确定的概率分布形式，再基于训练样本对概率分布的参数进行估计；记关于类别</a:t>
                </a:r>
                <a14:m>
                  <m:oMath xmlns:m="http://schemas.openxmlformats.org/officeDocument/2006/math">
                    <m:r>
                      <a:rPr lang="en-US" altLang="zh-CN" i="1">
                        <a:latin typeface="Cambria Math" panose="02040503050406030204" pitchFamily="18" charset="0"/>
                        <a:cs typeface="Cambria Math" panose="02040503050406030204" pitchFamily="18" charset="0"/>
                      </a:rPr>
                      <m:t>𝑐</m:t>
                    </m:r>
                  </m:oMath>
                </a14:m>
                <a:r>
                  <a:rPr lang="zh-CN" altLang="en-US">
                    <a:latin typeface="Cambria Math" panose="02040503050406030204" pitchFamily="18" charset="0"/>
                    <a:cs typeface="Cambria Math" panose="02040503050406030204" pitchFamily="18" charset="0"/>
                  </a:rPr>
                  <a:t>的类条件概率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，假设类别为</a:t>
                </a:r>
                <a14:m>
                  <m:oMath xmlns:m="http://schemas.openxmlformats.org/officeDocument/2006/math">
                    <m:r>
                      <a:rPr lang="en-US" altLang="zh-CN" i="1">
                        <a:latin typeface="Cambria Math" panose="02040503050406030204" pitchFamily="18" charset="0"/>
                        <a:cs typeface="Cambria Math" panose="02040503050406030204" pitchFamily="18" charset="0"/>
                      </a:rPr>
                      <m:t>𝑐</m:t>
                    </m:r>
                  </m:oMath>
                </a14:m>
                <a:r>
                  <a:rPr lang="zh-CN" altLang="en-US">
                    <a:latin typeface="Cambria Math" panose="02040503050406030204" pitchFamily="18" charset="0"/>
                    <a:cs typeface="Cambria Math" panose="02040503050406030204" pitchFamily="18" charset="0"/>
                  </a:rPr>
                  <a:t>的样本</a:t>
                </a:r>
                <a14:m>
                  <m:oMath xmlns:m="http://schemas.openxmlformats.org/officeDocument/2006/math">
                    <m:r>
                      <a:rPr lang="en-US" altLang="zh-CN" b="1" i="1">
                        <a:latin typeface="Cambria Math" panose="02040503050406030204" pitchFamily="18" charset="0"/>
                        <a:cs typeface="Cambria Math" panose="02040503050406030204" pitchFamily="18" charset="0"/>
                      </a:rPr>
                      <m:t>𝒙</m:t>
                    </m:r>
                  </m:oMath>
                </a14:m>
                <a:r>
                  <a:rPr lang="zh-CN" altLang="en-US">
                    <a:latin typeface="Cambria Math" panose="02040503050406030204" pitchFamily="18" charset="0"/>
                    <a:cs typeface="Cambria Math" panose="02040503050406030204" pitchFamily="18" charset="0"/>
                  </a:rPr>
                  <a:t>的分布被参数向量</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𝜃</m:t>
                        </m:r>
                      </m:e>
                      <m:sub>
                        <m:r>
                          <a:rPr lang="en-US" altLang="zh-CN" i="1">
                            <a:latin typeface="Cambria Math" panose="02040503050406030204" pitchFamily="18" charset="0"/>
                            <a:cs typeface="Cambria Math" panose="02040503050406030204" pitchFamily="18" charset="0"/>
                          </a:rPr>
                          <m:t>𝑐</m:t>
                        </m:r>
                      </m:sub>
                    </m:sSub>
                  </m:oMath>
                </a14:m>
                <a:r>
                  <a:rPr lang="zh-CN" altLang="en-US">
                    <a:latin typeface="Cambria Math" panose="02040503050406030204" pitchFamily="18" charset="0"/>
                    <a:cs typeface="Cambria Math" panose="02040503050406030204" pitchFamily="18" charset="0"/>
                  </a:rPr>
                  <a:t>唯一确定，我们希望通过训练集</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oMath>
                </a14:m>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训练集</a:t>
                </a:r>
                <a14:m>
                  <m:oMath xmlns:m="http://schemas.openxmlformats.org/officeDocument/2006/math">
                    <m:r>
                      <a:rPr lang="en-US" altLang="zh-CN" i="1">
                        <a:latin typeface="Cambria Math" panose="02040503050406030204" pitchFamily="18" charset="0"/>
                        <a:cs typeface="Cambria Math" panose="02040503050406030204" pitchFamily="18" charset="0"/>
                      </a:rPr>
                      <m:t>𝐷</m:t>
                    </m:r>
                  </m:oMath>
                </a14:m>
                <a:r>
                  <a:rPr lang="zh-CN" altLang="en-US">
                    <a:latin typeface="Cambria Math" panose="02040503050406030204" pitchFamily="18" charset="0"/>
                    <a:cs typeface="Cambria Math" panose="02040503050406030204" pitchFamily="18" charset="0"/>
                  </a:rPr>
                  <a:t>中属于类别</a:t>
                </a:r>
                <a14:m>
                  <m:oMath xmlns:m="http://schemas.openxmlformats.org/officeDocument/2006/math">
                    <m:r>
                      <a:rPr lang="en-US" altLang="zh-CN" i="1">
                        <a:latin typeface="Cambria Math" panose="02040503050406030204" pitchFamily="18" charset="0"/>
                        <a:cs typeface="Cambria Math" panose="02040503050406030204" pitchFamily="18" charset="0"/>
                      </a:rPr>
                      <m:t>𝑐</m:t>
                    </m:r>
                  </m:oMath>
                </a14:m>
                <a:r>
                  <a:rPr lang="zh-CN" altLang="en-US">
                    <a:latin typeface="Cambria Math" panose="02040503050406030204" pitchFamily="18" charset="0"/>
                    <a:cs typeface="Cambria Math" panose="02040503050406030204" pitchFamily="18" charset="0"/>
                  </a:rPr>
                  <a:t>的样本所组成的训练集</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估计出参数</a:t>
                </a:r>
                <a14:m>
                  <m:oMath xmlns:m="http://schemas.openxmlformats.org/officeDocument/2006/math">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oMath>
                </a14:m>
                <a:r>
                  <a:rPr lang="zh-CN" altLang="en-US">
                    <a:latin typeface="Cambria Math" panose="02040503050406030204" pitchFamily="18" charset="0"/>
                    <a:cs typeface="Cambria Math" panose="02040503050406030204" pitchFamily="18" charset="0"/>
                  </a:rPr>
                  <a:t>，因此类条件概率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可看作</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r>
                      <a:rPr lang="en-US" altLang="zh-CN" i="1">
                        <a:latin typeface="Cambria Math" panose="02040503050406030204" pitchFamily="18" charset="0"/>
                        <a:cs typeface="Cambria Math" panose="02040503050406030204" pitchFamily="18" charset="0"/>
                      </a:rPr>
                      <m:t>)</m:t>
                    </m:r>
                  </m:oMath>
                </a14:m>
                <a:endParaRPr lang="en-US" altLang="zh-CN" i="1">
                  <a:latin typeface="Cambria Math" panose="02040503050406030204" pitchFamily="18" charset="0"/>
                  <a:cs typeface="Cambria Math" panose="02040503050406030204" pitchFamily="18" charset="0"/>
                </a:endParaRPr>
              </a:p>
              <a:p>
                <a:pPr indent="457200">
                  <a:lnSpc>
                    <a:spcPct val="70000"/>
                  </a:lnSpc>
                </a:pPr>
                <a:endParaRPr lang="zh-CN" altLang="en-US">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假定</a:t>
                </a:r>
                <a:r>
                  <a:rPr lang="zh-CN" altLang="en-US">
                    <a:latin typeface="Cambria Math" panose="02040503050406030204" pitchFamily="18" charset="0"/>
                    <a:cs typeface="Cambria Math" panose="02040503050406030204" pitchFamily="18" charset="0"/>
                    <a:sym typeface="+mn-ea"/>
                  </a:rPr>
                  <a:t>训练集</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oMath>
                </a14:m>
                <a:r>
                  <a:rPr lang="zh-CN" altLang="en-US">
                    <a:latin typeface="Cambria Math" panose="02040503050406030204" pitchFamily="18" charset="0"/>
                    <a:cs typeface="Cambria Math" panose="02040503050406030204" pitchFamily="18" charset="0"/>
                  </a:rPr>
                  <a:t>中的样本是</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独立同分布</a:t>
                </a:r>
                <a:r>
                  <a:rPr lang="zh-CN" altLang="en-US">
                    <a:latin typeface="Cambria Math" panose="02040503050406030204" pitchFamily="18" charset="0"/>
                    <a:cs typeface="Cambria Math" panose="02040503050406030204" pitchFamily="18" charset="0"/>
                  </a:rPr>
                  <a:t>的，则参数</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𝜃</m:t>
                        </m:r>
                      </m:e>
                      <m:sub>
                        <m:r>
                          <a:rPr lang="en-US" altLang="zh-CN" i="1">
                            <a:latin typeface="Cambria Math" panose="02040503050406030204" pitchFamily="18" charset="0"/>
                            <a:cs typeface="Cambria Math" panose="02040503050406030204" pitchFamily="18" charset="0"/>
                          </a:rPr>
                          <m:t>𝑐</m:t>
                        </m:r>
                      </m:sub>
                    </m:sSub>
                  </m:oMath>
                </a14:m>
                <a:r>
                  <a:rPr lang="zh-CN" altLang="en-US">
                    <a:latin typeface="Cambria Math" panose="02040503050406030204" pitchFamily="18" charset="0"/>
                    <a:cs typeface="Cambria Math" panose="02040503050406030204" pitchFamily="18" charset="0"/>
                  </a:rPr>
                  <a:t>对于数据集</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oMath>
                </a14:m>
                <a:r>
                  <a:rPr lang="zh-CN" altLang="en-US">
                    <a:latin typeface="Cambria Math" panose="02040503050406030204" pitchFamily="18" charset="0"/>
                    <a:cs typeface="Cambria Math" panose="02040503050406030204" pitchFamily="18" charset="0"/>
                  </a:rPr>
                  <a:t>的</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似然</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类条件概率</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是：</a:t>
                </a:r>
                <a:endParaRPr lang="zh-CN" altLang="en-US">
                  <a:latin typeface="Cambria Math" panose="02040503050406030204" pitchFamily="18" charset="0"/>
                  <a:cs typeface="Cambria Math" panose="02040503050406030204" pitchFamily="18" charset="0"/>
                </a:endParaRPr>
              </a:p>
              <a:p>
                <a:pPr indent="457200">
                  <a:lnSpc>
                    <a:spcPct val="50000"/>
                  </a:lnSpc>
                </a:pPr>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r>
                        <a:rPr lang="en-US" altLang="zh-CN" i="1">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sub>
                        <m:sup/>
                        <m:e>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r>
                            <a:rPr lang="en-US" altLang="zh-CN" i="1">
                              <a:latin typeface="Cambria Math" panose="02040503050406030204" pitchFamily="18" charset="0"/>
                              <a:cs typeface="Cambria Math" panose="02040503050406030204" pitchFamily="18" charset="0"/>
                            </a:rPr>
                            <m:t>)</m:t>
                          </m:r>
                        </m:e>
                      </m:nary>
                    </m:oMath>
                  </m:oMathPara>
                </a14:m>
                <a:endParaRPr lang="en-US" altLang="zh-CN" i="1">
                  <a:latin typeface="Cambria Math" panose="02040503050406030204" pitchFamily="18" charset="0"/>
                  <a:cs typeface="Cambria Math" panose="02040503050406030204" pitchFamily="18" charset="0"/>
                </a:endParaRPr>
              </a:p>
              <a:p>
                <a:pPr indent="457200">
                  <a:lnSpc>
                    <a:spcPct val="50000"/>
                  </a:lnSpc>
                </a:pPr>
                <a:endParaRPr lang="zh-CN" altLang="en-US">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连乘操作易造成下溢，通常采用</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对数似然</a:t>
                </a:r>
                <a:r>
                  <a:rPr lang="en-US" altLang="zh-CN">
                    <a:latin typeface="Cambria Math" panose="02040503050406030204" pitchFamily="18" charset="0"/>
                    <a:cs typeface="Cambria Math" panose="02040503050406030204" pitchFamily="18" charset="0"/>
                  </a:rPr>
                  <a:t>(log-likelihood)</a:t>
                </a:r>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𝐿𝐿</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𝑙𝑛</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endParaRPr>
              </a:p>
              <a:p>
                <a:pPr indent="457200"/>
                <a:r>
                  <a:rPr lang="en-US" altLang="zh-CN">
                    <a:latin typeface="Cambria Math" panose="02040503050406030204" pitchFamily="18" charset="0"/>
                    <a:cs typeface="Cambria Math" panose="02040503050406030204" pitchFamily="18" charset="0"/>
                  </a:rPr>
                  <a:t>                   					    </a:t>
                </a:r>
                <a14:m>
                  <m:oMath xmlns:m="http://schemas.openxmlformats.org/officeDocument/2006/math">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𝑙𝑛</m:t>
                    </m:r>
                    <m:r>
                      <a:rPr lang="en-US" altLang="zh-CN" i="1">
                        <a:latin typeface="Cambria Math" panose="02040503050406030204" pitchFamily="18" charset="0"/>
                        <a:cs typeface="Cambria Math" panose="02040503050406030204" pitchFamily="18" charset="0"/>
                      </a:rPr>
                      <m:t> </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sub>
                      <m:sup/>
                      <m:e>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r>
                          <a:rPr lang="en-US" altLang="zh-CN" i="1">
                            <a:latin typeface="Cambria Math" panose="02040503050406030204" pitchFamily="18" charset="0"/>
                            <a:cs typeface="Cambria Math" panose="02040503050406030204" pitchFamily="18" charset="0"/>
                          </a:rPr>
                          <m:t>)</m:t>
                        </m:r>
                      </m:e>
                    </m:nary>
                  </m:oMath>
                </a14:m>
                <a:endParaRPr lang="en-US" altLang="zh-CN" i="1">
                  <a:latin typeface="Cambria Math" panose="02040503050406030204" pitchFamily="18" charset="0"/>
                  <a:cs typeface="Cambria Math" panose="02040503050406030204" pitchFamily="18" charset="0"/>
                </a:endParaRPr>
              </a:p>
              <a:p>
                <a:pPr indent="457200"/>
                <a:r>
                  <a:rPr lang="en-US" altLang="zh-CN">
                    <a:latin typeface="Cambria Math" panose="02040503050406030204" pitchFamily="18" charset="0"/>
                    <a:cs typeface="Cambria Math" panose="02040503050406030204" pitchFamily="18" charset="0"/>
                  </a:rPr>
                  <a:t>     						    </a:t>
                </a:r>
                <a14:m>
                  <m:oMath xmlns:m="http://schemas.openxmlformats.org/officeDocument/2006/math">
                    <m:r>
                      <a:rPr lang="en-US" altLang="zh-CN" i="1">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sub>
                      <m:sup/>
                      <m:e>
                        <m:r>
                          <a:rPr lang="en-US" altLang="zh-CN" i="1">
                            <a:latin typeface="Cambria Math" panose="02040503050406030204" pitchFamily="18" charset="0"/>
                            <a:cs typeface="Cambria Math" panose="02040503050406030204" pitchFamily="18" charset="0"/>
                          </a:rPr>
                          <m:t>𝑙𝑛</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r>
                          <a:rPr lang="en-US" altLang="zh-CN" i="1">
                            <a:latin typeface="Cambria Math" panose="02040503050406030204" pitchFamily="18" charset="0"/>
                            <a:cs typeface="Cambria Math" panose="02040503050406030204" pitchFamily="18" charset="0"/>
                          </a:rPr>
                          <m:t>)</m:t>
                        </m:r>
                      </m:e>
                    </m:nary>
                  </m:oMath>
                </a14:m>
                <a:endParaRPr lang="en-US" altLang="zh-CN" i="1">
                  <a:latin typeface="Cambria Math" panose="02040503050406030204" pitchFamily="18" charset="0"/>
                  <a:cs typeface="Cambria Math" panose="02040503050406030204" pitchFamily="18" charset="0"/>
                </a:endParaRPr>
              </a:p>
              <a:p>
                <a:pPr indent="457200"/>
                <a:endParaRPr lang="en-US" altLang="zh-CN">
                  <a:latin typeface="Cambria Math" panose="02040503050406030204" pitchFamily="18" charset="0"/>
                  <a:cs typeface="Cambria Math" panose="02040503050406030204" pitchFamily="18" charset="0"/>
                </a:endParaRPr>
              </a:p>
              <a:p>
                <a:pPr indent="457200"/>
                <a:r>
                  <a:rPr lang="en-US" altLang="zh-CN" sz="1600">
                    <a:latin typeface="Cambria Math" panose="02040503050406030204" pitchFamily="18" charset="0"/>
                    <a:cs typeface="Cambria Math" panose="02040503050406030204" pitchFamily="18" charset="0"/>
                  </a:rPr>
                  <a:t>(</a:t>
                </a:r>
                <a:r>
                  <a:rPr lang="zh-CN" altLang="en-US" sz="1600">
                    <a:latin typeface="Cambria Math" panose="02040503050406030204" pitchFamily="18" charset="0"/>
                    <a:cs typeface="Cambria Math" panose="02040503050406030204" pitchFamily="18" charset="0"/>
                  </a:rPr>
                  <a:t>下溢：</a:t>
                </a:r>
                <a:r>
                  <a:rPr lang="en-US" altLang="zh-CN" sz="1600">
                    <a:latin typeface="Cambria Math" panose="02040503050406030204" pitchFamily="18" charset="0"/>
                    <a:cs typeface="Cambria Math" panose="02040503050406030204" pitchFamily="18" charset="0"/>
                  </a:rPr>
                  <a:t>一个超长的数据进入到缓冲区时，超出部分被写入下级缓冲区，下级缓冲区存放的是下一条指令的指针，或者是</a:t>
                </a:r>
                <a:endParaRPr lang="en-US" altLang="zh-CN" sz="1600">
                  <a:latin typeface="Cambria Math" panose="02040503050406030204" pitchFamily="18" charset="0"/>
                  <a:cs typeface="Cambria Math" panose="02040503050406030204" pitchFamily="18" charset="0"/>
                </a:endParaRPr>
              </a:p>
              <a:p>
                <a:pPr indent="457200"/>
                <a:r>
                  <a:rPr lang="en-US" altLang="zh-CN" sz="1600">
                    <a:latin typeface="Cambria Math" panose="02040503050406030204" pitchFamily="18" charset="0"/>
                    <a:cs typeface="Cambria Math" panose="02040503050406030204" pitchFamily="18" charset="0"/>
                  </a:rPr>
                  <a:t>                其他程序的输出内容。下溢会导致下一个命令执行不正常)</a:t>
                </a:r>
                <a:endParaRPr lang="en-US" altLang="zh-CN" sz="1600">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10515" y="1242060"/>
                <a:ext cx="11299825" cy="4871085"/>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极大似然估计</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18770" y="1275080"/>
                <a:ext cx="11283315" cy="5306060"/>
              </a:xfrm>
              <a:prstGeom prst="rect">
                <a:avLst/>
              </a:prstGeom>
              <a:noFill/>
            </p:spPr>
            <p:txBody>
              <a:bodyPr wrap="square" rtlCol="0">
                <a:spAutoFit/>
              </a:bodyPr>
              <a:p>
                <a:r>
                  <a:rPr lang="zh-CN" altLang="en-US"/>
                  <a:t>参数</a:t>
                </a:r>
                <a14:m>
                  <m:oMath xmlns:m="http://schemas.openxmlformats.org/officeDocument/2006/math">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oMath>
                </a14:m>
                <a:r>
                  <a:rPr lang="zh-CN" altLang="en-US">
                    <a:latin typeface="Cambria Math" panose="02040503050406030204" pitchFamily="18" charset="0"/>
                    <a:cs typeface="Cambria Math" panose="02040503050406030204" pitchFamily="18" charset="0"/>
                  </a:rPr>
                  <a:t>的</a:t>
                </a:r>
                <a:r>
                  <a:rPr lang="zh-CN" altLang="en-US"/>
                  <a:t>极大似然估计</a:t>
                </a:r>
                <a14:m>
                  <m:oMath xmlns:m="http://schemas.openxmlformats.org/officeDocument/2006/math">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oMath>
                </a14:m>
                <a:r>
                  <a:rPr lang="zh-CN" altLang="en-US">
                    <a:latin typeface="Cambria Math" panose="02040503050406030204" pitchFamily="18" charset="0"/>
                    <a:cs typeface="Cambria Math" panose="02040503050406030204" pitchFamily="18" charset="0"/>
                  </a:rPr>
                  <a:t>为：</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func>
                        <m:funcPr>
                          <m:ctrlPr>
                            <a:rPr lang="en-US" altLang="zh-CN" i="1">
                              <a:latin typeface="Cambria Math" panose="02040503050406030204" pitchFamily="18" charset="0"/>
                              <a:cs typeface="Cambria Math" panose="02040503050406030204" pitchFamily="18" charset="0"/>
                            </a:rPr>
                          </m:ctrlPr>
                        </m:funcPr>
                        <m:fName>
                          <m:limLow>
                            <m:limLowPr>
                              <m:ctrlPr>
                                <a:rPr lang="en-US" altLang="zh-CN">
                                  <a:latin typeface="Cambria Math" panose="02040503050406030204" pitchFamily="18" charset="0"/>
                                  <a:cs typeface="Cambria Math" panose="02040503050406030204" pitchFamily="18" charset="0"/>
                                </a:rPr>
                              </m:ctrlPr>
                            </m:limLowPr>
                            <m:e>
                              <m:r>
                                <m:rPr>
                                  <m:sty m:val="p"/>
                                </m:rPr>
                                <a:rPr lang="en-US" altLang="zh-CN">
                                  <a:latin typeface="Cambria Math" panose="02040503050406030204" pitchFamily="18" charset="0"/>
                                  <a:cs typeface="Cambria Math" panose="02040503050406030204" pitchFamily="18" charset="0"/>
                                </a:rPr>
                                <m:t>argmax</m:t>
                              </m:r>
                            </m:e>
                            <m:lim>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𝜃</m:t>
                                  </m:r>
                                </m:e>
                                <m:sub>
                                  <m:r>
                                    <a:rPr lang="en-US" altLang="zh-CN" i="1">
                                      <a:latin typeface="Cambria Math" panose="02040503050406030204" pitchFamily="18" charset="0"/>
                                      <a:cs typeface="Cambria Math" panose="02040503050406030204" pitchFamily="18" charset="0"/>
                                    </a:rPr>
                                    <m:t>𝑐</m:t>
                                  </m:r>
                                </m:sub>
                              </m:sSub>
                            </m:lim>
                          </m:limLow>
                        </m:fName>
                        <m:e>
                          <m:r>
                            <a:rPr lang="en-US" altLang="zh-CN" i="1">
                              <a:latin typeface="Cambria Math" panose="02040503050406030204" pitchFamily="18" charset="0"/>
                              <a:cs typeface="Cambria Math" panose="02040503050406030204" pitchFamily="18" charset="0"/>
                            </a:rPr>
                            <m:t>𝐿𝐿</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r>
                            <a:rPr lang="en-US" altLang="zh-CN" i="1">
                              <a:latin typeface="Cambria Math" panose="02040503050406030204" pitchFamily="18" charset="0"/>
                              <a:cs typeface="Cambria Math" panose="02040503050406030204" pitchFamily="18" charset="0"/>
                            </a:rPr>
                            <m:t>)</m:t>
                          </m:r>
                        </m:e>
                      </m:func>
                    </m:oMath>
                  </m:oMathPara>
                </a14:m>
                <a:endParaRPr lang="en-US" altLang="zh-CN" i="1">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以连续属性为例，假设属于类别</a:t>
                </a:r>
                <a14:m>
                  <m:oMath xmlns:m="http://schemas.openxmlformats.org/officeDocument/2006/math">
                    <m:r>
                      <a:rPr lang="en-US" altLang="zh-CN" i="1">
                        <a:latin typeface="Cambria Math" panose="02040503050406030204" pitchFamily="18" charset="0"/>
                        <a:cs typeface="Cambria Math" panose="02040503050406030204" pitchFamily="18" charset="0"/>
                      </a:rPr>
                      <m:t>𝑐</m:t>
                    </m:r>
                  </m:oMath>
                </a14:m>
                <a:r>
                  <a:rPr lang="zh-CN" altLang="en-US">
                    <a:latin typeface="Cambria Math" panose="02040503050406030204" pitchFamily="18" charset="0"/>
                    <a:cs typeface="Cambria Math" panose="02040503050406030204" pitchFamily="18" charset="0"/>
                  </a:rPr>
                  <a:t>的样本</a:t>
                </a:r>
                <a14:m>
                  <m:oMath xmlns:m="http://schemas.openxmlformats.org/officeDocument/2006/math">
                    <m:r>
                      <a:rPr lang="en-US" altLang="zh-CN" b="1" i="1">
                        <a:latin typeface="Cambria Math" panose="02040503050406030204" pitchFamily="18" charset="0"/>
                        <a:cs typeface="Cambria Math" panose="02040503050406030204" pitchFamily="18" charset="0"/>
                      </a:rPr>
                      <m:t>𝒙</m:t>
                    </m:r>
                  </m:oMath>
                </a14:m>
                <a:r>
                  <a:rPr lang="zh-CN" altLang="en-US">
                    <a:latin typeface="Cambria Math" panose="02040503050406030204" pitchFamily="18" charset="0"/>
                    <a:cs typeface="Cambria Math" panose="02040503050406030204" pitchFamily="18" charset="0"/>
                  </a:rPr>
                  <a:t>在</a:t>
                </a:r>
                <a:r>
                  <a:rPr lang="zh-CN" altLang="en-US">
                    <a:solidFill>
                      <a:schemeClr val="tx1"/>
                    </a:solidFill>
                    <a:latin typeface="Cambria Math" panose="02040503050406030204" pitchFamily="18" charset="0"/>
                    <a:cs typeface="Cambria Math" panose="02040503050406030204" pitchFamily="18" charset="0"/>
                  </a:rPr>
                  <a:t>该属性上的分布符合正态分布</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𝑁</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𝜇</m:t>
                        </m:r>
                      </m:e>
                      <m:sub>
                        <m:r>
                          <a:rPr lang="en-US" altLang="zh-CN" i="1">
                            <a:solidFill>
                              <a:schemeClr val="tx1"/>
                            </a:solidFill>
                            <a:latin typeface="Cambria Math" panose="02040503050406030204" pitchFamily="18" charset="0"/>
                            <a:cs typeface="Cambria Math" panose="02040503050406030204" pitchFamily="18" charset="0"/>
                          </a:rPr>
                          <m:t>𝑐</m:t>
                        </m:r>
                      </m:sub>
                    </m:sSub>
                    <m:r>
                      <a:rPr lang="en-US" altLang="zh-CN" i="1">
                        <a:solidFill>
                          <a:schemeClr val="tx1"/>
                        </a:solidFill>
                        <a:latin typeface="Cambria Math" panose="02040503050406030204" pitchFamily="18" charset="0"/>
                        <a:cs typeface="Cambria Math" panose="02040503050406030204" pitchFamily="18" charset="0"/>
                      </a:rPr>
                      <m:t>,</m:t>
                    </m:r>
                    <m:sSubSup>
                      <m:sSubSupPr>
                        <m:ctrlPr>
                          <a:rPr lang="en-US" altLang="zh-CN" i="1">
                            <a:solidFill>
                              <a:schemeClr val="tx1"/>
                            </a:solidFill>
                            <a:latin typeface="Cambria Math" panose="02040503050406030204" pitchFamily="18" charset="0"/>
                            <a:cs typeface="Cambria Math" panose="02040503050406030204" pitchFamily="18" charset="0"/>
                          </a:rPr>
                        </m:ctrlPr>
                      </m:sSubSupPr>
                      <m:e>
                        <m:r>
                          <a:rPr lang="en-US" altLang="zh-CN" i="1">
                            <a:solidFill>
                              <a:schemeClr val="tx1"/>
                            </a:solidFill>
                            <a:latin typeface="Cambria Math" panose="02040503050406030204" pitchFamily="18" charset="0"/>
                            <a:cs typeface="Cambria Math" panose="02040503050406030204" pitchFamily="18" charset="0"/>
                          </a:rPr>
                          <m:t>𝜎</m:t>
                        </m:r>
                      </m:e>
                      <m:sub>
                        <m:r>
                          <a:rPr lang="en-US" altLang="zh-CN" i="1">
                            <a:solidFill>
                              <a:schemeClr val="tx1"/>
                            </a:solidFill>
                            <a:latin typeface="Cambria Math" panose="02040503050406030204" pitchFamily="18" charset="0"/>
                            <a:cs typeface="Cambria Math" panose="02040503050406030204" pitchFamily="18" charset="0"/>
                          </a:rPr>
                          <m:t>𝑐</m:t>
                        </m:r>
                      </m:sub>
                      <m:sup>
                        <m:r>
                          <a:rPr lang="en-US" altLang="zh-CN" i="1">
                            <a:solidFill>
                              <a:schemeClr val="tx1"/>
                            </a:solidFill>
                            <a:latin typeface="Cambria Math" panose="02040503050406030204" pitchFamily="18" charset="0"/>
                            <a:cs typeface="Cambria Math" panose="02040503050406030204" pitchFamily="18" charset="0"/>
                          </a:rPr>
                          <m:t>2</m:t>
                        </m:r>
                      </m:sup>
                    </m:sSubSup>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，则参数</a:t>
                </a:r>
                <a14:m>
                  <m:oMath xmlns:m="http://schemas.openxmlformats.org/officeDocument/2006/math">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𝜇</m:t>
                        </m:r>
                      </m:e>
                      <m:sub>
                        <m:r>
                          <a:rPr lang="en-US" altLang="zh-CN" i="1">
                            <a:solidFill>
                              <a:schemeClr val="tx1"/>
                            </a:solidFill>
                            <a:latin typeface="Cambria Math" panose="02040503050406030204" pitchFamily="18" charset="0"/>
                            <a:cs typeface="Cambria Math" panose="02040503050406030204" pitchFamily="18" charset="0"/>
                          </a:rPr>
                          <m:t>𝑐</m:t>
                        </m:r>
                      </m:sub>
                    </m:sSub>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𝜎</m:t>
                        </m:r>
                      </m:e>
                      <m:sub>
                        <m:r>
                          <a:rPr lang="en-US" altLang="zh-CN" i="1">
                            <a:latin typeface="Cambria Math" panose="02040503050406030204" pitchFamily="18" charset="0"/>
                            <a:cs typeface="Cambria Math" panose="02040503050406030204" pitchFamily="18" charset="0"/>
                          </a:rPr>
                          <m:t>𝑐</m:t>
                        </m:r>
                      </m:sub>
                    </m:sSub>
                    <m:r>
                      <a:rPr lang="en-US" altLang="zh-CN" b="1"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1</m:t>
                          </m:r>
                        </m:num>
                        <m:den>
                          <m:rad>
                            <m:radPr>
                              <m:degHide m:val="on"/>
                              <m:ctrlPr>
                                <a:rPr lang="en-US" altLang="zh-CN" i="1">
                                  <a:solidFill>
                                    <a:schemeClr val="tx1"/>
                                  </a:solidFill>
                                  <a:latin typeface="Cambria Math" panose="02040503050406030204" pitchFamily="18" charset="0"/>
                                  <a:cs typeface="Cambria Math" panose="02040503050406030204" pitchFamily="18" charset="0"/>
                                </a:rPr>
                              </m:ctrlPr>
                            </m:radPr>
                            <m:deg/>
                            <m:e>
                              <m:r>
                                <a:rPr lang="en-US" altLang="zh-CN" i="1">
                                  <a:solidFill>
                                    <a:schemeClr val="tx1"/>
                                  </a:solidFill>
                                  <a:latin typeface="Cambria Math" panose="02040503050406030204" pitchFamily="18" charset="0"/>
                                  <a:cs typeface="Cambria Math" panose="02040503050406030204" pitchFamily="18" charset="0"/>
                                </a:rPr>
                                <m:t>2</m:t>
                              </m:r>
                              <m:r>
                                <a:rPr lang="en-US" altLang="zh-CN" i="1">
                                  <a:solidFill>
                                    <a:schemeClr val="tx1"/>
                                  </a:solidFill>
                                  <a:latin typeface="Cambria Math" panose="02040503050406030204" pitchFamily="18" charset="0"/>
                                  <a:cs typeface="Cambria Math" panose="02040503050406030204" pitchFamily="18" charset="0"/>
                                </a:rPr>
                                <m:t>𝜋</m:t>
                              </m:r>
                            </m:e>
                          </m:rad>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den>
                      </m:f>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𝑒</m:t>
                          </m:r>
                        </m:e>
                        <m:sup>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e>
                                <m:sup>
                                  <m:r>
                                    <a:rPr lang="en-US" altLang="zh-CN" i="1">
                                      <a:solidFill>
                                        <a:schemeClr val="tx1"/>
                                      </a:solidFill>
                                      <a:latin typeface="Cambria Math" panose="02040503050406030204" pitchFamily="18" charset="0"/>
                                      <a:cs typeface="Cambria Math" panose="02040503050406030204" pitchFamily="18" charset="0"/>
                                    </a:rPr>
                                    <m:t>2</m:t>
                                  </m:r>
                                </m:sup>
                              </m:sSup>
                            </m:num>
                            <m:den>
                              <m:r>
                                <a:rPr lang="en-US" altLang="zh-CN" i="1">
                                  <a:solidFill>
                                    <a:schemeClr val="tx1"/>
                                  </a:solidFill>
                                  <a:latin typeface="Cambria Math" panose="02040503050406030204" pitchFamily="18" charset="0"/>
                                  <a:cs typeface="Cambria Math" panose="02040503050406030204" pitchFamily="18" charset="0"/>
                                </a:rPr>
                                <m:t>2</m:t>
                              </m:r>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solidFill>
                                        <a:schemeClr val="tx1"/>
                                      </a:solidFill>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𝟐</m:t>
                                  </m:r>
                                </m:sup>
                              </m:sSubSup>
                            </m:den>
                          </m:f>
                        </m:sup>
                      </m:sSup>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𝐿𝐿</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1</m:t>
                              </m:r>
                            </m:num>
                            <m:den>
                              <m:r>
                                <a:rPr lang="en-US" altLang="zh-CN" i="1">
                                  <a:solidFill>
                                    <a:schemeClr val="tx1"/>
                                  </a:solidFill>
                                  <a:latin typeface="Cambria Math" panose="02040503050406030204" pitchFamily="18" charset="0"/>
                                  <a:cs typeface="Cambria Math" panose="02040503050406030204" pitchFamily="18" charset="0"/>
                                </a:rPr>
                                <m:t>2</m:t>
                              </m:r>
                            </m:den>
                          </m:f>
                          <m:r>
                            <a:rPr lang="en-US" altLang="zh-CN" i="1">
                              <a:solidFill>
                                <a:schemeClr val="tx1"/>
                              </a:solidFill>
                              <a:latin typeface="Cambria Math" panose="02040503050406030204" pitchFamily="18" charset="0"/>
                              <a:cs typeface="Cambria Math" panose="02040503050406030204" pitchFamily="18" charset="0"/>
                            </a:rPr>
                            <m:t>𝑙𝑛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2</m:t>
                          </m:r>
                          <m:r>
                            <a:rPr lang="en-US" altLang="zh-CN" i="1">
                              <a:solidFill>
                                <a:schemeClr val="tx1"/>
                              </a:solidFill>
                              <a:latin typeface="Cambria Math" panose="02040503050406030204" pitchFamily="18" charset="0"/>
                              <a:cs typeface="Cambria Math" panose="02040503050406030204" pitchFamily="18" charset="0"/>
                            </a:rPr>
                            <m:t>𝜋</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e>
                                <m:sup>
                                  <m:r>
                                    <a:rPr lang="en-US" altLang="zh-CN" i="1">
                                      <a:solidFill>
                                        <a:schemeClr val="tx1"/>
                                      </a:solidFill>
                                      <a:latin typeface="Cambria Math" panose="02040503050406030204" pitchFamily="18" charset="0"/>
                                      <a:cs typeface="Cambria Math" panose="02040503050406030204" pitchFamily="18" charset="0"/>
                                    </a:rPr>
                                    <m:t>2</m:t>
                                  </m:r>
                                </m:sup>
                              </m:sSup>
                            </m:num>
                            <m:den>
                              <m:r>
                                <a:rPr lang="en-US" altLang="zh-CN" i="1">
                                  <a:solidFill>
                                    <a:schemeClr val="tx1"/>
                                  </a:solidFill>
                                  <a:latin typeface="Cambria Math" panose="02040503050406030204" pitchFamily="18" charset="0"/>
                                  <a:cs typeface="Cambria Math" panose="02040503050406030204" pitchFamily="18" charset="0"/>
                                </a:rPr>
                                <m:t>2</m:t>
                              </m:r>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solidFill>
                                        <a:schemeClr val="tx1"/>
                                      </a:solidFill>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𝟐</m:t>
                                  </m:r>
                                </m:sup>
                              </m:sSubSup>
                            </m:den>
                          </m:f>
                          <m:r>
                            <a:rPr lang="en-US" altLang="zh-CN" i="1">
                              <a:solidFill>
                                <a:schemeClr val="tx1"/>
                              </a:solidFill>
                              <a:latin typeface="Cambria Math" panose="02040503050406030204" pitchFamily="18" charset="0"/>
                              <a:cs typeface="Cambria Math" panose="02040503050406030204" pitchFamily="18" charset="0"/>
                            </a:rPr>
                            <m:t>]</m:t>
                          </m:r>
                        </m:e>
                      </m:nary>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d>
                        <m:dPr>
                          <m:begChr m:val="{"/>
                          <m:endChr m:val=""/>
                          <m:ctrlPr>
                            <a:rPr lang="en-US" altLang="zh-CN" i="1">
                              <a:solidFill>
                                <a:schemeClr val="tx1"/>
                              </a:solidFill>
                              <a:latin typeface="Cambria Math" panose="02040503050406030204" pitchFamily="18" charset="0"/>
                              <a:cs typeface="Cambria Math" panose="02040503050406030204" pitchFamily="18" charset="0"/>
                            </a:rPr>
                          </m:ctrlPr>
                        </m:dPr>
                        <m:e>
                          <m:eqArr>
                            <m:eqArrPr>
                              <m:ctrlPr>
                                <a:rPr lang="en-US" altLang="zh-CN" i="1">
                                  <a:solidFill>
                                    <a:schemeClr val="tx1"/>
                                  </a:solidFill>
                                  <a:latin typeface="Cambria Math" panose="02040503050406030204" pitchFamily="18" charset="0"/>
                                  <a:cs typeface="Cambria Math" panose="02040503050406030204" pitchFamily="18" charset="0"/>
                                </a:rPr>
                              </m:ctrlPr>
                            </m:eqArrPr>
                            <m:e>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𝐿𝐿</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num>
                                    <m:den>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solidFill>
                                                <a:schemeClr val="tx1"/>
                                              </a:solidFill>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𝟐</m:t>
                                          </m:r>
                                        </m:sup>
                                      </m:sSubSup>
                                    </m:den>
                                  </m:f>
                                  <m:r>
                                    <a:rPr lang="en-US" altLang="zh-CN" i="1">
                                      <a:solidFill>
                                        <a:schemeClr val="tx1"/>
                                      </a:solidFill>
                                      <a:latin typeface="Cambria Math" panose="02040503050406030204" pitchFamily="18" charset="0"/>
                                      <a:cs typeface="Cambria Math" panose="02040503050406030204" pitchFamily="18" charset="0"/>
                                    </a:rPr>
                                    <m:t>                                  </m:t>
                                  </m:r>
                                </m:e>
                              </m:nary>
                            </m:e>
                            <m:e>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𝐿𝐿</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r>
                                    <a:rPr lang="en-US" altLang="zh-CN" i="1">
                                      <a:solidFill>
                                        <a:schemeClr val="tx1"/>
                                      </a:solidFill>
                                      <a:latin typeface="Cambria Math" panose="02040503050406030204" pitchFamily="18" charset="0"/>
                                      <a:cs typeface="Cambria Math" panose="02040503050406030204" pitchFamily="18" charset="0"/>
                                    </a:rPr>
                                    <m:t>[</m:t>
                                  </m:r>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𝟏</m:t>
                                      </m:r>
                                    </m:sup>
                                  </m:sSubSup>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e>
                                    <m:sup>
                                      <m:r>
                                        <a:rPr lang="en-US" altLang="zh-CN" i="1">
                                          <a:solidFill>
                                            <a:schemeClr val="tx1"/>
                                          </a:solidFill>
                                          <a:latin typeface="Cambria Math" panose="02040503050406030204" pitchFamily="18" charset="0"/>
                                          <a:cs typeface="Cambria Math" panose="02040503050406030204" pitchFamily="18" charset="0"/>
                                        </a:rPr>
                                        <m:t>2</m:t>
                                      </m:r>
                                    </m:sup>
                                  </m:sSup>
                                  <m:r>
                                    <a:rPr lang="en-US" altLang="zh-CN" i="1">
                                      <a:solidFill>
                                        <a:schemeClr val="tx1"/>
                                      </a:solidFill>
                                      <a:latin typeface="Cambria Math" panose="02040503050406030204" pitchFamily="18" charset="0"/>
                                      <a:cs typeface="Cambria Math" panose="02040503050406030204" pitchFamily="18" charset="0"/>
                                    </a:rPr>
                                    <m:t>∙</m:t>
                                  </m:r>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solidFill>
                                            <a:schemeClr val="tx1"/>
                                          </a:solidFill>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𝟑</m:t>
                                      </m:r>
                                    </m:sup>
                                  </m:sSubSup>
                                  <m:r>
                                    <a:rPr lang="en-US" altLang="zh-CN" i="1">
                                      <a:solidFill>
                                        <a:schemeClr val="tx1"/>
                                      </a:solidFill>
                                      <a:latin typeface="Cambria Math" panose="02040503050406030204" pitchFamily="18" charset="0"/>
                                      <a:cs typeface="Cambria Math" panose="02040503050406030204" pitchFamily="18" charset="0"/>
                                    </a:rPr>
                                    <m:t>]</m:t>
                                  </m:r>
                                </m:e>
                              </m:nary>
                            </m:e>
                          </m:eqArr>
                        </m:e>
                      </m:d>
                    </m:oMath>
                  </m:oMathPara>
                </a14:m>
                <a:endParaRPr lang="zh-CN" altLang="en-US">
                  <a:solidFill>
                    <a:schemeClr val="tx1"/>
                  </a:solidFill>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18770" y="1275080"/>
                <a:ext cx="11283315" cy="5306060"/>
              </a:xfrm>
              <a:prstGeom prst="rect">
                <a:avLst/>
              </a:prstGeom>
              <a:blipFill rotWithShape="1">
                <a:blip r:embed="rId1"/>
                <a:stretch>
                  <a:fillRect/>
                </a:stretch>
              </a:blipFill>
            </p:spPr>
            <p:txBody>
              <a:bodyPr/>
              <a:lstStyle/>
              <a:p>
                <a:r>
                  <a:rPr lang="zh-CN" altLang="en-US">
                    <a:noFill/>
                  </a:rPr>
                  <a:t> </a:t>
                </a:r>
              </a:p>
            </p:txBody>
          </p:sp>
        </mc:Fallback>
      </mc:AlternateContent>
      <p:sp>
        <p:nvSpPr>
          <p:cNvPr id="46" name="文本框 45"/>
          <p:cNvSpPr txBox="1"/>
          <p:nvPr>
            <p:custDataLst>
              <p:tags r:id="rId2"/>
            </p:custDataLst>
          </p:nvPr>
        </p:nvSpPr>
        <p:spPr>
          <a:xfrm>
            <a:off x="2627630" y="1153795"/>
            <a:ext cx="292735" cy="368300"/>
          </a:xfrm>
          <a:prstGeom prst="rect">
            <a:avLst/>
          </a:prstGeom>
          <a:noFill/>
        </p:spPr>
        <p:txBody>
          <a:bodyPr wrap="square" rtlCol="0" anchor="t">
            <a:spAutoFit/>
          </a:bodyPr>
          <a:p>
            <a:r>
              <a:rPr lang="zh-CN" altLang="en-US" dirty="0"/>
              <a:t>^</a:t>
            </a:r>
            <a:endParaRPr lang="zh-CN" altLang="en-US" dirty="0"/>
          </a:p>
        </p:txBody>
      </p:sp>
      <p:sp>
        <p:nvSpPr>
          <p:cNvPr id="6" name="文本框 5"/>
          <p:cNvSpPr txBox="1"/>
          <p:nvPr>
            <p:custDataLst>
              <p:tags r:id="rId3"/>
            </p:custDataLst>
          </p:nvPr>
        </p:nvSpPr>
        <p:spPr>
          <a:xfrm>
            <a:off x="5387975" y="1649095"/>
            <a:ext cx="292735" cy="368300"/>
          </a:xfrm>
          <a:prstGeom prst="rect">
            <a:avLst/>
          </a:prstGeom>
          <a:noFill/>
        </p:spPr>
        <p:txBody>
          <a:bodyPr wrap="square" rtlCol="0" anchor="t">
            <a:spAutoFit/>
          </a:bodyPr>
          <a:p>
            <a:r>
              <a:rPr lang="zh-CN" altLang="en-US" dirty="0"/>
              <a:t>^</a:t>
            </a:r>
            <a:endParaRPr lang="zh-CN" altLang="en-US" dirty="0"/>
          </a:p>
        </p:txBody>
      </p:sp>
      <p:sp>
        <p:nvSpPr>
          <p:cNvPr id="7" name="右箭头 6"/>
          <p:cNvSpPr/>
          <p:nvPr/>
        </p:nvSpPr>
        <p:spPr>
          <a:xfrm>
            <a:off x="2579370" y="4244340"/>
            <a:ext cx="822960" cy="3352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右箭头 7"/>
          <p:cNvSpPr/>
          <p:nvPr>
            <p:custDataLst>
              <p:tags r:id="rId4"/>
            </p:custDataLst>
          </p:nvPr>
        </p:nvSpPr>
        <p:spPr>
          <a:xfrm>
            <a:off x="2579370" y="5582920"/>
            <a:ext cx="822960" cy="3352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linds(horizontal)">
                                      <p:cBhvr>
                                        <p:cTn id="7" dur="500"/>
                                        <p:tgtEl>
                                          <p:spTgt spid="4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极大似然估计</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1859915" y="2024380"/>
                <a:ext cx="2648585" cy="50863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func>
                        <m:funcPr>
                          <m:ctrlPr>
                            <a:rPr lang="en-US" altLang="zh-CN" i="1">
                              <a:latin typeface="Cambria Math" panose="02040503050406030204" pitchFamily="18" charset="0"/>
                              <a:cs typeface="Cambria Math" panose="02040503050406030204" pitchFamily="18" charset="0"/>
                            </a:rPr>
                          </m:ctrlPr>
                        </m:funcPr>
                        <m:fName>
                          <m:limLow>
                            <m:limLowPr>
                              <m:ctrlPr>
                                <a:rPr lang="en-US" altLang="zh-CN">
                                  <a:latin typeface="Cambria Math" panose="02040503050406030204" pitchFamily="18" charset="0"/>
                                  <a:cs typeface="Cambria Math" panose="02040503050406030204" pitchFamily="18" charset="0"/>
                                </a:rPr>
                              </m:ctrlPr>
                            </m:limLowPr>
                            <m:e>
                              <m:r>
                                <m:rPr>
                                  <m:sty m:val="p"/>
                                </m:rPr>
                                <a:rPr lang="en-US" altLang="zh-CN">
                                  <a:latin typeface="Cambria Math" panose="02040503050406030204" pitchFamily="18" charset="0"/>
                                  <a:cs typeface="Cambria Math" panose="02040503050406030204" pitchFamily="18" charset="0"/>
                                </a:rPr>
                                <m:t>argmax</m:t>
                              </m:r>
                            </m:e>
                            <m:lim>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𝜃</m:t>
                                  </m:r>
                                </m:e>
                                <m:sub>
                                  <m:r>
                                    <a:rPr lang="en-US" altLang="zh-CN" i="1">
                                      <a:latin typeface="Cambria Math" panose="02040503050406030204" pitchFamily="18" charset="0"/>
                                      <a:cs typeface="Cambria Math" panose="02040503050406030204" pitchFamily="18" charset="0"/>
                                    </a:rPr>
                                    <m:t>𝑐</m:t>
                                  </m:r>
                                </m:sub>
                              </m:sSub>
                            </m:lim>
                          </m:limLow>
                        </m:fName>
                        <m:e>
                          <m:r>
                            <a:rPr lang="en-US" altLang="zh-CN" i="1">
                              <a:latin typeface="Cambria Math" panose="02040503050406030204" pitchFamily="18" charset="0"/>
                              <a:cs typeface="Cambria Math" panose="02040503050406030204" pitchFamily="18" charset="0"/>
                            </a:rPr>
                            <m:t>𝐿𝐿</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r>
                            <a:rPr lang="en-US" altLang="zh-CN" i="1">
                              <a:latin typeface="Cambria Math" panose="02040503050406030204" pitchFamily="18" charset="0"/>
                              <a:cs typeface="Cambria Math" panose="02040503050406030204" pitchFamily="18" charset="0"/>
                            </a:rPr>
                            <m:t>)</m:t>
                          </m:r>
                        </m:e>
                      </m:func>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1859915" y="2024380"/>
                <a:ext cx="2648585" cy="508635"/>
              </a:xfrm>
              <a:prstGeom prst="rect">
                <a:avLst/>
              </a:prstGeom>
              <a:blipFill rotWithShape="1">
                <a:blip r:embed="rId1"/>
                <a:stretch>
                  <a:fillRect/>
                </a:stretch>
              </a:blipFill>
            </p:spPr>
            <p:txBody>
              <a:bodyPr/>
              <a:lstStyle/>
              <a:p>
                <a:r>
                  <a:rPr lang="zh-CN" altLang="en-US">
                    <a:noFill/>
                  </a:rPr>
                  <a:t> </a:t>
                </a:r>
              </a:p>
            </p:txBody>
          </p:sp>
        </mc:Fallback>
      </mc:AlternateContent>
      <p:sp>
        <p:nvSpPr>
          <p:cNvPr id="6" name="文本框 5"/>
          <p:cNvSpPr txBox="1"/>
          <p:nvPr>
            <p:custDataLst>
              <p:tags r:id="rId2"/>
            </p:custDataLst>
          </p:nvPr>
        </p:nvSpPr>
        <p:spPr>
          <a:xfrm>
            <a:off x="2145665" y="1882775"/>
            <a:ext cx="292735" cy="368300"/>
          </a:xfrm>
          <a:prstGeom prst="rect">
            <a:avLst/>
          </a:prstGeom>
          <a:noFill/>
        </p:spPr>
        <p:txBody>
          <a:bodyPr wrap="square" rtlCol="0" anchor="t">
            <a:spAutoFit/>
          </a:bodyPr>
          <a:p>
            <a:r>
              <a:rPr lang="zh-CN" altLang="en-US" dirty="0"/>
              <a:t>^</a:t>
            </a:r>
            <a:endParaRPr lang="zh-CN" altLang="en-US" dirty="0"/>
          </a:p>
        </p:txBody>
      </p:sp>
      <p:sp>
        <p:nvSpPr>
          <p:cNvPr id="7" name="右箭头 6"/>
          <p:cNvSpPr/>
          <p:nvPr>
            <p:custDataLst>
              <p:tags r:id="rId3"/>
            </p:custDataLst>
          </p:nvPr>
        </p:nvSpPr>
        <p:spPr>
          <a:xfrm>
            <a:off x="4377690" y="2024380"/>
            <a:ext cx="822960" cy="3352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8" name="文本框 7"/>
              <p:cNvSpPr txBox="1"/>
              <p:nvPr/>
            </p:nvSpPr>
            <p:spPr>
              <a:xfrm>
                <a:off x="4869180" y="1374140"/>
                <a:ext cx="6096000" cy="153543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d>
                        <m:dPr>
                          <m:begChr m:val="{"/>
                          <m:endChr m:val=""/>
                          <m:ctrlPr>
                            <a:rPr lang="en-US" altLang="zh-CN" i="1">
                              <a:solidFill>
                                <a:schemeClr val="tx1"/>
                              </a:solidFill>
                              <a:latin typeface="Cambria Math" panose="02040503050406030204" pitchFamily="18" charset="0"/>
                              <a:cs typeface="Cambria Math" panose="02040503050406030204" pitchFamily="18" charset="0"/>
                            </a:rPr>
                          </m:ctrlPr>
                        </m:dPr>
                        <m:e>
                          <m:eqArr>
                            <m:eqArrPr>
                              <m:ctrlPr>
                                <a:rPr lang="en-US" altLang="zh-CN" i="1">
                                  <a:solidFill>
                                    <a:schemeClr val="tx1"/>
                                  </a:solidFill>
                                  <a:latin typeface="Cambria Math" panose="02040503050406030204" pitchFamily="18" charset="0"/>
                                  <a:cs typeface="Cambria Math" panose="02040503050406030204" pitchFamily="18" charset="0"/>
                                </a:rPr>
                              </m:ctrlPr>
                            </m:eqArrPr>
                            <m:e>
                              <m:r>
                                <a:rPr lang="en-US" altLang="zh-CN" i="1">
                                  <a:solidFill>
                                    <a:schemeClr val="tx1"/>
                                  </a:solidFill>
                                  <a:latin typeface="Cambria Math" panose="02040503050406030204" pitchFamily="18" charset="0"/>
                                  <a:cs typeface="Cambria Math" panose="02040503050406030204" pitchFamily="18" charset="0"/>
                                </a:rPr>
                                <m:t>0</m:t>
                              </m:r>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𝐿𝐿</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b="1" i="1">
                                      <a:solidFill>
                                        <a:schemeClr val="tx1"/>
                                      </a:solidFill>
                                      <a:latin typeface="Cambria Math" panose="02040503050406030204" pitchFamily="18" charset="0"/>
                                      <a:cs typeface="Cambria Math" panose="02040503050406030204" pitchFamily="18" charset="0"/>
                                    </a:rPr>
                                    <m:t>𝒃𝒙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num>
                                    <m:den>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solidFill>
                                                <a:schemeClr val="tx1"/>
                                              </a:solidFill>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𝟐</m:t>
                                          </m:r>
                                        </m:sup>
                                      </m:sSubSup>
                                    </m:den>
                                  </m:f>
                                  <m:r>
                                    <a:rPr lang="en-US" altLang="zh-CN" i="1">
                                      <a:solidFill>
                                        <a:schemeClr val="tx1"/>
                                      </a:solidFill>
                                      <a:latin typeface="Cambria Math" panose="02040503050406030204" pitchFamily="18" charset="0"/>
                                      <a:cs typeface="Cambria Math" panose="02040503050406030204" pitchFamily="18" charset="0"/>
                                    </a:rPr>
                                    <m:t>                                  </m:t>
                                  </m:r>
                                </m:e>
                              </m:nary>
                            </m:e>
                            <m:e>
                              <m:r>
                                <a:rPr lang="en-US" altLang="zh-CN" i="1">
                                  <a:solidFill>
                                    <a:schemeClr val="tx1"/>
                                  </a:solidFill>
                                  <a:latin typeface="Cambria Math" panose="02040503050406030204" pitchFamily="18" charset="0"/>
                                  <a:cs typeface="Cambria Math" panose="02040503050406030204" pitchFamily="18" charset="0"/>
                                </a:rPr>
                                <m:t>0</m:t>
                              </m:r>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𝐿𝐿</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r>
                                    <a:rPr lang="en-US" altLang="zh-CN" i="1">
                                      <a:solidFill>
                                        <a:schemeClr val="tx1"/>
                                      </a:solidFill>
                                      <a:latin typeface="Cambria Math" panose="02040503050406030204" pitchFamily="18" charset="0"/>
                                      <a:cs typeface="Cambria Math" panose="02040503050406030204" pitchFamily="18" charset="0"/>
                                    </a:rPr>
                                    <m:t>[</m:t>
                                  </m:r>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𝟏</m:t>
                                      </m:r>
                                    </m:sup>
                                  </m:sSubSup>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e>
                                    <m:sup>
                                      <m:r>
                                        <a:rPr lang="en-US" altLang="zh-CN" i="1">
                                          <a:solidFill>
                                            <a:schemeClr val="tx1"/>
                                          </a:solidFill>
                                          <a:latin typeface="Cambria Math" panose="02040503050406030204" pitchFamily="18" charset="0"/>
                                          <a:cs typeface="Cambria Math" panose="02040503050406030204" pitchFamily="18" charset="0"/>
                                        </a:rPr>
                                        <m:t>2</m:t>
                                      </m:r>
                                    </m:sup>
                                  </m:sSup>
                                  <m:r>
                                    <a:rPr lang="en-US" altLang="zh-CN" i="1">
                                      <a:solidFill>
                                        <a:schemeClr val="tx1"/>
                                      </a:solidFill>
                                      <a:latin typeface="Cambria Math" panose="02040503050406030204" pitchFamily="18" charset="0"/>
                                      <a:cs typeface="Cambria Math" panose="02040503050406030204" pitchFamily="18" charset="0"/>
                                    </a:rPr>
                                    <m:t>∙</m:t>
                                  </m:r>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solidFill>
                                            <a:schemeClr val="tx1"/>
                                          </a:solidFill>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𝟑</m:t>
                                      </m:r>
                                    </m:sup>
                                  </m:sSubSup>
                                  <m:r>
                                    <a:rPr lang="en-US" altLang="zh-CN" i="1">
                                      <a:solidFill>
                                        <a:schemeClr val="tx1"/>
                                      </a:solidFill>
                                      <a:latin typeface="Cambria Math" panose="02040503050406030204" pitchFamily="18" charset="0"/>
                                      <a:cs typeface="Cambria Math" panose="02040503050406030204" pitchFamily="18" charset="0"/>
                                    </a:rPr>
                                    <m:t>]</m:t>
                                  </m:r>
                                </m:e>
                              </m:nary>
                            </m:e>
                          </m:eqArr>
                        </m:e>
                      </m:d>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4869180" y="1374140"/>
                <a:ext cx="6096000" cy="1535430"/>
              </a:xfrm>
              <a:prstGeom prst="rect">
                <a:avLst/>
              </a:prstGeom>
              <a:blipFill rotWithShape="1">
                <a:blip r:embed="rId4"/>
                <a:stretch>
                  <a:fillRect/>
                </a:stretch>
              </a:blipFill>
            </p:spPr>
            <p:txBody>
              <a:bodyPr/>
              <a:lstStyle/>
              <a:p>
                <a:r>
                  <a:rPr lang="zh-CN" altLang="en-US">
                    <a:noFill/>
                  </a:rPr>
                  <a:t> </a:t>
                </a:r>
              </a:p>
            </p:txBody>
          </p:sp>
        </mc:Fallback>
      </mc:AlternateContent>
      <p:sp>
        <p:nvSpPr>
          <p:cNvPr id="9" name="右箭头 8"/>
          <p:cNvSpPr/>
          <p:nvPr>
            <p:custDataLst>
              <p:tags r:id="rId5"/>
            </p:custDataLst>
          </p:nvPr>
        </p:nvSpPr>
        <p:spPr>
          <a:xfrm>
            <a:off x="4377690" y="3934460"/>
            <a:ext cx="822960" cy="3352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10" name="文本框 9"/>
              <p:cNvSpPr txBox="1"/>
              <p:nvPr>
                <p:custDataLst>
                  <p:tags r:id="rId6"/>
                </p:custDataLst>
              </p:nvPr>
            </p:nvSpPr>
            <p:spPr>
              <a:xfrm>
                <a:off x="4077335" y="3408680"/>
                <a:ext cx="6096000" cy="150939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d>
                        <m:dPr>
                          <m:begChr m:val="{"/>
                          <m:endChr m:val=""/>
                          <m:ctrlPr>
                            <a:rPr lang="en-US" altLang="zh-CN" i="1">
                              <a:solidFill>
                                <a:schemeClr val="tx1"/>
                              </a:solidFill>
                              <a:latin typeface="Cambria Math" panose="02040503050406030204" pitchFamily="18" charset="0"/>
                              <a:cs typeface="Cambria Math" panose="02040503050406030204" pitchFamily="18" charset="0"/>
                            </a:rPr>
                          </m:ctrlPr>
                        </m:dPr>
                        <m:e>
                          <m:eqArr>
                            <m:eqArrPr>
                              <m:ctrlPr>
                                <a:rPr lang="en-US" altLang="zh-CN" i="1">
                                  <a:solidFill>
                                    <a:schemeClr val="tx1"/>
                                  </a:solidFill>
                                  <a:latin typeface="Cambria Math" panose="02040503050406030204" pitchFamily="18" charset="0"/>
                                  <a:cs typeface="Cambria Math" panose="02040503050406030204" pitchFamily="18" charset="0"/>
                                </a:rPr>
                              </m:ctrlPr>
                            </m:eqArrPr>
                            <m:e>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1</m:t>
                                  </m:r>
                                </m:num>
                                <m:den>
                                  <m:d>
                                    <m:dPr>
                                      <m:begChr m:val="|"/>
                                      <m:endChr m:val="|"/>
                                      <m:ctrlPr>
                                        <a:rPr lang="en-US" altLang="zh-CN" i="1">
                                          <a:solidFill>
                                            <a:schemeClr val="tx1"/>
                                          </a:solidFill>
                                          <a:latin typeface="Cambria Math" panose="02040503050406030204" pitchFamily="18" charset="0"/>
                                          <a:cs typeface="Cambria Math" panose="02040503050406030204" pitchFamily="18" charset="0"/>
                                        </a:rPr>
                                      </m:ctrlPr>
                                    </m:dPr>
                                    <m:e>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e>
                                  </m:d>
                                </m:den>
                              </m:f>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r>
                                    <a:rPr lang="en-US" altLang="zh-CN" b="1" i="1">
                                      <a:solidFill>
                                        <a:schemeClr val="tx1"/>
                                      </a:solidFill>
                                      <a:latin typeface="Cambria Math" panose="02040503050406030204" pitchFamily="18" charset="0"/>
                                      <a:cs typeface="Cambria Math" panose="02040503050406030204" pitchFamily="18" charset="0"/>
                                    </a:rPr>
                                    <m:t>𝒙</m:t>
                                  </m:r>
                                </m:e>
                              </m:nary>
                              <m:r>
                                <a:rPr lang="en-US" altLang="zh-CN" i="1">
                                  <a:solidFill>
                                    <a:schemeClr val="tx1"/>
                                  </a:solidFill>
                                  <a:latin typeface="Cambria Math" panose="02040503050406030204" pitchFamily="18" charset="0"/>
                                  <a:cs typeface="Cambria Math" panose="02040503050406030204" pitchFamily="18" charset="0"/>
                                </a:rPr>
                                <m:t>                                </m:t>
                              </m:r>
                            </m:e>
                            <m:e>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1</m:t>
                                  </m:r>
                                </m:num>
                                <m:den>
                                  <m:d>
                                    <m:dPr>
                                      <m:begChr m:val="|"/>
                                      <m:endChr m:val="|"/>
                                      <m:ctrlPr>
                                        <a:rPr lang="en-US" altLang="zh-CN" i="1">
                                          <a:solidFill>
                                            <a:schemeClr val="tx1"/>
                                          </a:solidFill>
                                          <a:latin typeface="Cambria Math" panose="02040503050406030204" pitchFamily="18" charset="0"/>
                                          <a:cs typeface="Cambria Math" panose="02040503050406030204" pitchFamily="18" charset="0"/>
                                        </a:rPr>
                                      </m:ctrlPr>
                                    </m:dPr>
                                    <m:e>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e>
                                  </m:d>
                                </m:den>
                              </m:f>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r>
                                    <a:rPr lang="en-US" altLang="zh-CN"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solidFill>
                                            <a:schemeClr val="tx1"/>
                                          </a:solidFill>
                                          <a:latin typeface="Cambria Math" panose="02040503050406030204" pitchFamily="18" charset="0"/>
                                          <a:cs typeface="Cambria Math" panose="02040503050406030204" pitchFamily="18" charset="0"/>
                                        </a:rPr>
                                        <m:t>)</m:t>
                                      </m:r>
                                    </m:e>
                                    <m:sup>
                                      <m:r>
                                        <a:rPr lang="en-US" altLang="zh-CN" i="1">
                                          <a:solidFill>
                                            <a:schemeClr val="tx1"/>
                                          </a:solidFill>
                                          <a:latin typeface="Cambria Math" panose="02040503050406030204" pitchFamily="18" charset="0"/>
                                          <a:cs typeface="Cambria Math" panose="02040503050406030204" pitchFamily="18" charset="0"/>
                                        </a:rPr>
                                        <m:t>𝑇</m:t>
                                      </m:r>
                                    </m:sup>
                                  </m:sSup>
                                </m:e>
                              </m:nary>
                            </m:e>
                          </m:eqArr>
                        </m:e>
                      </m:d>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p:sp>
            <p:nvSpPr>
              <p:cNvPr id="10" name="文本框 9"/>
              <p:cNvSpPr txBox="1">
                <a:spLocks noRot="1" noChangeAspect="1" noMove="1" noResize="1" noEditPoints="1" noAdjustHandles="1" noChangeArrowheads="1" noChangeShapeType="1" noTextEdit="1"/>
              </p:cNvSpPr>
              <p:nvPr>
                <p:custDataLst>
                  <p:tags r:id="rId7"/>
                </p:custDataLst>
              </p:nvPr>
            </p:nvSpPr>
            <p:spPr>
              <a:xfrm>
                <a:off x="4077335" y="3408680"/>
                <a:ext cx="6096000" cy="1509395"/>
              </a:xfrm>
              <a:prstGeom prst="rect">
                <a:avLst/>
              </a:prstGeom>
              <a:blipFill rotWithShape="1">
                <a:blip r:embed="rId8"/>
                <a:stretch>
                  <a:fillRect/>
                </a:stretch>
              </a:blipFill>
            </p:spPr>
            <p:txBody>
              <a:bodyPr/>
              <a:lstStyle/>
              <a:p>
                <a:r>
                  <a:rPr lang="zh-CN" altLang="en-US">
                    <a:noFill/>
                  </a:rPr>
                  <a:t> </a:t>
                </a:r>
              </a:p>
            </p:txBody>
          </p:sp>
        </mc:Fallback>
      </mc:AlternateContent>
      <p:sp>
        <p:nvSpPr>
          <p:cNvPr id="11" name="文本框 10"/>
          <p:cNvSpPr txBox="1"/>
          <p:nvPr>
            <p:custDataLst>
              <p:tags r:id="rId9"/>
            </p:custDataLst>
          </p:nvPr>
        </p:nvSpPr>
        <p:spPr>
          <a:xfrm>
            <a:off x="6435725" y="1252855"/>
            <a:ext cx="292735" cy="368300"/>
          </a:xfrm>
          <a:prstGeom prst="rect">
            <a:avLst/>
          </a:prstGeom>
          <a:noFill/>
        </p:spPr>
        <p:txBody>
          <a:bodyPr wrap="square" rtlCol="0" anchor="t">
            <a:spAutoFit/>
          </a:bodyPr>
          <a:p>
            <a:r>
              <a:rPr lang="zh-CN" altLang="en-US" dirty="0"/>
              <a:t>^</a:t>
            </a:r>
            <a:endParaRPr lang="zh-CN" altLang="en-US" dirty="0"/>
          </a:p>
        </p:txBody>
      </p:sp>
      <p:sp>
        <p:nvSpPr>
          <p:cNvPr id="12" name="文本框 11"/>
          <p:cNvSpPr txBox="1"/>
          <p:nvPr>
            <p:custDataLst>
              <p:tags r:id="rId10"/>
            </p:custDataLst>
          </p:nvPr>
        </p:nvSpPr>
        <p:spPr>
          <a:xfrm>
            <a:off x="6743065" y="1252855"/>
            <a:ext cx="292735" cy="368300"/>
          </a:xfrm>
          <a:prstGeom prst="rect">
            <a:avLst/>
          </a:prstGeom>
          <a:noFill/>
        </p:spPr>
        <p:txBody>
          <a:bodyPr wrap="square" rtlCol="0" anchor="t">
            <a:spAutoFit/>
          </a:bodyPr>
          <a:p>
            <a:r>
              <a:rPr lang="zh-CN" altLang="en-US" dirty="0"/>
              <a:t>^</a:t>
            </a:r>
            <a:endParaRPr lang="zh-CN" altLang="en-US" dirty="0"/>
          </a:p>
        </p:txBody>
      </p:sp>
      <p:sp>
        <p:nvSpPr>
          <p:cNvPr id="13" name="文本框 12"/>
          <p:cNvSpPr txBox="1"/>
          <p:nvPr>
            <p:custDataLst>
              <p:tags r:id="rId11"/>
            </p:custDataLst>
          </p:nvPr>
        </p:nvSpPr>
        <p:spPr>
          <a:xfrm>
            <a:off x="8279765" y="1252855"/>
            <a:ext cx="292735" cy="368300"/>
          </a:xfrm>
          <a:prstGeom prst="rect">
            <a:avLst/>
          </a:prstGeom>
          <a:noFill/>
        </p:spPr>
        <p:txBody>
          <a:bodyPr wrap="square" rtlCol="0" anchor="t">
            <a:spAutoFit/>
          </a:bodyPr>
          <a:p>
            <a:r>
              <a:rPr lang="zh-CN" altLang="en-US" dirty="0"/>
              <a:t>^</a:t>
            </a:r>
            <a:endParaRPr lang="zh-CN" altLang="en-US" dirty="0"/>
          </a:p>
        </p:txBody>
      </p:sp>
      <p:sp>
        <p:nvSpPr>
          <p:cNvPr id="14" name="文本框 13"/>
          <p:cNvSpPr txBox="1"/>
          <p:nvPr>
            <p:custDataLst>
              <p:tags r:id="rId12"/>
            </p:custDataLst>
          </p:nvPr>
        </p:nvSpPr>
        <p:spPr>
          <a:xfrm>
            <a:off x="6475095" y="1621155"/>
            <a:ext cx="292735" cy="368300"/>
          </a:xfrm>
          <a:prstGeom prst="rect">
            <a:avLst/>
          </a:prstGeom>
          <a:noFill/>
        </p:spPr>
        <p:txBody>
          <a:bodyPr wrap="square" rtlCol="0" anchor="t">
            <a:spAutoFit/>
          </a:bodyPr>
          <a:p>
            <a:r>
              <a:rPr lang="zh-CN" altLang="en-US" dirty="0"/>
              <a:t>^</a:t>
            </a:r>
            <a:endParaRPr lang="zh-CN" altLang="en-US" dirty="0"/>
          </a:p>
        </p:txBody>
      </p:sp>
      <p:sp>
        <p:nvSpPr>
          <p:cNvPr id="15" name="文本框 14"/>
          <p:cNvSpPr txBox="1"/>
          <p:nvPr>
            <p:custDataLst>
              <p:tags r:id="rId13"/>
            </p:custDataLst>
          </p:nvPr>
        </p:nvSpPr>
        <p:spPr>
          <a:xfrm>
            <a:off x="8112125" y="1630680"/>
            <a:ext cx="292735" cy="368300"/>
          </a:xfrm>
          <a:prstGeom prst="rect">
            <a:avLst/>
          </a:prstGeom>
          <a:noFill/>
        </p:spPr>
        <p:txBody>
          <a:bodyPr wrap="square" rtlCol="0" anchor="t">
            <a:spAutoFit/>
          </a:bodyPr>
          <a:p>
            <a:r>
              <a:rPr lang="zh-CN" altLang="en-US" dirty="0"/>
              <a:t>^</a:t>
            </a:r>
            <a:endParaRPr lang="zh-CN" altLang="en-US" dirty="0"/>
          </a:p>
        </p:txBody>
      </p:sp>
      <p:sp>
        <p:nvSpPr>
          <p:cNvPr id="16" name="文本框 15"/>
          <p:cNvSpPr txBox="1"/>
          <p:nvPr>
            <p:custDataLst>
              <p:tags r:id="rId14"/>
            </p:custDataLst>
          </p:nvPr>
        </p:nvSpPr>
        <p:spPr>
          <a:xfrm>
            <a:off x="6475095" y="2024380"/>
            <a:ext cx="292735" cy="368300"/>
          </a:xfrm>
          <a:prstGeom prst="rect">
            <a:avLst/>
          </a:prstGeom>
          <a:noFill/>
        </p:spPr>
        <p:txBody>
          <a:bodyPr wrap="square" rtlCol="0" anchor="t">
            <a:spAutoFit/>
          </a:bodyPr>
          <a:p>
            <a:r>
              <a:rPr lang="zh-CN" altLang="en-US" dirty="0"/>
              <a:t>^</a:t>
            </a:r>
            <a:endParaRPr lang="zh-CN" altLang="en-US" dirty="0"/>
          </a:p>
        </p:txBody>
      </p:sp>
      <p:sp>
        <p:nvSpPr>
          <p:cNvPr id="17" name="文本框 16"/>
          <p:cNvSpPr txBox="1"/>
          <p:nvPr>
            <p:custDataLst>
              <p:tags r:id="rId15"/>
            </p:custDataLst>
          </p:nvPr>
        </p:nvSpPr>
        <p:spPr>
          <a:xfrm>
            <a:off x="6802120" y="1998980"/>
            <a:ext cx="292735" cy="368300"/>
          </a:xfrm>
          <a:prstGeom prst="rect">
            <a:avLst/>
          </a:prstGeom>
          <a:noFill/>
        </p:spPr>
        <p:txBody>
          <a:bodyPr wrap="square" rtlCol="0" anchor="t">
            <a:spAutoFit/>
          </a:bodyPr>
          <a:p>
            <a:r>
              <a:rPr lang="zh-CN" altLang="en-US" dirty="0"/>
              <a:t>^</a:t>
            </a:r>
            <a:endParaRPr lang="zh-CN" altLang="en-US" dirty="0"/>
          </a:p>
        </p:txBody>
      </p:sp>
      <p:sp>
        <p:nvSpPr>
          <p:cNvPr id="18" name="文本框 17"/>
          <p:cNvSpPr txBox="1"/>
          <p:nvPr>
            <p:custDataLst>
              <p:tags r:id="rId16"/>
            </p:custDataLst>
          </p:nvPr>
        </p:nvSpPr>
        <p:spPr>
          <a:xfrm>
            <a:off x="6491605" y="2359660"/>
            <a:ext cx="292735" cy="368300"/>
          </a:xfrm>
          <a:prstGeom prst="rect">
            <a:avLst/>
          </a:prstGeom>
          <a:noFill/>
        </p:spPr>
        <p:txBody>
          <a:bodyPr wrap="square" rtlCol="0" anchor="t">
            <a:spAutoFit/>
          </a:bodyPr>
          <a:p>
            <a:r>
              <a:rPr lang="zh-CN" altLang="en-US" dirty="0"/>
              <a:t>^</a:t>
            </a:r>
            <a:endParaRPr lang="zh-CN" altLang="en-US" dirty="0"/>
          </a:p>
        </p:txBody>
      </p:sp>
      <p:sp>
        <p:nvSpPr>
          <p:cNvPr id="19" name="文本框 18"/>
          <p:cNvSpPr txBox="1"/>
          <p:nvPr>
            <p:custDataLst>
              <p:tags r:id="rId17"/>
            </p:custDataLst>
          </p:nvPr>
        </p:nvSpPr>
        <p:spPr>
          <a:xfrm>
            <a:off x="8075930" y="2164715"/>
            <a:ext cx="292735" cy="368300"/>
          </a:xfrm>
          <a:prstGeom prst="rect">
            <a:avLst/>
          </a:prstGeom>
          <a:noFill/>
        </p:spPr>
        <p:txBody>
          <a:bodyPr wrap="square" rtlCol="0" anchor="t">
            <a:spAutoFit/>
          </a:bodyPr>
          <a:p>
            <a:r>
              <a:rPr lang="zh-CN" altLang="en-US" dirty="0"/>
              <a:t>^</a:t>
            </a:r>
            <a:endParaRPr lang="zh-CN" altLang="en-US" dirty="0"/>
          </a:p>
        </p:txBody>
      </p:sp>
      <p:sp>
        <p:nvSpPr>
          <p:cNvPr id="20" name="文本框 19"/>
          <p:cNvSpPr txBox="1"/>
          <p:nvPr>
            <p:custDataLst>
              <p:tags r:id="rId18"/>
            </p:custDataLst>
          </p:nvPr>
        </p:nvSpPr>
        <p:spPr>
          <a:xfrm>
            <a:off x="9225915" y="2185670"/>
            <a:ext cx="292735" cy="368300"/>
          </a:xfrm>
          <a:prstGeom prst="rect">
            <a:avLst/>
          </a:prstGeom>
          <a:noFill/>
        </p:spPr>
        <p:txBody>
          <a:bodyPr wrap="square" rtlCol="0" anchor="t">
            <a:spAutoFit/>
          </a:bodyPr>
          <a:p>
            <a:r>
              <a:rPr lang="zh-CN" altLang="en-US" dirty="0"/>
              <a:t>^</a:t>
            </a:r>
            <a:endParaRPr lang="zh-CN" altLang="en-US" dirty="0"/>
          </a:p>
        </p:txBody>
      </p:sp>
      <p:sp>
        <p:nvSpPr>
          <p:cNvPr id="21" name="文本框 20"/>
          <p:cNvSpPr txBox="1"/>
          <p:nvPr>
            <p:custDataLst>
              <p:tags r:id="rId19"/>
            </p:custDataLst>
          </p:nvPr>
        </p:nvSpPr>
        <p:spPr>
          <a:xfrm>
            <a:off x="9814560" y="2185670"/>
            <a:ext cx="292735" cy="368300"/>
          </a:xfrm>
          <a:prstGeom prst="rect">
            <a:avLst/>
          </a:prstGeom>
          <a:noFill/>
        </p:spPr>
        <p:txBody>
          <a:bodyPr wrap="square" rtlCol="0" anchor="t">
            <a:spAutoFit/>
          </a:bodyPr>
          <a:p>
            <a:r>
              <a:rPr lang="zh-CN" altLang="en-US" dirty="0"/>
              <a:t>^</a:t>
            </a:r>
            <a:endParaRPr lang="zh-CN" altLang="en-US" dirty="0"/>
          </a:p>
        </p:txBody>
      </p:sp>
      <p:sp>
        <p:nvSpPr>
          <p:cNvPr id="22" name="文本框 21"/>
          <p:cNvSpPr txBox="1"/>
          <p:nvPr>
            <p:custDataLst>
              <p:tags r:id="rId20"/>
            </p:custDataLst>
          </p:nvPr>
        </p:nvSpPr>
        <p:spPr>
          <a:xfrm>
            <a:off x="5546725" y="3441700"/>
            <a:ext cx="292735" cy="368300"/>
          </a:xfrm>
          <a:prstGeom prst="rect">
            <a:avLst/>
          </a:prstGeom>
          <a:noFill/>
        </p:spPr>
        <p:txBody>
          <a:bodyPr wrap="square" rtlCol="0" anchor="t">
            <a:spAutoFit/>
          </a:bodyPr>
          <a:p>
            <a:r>
              <a:rPr lang="zh-CN" altLang="en-US" dirty="0"/>
              <a:t>^</a:t>
            </a:r>
            <a:endParaRPr lang="zh-CN" altLang="en-US" dirty="0"/>
          </a:p>
        </p:txBody>
      </p:sp>
      <p:sp>
        <p:nvSpPr>
          <p:cNvPr id="23" name="文本框 22"/>
          <p:cNvSpPr txBox="1"/>
          <p:nvPr>
            <p:custDataLst>
              <p:tags r:id="rId21"/>
            </p:custDataLst>
          </p:nvPr>
        </p:nvSpPr>
        <p:spPr>
          <a:xfrm>
            <a:off x="5546725" y="4184015"/>
            <a:ext cx="292735" cy="368300"/>
          </a:xfrm>
          <a:prstGeom prst="rect">
            <a:avLst/>
          </a:prstGeom>
          <a:noFill/>
        </p:spPr>
        <p:txBody>
          <a:bodyPr wrap="square" rtlCol="0" anchor="t">
            <a:spAutoFit/>
          </a:bodyPr>
          <a:p>
            <a:r>
              <a:rPr lang="zh-CN" altLang="en-US" dirty="0"/>
              <a:t>^</a:t>
            </a:r>
            <a:endParaRPr lang="zh-CN" altLang="en-US" dirty="0"/>
          </a:p>
        </p:txBody>
      </p:sp>
      <p:sp>
        <p:nvSpPr>
          <p:cNvPr id="24" name="文本框 23"/>
          <p:cNvSpPr txBox="1"/>
          <p:nvPr>
            <p:custDataLst>
              <p:tags r:id="rId22"/>
            </p:custDataLst>
          </p:nvPr>
        </p:nvSpPr>
        <p:spPr>
          <a:xfrm>
            <a:off x="7455535" y="4163060"/>
            <a:ext cx="292735" cy="368300"/>
          </a:xfrm>
          <a:prstGeom prst="rect">
            <a:avLst/>
          </a:prstGeom>
          <a:noFill/>
        </p:spPr>
        <p:txBody>
          <a:bodyPr wrap="square" rtlCol="0" anchor="t">
            <a:spAutoFit/>
          </a:bodyPr>
          <a:p>
            <a:r>
              <a:rPr lang="zh-CN" altLang="en-US" dirty="0"/>
              <a:t>^</a:t>
            </a:r>
            <a:endParaRPr lang="zh-CN" altLang="en-US" dirty="0"/>
          </a:p>
        </p:txBody>
      </p:sp>
      <p:sp>
        <p:nvSpPr>
          <p:cNvPr id="25" name="文本框 24"/>
          <p:cNvSpPr txBox="1"/>
          <p:nvPr>
            <p:custDataLst>
              <p:tags r:id="rId23"/>
            </p:custDataLst>
          </p:nvPr>
        </p:nvSpPr>
        <p:spPr>
          <a:xfrm>
            <a:off x="8286750" y="4163060"/>
            <a:ext cx="292735" cy="368300"/>
          </a:xfrm>
          <a:prstGeom prst="rect">
            <a:avLst/>
          </a:prstGeom>
          <a:noFill/>
        </p:spPr>
        <p:txBody>
          <a:bodyPr wrap="square" rtlCol="0" anchor="t">
            <a:spAutoFit/>
          </a:bodyPr>
          <a:p>
            <a:r>
              <a:rPr lang="zh-CN" altLang="en-US" dirty="0"/>
              <a:t>^</a:t>
            </a:r>
            <a:endParaRPr lang="zh-CN" altLang="en-US" dirty="0"/>
          </a:p>
        </p:txBody>
      </p:sp>
      <mc:AlternateContent xmlns:mc="http://schemas.openxmlformats.org/markup-compatibility/2006">
        <mc:Choice xmlns:a14="http://schemas.microsoft.com/office/drawing/2010/main" Requires="a14">
          <p:sp>
            <p:nvSpPr>
              <p:cNvPr id="26" name="文本框 25"/>
              <p:cNvSpPr txBox="1"/>
              <p:nvPr/>
            </p:nvSpPr>
            <p:spPr>
              <a:xfrm>
                <a:off x="1493520" y="5598795"/>
                <a:ext cx="8906510" cy="378460"/>
              </a:xfrm>
              <a:prstGeom prst="rect">
                <a:avLst/>
              </a:prstGeom>
              <a:noFill/>
            </p:spPr>
            <p:txBody>
              <a:bodyPr wrap="square" rtlCol="0">
                <a:spAutoFit/>
              </a:bodyPr>
              <a:p>
                <a:r>
                  <a:rPr lang="zh-CN" altLang="en-US"/>
                  <a:t>通过极大似然法得到的正态分布均值就是样本均值，方差就是</a:t>
                </a:r>
                <a14:m>
                  <m:oMath xmlns:m="http://schemas.openxmlformats.org/officeDocument/2006/math">
                    <m:r>
                      <a:rPr lang="en-US" altLang="zh-CN" b="1"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solidFill>
                              <a:schemeClr val="tx1"/>
                            </a:solidFill>
                            <a:latin typeface="Cambria Math" panose="02040503050406030204" pitchFamily="18" charset="0"/>
                            <a:cs typeface="Cambria Math" panose="02040503050406030204" pitchFamily="18" charset="0"/>
                          </a:rPr>
                          <m:t>)</m:t>
                        </m:r>
                      </m:e>
                      <m:sup>
                        <m:r>
                          <a:rPr lang="en-US" altLang="zh-CN" i="1">
                            <a:solidFill>
                              <a:schemeClr val="tx1"/>
                            </a:solidFill>
                            <a:latin typeface="Cambria Math" panose="02040503050406030204" pitchFamily="18" charset="0"/>
                            <a:cs typeface="Cambria Math" panose="02040503050406030204" pitchFamily="18" charset="0"/>
                          </a:rPr>
                          <m:t>𝑇</m:t>
                        </m:r>
                      </m:sup>
                    </m:sSup>
                  </m:oMath>
                </a14:m>
                <a:r>
                  <a:rPr lang="zh-CN" altLang="en-US">
                    <a:solidFill>
                      <a:schemeClr val="tx1"/>
                    </a:solidFill>
                    <a:latin typeface="Cambria Math" panose="02040503050406030204" pitchFamily="18" charset="0"/>
                    <a:cs typeface="Cambria Math" panose="02040503050406030204" pitchFamily="18" charset="0"/>
                  </a:rPr>
                  <a:t>的均值</a:t>
                </a:r>
                <a:endParaRPr lang="zh-CN" altLang="en-US">
                  <a:solidFill>
                    <a:schemeClr val="tx1"/>
                  </a:solidFill>
                  <a:latin typeface="Cambria Math" panose="02040503050406030204" pitchFamily="18" charset="0"/>
                  <a:cs typeface="Cambria Math" panose="02040503050406030204" pitchFamily="18" charset="0"/>
                </a:endParaRPr>
              </a:p>
            </p:txBody>
          </p:sp>
        </mc:Choice>
        <mc:Fallback>
          <p:sp>
            <p:nvSpPr>
              <p:cNvPr id="26" name="文本框 25"/>
              <p:cNvSpPr txBox="1">
                <a:spLocks noRot="1" noChangeAspect="1" noMove="1" noResize="1" noEditPoints="1" noAdjustHandles="1" noChangeArrowheads="1" noChangeShapeType="1" noTextEdit="1"/>
              </p:cNvSpPr>
              <p:nvPr/>
            </p:nvSpPr>
            <p:spPr>
              <a:xfrm>
                <a:off x="1493520" y="5598795"/>
                <a:ext cx="8906510" cy="378460"/>
              </a:xfrm>
              <a:prstGeom prst="rect">
                <a:avLst/>
              </a:prstGeom>
              <a:blipFill rotWithShape="1">
                <a:blip r:embed="rId24"/>
                <a:stretch>
                  <a:fillRect/>
                </a:stretch>
              </a:blipFill>
            </p:spPr>
            <p:txBody>
              <a:bodyPr/>
              <a:lstStyle/>
              <a:p>
                <a:r>
                  <a:rPr lang="zh-CN" altLang="en-US">
                    <a:noFill/>
                  </a:rPr>
                  <a:t> </a:t>
                </a:r>
              </a:p>
            </p:txBody>
          </p:sp>
        </mc:Fallback>
      </mc:AlternateContent>
      <p:sp>
        <p:nvSpPr>
          <p:cNvPr id="27" name="文本框 26"/>
          <p:cNvSpPr txBox="1"/>
          <p:nvPr>
            <p:custDataLst>
              <p:tags r:id="rId25"/>
            </p:custDataLst>
          </p:nvPr>
        </p:nvSpPr>
        <p:spPr>
          <a:xfrm>
            <a:off x="8182610" y="5504815"/>
            <a:ext cx="292735" cy="368300"/>
          </a:xfrm>
          <a:prstGeom prst="rect">
            <a:avLst/>
          </a:prstGeom>
          <a:noFill/>
        </p:spPr>
        <p:txBody>
          <a:bodyPr wrap="square" rtlCol="0" anchor="t">
            <a:spAutoFit/>
          </a:bodyPr>
          <a:p>
            <a:r>
              <a:rPr lang="zh-CN" altLang="en-US" dirty="0"/>
              <a:t>^</a:t>
            </a:r>
            <a:endParaRPr lang="zh-CN" altLang="en-US" dirty="0"/>
          </a:p>
        </p:txBody>
      </p:sp>
      <p:sp>
        <p:nvSpPr>
          <p:cNvPr id="28" name="文本框 27"/>
          <p:cNvSpPr txBox="1"/>
          <p:nvPr>
            <p:custDataLst>
              <p:tags r:id="rId26"/>
            </p:custDataLst>
          </p:nvPr>
        </p:nvSpPr>
        <p:spPr>
          <a:xfrm>
            <a:off x="9025255" y="5504815"/>
            <a:ext cx="292735" cy="368300"/>
          </a:xfrm>
          <a:prstGeom prst="rect">
            <a:avLst/>
          </a:prstGeom>
          <a:noFill/>
        </p:spPr>
        <p:txBody>
          <a:bodyPr wrap="square" rtlCol="0" anchor="t">
            <a:spAutoFit/>
          </a:bodyPr>
          <a:p>
            <a:r>
              <a:rPr lang="zh-CN" altLang="en-US"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linds(horizontal)">
                                      <p:cBhvr>
                                        <p:cTn id="16" dur="500"/>
                                        <p:tgtEl>
                                          <p:spTgt spid="13"/>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linds(horizontal)">
                                      <p:cBhvr>
                                        <p:cTn id="19" dur="500"/>
                                        <p:tgtEl>
                                          <p:spTgt spid="14"/>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linds(horizontal)">
                                      <p:cBhvr>
                                        <p:cTn id="25" dur="500"/>
                                        <p:tgtEl>
                                          <p:spTgt spid="16"/>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linds(horizontal)">
                                      <p:cBhvr>
                                        <p:cTn id="28" dur="500"/>
                                        <p:tgtEl>
                                          <p:spTgt spid="17"/>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blinds(horizontal)">
                                      <p:cBhvr>
                                        <p:cTn id="31" dur="500"/>
                                        <p:tgtEl>
                                          <p:spTgt spid="18"/>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blinds(horizontal)">
                                      <p:cBhvr>
                                        <p:cTn id="34" dur="500"/>
                                        <p:tgtEl>
                                          <p:spTgt spid="19"/>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linds(horizontal)">
                                      <p:cBhvr>
                                        <p:cTn id="37" dur="500"/>
                                        <p:tgtEl>
                                          <p:spTgt spid="20"/>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blinds(horizontal)">
                                      <p:cBhvr>
                                        <p:cTn id="40" dur="500"/>
                                        <p:tgtEl>
                                          <p:spTgt spid="21"/>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blinds(horizontal)">
                                      <p:cBhvr>
                                        <p:cTn id="43" dur="500"/>
                                        <p:tgtEl>
                                          <p:spTgt spid="22"/>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blinds(horizontal)">
                                      <p:cBhvr>
                                        <p:cTn id="46" dur="500"/>
                                        <p:tgtEl>
                                          <p:spTgt spid="23"/>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blinds(horizontal)">
                                      <p:cBhvr>
                                        <p:cTn id="49" dur="500"/>
                                        <p:tgtEl>
                                          <p:spTgt spid="24"/>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blinds(horizontal)">
                                      <p:cBhvr>
                                        <p:cTn id="52" dur="500"/>
                                        <p:tgtEl>
                                          <p:spTgt spid="25"/>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blinds(horizontal)">
                                      <p:cBhvr>
                                        <p:cTn id="55" dur="500"/>
                                        <p:tgtEl>
                                          <p:spTgt spid="27"/>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blinds(horizontal)">
                                      <p:cBhvr>
                                        <p:cTn id="5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7" grpId="0"/>
      <p:bldP spid="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极大似然估计</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10515" y="1282700"/>
                <a:ext cx="11308080" cy="1724025"/>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注意</a:t>
                </a:r>
                <a:r>
                  <a:rPr lang="zh-CN" altLang="en-US"/>
                  <a:t>：这种参数化的方法虽然能使</a:t>
                </a:r>
                <a:r>
                  <a:rPr lang="zh-CN" altLang="en-US">
                    <a:solidFill>
                      <a:schemeClr val="accent1"/>
                    </a:solidFill>
                    <a:effectLst>
                      <a:outerShdw blurRad="38100" dist="25400" dir="5400000" algn="ctr" rotWithShape="0">
                        <a:srgbClr val="6E747A">
                          <a:alpha val="43000"/>
                        </a:srgbClr>
                      </a:outerShdw>
                    </a:effectLst>
                  </a:rPr>
                  <a:t>类条件概率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𝜽</m:t>
                        </m:r>
                      </m:e>
                      <m:sub>
                        <m:r>
                          <a:rPr lang="en-US" altLang="zh-CN" b="1" i="1">
                            <a:latin typeface="Cambria Math" panose="02040503050406030204" pitchFamily="18" charset="0"/>
                            <a:cs typeface="Cambria Math" panose="02040503050406030204" pitchFamily="18" charset="0"/>
                          </a:rPr>
                          <m:t>𝒄</m:t>
                        </m:r>
                      </m:sub>
                    </m:sSub>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的估计变得相对简单，但估计结果的准确性严重依赖于</a:t>
                </a:r>
                <a:endParaRPr lang="zh-CN" altLang="en-US">
                  <a:latin typeface="Cambria Math" panose="02040503050406030204" pitchFamily="18" charset="0"/>
                  <a:cs typeface="Cambria Math" panose="02040503050406030204" pitchFamily="18" charset="0"/>
                </a:endParaRPr>
              </a:p>
              <a:p>
                <a:pPr>
                  <a:lnSpc>
                    <a:spcPct val="30000"/>
                  </a:lnSpc>
                </a:pPr>
                <a:endParaRPr lang="zh-CN" altLang="en-US">
                  <a:latin typeface="Cambria Math" panose="02040503050406030204" pitchFamily="18" charset="0"/>
                  <a:cs typeface="Cambria Math" panose="02040503050406030204" pitchFamily="18" charset="0"/>
                </a:endParaRPr>
              </a:p>
              <a:p>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所假设的概率分布形式是否符合潜在的真实数据分布，在现实应用中，欲做出能较好地接近潜在真实分</a:t>
                </a:r>
                <a:endParaRPr lang="zh-CN" altLang="en-US">
                  <a:latin typeface="Cambria Math" panose="02040503050406030204" pitchFamily="18" charset="0"/>
                  <a:cs typeface="Cambria Math" panose="02040503050406030204" pitchFamily="18" charset="0"/>
                </a:endParaRPr>
              </a:p>
              <a:p>
                <a:pPr>
                  <a:lnSpc>
                    <a:spcPct val="30000"/>
                  </a:lnSpc>
                </a:pPr>
                <a:endParaRPr lang="zh-CN" altLang="en-US">
                  <a:latin typeface="Cambria Math" panose="02040503050406030204" pitchFamily="18" charset="0"/>
                  <a:cs typeface="Cambria Math" panose="02040503050406030204" pitchFamily="18" charset="0"/>
                </a:endParaRPr>
              </a:p>
              <a:p>
                <a:r>
                  <a:rPr lang="zh-CN" altLang="en-US">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布的假设，往往需在一定程度上利用关于应用任务本身的经验知识，否则若近凭</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猜测</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来假设概率分布形</a:t>
                </a:r>
                <a:endParaRPr lang="zh-CN" altLang="en-US">
                  <a:latin typeface="Cambria Math" panose="02040503050406030204" pitchFamily="18" charset="0"/>
                  <a:cs typeface="Cambria Math" panose="02040503050406030204" pitchFamily="18" charset="0"/>
                </a:endParaRPr>
              </a:p>
              <a:p>
                <a:pPr>
                  <a:lnSpc>
                    <a:spcPct val="30000"/>
                  </a:lnSpc>
                </a:pPr>
                <a:endParaRPr lang="zh-CN" altLang="en-US">
                  <a:latin typeface="Cambria Math" panose="02040503050406030204" pitchFamily="18" charset="0"/>
                  <a:cs typeface="Cambria Math" panose="02040503050406030204" pitchFamily="18" charset="0"/>
                </a:endParaRPr>
              </a:p>
              <a:p>
                <a:r>
                  <a:rPr lang="zh-CN" altLang="en-US">
                    <a:latin typeface="Cambria Math" panose="02040503050406030204" pitchFamily="18" charset="0"/>
                    <a:cs typeface="Cambria Math" panose="02040503050406030204" pitchFamily="18" charset="0"/>
                  </a:rPr>
                  <a:t> </a:t>
                </a:r>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式，很可能产生误导性的结果</a:t>
                </a:r>
                <a:endParaRPr lang="en-US" altLang="zh-CN" i="1">
                  <a:latin typeface="Cambria Math" panose="02040503050406030204" pitchFamily="18" charset="0"/>
                  <a:cs typeface="Cambria Math" panose="02040503050406030204" pitchFamily="18" charset="0"/>
                </a:endParaRPr>
              </a:p>
              <a:p>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310515" y="1282700"/>
                <a:ext cx="11308080" cy="1724025"/>
              </a:xfrm>
              <a:prstGeom prst="rect">
                <a:avLst/>
              </a:prstGeom>
              <a:blipFill rotWithShape="1">
                <a:blip r:embed="rId1"/>
                <a:stretch>
                  <a:fillRect/>
                </a:stretch>
              </a:blipFill>
            </p:spPr>
            <p:txBody>
              <a:bodyPr/>
              <a:lstStyle/>
              <a:p>
                <a:r>
                  <a:rPr lang="zh-CN" altLang="en-US">
                    <a:noFill/>
                  </a:rPr>
                  <a:t> </a:t>
                </a:r>
              </a:p>
            </p:txBody>
          </p:sp>
        </mc:Fallback>
      </mc:AlternateContent>
      <p:pic>
        <p:nvPicPr>
          <p:cNvPr id="7" name="图片 6" descr="极大似然"/>
          <p:cNvPicPr>
            <a:picLocks noChangeAspect="1"/>
          </p:cNvPicPr>
          <p:nvPr/>
        </p:nvPicPr>
        <p:blipFill>
          <a:blip r:embed="rId2"/>
          <a:stretch>
            <a:fillRect/>
          </a:stretch>
        </p:blipFill>
        <p:spPr>
          <a:xfrm>
            <a:off x="3505835" y="2944495"/>
            <a:ext cx="5279390" cy="367601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flipH="1">
            <a:off x="3823652" y="1411646"/>
            <a:ext cx="5080" cy="475932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p:sp>
        <p:nvSpPr>
          <p:cNvPr id="2" name="文本框 1"/>
          <p:cNvSpPr txBox="1"/>
          <p:nvPr/>
        </p:nvSpPr>
        <p:spPr>
          <a:xfrm>
            <a:off x="4094480" y="1411605"/>
            <a:ext cx="6861175" cy="4073525"/>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贝叶斯定理</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贝叶斯决策论</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极大似然估计</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利用贝叶斯解决实际问题：拼写纠错</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半朴素贝叶斯分类器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贝叶斯网</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718248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利用贝叶斯解决实际问题：拼写纠错</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6" name="文本框 5"/>
              <p:cNvSpPr txBox="1"/>
              <p:nvPr/>
            </p:nvSpPr>
            <p:spPr>
              <a:xfrm>
                <a:off x="294005" y="1168400"/>
                <a:ext cx="7254875" cy="4645660"/>
              </a:xfrm>
              <a:prstGeom prst="rect">
                <a:avLst/>
              </a:prstGeom>
              <a:noFill/>
            </p:spPr>
            <p:txBody>
              <a:bodyPr wrap="square" rtlCol="0">
                <a:spAutoFit/>
              </a:bodyPr>
              <a:p>
                <a:r>
                  <a:rPr lang="zh-CN" altLang="en-US">
                    <a:solidFill>
                      <a:schemeClr val="accent1"/>
                    </a:solidFill>
                    <a:effectLst>
                      <a:outerShdw blurRad="38100" dist="25400" dir="5400000" algn="ctr" rotWithShape="0">
                        <a:srgbClr val="6E747A">
                          <a:alpha val="43000"/>
                        </a:srgbClr>
                      </a:outerShdw>
                    </a:effectLst>
                  </a:rPr>
                  <a:t>拼写纠错实例</a:t>
                </a:r>
                <a:endParaRPr lang="zh-CN" altLang="en-US">
                  <a:solidFill>
                    <a:schemeClr val="accent1"/>
                  </a:solidFill>
                  <a:effectLst>
                    <a:outerShdw blurRad="38100" dist="25400" dir="5400000" algn="ctr" rotWithShape="0">
                      <a:srgbClr val="6E747A">
                        <a:alpha val="43000"/>
                      </a:srgbClr>
                    </a:outerShdw>
                  </a:effectLst>
                </a:endParaRPr>
              </a:p>
              <a:p>
                <a:pPr>
                  <a:lnSpc>
                    <a:spcPct val="50000"/>
                  </a:lnSpc>
                </a:pPr>
                <a:endParaRPr lang="zh-CN" altLang="en-US">
                  <a:solidFill>
                    <a:schemeClr val="accent1"/>
                  </a:solidFill>
                  <a:effectLst>
                    <a:outerShdw blurRad="38100" dist="25400" dir="5400000" algn="ctr" rotWithShape="0">
                      <a:srgbClr val="6E747A">
                        <a:alpha val="43000"/>
                      </a:srgbClr>
                    </a:outerShdw>
                  </a:effectLst>
                </a:endParaRPr>
              </a:p>
              <a:p>
                <a:pPr>
                  <a:lnSpc>
                    <a:spcPct val="30000"/>
                  </a:lnSpc>
                </a:pPr>
                <a:endParaRPr lang="zh-CN" altLang="en-US"/>
              </a:p>
              <a:p>
                <a:pPr>
                  <a:lnSpc>
                    <a:spcPct val="30000"/>
                  </a:lnSpc>
                </a:pPr>
                <a:endParaRPr lang="zh-CN" altLang="en-US"/>
              </a:p>
              <a:p>
                <a:pPr indent="457200">
                  <a:lnSpc>
                    <a:spcPct val="30000"/>
                  </a:lnSpc>
                </a:pPr>
                <a:endParaRPr lang="zh-CN" altLang="en-US"/>
              </a:p>
              <a:p>
                <a:pPr indent="457200">
                  <a:lnSpc>
                    <a:spcPct val="30000"/>
                  </a:lnSpc>
                </a:pPr>
                <a:r>
                  <a:rPr lang="zh-CN" altLang="en-US"/>
                  <a:t>在输入单词过程中，由于疏忽打出了</a:t>
                </a:r>
                <a:r>
                  <a:rPr lang="en-US" altLang="zh-CN"/>
                  <a:t>tha</a:t>
                </a:r>
                <a:r>
                  <a:rPr lang="zh-CN" altLang="en-US"/>
                  <a:t>，此时输入法会产生一些</a:t>
                </a:r>
                <a:endParaRPr lang="zh-CN" altLang="en-US"/>
              </a:p>
              <a:p>
                <a:pPr>
                  <a:lnSpc>
                    <a:spcPct val="30000"/>
                  </a:lnSpc>
                </a:pPr>
                <a:endParaRPr lang="zh-CN" altLang="en-US"/>
              </a:p>
              <a:p>
                <a:pPr>
                  <a:lnSpc>
                    <a:spcPct val="30000"/>
                  </a:lnSpc>
                </a:pPr>
                <a:endParaRPr lang="zh-CN" altLang="en-US"/>
              </a:p>
              <a:p>
                <a:pPr>
                  <a:lnSpc>
                    <a:spcPct val="30000"/>
                  </a:lnSpc>
                </a:pPr>
                <a:endParaRPr lang="zh-CN" altLang="en-US"/>
              </a:p>
              <a:p>
                <a:pPr>
                  <a:lnSpc>
                    <a:spcPct val="30000"/>
                  </a:lnSpc>
                </a:pPr>
                <a:r>
                  <a:rPr lang="zh-CN" altLang="en-US"/>
                  <a:t>纠错选项，包括</a:t>
                </a:r>
                <a:r>
                  <a:rPr lang="en-US" altLang="zh-CN"/>
                  <a:t>the</a:t>
                </a:r>
                <a:r>
                  <a:rPr lang="zh-CN" altLang="en-US"/>
                  <a:t>、</a:t>
                </a:r>
                <a:r>
                  <a:rPr lang="en-US" altLang="zh-CN"/>
                  <a:t>than</a:t>
                </a:r>
                <a:r>
                  <a:rPr lang="zh-CN" altLang="en-US"/>
                  <a:t>、</a:t>
                </a:r>
                <a:r>
                  <a:rPr lang="en-US" altLang="zh-CN"/>
                  <a:t>that</a:t>
                </a:r>
                <a:r>
                  <a:rPr lang="zh-CN" altLang="en-US"/>
                  <a:t>等等，如何根据输入的</a:t>
                </a:r>
                <a:r>
                  <a:rPr lang="en-US" altLang="zh-CN"/>
                  <a:t>tha</a:t>
                </a:r>
                <a:r>
                  <a:rPr lang="zh-CN" altLang="en-US"/>
                  <a:t>得到用户真</a:t>
                </a:r>
                <a:endParaRPr lang="zh-CN" altLang="en-US"/>
              </a:p>
              <a:p>
                <a:pPr>
                  <a:lnSpc>
                    <a:spcPct val="30000"/>
                  </a:lnSpc>
                </a:pPr>
                <a:endParaRPr lang="zh-CN" altLang="en-US"/>
              </a:p>
              <a:p>
                <a:pPr>
                  <a:lnSpc>
                    <a:spcPct val="30000"/>
                  </a:lnSpc>
                </a:pPr>
                <a:endParaRPr lang="zh-CN" altLang="en-US"/>
              </a:p>
              <a:p>
                <a:pPr>
                  <a:lnSpc>
                    <a:spcPct val="30000"/>
                  </a:lnSpc>
                </a:pPr>
                <a:endParaRPr lang="zh-CN" altLang="en-US"/>
              </a:p>
              <a:p>
                <a:pPr>
                  <a:lnSpc>
                    <a:spcPct val="30000"/>
                  </a:lnSpc>
                </a:pPr>
                <a:r>
                  <a:rPr lang="zh-CN" altLang="en-US"/>
                  <a:t>正想输入的单词的概率并根据此排序来进行修正？</a:t>
                </a:r>
                <a:endParaRPr lang="zh-CN" altLang="en-US"/>
              </a:p>
              <a:p>
                <a:pPr indent="457200"/>
                <a:endParaRPr lang="zh-CN" altLang="en-US">
                  <a:solidFill>
                    <a:schemeClr val="tx1"/>
                  </a:solidFill>
                </a:endParaRPr>
              </a:p>
              <a:p>
                <a:pPr marL="0" lvl="0" indent="0">
                  <a:buNone/>
                </a:pPr>
                <a:r>
                  <a:rPr lang="zh-CN" altLang="en-US">
                    <a:solidFill>
                      <a:schemeClr val="tx1"/>
                    </a:solidFill>
                  </a:rPr>
                  <a:t>我们需要计算后验概率</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(用户想要输入的单词|用户实际输入的单词)</m:t>
                    </m:r>
                  </m:oMath>
                </a14:m>
                <a:endParaRPr lang="en-US" altLang="zh-CN" i="1">
                  <a:solidFill>
                    <a:schemeClr val="tx1"/>
                  </a:solidFill>
                  <a:latin typeface="Cambria Math" panose="02040503050406030204" pitchFamily="18" charset="0"/>
                  <a:cs typeface="Cambria Math" panose="02040503050406030204" pitchFamily="18" charset="0"/>
                </a:endParaRPr>
              </a:p>
              <a:p>
                <a:pPr marL="0" lvl="0" indent="0">
                  <a:lnSpc>
                    <a:spcPct val="30000"/>
                  </a:lnSpc>
                  <a:buNone/>
                </a:pPr>
                <a:endParaRPr lang="zh-CN" altLang="en-US">
                  <a:solidFill>
                    <a:schemeClr val="tx1"/>
                  </a:solidFill>
                </a:endParaRPr>
              </a:p>
              <a:p>
                <a:pPr marL="0" lvl="0" indent="0">
                  <a:buNone/>
                </a:pPr>
                <a:r>
                  <a:rPr lang="zh-CN" altLang="en-US">
                    <a:solidFill>
                      <a:schemeClr val="tx1"/>
                    </a:solidFill>
                  </a:rPr>
                  <a:t>即计算</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𝑡ℎ𝑒</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oMath>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r>
                  <a:rPr lang="zh-CN" altLang="en-US">
                    <a:solidFill>
                      <a:schemeClr val="tx1"/>
                    </a:solidFill>
                    <a:latin typeface="Cambria Math" panose="02040503050406030204" pitchFamily="18" charset="0"/>
                    <a:cs typeface="Cambria Math" panose="02040503050406030204" pitchFamily="18" charset="0"/>
                  </a:rPr>
                  <a:t>根据贝叶斯公式可得：</a:t>
                </a: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𝑡ℎ𝑒</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𝑡ℎ𝑒</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𝑡ℎ𝑒</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endParaRPr lang="en-US" altLang="zh-CN">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endParaRPr lang="en-US" altLang="zh-CN">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oMath>
                  </m:oMathPara>
                </a14:m>
                <a:endParaRPr lang="en-US" altLang="zh-CN">
                  <a:solidFill>
                    <a:schemeClr val="tx1"/>
                  </a:solidFill>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294005" y="1168400"/>
                <a:ext cx="7254875" cy="4645660"/>
              </a:xfrm>
              <a:prstGeom prst="rect">
                <a:avLst/>
              </a:prstGeom>
              <a:blipFill rotWithShape="1">
                <a:blip r:embed="rId1"/>
                <a:stretch>
                  <a:fillRect/>
                </a:stretch>
              </a:blipFill>
            </p:spPr>
            <p:txBody>
              <a:bodyPr/>
              <a:lstStyle/>
              <a:p>
                <a:r>
                  <a:rPr lang="zh-CN" altLang="en-US">
                    <a:noFill/>
                  </a:rPr>
                  <a:t> </a:t>
                </a:r>
              </a:p>
            </p:txBody>
          </p:sp>
        </mc:Fallback>
      </mc:AlternateContent>
      <p:pic>
        <p:nvPicPr>
          <p:cNvPr id="7" name="图片 6"/>
          <p:cNvPicPr>
            <a:picLocks noChangeAspect="1"/>
          </p:cNvPicPr>
          <p:nvPr>
            <p:custDataLst>
              <p:tags r:id="rId2"/>
            </p:custDataLst>
          </p:nvPr>
        </p:nvPicPr>
        <p:blipFill>
          <a:blip r:embed="rId3"/>
          <a:stretch>
            <a:fillRect/>
          </a:stretch>
        </p:blipFill>
        <p:spPr>
          <a:xfrm>
            <a:off x="7825740" y="1374775"/>
            <a:ext cx="3898900" cy="227012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7182485"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利用贝叶斯解决实际问题：拼写纠错</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2898775" y="1195070"/>
                <a:ext cx="6096000" cy="1476375"/>
              </a:xfrm>
              <a:prstGeom prst="rect">
                <a:avLst/>
              </a:prstGeom>
              <a:noFill/>
            </p:spPr>
            <p:txBody>
              <a:bodyPr wrap="square" rtlCol="0" anchor="t">
                <a:spAutoFit/>
              </a:bodyPr>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𝑡ℎ𝑒</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𝑡ℎ𝑒</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𝑡ℎ𝑒</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endParaRPr lang="en-US" altLang="zh-CN">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buNone/>
                </a:pPr>
                <a:endParaRPr lang="en-US" altLang="zh-CN">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898775" y="1195070"/>
                <a:ext cx="6096000" cy="147637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400685" y="3002280"/>
                <a:ext cx="11299825" cy="2279015"/>
              </a:xfrm>
              <a:prstGeom prst="rect">
                <a:avLst/>
              </a:prstGeom>
              <a:noFill/>
            </p:spPr>
            <p:txBody>
              <a:bodyPr wrap="square" rtlCol="0">
                <a:spAutoFit/>
              </a:bodyPr>
              <a:p>
                <a:pPr indent="457200"/>
                <a:r>
                  <a:rPr lang="zh-CN" altLang="en-US"/>
                  <a:t>由于</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𝑡ℎ𝑎</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均相同，因此只需比较</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𝑡ℎ𝑒</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𝑡ℎ𝑒</m:t>
                    </m:r>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𝑡ℎ𝑎𝑛</m:t>
                    </m:r>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𝑡ℎ𝑎𝑡</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𝑡ℎ𝑎𝑡</m:t>
                    </m:r>
                    <m:r>
                      <a:rPr lang="en-US" altLang="zh-CN" i="1">
                        <a:solidFill>
                          <a:schemeClr val="tx1"/>
                        </a:solidFill>
                        <a:latin typeface="Cambria Math" panose="02040503050406030204" pitchFamily="18" charset="0"/>
                        <a:cs typeface="Cambria Math" panose="02040503050406030204" pitchFamily="18" charset="0"/>
                      </a:rPr>
                      <m:t>)</m:t>
                    </m:r>
                  </m:oMath>
                </a14:m>
                <a:endParaRPr lang="en-US" altLang="zh-CN" i="1">
                  <a:solidFill>
                    <a:schemeClr val="tx1"/>
                  </a:solidFill>
                  <a:latin typeface="Cambria Math" panose="02040503050406030204" pitchFamily="18" charset="0"/>
                  <a:cs typeface="Cambria Math" panose="02040503050406030204" pitchFamily="18" charset="0"/>
                </a:endParaRPr>
              </a:p>
              <a:p>
                <a:pPr>
                  <a:lnSpc>
                    <a:spcPct val="50000"/>
                  </a:lnSpc>
                </a:pPr>
                <a:endParaRPr lang="zh-CN" altLang="en-US">
                  <a:solidFill>
                    <a:schemeClr val="tx1"/>
                  </a:solidFill>
                  <a:latin typeface="Cambria Math" panose="02040503050406030204" pitchFamily="18" charset="0"/>
                  <a:cs typeface="Cambria Math" panose="02040503050406030204" pitchFamily="18" charset="0"/>
                </a:endParaRPr>
              </a:p>
              <a:p>
                <a:r>
                  <a:rPr lang="en-US" altLang="zh-CN">
                    <a:solidFill>
                      <a:schemeClr val="tx1"/>
                    </a:solidFill>
                    <a:latin typeface="Cambria Math" panose="02040503050406030204" pitchFamily="18" charset="0"/>
                    <a:cs typeface="Cambria Math" panose="02040503050406030204" pitchFamily="18" charset="0"/>
                  </a:rPr>
                  <a:t>1</a:t>
                </a:r>
                <a:r>
                  <a:rPr lang="zh-CN" altLang="en-US">
                    <a:solidFill>
                      <a:schemeClr val="tx1"/>
                    </a:solidFill>
                    <a:latin typeface="Cambria Math" panose="02040503050406030204" pitchFamily="18" charset="0"/>
                    <a:cs typeface="Cambria Math" panose="02040503050406030204" pitchFamily="18" charset="0"/>
                  </a:rPr>
                  <a:t>）</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𝑡ℎ𝑒</m:t>
                    </m:r>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𝑡ℎ𝑎𝑛</m:t>
                    </m:r>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𝑡ℎ𝑎𝑡</m:t>
                    </m:r>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可以根据以往记录的输入各种单词的频率来查询获得；</a:t>
                </a:r>
                <a:endParaRPr lang="zh-CN" altLang="en-US">
                  <a:solidFill>
                    <a:schemeClr val="tx1"/>
                  </a:solidFill>
                  <a:latin typeface="Cambria Math" panose="02040503050406030204" pitchFamily="18" charset="0"/>
                  <a:cs typeface="Cambria Math" panose="02040503050406030204" pitchFamily="18" charset="0"/>
                </a:endParaRPr>
              </a:p>
              <a:p>
                <a:pPr>
                  <a:lnSpc>
                    <a:spcPct val="40000"/>
                  </a:lnSpc>
                </a:pPr>
                <a:endParaRPr lang="zh-CN" altLang="en-US">
                  <a:solidFill>
                    <a:schemeClr val="tx1"/>
                  </a:solidFill>
                  <a:latin typeface="Cambria Math" panose="02040503050406030204" pitchFamily="18" charset="0"/>
                  <a:cs typeface="Cambria Math" panose="02040503050406030204" pitchFamily="18" charset="0"/>
                </a:endParaRPr>
              </a:p>
              <a:p>
                <a:r>
                  <a:rPr lang="en-US" altLang="zh-CN">
                    <a:solidFill>
                      <a:schemeClr val="tx1"/>
                    </a:solidFill>
                    <a:latin typeface="Cambria Math" panose="02040503050406030204" pitchFamily="18" charset="0"/>
                    <a:cs typeface="Cambria Math" panose="02040503050406030204" pitchFamily="18" charset="0"/>
                  </a:rPr>
                  <a:t>2</a:t>
                </a:r>
                <a:r>
                  <a:rPr lang="zh-CN" altLang="en-US">
                    <a:solidFill>
                      <a:schemeClr val="tx1"/>
                    </a:solidFill>
                    <a:latin typeface="Cambria Math" panose="02040503050406030204" pitchFamily="18" charset="0"/>
                    <a:cs typeface="Cambria Math" panose="02040503050406030204" pitchFamily="18" charset="0"/>
                  </a:rPr>
                  <a:t>）</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𝑡ℎ𝑒</m:t>
                    </m:r>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𝑡ℎ𝑎𝑛</m:t>
                    </m:r>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𝑡ℎ𝑎𝑡</m:t>
                    </m:r>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根据制定的增删改查规则进行计算，即更改一个字母的概率、增加一个字母的概率、删减一个字母的概率等等</a:t>
                </a:r>
                <a:r>
                  <a:rPr lang="en-US" altLang="zh-CN">
                    <a:solidFill>
                      <a:schemeClr val="tx1"/>
                    </a:solidFill>
                    <a:latin typeface="Cambria Math" panose="02040503050406030204" pitchFamily="18" charset="0"/>
                    <a:cs typeface="Cambria Math" panose="02040503050406030204" pitchFamily="18" charset="0"/>
                  </a:rPr>
                  <a:t>...</a:t>
                </a:r>
                <a:endParaRPr lang="en-US" altLang="zh-CN">
                  <a:solidFill>
                    <a:schemeClr val="tx1"/>
                  </a:solidFill>
                  <a:latin typeface="Cambria Math" panose="02040503050406030204" pitchFamily="18" charset="0"/>
                  <a:cs typeface="Cambria Math" panose="02040503050406030204" pitchFamily="18" charset="0"/>
                </a:endParaRPr>
              </a:p>
              <a:p>
                <a:endParaRPr lang="en-US" altLang="zh-CN">
                  <a:solidFill>
                    <a:schemeClr val="tx1"/>
                  </a:solidFill>
                  <a:latin typeface="Cambria Math" panose="02040503050406030204" pitchFamily="18" charset="0"/>
                  <a:cs typeface="Cambria Math" panose="02040503050406030204" pitchFamily="18" charset="0"/>
                </a:endParaRPr>
              </a:p>
              <a:p>
                <a:pPr indent="457200"/>
                <a:r>
                  <a:rPr lang="zh-CN" altLang="en-US">
                    <a:solidFill>
                      <a:schemeClr val="tx1"/>
                    </a:solidFill>
                    <a:latin typeface="Cambria Math" panose="02040503050406030204" pitchFamily="18" charset="0"/>
                    <a:cs typeface="Cambria Math" panose="02040503050406030204" pitchFamily="18" charset="0"/>
                  </a:rPr>
                  <a:t>最终比较各种修正单词的后验概率大小，后验概率大的修正单词放在前面推荐，</a:t>
                </a:r>
                <a:r>
                  <a:rPr lang="zh-CN" altLang="en-US">
                    <a:latin typeface="Cambria Math" panose="02040503050406030204" pitchFamily="18" charset="0"/>
                    <a:cs typeface="Cambria Math" panose="02040503050406030204" pitchFamily="18" charset="0"/>
                    <a:sym typeface="+mn-ea"/>
                  </a:rPr>
                  <a:t>后验概率</a:t>
                </a:r>
                <a:r>
                  <a:rPr lang="zh-CN" altLang="en-US">
                    <a:solidFill>
                      <a:schemeClr val="tx1"/>
                    </a:solidFill>
                    <a:latin typeface="Cambria Math" panose="02040503050406030204" pitchFamily="18" charset="0"/>
                    <a:cs typeface="Cambria Math" panose="02040503050406030204" pitchFamily="18" charset="0"/>
                  </a:rPr>
                  <a:t>小的修正单词放在后边推荐</a:t>
                </a:r>
                <a:endParaRPr lang="zh-CN" altLang="en-US">
                  <a:solidFill>
                    <a:schemeClr val="tx1"/>
                  </a:solidFill>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400685" y="3002280"/>
                <a:ext cx="11299825" cy="2279015"/>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flipH="1">
            <a:off x="3823652" y="1411646"/>
            <a:ext cx="5080" cy="475932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p:sp>
        <p:nvSpPr>
          <p:cNvPr id="2" name="文本框 1"/>
          <p:cNvSpPr txBox="1"/>
          <p:nvPr/>
        </p:nvSpPr>
        <p:spPr>
          <a:xfrm>
            <a:off x="4094480" y="1411605"/>
            <a:ext cx="6861175" cy="4073525"/>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贝叶斯定理</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贝叶斯决策论</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极大似然估计</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利用贝叶斯解决实际问题：拼写纠错</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朴素贝叶斯分类器</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半朴素贝叶斯分类器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贝叶斯网</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朴素贝叶斯分类器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27025" y="1209040"/>
                <a:ext cx="11348720" cy="4304030"/>
              </a:xfrm>
              <a:prstGeom prst="rect">
                <a:avLst/>
              </a:prstGeom>
              <a:noFill/>
            </p:spPr>
            <p:txBody>
              <a:bodyPr wrap="square" rtlCol="0">
                <a:spAutoFit/>
              </a:bodyPr>
              <a:p>
                <a:pPr indent="457200"/>
                <a:r>
                  <a:rPr lang="zh-CN" altLang="en-US"/>
                  <a:t>基于贝叶斯公式来估计后验概率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的主要困难在于类条件概率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是所有属性上的联合概率，难以从有限的训练样本直接估计而得，为了避开这个障碍，朴素贝叶斯分类器采用</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属性条件独立性假设</a:t>
                </a:r>
                <a:r>
                  <a:rPr lang="zh-CN" altLang="en-US">
                    <a:latin typeface="Cambria Math" panose="02040503050406030204" pitchFamily="18" charset="0"/>
                    <a:cs typeface="Cambria Math" panose="02040503050406030204" pitchFamily="18" charset="0"/>
                  </a:rPr>
                  <a:t>，对已知类别，假设所有属性相互独立，即假设每个属性独立地对分类结果发生影响：</a:t>
                </a:r>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𝑑</m:t>
                          </m:r>
                        </m:sup>
                        <m:e>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e>
                      </m:nary>
                    </m:oMath>
                  </m:oMathPara>
                </a14:m>
                <a:endParaRPr lang="en-US" altLang="zh-CN" i="1">
                  <a:latin typeface="Cambria Math" panose="02040503050406030204" pitchFamily="18" charset="0"/>
                  <a:cs typeface="Cambria Math" panose="02040503050406030204" pitchFamily="18" charset="0"/>
                </a:endParaRPr>
              </a:p>
              <a:p>
                <a:pPr marL="0" lvl="0" indent="457200">
                  <a:lnSpc>
                    <a:spcPct val="50000"/>
                  </a:lnSpc>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457200">
                  <a:buNone/>
                </a:pPr>
                <a:r>
                  <a:rPr lang="zh-CN" altLang="en-US">
                    <a:solidFill>
                      <a:schemeClr val="tx1"/>
                    </a:solidFill>
                    <a:latin typeface="Cambria Math" panose="02040503050406030204" pitchFamily="18" charset="0"/>
                    <a:cs typeface="Cambria Math" panose="02040503050406030204" pitchFamily="18" charset="0"/>
                  </a:rPr>
                  <a:t>其中</a:t>
                </a:r>
                <a14:m>
                  <m:oMath xmlns:m="http://schemas.openxmlformats.org/officeDocument/2006/math">
                    <m:r>
                      <a:rPr lang="en-US" altLang="zh-CN" i="1">
                        <a:latin typeface="Cambria Math" panose="02040503050406030204" pitchFamily="18" charset="0"/>
                        <a:cs typeface="Cambria Math" panose="02040503050406030204" pitchFamily="18" charset="0"/>
                      </a:rPr>
                      <m:t>𝑑</m:t>
                    </m:r>
                  </m:oMath>
                </a14:m>
                <a:r>
                  <a:rPr lang="zh-CN" altLang="en-US">
                    <a:latin typeface="Cambria Math" panose="02040503050406030204" pitchFamily="18" charset="0"/>
                    <a:cs typeface="Cambria Math" panose="02040503050406030204" pitchFamily="18" charset="0"/>
                  </a:rPr>
                  <a:t>为属性数目，</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为</a:t>
                </a:r>
                <a14:m>
                  <m:oMath xmlns:m="http://schemas.openxmlformats.org/officeDocument/2006/math">
                    <m:r>
                      <a:rPr lang="en-US" altLang="zh-CN" b="1" i="1">
                        <a:latin typeface="Cambria Math" panose="02040503050406030204" pitchFamily="18" charset="0"/>
                        <a:cs typeface="Cambria Math" panose="02040503050406030204" pitchFamily="18" charset="0"/>
                      </a:rPr>
                      <m:t>𝒙</m:t>
                    </m:r>
                  </m:oMath>
                </a14:m>
                <a:r>
                  <a:rPr lang="zh-CN" altLang="en-US">
                    <a:latin typeface="Cambria Math" panose="02040503050406030204" pitchFamily="18" charset="0"/>
                    <a:cs typeface="Cambria Math" panose="02040503050406030204" pitchFamily="18" charset="0"/>
                  </a:rPr>
                  <a:t>在第</a:t>
                </a:r>
                <a14:m>
                  <m:oMath xmlns:m="http://schemas.openxmlformats.org/officeDocument/2006/math">
                    <m:r>
                      <a:rPr lang="en-US" altLang="zh-CN" i="1">
                        <a:latin typeface="Cambria Math" panose="02040503050406030204" pitchFamily="18" charset="0"/>
                        <a:cs typeface="Cambria Math" panose="02040503050406030204" pitchFamily="18" charset="0"/>
                      </a:rPr>
                      <m:t>𝑖</m:t>
                    </m:r>
                  </m:oMath>
                </a14:m>
                <a:r>
                  <a:rPr lang="zh-CN" altLang="en-US">
                    <a:latin typeface="Cambria Math" panose="02040503050406030204" pitchFamily="18" charset="0"/>
                    <a:cs typeface="Cambria Math" panose="02040503050406030204" pitchFamily="18" charset="0"/>
                  </a:rPr>
                  <a:t>个属性上的取值，基于此得到</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朴素贝叶斯分类器</a:t>
                </a:r>
                <a:r>
                  <a:rPr lang="zh-CN" altLang="en-US">
                    <a:latin typeface="Cambria Math" panose="02040503050406030204" pitchFamily="18" charset="0"/>
                    <a:cs typeface="Cambria Math" panose="02040503050406030204" pitchFamily="18" charset="0"/>
                  </a:rPr>
                  <a:t>的表达式：</a:t>
                </a:r>
                <a:endParaRPr lang="zh-CN" altLang="en-US">
                  <a:latin typeface="Cambria Math" panose="02040503050406030204" pitchFamily="18" charset="0"/>
                  <a:cs typeface="Cambria Math" panose="02040503050406030204" pitchFamily="18" charset="0"/>
                </a:endParaRPr>
              </a:p>
              <a:p>
                <a:pPr marL="0" lvl="0" indent="45720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457200">
                  <a:buNone/>
                </a:pPr>
                <a14:m>
                  <m:oMathPara xmlns:m="http://schemas.openxmlformats.org/officeDocument/2006/math">
                    <m:oMathParaPr>
                      <m:jc m:val="centerGroup"/>
                    </m:oMathParaPr>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ℎ</m:t>
                          </m:r>
                        </m:e>
                        <m:sub>
                          <m:r>
                            <a:rPr lang="en-US" altLang="zh-CN" i="1">
                              <a:solidFill>
                                <a:schemeClr val="tx1"/>
                              </a:solidFill>
                              <a:latin typeface="Cambria Math" panose="02040503050406030204" pitchFamily="18" charset="0"/>
                              <a:cs typeface="Cambria Math" panose="02040503050406030204" pitchFamily="18" charset="0"/>
                            </a:rPr>
                            <m:t>𝑛𝑏</m:t>
                          </m:r>
                        </m:sub>
                      </m:sSub>
                      <m:r>
                        <a:rPr lang="en-US" altLang="zh-CN"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func>
                        <m:funcPr>
                          <m:ctrlPr>
                            <a:rPr lang="en-US" altLang="zh-CN" i="1">
                              <a:solidFill>
                                <a:schemeClr val="tx1"/>
                              </a:solidFill>
                              <a:latin typeface="Cambria Math" panose="02040503050406030204" pitchFamily="18" charset="0"/>
                              <a:cs typeface="Cambria Math" panose="02040503050406030204" pitchFamily="18" charset="0"/>
                            </a:rPr>
                          </m:ctrlPr>
                        </m:funcPr>
                        <m:fName>
                          <m:limLow>
                            <m:limLowPr>
                              <m:ctrlPr>
                                <a:rPr lang="en-US" altLang="zh-CN">
                                  <a:solidFill>
                                    <a:schemeClr val="tx1"/>
                                  </a:solidFill>
                                  <a:latin typeface="Cambria Math" panose="02040503050406030204" pitchFamily="18" charset="0"/>
                                  <a:cs typeface="Cambria Math" panose="02040503050406030204" pitchFamily="18" charset="0"/>
                                </a:rPr>
                              </m:ctrlPr>
                            </m:limLowPr>
                            <m:e>
                              <m:r>
                                <m:rPr>
                                  <m:sty m:val="p"/>
                                </m:rPr>
                                <a:rPr lang="en-US" altLang="zh-CN">
                                  <a:solidFill>
                                    <a:schemeClr val="tx1"/>
                                  </a:solidFill>
                                  <a:latin typeface="Cambria Math" panose="02040503050406030204" pitchFamily="18" charset="0"/>
                                  <a:cs typeface="Cambria Math" panose="02040503050406030204" pitchFamily="18" charset="0"/>
                                </a:rPr>
                                <m:t>argmax</m:t>
                              </m:r>
                            </m:e>
                            <m:lim>
                              <m:r>
                                <a:rPr lang="en-US" altLang="zh-CN" i="1">
                                  <a:solidFill>
                                    <a:schemeClr val="tx1"/>
                                  </a:solidFill>
                                  <a:latin typeface="Cambria Math" panose="02040503050406030204" pitchFamily="18" charset="0"/>
                                  <a:cs typeface="Cambria Math" panose="02040503050406030204" pitchFamily="18" charset="0"/>
                                </a:rPr>
                                <m:t>𝑐</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𝛶</m:t>
                              </m:r>
                            </m:lim>
                          </m:limLow>
                        </m:fName>
                        <m:e>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𝑐</m:t>
                          </m:r>
                          <m:r>
                            <a:rPr lang="en-US" altLang="zh-CN" i="1">
                              <a:solidFill>
                                <a:schemeClr val="tx1"/>
                              </a:solidFill>
                              <a:latin typeface="Cambria Math" panose="02040503050406030204" pitchFamily="18" charset="0"/>
                              <a:cs typeface="Cambria Math" panose="02040503050406030204" pitchFamily="18" charset="0"/>
                            </a:rPr>
                            <m:t>)</m:t>
                          </m:r>
                        </m:e>
                      </m:func>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𝑑</m:t>
                          </m:r>
                        </m:sup>
                        <m:e>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e>
                      </m:nary>
                    </m:oMath>
                  </m:oMathPara>
                </a14:m>
                <a:endParaRPr lang="en-US" altLang="zh-CN" i="1">
                  <a:latin typeface="Cambria Math" panose="02040503050406030204" pitchFamily="18" charset="0"/>
                  <a:cs typeface="Cambria Math" panose="02040503050406030204" pitchFamily="18" charset="0"/>
                </a:endParaRPr>
              </a:p>
              <a:p>
                <a:pPr marL="0" lvl="0" indent="45720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457200">
                  <a:buNone/>
                </a:pP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朴素贝叶斯分类器</a:t>
                </a:r>
                <a:r>
                  <a:rPr lang="zh-CN" altLang="en-US">
                    <a:solidFill>
                      <a:schemeClr val="tx1"/>
                    </a:solidFill>
                    <a:latin typeface="Cambria Math" panose="02040503050406030204" pitchFamily="18" charset="0"/>
                    <a:cs typeface="Cambria Math" panose="02040503050406030204" pitchFamily="18" charset="0"/>
                  </a:rPr>
                  <a:t>的训练过程就是基于训练集</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𝐷</m:t>
                    </m:r>
                  </m:oMath>
                </a14:m>
                <a:r>
                  <a:rPr lang="zh-CN" altLang="en-US">
                    <a:solidFill>
                      <a:schemeClr val="tx1"/>
                    </a:solidFill>
                    <a:latin typeface="Cambria Math" panose="02040503050406030204" pitchFamily="18" charset="0"/>
                    <a:cs typeface="Cambria Math" panose="02040503050406030204" pitchFamily="18" charset="0"/>
                  </a:rPr>
                  <a:t>中第</a:t>
                </a:r>
                <a14:m>
                  <m:oMath xmlns:m="http://schemas.openxmlformats.org/officeDocument/2006/math">
                    <m:r>
                      <a:rPr lang="en-US" altLang="zh-CN" i="1">
                        <a:latin typeface="Cambria Math" panose="02040503050406030204" pitchFamily="18" charset="0"/>
                        <a:cs typeface="Cambria Math" panose="02040503050406030204" pitchFamily="18" charset="0"/>
                      </a:rPr>
                      <m:t>𝑐</m:t>
                    </m:r>
                  </m:oMath>
                </a14:m>
                <a:r>
                  <a:rPr lang="zh-CN" altLang="en-US">
                    <a:latin typeface="Cambria Math" panose="02040503050406030204" pitchFamily="18" charset="0"/>
                    <a:cs typeface="Cambria Math" panose="02040503050406030204" pitchFamily="18" charset="0"/>
                  </a:rPr>
                  <a:t>类样本组成的集合</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oMath>
                </a14:m>
                <a:r>
                  <a:rPr lang="zh-CN" altLang="en-US">
                    <a:latin typeface="Cambria Math" panose="02040503050406030204" pitchFamily="18" charset="0"/>
                    <a:cs typeface="Cambria Math" panose="02040503050406030204" pitchFamily="18" charset="0"/>
                  </a:rPr>
                  <a:t>来估计类先验概率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以及每个属性的条件概率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endParaRPr lang="zh-CN" altLang="en-US">
                  <a:solidFill>
                    <a:schemeClr val="tx1"/>
                  </a:solidFill>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27025" y="1209040"/>
                <a:ext cx="11348720" cy="430403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朴素贝叶斯分类器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18770" y="1242060"/>
                <a:ext cx="11304905" cy="5155565"/>
              </a:xfrm>
              <a:prstGeom prst="rect">
                <a:avLst/>
              </a:prstGeom>
              <a:noFill/>
            </p:spPr>
            <p:txBody>
              <a:bodyPr wrap="square" rtlCol="0">
                <a:spAutoFit/>
              </a:bodyPr>
              <a:p>
                <a:r>
                  <a:rPr lang="zh-CN" altLang="en-US"/>
                  <a:t>若训练集</a:t>
                </a:r>
                <a14:m>
                  <m:oMath xmlns:m="http://schemas.openxmlformats.org/officeDocument/2006/math">
                    <m:r>
                      <a:rPr lang="en-US" altLang="zh-CN" i="1">
                        <a:latin typeface="Cambria Math" panose="02040503050406030204" pitchFamily="18" charset="0"/>
                        <a:cs typeface="Cambria Math" panose="02040503050406030204" pitchFamily="18" charset="0"/>
                      </a:rPr>
                      <m:t>𝐷</m:t>
                    </m:r>
                  </m:oMath>
                </a14:m>
                <a:r>
                  <a:rPr lang="zh-CN" altLang="en-US">
                    <a:latin typeface="Cambria Math" panose="02040503050406030204" pitchFamily="18" charset="0"/>
                    <a:cs typeface="Cambria Math" panose="02040503050406030204" pitchFamily="18" charset="0"/>
                  </a:rPr>
                  <a:t>中第</a:t>
                </a:r>
                <a14:m>
                  <m:oMath xmlns:m="http://schemas.openxmlformats.org/officeDocument/2006/math">
                    <m:r>
                      <a:rPr lang="en-US" altLang="zh-CN" i="1">
                        <a:latin typeface="Cambria Math" panose="02040503050406030204" pitchFamily="18" charset="0"/>
                        <a:cs typeface="Cambria Math" panose="02040503050406030204" pitchFamily="18" charset="0"/>
                      </a:rPr>
                      <m:t>𝑐</m:t>
                    </m:r>
                  </m:oMath>
                </a14:m>
                <a:r>
                  <a:rPr lang="zh-CN" altLang="en-US">
                    <a:latin typeface="Cambria Math" panose="02040503050406030204" pitchFamily="18" charset="0"/>
                    <a:cs typeface="Cambria Math" panose="02040503050406030204" pitchFamily="18" charset="0"/>
                  </a:rPr>
                  <a:t>类样本组成的集合</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oMath>
                </a14:m>
                <a:r>
                  <a:rPr lang="zh-CN" altLang="en-US">
                    <a:latin typeface="Cambria Math" panose="02040503050406030204" pitchFamily="18" charset="0"/>
                    <a:cs typeface="Cambria Math" panose="02040503050406030204" pitchFamily="18" charset="0"/>
                  </a:rPr>
                  <a:t>有充足的独立同分布样本，则</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类先验概率</a:t>
                </a:r>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d>
                            <m:dPr>
                              <m:begChr m:val="|"/>
                              <m:endChr m:val="|"/>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e>
                          </m:d>
                        </m:num>
                        <m:den>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𝐷</m:t>
                              </m:r>
                            </m:e>
                          </m:d>
                        </m:den>
                      </m:f>
                    </m:oMath>
                  </m:oMathPara>
                </a14:m>
                <a:endParaRPr lang="en-US" altLang="zh-CN" i="1">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pPr algn="l"/>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对</a:t>
                </a:r>
                <a:r>
                  <a:rPr lang="zh-CN" altLang="en-US">
                    <a:latin typeface="Cambria Math" panose="02040503050406030204" pitchFamily="18" charset="0"/>
                    <a:cs typeface="Cambria Math" panose="02040503050406030204" pitchFamily="18" charset="0"/>
                    <a:sym typeface="+mn-ea"/>
                  </a:rPr>
                  <a:t>第</a:t>
                </a:r>
                <a14:m>
                  <m:oMath xmlns:m="http://schemas.openxmlformats.org/officeDocument/2006/math">
                    <m:r>
                      <a:rPr lang="en-US" altLang="zh-CN" i="1">
                        <a:latin typeface="Cambria Math" panose="02040503050406030204" pitchFamily="18" charset="0"/>
                        <a:cs typeface="Cambria Math" panose="02040503050406030204" pitchFamily="18" charset="0"/>
                      </a:rPr>
                      <m:t>𝑐</m:t>
                    </m:r>
                  </m:oMath>
                </a14:m>
                <a:r>
                  <a:rPr lang="zh-CN" altLang="en-US">
                    <a:latin typeface="Cambria Math" panose="02040503050406030204" pitchFamily="18" charset="0"/>
                    <a:cs typeface="Cambria Math" panose="02040503050406030204" pitchFamily="18" charset="0"/>
                    <a:sym typeface="+mn-ea"/>
                  </a:rPr>
                  <a:t>类样本的第</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𝑖</m:t>
                    </m:r>
                  </m:oMath>
                </a14:m>
                <a:r>
                  <a:rPr lang="zh-CN" altLang="en-US">
                    <a:latin typeface="Cambria Math" panose="02040503050406030204" pitchFamily="18" charset="0"/>
                    <a:cs typeface="Cambria Math" panose="02040503050406030204" pitchFamily="18" charset="0"/>
                    <a:sym typeface="+mn-ea"/>
                  </a:rPr>
                  <a:t>个</a:t>
                </a:r>
                <a:r>
                  <a:rPr lang="zh-CN" altLang="en-US">
                    <a:latin typeface="Cambria Math" panose="02040503050406030204" pitchFamily="18" charset="0"/>
                    <a:cs typeface="Cambria Math" panose="02040503050406030204" pitchFamily="18" charset="0"/>
                  </a:rPr>
                  <a:t>属性的</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条件概率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，当属性为</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离散属性</a:t>
                </a:r>
                <a:r>
                  <a:rPr lang="zh-CN" altLang="en-US">
                    <a:latin typeface="Cambria Math" panose="02040503050406030204" pitchFamily="18" charset="0"/>
                    <a:cs typeface="Cambria Math" panose="02040503050406030204" pitchFamily="18" charset="0"/>
                  </a:rPr>
                  <a:t>时，令</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sub>
                    </m:sSub>
                  </m:oMath>
                </a14:m>
                <a:r>
                  <a:rPr lang="zh-CN" altLang="en-US">
                    <a:latin typeface="Cambria Math" panose="02040503050406030204" pitchFamily="18" charset="0"/>
                    <a:cs typeface="Cambria Math" panose="02040503050406030204" pitchFamily="18" charset="0"/>
                  </a:rPr>
                  <a:t>表示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oMath>
                </a14:m>
                <a:r>
                  <a:rPr lang="zh-CN" altLang="en-US">
                    <a:latin typeface="Cambria Math" panose="02040503050406030204" pitchFamily="18" charset="0"/>
                    <a:cs typeface="Cambria Math" panose="02040503050406030204" pitchFamily="18" charset="0"/>
                  </a:rPr>
                  <a:t>中的第</a:t>
                </a:r>
                <a14:m>
                  <m:oMath xmlns:m="http://schemas.openxmlformats.org/officeDocument/2006/math">
                    <m:r>
                      <a:rPr lang="en-US" altLang="zh-CN" i="1">
                        <a:latin typeface="Cambria Math" panose="02040503050406030204" pitchFamily="18" charset="0"/>
                        <a:cs typeface="Cambria Math" panose="02040503050406030204" pitchFamily="18" charset="0"/>
                      </a:rPr>
                      <m:t>𝑖</m:t>
                    </m:r>
                  </m:oMath>
                </a14:m>
                <a:r>
                  <a:rPr lang="zh-CN" altLang="en-US">
                    <a:latin typeface="Cambria Math" panose="02040503050406030204" pitchFamily="18" charset="0"/>
                    <a:cs typeface="Cambria Math" panose="02040503050406030204" pitchFamily="18" charset="0"/>
                  </a:rPr>
                  <a:t>个属性上取值为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的样本组成的集合，则</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离散属性条件概率</a:t>
                </a:r>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d>
                            <m:dPr>
                              <m:begChr m:val="|"/>
                              <m:endChr m:val="|"/>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sub>
                              </m:sSub>
                            </m:e>
                          </m:d>
                        </m:num>
                        <m:den>
                          <m:d>
                            <m:dPr>
                              <m:begChr m:val="|"/>
                              <m:endChr m:val="|"/>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e>
                          </m:d>
                        </m:den>
                      </m:f>
                    </m:oMath>
                  </m:oMathPara>
                </a14:m>
                <a:endParaRPr lang="en-US" altLang="zh-CN" i="1">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pPr algn="l"/>
                <a:r>
                  <a:rPr lang="zh-CN" altLang="en-US">
                    <a:latin typeface="Cambria Math" panose="02040503050406030204" pitchFamily="18" charset="0"/>
                    <a:cs typeface="Cambria Math" panose="02040503050406030204" pitchFamily="18" charset="0"/>
                    <a:sym typeface="+mn-ea"/>
                  </a:rPr>
                  <a:t>对</a:t>
                </a:r>
                <a:r>
                  <a:rPr lang="zh-CN" altLang="en-US">
                    <a:latin typeface="Cambria Math" panose="02040503050406030204" pitchFamily="18" charset="0"/>
                    <a:cs typeface="Cambria Math" panose="02040503050406030204" pitchFamily="18" charset="0"/>
                    <a:sym typeface="+mn-ea"/>
                  </a:rPr>
                  <a:t>第</a:t>
                </a:r>
                <a14:m>
                  <m:oMath xmlns:m="http://schemas.openxmlformats.org/officeDocument/2006/math">
                    <m:r>
                      <a:rPr lang="en-US" altLang="zh-CN" i="1">
                        <a:latin typeface="Cambria Math" panose="02040503050406030204" pitchFamily="18" charset="0"/>
                        <a:cs typeface="Cambria Math" panose="02040503050406030204" pitchFamily="18" charset="0"/>
                      </a:rPr>
                      <m:t>𝑐</m:t>
                    </m:r>
                  </m:oMath>
                </a14:m>
                <a:r>
                  <a:rPr lang="zh-CN" altLang="en-US">
                    <a:latin typeface="Cambria Math" panose="02040503050406030204" pitchFamily="18" charset="0"/>
                    <a:cs typeface="Cambria Math" panose="02040503050406030204" pitchFamily="18" charset="0"/>
                    <a:sym typeface="+mn-ea"/>
                  </a:rPr>
                  <a:t>类样本的第</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𝑖</m:t>
                    </m:r>
                  </m:oMath>
                </a14:m>
                <a:r>
                  <a:rPr lang="zh-CN" altLang="en-US">
                    <a:latin typeface="Cambria Math" panose="02040503050406030204" pitchFamily="18" charset="0"/>
                    <a:cs typeface="Cambria Math" panose="02040503050406030204" pitchFamily="18" charset="0"/>
                    <a:sym typeface="+mn-ea"/>
                  </a:rPr>
                  <a:t>个</a:t>
                </a:r>
                <a:r>
                  <a:rPr lang="zh-CN" altLang="en-US">
                    <a:latin typeface="Cambria Math" panose="02040503050406030204" pitchFamily="18" charset="0"/>
                    <a:cs typeface="Cambria Math" panose="02040503050406030204" pitchFamily="18" charset="0"/>
                    <a:sym typeface="+mn-ea"/>
                  </a:rPr>
                  <a:t>属性的</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条件概率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sym typeface="+mn-ea"/>
                  </a:rPr>
                  <a:t>，当属性为</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连续属性</a:t>
                </a:r>
                <a:r>
                  <a:rPr lang="zh-CN" altLang="en-US">
                    <a:latin typeface="Cambria Math" panose="02040503050406030204" pitchFamily="18" charset="0"/>
                    <a:cs typeface="Cambria Math" panose="02040503050406030204" pitchFamily="18" charset="0"/>
                    <a:sym typeface="+mn-ea"/>
                  </a:rPr>
                  <a:t>时，考虑概率密度函数，例如对于属性条件概率符合正态分布的连续属性，令</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𝑃</m:t>
                    </m:r>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𝑥</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𝑐</m:t>
                    </m:r>
                    <m:r>
                      <a:rPr lang="en-US" altLang="zh-CN" i="1">
                        <a:latin typeface="Cambria Math" panose="02040503050406030204" pitchFamily="18" charset="0"/>
                        <a:cs typeface="Cambria Math" panose="02040503050406030204" pitchFamily="18" charset="0"/>
                        <a:sym typeface="+mn-ea"/>
                      </a:rPr>
                      <m:t>)</m:t>
                    </m:r>
                  </m:oMath>
                </a14:m>
                <a:r>
                  <a:rPr lang="en-US" altLang="zh-CN">
                    <a:latin typeface="Cambria Math" panose="02040503050406030204" pitchFamily="18" charset="0"/>
                    <a:cs typeface="Cambria Math" panose="02040503050406030204" pitchFamily="18" charset="0"/>
                  </a:rPr>
                  <a:t>~</a:t>
                </a:r>
                <a14:m>
                  <m:oMath xmlns:m="http://schemas.openxmlformats.org/officeDocument/2006/math">
                    <m:r>
                      <a:rPr lang="en-US" altLang="zh-CN" i="1">
                        <a:latin typeface="Cambria Math" panose="02040503050406030204" pitchFamily="18" charset="0"/>
                        <a:cs typeface="Cambria Math" panose="02040503050406030204" pitchFamily="18" charset="0"/>
                      </a:rPr>
                      <m:t>𝑁</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𝜇</m:t>
                        </m:r>
                      </m:e>
                      <m:sub>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𝜎</m:t>
                        </m:r>
                      </m:e>
                      <m:sub>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𝑖</m:t>
                        </m:r>
                      </m:sub>
                      <m:sup>
                        <m:r>
                          <a:rPr lang="en-US" altLang="zh-CN" i="1">
                            <a:latin typeface="Cambria Math" panose="02040503050406030204" pitchFamily="18" charset="0"/>
                            <a:cs typeface="Cambria Math" panose="02040503050406030204" pitchFamily="18" charset="0"/>
                          </a:rPr>
                          <m:t>2</m:t>
                        </m:r>
                      </m:sup>
                    </m:sSubSup>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，其中</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𝜇</m:t>
                        </m:r>
                      </m:e>
                      <m:sub>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和</a:t>
                </a:r>
                <a14:m>
                  <m:oMath xmlns:m="http://schemas.openxmlformats.org/officeDocument/2006/math">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𝜎</m:t>
                        </m:r>
                      </m:e>
                      <m:sub>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𝑖</m:t>
                        </m:r>
                      </m:sub>
                      <m:sup>
                        <m:r>
                          <a:rPr lang="en-US" altLang="zh-CN" i="1">
                            <a:latin typeface="Cambria Math" panose="02040503050406030204" pitchFamily="18" charset="0"/>
                            <a:cs typeface="Cambria Math" panose="02040503050406030204" pitchFamily="18" charset="0"/>
                          </a:rPr>
                          <m:t>2</m:t>
                        </m:r>
                      </m:sup>
                    </m:sSubSup>
                  </m:oMath>
                </a14:m>
                <a:r>
                  <a:rPr lang="zh-CN" altLang="en-US">
                    <a:latin typeface="Cambria Math" panose="02040503050406030204" pitchFamily="18" charset="0"/>
                    <a:cs typeface="Cambria Math" panose="02040503050406030204" pitchFamily="18" charset="0"/>
                  </a:rPr>
                  <a:t>分别是第</a:t>
                </a:r>
                <a14:m>
                  <m:oMath xmlns:m="http://schemas.openxmlformats.org/officeDocument/2006/math">
                    <m:r>
                      <a:rPr lang="en-US" altLang="zh-CN" i="1">
                        <a:latin typeface="Cambria Math" panose="02040503050406030204" pitchFamily="18" charset="0"/>
                        <a:cs typeface="Cambria Math" panose="02040503050406030204" pitchFamily="18" charset="0"/>
                      </a:rPr>
                      <m:t>𝑐</m:t>
                    </m:r>
                  </m:oMath>
                </a14:m>
                <a:r>
                  <a:rPr lang="zh-CN" altLang="en-US">
                    <a:latin typeface="Cambria Math" panose="02040503050406030204" pitchFamily="18" charset="0"/>
                    <a:cs typeface="Cambria Math" panose="02040503050406030204" pitchFamily="18" charset="0"/>
                  </a:rPr>
                  <a:t>类样本的第</a:t>
                </a:r>
                <a14:m>
                  <m:oMath xmlns:m="http://schemas.openxmlformats.org/officeDocument/2006/math">
                    <m:r>
                      <a:rPr lang="en-US" altLang="zh-CN" i="1">
                        <a:latin typeface="Cambria Math" panose="02040503050406030204" pitchFamily="18" charset="0"/>
                        <a:cs typeface="Cambria Math" panose="02040503050406030204" pitchFamily="18" charset="0"/>
                      </a:rPr>
                      <m:t>𝑖</m:t>
                    </m:r>
                  </m:oMath>
                </a14:m>
                <a:r>
                  <a:rPr lang="zh-CN" altLang="en-US">
                    <a:latin typeface="Cambria Math" panose="02040503050406030204" pitchFamily="18" charset="0"/>
                    <a:cs typeface="Cambria Math" panose="02040503050406030204" pitchFamily="18" charset="0"/>
                  </a:rPr>
                  <a:t>个属性上取值的均值和方差，则</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连续属性条件概率</a:t>
                </a:r>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pPr algn="l"/>
                <a:endParaRPr lang="zh-CN" altLang="en-US">
                  <a:latin typeface="Cambria Math" panose="02040503050406030204" pitchFamily="18" charset="0"/>
                  <a:cs typeface="Cambria Math" panose="02040503050406030204" pitchFamily="18" charset="0"/>
                </a:endParaRPr>
              </a:p>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1</m:t>
                          </m:r>
                        </m:num>
                        <m:den>
                          <m:rad>
                            <m:radPr>
                              <m:degHide m:val="on"/>
                              <m:ctrlPr>
                                <a:rPr lang="en-US" altLang="zh-CN" i="1">
                                  <a:solidFill>
                                    <a:schemeClr val="tx1"/>
                                  </a:solidFill>
                                  <a:latin typeface="Cambria Math" panose="02040503050406030204" pitchFamily="18" charset="0"/>
                                  <a:cs typeface="Cambria Math" panose="02040503050406030204" pitchFamily="18" charset="0"/>
                                </a:rPr>
                              </m:ctrlPr>
                            </m:radPr>
                            <m:deg/>
                            <m:e>
                              <m:r>
                                <a:rPr lang="en-US" altLang="zh-CN" i="1">
                                  <a:solidFill>
                                    <a:schemeClr val="tx1"/>
                                  </a:solidFill>
                                  <a:latin typeface="Cambria Math" panose="02040503050406030204" pitchFamily="18" charset="0"/>
                                  <a:cs typeface="Cambria Math" panose="02040503050406030204" pitchFamily="18" charset="0"/>
                                </a:rPr>
                                <m:t>2</m:t>
                              </m:r>
                              <m:r>
                                <a:rPr lang="en-US" altLang="zh-CN" i="1">
                                  <a:solidFill>
                                    <a:schemeClr val="tx1"/>
                                  </a:solidFill>
                                  <a:latin typeface="Cambria Math" panose="02040503050406030204" pitchFamily="18" charset="0"/>
                                  <a:cs typeface="Cambria Math" panose="02040503050406030204" pitchFamily="18" charset="0"/>
                                </a:rPr>
                                <m:t>𝜋</m:t>
                              </m:r>
                            </m:e>
                          </m:rad>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r>
                                <a:rPr lang="en-US" altLang="zh-CN" b="1"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𝒊</m:t>
                              </m:r>
                            </m:sub>
                          </m:sSub>
                        </m:den>
                      </m:f>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𝑒</m:t>
                          </m:r>
                        </m:e>
                        <m:sup>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𝑥</m:t>
                                      </m:r>
                                    </m:e>
                                    <m:sub>
                                      <m:r>
                                        <a:rPr lang="en-US" altLang="zh-CN" i="1">
                                          <a:solidFill>
                                            <a:schemeClr val="tx1"/>
                                          </a:solidFill>
                                          <a:latin typeface="Cambria Math" panose="02040503050406030204" pitchFamily="18" charset="0"/>
                                          <a:cs typeface="Cambria Math" panose="02040503050406030204" pitchFamily="18" charset="0"/>
                                        </a:rPr>
                                        <m:t>𝑖</m:t>
                                      </m:r>
                                    </m:sub>
                                  </m:sSub>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r>
                                        <a:rPr lang="en-US" altLang="zh-CN" b="1"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𝒊</m:t>
                                      </m:r>
                                    </m:sub>
                                  </m:sSub>
                                  <m:r>
                                    <a:rPr lang="en-US" altLang="zh-CN" i="1">
                                      <a:solidFill>
                                        <a:schemeClr val="tx1"/>
                                      </a:solidFill>
                                      <a:latin typeface="Cambria Math" panose="02040503050406030204" pitchFamily="18" charset="0"/>
                                      <a:cs typeface="Cambria Math" panose="02040503050406030204" pitchFamily="18" charset="0"/>
                                    </a:rPr>
                                    <m:t>)</m:t>
                                  </m:r>
                                </m:e>
                                <m:sup>
                                  <m:r>
                                    <a:rPr lang="en-US" altLang="zh-CN" i="1">
                                      <a:solidFill>
                                        <a:schemeClr val="tx1"/>
                                      </a:solidFill>
                                      <a:latin typeface="Cambria Math" panose="02040503050406030204" pitchFamily="18" charset="0"/>
                                      <a:cs typeface="Cambria Math" panose="02040503050406030204" pitchFamily="18" charset="0"/>
                                    </a:rPr>
                                    <m:t>2</m:t>
                                  </m:r>
                                </m:sup>
                              </m:sSup>
                            </m:num>
                            <m:den>
                              <m:r>
                                <a:rPr lang="en-US" altLang="zh-CN" i="1">
                                  <a:solidFill>
                                    <a:schemeClr val="tx1"/>
                                  </a:solidFill>
                                  <a:latin typeface="Cambria Math" panose="02040503050406030204" pitchFamily="18" charset="0"/>
                                  <a:cs typeface="Cambria Math" panose="02040503050406030204" pitchFamily="18" charset="0"/>
                                </a:rPr>
                                <m:t>2</m:t>
                              </m:r>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solidFill>
                                        <a:schemeClr val="tx1"/>
                                      </a:solidFill>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r>
                                    <a:rPr lang="en-US" altLang="zh-CN" b="1"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𝒊</m:t>
                                  </m:r>
                                </m:sub>
                                <m:sup>
                                  <m:r>
                                    <a:rPr lang="en-US" altLang="zh-CN" b="1" i="1">
                                      <a:solidFill>
                                        <a:schemeClr val="tx1"/>
                                      </a:solidFill>
                                      <a:latin typeface="Cambria Math" panose="02040503050406030204" pitchFamily="18" charset="0"/>
                                      <a:cs typeface="Cambria Math" panose="02040503050406030204" pitchFamily="18" charset="0"/>
                                    </a:rPr>
                                    <m:t>𝟐</m:t>
                                  </m:r>
                                </m:sup>
                              </m:sSubSup>
                            </m:den>
                          </m:f>
                        </m:sup>
                      </m:sSup>
                    </m:oMath>
                  </m:oMathPara>
                </a14:m>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18770" y="1242060"/>
                <a:ext cx="11304905" cy="5155565"/>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朴素贝叶斯分类器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294005" y="1242060"/>
            <a:ext cx="10587355" cy="368300"/>
          </a:xfrm>
          <a:prstGeom prst="rect">
            <a:avLst/>
          </a:prstGeom>
          <a:noFill/>
        </p:spPr>
        <p:txBody>
          <a:bodyPr wrap="square" rtlCol="0">
            <a:spAutoFit/>
          </a:bodyPr>
          <a:p>
            <a:r>
              <a:rPr lang="zh-CN" altLang="en-US"/>
              <a:t>例子：根据西瓜数据集训练一个朴素贝叶斯分类器，并对测试示例进行分类</a:t>
            </a:r>
            <a:endParaRPr lang="zh-CN" altLang="en-US"/>
          </a:p>
        </p:txBody>
      </p:sp>
      <p:pic>
        <p:nvPicPr>
          <p:cNvPr id="6" name="图片 5" descr="西瓜数据3"/>
          <p:cNvPicPr>
            <a:picLocks noChangeAspect="1"/>
          </p:cNvPicPr>
          <p:nvPr/>
        </p:nvPicPr>
        <p:blipFill>
          <a:blip r:embed="rId1"/>
          <a:stretch>
            <a:fillRect/>
          </a:stretch>
        </p:blipFill>
        <p:spPr>
          <a:xfrm>
            <a:off x="294005" y="2083435"/>
            <a:ext cx="5861050" cy="4095750"/>
          </a:xfrm>
          <a:prstGeom prst="rect">
            <a:avLst/>
          </a:prstGeom>
        </p:spPr>
      </p:pic>
      <p:pic>
        <p:nvPicPr>
          <p:cNvPr id="7" name="图片 6"/>
          <p:cNvPicPr>
            <a:picLocks noChangeAspect="1"/>
          </p:cNvPicPr>
          <p:nvPr>
            <p:custDataLst>
              <p:tags r:id="rId2"/>
            </p:custDataLst>
          </p:nvPr>
        </p:nvPicPr>
        <p:blipFill>
          <a:blip r:embed="rId3"/>
          <a:stretch>
            <a:fillRect/>
          </a:stretch>
        </p:blipFill>
        <p:spPr>
          <a:xfrm>
            <a:off x="6673215" y="3843655"/>
            <a:ext cx="4950460" cy="575310"/>
          </a:xfrm>
          <a:prstGeom prst="rect">
            <a:avLst/>
          </a:prstGeom>
        </p:spPr>
      </p:pic>
      <mc:AlternateContent xmlns:mc="http://schemas.openxmlformats.org/markup-compatibility/2006">
        <mc:Choice xmlns:a14="http://schemas.microsoft.com/office/drawing/2010/main" Requires="a14">
          <p:sp>
            <p:nvSpPr>
              <p:cNvPr id="8" name="文本框 7"/>
              <p:cNvSpPr txBox="1"/>
              <p:nvPr/>
            </p:nvSpPr>
            <p:spPr>
              <a:xfrm>
                <a:off x="2704465" y="6179185"/>
                <a:ext cx="1040765" cy="368300"/>
              </a:xfrm>
              <a:prstGeom prst="rect">
                <a:avLst/>
              </a:prstGeom>
              <a:noFill/>
            </p:spPr>
            <p:txBody>
              <a:bodyPr wrap="square" rtlCol="0">
                <a:spAutoFit/>
              </a:bodyPr>
              <a:p>
                <a:r>
                  <a:rPr lang="zh-CN" altLang="en-US"/>
                  <a:t>训练集</a:t>
                </a:r>
                <a14:m>
                  <m:oMath xmlns:m="http://schemas.openxmlformats.org/officeDocument/2006/math">
                    <m:r>
                      <a:rPr lang="en-US" altLang="zh-CN" i="1">
                        <a:latin typeface="Cambria Math" panose="02040503050406030204" pitchFamily="18" charset="0"/>
                        <a:cs typeface="Cambria Math" panose="02040503050406030204" pitchFamily="18" charset="0"/>
                      </a:rPr>
                      <m:t>𝐷</m:t>
                    </m:r>
                  </m:oMath>
                </a14:m>
                <a:endParaRPr lang="zh-CN" altLang="en-US"/>
              </a:p>
            </p:txBody>
          </p:sp>
        </mc:Choice>
        <mc:Fallback>
          <p:sp>
            <p:nvSpPr>
              <p:cNvPr id="8" name="文本框 7"/>
              <p:cNvSpPr txBox="1">
                <a:spLocks noRot="1" noChangeAspect="1" noMove="1" noResize="1" noEditPoints="1" noAdjustHandles="1" noChangeArrowheads="1" noChangeShapeType="1" noTextEdit="1"/>
              </p:cNvSpPr>
              <p:nvPr/>
            </p:nvSpPr>
            <p:spPr>
              <a:xfrm>
                <a:off x="2704465" y="6179185"/>
                <a:ext cx="1040765" cy="36830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8538781" y="4419219"/>
                <a:ext cx="1219200" cy="368300"/>
              </a:xfrm>
              <a:prstGeom prst="rect">
                <a:avLst/>
              </a:prstGeom>
              <a:noFill/>
            </p:spPr>
            <p:txBody>
              <a:bodyPr wrap="none" rtlCol="0" anchor="t">
                <a:spAutoFit/>
              </a:bodyPr>
              <a:p>
                <a:pPr algn="l"/>
                <a:r>
                  <a:rPr lang="zh-CN" altLang="en-US"/>
                  <a:t>测试示例</a:t>
                </a:r>
                <a14:m>
                  <m:oMath xmlns:m="http://schemas.openxmlformats.org/officeDocument/2006/math">
                    <m:r>
                      <a:rPr lang="en-US" altLang="zh-CN" b="1" i="1">
                        <a:latin typeface="Cambria Math" panose="02040503050406030204" pitchFamily="18" charset="0"/>
                        <a:cs typeface="Cambria Math" panose="02040503050406030204" pitchFamily="18" charset="0"/>
                      </a:rPr>
                      <m:t>𝒙</m:t>
                    </m:r>
                  </m:oMath>
                </a14:m>
                <a:endParaRPr lang="zh-CN" altLang="en-US" b="1"/>
              </a:p>
            </p:txBody>
          </p:sp>
        </mc:Choice>
        <mc:Fallback>
          <p:sp>
            <p:nvSpPr>
              <p:cNvPr id="9" name="文本框 8"/>
              <p:cNvSpPr txBox="1">
                <a:spLocks noRot="1" noChangeAspect="1" noMove="1" noResize="1" noEditPoints="1" noAdjustHandles="1" noChangeArrowheads="1" noChangeShapeType="1" noTextEdit="1"/>
              </p:cNvSpPr>
              <p:nvPr/>
            </p:nvSpPr>
            <p:spPr>
              <a:xfrm>
                <a:off x="8538781" y="4419219"/>
                <a:ext cx="1219200" cy="368300"/>
              </a:xfrm>
              <a:prstGeom prst="rect">
                <a:avLst/>
              </a:prstGeom>
              <a:blipFill rotWithShape="1">
                <a:blip r:embed="rId5"/>
                <a:stretch>
                  <a:fillRect l="-47" t="-69" r="47" b="69"/>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朴素贝叶斯分类器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294005" y="1209040"/>
                <a:ext cx="11324590" cy="5266690"/>
              </a:xfrm>
              <a:prstGeom prst="rect">
                <a:avLst/>
              </a:prstGeom>
              <a:noFill/>
            </p:spPr>
            <p:txBody>
              <a:bodyPr wrap="square" rtlCol="0">
                <a:spAutoFit/>
              </a:bodyPr>
              <a:p>
                <a:r>
                  <a:rPr lang="en-US" altLang="zh-CN"/>
                  <a:t>1</a:t>
                </a:r>
                <a:r>
                  <a:rPr lang="zh-CN" altLang="en-US"/>
                  <a:t>）估计类先验概率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r>
                  <a:rPr lang="zh-CN" altLang="en-US"/>
                  <a:t>：</a:t>
                </a:r>
                <a:endParaRPr lang="zh-CN" altLang="en-US"/>
              </a:p>
              <a:p>
                <a:endParaRPr lang="zh-CN" altLang="en-US"/>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(好瓜=是)=</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8</m:t>
                          </m:r>
                        </m:num>
                        <m:den>
                          <m:r>
                            <a:rPr lang="en-US" altLang="zh-CN" i="1">
                              <a:latin typeface="Cambria Math" panose="02040503050406030204" pitchFamily="18" charset="0"/>
                              <a:cs typeface="Cambria Math" panose="02040503050406030204" pitchFamily="18" charset="0"/>
                            </a:rPr>
                            <m:t>17</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471</m:t>
                      </m:r>
                    </m:oMath>
                  </m:oMathPara>
                </a14:m>
                <a:endParaRPr lang="en-US" altLang="zh-CN" i="1">
                  <a:latin typeface="Cambria Math" panose="02040503050406030204" pitchFamily="18" charset="0"/>
                  <a:cs typeface="Cambria Math" panose="02040503050406030204" pitchFamily="18" charset="0"/>
                </a:endParaRPr>
              </a:p>
              <a:p>
                <a:endParaRPr lang="en-US" altLang="zh-CN" i="1">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(好瓜=否)=</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9</m:t>
                          </m:r>
                        </m:num>
                        <m:den>
                          <m:r>
                            <a:rPr lang="en-US" altLang="zh-CN" i="1">
                              <a:latin typeface="Cambria Math" panose="02040503050406030204" pitchFamily="18" charset="0"/>
                              <a:cs typeface="Cambria Math" panose="02040503050406030204" pitchFamily="18" charset="0"/>
                            </a:rPr>
                            <m:t>17</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529</m:t>
                      </m:r>
                    </m:oMath>
                  </m:oMathPara>
                </a14:m>
                <a:endParaRPr lang="en-US" altLang="zh-CN" i="1">
                  <a:latin typeface="Cambria Math" panose="02040503050406030204" pitchFamily="18" charset="0"/>
                  <a:cs typeface="Cambria Math" panose="02040503050406030204" pitchFamily="18" charset="0"/>
                </a:endParaRPr>
              </a:p>
              <a:p>
                <a:endParaRPr lang="zh-CN" altLang="en-US"/>
              </a:p>
              <a:p>
                <a:r>
                  <a:rPr lang="en-US" altLang="zh-CN"/>
                  <a:t>2</a:t>
                </a:r>
                <a:r>
                  <a:rPr lang="zh-CN" altLang="en-US"/>
                  <a:t>）为每个属性估计条件概率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oMath>
                </a14:m>
                <a:r>
                  <a:rPr lang="en-US" altLang="zh-CN"/>
                  <a:t>:</a:t>
                </a:r>
                <a:endParaRPr lang="en-US" altLang="zh-CN"/>
              </a:p>
              <a:p>
                <a:endParaRPr lang="en-US" altLang="zh-CN"/>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(色泽=青绿|好瓜=是)=</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3</m:t>
                          </m:r>
                        </m:num>
                        <m:den>
                          <m:r>
                            <a:rPr lang="en-US" altLang="zh-CN" i="1">
                              <a:latin typeface="Cambria Math" panose="02040503050406030204" pitchFamily="18" charset="0"/>
                              <a:cs typeface="Cambria Math" panose="02040503050406030204" pitchFamily="18" charset="0"/>
                            </a:rPr>
                            <m:t>8</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375</m:t>
                      </m:r>
                    </m:oMath>
                  </m:oMathPara>
                </a14:m>
                <a:endParaRPr lang="en-US" altLang="zh-CN" i="1">
                  <a:latin typeface="Cambria Math" panose="02040503050406030204" pitchFamily="18" charset="0"/>
                  <a:cs typeface="Cambria Math" panose="02040503050406030204" pitchFamily="18" charset="0"/>
                </a:endParaRPr>
              </a:p>
              <a:p>
                <a:pPr>
                  <a:lnSpc>
                    <a:spcPct val="50000"/>
                  </a:lnSpc>
                </a:pPr>
                <a:endParaRPr lang="en-US" altLang="zh-CN"/>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(色泽=青绿|好瓜=否)=</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3</m:t>
                          </m:r>
                        </m:num>
                        <m:den>
                          <m:r>
                            <a:rPr lang="en-US" altLang="zh-CN" i="1">
                              <a:latin typeface="Cambria Math" panose="02040503050406030204" pitchFamily="18" charset="0"/>
                              <a:cs typeface="Cambria Math" panose="02040503050406030204" pitchFamily="18" charset="0"/>
                            </a:rPr>
                            <m:t>9</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333</m:t>
                      </m:r>
                    </m:oMath>
                  </m:oMathPara>
                </a14:m>
                <a:endParaRPr lang="en-US" altLang="zh-CN"/>
              </a:p>
              <a:p>
                <a:pPr>
                  <a:lnSpc>
                    <a:spcPct val="50000"/>
                  </a:lnSpc>
                </a:pPr>
                <a:endParaRPr lang="en-US" altLang="zh-CN"/>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(根蒂=蜷缩|好瓜=是)=</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5</m:t>
                          </m:r>
                        </m:num>
                        <m:den>
                          <m:r>
                            <a:rPr lang="en-US" altLang="zh-CN" i="1">
                              <a:latin typeface="Cambria Math" panose="02040503050406030204" pitchFamily="18" charset="0"/>
                              <a:cs typeface="Cambria Math" panose="02040503050406030204" pitchFamily="18" charset="0"/>
                            </a:rPr>
                            <m:t>8</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62</m:t>
                      </m:r>
                      <m:r>
                        <a:rPr lang="en-US" altLang="zh-CN" i="1">
                          <a:latin typeface="Cambria Math" panose="02040503050406030204" pitchFamily="18" charset="0"/>
                          <a:cs typeface="Cambria Math" panose="02040503050406030204" pitchFamily="18" charset="0"/>
                        </a:rPr>
                        <m:t>5</m:t>
                      </m:r>
                    </m:oMath>
                  </m:oMathPara>
                </a14:m>
                <a:endParaRPr lang="en-US" altLang="zh-CN"/>
              </a:p>
              <a:p>
                <a:pPr>
                  <a:lnSpc>
                    <a:spcPct val="50000"/>
                  </a:lnSpc>
                </a:pPr>
                <a:endParaRPr lang="en-US" altLang="zh-CN"/>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根蒂=蜷缩|好瓜=否)=</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3</m:t>
                          </m:r>
                        </m:num>
                        <m:den>
                          <m:r>
                            <a:rPr lang="en-US" altLang="zh-CN" i="1">
                              <a:latin typeface="Cambria Math" panose="02040503050406030204" pitchFamily="18" charset="0"/>
                              <a:cs typeface="Cambria Math" panose="02040503050406030204" pitchFamily="18" charset="0"/>
                            </a:rPr>
                            <m:t>9</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333</m:t>
                      </m:r>
                    </m:oMath>
                  </m:oMathPara>
                </a14:m>
                <a:endParaRPr lang="en-US" altLang="zh-CN"/>
              </a:p>
            </p:txBody>
          </p:sp>
        </mc:Choice>
        <mc:Fallback>
          <p:sp>
            <p:nvSpPr>
              <p:cNvPr id="5" name="文本框 4"/>
              <p:cNvSpPr txBox="1">
                <a:spLocks noRot="1" noChangeAspect="1" noMove="1" noResize="1" noEditPoints="1" noAdjustHandles="1" noChangeArrowheads="1" noChangeShapeType="1" noTextEdit="1"/>
              </p:cNvSpPr>
              <p:nvPr/>
            </p:nvSpPr>
            <p:spPr>
              <a:xfrm>
                <a:off x="294005" y="1209040"/>
                <a:ext cx="11324590" cy="526669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朴素贝叶斯分类器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419735" y="1137920"/>
                <a:ext cx="4704715" cy="545782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敲声</m:t>
                      </m:r>
                      <m:r>
                        <a:rPr lang="en-US" altLang="zh-CN" i="1">
                          <a:latin typeface="Cambria Math" panose="02040503050406030204" pitchFamily="18" charset="0"/>
                          <a:cs typeface="Cambria Math" panose="02040503050406030204" pitchFamily="18" charset="0"/>
                        </a:rPr>
                        <m:t>=浊响|好瓜=是)=</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6</m:t>
                          </m:r>
                        </m:num>
                        <m:den>
                          <m:r>
                            <a:rPr lang="en-US" altLang="zh-CN" i="1">
                              <a:latin typeface="Cambria Math" panose="02040503050406030204" pitchFamily="18" charset="0"/>
                              <a:cs typeface="Cambria Math" panose="02040503050406030204" pitchFamily="18" charset="0"/>
                            </a:rPr>
                            <m:t>8</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750</m:t>
                      </m:r>
                    </m:oMath>
                  </m:oMathPara>
                </a14:m>
                <a:endParaRPr lang="en-US" altLang="zh-CN" i="1">
                  <a:latin typeface="Cambria Math" panose="02040503050406030204" pitchFamily="18" charset="0"/>
                  <a:cs typeface="Cambria Math" panose="02040503050406030204" pitchFamily="18" charset="0"/>
                </a:endParaRPr>
              </a:p>
              <a:p>
                <a:pPr>
                  <a:lnSpc>
                    <a:spcPct val="50000"/>
                  </a:lnSpc>
                </a:pPr>
                <a:endParaRPr lang="en-US" altLang="zh-CN"/>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(敲声=</m:t>
                      </m:r>
                      <m:r>
                        <a:rPr lang="en-US" altLang="zh-CN" i="1">
                          <a:latin typeface="Cambria Math" panose="02040503050406030204" pitchFamily="18" charset="0"/>
                          <a:cs typeface="Cambria Math" panose="02040503050406030204" pitchFamily="18" charset="0"/>
                        </a:rPr>
                        <m:t>浊响|好瓜=否)=</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4</m:t>
                          </m:r>
                        </m:num>
                        <m:den>
                          <m:r>
                            <a:rPr lang="en-US" altLang="zh-CN" i="1">
                              <a:latin typeface="Cambria Math" panose="02040503050406030204" pitchFamily="18" charset="0"/>
                              <a:cs typeface="Cambria Math" panose="02040503050406030204" pitchFamily="18" charset="0"/>
                            </a:rPr>
                            <m:t>9</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444</m:t>
                      </m:r>
                    </m:oMath>
                  </m:oMathPara>
                </a14:m>
                <a:endParaRPr lang="en-US" altLang="zh-CN"/>
              </a:p>
              <a:p>
                <a:pPr>
                  <a:lnSpc>
                    <a:spcPct val="50000"/>
                  </a:lnSpc>
                </a:pPr>
                <a:endParaRPr lang="en-US" altLang="zh-CN"/>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(纹理=清晰|好瓜=是)=</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7</m:t>
                          </m:r>
                        </m:num>
                        <m:den>
                          <m:r>
                            <a:rPr lang="en-US" altLang="zh-CN" i="1">
                              <a:latin typeface="Cambria Math" panose="02040503050406030204" pitchFamily="18" charset="0"/>
                              <a:cs typeface="Cambria Math" panose="02040503050406030204" pitchFamily="18" charset="0"/>
                            </a:rPr>
                            <m:t>8</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875</m:t>
                      </m:r>
                    </m:oMath>
                  </m:oMathPara>
                </a14:m>
                <a:endParaRPr lang="en-US" altLang="zh-CN"/>
              </a:p>
              <a:p>
                <a:pPr>
                  <a:lnSpc>
                    <a:spcPct val="50000"/>
                  </a:lnSpc>
                </a:pPr>
                <a:endParaRPr lang="en-US" altLang="zh-CN"/>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(纹理=</m:t>
                      </m:r>
                      <m:r>
                        <a:rPr lang="en-US" altLang="zh-CN" i="1">
                          <a:latin typeface="Cambria Math" panose="02040503050406030204" pitchFamily="18" charset="0"/>
                          <a:cs typeface="Cambria Math" panose="02040503050406030204" pitchFamily="18" charset="0"/>
                        </a:rPr>
                        <m:t>清晰|好瓜=否)=</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2</m:t>
                          </m:r>
                        </m:num>
                        <m:den>
                          <m:r>
                            <a:rPr lang="en-US" altLang="zh-CN" i="1">
                              <a:latin typeface="Cambria Math" panose="02040503050406030204" pitchFamily="18" charset="0"/>
                              <a:cs typeface="Cambria Math" panose="02040503050406030204" pitchFamily="18" charset="0"/>
                            </a:rPr>
                            <m:t>9</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222</m:t>
                      </m:r>
                    </m:oMath>
                  </m:oMathPara>
                </a14:m>
                <a:endParaRPr lang="en-US" altLang="zh-CN" i="1">
                  <a:latin typeface="Cambria Math" panose="02040503050406030204" pitchFamily="18" charset="0"/>
                  <a:cs typeface="Cambria Math" panose="02040503050406030204" pitchFamily="18" charset="0"/>
                </a:endParaRPr>
              </a:p>
              <a:p>
                <a:pPr>
                  <a:lnSpc>
                    <a:spcPct val="50000"/>
                  </a:lnSpc>
                </a:pPr>
                <a:endParaRPr lang="en-US" altLang="zh-CN" i="1">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(脐部=凹陷|好瓜=是)=</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6</m:t>
                          </m:r>
                        </m:num>
                        <m:den>
                          <m:r>
                            <a:rPr lang="en-US" altLang="zh-CN" i="1">
                              <a:latin typeface="Cambria Math" panose="02040503050406030204" pitchFamily="18" charset="0"/>
                              <a:cs typeface="Cambria Math" panose="02040503050406030204" pitchFamily="18" charset="0"/>
                            </a:rPr>
                            <m:t>8</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750</m:t>
                      </m:r>
                    </m:oMath>
                  </m:oMathPara>
                </a14:m>
                <a:endParaRPr lang="en-US" altLang="zh-CN" i="1">
                  <a:latin typeface="Cambria Math" panose="02040503050406030204" pitchFamily="18" charset="0"/>
                  <a:cs typeface="Cambria Math" panose="02040503050406030204" pitchFamily="18" charset="0"/>
                </a:endParaRPr>
              </a:p>
              <a:p>
                <a:pPr>
                  <a:lnSpc>
                    <a:spcPct val="50000"/>
                  </a:lnSpc>
                </a:pPr>
                <a:endParaRPr lang="en-US" altLang="zh-CN"/>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(脐部=</m:t>
                      </m:r>
                      <m:r>
                        <a:rPr lang="en-US" altLang="zh-CN" i="1">
                          <a:latin typeface="Cambria Math" panose="02040503050406030204" pitchFamily="18" charset="0"/>
                          <a:cs typeface="Cambria Math" panose="02040503050406030204" pitchFamily="18" charset="0"/>
                        </a:rPr>
                        <m:t>凹陷|好瓜=否)=</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2</m:t>
                          </m:r>
                        </m:num>
                        <m:den>
                          <m:r>
                            <a:rPr lang="en-US" altLang="zh-CN" i="1">
                              <a:latin typeface="Cambria Math" panose="02040503050406030204" pitchFamily="18" charset="0"/>
                              <a:cs typeface="Cambria Math" panose="02040503050406030204" pitchFamily="18" charset="0"/>
                            </a:rPr>
                            <m:t>9</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222</m:t>
                      </m:r>
                    </m:oMath>
                  </m:oMathPara>
                </a14:m>
                <a:endParaRPr lang="en-US" altLang="zh-CN"/>
              </a:p>
              <a:p>
                <a:pPr>
                  <a:lnSpc>
                    <a:spcPct val="50000"/>
                  </a:lnSpc>
                </a:pPr>
                <a:endParaRPr lang="en-US" altLang="zh-CN"/>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(触感=硬滑|好瓜=是)=</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6</m:t>
                          </m:r>
                        </m:num>
                        <m:den>
                          <m:r>
                            <a:rPr lang="en-US" altLang="zh-CN" i="1">
                              <a:latin typeface="Cambria Math" panose="02040503050406030204" pitchFamily="18" charset="0"/>
                              <a:cs typeface="Cambria Math" panose="02040503050406030204" pitchFamily="18" charset="0"/>
                            </a:rPr>
                            <m:t>8</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750</m:t>
                      </m:r>
                    </m:oMath>
                  </m:oMathPara>
                </a14:m>
                <a:endParaRPr lang="en-US" altLang="zh-CN"/>
              </a:p>
              <a:p>
                <a:pPr>
                  <a:lnSpc>
                    <a:spcPct val="50000"/>
                  </a:lnSpc>
                </a:pPr>
                <a:endParaRPr lang="en-US" altLang="zh-CN"/>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(触感=</m:t>
                      </m:r>
                      <m:r>
                        <a:rPr lang="en-US" altLang="zh-CN" i="1">
                          <a:latin typeface="Cambria Math" panose="02040503050406030204" pitchFamily="18" charset="0"/>
                          <a:cs typeface="Cambria Math" panose="02040503050406030204" pitchFamily="18" charset="0"/>
                        </a:rPr>
                        <m:t>硬滑|好瓜=否)=</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6</m:t>
                          </m:r>
                        </m:num>
                        <m:den>
                          <m:r>
                            <a:rPr lang="en-US" altLang="zh-CN" i="1">
                              <a:latin typeface="Cambria Math" panose="02040503050406030204" pitchFamily="18" charset="0"/>
                              <a:cs typeface="Cambria Math" panose="02040503050406030204" pitchFamily="18" charset="0"/>
                            </a:rPr>
                            <m:t>9</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667</m:t>
                      </m:r>
                    </m:oMath>
                  </m:oMathPara>
                </a14:m>
                <a:endParaRPr lang="en-US" altLang="zh-CN" i="1">
                  <a:latin typeface="Cambria Math" panose="02040503050406030204" pitchFamily="18" charset="0"/>
                  <a:cs typeface="Cambria Math" panose="02040503050406030204" pitchFamily="18" charset="0"/>
                </a:endParaRPr>
              </a:p>
              <a:p>
                <a:endParaRPr lang="en-US" altLang="zh-CN" i="1">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419735" y="1137920"/>
                <a:ext cx="4704715" cy="545782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custDataLst>
                  <p:tags r:id="rId2"/>
                </p:custDataLst>
              </p:nvPr>
            </p:nvSpPr>
            <p:spPr>
              <a:xfrm>
                <a:off x="5721985" y="1354455"/>
                <a:ext cx="4704715" cy="414909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(密度=</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697</m:t>
                      </m:r>
                      <m:r>
                        <a:rPr lang="en-US" altLang="zh-CN" i="1">
                          <a:latin typeface="Cambria Math" panose="02040503050406030204" pitchFamily="18" charset="0"/>
                          <a:cs typeface="Cambria Math" panose="02040503050406030204" pitchFamily="18" charset="0"/>
                        </a:rPr>
                        <m:t>|好瓜=是)=</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ad>
                            <m:radPr>
                              <m:degHide m:val="on"/>
                              <m:ctrlPr>
                                <a:rPr lang="en-US" altLang="zh-CN" i="1">
                                  <a:latin typeface="Cambria Math" panose="02040503050406030204" pitchFamily="18" charset="0"/>
                                  <a:cs typeface="Cambria Math" panose="02040503050406030204" pitchFamily="18" charset="0"/>
                                </a:rPr>
                              </m:ctrlPr>
                            </m:radPr>
                            <m:deg/>
                            <m:e>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𝜋</m:t>
                              </m:r>
                            </m:e>
                          </m:rad>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129</m:t>
                          </m:r>
                        </m:den>
                      </m:f>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𝑒</m:t>
                          </m:r>
                        </m:e>
                        <m: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697</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574</m:t>
                                  </m:r>
                                  <m:r>
                                    <a:rPr lang="en-US" altLang="zh-CN" i="1">
                                      <a:latin typeface="Cambria Math" panose="02040503050406030204" pitchFamily="18" charset="0"/>
                                      <a:cs typeface="Cambria Math" panose="02040503050406030204" pitchFamily="18" charset="0"/>
                                    </a:rPr>
                                    <m:t>)</m:t>
                                  </m:r>
                                </m:e>
                                <m:sup>
                                  <m:r>
                                    <a:rPr lang="en-US" altLang="zh-CN" i="1">
                                      <a:latin typeface="Cambria Math" panose="02040503050406030204" pitchFamily="18" charset="0"/>
                                      <a:cs typeface="Cambria Math" panose="02040503050406030204" pitchFamily="18" charset="0"/>
                                    </a:rPr>
                                    <m:t>2</m:t>
                                  </m:r>
                                </m:sup>
                              </m:sSup>
                            </m:num>
                            <m:den>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129</m:t>
                                  </m:r>
                                </m:e>
                                <m:sup>
                                  <m:r>
                                    <a:rPr lang="en-US" altLang="zh-CN" i="1">
                                      <a:latin typeface="Cambria Math" panose="02040503050406030204" pitchFamily="18" charset="0"/>
                                      <a:cs typeface="Cambria Math" panose="02040503050406030204" pitchFamily="18" charset="0"/>
                                    </a:rPr>
                                    <m:t>2</m:t>
                                  </m:r>
                                </m:sup>
                              </m:sSup>
                            </m:den>
                          </m:f>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959</m:t>
                      </m:r>
                    </m:oMath>
                  </m:oMathPara>
                </a14:m>
                <a:endParaRPr lang="en-US" altLang="zh-CN" i="1">
                  <a:latin typeface="Cambria Math" panose="02040503050406030204" pitchFamily="18" charset="0"/>
                  <a:cs typeface="Cambria Math" panose="02040503050406030204" pitchFamily="18" charset="0"/>
                </a:endParaRPr>
              </a:p>
              <a:p>
                <a:pPr>
                  <a:lnSpc>
                    <a:spcPct val="50000"/>
                  </a:lnSpc>
                </a:pPr>
                <a:endParaRPr lang="en-US" altLang="zh-CN"/>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(密度=</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697</m:t>
                      </m:r>
                      <m:r>
                        <a:rPr lang="en-US" altLang="zh-CN" i="1">
                          <a:latin typeface="Cambria Math" panose="02040503050406030204" pitchFamily="18" charset="0"/>
                          <a:cs typeface="Cambria Math" panose="02040503050406030204" pitchFamily="18" charset="0"/>
                        </a:rPr>
                        <m:t>|好瓜=否)=</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ad>
                            <m:radPr>
                              <m:degHide m:val="on"/>
                              <m:ctrlPr>
                                <a:rPr lang="en-US" altLang="zh-CN" i="1">
                                  <a:latin typeface="Cambria Math" panose="02040503050406030204" pitchFamily="18" charset="0"/>
                                  <a:cs typeface="Cambria Math" panose="02040503050406030204" pitchFamily="18" charset="0"/>
                                </a:rPr>
                              </m:ctrlPr>
                            </m:radPr>
                            <m:deg/>
                            <m:e>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𝜋</m:t>
                              </m:r>
                            </m:e>
                          </m:rad>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195</m:t>
                          </m:r>
                        </m:den>
                      </m:f>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𝑒</m:t>
                          </m:r>
                        </m:e>
                        <m:sup>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697</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496</m:t>
                                  </m:r>
                                  <m:r>
                                    <a:rPr lang="en-US" altLang="zh-CN" i="1">
                                      <a:latin typeface="Cambria Math" panose="02040503050406030204" pitchFamily="18" charset="0"/>
                                      <a:cs typeface="Cambria Math" panose="02040503050406030204" pitchFamily="18" charset="0"/>
                                    </a:rPr>
                                    <m:t>)</m:t>
                                  </m:r>
                                </m:e>
                                <m:sup>
                                  <m:r>
                                    <a:rPr lang="en-US" altLang="zh-CN" i="1">
                                      <a:latin typeface="Cambria Math" panose="02040503050406030204" pitchFamily="18" charset="0"/>
                                      <a:cs typeface="Cambria Math" panose="02040503050406030204" pitchFamily="18" charset="0"/>
                                    </a:rPr>
                                    <m:t>2</m:t>
                                  </m:r>
                                </m:sup>
                              </m:sSup>
                            </m:num>
                            <m:den>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195</m:t>
                                  </m:r>
                                </m:e>
                                <m:sup>
                                  <m:r>
                                    <a:rPr lang="en-US" altLang="zh-CN" i="1">
                                      <a:latin typeface="Cambria Math" panose="02040503050406030204" pitchFamily="18" charset="0"/>
                                      <a:cs typeface="Cambria Math" panose="02040503050406030204" pitchFamily="18" charset="0"/>
                                    </a:rPr>
                                    <m:t>2</m:t>
                                  </m:r>
                                </m:sup>
                              </m:sSup>
                            </m:den>
                          </m:f>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203</m:t>
                      </m:r>
                    </m:oMath>
                  </m:oMathPara>
                </a14:m>
                <a:endParaRPr lang="en-US" altLang="zh-CN"/>
              </a:p>
              <a:p>
                <a:pPr>
                  <a:lnSpc>
                    <a:spcPct val="50000"/>
                  </a:lnSpc>
                </a:pPr>
                <a:endParaRPr lang="en-US" altLang="zh-CN"/>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(含糖量=</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460</m:t>
                      </m:r>
                      <m:r>
                        <a:rPr lang="en-US" altLang="zh-CN" i="1">
                          <a:latin typeface="Cambria Math" panose="02040503050406030204" pitchFamily="18" charset="0"/>
                          <a:cs typeface="Cambria Math" panose="02040503050406030204" pitchFamily="18" charset="0"/>
                        </a:rPr>
                        <m:t>|好瓜=是)=</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ad>
                            <m:radPr>
                              <m:degHide m:val="on"/>
                              <m:ctrlPr>
                                <a:rPr lang="en-US" altLang="zh-CN" i="1">
                                  <a:latin typeface="Cambria Math" panose="02040503050406030204" pitchFamily="18" charset="0"/>
                                  <a:cs typeface="Cambria Math" panose="02040503050406030204" pitchFamily="18" charset="0"/>
                                </a:rPr>
                              </m:ctrlPr>
                            </m:radPr>
                            <m:deg/>
                            <m:e>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𝜋</m:t>
                              </m:r>
                            </m:e>
                          </m:rad>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101</m:t>
                          </m:r>
                        </m:den>
                      </m:f>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𝑒</m:t>
                          </m:r>
                        </m:e>
                        <m:sup>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460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279</m:t>
                                  </m:r>
                                  <m:r>
                                    <a:rPr lang="en-US" altLang="zh-CN" i="1">
                                      <a:latin typeface="Cambria Math" panose="02040503050406030204" pitchFamily="18" charset="0"/>
                                      <a:cs typeface="Cambria Math" panose="02040503050406030204" pitchFamily="18" charset="0"/>
                                    </a:rPr>
                                    <m:t>)</m:t>
                                  </m:r>
                                </m:e>
                                <m:sup>
                                  <m:r>
                                    <a:rPr lang="en-US" altLang="zh-CN" i="1">
                                      <a:latin typeface="Cambria Math" panose="02040503050406030204" pitchFamily="18" charset="0"/>
                                      <a:cs typeface="Cambria Math" panose="02040503050406030204" pitchFamily="18" charset="0"/>
                                    </a:rPr>
                                    <m:t>2</m:t>
                                  </m:r>
                                </m:sup>
                              </m:sSup>
                            </m:num>
                            <m:den>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101</m:t>
                                  </m:r>
                                </m:e>
                                <m:sup>
                                  <m:r>
                                    <a:rPr lang="en-US" altLang="zh-CN" i="1">
                                      <a:latin typeface="Cambria Math" panose="02040503050406030204" pitchFamily="18" charset="0"/>
                                      <a:cs typeface="Cambria Math" panose="02040503050406030204" pitchFamily="18" charset="0"/>
                                    </a:rPr>
                                    <m:t>2</m:t>
                                  </m:r>
                                </m:sup>
                              </m:sSup>
                            </m:den>
                          </m:f>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788</m:t>
                      </m:r>
                    </m:oMath>
                  </m:oMathPara>
                </a14:m>
                <a:endParaRPr lang="en-US" altLang="zh-CN"/>
              </a:p>
              <a:p>
                <a:pPr>
                  <a:lnSpc>
                    <a:spcPct val="50000"/>
                  </a:lnSpc>
                </a:pPr>
                <a:endParaRPr lang="en-US" altLang="zh-CN"/>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(含糖量=</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460</m:t>
                      </m:r>
                      <m:r>
                        <a:rPr lang="en-US" altLang="zh-CN" i="1">
                          <a:latin typeface="Cambria Math" panose="02040503050406030204" pitchFamily="18" charset="0"/>
                          <a:cs typeface="Cambria Math" panose="02040503050406030204" pitchFamily="18" charset="0"/>
                        </a:rPr>
                        <m:t>|好瓜=否)=</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ad>
                            <m:radPr>
                              <m:degHide m:val="on"/>
                              <m:ctrlPr>
                                <a:rPr lang="en-US" altLang="zh-CN" i="1">
                                  <a:latin typeface="Cambria Math" panose="02040503050406030204" pitchFamily="18" charset="0"/>
                                  <a:cs typeface="Cambria Math" panose="02040503050406030204" pitchFamily="18" charset="0"/>
                                </a:rPr>
                              </m:ctrlPr>
                            </m:radPr>
                            <m:deg/>
                            <m:e>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𝜋</m:t>
                              </m:r>
                            </m:e>
                          </m:rad>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108</m:t>
                          </m:r>
                        </m:den>
                      </m:f>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𝑒</m:t>
                          </m:r>
                        </m:e>
                        <m:sup>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460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154</m:t>
                                  </m:r>
                                  <m:r>
                                    <a:rPr lang="en-US" altLang="zh-CN" i="1">
                                      <a:latin typeface="Cambria Math" panose="02040503050406030204" pitchFamily="18" charset="0"/>
                                      <a:cs typeface="Cambria Math" panose="02040503050406030204" pitchFamily="18" charset="0"/>
                                    </a:rPr>
                                    <m:t>)</m:t>
                                  </m:r>
                                </m:e>
                                <m:sup>
                                  <m:r>
                                    <a:rPr lang="en-US" altLang="zh-CN" i="1">
                                      <a:latin typeface="Cambria Math" panose="02040503050406030204" pitchFamily="18" charset="0"/>
                                      <a:cs typeface="Cambria Math" panose="02040503050406030204" pitchFamily="18" charset="0"/>
                                    </a:rPr>
                                    <m:t>2</m:t>
                                  </m:r>
                                </m:sup>
                              </m:sSup>
                            </m:num>
                            <m:den>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108</m:t>
                                  </m:r>
                                </m:e>
                                <m:sup>
                                  <m:r>
                                    <a:rPr lang="en-US" altLang="zh-CN" i="1">
                                      <a:latin typeface="Cambria Math" panose="02040503050406030204" pitchFamily="18" charset="0"/>
                                      <a:cs typeface="Cambria Math" panose="02040503050406030204" pitchFamily="18" charset="0"/>
                                    </a:rPr>
                                    <m:t>2</m:t>
                                  </m:r>
                                </m:sup>
                              </m:sSup>
                            </m:den>
                          </m:f>
                          <m:r>
                            <a:rPr lang="en-US" altLang="zh-CN" i="1">
                              <a:latin typeface="Cambria Math" panose="02040503050406030204" pitchFamily="18" charset="0"/>
                              <a:cs typeface="Cambria Math" panose="02040503050406030204" pitchFamily="18" charset="0"/>
                            </a:rPr>
                            <m:t>)</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066</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custDataLst>
                  <p:tags r:id="rId3"/>
                </p:custDataLst>
              </p:nvPr>
            </p:nvSpPr>
            <p:spPr>
              <a:xfrm>
                <a:off x="5721985" y="1354455"/>
                <a:ext cx="4704715" cy="4149090"/>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朴素贝叶斯分类器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7" name="文本框 6"/>
              <p:cNvSpPr txBox="1"/>
              <p:nvPr/>
            </p:nvSpPr>
            <p:spPr>
              <a:xfrm>
                <a:off x="285750" y="1258570"/>
                <a:ext cx="11431270" cy="4161790"/>
              </a:xfrm>
              <a:prstGeom prst="rect">
                <a:avLst/>
              </a:prstGeom>
              <a:noFill/>
            </p:spPr>
            <p:txBody>
              <a:bodyPr wrap="square" rtlCol="0">
                <a:spAutoFit/>
              </a:bodyPr>
              <a:p>
                <a:r>
                  <a:rPr lang="en-US" altLang="zh-CN"/>
                  <a:t>3</a:t>
                </a:r>
                <a:r>
                  <a:rPr lang="zh-CN" altLang="en-US"/>
                  <a:t>）计算后验概率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oMath>
                </a14:m>
                <a:r>
                  <a:rPr lang="en-US" altLang="zh-CN"/>
                  <a:t>:</a:t>
                </a:r>
                <a:endParaRPr lang="en-US" altLang="zh-CN"/>
              </a:p>
              <a:p>
                <a:pPr>
                  <a:lnSpc>
                    <a:spcPct val="50000"/>
                  </a:lnSpc>
                </a:pPr>
                <a:endParaRPr lang="en-US" altLang="zh-CN"/>
              </a:p>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(好瓜=是|</m:t>
                      </m:r>
                      <m:r>
                        <a:rPr lang="en-US" altLang="zh-CN" sz="1600" i="1">
                          <a:latin typeface="Cambria Math" panose="02040503050406030204" pitchFamily="18" charset="0"/>
                          <a:cs typeface="Cambria Math" panose="02040503050406030204" pitchFamily="18" charset="0"/>
                        </a:rPr>
                        <m:t>(色泽=青绿,根蒂=蜷缩,敲声=浊响,纹理=清晰,脐部=凹陷,触感=硬滑,密度=</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697</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含糖量=</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460</m:t>
                      </m:r>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(好瓜=是)</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(色泽=青绿|好瓜=是)∙</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(根蒂=蜷缩|好瓜=是)∙</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(敲声=浊响|好瓜=是)∙</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(纹理=清晰|好瓜=是)∙</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(脐部=凹陷|好瓜=是)∙</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(触感=硬滑|好瓜=是)∙</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(密度=</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697</m:t>
                      </m:r>
                      <m:r>
                        <a:rPr lang="en-US" altLang="zh-CN" sz="1600" i="1">
                          <a:latin typeface="Cambria Math" panose="02040503050406030204" pitchFamily="18" charset="0"/>
                          <a:cs typeface="Cambria Math" panose="02040503050406030204" pitchFamily="18" charset="0"/>
                        </a:rPr>
                        <m:t>|好瓜=是)∙</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(含糖量=</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460</m:t>
                      </m:r>
                      <m:r>
                        <a:rPr lang="en-US" altLang="zh-CN" sz="1600" i="1">
                          <a:latin typeface="Cambria Math" panose="02040503050406030204" pitchFamily="18" charset="0"/>
                          <a:cs typeface="Cambria Math" panose="02040503050406030204" pitchFamily="18" charset="0"/>
                        </a:rPr>
                        <m:t>|好瓜=是)/</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(色泽=青绿,根蒂=蜷缩,敲声=浊响,纹理=清晰,脐部=凹陷,触感=硬滑,密度=</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697</m:t>
                      </m:r>
                      <m:r>
                        <a:rPr lang="en-US" altLang="zh-CN" sz="1600" i="1">
                          <a:latin typeface="Cambria Math" panose="02040503050406030204" pitchFamily="18" charset="0"/>
                          <a:cs typeface="Cambria Math" panose="02040503050406030204" pitchFamily="18" charset="0"/>
                        </a:rPr>
                        <m:t>,含糖量=</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460</m:t>
                      </m:r>
                      <m:r>
                        <a:rPr lang="en-US" altLang="zh-CN" sz="1600" i="1">
                          <a:latin typeface="Cambria Math" panose="02040503050406030204" pitchFamily="18" charset="0"/>
                          <a:ea typeface="MS Mincho"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063</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(色泽=青绿,根蒂=蜷缩,敲声=浊响,纹理=清晰,脐部=凹陷,触感=硬滑,密度=</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697</m:t>
                      </m:r>
                      <m:r>
                        <a:rPr lang="en-US" altLang="zh-CN" sz="1600" i="1">
                          <a:latin typeface="Cambria Math" panose="02040503050406030204" pitchFamily="18" charset="0"/>
                          <a:cs typeface="Cambria Math" panose="02040503050406030204" pitchFamily="18" charset="0"/>
                        </a:rPr>
                        <m:t>,含糖量=</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460</m:t>
                      </m:r>
                      <m:r>
                        <a:rPr lang="en-US" altLang="zh-CN" sz="1600" i="1">
                          <a:latin typeface="Cambria Math" panose="02040503050406030204" pitchFamily="18" charset="0"/>
                          <a:ea typeface="MS Mincho" charset="0"/>
                          <a:cs typeface="Cambria Math" panose="02040503050406030204" pitchFamily="18" charset="0"/>
                        </a:rPr>
                        <m:t>)</m:t>
                      </m:r>
                    </m:oMath>
                  </m:oMathPara>
                </a14:m>
                <a:endParaRPr lang="en-US" altLang="zh-CN" sz="1600" i="1">
                  <a:latin typeface="Cambria Math" panose="02040503050406030204" pitchFamily="18" charset="0"/>
                  <a:cs typeface="Cambria Math" panose="02040503050406030204" pitchFamily="18" charset="0"/>
                </a:endParaRPr>
              </a:p>
              <a:p>
                <a:endParaRPr lang="en-US" altLang="zh-CN" sz="1600" i="1">
                  <a:solidFill>
                    <a:schemeClr val="tx1"/>
                  </a:solidFill>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(好瓜=否|(色泽=青绿,根蒂=蜷缩,敲声=浊响,纹理=清晰,脐部=凹陷,触感=硬滑,密度=</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697</m:t>
                      </m:r>
                      <m:r>
                        <a:rPr lang="en-US" altLang="zh-CN" sz="1600" i="1">
                          <a:latin typeface="Cambria Math" panose="02040503050406030204" pitchFamily="18" charset="0"/>
                          <a:cs typeface="Cambria Math" panose="02040503050406030204" pitchFamily="18" charset="0"/>
                        </a:rPr>
                        <m:t>,含糖量=</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460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(好瓜=否)∙</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(色泽=青绿|好瓜=否)∙</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(根蒂=蜷缩|好瓜=否)∙</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(敲声=浊响|好瓜=否)∙</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(纹理=清晰|好瓜=否)∙</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(脐部=凹陷|好瓜=否)∙</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(触感=硬滑|好瓜=否)∙</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(密度=</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697</m:t>
                      </m:r>
                      <m:r>
                        <a:rPr lang="en-US" altLang="zh-CN" sz="1600" i="1">
                          <a:latin typeface="Cambria Math" panose="02040503050406030204" pitchFamily="18" charset="0"/>
                          <a:cs typeface="Cambria Math" panose="02040503050406030204" pitchFamily="18" charset="0"/>
                        </a:rPr>
                        <m:t>|好瓜=否)∙</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(含糖量=</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460</m:t>
                      </m:r>
                      <m:r>
                        <a:rPr lang="en-US" altLang="zh-CN" sz="1600" i="1">
                          <a:latin typeface="Cambria Math" panose="02040503050406030204" pitchFamily="18" charset="0"/>
                          <a:cs typeface="Cambria Math" panose="02040503050406030204" pitchFamily="18" charset="0"/>
                        </a:rPr>
                        <m:t>|好瓜=否)/</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(色泽=青绿,根蒂=蜷缩,敲声=浊响,纹理=清晰,脐部=凹陷,触感=硬滑,密度=</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697</m:t>
                      </m:r>
                      <m:r>
                        <a:rPr lang="en-US" altLang="zh-CN" sz="1600" i="1">
                          <a:latin typeface="Cambria Math" panose="02040503050406030204" pitchFamily="18" charset="0"/>
                          <a:cs typeface="Cambria Math" panose="02040503050406030204" pitchFamily="18" charset="0"/>
                        </a:rPr>
                        <m:t>,含糖量=</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460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6</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80</m:t>
                      </m:r>
                      <m:r>
                        <a:rPr lang="en-US" altLang="zh-CN" sz="1600" i="1">
                          <a:latin typeface="Cambria Math" panose="02040503050406030204" pitchFamily="18" charset="0"/>
                          <a:cs typeface="Cambria Math" panose="02040503050406030204" pitchFamily="18" charset="0"/>
                        </a:rPr>
                        <m:t>×</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cs typeface="Cambria Math" panose="02040503050406030204" pitchFamily="18" charset="0"/>
                            </a:rPr>
                            <m:t>10</m:t>
                          </m:r>
                        </m:e>
                        <m:sup>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5</m:t>
                          </m:r>
                        </m:sup>
                      </m:sSup>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(色泽=青绿,根蒂=蜷缩,敲声=浊响,纹理=清晰,脐部=凹陷,触感=硬滑,密度=</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697</m:t>
                      </m:r>
                      <m:r>
                        <a:rPr lang="en-US" altLang="zh-CN" sz="1600" i="1">
                          <a:latin typeface="Cambria Math" panose="02040503050406030204" pitchFamily="18" charset="0"/>
                          <a:cs typeface="Cambria Math" panose="02040503050406030204" pitchFamily="18" charset="0"/>
                        </a:rPr>
                        <m:t>,含糖量=</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460</m:t>
                      </m:r>
                      <m:r>
                        <a:rPr lang="en-US" altLang="zh-CN" sz="1600" i="1">
                          <a:latin typeface="Cambria Math" panose="02040503050406030204" pitchFamily="18" charset="0"/>
                          <a:cs typeface="Cambria Math" panose="02040503050406030204" pitchFamily="18" charset="0"/>
                        </a:rPr>
                        <m:t>)</m:t>
                      </m:r>
                    </m:oMath>
                  </m:oMathPara>
                </a14:m>
                <a:endParaRPr lang="en-US" altLang="zh-CN" sz="1600" i="1">
                  <a:latin typeface="Cambria Math" panose="02040503050406030204" pitchFamily="18" charset="0"/>
                  <a:cs typeface="Cambria Math" panose="02040503050406030204" pitchFamily="18" charset="0"/>
                </a:endParaRPr>
              </a:p>
              <a:p>
                <a:endParaRPr lang="en-US" altLang="zh-CN" sz="1600" i="1">
                  <a:solidFill>
                    <a:schemeClr val="tx1"/>
                  </a:solidFill>
                  <a:latin typeface="Cambria Math" panose="02040503050406030204" pitchFamily="18" charset="0"/>
                  <a:cs typeface="Cambria Math" panose="02040503050406030204" pitchFamily="18" charset="0"/>
                </a:endParaRPr>
              </a:p>
              <a:p>
                <a:pPr indent="457200"/>
                <a:r>
                  <a:rPr lang="zh-CN" altLang="en-US" sz="1600">
                    <a:latin typeface="Cambria Math" panose="02040503050406030204" pitchFamily="18" charset="0"/>
                    <a:cs typeface="Cambria Math" panose="02040503050406030204" pitchFamily="18" charset="0"/>
                  </a:rPr>
                  <a:t>由于</a:t>
                </a:r>
                <a14:m>
                  <m:oMath xmlns:m="http://schemas.openxmlformats.org/officeDocument/2006/math">
                    <m:r>
                      <a:rPr lang="en-US" altLang="zh-CN" sz="1600" i="1">
                        <a:latin typeface="Cambria Math" panose="02040503050406030204" pitchFamily="18" charset="0"/>
                        <a:cs typeface="Cambria Math" panose="02040503050406030204" pitchFamily="18" charset="0"/>
                      </a:rPr>
                      <m:t>𝑃</m:t>
                    </m:r>
                    <m:r>
                      <a:rPr lang="en-US" altLang="zh-CN" sz="1600" i="1">
                        <a:latin typeface="Cambria Math" panose="02040503050406030204" pitchFamily="18" charset="0"/>
                        <a:cs typeface="Cambria Math" panose="02040503050406030204" pitchFamily="18" charset="0"/>
                      </a:rPr>
                      <m:t>(色泽=青绿,根蒂=蜷缩,敲声=浊响,纹理=清晰,脐部=凹陷,触感=硬滑,密度=</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697</m:t>
                    </m:r>
                    <m:r>
                      <a:rPr lang="en-US" altLang="zh-CN" sz="1600" i="1">
                        <a:latin typeface="Cambria Math" panose="02040503050406030204" pitchFamily="18" charset="0"/>
                        <a:cs typeface="Cambria Math" panose="02040503050406030204" pitchFamily="18" charset="0"/>
                      </a:rPr>
                      <m:t>,含糖量=</m:t>
                    </m:r>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460</m:t>
                    </m:r>
                    <m:r>
                      <a:rPr lang="en-US" altLang="zh-CN" sz="1600" i="1">
                        <a:latin typeface="Cambria Math" panose="02040503050406030204" pitchFamily="18" charset="0"/>
                        <a:ea typeface="MS Mincho" charset="0"/>
                        <a:cs typeface="Cambria Math" panose="02040503050406030204" pitchFamily="18" charset="0"/>
                      </a:rPr>
                      <m:t>)</m:t>
                    </m:r>
                  </m:oMath>
                </a14:m>
                <a:r>
                  <a:rPr lang="zh-CN" altLang="en-US" sz="1600">
                    <a:latin typeface="Cambria Math" panose="02040503050406030204" pitchFamily="18" charset="0"/>
                    <a:cs typeface="Cambria Math" panose="02040503050406030204" pitchFamily="18" charset="0"/>
                  </a:rPr>
                  <a:t>都是相同的，只需比较分子即可；</a:t>
                </a:r>
                <a14:m>
                  <m:oMath xmlns:m="http://schemas.openxmlformats.org/officeDocument/2006/math">
                    <m:r>
                      <a:rPr lang="en-US" altLang="zh-CN" sz="1600" i="1">
                        <a:latin typeface="Cambria Math" panose="02040503050406030204" pitchFamily="18" charset="0"/>
                        <a:cs typeface="Cambria Math" panose="02040503050406030204" pitchFamily="18" charset="0"/>
                      </a:rPr>
                      <m:t>0</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063</m:t>
                    </m:r>
                    <m:r>
                      <a:rPr lang="en-US" altLang="zh-CN" sz="1600" i="1">
                        <a:latin typeface="Cambria Math" panose="02040503050406030204" pitchFamily="18" charset="0"/>
                        <a:cs typeface="Cambria Math" panose="02040503050406030204" pitchFamily="18" charset="0"/>
                      </a:rPr>
                      <m:t>&gt;</m:t>
                    </m:r>
                    <m:r>
                      <a:rPr lang="en-US" altLang="zh-CN" sz="1600" i="1">
                        <a:latin typeface="Cambria Math" panose="02040503050406030204" pitchFamily="18" charset="0"/>
                        <a:cs typeface="Cambria Math" panose="02040503050406030204" pitchFamily="18" charset="0"/>
                      </a:rPr>
                      <m:t>6</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80</m:t>
                    </m:r>
                    <m:r>
                      <a:rPr lang="en-US" altLang="zh-CN" sz="1600" i="1">
                        <a:latin typeface="Cambria Math" panose="02040503050406030204" pitchFamily="18" charset="0"/>
                        <a:cs typeface="Cambria Math" panose="02040503050406030204" pitchFamily="18" charset="0"/>
                      </a:rPr>
                      <m:t>×</m:t>
                    </m:r>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cs typeface="Cambria Math" panose="02040503050406030204" pitchFamily="18" charset="0"/>
                          </a:rPr>
                          <m:t>10</m:t>
                        </m:r>
                      </m:e>
                      <m:sup>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5</m:t>
                        </m:r>
                      </m:sup>
                    </m:sSup>
                  </m:oMath>
                </a14:m>
                <a:r>
                  <a:rPr lang="zh-CN" altLang="en-US" sz="1600">
                    <a:latin typeface="Cambria Math" panose="02040503050406030204" pitchFamily="18" charset="0"/>
                    <a:cs typeface="Cambria Math" panose="02040503050406030204" pitchFamily="18" charset="0"/>
                  </a:rPr>
                  <a:t>，朴素贝叶斯分类器将测试样本判别为</a:t>
                </a:r>
                <a:r>
                  <a:rPr lang="en-US" altLang="zh-CN" sz="1600">
                    <a:latin typeface="Cambria Math" panose="02040503050406030204" pitchFamily="18" charset="0"/>
                    <a:cs typeface="Cambria Math" panose="02040503050406030204" pitchFamily="18" charset="0"/>
                  </a:rPr>
                  <a:t>“</a:t>
                </a:r>
                <a:r>
                  <a:rPr lang="zh-CN" altLang="en-US" sz="1600">
                    <a:latin typeface="Cambria Math" panose="02040503050406030204" pitchFamily="18" charset="0"/>
                    <a:cs typeface="Cambria Math" panose="02040503050406030204" pitchFamily="18" charset="0"/>
                  </a:rPr>
                  <a:t>好瓜</a:t>
                </a:r>
                <a:r>
                  <a:rPr lang="en-US" altLang="zh-CN" sz="1600">
                    <a:latin typeface="Cambria Math" panose="02040503050406030204" pitchFamily="18" charset="0"/>
                    <a:cs typeface="Cambria Math" panose="02040503050406030204" pitchFamily="18" charset="0"/>
                  </a:rPr>
                  <a:t>=</a:t>
                </a:r>
                <a:r>
                  <a:rPr lang="zh-CN" altLang="en-US" sz="1600">
                    <a:latin typeface="Cambria Math" panose="02040503050406030204" pitchFamily="18" charset="0"/>
                    <a:cs typeface="Cambria Math" panose="02040503050406030204" pitchFamily="18" charset="0"/>
                  </a:rPr>
                  <a:t>是</a:t>
                </a:r>
                <a:r>
                  <a:rPr lang="en-US" altLang="zh-CN" sz="1600">
                    <a:latin typeface="Cambria Math" panose="02040503050406030204" pitchFamily="18" charset="0"/>
                    <a:cs typeface="Cambria Math" panose="02040503050406030204" pitchFamily="18" charset="0"/>
                  </a:rPr>
                  <a:t>”</a:t>
                </a:r>
                <a:endParaRPr lang="en-US" altLang="zh-CN" sz="1600">
                  <a:solidFill>
                    <a:schemeClr val="tx1"/>
                  </a:solidFill>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285750" y="1258570"/>
                <a:ext cx="11431270" cy="416179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朴素贝叶斯分类器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294005" y="1193165"/>
                <a:ext cx="11324590" cy="5120005"/>
              </a:xfrm>
              <a:prstGeom prst="rect">
                <a:avLst/>
              </a:prstGeom>
              <a:noFill/>
            </p:spPr>
            <p:txBody>
              <a:bodyPr wrap="square" rtlCol="0">
                <a:spAutoFit/>
              </a:bodyPr>
              <a:p>
                <a:r>
                  <a:rPr lang="zh-CN" altLang="en-US"/>
                  <a:t>为了防止出现训练集中某类未出现或某个属性值与某类未同时出现，将离散属性条件概率进行</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拉普拉斯修正</a:t>
                </a:r>
                <a:r>
                  <a:rPr lang="zh-CN" altLang="en-US"/>
                  <a:t>：</a:t>
                </a:r>
                <a:endParaRPr lang="zh-CN" altLang="en-US"/>
              </a:p>
              <a:p>
                <a:endParaRPr lang="zh-CN" altLang="en-US"/>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d>
                            <m:dPr>
                              <m:begChr m:val="|"/>
                              <m:endChr m:val="|"/>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e>
                          </m:d>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num>
                        <m:den>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𝐷</m:t>
                              </m:r>
                            </m:e>
                          </m:d>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𝑁</m:t>
                          </m:r>
                        </m:den>
                      </m:f>
                    </m:oMath>
                  </m:oMathPara>
                </a14:m>
                <a:endParaRPr lang="en-US" altLang="zh-CN" i="1">
                  <a:latin typeface="Cambria Math" panose="02040503050406030204" pitchFamily="18" charset="0"/>
                  <a:cs typeface="Cambria Math" panose="02040503050406030204" pitchFamily="18" charset="0"/>
                </a:endParaRPr>
              </a:p>
              <a:p>
                <a:endParaRPr lang="en-US" altLang="zh-CN" i="1">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d>
                            <m:dPr>
                              <m:begChr m:val="|"/>
                              <m:endChr m:val="|"/>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sub>
                              </m:sSub>
                            </m:e>
                          </m:d>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num>
                        <m:den>
                          <m:d>
                            <m:dPr>
                              <m:begChr m:val="|"/>
                              <m:endChr m:val="|"/>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r>
                                    <a:rPr lang="en-US" altLang="zh-CN" i="1">
                                      <a:latin typeface="Cambria Math" panose="02040503050406030204" pitchFamily="18" charset="0"/>
                                      <a:cs typeface="Cambria Math" panose="02040503050406030204" pitchFamily="18" charset="0"/>
                                    </a:rPr>
                                    <m:t>𝑐</m:t>
                                  </m:r>
                                </m:sub>
                              </m:sSub>
                            </m:e>
                          </m:d>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𝑁</m:t>
                              </m:r>
                            </m:e>
                            <m:sub>
                              <m:r>
                                <a:rPr lang="en-US" altLang="zh-CN" i="1">
                                  <a:latin typeface="Cambria Math" panose="02040503050406030204" pitchFamily="18" charset="0"/>
                                  <a:cs typeface="Cambria Math" panose="02040503050406030204" pitchFamily="18" charset="0"/>
                                </a:rPr>
                                <m:t>𝑖</m:t>
                              </m:r>
                            </m:sub>
                          </m:sSub>
                        </m:den>
                      </m:f>
                    </m:oMath>
                  </m:oMathPara>
                </a14:m>
                <a:endParaRPr lang="en-US" altLang="zh-CN" i="1">
                  <a:latin typeface="Cambria Math" panose="02040503050406030204" pitchFamily="18" charset="0"/>
                  <a:cs typeface="Cambria Math" panose="02040503050406030204" pitchFamily="18" charset="0"/>
                </a:endParaRPr>
              </a:p>
              <a:p>
                <a:endParaRPr lang="en-US" altLang="zh-CN" i="1">
                  <a:latin typeface="Cambria Math" panose="02040503050406030204" pitchFamily="18" charset="0"/>
                  <a:cs typeface="Cambria Math" panose="02040503050406030204" pitchFamily="18" charset="0"/>
                </a:endParaRPr>
              </a:p>
              <a:p>
                <a:r>
                  <a:rPr lang="zh-CN" altLang="en-US"/>
                  <a:t>其中</a:t>
                </a:r>
                <a14:m>
                  <m:oMath xmlns:m="http://schemas.openxmlformats.org/officeDocument/2006/math">
                    <m:r>
                      <a:rPr lang="en-US" altLang="zh-CN" i="1">
                        <a:latin typeface="Cambria Math" panose="02040503050406030204" pitchFamily="18" charset="0"/>
                        <a:cs typeface="Cambria Math" panose="02040503050406030204" pitchFamily="18" charset="0"/>
                      </a:rPr>
                      <m:t>𝑁</m:t>
                    </m:r>
                  </m:oMath>
                </a14:m>
                <a:r>
                  <a:rPr lang="zh-CN" altLang="en-US">
                    <a:latin typeface="Cambria Math" panose="02040503050406030204" pitchFamily="18" charset="0"/>
                    <a:cs typeface="Cambria Math" panose="02040503050406030204" pitchFamily="18" charset="0"/>
                  </a:rPr>
                  <a:t>表示训练集</a:t>
                </a:r>
                <a14:m>
                  <m:oMath xmlns:m="http://schemas.openxmlformats.org/officeDocument/2006/math">
                    <m:r>
                      <a:rPr lang="en-US" altLang="zh-CN" i="1">
                        <a:latin typeface="Cambria Math" panose="02040503050406030204" pitchFamily="18" charset="0"/>
                        <a:cs typeface="Cambria Math" panose="02040503050406030204" pitchFamily="18" charset="0"/>
                      </a:rPr>
                      <m:t>𝐷</m:t>
                    </m:r>
                  </m:oMath>
                </a14:m>
                <a:r>
                  <a:rPr lang="zh-CN" altLang="en-US">
                    <a:latin typeface="Cambria Math" panose="02040503050406030204" pitchFamily="18" charset="0"/>
                    <a:cs typeface="Cambria Math" panose="02040503050406030204" pitchFamily="18" charset="0"/>
                  </a:rPr>
                  <a:t>中可能出现的类别数，</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𝑁</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表示第</a:t>
                </a:r>
                <a14:m>
                  <m:oMath xmlns:m="http://schemas.openxmlformats.org/officeDocument/2006/math">
                    <m:r>
                      <a:rPr lang="en-US" altLang="zh-CN" i="1">
                        <a:latin typeface="Cambria Math" panose="02040503050406030204" pitchFamily="18" charset="0"/>
                        <a:cs typeface="Cambria Math" panose="02040503050406030204" pitchFamily="18" charset="0"/>
                      </a:rPr>
                      <m:t>𝑖</m:t>
                    </m:r>
                  </m:oMath>
                </a14:m>
                <a:r>
                  <a:rPr lang="zh-CN" altLang="en-US">
                    <a:latin typeface="Cambria Math" panose="02040503050406030204" pitchFamily="18" charset="0"/>
                    <a:cs typeface="Cambria Math" panose="02040503050406030204" pitchFamily="18" charset="0"/>
                  </a:rPr>
                  <a:t>个属性可能出现的取值数</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若不进行平滑修正，则会产生</a:t>
                </a:r>
                <a:r>
                  <a:rPr lang="en-US" altLang="zh-CN">
                    <a:latin typeface="Cambria Math" panose="02040503050406030204" pitchFamily="18" charset="0"/>
                    <a:cs typeface="Cambria Math" panose="02040503050406030204" pitchFamily="18" charset="0"/>
                  </a:rPr>
                  <a:t>“</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抹零</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效应，例如在用西瓜数据集训练朴素贝叶斯分类器时，对</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敲声</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清脆</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的测试示例，由于训练集中</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好瓜</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是</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类别里无该属性值的出现，因此有：</a:t>
                </a:r>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(敲声=清脆|好瓜=是)=</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0</m:t>
                          </m:r>
                        </m:num>
                        <m:den>
                          <m:r>
                            <a:rPr lang="en-US" altLang="zh-CN" i="1">
                              <a:latin typeface="Cambria Math" panose="02040503050406030204" pitchFamily="18" charset="0"/>
                              <a:cs typeface="Cambria Math" panose="02040503050406030204" pitchFamily="18" charset="0"/>
                            </a:rPr>
                            <m:t>8</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en-US" altLang="zh-CN" i="1">
                  <a:latin typeface="Cambria Math" panose="02040503050406030204" pitchFamily="18" charset="0"/>
                  <a:cs typeface="Cambria Math" panose="02040503050406030204" pitchFamily="18" charset="0"/>
                </a:endParaRPr>
              </a:p>
              <a:p>
                <a:pPr indent="457200"/>
                <a:endParaRPr lang="en-US" altLang="zh-CN" i="1">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则会导致整个属性概率连乘式子最终结果为</a:t>
                </a:r>
                <a:r>
                  <a:rPr lang="en-US" altLang="zh-CN">
                    <a:latin typeface="Cambria Math" panose="02040503050406030204" pitchFamily="18" charset="0"/>
                    <a:cs typeface="Cambria Math" panose="02040503050406030204" pitchFamily="18" charset="0"/>
                  </a:rPr>
                  <a:t>0</a:t>
                </a:r>
                <a:r>
                  <a:rPr lang="zh-CN" altLang="en-US">
                    <a:latin typeface="Cambria Math" panose="02040503050406030204" pitchFamily="18" charset="0"/>
                    <a:cs typeface="Cambria Math" panose="02040503050406030204" pitchFamily="18" charset="0"/>
                  </a:rPr>
                  <a:t>，则此时无论该样本其他属性值为什么，哪怕在其他属性值上明显为</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好瓜</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，但最终分类结果均为</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好瓜</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否</a:t>
                </a:r>
                <a:r>
                  <a:rPr lang="en-US" altLang="zh-CN">
                    <a:latin typeface="Cambria Math" panose="02040503050406030204" pitchFamily="18" charset="0"/>
                    <a:cs typeface="Cambria Math" panose="02040503050406030204" pitchFamily="18" charset="0"/>
                  </a:rPr>
                  <a:t>”</a:t>
                </a:r>
                <a:endParaRPr lang="en-US" altLang="zh-CN">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94005" y="1193165"/>
                <a:ext cx="11324590" cy="5120005"/>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flipH="1">
            <a:off x="3823652" y="1411646"/>
            <a:ext cx="5080" cy="475932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p:sp>
        <p:nvSpPr>
          <p:cNvPr id="2" name="文本框 1"/>
          <p:cNvSpPr txBox="1"/>
          <p:nvPr/>
        </p:nvSpPr>
        <p:spPr>
          <a:xfrm>
            <a:off x="4094480" y="1411605"/>
            <a:ext cx="6861175" cy="4073525"/>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贝叶斯定理</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贝叶斯决策论</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极大似然估计</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利用贝叶斯解决实际问题：拼写纠</a:t>
            </a:r>
            <a:r>
              <a:rPr lang="zh-CN" altLang="en-US" sz="2800" b="1" spc="200" dirty="0">
                <a:uFillTx/>
                <a:latin typeface="宋体" panose="02010600030101010101" pitchFamily="2" charset="-122"/>
                <a:ea typeface="宋体" panose="02010600030101010101" pitchFamily="2" charset="-122"/>
                <a:cs typeface="+mj-cs"/>
              </a:rPr>
              <a:t>错</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半朴素贝叶斯分类器</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贝叶斯网</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半朴素贝叶斯分类器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02260" y="1200785"/>
                <a:ext cx="11299825" cy="3375025"/>
              </a:xfrm>
              <a:prstGeom prst="rect">
                <a:avLst/>
              </a:prstGeom>
              <a:noFill/>
            </p:spPr>
            <p:txBody>
              <a:bodyPr wrap="square" rtlCol="0">
                <a:spAutoFit/>
              </a:bodyPr>
              <a:p>
                <a:pPr indent="457200"/>
                <a:r>
                  <a:rPr lang="zh-CN" altLang="en-US"/>
                  <a:t>为了降低贝叶斯公式中估计</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后验概率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的困难，</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朴素贝叶斯分类器</a:t>
                </a:r>
                <a:r>
                  <a:rPr lang="zh-CN" altLang="en-US">
                    <a:latin typeface="Cambria Math" panose="02040503050406030204" pitchFamily="18" charset="0"/>
                    <a:cs typeface="Cambria Math" panose="02040503050406030204" pitchFamily="18" charset="0"/>
                  </a:rPr>
                  <a:t>采用了</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属性条件独立性假设</a:t>
                </a:r>
                <a:r>
                  <a:rPr lang="zh-CN" altLang="en-US">
                    <a:latin typeface="Cambria Math" panose="02040503050406030204" pitchFamily="18" charset="0"/>
                    <a:cs typeface="Cambria Math" panose="02040503050406030204" pitchFamily="18" charset="0"/>
                  </a:rPr>
                  <a:t>，但在现实任务中这个假设往往很难成立，于是人们对该假设进行了一定程度上的放松，由此产生了</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半朴素贝叶斯分类器</a:t>
                </a:r>
                <a:r>
                  <a:rPr lang="zh-CN" altLang="en-US">
                    <a:latin typeface="Cambria Math" panose="02040503050406030204" pitchFamily="18" charset="0"/>
                    <a:cs typeface="Cambria Math" panose="02040503050406030204" pitchFamily="18" charset="0"/>
                  </a:rPr>
                  <a:t>的学习方法，该学习方法的基本思想是适当考虑一部分属性间的相互依赖信息，从而既不需要进行完全的</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联合概率</a:t>
                </a:r>
                <a:r>
                  <a:rPr lang="zh-CN" altLang="en-US">
                    <a:latin typeface="Cambria Math" panose="02040503050406030204" pitchFamily="18" charset="0"/>
                    <a:cs typeface="Cambria Math" panose="02040503050406030204" pitchFamily="18" charset="0"/>
                  </a:rPr>
                  <a:t>计算，又不至于忽略了比较强的属性依赖关系，基于该思想，采用</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独依赖估计</a:t>
                </a:r>
                <a:r>
                  <a:rPr lang="en-US" altLang="zh-CN">
                    <a:latin typeface="Cambria Math" panose="02040503050406030204" pitchFamily="18" charset="0"/>
                    <a:cs typeface="Cambria Math" panose="02040503050406030204" pitchFamily="18" charset="0"/>
                  </a:rPr>
                  <a:t>(One-Dependent Estimator, ODE)</a:t>
                </a:r>
                <a:r>
                  <a:rPr lang="zh-CN" altLang="en-US">
                    <a:latin typeface="Cambria Math" panose="02040503050406030204" pitchFamily="18" charset="0"/>
                    <a:cs typeface="Cambria Math" panose="02040503050406030204" pitchFamily="18" charset="0"/>
                  </a:rPr>
                  <a:t>的策略，假设每个属性在分类类别之外最多依赖一个其他属性：</a:t>
                </a:r>
                <a:endParaRPr lang="zh-CN" altLang="en-US">
                  <a:latin typeface="Cambria Math" panose="02040503050406030204" pitchFamily="18" charset="0"/>
                  <a:cs typeface="Cambria Math" panose="02040503050406030204" pitchFamily="18" charset="0"/>
                </a:endParaRPr>
              </a:p>
              <a:p>
                <a:pPr indent="457200">
                  <a:lnSpc>
                    <a:spcPct val="50000"/>
                  </a:lnSpc>
                </a:pPr>
                <a:endParaRPr lang="en-US" altLang="zh-CN">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𝑑</m:t>
                          </m:r>
                        </m:sup>
                        <m:e>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𝑝</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e>
                      </m:nary>
                    </m:oMath>
                  </m:oMathPara>
                </a14:m>
                <a:endParaRPr lang="en-US" altLang="zh-CN" i="1">
                  <a:latin typeface="Cambria Math" panose="02040503050406030204" pitchFamily="18" charset="0"/>
                  <a:cs typeface="Cambria Math" panose="02040503050406030204" pitchFamily="18" charset="0"/>
                </a:endParaRPr>
              </a:p>
              <a:p>
                <a:pPr indent="457200">
                  <a:lnSpc>
                    <a:spcPct val="50000"/>
                  </a:lnSpc>
                </a:pPr>
                <a:endParaRPr lang="zh-CN" altLang="en-US">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其中</a:t>
                </a:r>
                <a14:m>
                  <m:oMath xmlns:m="http://schemas.openxmlformats.org/officeDocument/2006/math">
                    <m:r>
                      <a:rPr lang="en-US" altLang="zh-CN" i="1">
                        <a:latin typeface="Cambria Math" panose="02040503050406030204" pitchFamily="18" charset="0"/>
                        <a:cs typeface="Cambria Math" panose="02040503050406030204" pitchFamily="18" charset="0"/>
                      </a:rPr>
                      <m:t>𝑝</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𝑎</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为属性</a:t>
                </a:r>
                <a14:m>
                  <m:oMath xmlns:m="http://schemas.openxmlformats.org/officeDocument/2006/math">
                    <m:r>
                      <a:rPr lang="en-US" altLang="zh-CN" i="1">
                        <a:latin typeface="Cambria Math" panose="02040503050406030204" pitchFamily="18" charset="0"/>
                        <a:cs typeface="Cambria Math" panose="02040503050406030204" pitchFamily="18" charset="0"/>
                      </a:rPr>
                      <m:t>𝑖</m:t>
                    </m:r>
                  </m:oMath>
                </a14:m>
                <a:r>
                  <a:rPr lang="zh-CN" altLang="en-US">
                    <a:latin typeface="Cambria Math" panose="02040503050406030204" pitchFamily="18" charset="0"/>
                    <a:cs typeface="Cambria Math" panose="02040503050406030204" pitchFamily="18" charset="0"/>
                  </a:rPr>
                  <a:t>所依赖的属性，称为属性</a:t>
                </a:r>
                <a14:m>
                  <m:oMath xmlns:m="http://schemas.openxmlformats.org/officeDocument/2006/math">
                    <m:r>
                      <a:rPr lang="en-US" altLang="zh-CN" i="1">
                        <a:latin typeface="Cambria Math" panose="02040503050406030204" pitchFamily="18" charset="0"/>
                        <a:cs typeface="Cambria Math" panose="02040503050406030204" pitchFamily="18" charset="0"/>
                      </a:rPr>
                      <m:t>𝑖</m:t>
                    </m:r>
                  </m:oMath>
                </a14:m>
                <a:r>
                  <a:rPr lang="zh-CN" altLang="en-US">
                    <a:latin typeface="Cambria Math" panose="02040503050406030204" pitchFamily="18" charset="0"/>
                    <a:cs typeface="Cambria Math" panose="02040503050406030204" pitchFamily="18" charset="0"/>
                  </a:rPr>
                  <a:t>的</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父属性</a:t>
                </a:r>
                <a:r>
                  <a:rPr lang="zh-CN" altLang="en-US">
                    <a:latin typeface="Cambria Math" panose="02040503050406030204" pitchFamily="18" charset="0"/>
                    <a:cs typeface="Cambria Math" panose="02040503050406030204" pitchFamily="18" charset="0"/>
                  </a:rPr>
                  <a:t>，在确定了每个属性的</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父属性</a:t>
                </a:r>
                <a:r>
                  <a:rPr lang="zh-CN" altLang="en-US">
                    <a:latin typeface="Cambria Math" panose="02040503050406030204" pitchFamily="18" charset="0"/>
                    <a:cs typeface="Cambria Math" panose="02040503050406030204" pitchFamily="18" charset="0"/>
                  </a:rPr>
                  <a:t>之后，便可通过上述公式得到</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后验概率</a:t>
                </a:r>
                <a14:m>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，问题的关键在于如何确定每个属性的</a:t>
                </a:r>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父属性</a:t>
                </a:r>
                <a:r>
                  <a:rPr lang="zh-CN" altLang="en-US">
                    <a:latin typeface="Cambria Math" panose="02040503050406030204" pitchFamily="18" charset="0"/>
                    <a:cs typeface="Cambria Math" panose="02040503050406030204" pitchFamily="18" charset="0"/>
                  </a:rPr>
                  <a:t>，这里我们将介绍</a:t>
                </a:r>
                <a:r>
                  <a:rPr lang="en-US" altLang="zh-CN">
                    <a:latin typeface="Cambria Math" panose="02040503050406030204" pitchFamily="18" charset="0"/>
                    <a:cs typeface="Cambria Math" panose="02040503050406030204" pitchFamily="18" charset="0"/>
                  </a:rPr>
                  <a:t>SPODE</a:t>
                </a:r>
                <a:r>
                  <a:rPr lang="zh-CN" altLang="en-US">
                    <a:latin typeface="Cambria Math" panose="02040503050406030204" pitchFamily="18" charset="0"/>
                    <a:cs typeface="Cambria Math" panose="02040503050406030204" pitchFamily="18" charset="0"/>
                  </a:rPr>
                  <a:t>、</a:t>
                </a:r>
                <a:r>
                  <a:rPr lang="en-US" altLang="zh-CN">
                    <a:latin typeface="Cambria Math" panose="02040503050406030204" pitchFamily="18" charset="0"/>
                    <a:cs typeface="Cambria Math" panose="02040503050406030204" pitchFamily="18" charset="0"/>
                  </a:rPr>
                  <a:t>TAN</a:t>
                </a:r>
                <a:r>
                  <a:rPr lang="zh-CN" altLang="en-US">
                    <a:latin typeface="Cambria Math" panose="02040503050406030204" pitchFamily="18" charset="0"/>
                    <a:cs typeface="Cambria Math" panose="02040503050406030204" pitchFamily="18" charset="0"/>
                  </a:rPr>
                  <a:t>和</a:t>
                </a:r>
                <a:r>
                  <a:rPr lang="en-US" altLang="zh-CN">
                    <a:latin typeface="Cambria Math" panose="02040503050406030204" pitchFamily="18" charset="0"/>
                    <a:cs typeface="Cambria Math" panose="02040503050406030204" pitchFamily="18" charset="0"/>
                  </a:rPr>
                  <a:t>AODE</a:t>
                </a:r>
                <a:r>
                  <a:rPr lang="zh-CN" altLang="en-US">
                    <a:latin typeface="Cambria Math" panose="02040503050406030204" pitchFamily="18" charset="0"/>
                    <a:cs typeface="Cambria Math" panose="02040503050406030204" pitchFamily="18" charset="0"/>
                  </a:rPr>
                  <a:t>三种方法。对于朴素贝叶斯分类器来讲，其分类类别、各个属性之间的相互关系可通过图表示为：</a:t>
                </a:r>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02260" y="1200785"/>
                <a:ext cx="11299825" cy="3375025"/>
              </a:xfrm>
              <a:prstGeom prst="rect">
                <a:avLst/>
              </a:prstGeom>
              <a:blipFill rotWithShape="1">
                <a:blip r:embed="rId1"/>
                <a:stretch>
                  <a:fillRect/>
                </a:stretch>
              </a:blipFill>
            </p:spPr>
            <p:txBody>
              <a:bodyPr/>
              <a:lstStyle/>
              <a:p>
                <a:r>
                  <a:rPr lang="zh-CN" altLang="en-US">
                    <a:noFill/>
                  </a:rPr>
                  <a:t> </a:t>
                </a:r>
              </a:p>
            </p:txBody>
          </p:sp>
        </mc:Fallback>
      </mc:AlternateContent>
      <p:pic>
        <p:nvPicPr>
          <p:cNvPr id="6" name="图片 5"/>
          <p:cNvPicPr>
            <a:picLocks noChangeAspect="1"/>
          </p:cNvPicPr>
          <p:nvPr>
            <p:custDataLst>
              <p:tags r:id="rId2"/>
            </p:custDataLst>
          </p:nvPr>
        </p:nvPicPr>
        <p:blipFill>
          <a:blip r:embed="rId3"/>
          <a:stretch>
            <a:fillRect/>
          </a:stretch>
        </p:blipFill>
        <p:spPr>
          <a:xfrm>
            <a:off x="4492625" y="4632325"/>
            <a:ext cx="2371725" cy="1485900"/>
          </a:xfrm>
          <a:prstGeom prst="rect">
            <a:avLst/>
          </a:prstGeom>
        </p:spPr>
      </p:pic>
      <p:cxnSp>
        <p:nvCxnSpPr>
          <p:cNvPr id="7" name="直接箭头连接符 6"/>
          <p:cNvCxnSpPr/>
          <p:nvPr/>
        </p:nvCxnSpPr>
        <p:spPr>
          <a:xfrm flipV="1">
            <a:off x="6026150" y="4829175"/>
            <a:ext cx="974090" cy="4953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049135" y="4632325"/>
            <a:ext cx="1138555" cy="368300"/>
          </a:xfrm>
          <a:prstGeom prst="rect">
            <a:avLst/>
          </a:prstGeom>
          <a:noFill/>
        </p:spPr>
        <p:txBody>
          <a:bodyPr wrap="square" rtlCol="0">
            <a:spAutoFit/>
          </a:bodyPr>
          <a:p>
            <a:r>
              <a:rPr lang="zh-CN" altLang="en-US"/>
              <a:t>分类类别</a:t>
            </a:r>
            <a:endParaRPr lang="zh-CN" altLang="en-US"/>
          </a:p>
        </p:txBody>
      </p:sp>
      <p:sp>
        <p:nvSpPr>
          <p:cNvPr id="9" name="左大括号 8"/>
          <p:cNvSpPr/>
          <p:nvPr/>
        </p:nvSpPr>
        <p:spPr>
          <a:xfrm rot="16200000">
            <a:off x="5526405" y="5290820"/>
            <a:ext cx="318770" cy="1858645"/>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 name="文本框 9"/>
          <p:cNvSpPr txBox="1"/>
          <p:nvPr>
            <p:custDataLst>
              <p:tags r:id="rId4"/>
            </p:custDataLst>
          </p:nvPr>
        </p:nvSpPr>
        <p:spPr>
          <a:xfrm>
            <a:off x="5116830" y="6432550"/>
            <a:ext cx="1138555" cy="368300"/>
          </a:xfrm>
          <a:prstGeom prst="rect">
            <a:avLst/>
          </a:prstGeom>
          <a:noFill/>
        </p:spPr>
        <p:txBody>
          <a:bodyPr wrap="square" rtlCol="0">
            <a:spAutoFit/>
          </a:bodyPr>
          <a:p>
            <a:r>
              <a:rPr lang="zh-CN" altLang="en-US"/>
              <a:t>各种属性</a:t>
            </a:r>
            <a:endParaRPr lang="zh-CN" alt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半朴素贝叶斯分类器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6" name="文本框 5"/>
          <p:cNvSpPr txBox="1"/>
          <p:nvPr/>
        </p:nvSpPr>
        <p:spPr>
          <a:xfrm>
            <a:off x="294005" y="1151890"/>
            <a:ext cx="11324590" cy="768350"/>
          </a:xfrm>
          <a:prstGeom prst="rect">
            <a:avLst/>
          </a:prstGeom>
          <a:noFill/>
        </p:spPr>
        <p:txBody>
          <a:bodyPr wrap="square" rtlCol="0">
            <a:spAutoFit/>
          </a:bodyPr>
          <a:p>
            <a:r>
              <a:rPr lang="en-US" altLang="zh-CN" sz="2000"/>
              <a:t>SPODE</a:t>
            </a:r>
            <a:r>
              <a:rPr lang="zh-CN" altLang="en-US" sz="2000"/>
              <a:t>：</a:t>
            </a:r>
            <a:r>
              <a:rPr lang="en-US" altLang="zh-CN" sz="2000"/>
              <a:t>Super-Parent ODE</a:t>
            </a:r>
            <a:r>
              <a:rPr lang="zh-CN" altLang="en-US" sz="2000"/>
              <a:t>，所有属性都依赖于同一个属性，该属性称为</a:t>
            </a:r>
            <a:r>
              <a:rPr lang="zh-CN" altLang="en-US" sz="200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超父</a:t>
            </a:r>
            <a:r>
              <a:rPr lang="zh-CN" altLang="en-US" sz="2000"/>
              <a:t>，设置不同的</a:t>
            </a:r>
            <a:r>
              <a:rPr lang="zh-CN" altLang="en-US" sz="2000">
                <a:solidFill>
                  <a:schemeClr val="accent1"/>
                </a:solidFill>
                <a:effectLst>
                  <a:outerShdw blurRad="38100" dist="25400" dir="5400000" algn="ctr" rotWithShape="0">
                    <a:srgbClr val="6E747A">
                      <a:alpha val="43000"/>
                    </a:srgbClr>
                  </a:outerShdw>
                </a:effectLst>
              </a:rPr>
              <a:t>超父</a:t>
            </a:r>
            <a:r>
              <a:rPr lang="zh-CN" altLang="en-US" sz="2000"/>
              <a:t>进行</a:t>
            </a:r>
            <a:endParaRPr lang="zh-CN" altLang="en-US" sz="2000"/>
          </a:p>
          <a:p>
            <a:pPr>
              <a:lnSpc>
                <a:spcPct val="20000"/>
              </a:lnSpc>
            </a:pPr>
            <a:endParaRPr lang="zh-CN" altLang="en-US" sz="2000"/>
          </a:p>
          <a:p>
            <a:r>
              <a:rPr lang="zh-CN" altLang="en-US" sz="2000"/>
              <a:t> </a:t>
            </a:r>
            <a:r>
              <a:rPr lang="en-US" altLang="zh-CN" sz="2000"/>
              <a:t>                </a:t>
            </a:r>
            <a:r>
              <a:rPr lang="zh-CN" altLang="en-US" sz="2000"/>
              <a:t>模型的训练，之后通过模型选择方法来确定</a:t>
            </a:r>
            <a:r>
              <a:rPr lang="zh-CN" altLang="en-US" sz="2000">
                <a:solidFill>
                  <a:schemeClr val="accent1"/>
                </a:solidFill>
                <a:effectLst>
                  <a:outerShdw blurRad="38100" dist="25400" dir="5400000" algn="ctr" rotWithShape="0">
                    <a:srgbClr val="6E747A">
                      <a:alpha val="43000"/>
                    </a:srgbClr>
                  </a:outerShdw>
                </a:effectLst>
              </a:rPr>
              <a:t>超父</a:t>
            </a:r>
            <a:r>
              <a:rPr lang="zh-CN" altLang="en-US" sz="2000"/>
              <a:t>属性</a:t>
            </a:r>
            <a:endParaRPr lang="zh-CN" altLang="en-US" sz="2000"/>
          </a:p>
        </p:txBody>
      </p:sp>
      <p:pic>
        <p:nvPicPr>
          <p:cNvPr id="7" name="图片 6"/>
          <p:cNvPicPr>
            <a:picLocks noChangeAspect="1"/>
          </p:cNvPicPr>
          <p:nvPr>
            <p:custDataLst>
              <p:tags r:id="rId1"/>
            </p:custDataLst>
          </p:nvPr>
        </p:nvPicPr>
        <p:blipFill>
          <a:blip r:embed="rId2"/>
          <a:stretch>
            <a:fillRect/>
          </a:stretch>
        </p:blipFill>
        <p:spPr>
          <a:xfrm>
            <a:off x="4632325" y="3115310"/>
            <a:ext cx="2647950" cy="1724025"/>
          </a:xfrm>
          <a:prstGeom prst="rect">
            <a:avLst/>
          </a:prstGeom>
        </p:spPr>
      </p:pic>
      <p:cxnSp>
        <p:nvCxnSpPr>
          <p:cNvPr id="8" name="直接箭头连接符 7"/>
          <p:cNvCxnSpPr/>
          <p:nvPr/>
        </p:nvCxnSpPr>
        <p:spPr>
          <a:xfrm flipH="1">
            <a:off x="3962400" y="4509135"/>
            <a:ext cx="761365" cy="44196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2988310" y="5008245"/>
            <a:ext cx="1194435" cy="368300"/>
          </a:xfrm>
          <a:prstGeom prst="rect">
            <a:avLst/>
          </a:prstGeom>
          <a:noFill/>
        </p:spPr>
        <p:txBody>
          <a:bodyPr wrap="square" rtlCol="0">
            <a:spAutoFit/>
          </a:bodyPr>
          <a:p>
            <a:r>
              <a:rPr lang="zh-CN" altLang="en-US"/>
              <a:t>超父属性</a:t>
            </a:r>
            <a:endParaRPr lang="zh-CN"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半朴素贝叶斯分类器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285750" y="1184910"/>
                <a:ext cx="11340465" cy="3592195"/>
              </a:xfrm>
              <a:prstGeom prst="rect">
                <a:avLst/>
              </a:prstGeom>
              <a:noFill/>
            </p:spPr>
            <p:txBody>
              <a:bodyPr wrap="square" rtlCol="0">
                <a:spAutoFit/>
              </a:bodyPr>
              <a:p>
                <a:r>
                  <a:rPr lang="en-US" altLang="zh-CN"/>
                  <a:t>TAN</a:t>
                </a:r>
                <a:r>
                  <a:rPr lang="zh-CN" altLang="en-US"/>
                  <a:t>：</a:t>
                </a:r>
                <a:r>
                  <a:rPr lang="en-US" altLang="zh-CN"/>
                  <a:t>Tree Augmented naive Bayes</a:t>
                </a:r>
                <a:r>
                  <a:rPr lang="zh-CN" altLang="en-US"/>
                  <a:t>，在最大带权生成树算法的基础上，通过四个步骤将属性间依赖关系约简为树形结构：</a:t>
                </a:r>
                <a:endParaRPr lang="zh-CN" altLang="en-US"/>
              </a:p>
              <a:p>
                <a:endParaRPr lang="zh-CN" altLang="en-US"/>
              </a:p>
              <a:p>
                <a:r>
                  <a:rPr lang="en-US" altLang="zh-CN"/>
                  <a:t>1</a:t>
                </a:r>
                <a:r>
                  <a:rPr lang="zh-CN" altLang="en-US"/>
                  <a:t>）计算任意两个属性之间的条件互信息</a:t>
                </a:r>
                <a:endParaRPr lang="zh-CN" altLang="en-US"/>
              </a:p>
              <a:p>
                <a:pPr>
                  <a:lnSpc>
                    <a:spcPct val="50000"/>
                  </a:lnSpc>
                </a:pPr>
                <a:endParaRPr lang="zh-CN" altLang="en-US"/>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𝐼</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𝑗</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𝑦</m:t>
                      </m:r>
                      <m:r>
                        <a:rPr lang="en-US" altLang="zh-CN" i="1">
                          <a:latin typeface="Cambria Math" panose="02040503050406030204" pitchFamily="18" charset="0"/>
                          <a:cs typeface="Cambria Math" panose="02040503050406030204" pitchFamily="18" charset="0"/>
                        </a:rPr>
                        <m:t>)=</m:t>
                      </m:r>
                      <m:nary>
                        <m:naryPr>
                          <m:chr m:val="∑"/>
                          <m:limLoc m:val="undOvr"/>
                          <m:supHide m:val="on"/>
                          <m:ctrlPr>
                            <a:rPr lang="en-US" altLang="zh-CN" i="1">
                              <a:latin typeface="Cambria Math" panose="02040503050406030204" pitchFamily="18" charset="0"/>
                              <a:cs typeface="Cambria Math" panose="02040503050406030204" pitchFamily="18" charset="0"/>
                            </a:rPr>
                          </m:ctrlPr>
                        </m:naryPr>
                        <m: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𝑗</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𝑦</m:t>
                          </m:r>
                        </m:sub>
                        <m:sup/>
                        <m:e>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𝑗</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𝑙𝑜𝑔</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𝑗</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num>
                            <m:den>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𝑗</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den>
                          </m:f>
                        </m:e>
                      </m:nary>
                    </m:oMath>
                  </m:oMathPara>
                </a14:m>
                <a:endParaRPr lang="en-US" altLang="zh-CN" i="1">
                  <a:latin typeface="Cambria Math" panose="02040503050406030204" pitchFamily="18" charset="0"/>
                  <a:cs typeface="Cambria Math" panose="02040503050406030204" pitchFamily="18" charset="0"/>
                </a:endParaRPr>
              </a:p>
              <a:p>
                <a:pPr>
                  <a:lnSpc>
                    <a:spcPct val="50000"/>
                  </a:lnSpc>
                </a:pPr>
                <a:endParaRPr lang="zh-CN" altLang="en-US"/>
              </a:p>
              <a:p>
                <a:r>
                  <a:rPr lang="en-US" altLang="zh-CN"/>
                  <a:t>2</a:t>
                </a:r>
                <a:r>
                  <a:rPr lang="zh-CN" altLang="en-US"/>
                  <a:t>）以属性为结点构建完全图，任意两个结点之间边的权重设置为</a:t>
                </a:r>
                <a14:m>
                  <m:oMath xmlns:m="http://schemas.openxmlformats.org/officeDocument/2006/math">
                    <m:r>
                      <a:rPr lang="en-US" altLang="zh-CN" i="1">
                        <a:latin typeface="Cambria Math" panose="02040503050406030204" pitchFamily="18" charset="0"/>
                        <a:cs typeface="Cambria Math" panose="02040503050406030204" pitchFamily="18" charset="0"/>
                      </a:rPr>
                      <m:t>𝐼</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𝑗</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𝑦</m:t>
                    </m:r>
                    <m:r>
                      <a:rPr lang="en-US" altLang="zh-CN" i="1">
                        <a:latin typeface="Cambria Math" panose="02040503050406030204" pitchFamily="18" charset="0"/>
                        <a:cs typeface="Cambria Math" panose="02040503050406030204" pitchFamily="18" charset="0"/>
                      </a:rPr>
                      <m:t>)</m:t>
                    </m:r>
                  </m:oMath>
                </a14:m>
                <a:endParaRPr lang="en-US" altLang="zh-CN" i="1">
                  <a:latin typeface="Cambria Math" panose="02040503050406030204" pitchFamily="18" charset="0"/>
                  <a:cs typeface="Cambria Math" panose="02040503050406030204" pitchFamily="18" charset="0"/>
                </a:endParaRPr>
              </a:p>
              <a:p>
                <a:pPr>
                  <a:lnSpc>
                    <a:spcPct val="50000"/>
                  </a:lnSpc>
                </a:pPr>
                <a:endParaRPr lang="zh-CN" altLang="en-US"/>
              </a:p>
              <a:p>
                <a:r>
                  <a:rPr lang="en-US" altLang="zh-CN"/>
                  <a:t>3</a:t>
                </a:r>
                <a:r>
                  <a:rPr lang="zh-CN" altLang="en-US"/>
                  <a:t>）构建此完全图的最大带权生成树</a:t>
                </a:r>
                <a:r>
                  <a:rPr lang="en-US" altLang="zh-CN"/>
                  <a:t>(生成树是连通图的包含图中的所有顶点的极小连通子图</a:t>
                </a:r>
                <a:r>
                  <a:rPr lang="zh-CN" altLang="en-US"/>
                  <a:t>，最大带权生成树是所有生成树中边权值和最大的生成树</a:t>
                </a:r>
                <a:r>
                  <a:rPr lang="en-US" altLang="zh-CN"/>
                  <a:t>)</a:t>
                </a:r>
                <a:r>
                  <a:rPr lang="zh-CN" altLang="en-US"/>
                  <a:t>，挑选根变量，将边设置为有向</a:t>
                </a:r>
                <a:endParaRPr lang="zh-CN" altLang="en-US"/>
              </a:p>
              <a:p>
                <a:pPr>
                  <a:lnSpc>
                    <a:spcPct val="50000"/>
                  </a:lnSpc>
                </a:pPr>
                <a:endParaRPr lang="zh-CN" altLang="en-US"/>
              </a:p>
              <a:p>
                <a:r>
                  <a:rPr lang="en-US" altLang="zh-CN"/>
                  <a:t>4</a:t>
                </a:r>
                <a:r>
                  <a:rPr lang="zh-CN" altLang="en-US"/>
                  <a:t>）加入类别结点</a:t>
                </a:r>
                <a14:m>
                  <m:oMath xmlns:m="http://schemas.openxmlformats.org/officeDocument/2006/math">
                    <m:r>
                      <a:rPr lang="en-US" altLang="zh-CN" i="1">
                        <a:latin typeface="Cambria Math" panose="02040503050406030204" pitchFamily="18" charset="0"/>
                        <a:cs typeface="Cambria Math" panose="02040503050406030204" pitchFamily="18" charset="0"/>
                      </a:rPr>
                      <m:t>𝑦</m:t>
                    </m:r>
                  </m:oMath>
                </a14:m>
                <a:r>
                  <a:rPr lang="zh-CN" altLang="en-US">
                    <a:latin typeface="Cambria Math" panose="02040503050406030204" pitchFamily="18" charset="0"/>
                    <a:cs typeface="Cambria Math" panose="02040503050406030204" pitchFamily="18" charset="0"/>
                  </a:rPr>
                  <a:t>，增加从</a:t>
                </a:r>
                <a14:m>
                  <m:oMath xmlns:m="http://schemas.openxmlformats.org/officeDocument/2006/math">
                    <m:r>
                      <a:rPr lang="en-US" altLang="zh-CN" i="1">
                        <a:latin typeface="Cambria Math" panose="02040503050406030204" pitchFamily="18" charset="0"/>
                        <a:cs typeface="Cambria Math" panose="02040503050406030204" pitchFamily="18" charset="0"/>
                      </a:rPr>
                      <m:t>𝑦</m:t>
                    </m:r>
                  </m:oMath>
                </a14:m>
                <a:r>
                  <a:rPr lang="zh-CN" altLang="en-US">
                    <a:latin typeface="Cambria Math" panose="02040503050406030204" pitchFamily="18" charset="0"/>
                    <a:cs typeface="Cambria Math" panose="02040503050406030204" pitchFamily="18" charset="0"/>
                  </a:rPr>
                  <a:t>到每个属性的有向边</a:t>
                </a:r>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85750" y="1184910"/>
                <a:ext cx="11340465" cy="3592195"/>
              </a:xfrm>
              <a:prstGeom prst="rect">
                <a:avLst/>
              </a:prstGeom>
              <a:blipFill rotWithShape="1">
                <a:blip r:embed="rId1"/>
                <a:stretch>
                  <a:fillRect/>
                </a:stretch>
              </a:blipFill>
            </p:spPr>
            <p:txBody>
              <a:bodyPr/>
              <a:lstStyle/>
              <a:p>
                <a:r>
                  <a:rPr lang="zh-CN" altLang="en-US">
                    <a:noFill/>
                  </a:rPr>
                  <a:t> </a:t>
                </a:r>
              </a:p>
            </p:txBody>
          </p:sp>
        </mc:Fallback>
      </mc:AlternateContent>
      <p:pic>
        <p:nvPicPr>
          <p:cNvPr id="6" name="图片 5"/>
          <p:cNvPicPr>
            <a:picLocks noChangeAspect="1"/>
          </p:cNvPicPr>
          <p:nvPr>
            <p:custDataLst>
              <p:tags r:id="rId2"/>
            </p:custDataLst>
          </p:nvPr>
        </p:nvPicPr>
        <p:blipFill>
          <a:blip r:embed="rId3"/>
          <a:stretch>
            <a:fillRect/>
          </a:stretch>
        </p:blipFill>
        <p:spPr>
          <a:xfrm>
            <a:off x="4494530" y="4761865"/>
            <a:ext cx="2903855" cy="1887220"/>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半朴素贝叶斯分类器</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6" name="文本框 5"/>
          <p:cNvSpPr txBox="1"/>
          <p:nvPr>
            <p:custDataLst>
              <p:tags r:id="rId1"/>
            </p:custDataLst>
          </p:nvPr>
        </p:nvSpPr>
        <p:spPr>
          <a:xfrm>
            <a:off x="294005" y="1151890"/>
            <a:ext cx="11324590" cy="1753235"/>
          </a:xfrm>
          <a:prstGeom prst="rect">
            <a:avLst/>
          </a:prstGeom>
          <a:noFill/>
        </p:spPr>
        <p:txBody>
          <a:bodyPr wrap="square" rtlCol="0">
            <a:spAutoFit/>
          </a:bodyPr>
          <a:p>
            <a:r>
              <a:rPr lang="en-US" altLang="zh-CN" sz="2000"/>
              <a:t>AODE</a:t>
            </a:r>
            <a:r>
              <a:rPr lang="zh-CN" altLang="en-US" sz="2000"/>
              <a:t>：</a:t>
            </a:r>
            <a:r>
              <a:rPr lang="en-US" altLang="zh-CN" sz="2000"/>
              <a:t>Average ODE</a:t>
            </a:r>
            <a:r>
              <a:rPr lang="zh-CN" altLang="en-US" sz="2000"/>
              <a:t>，</a:t>
            </a:r>
            <a:r>
              <a:rPr lang="zh-CN" sz="2000"/>
              <a:t>一种基于集成学习机制的更为强大的</a:t>
            </a:r>
            <a:r>
              <a:rPr lang="en-US" altLang="zh-CN" sz="2000"/>
              <a:t>ODE</a:t>
            </a:r>
            <a:r>
              <a:rPr lang="zh-CN" altLang="en-US" sz="2000"/>
              <a:t>，与</a:t>
            </a:r>
            <a:r>
              <a:rPr lang="en-US" altLang="zh-CN" sz="2000"/>
              <a:t>SPODE</a:t>
            </a:r>
            <a:r>
              <a:rPr lang="zh-CN" altLang="en-US" sz="2000"/>
              <a:t>通过模型选择确定超父属</a:t>
            </a:r>
            <a:endParaRPr lang="zh-CN" altLang="en-US" sz="2000"/>
          </a:p>
          <a:p>
            <a:pPr>
              <a:lnSpc>
                <a:spcPct val="20000"/>
              </a:lnSpc>
            </a:pPr>
            <a:r>
              <a:rPr lang="zh-CN" altLang="en-US" sz="2000"/>
              <a:t> </a:t>
            </a:r>
            <a:r>
              <a:rPr lang="en-US" altLang="zh-CN" sz="2000"/>
              <a:t>             </a:t>
            </a:r>
            <a:endParaRPr lang="en-US" altLang="zh-CN" sz="2000"/>
          </a:p>
          <a:p>
            <a:r>
              <a:rPr lang="en-US" altLang="zh-CN" sz="2000"/>
              <a:t>              </a:t>
            </a:r>
            <a:r>
              <a:rPr lang="zh-CN" altLang="en-US" sz="2000"/>
              <a:t>性不同，</a:t>
            </a:r>
            <a:r>
              <a:rPr lang="en-US" altLang="zh-CN" sz="2000"/>
              <a:t>AODE</a:t>
            </a:r>
            <a:r>
              <a:rPr lang="zh-CN" altLang="en-US" sz="2000"/>
              <a:t>尝试将每个属性作为超父来构建</a:t>
            </a:r>
            <a:r>
              <a:rPr lang="en-US" altLang="zh-CN" sz="2000"/>
              <a:t>SPODE</a:t>
            </a:r>
            <a:r>
              <a:rPr lang="zh-CN" altLang="en-US" sz="2000"/>
              <a:t>，然后将那些具有足够训练数据支撑的</a:t>
            </a:r>
            <a:endParaRPr lang="zh-CN" altLang="en-US" sz="2000"/>
          </a:p>
          <a:p>
            <a:pPr>
              <a:lnSpc>
                <a:spcPct val="20000"/>
              </a:lnSpc>
            </a:pPr>
            <a:r>
              <a:rPr lang="zh-CN" altLang="en-US" sz="2000"/>
              <a:t> </a:t>
            </a:r>
            <a:r>
              <a:rPr lang="en-US" altLang="zh-CN" sz="2000"/>
              <a:t>             </a:t>
            </a:r>
            <a:endParaRPr lang="en-US" altLang="zh-CN" sz="2000"/>
          </a:p>
          <a:p>
            <a:r>
              <a:rPr lang="en-US" altLang="zh-CN" sz="2000"/>
              <a:t>              SPODE</a:t>
            </a:r>
            <a:r>
              <a:rPr lang="zh-CN" altLang="en-US" sz="2000"/>
              <a:t>集成起来作为最终模型：</a:t>
            </a:r>
            <a:endParaRPr lang="zh-CN" altLang="en-US" sz="2000"/>
          </a:p>
          <a:p>
            <a:endParaRPr lang="zh-CN" altLang="en-US" sz="2000"/>
          </a:p>
          <a:p>
            <a:endParaRPr lang="zh-CN" altLang="en-US" sz="2000"/>
          </a:p>
        </p:txBody>
      </p:sp>
      <mc:AlternateContent xmlns:mc="http://schemas.openxmlformats.org/markup-compatibility/2006">
        <mc:Choice xmlns:a14="http://schemas.microsoft.com/office/drawing/2010/main" Requires="a14">
          <p:sp>
            <p:nvSpPr>
              <p:cNvPr id="5" name="文本框 4"/>
              <p:cNvSpPr txBox="1"/>
              <p:nvPr/>
            </p:nvSpPr>
            <p:spPr>
              <a:xfrm>
                <a:off x="2589530" y="2422525"/>
                <a:ext cx="6096000" cy="1207770"/>
              </a:xfrm>
              <a:prstGeom prst="rect">
                <a:avLst/>
              </a:prstGeom>
              <a:noFill/>
            </p:spPr>
            <p:txBody>
              <a:bodyPr wrap="square" rtlCol="0" anchor="t">
                <a:spAutoFit/>
              </a:bodyPr>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eqArr>
                            <m:eqArrPr>
                              <m:ctrlPr>
                                <a:rPr lang="en-US" altLang="zh-CN" i="1">
                                  <a:latin typeface="Cambria Math" panose="02040503050406030204" pitchFamily="18" charset="0"/>
                                  <a:cs typeface="Cambria Math" panose="02040503050406030204" pitchFamily="18" charset="0"/>
                                </a:rPr>
                              </m:ctrlPr>
                            </m:eqArrPr>
                            <m:e>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e>
                            <m:e>
                              <m:d>
                                <m:dPr>
                                  <m:begChr m:val="|"/>
                                  <m:endChr m:val="|"/>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𝐷</m:t>
                                      </m:r>
                                    </m:e>
                                    <m: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sub>
                                  </m:sSub>
                                </m:e>
                              </m:d>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𝑚</m:t>
                                  </m:r>
                                </m:e>
                                <m:sup>
                                  <m:r>
                                    <a:rPr lang="en-US" altLang="zh-CN" i="1">
                                      <a:latin typeface="Cambria Math" panose="02040503050406030204" pitchFamily="18" charset="0"/>
                                      <a:cs typeface="Cambria Math" panose="02040503050406030204" pitchFamily="18" charset="0"/>
                                    </a:rPr>
                                    <m:t>’</m:t>
                                  </m:r>
                                </m:sup>
                              </m:sSup>
                            </m:e>
                          </m:eqArr>
                        </m:sub>
                        <m:sup>
                          <m:r>
                            <a:rPr lang="en-US" altLang="zh-CN" i="1">
                              <a:latin typeface="Cambria Math" panose="02040503050406030204" pitchFamily="18" charset="0"/>
                              <a:cs typeface="Cambria Math" panose="02040503050406030204" pitchFamily="18" charset="0"/>
                            </a:rPr>
                            <m:t>𝑑</m:t>
                          </m:r>
                        </m:sup>
                        <m:e>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𝑑</m:t>
                              </m:r>
                            </m:sup>
                            <m:e>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𝑗</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𝑐</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e>
                          </m:nary>
                        </m:e>
                      </m:nary>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589530" y="2422525"/>
                <a:ext cx="6096000" cy="1207770"/>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flipH="1">
            <a:off x="3823652" y="1411646"/>
            <a:ext cx="5080" cy="475932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p:sp>
        <p:nvSpPr>
          <p:cNvPr id="2" name="文本框 1"/>
          <p:cNvSpPr txBox="1"/>
          <p:nvPr/>
        </p:nvSpPr>
        <p:spPr>
          <a:xfrm>
            <a:off x="4094480" y="1411605"/>
            <a:ext cx="6861175" cy="4073525"/>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贝叶斯定理</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贝叶斯决策论</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极大似然估计</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利用贝叶斯解决实际问题：拼写纠错</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半朴素贝叶斯分类器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贝叶斯网</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思考题</a:t>
            </a:r>
            <a:endParaRPr lang="zh-CN" altLang="en-US" sz="2800" b="1" spc="200" dirty="0">
              <a:uFillTx/>
              <a:latin typeface="宋体" panose="02010600030101010101" pitchFamily="2" charset="-122"/>
              <a:ea typeface="宋体" panose="02010600030101010101" pitchFamily="2" charset="-122"/>
              <a:cs typeface="+mj-cs"/>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贝叶斯网</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278130" y="1127125"/>
                <a:ext cx="11332210" cy="5274310"/>
              </a:xfrm>
              <a:prstGeom prst="rect">
                <a:avLst/>
              </a:prstGeom>
              <a:noFill/>
            </p:spPr>
            <p:txBody>
              <a:bodyPr wrap="square" rtlCol="0">
                <a:spAutoFit/>
              </a:bodyPr>
              <a:p>
                <a:pPr indent="457200"/>
                <a:r>
                  <a:rPr lang="zh-CN" altLang="en-US"/>
                  <a:t>前面所述的</a:t>
                </a:r>
                <a:r>
                  <a:rPr lang="zh-CN" altLang="en-US">
                    <a:solidFill>
                      <a:schemeClr val="accent2"/>
                    </a:solidFill>
                  </a:rPr>
                  <a:t>朴素贝叶斯分类器</a:t>
                </a:r>
                <a:r>
                  <a:rPr lang="zh-CN" altLang="en-US"/>
                  <a:t>采用了</a:t>
                </a:r>
                <a:r>
                  <a:rPr lang="zh-CN" altLang="en-US">
                    <a:solidFill>
                      <a:schemeClr val="accent2"/>
                    </a:solidFill>
                  </a:rPr>
                  <a:t>属性条件独立性假设</a:t>
                </a:r>
                <a:r>
                  <a:rPr lang="zh-CN" altLang="en-US"/>
                  <a:t>，假设每个属性在类别之外不依赖于其他属性；</a:t>
                </a:r>
                <a:r>
                  <a:rPr lang="zh-CN" altLang="en-US">
                    <a:solidFill>
                      <a:schemeClr val="accent6"/>
                    </a:solidFill>
                  </a:rPr>
                  <a:t>半朴素贝叶斯分类器</a:t>
                </a:r>
                <a:r>
                  <a:rPr lang="zh-CN" altLang="en-US"/>
                  <a:t>采用了</a:t>
                </a:r>
                <a:r>
                  <a:rPr lang="zh-CN" altLang="en-US">
                    <a:solidFill>
                      <a:schemeClr val="accent6"/>
                    </a:solidFill>
                  </a:rPr>
                  <a:t>独依赖估计</a:t>
                </a:r>
                <a:r>
                  <a:rPr lang="zh-CN" altLang="en-US"/>
                  <a:t>，假设每个属性在类别之外最多依赖一起其他属性。均是存在一定的前提假设，而现实生活中属性之间往往存在多个互相依赖关系，此时我们需要采用</a:t>
                </a:r>
                <a:r>
                  <a:rPr lang="zh-CN" altLang="en-US">
                    <a:solidFill>
                      <a:schemeClr val="accent1"/>
                    </a:solidFill>
                    <a:effectLst>
                      <a:outerShdw blurRad="38100" dist="25400" dir="5400000" algn="ctr" rotWithShape="0">
                        <a:srgbClr val="6E747A">
                          <a:alpha val="43000"/>
                        </a:srgbClr>
                      </a:outerShdw>
                    </a:effectLst>
                  </a:rPr>
                  <a:t>贝叶斯网</a:t>
                </a:r>
                <a:r>
                  <a:rPr lang="zh-CN" altLang="en-US"/>
                  <a:t>来解决问题。</a:t>
                </a:r>
                <a:endParaRPr lang="zh-CN" altLang="en-US"/>
              </a:p>
              <a:p>
                <a:pPr indent="457200"/>
                <a:endParaRPr lang="zh-CN" altLang="en-US"/>
              </a:p>
              <a:p>
                <a:pPr indent="457200"/>
                <a:r>
                  <a:rPr lang="zh-CN" altLang="en-US">
                    <a:solidFill>
                      <a:schemeClr val="accent1"/>
                    </a:solidFill>
                    <a:effectLst>
                      <a:outerShdw blurRad="38100" dist="25400" dir="5400000" algn="ctr" rotWithShape="0">
                        <a:srgbClr val="6E747A">
                          <a:alpha val="43000"/>
                        </a:srgbClr>
                      </a:outerShdw>
                    </a:effectLst>
                  </a:rPr>
                  <a:t>贝叶斯网</a:t>
                </a:r>
                <a:r>
                  <a:rPr lang="zh-CN" altLang="en-US"/>
                  <a:t>又称为</a:t>
                </a:r>
                <a:r>
                  <a:rPr lang="zh-CN" altLang="en-US">
                    <a:solidFill>
                      <a:schemeClr val="accent1"/>
                    </a:solidFill>
                    <a:effectLst>
                      <a:outerShdw blurRad="38100" dist="25400" dir="5400000" algn="ctr" rotWithShape="0">
                        <a:srgbClr val="6E747A">
                          <a:alpha val="43000"/>
                        </a:srgbClr>
                      </a:outerShdw>
                    </a:effectLst>
                  </a:rPr>
                  <a:t>信念网</a:t>
                </a:r>
                <a:r>
                  <a:rPr lang="zh-CN" altLang="en-US"/>
                  <a:t>，是</a:t>
                </a:r>
                <a:r>
                  <a:rPr lang="zh-CN" altLang="en-US">
                    <a:solidFill>
                      <a:schemeClr val="accent1"/>
                    </a:solidFill>
                    <a:effectLst>
                      <a:outerShdw blurRad="38100" dist="25400" dir="5400000" algn="ctr" rotWithShape="0">
                        <a:srgbClr val="6E747A">
                          <a:alpha val="43000"/>
                        </a:srgbClr>
                      </a:outerShdw>
                    </a:effectLst>
                  </a:rPr>
                  <a:t>贝叶斯方法</a:t>
                </a:r>
                <a:r>
                  <a:rPr lang="zh-CN" altLang="en-US"/>
                  <a:t>的拓展，是目前不确定知识表达和推理领域最有效的理论模型之一。一个</a:t>
                </a:r>
                <a:r>
                  <a:rPr lang="zh-CN" altLang="en-US">
                    <a:solidFill>
                      <a:schemeClr val="accent1"/>
                    </a:solidFill>
                    <a:effectLst>
                      <a:outerShdw blurRad="38100" dist="25400" dir="5400000" algn="ctr" rotWithShape="0">
                        <a:srgbClr val="6E747A">
                          <a:alpha val="43000"/>
                        </a:srgbClr>
                      </a:outerShdw>
                    </a:effectLst>
                  </a:rPr>
                  <a:t>贝叶斯网</a:t>
                </a:r>
                <a14:m>
                  <m:oMath xmlns:m="http://schemas.openxmlformats.org/officeDocument/2006/math">
                    <m:r>
                      <a:rPr lang="en-US" altLang="zh-CN" i="1">
                        <a:latin typeface="Cambria Math" panose="02040503050406030204" pitchFamily="18" charset="0"/>
                        <a:cs typeface="Cambria Math" panose="02040503050406030204" pitchFamily="18" charset="0"/>
                      </a:rPr>
                      <m:t>𝐵</m:t>
                    </m:r>
                  </m:oMath>
                </a14:m>
                <a:r>
                  <a:rPr lang="zh-CN" altLang="en-US">
                    <a:latin typeface="Cambria Math" panose="02040503050406030204" pitchFamily="18" charset="0"/>
                    <a:cs typeface="Cambria Math" panose="02040503050406030204" pitchFamily="18" charset="0"/>
                  </a:rPr>
                  <a:t>由有</a:t>
                </a:r>
                <a:r>
                  <a:rPr lang="zh-CN" altLang="en-US">
                    <a:solidFill>
                      <a:schemeClr val="accent4">
                        <a:lumMod val="60000"/>
                        <a:lumOff val="40000"/>
                      </a:schemeClr>
                    </a:solidFill>
                    <a:latin typeface="Cambria Math" panose="02040503050406030204" pitchFamily="18" charset="0"/>
                    <a:cs typeface="Cambria Math" panose="02040503050406030204" pitchFamily="18" charset="0"/>
                  </a:rPr>
                  <a:t>结构</a:t>
                </a:r>
                <a14:m>
                  <m:oMath xmlns:m="http://schemas.openxmlformats.org/officeDocument/2006/math">
                    <m:r>
                      <a:rPr lang="en-US" altLang="zh-CN" i="1">
                        <a:solidFill>
                          <a:schemeClr val="accent4">
                            <a:lumMod val="60000"/>
                            <a:lumOff val="40000"/>
                          </a:schemeClr>
                        </a:solidFill>
                        <a:latin typeface="Cambria Math" panose="02040503050406030204" pitchFamily="18" charset="0"/>
                        <a:cs typeface="Cambria Math" panose="02040503050406030204" pitchFamily="18" charset="0"/>
                      </a:rPr>
                      <m:t>𝐺</m:t>
                    </m:r>
                  </m:oMath>
                </a14:m>
                <a:r>
                  <a:rPr lang="zh-CN" altLang="en-US">
                    <a:latin typeface="Cambria Math" panose="02040503050406030204" pitchFamily="18" charset="0"/>
                    <a:cs typeface="Cambria Math" panose="02040503050406030204" pitchFamily="18" charset="0"/>
                  </a:rPr>
                  <a:t>和</a:t>
                </a:r>
                <a:r>
                  <a:rPr lang="zh-CN" altLang="en-US">
                    <a:solidFill>
                      <a:srgbClr val="7030A0"/>
                    </a:solidFill>
                    <a:latin typeface="Cambria Math" panose="02040503050406030204" pitchFamily="18" charset="0"/>
                    <a:cs typeface="Cambria Math" panose="02040503050406030204" pitchFamily="18" charset="0"/>
                  </a:rPr>
                  <a:t>参数</a:t>
                </a:r>
                <a14:m>
                  <m:oMath xmlns:m="http://schemas.openxmlformats.org/officeDocument/2006/math">
                    <m:r>
                      <a:rPr lang="en-US" altLang="zh-CN" i="1">
                        <a:solidFill>
                          <a:srgbClr val="7030A0"/>
                        </a:solidFill>
                        <a:latin typeface="Cambria Math" panose="02040503050406030204" pitchFamily="18" charset="0"/>
                        <a:cs typeface="Cambria Math" panose="02040503050406030204" pitchFamily="18" charset="0"/>
                      </a:rPr>
                      <m:t>𝛩</m:t>
                    </m:r>
                  </m:oMath>
                </a14:m>
                <a:r>
                  <a:rPr lang="zh-CN" altLang="en-US">
                    <a:latin typeface="Cambria Math" panose="02040503050406030204" pitchFamily="18" charset="0"/>
                    <a:cs typeface="Cambria Math" panose="02040503050406030204" pitchFamily="18" charset="0"/>
                  </a:rPr>
                  <a:t>两部分构成。</a:t>
                </a:r>
                <a:endParaRPr lang="zh-CN" altLang="en-US">
                  <a:latin typeface="Cambria Math" panose="02040503050406030204" pitchFamily="18" charset="0"/>
                  <a:cs typeface="Cambria Math" panose="02040503050406030204" pitchFamily="18" charset="0"/>
                </a:endParaRPr>
              </a:p>
              <a:p>
                <a:pPr indent="457200">
                  <a:lnSpc>
                    <a:spcPct val="20000"/>
                  </a:lnSpc>
                </a:pPr>
                <a:endParaRPr lang="zh-CN" altLang="en-US">
                  <a:latin typeface="Cambria Math" panose="02040503050406030204" pitchFamily="18" charset="0"/>
                  <a:cs typeface="Cambria Math" panose="02040503050406030204" pitchFamily="18" charset="0"/>
                </a:endParaRPr>
              </a:p>
              <a:p>
                <a:pPr indent="457200"/>
                <a:r>
                  <a:rPr lang="zh-CN" altLang="en-US">
                    <a:solidFill>
                      <a:schemeClr val="accent4">
                        <a:lumMod val="60000"/>
                        <a:lumOff val="40000"/>
                      </a:schemeClr>
                    </a:solidFill>
                    <a:latin typeface="Cambria Math" panose="02040503050406030204" pitchFamily="18" charset="0"/>
                    <a:cs typeface="Cambria Math" panose="02040503050406030204" pitchFamily="18" charset="0"/>
                  </a:rPr>
                  <a:t>有向无环图</a:t>
                </a:r>
                <a:r>
                  <a:rPr lang="zh-CN" altLang="en-US">
                    <a:latin typeface="Cambria Math" panose="02040503050406030204" pitchFamily="18" charset="0"/>
                    <a:cs typeface="Cambria Math" panose="02040503050406030204" pitchFamily="18" charset="0"/>
                  </a:rPr>
                  <a:t>：无回路的有向图</a:t>
                </a:r>
                <a:endParaRPr lang="zh-CN" altLang="en-US">
                  <a:latin typeface="Cambria Math" panose="02040503050406030204" pitchFamily="18" charset="0"/>
                  <a:cs typeface="Cambria Math" panose="02040503050406030204" pitchFamily="18" charset="0"/>
                </a:endParaRPr>
              </a:p>
              <a:p>
                <a:pPr indent="457200">
                  <a:lnSpc>
                    <a:spcPct val="20000"/>
                  </a:lnSpc>
                </a:pPr>
                <a:endParaRPr lang="zh-CN" altLang="en-US">
                  <a:latin typeface="Cambria Math" panose="02040503050406030204" pitchFamily="18" charset="0"/>
                  <a:cs typeface="Cambria Math" panose="02040503050406030204" pitchFamily="18" charset="0"/>
                </a:endParaRPr>
              </a:p>
              <a:p>
                <a:pPr indent="457200"/>
                <a:r>
                  <a:rPr lang="zh-CN" altLang="en-US">
                    <a:solidFill>
                      <a:srgbClr val="7030A0"/>
                    </a:solidFill>
                    <a:latin typeface="Cambria Math" panose="02040503050406030204" pitchFamily="18" charset="0"/>
                    <a:cs typeface="Cambria Math" panose="02040503050406030204" pitchFamily="18" charset="0"/>
                  </a:rPr>
                  <a:t>条件概率表</a:t>
                </a:r>
                <a:r>
                  <a:rPr lang="zh-CN" altLang="en-US">
                    <a:latin typeface="Cambria Math" panose="02040503050406030204" pitchFamily="18" charset="0"/>
                    <a:cs typeface="Cambria Math" panose="02040503050406030204" pitchFamily="18" charset="0"/>
                  </a:rPr>
                  <a:t>：结点的条件概率的集合</a:t>
                </a:r>
                <a:endParaRPr lang="zh-CN" altLang="en-US">
                  <a:latin typeface="Cambria Math" panose="02040503050406030204" pitchFamily="18" charset="0"/>
                  <a:cs typeface="Cambria Math" panose="02040503050406030204" pitchFamily="18" charset="0"/>
                </a:endParaRPr>
              </a:p>
              <a:p>
                <a:pPr indent="457200">
                  <a:lnSpc>
                    <a:spcPct val="20000"/>
                  </a:lnSpc>
                </a:pPr>
                <a:endParaRPr lang="zh-CN" altLang="en-US">
                  <a:latin typeface="Cambria Math" panose="02040503050406030204" pitchFamily="18" charset="0"/>
                  <a:cs typeface="Cambria Math" panose="02040503050406030204" pitchFamily="18" charset="0"/>
                </a:endParaRPr>
              </a:p>
              <a:p>
                <a:pPr indent="457200"/>
                <a:r>
                  <a:rPr lang="zh-CN" altLang="en-US">
                    <a:solidFill>
                      <a:schemeClr val="accent4">
                        <a:lumMod val="60000"/>
                        <a:lumOff val="40000"/>
                      </a:schemeClr>
                    </a:solidFill>
                    <a:latin typeface="Cambria Math" panose="02040503050406030204" pitchFamily="18" charset="0"/>
                    <a:cs typeface="Cambria Math" panose="02040503050406030204" pitchFamily="18" charset="0"/>
                  </a:rPr>
                  <a:t>结构G</a:t>
                </a:r>
                <a:r>
                  <a:rPr lang="zh-CN" altLang="en-US">
                    <a:latin typeface="Cambria Math" panose="02040503050406030204" pitchFamily="18" charset="0"/>
                    <a:cs typeface="Cambria Math" panose="02040503050406030204" pitchFamily="18" charset="0"/>
                  </a:rPr>
                  <a:t>：一种</a:t>
                </a:r>
                <a:r>
                  <a:rPr lang="zh-CN" altLang="en-US">
                    <a:solidFill>
                      <a:schemeClr val="accent4">
                        <a:lumMod val="60000"/>
                        <a:lumOff val="40000"/>
                      </a:schemeClr>
                    </a:solidFill>
                    <a:latin typeface="Cambria Math" panose="02040503050406030204" pitchFamily="18" charset="0"/>
                    <a:cs typeface="Cambria Math" panose="02040503050406030204" pitchFamily="18" charset="0"/>
                  </a:rPr>
                  <a:t>有向无环图</a:t>
                </a:r>
                <a:r>
                  <a:rPr lang="zh-CN" altLang="en-US">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sym typeface="+mn-ea"/>
                  </a:rPr>
                  <a:t>每个结点对应于一个属性，若两个属性有直接依赖关系，则用一条线将它</a:t>
                </a:r>
                <a:endParaRPr lang="zh-CN" altLang="en-US">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们连接起来</a:t>
                </a:r>
                <a:endParaRPr lang="zh-CN" altLang="en-US">
                  <a:latin typeface="Cambria Math" panose="02040503050406030204" pitchFamily="18" charset="0"/>
                  <a:cs typeface="Cambria Math" panose="02040503050406030204" pitchFamily="18" charset="0"/>
                  <a:sym typeface="+mn-ea"/>
                </a:endParaRPr>
              </a:p>
              <a:p>
                <a:pPr indent="457200">
                  <a:lnSpc>
                    <a:spcPct val="20000"/>
                  </a:lnSpc>
                </a:pPr>
                <a:endParaRPr lang="zh-CN" altLang="en-US">
                  <a:latin typeface="Cambria Math" panose="02040503050406030204" pitchFamily="18" charset="0"/>
                  <a:cs typeface="Cambria Math" panose="02040503050406030204" pitchFamily="18" charset="0"/>
                </a:endParaRPr>
              </a:p>
              <a:p>
                <a:pPr indent="457200"/>
                <a:r>
                  <a:rPr lang="zh-CN" altLang="en-US">
                    <a:solidFill>
                      <a:srgbClr val="7030A0"/>
                    </a:solidFill>
                    <a:latin typeface="Cambria Math" panose="02040503050406030204" pitchFamily="18" charset="0"/>
                    <a:cs typeface="Cambria Math" panose="02040503050406030204" pitchFamily="18" charset="0"/>
                  </a:rPr>
                  <a:t>参数</a:t>
                </a:r>
                <a14:m>
                  <m:oMath xmlns:m="http://schemas.openxmlformats.org/officeDocument/2006/math">
                    <m:r>
                      <a:rPr lang="zh-CN" altLang="en-US">
                        <a:solidFill>
                          <a:srgbClr val="7030A0"/>
                        </a:solidFill>
                        <a:latin typeface="Cambria Math" panose="02040503050406030204" pitchFamily="18" charset="0"/>
                        <a:cs typeface="Cambria Math" panose="02040503050406030204" pitchFamily="18" charset="0"/>
                      </a:rPr>
                      <m:t>𝛩</m:t>
                    </m:r>
                  </m:oMath>
                </a14:m>
                <a:r>
                  <a:rPr lang="zh-CN" altLang="en-US">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sym typeface="+mn-ea"/>
                  </a:rPr>
                  <a:t>用于定量描述两个属性之间的依赖关系，假设属性</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sym typeface="+mn-ea"/>
                  </a:rPr>
                  <a:t>在有向无环图</a:t>
                </a:r>
                <a:r>
                  <a:rPr lang="en-US" altLang="zh-CN">
                    <a:latin typeface="Cambria Math" panose="02040503050406030204" pitchFamily="18" charset="0"/>
                    <a:cs typeface="Cambria Math" panose="02040503050406030204" pitchFamily="18" charset="0"/>
                    <a:sym typeface="+mn-ea"/>
                  </a:rPr>
                  <a:t>G</a:t>
                </a:r>
                <a:r>
                  <a:rPr lang="zh-CN" altLang="en-US">
                    <a:latin typeface="Cambria Math" panose="02040503050406030204" pitchFamily="18" charset="0"/>
                    <a:cs typeface="Cambria Math" panose="02040503050406030204" pitchFamily="18" charset="0"/>
                    <a:sym typeface="+mn-ea"/>
                  </a:rPr>
                  <a:t>中的父结点集为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𝜋</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sym typeface="+mn-ea"/>
                  </a:rPr>
                  <a:t>，则</a:t>
                </a:r>
                <a14:m>
                  <m:oMath xmlns:m="http://schemas.openxmlformats.org/officeDocument/2006/math">
                    <m:r>
                      <a:rPr lang="en-US" altLang="zh-CN" i="1">
                        <a:latin typeface="Cambria Math" panose="02040503050406030204" pitchFamily="18" charset="0"/>
                        <a:cs typeface="Cambria Math" panose="02040503050406030204" pitchFamily="18" charset="0"/>
                      </a:rPr>
                      <m:t>𝛩</m:t>
                    </m:r>
                  </m:oMath>
                </a14:m>
                <a:r>
                  <a:rPr lang="zh-CN" altLang="en-US">
                    <a:latin typeface="Cambria Math" panose="02040503050406030204" pitchFamily="18" charset="0"/>
                    <a:cs typeface="Cambria Math" panose="02040503050406030204" pitchFamily="18" charset="0"/>
                    <a:sym typeface="+mn-ea"/>
                  </a:rPr>
                  <a:t>包含了</a:t>
                </a:r>
                <a:endParaRPr lang="zh-CN" altLang="en-US">
                  <a:latin typeface="Cambria Math" panose="02040503050406030204" pitchFamily="18" charset="0"/>
                  <a:cs typeface="Cambria Math" panose="02040503050406030204" pitchFamily="18" charset="0"/>
                  <a:sym typeface="+mn-ea"/>
                </a:endParaRPr>
              </a:p>
              <a:p>
                <a:pPr indent="457200"/>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latin typeface="Cambria Math" panose="02040503050406030204" pitchFamily="18" charset="0"/>
                    <a:cs typeface="Cambria Math" panose="02040503050406030204" pitchFamily="18" charset="0"/>
                    <a:sym typeface="+mn-ea"/>
                  </a:rPr>
                  <a:t>每个属性的</a:t>
                </a:r>
                <a:r>
                  <a:rPr lang="zh-CN" altLang="en-US">
                    <a:solidFill>
                      <a:srgbClr val="7030A0"/>
                    </a:solidFill>
                    <a:latin typeface="Cambria Math" panose="02040503050406030204" pitchFamily="18" charset="0"/>
                    <a:cs typeface="Cambria Math" panose="02040503050406030204" pitchFamily="18" charset="0"/>
                    <a:sym typeface="+mn-ea"/>
                  </a:rPr>
                  <a:t>条件概率表</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𝛩</m:t>
                        </m:r>
                      </m:e>
                      <m:sub>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𝑥</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𝜋</m:t>
                            </m:r>
                          </m:e>
                          <m:sub>
                            <m:r>
                              <a:rPr lang="en-US" altLang="zh-CN" i="1">
                                <a:latin typeface="Cambria Math" panose="02040503050406030204" pitchFamily="18" charset="0"/>
                                <a:cs typeface="Cambria Math" panose="02040503050406030204" pitchFamily="18" charset="0"/>
                                <a:sym typeface="+mn-ea"/>
                              </a:rPr>
                              <m:t>𝑖</m:t>
                            </m:r>
                          </m:sub>
                        </m:sSub>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𝑃</m:t>
                        </m:r>
                      </m:e>
                      <m:sub>
                        <m:r>
                          <a:rPr lang="en-US" altLang="zh-CN" i="1">
                            <a:latin typeface="Cambria Math" panose="02040503050406030204" pitchFamily="18" charset="0"/>
                            <a:cs typeface="Cambria Math" panose="02040503050406030204" pitchFamily="18" charset="0"/>
                            <a:sym typeface="+mn-ea"/>
                          </a:rPr>
                          <m:t>𝐵</m:t>
                        </m:r>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𝑥</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𝜋</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oMath>
                </a14:m>
                <a:endParaRPr lang="zh-CN" altLang="en-US">
                  <a:latin typeface="Cambria Math" panose="02040503050406030204" pitchFamily="18" charset="0"/>
                  <a:cs typeface="Cambria Math" panose="02040503050406030204" pitchFamily="18" charset="0"/>
                </a:endParaRPr>
              </a:p>
              <a:p>
                <a:pPr indent="457200"/>
                <a:endParaRPr lang="zh-CN" altLang="en-US">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贝叶斯网结构有效地表达了属性之间的条件独立性，给定父结点集，贝叶斯网假设每个属性与它的非后裔属性独立，于是</a:t>
                </a:r>
                <a14:m>
                  <m:oMath xmlns:m="http://schemas.openxmlformats.org/officeDocument/2006/math">
                    <m: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=&lt;</m:t>
                    </m:r>
                    <m:r>
                      <a:rPr lang="en-US" altLang="zh-CN" i="1">
                        <a:solidFill>
                          <a:schemeClr val="accent4">
                            <a:lumMod val="60000"/>
                            <a:lumOff val="40000"/>
                          </a:schemeClr>
                        </a:solidFill>
                        <a:latin typeface="Cambria Math" panose="02040503050406030204" pitchFamily="18" charset="0"/>
                        <a:cs typeface="Cambria Math" panose="02040503050406030204" pitchFamily="18" charset="0"/>
                      </a:rPr>
                      <m:t>𝐺</m:t>
                    </m:r>
                    <m:r>
                      <a:rPr lang="en-US" altLang="zh-CN" i="1">
                        <a:latin typeface="Cambria Math" panose="02040503050406030204" pitchFamily="18" charset="0"/>
                        <a:cs typeface="Cambria Math" panose="02040503050406030204" pitchFamily="18" charset="0"/>
                      </a:rPr>
                      <m:t>,</m:t>
                    </m:r>
                    <m:r>
                      <a:rPr lang="en-US" altLang="zh-CN" i="1">
                        <a:solidFill>
                          <a:srgbClr val="7030A0"/>
                        </a:solidFill>
                        <a:latin typeface="Cambria Math" panose="02040503050406030204" pitchFamily="18" charset="0"/>
                        <a:cs typeface="Cambria Math" panose="02040503050406030204" pitchFamily="18" charset="0"/>
                      </a:rPr>
                      <m:t>𝛩</m:t>
                    </m:r>
                    <m:r>
                      <a:rPr lang="en-US" altLang="zh-CN" i="1">
                        <a:latin typeface="Cambria Math" panose="02040503050406030204" pitchFamily="18" charset="0"/>
                        <a:cs typeface="Cambria Math" panose="02040503050406030204" pitchFamily="18" charset="0"/>
                      </a:rPr>
                      <m:t>&gt;</m:t>
                    </m:r>
                  </m:oMath>
                </a14:m>
                <a:r>
                  <a:rPr lang="zh-CN" altLang="en-US">
                    <a:latin typeface="Cambria Math" panose="02040503050406030204" pitchFamily="18" charset="0"/>
                    <a:cs typeface="Cambria Math" panose="02040503050406030204" pitchFamily="18" charset="0"/>
                  </a:rPr>
                  <a:t>将属性</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𝑑</m:t>
                        </m:r>
                      </m:sub>
                    </m:sSub>
                  </m:oMath>
                </a14:m>
                <a:r>
                  <a:rPr lang="zh-CN" altLang="en-US">
                    <a:latin typeface="Cambria Math" panose="02040503050406030204" pitchFamily="18" charset="0"/>
                    <a:cs typeface="Cambria Math" panose="02040503050406030204" pitchFamily="18" charset="0"/>
                  </a:rPr>
                  <a:t>的联合概率分布定义为：</a:t>
                </a:r>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𝑃</m:t>
                          </m:r>
                        </m:e>
                        <m:sub>
                          <m:r>
                            <a:rPr lang="en-US" altLang="zh-CN" i="1">
                              <a:latin typeface="Cambria Math" panose="02040503050406030204" pitchFamily="18" charset="0"/>
                              <a:cs typeface="Cambria Math" panose="02040503050406030204" pitchFamily="18" charset="0"/>
                            </a:rPr>
                            <m:t>𝐵</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𝑑</m:t>
                          </m:r>
                        </m:sub>
                      </m:sSub>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𝑑</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𝑃</m:t>
                              </m:r>
                            </m:e>
                            <m:sub>
                              <m:r>
                                <a:rPr lang="en-US" altLang="zh-CN" i="1">
                                  <a:latin typeface="Cambria Math" panose="02040503050406030204" pitchFamily="18" charset="0"/>
                                  <a:cs typeface="Cambria Math" panose="02040503050406030204" pitchFamily="18" charset="0"/>
                                </a:rPr>
                                <m:t>𝐵</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e>
                      </m:nary>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𝜋</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𝑑</m:t>
                          </m:r>
                        </m:sup>
                        <m:e>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𝛩</m:t>
                              </m:r>
                            </m:e>
                            <m:sub>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𝑥</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𝜋</m:t>
                                  </m:r>
                                </m:e>
                                <m:sub>
                                  <m:r>
                                    <a:rPr lang="en-US" altLang="zh-CN" i="1">
                                      <a:latin typeface="Cambria Math" panose="02040503050406030204" pitchFamily="18" charset="0"/>
                                      <a:cs typeface="Cambria Math" panose="02040503050406030204" pitchFamily="18" charset="0"/>
                                      <a:sym typeface="+mn-ea"/>
                                    </a:rPr>
                                    <m:t>𝑖</m:t>
                                  </m:r>
                                </m:sub>
                              </m:sSub>
                            </m:sub>
                          </m:sSub>
                        </m:e>
                      </m:nary>
                    </m:oMath>
                  </m:oMathPara>
                </a14:m>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78130" y="1127125"/>
                <a:ext cx="11332210" cy="527431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贝叶斯网</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35280" y="1209040"/>
            <a:ext cx="11266805" cy="368300"/>
          </a:xfrm>
          <a:prstGeom prst="rect">
            <a:avLst/>
          </a:prstGeom>
          <a:noFill/>
        </p:spPr>
        <p:txBody>
          <a:bodyPr wrap="square" rtlCol="0">
            <a:spAutoFit/>
          </a:bodyPr>
          <a:p>
            <a:r>
              <a:rPr lang="zh-CN" altLang="en-US"/>
              <a:t>以西瓜数据集为例子，下图给出了西瓜问题的一种贝叶斯网结构和属性</a:t>
            </a:r>
            <a:r>
              <a:rPr lang="en-US" altLang="zh-CN"/>
              <a:t>“</a:t>
            </a:r>
            <a:r>
              <a:rPr lang="zh-CN" altLang="en-US"/>
              <a:t>根蒂</a:t>
            </a:r>
            <a:r>
              <a:rPr lang="en-US" altLang="zh-CN"/>
              <a:t>”</a:t>
            </a:r>
            <a:r>
              <a:rPr lang="zh-CN" altLang="en-US"/>
              <a:t>的条件概率表：</a:t>
            </a:r>
            <a:endParaRPr lang="zh-CN" altLang="en-US"/>
          </a:p>
        </p:txBody>
      </p:sp>
      <p:pic>
        <p:nvPicPr>
          <p:cNvPr id="6" name="图片 5"/>
          <p:cNvPicPr>
            <a:picLocks noChangeAspect="1"/>
          </p:cNvPicPr>
          <p:nvPr>
            <p:custDataLst>
              <p:tags r:id="rId1"/>
            </p:custDataLst>
          </p:nvPr>
        </p:nvPicPr>
        <p:blipFill>
          <a:blip r:embed="rId2"/>
          <a:stretch>
            <a:fillRect/>
          </a:stretch>
        </p:blipFill>
        <p:spPr>
          <a:xfrm>
            <a:off x="1813560" y="1812925"/>
            <a:ext cx="8309610" cy="2415540"/>
          </a:xfrm>
          <a:prstGeom prst="rect">
            <a:avLst/>
          </a:prstGeom>
        </p:spPr>
      </p:pic>
      <mc:AlternateContent xmlns:mc="http://schemas.openxmlformats.org/markup-compatibility/2006">
        <mc:Choice xmlns:a14="http://schemas.microsoft.com/office/drawing/2010/main" Requires="a14">
          <p:sp>
            <p:nvSpPr>
              <p:cNvPr id="8" name="文本框 7"/>
              <p:cNvSpPr txBox="1"/>
              <p:nvPr/>
            </p:nvSpPr>
            <p:spPr>
              <a:xfrm>
                <a:off x="499110" y="4484370"/>
                <a:ext cx="11094720" cy="922020"/>
              </a:xfrm>
              <a:prstGeom prst="rect">
                <a:avLst/>
              </a:prstGeom>
              <a:noFill/>
            </p:spPr>
            <p:txBody>
              <a:bodyPr wrap="square" rtlCol="0">
                <a:spAutoFit/>
              </a:bodyPr>
              <a:p>
                <a:r>
                  <a:rPr lang="zh-CN" altLang="en-US"/>
                  <a:t>图中的联合概率分布可以定义为：</a:t>
                </a:r>
                <a:endParaRPr lang="zh-CN" altLang="en-US"/>
              </a:p>
              <a:p>
                <a:endParaRPr lang="zh-CN" altLang="en-US"/>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4</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5</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4</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𝑃</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5</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oMath>
                  </m:oMathPara>
                </a14:m>
                <a:endParaRPr lang="zh-CN" altLang="en-US"/>
              </a:p>
            </p:txBody>
          </p:sp>
        </mc:Choice>
        <mc:Fallback>
          <p:sp>
            <p:nvSpPr>
              <p:cNvPr id="8" name="文本框 7"/>
              <p:cNvSpPr txBox="1">
                <a:spLocks noRot="1" noChangeAspect="1" noMove="1" noResize="1" noEditPoints="1" noAdjustHandles="1" noChangeArrowheads="1" noChangeShapeType="1" noTextEdit="1"/>
              </p:cNvSpPr>
              <p:nvPr/>
            </p:nvSpPr>
            <p:spPr>
              <a:xfrm>
                <a:off x="499110" y="4484370"/>
                <a:ext cx="11094720" cy="92202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贝叶斯网</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285750" y="1200785"/>
            <a:ext cx="11365230" cy="368300"/>
          </a:xfrm>
          <a:prstGeom prst="rect">
            <a:avLst/>
          </a:prstGeom>
          <a:noFill/>
        </p:spPr>
        <p:txBody>
          <a:bodyPr wrap="square" rtlCol="0">
            <a:spAutoFit/>
          </a:bodyPr>
          <a:p>
            <a:r>
              <a:rPr lang="zh-CN" altLang="en-US"/>
              <a:t>贝叶斯网中三个变量之间的典型依赖关系：</a:t>
            </a:r>
            <a:endParaRPr lang="zh-CN" altLang="en-US"/>
          </a:p>
        </p:txBody>
      </p:sp>
      <mc:AlternateContent xmlns:mc="http://schemas.openxmlformats.org/markup-compatibility/2006">
        <mc:Choice xmlns:a14="http://schemas.microsoft.com/office/drawing/2010/main" Requires="a14">
          <p:sp>
            <p:nvSpPr>
              <p:cNvPr id="7" name="文本框 6"/>
              <p:cNvSpPr txBox="1"/>
              <p:nvPr/>
            </p:nvSpPr>
            <p:spPr>
              <a:xfrm>
                <a:off x="490855" y="3682365"/>
                <a:ext cx="11078210" cy="2279015"/>
              </a:xfrm>
              <a:prstGeom prst="rect">
                <a:avLst/>
              </a:prstGeom>
              <a:noFill/>
            </p:spPr>
            <p:txBody>
              <a:bodyPr wrap="square" rtlCol="0">
                <a:spAutoFit/>
              </a:bodyPr>
              <a:p>
                <a:r>
                  <a:rPr lang="zh-CN" altLang="en-US"/>
                  <a:t>同父结构：给定父结点</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oMath>
                </a14:m>
                <a:r>
                  <a:rPr lang="zh-CN" altLang="en-US">
                    <a:latin typeface="Cambria Math" panose="02040503050406030204" pitchFamily="18" charset="0"/>
                    <a:cs typeface="Cambria Math" panose="02040503050406030204" pitchFamily="18" charset="0"/>
                  </a:rPr>
                  <a:t>的值，则</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oMath>
                </a14:m>
                <a:r>
                  <a:rPr lang="zh-CN" altLang="en-US">
                    <a:latin typeface="Cambria Math" panose="02040503050406030204" pitchFamily="18" charset="0"/>
                    <a:cs typeface="Cambria Math" panose="02040503050406030204" pitchFamily="18" charset="0"/>
                  </a:rPr>
                  <a:t>与</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4</m:t>
                        </m:r>
                      </m:sub>
                    </m:sSub>
                  </m:oMath>
                </a14:m>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条件独立</a:t>
                </a:r>
                <a:r>
                  <a:rPr lang="zh-CN" altLang="en-US">
                    <a:latin typeface="Cambria Math" panose="02040503050406030204" pitchFamily="18" charset="0"/>
                    <a:cs typeface="Cambria Math" panose="02040503050406030204" pitchFamily="18" charset="0"/>
                  </a:rPr>
                  <a:t>，即</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4</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oMath>
                </a14:m>
                <a:endParaRPr lang="zh-CN" altLang="en-US">
                  <a:latin typeface="Cambria Math" panose="02040503050406030204" pitchFamily="18" charset="0"/>
                  <a:cs typeface="Cambria Math" panose="02040503050406030204" pitchFamily="18" charset="0"/>
                </a:endParaRPr>
              </a:p>
              <a:p>
                <a:pPr>
                  <a:lnSpc>
                    <a:spcPct val="20000"/>
                  </a:lnSpc>
                </a:pPr>
                <a:endParaRPr lang="zh-CN" altLang="en-US">
                  <a:solidFill>
                    <a:schemeClr val="tx1"/>
                  </a:solidFill>
                  <a:latin typeface="Cambria Math" panose="02040503050406030204" pitchFamily="18" charset="0"/>
                  <a:cs typeface="Cambria Math" panose="02040503050406030204" pitchFamily="18" charset="0"/>
                  <a:sym typeface="+mn-ea"/>
                </a:endParaRPr>
              </a:p>
              <a:p>
                <a:pPr marL="0" lvl="0" indent="0">
                  <a:buNone/>
                </a:pPr>
                <a:r>
                  <a:rPr lang="zh-CN" altLang="en-US">
                    <a:solidFill>
                      <a:schemeClr val="tx1"/>
                    </a:solidFill>
                    <a:latin typeface="Cambria Math" panose="02040503050406030204" pitchFamily="18" charset="0"/>
                    <a:cs typeface="Cambria Math" panose="02040503050406030204" pitchFamily="18" charset="0"/>
                    <a:sym typeface="+mn-ea"/>
                  </a:rPr>
                  <a:t>顺序结构：给定</a:t>
                </a:r>
                <a14:m>
                  <m:oMath xmlns:m="http://schemas.openxmlformats.org/officeDocument/2006/math">
                    <m:r>
                      <a:rPr lang="en-US" altLang="zh-CN" i="1">
                        <a:latin typeface="Cambria Math" panose="02040503050406030204" pitchFamily="18" charset="0"/>
                        <a:cs typeface="Cambria Math" panose="02040503050406030204" pitchFamily="18" charset="0"/>
                      </a:rPr>
                      <m:t>𝑥</m:t>
                    </m:r>
                  </m:oMath>
                </a14:m>
                <a:r>
                  <a:rPr lang="zh-CN" altLang="en-US">
                    <a:latin typeface="Cambria Math" panose="02040503050406030204" pitchFamily="18" charset="0"/>
                    <a:cs typeface="Cambria Math" panose="02040503050406030204" pitchFamily="18" charset="0"/>
                    <a:sym typeface="+mn-ea"/>
                  </a:rPr>
                  <a:t>的值，则</a:t>
                </a:r>
                <a14:m>
                  <m:oMath xmlns:m="http://schemas.openxmlformats.org/officeDocument/2006/math">
                    <m:r>
                      <a:rPr lang="en-US" altLang="zh-CN" i="1">
                        <a:latin typeface="Cambria Math" panose="02040503050406030204" pitchFamily="18" charset="0"/>
                        <a:cs typeface="Cambria Math" panose="02040503050406030204" pitchFamily="18" charset="0"/>
                      </a:rPr>
                      <m:t>𝑦</m:t>
                    </m:r>
                  </m:oMath>
                </a14:m>
                <a:r>
                  <a:rPr lang="zh-CN" altLang="en-US">
                    <a:latin typeface="Cambria Math" panose="02040503050406030204" pitchFamily="18" charset="0"/>
                    <a:cs typeface="Cambria Math" panose="02040503050406030204" pitchFamily="18" charset="0"/>
                    <a:sym typeface="+mn-ea"/>
                  </a:rPr>
                  <a:t>与</a:t>
                </a:r>
                <a14:m>
                  <m:oMath xmlns:m="http://schemas.openxmlformats.org/officeDocument/2006/math">
                    <m:r>
                      <a:rPr lang="en-US" altLang="zh-CN" i="1">
                        <a:latin typeface="Cambria Math" panose="02040503050406030204" pitchFamily="18" charset="0"/>
                        <a:cs typeface="Cambria Math" panose="02040503050406030204" pitchFamily="18" charset="0"/>
                      </a:rPr>
                      <m:t>𝑧</m:t>
                    </m:r>
                  </m:oMath>
                </a14:m>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rPr>
                  <a:t>条件独立</a:t>
                </a:r>
                <a:r>
                  <a:rPr lang="zh-CN" altLang="en-US">
                    <a:latin typeface="Cambria Math" panose="02040503050406030204" pitchFamily="18" charset="0"/>
                    <a:cs typeface="Cambria Math" panose="02040503050406030204" pitchFamily="18" charset="0"/>
                    <a:sym typeface="+mn-ea"/>
                  </a:rPr>
                  <a:t>，即</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𝑦</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𝑧</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𝑥</m:t>
                    </m:r>
                  </m:oMath>
                </a14:m>
                <a:endParaRPr lang="zh-CN" altLang="en-US">
                  <a:latin typeface="Cambria Math" panose="02040503050406030204" pitchFamily="18" charset="0"/>
                  <a:cs typeface="Cambria Math" panose="02040503050406030204" pitchFamily="18" charset="0"/>
                </a:endParaRPr>
              </a:p>
              <a:p>
                <a:pPr>
                  <a:lnSpc>
                    <a:spcPct val="20000"/>
                  </a:lnSpc>
                </a:pPr>
                <a:endParaRPr lang="en-US" altLang="zh-CN">
                  <a:latin typeface="Cambria Math" panose="02040503050406030204" pitchFamily="18" charset="0"/>
                  <a:cs typeface="Cambria Math" panose="02040503050406030204" pitchFamily="18" charset="0"/>
                  <a:sym typeface="+mn-ea"/>
                </a:endParaRPr>
              </a:p>
              <a:p>
                <a:r>
                  <a:rPr lang="en-US" altLang="zh-CN">
                    <a:latin typeface="Cambria Math" panose="02040503050406030204" pitchFamily="18" charset="0"/>
                    <a:cs typeface="Cambria Math" panose="02040503050406030204" pitchFamily="18" charset="0"/>
                    <a:sym typeface="+mn-ea"/>
                  </a:rPr>
                  <a:t>V</a:t>
                </a:r>
                <a:r>
                  <a:rPr lang="zh-CN" altLang="en-US">
                    <a:latin typeface="Cambria Math" panose="02040503050406030204" pitchFamily="18" charset="0"/>
                    <a:cs typeface="Cambria Math" panose="02040503050406030204" pitchFamily="18" charset="0"/>
                    <a:sym typeface="+mn-ea"/>
                  </a:rPr>
                  <a:t>型结构：给定子结点</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4</m:t>
                        </m:r>
                      </m:sub>
                    </m:sSub>
                  </m:oMath>
                </a14:m>
                <a:r>
                  <a:rPr lang="zh-CN" altLang="en-US">
                    <a:latin typeface="Cambria Math" panose="02040503050406030204" pitchFamily="18" charset="0"/>
                    <a:cs typeface="Cambria Math" panose="02040503050406030204" pitchFamily="18" charset="0"/>
                    <a:sym typeface="+mn-ea"/>
                  </a:rPr>
                  <a:t>的值，则</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oMath>
                </a14:m>
                <a:br>
                  <a:rPr lang="en-US" altLang="zh-CN" i="1">
                    <a:latin typeface="Cambria Math" panose="02040503050406030204" pitchFamily="18" charset="0"/>
                    <a:cs typeface="Cambria Math" panose="02040503050406030204" pitchFamily="18" charset="0"/>
                  </a:rPr>
                </a:b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oMath>
                </a14:m>
                <a:r>
                  <a:rPr lang="zh-CN" altLang="en-US">
                    <a:latin typeface="Cambria Math" panose="02040503050406030204" pitchFamily="18" charset="0"/>
                    <a:cs typeface="Cambria Math" panose="02040503050406030204" pitchFamily="18" charset="0"/>
                    <a:sym typeface="+mn-ea"/>
                  </a:rPr>
                  <a:t>不独立；若</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4</m:t>
                        </m:r>
                      </m:sub>
                    </m:sSub>
                  </m:oMath>
                </a14:m>
                <a:r>
                  <a:rPr lang="zh-CN" altLang="en-US">
                    <a:latin typeface="Cambria Math" panose="02040503050406030204" pitchFamily="18" charset="0"/>
                    <a:cs typeface="Cambria Math" panose="02040503050406030204" pitchFamily="18" charset="0"/>
                    <a:sym typeface="+mn-ea"/>
                  </a:rPr>
                  <a:t>的取值完全未知，则</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oMath>
                </a14:m>
                <a:br>
                  <a:rPr lang="en-US" altLang="zh-CN" i="1">
                    <a:latin typeface="Cambria Math" panose="02040503050406030204" pitchFamily="18" charset="0"/>
                    <a:cs typeface="Cambria Math" panose="02040503050406030204" pitchFamily="18" charset="0"/>
                  </a:rPr>
                </a:b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oMath>
                </a14:m>
                <a:r>
                  <a:rPr lang="zh-CN" altLang="en-US">
                    <a:latin typeface="Cambria Math" panose="02040503050406030204" pitchFamily="18" charset="0"/>
                    <a:cs typeface="Cambria Math" panose="02040503050406030204" pitchFamily="18" charset="0"/>
                    <a:sym typeface="+mn-ea"/>
                  </a:rPr>
                  <a:t>相互独立。这种独立性称为</a:t>
                </a:r>
                <a:endParaRPr lang="zh-CN" altLang="en-US">
                  <a:latin typeface="Cambria Math" panose="02040503050406030204" pitchFamily="18" charset="0"/>
                  <a:cs typeface="Cambria Math" panose="02040503050406030204" pitchFamily="18" charset="0"/>
                </a:endParaRPr>
              </a:p>
              <a:p>
                <a:r>
                  <a:rPr lang="zh-CN" altLang="en-US">
                    <a:latin typeface="Cambria Math" panose="02040503050406030204" pitchFamily="18" charset="0"/>
                    <a:cs typeface="Cambria Math" panose="02040503050406030204" pitchFamily="18" charset="0"/>
                    <a:sym typeface="+mn-ea"/>
                  </a:rPr>
                  <a:t> </a:t>
                </a:r>
                <a:r>
                  <a:rPr lang="en-US" altLang="zh-CN">
                    <a:latin typeface="Cambria Math" panose="02040503050406030204" pitchFamily="18" charset="0"/>
                    <a:cs typeface="Cambria Math" panose="02040503050406030204" pitchFamily="18" charset="0"/>
                    <a:sym typeface="+mn-ea"/>
                  </a:rPr>
                  <a:t>                     </a:t>
                </a:r>
                <a:r>
                  <a:rPr lang="zh-CN" altLang="en-US">
                    <a:solidFill>
                      <a:schemeClr val="accent2"/>
                    </a:solidFill>
                    <a:latin typeface="Cambria Math" panose="02040503050406030204" pitchFamily="18" charset="0"/>
                    <a:cs typeface="Cambria Math" panose="02040503050406030204" pitchFamily="18" charset="0"/>
                    <a:sym typeface="+mn-ea"/>
                  </a:rPr>
                  <a:t>边际独立性</a:t>
                </a:r>
                <a:r>
                  <a:rPr lang="zh-CN" altLang="en-US">
                    <a:latin typeface="Cambria Math" panose="02040503050406030204" pitchFamily="18" charset="0"/>
                    <a:cs typeface="Cambria Math" panose="02040503050406030204" pitchFamily="18" charset="0"/>
                    <a:sym typeface="+mn-ea"/>
                  </a:rPr>
                  <a:t>，即</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𝑥</m:t>
                        </m:r>
                      </m:e>
                      <m:sub>
                        <m:r>
                          <a:rPr lang="en-US" altLang="zh-CN" i="1">
                            <a:latin typeface="Cambria Math" panose="02040503050406030204" pitchFamily="18" charset="0"/>
                            <a:cs typeface="Cambria Math" panose="02040503050406030204" pitchFamily="18" charset="0"/>
                            <a:sym typeface="+mn-ea"/>
                          </a:rPr>
                          <m:t>1</m:t>
                        </m:r>
                      </m:sub>
                    </m:sSub>
                    <m:r>
                      <a:rPr lang="en-US" altLang="zh-CN" i="1">
                        <a:latin typeface="Cambria Math" panose="02040503050406030204" pitchFamily="18" charset="0"/>
                        <a:cs typeface="Cambria Math" panose="02040503050406030204" pitchFamily="18" charset="0"/>
                        <a:sym typeface="+mn-ea"/>
                      </a:rPr>
                      <m:t>      </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𝑥</m:t>
                        </m:r>
                      </m:e>
                      <m:sub>
                        <m:r>
                          <a:rPr lang="en-US" altLang="zh-CN" i="1">
                            <a:latin typeface="Cambria Math" panose="02040503050406030204" pitchFamily="18" charset="0"/>
                            <a:cs typeface="Cambria Math" panose="02040503050406030204" pitchFamily="18" charset="0"/>
                            <a:sym typeface="+mn-ea"/>
                          </a:rPr>
                          <m:t>2</m:t>
                        </m:r>
                      </m:sub>
                    </m:sSub>
                  </m:oMath>
                </a14:m>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r>
                  <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rPr>
                  <a:t>条件独立性</a:t>
                </a:r>
                <a:r>
                  <a:rPr lang="zh-CN" altLang="en-US">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oMath>
                </a14:m>
                <a:r>
                  <a:rPr lang="zh-CN" altLang="en-US">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oMath>
                </a14:m>
                <a:r>
                  <a:rPr lang="zh-CN" altLang="en-US">
                    <a:latin typeface="Cambria Math" panose="02040503050406030204" pitchFamily="18" charset="0"/>
                    <a:cs typeface="Cambria Math" panose="02040503050406030204" pitchFamily="18" charset="0"/>
                  </a:rPr>
                  <a:t>值已知时，</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oMath>
                </a14:m>
                <a:r>
                  <a:rPr lang="zh-CN" altLang="en-US">
                    <a:latin typeface="Cambria Math" panose="02040503050406030204" pitchFamily="18" charset="0"/>
                    <a:cs typeface="Cambria Math" panose="02040503050406030204" pitchFamily="18" charset="0"/>
                  </a:rPr>
                  <a:t>与</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oMath>
                </a14:m>
                <a:r>
                  <a:rPr lang="zh-CN" altLang="en-US">
                    <a:latin typeface="Cambria Math" panose="02040503050406030204" pitchFamily="18" charset="0"/>
                    <a:cs typeface="Cambria Math" panose="02040503050406030204" pitchFamily="18" charset="0"/>
                  </a:rPr>
                  <a:t>独立</a:t>
                </a:r>
                <a:endParaRPr lang="zh-CN" altLang="en-US">
                  <a:latin typeface="Cambria Math" panose="02040503050406030204" pitchFamily="18" charset="0"/>
                  <a:cs typeface="Cambria Math" panose="02040503050406030204" pitchFamily="18" charset="0"/>
                </a:endParaRPr>
              </a:p>
              <a:p>
                <a:pPr>
                  <a:lnSpc>
                    <a:spcPct val="50000"/>
                  </a:lnSpc>
                </a:pPr>
                <a:endParaRPr lang="zh-CN" altLang="en-US">
                  <a:latin typeface="Cambria Math" panose="02040503050406030204" pitchFamily="18" charset="0"/>
                  <a:cs typeface="Cambria Math" panose="02040503050406030204" pitchFamily="18" charset="0"/>
                </a:endParaRPr>
              </a:p>
              <a:p>
                <a:r>
                  <a:rPr lang="zh-CN" altLang="en-US">
                    <a:solidFill>
                      <a:schemeClr val="accent2"/>
                    </a:solidFill>
                    <a:latin typeface="Cambria Math" panose="02040503050406030204" pitchFamily="18" charset="0"/>
                    <a:cs typeface="Cambria Math" panose="02040503050406030204" pitchFamily="18" charset="0"/>
                  </a:rPr>
                  <a:t>边际独立性</a:t>
                </a:r>
                <a:r>
                  <a:rPr lang="zh-CN" altLang="en-US">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oMath>
                </a14:m>
                <a:r>
                  <a:rPr lang="en-US" altLang="zh-CN">
                    <a:latin typeface="Cambria Math" panose="02040503050406030204" pitchFamily="18" charset="0"/>
                    <a:cs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oMath>
                </a14:m>
                <a:r>
                  <a:rPr lang="zh-CN" altLang="en-US">
                    <a:latin typeface="Cambria Math" panose="02040503050406030204" pitchFamily="18" charset="0"/>
                    <a:cs typeface="Cambria Math" panose="02040503050406030204" pitchFamily="18" charset="0"/>
                  </a:rPr>
                  <a:t>，存在一个结点</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使得当</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已知时，</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oMath>
                </a14:m>
                <a:r>
                  <a:rPr lang="zh-CN" altLang="en-US">
                    <a:latin typeface="Cambria Math" panose="02040503050406030204" pitchFamily="18" charset="0"/>
                    <a:cs typeface="Cambria Math" panose="02040503050406030204" pitchFamily="18" charset="0"/>
                  </a:rPr>
                  <a:t>与</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oMath>
                </a14:m>
                <a:r>
                  <a:rPr lang="zh-CN" altLang="en-US">
                    <a:latin typeface="Cambria Math" panose="02040503050406030204" pitchFamily="18" charset="0"/>
                    <a:cs typeface="Cambria Math" panose="02040503050406030204" pitchFamily="18" charset="0"/>
                  </a:rPr>
                  <a:t>不独立；当</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未知时，</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oMath>
                </a14:m>
                <a:r>
                  <a:rPr lang="zh-CN" altLang="en-US">
                    <a:latin typeface="Cambria Math" panose="02040503050406030204" pitchFamily="18" charset="0"/>
                    <a:cs typeface="Cambria Math" panose="02040503050406030204" pitchFamily="18" charset="0"/>
                  </a:rPr>
                  <a:t>与</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oMath>
                </a14:m>
                <a:r>
                  <a:rPr lang="zh-CN" altLang="en-US">
                    <a:latin typeface="Cambria Math" panose="02040503050406030204" pitchFamily="18" charset="0"/>
                    <a:cs typeface="Cambria Math" panose="02040503050406030204" pitchFamily="18" charset="0"/>
                  </a:rPr>
                  <a:t>独立</a:t>
                </a:r>
                <a:endParaRPr lang="zh-CN" altLang="en-US">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490855" y="3682365"/>
                <a:ext cx="11078210" cy="2279015"/>
              </a:xfrm>
              <a:prstGeom prst="rect">
                <a:avLst/>
              </a:prstGeom>
              <a:blipFill rotWithShape="1">
                <a:blip r:embed="rId1"/>
                <a:stretch>
                  <a:fillRect b="-21148"/>
                </a:stretch>
              </a:blipFill>
            </p:spPr>
            <p:txBody>
              <a:bodyPr/>
              <a:lstStyle/>
              <a:p>
                <a:r>
                  <a:rPr lang="zh-CN" altLang="en-US">
                    <a:noFill/>
                  </a:rPr>
                  <a:t> </a:t>
                </a:r>
              </a:p>
            </p:txBody>
          </p:sp>
        </mc:Fallback>
      </mc:AlternateContent>
      <p:cxnSp>
        <p:nvCxnSpPr>
          <p:cNvPr id="12" name="直接连接符 11"/>
          <p:cNvCxnSpPr/>
          <p:nvPr>
            <p:custDataLst>
              <p:tags r:id="rId2"/>
            </p:custDataLst>
          </p:nvPr>
        </p:nvCxnSpPr>
        <p:spPr>
          <a:xfrm flipH="1">
            <a:off x="6424295" y="3849370"/>
            <a:ext cx="1270" cy="109220"/>
          </a:xfrm>
          <a:prstGeom prst="line">
            <a:avLst/>
          </a:prstGeom>
          <a:ln w="12700"/>
        </p:spPr>
        <p:style>
          <a:lnRef idx="1">
            <a:schemeClr val="dk1"/>
          </a:lnRef>
          <a:fillRef idx="0">
            <a:schemeClr val="dk1"/>
          </a:fillRef>
          <a:effectRef idx="0">
            <a:schemeClr val="dk1"/>
          </a:effectRef>
          <a:fontRef idx="minor">
            <a:schemeClr val="tx1"/>
          </a:fontRef>
        </p:style>
      </p:cxnSp>
      <p:cxnSp>
        <p:nvCxnSpPr>
          <p:cNvPr id="13" name="直接连接符 12"/>
          <p:cNvCxnSpPr/>
          <p:nvPr>
            <p:custDataLst>
              <p:tags r:id="rId3"/>
            </p:custDataLst>
          </p:nvPr>
        </p:nvCxnSpPr>
        <p:spPr>
          <a:xfrm>
            <a:off x="6340475" y="3963670"/>
            <a:ext cx="170180" cy="635"/>
          </a:xfrm>
          <a:prstGeom prst="line">
            <a:avLst/>
          </a:prstGeom>
          <a:ln w="12700"/>
        </p:spPr>
        <p:style>
          <a:lnRef idx="1">
            <a:schemeClr val="dk1"/>
          </a:lnRef>
          <a:fillRef idx="0">
            <a:schemeClr val="dk1"/>
          </a:fillRef>
          <a:effectRef idx="0">
            <a:schemeClr val="dk1"/>
          </a:effectRef>
          <a:fontRef idx="minor">
            <a:schemeClr val="tx1"/>
          </a:fontRef>
        </p:style>
      </p:cxnSp>
      <p:cxnSp>
        <p:nvCxnSpPr>
          <p:cNvPr id="14" name="直接连接符 13"/>
          <p:cNvCxnSpPr/>
          <p:nvPr>
            <p:custDataLst>
              <p:tags r:id="rId4"/>
            </p:custDataLst>
          </p:nvPr>
        </p:nvCxnSpPr>
        <p:spPr>
          <a:xfrm flipH="1">
            <a:off x="5303520" y="4166235"/>
            <a:ext cx="1270" cy="109220"/>
          </a:xfrm>
          <a:prstGeom prst="line">
            <a:avLst/>
          </a:prstGeom>
          <a:ln w="12700"/>
        </p:spPr>
        <p:style>
          <a:lnRef idx="1">
            <a:schemeClr val="dk1"/>
          </a:lnRef>
          <a:fillRef idx="0">
            <a:schemeClr val="dk1"/>
          </a:fillRef>
          <a:effectRef idx="0">
            <a:schemeClr val="dk1"/>
          </a:effectRef>
          <a:fontRef idx="minor">
            <a:schemeClr val="tx1"/>
          </a:fontRef>
        </p:style>
      </p:cxnSp>
      <p:cxnSp>
        <p:nvCxnSpPr>
          <p:cNvPr id="15" name="直接连接符 14"/>
          <p:cNvCxnSpPr/>
          <p:nvPr>
            <p:custDataLst>
              <p:tags r:id="rId5"/>
            </p:custDataLst>
          </p:nvPr>
        </p:nvCxnSpPr>
        <p:spPr>
          <a:xfrm flipV="1">
            <a:off x="5219700" y="4276090"/>
            <a:ext cx="179070" cy="4445"/>
          </a:xfrm>
          <a:prstGeom prst="line">
            <a:avLst/>
          </a:prstGeom>
          <a:ln w="12700"/>
        </p:spPr>
        <p:style>
          <a:lnRef idx="1">
            <a:schemeClr val="dk1"/>
          </a:lnRef>
          <a:fillRef idx="0">
            <a:schemeClr val="dk1"/>
          </a:fillRef>
          <a:effectRef idx="0">
            <a:schemeClr val="dk1"/>
          </a:effectRef>
          <a:fontRef idx="minor">
            <a:schemeClr val="tx1"/>
          </a:fontRef>
        </p:style>
      </p:cxnSp>
      <p:cxnSp>
        <p:nvCxnSpPr>
          <p:cNvPr id="16" name="直接连接符 15"/>
          <p:cNvCxnSpPr/>
          <p:nvPr>
            <p:custDataLst>
              <p:tags r:id="rId6"/>
            </p:custDataLst>
          </p:nvPr>
        </p:nvCxnSpPr>
        <p:spPr>
          <a:xfrm flipH="1">
            <a:off x="3625215" y="5321935"/>
            <a:ext cx="1270" cy="109220"/>
          </a:xfrm>
          <a:prstGeom prst="line">
            <a:avLst/>
          </a:prstGeom>
          <a:ln w="12700"/>
        </p:spPr>
        <p:style>
          <a:lnRef idx="1">
            <a:schemeClr val="dk1"/>
          </a:lnRef>
          <a:fillRef idx="0">
            <a:schemeClr val="dk1"/>
          </a:fillRef>
          <a:effectRef idx="0">
            <a:schemeClr val="dk1"/>
          </a:effectRef>
          <a:fontRef idx="minor">
            <a:schemeClr val="tx1"/>
          </a:fontRef>
        </p:style>
      </p:cxnSp>
      <p:cxnSp>
        <p:nvCxnSpPr>
          <p:cNvPr id="17" name="直接连接符 16"/>
          <p:cNvCxnSpPr/>
          <p:nvPr>
            <p:custDataLst>
              <p:tags r:id="rId7"/>
            </p:custDataLst>
          </p:nvPr>
        </p:nvCxnSpPr>
        <p:spPr>
          <a:xfrm>
            <a:off x="3577590" y="5436235"/>
            <a:ext cx="15875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8" name="直接连接符 17"/>
          <p:cNvCxnSpPr/>
          <p:nvPr>
            <p:custDataLst>
              <p:tags r:id="rId8"/>
            </p:custDataLst>
          </p:nvPr>
        </p:nvCxnSpPr>
        <p:spPr>
          <a:xfrm flipH="1">
            <a:off x="3683000" y="5321935"/>
            <a:ext cx="1270" cy="109220"/>
          </a:xfrm>
          <a:prstGeom prst="line">
            <a:avLst/>
          </a:prstGeom>
          <a:ln w="12700"/>
        </p:spPr>
        <p:style>
          <a:lnRef idx="1">
            <a:schemeClr val="dk1"/>
          </a:lnRef>
          <a:fillRef idx="0">
            <a:schemeClr val="dk1"/>
          </a:fillRef>
          <a:effectRef idx="0">
            <a:schemeClr val="dk1"/>
          </a:effectRef>
          <a:fontRef idx="minor">
            <a:schemeClr val="tx1"/>
          </a:fontRef>
        </p:style>
      </p:cxnSp>
      <p:pic>
        <p:nvPicPr>
          <p:cNvPr id="19" name="图片 18"/>
          <p:cNvPicPr>
            <a:picLocks noChangeAspect="1"/>
          </p:cNvPicPr>
          <p:nvPr>
            <p:custDataLst>
              <p:tags r:id="rId9"/>
            </p:custDataLst>
          </p:nvPr>
        </p:nvPicPr>
        <p:blipFill>
          <a:blip r:embed="rId10"/>
          <a:stretch>
            <a:fillRect/>
          </a:stretch>
        </p:blipFill>
        <p:spPr>
          <a:xfrm>
            <a:off x="7126605" y="1711960"/>
            <a:ext cx="1680210" cy="1646555"/>
          </a:xfrm>
          <a:prstGeom prst="rect">
            <a:avLst/>
          </a:prstGeom>
        </p:spPr>
      </p:pic>
      <p:pic>
        <p:nvPicPr>
          <p:cNvPr id="20" name="图片 19"/>
          <p:cNvPicPr>
            <a:picLocks noChangeAspect="1"/>
          </p:cNvPicPr>
          <p:nvPr>
            <p:custDataLst>
              <p:tags r:id="rId11"/>
            </p:custDataLst>
          </p:nvPr>
        </p:nvPicPr>
        <p:blipFill>
          <a:blip r:embed="rId12"/>
          <a:stretch>
            <a:fillRect/>
          </a:stretch>
        </p:blipFill>
        <p:spPr>
          <a:xfrm>
            <a:off x="3295650" y="1771015"/>
            <a:ext cx="1552575" cy="1529080"/>
          </a:xfrm>
          <a:prstGeom prst="rect">
            <a:avLst/>
          </a:prstGeom>
        </p:spPr>
      </p:pic>
      <p:pic>
        <p:nvPicPr>
          <p:cNvPr id="21" name="图片 20"/>
          <p:cNvPicPr>
            <a:picLocks noChangeAspect="1"/>
          </p:cNvPicPr>
          <p:nvPr>
            <p:custDataLst>
              <p:tags r:id="rId13"/>
            </p:custDataLst>
          </p:nvPr>
        </p:nvPicPr>
        <p:blipFill>
          <a:blip r:embed="rId14"/>
          <a:stretch>
            <a:fillRect/>
          </a:stretch>
        </p:blipFill>
        <p:spPr>
          <a:xfrm>
            <a:off x="5219700" y="1620520"/>
            <a:ext cx="1614805" cy="1695450"/>
          </a:xfrm>
          <a:prstGeom prst="rect">
            <a:avLst/>
          </a:prstGeom>
        </p:spPr>
      </p:pic>
      <p:cxnSp>
        <p:nvCxnSpPr>
          <p:cNvPr id="22" name="直接连接符 21"/>
          <p:cNvCxnSpPr/>
          <p:nvPr>
            <p:custDataLst>
              <p:tags r:id="rId15"/>
            </p:custDataLst>
          </p:nvPr>
        </p:nvCxnSpPr>
        <p:spPr>
          <a:xfrm flipH="1">
            <a:off x="2304415" y="5887720"/>
            <a:ext cx="1270" cy="109220"/>
          </a:xfrm>
          <a:prstGeom prst="line">
            <a:avLst/>
          </a:prstGeom>
          <a:ln w="12700"/>
        </p:spPr>
        <p:style>
          <a:lnRef idx="1">
            <a:schemeClr val="dk1"/>
          </a:lnRef>
          <a:fillRef idx="0">
            <a:schemeClr val="dk1"/>
          </a:fillRef>
          <a:effectRef idx="0">
            <a:schemeClr val="dk1"/>
          </a:effectRef>
          <a:fontRef idx="minor">
            <a:schemeClr val="tx1"/>
          </a:fontRef>
        </p:style>
      </p:cxnSp>
      <p:cxnSp>
        <p:nvCxnSpPr>
          <p:cNvPr id="23" name="直接连接符 22"/>
          <p:cNvCxnSpPr/>
          <p:nvPr>
            <p:custDataLst>
              <p:tags r:id="rId16"/>
            </p:custDataLst>
          </p:nvPr>
        </p:nvCxnSpPr>
        <p:spPr>
          <a:xfrm>
            <a:off x="2220595" y="6002020"/>
            <a:ext cx="170180" cy="635"/>
          </a:xfrm>
          <a:prstGeom prst="line">
            <a:avLst/>
          </a:prstGeom>
          <a:ln w="12700"/>
        </p:spPr>
        <p:style>
          <a:lnRef idx="1">
            <a:schemeClr val="dk1"/>
          </a:lnRef>
          <a:fillRef idx="0">
            <a:schemeClr val="dk1"/>
          </a:fillRef>
          <a:effectRef idx="0">
            <a:schemeClr val="dk1"/>
          </a:effectRef>
          <a:fontRef idx="minor">
            <a:schemeClr val="tx1"/>
          </a:fontRef>
        </p:style>
      </p:cxnSp>
      <p:cxnSp>
        <p:nvCxnSpPr>
          <p:cNvPr id="26" name="直接连接符 25"/>
          <p:cNvCxnSpPr/>
          <p:nvPr>
            <p:custDataLst>
              <p:tags r:id="rId17"/>
            </p:custDataLst>
          </p:nvPr>
        </p:nvCxnSpPr>
        <p:spPr>
          <a:xfrm flipH="1">
            <a:off x="2245360" y="6285230"/>
            <a:ext cx="1270" cy="109220"/>
          </a:xfrm>
          <a:prstGeom prst="line">
            <a:avLst/>
          </a:prstGeom>
          <a:ln w="12700"/>
        </p:spPr>
        <p:style>
          <a:lnRef idx="1">
            <a:schemeClr val="dk1"/>
          </a:lnRef>
          <a:fillRef idx="0">
            <a:schemeClr val="dk1"/>
          </a:fillRef>
          <a:effectRef idx="0">
            <a:schemeClr val="dk1"/>
          </a:effectRef>
          <a:fontRef idx="minor">
            <a:schemeClr val="tx1"/>
          </a:fontRef>
        </p:style>
      </p:cxnSp>
      <p:cxnSp>
        <p:nvCxnSpPr>
          <p:cNvPr id="27" name="直接连接符 26"/>
          <p:cNvCxnSpPr/>
          <p:nvPr>
            <p:custDataLst>
              <p:tags r:id="rId18"/>
            </p:custDataLst>
          </p:nvPr>
        </p:nvCxnSpPr>
        <p:spPr>
          <a:xfrm>
            <a:off x="2197735" y="6399530"/>
            <a:ext cx="15875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28" name="直接连接符 27"/>
          <p:cNvCxnSpPr/>
          <p:nvPr>
            <p:custDataLst>
              <p:tags r:id="rId19"/>
            </p:custDataLst>
          </p:nvPr>
        </p:nvCxnSpPr>
        <p:spPr>
          <a:xfrm flipH="1">
            <a:off x="2303145" y="6285230"/>
            <a:ext cx="1270" cy="109220"/>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贝叶斯网</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02260" y="1200785"/>
                <a:ext cx="11323955" cy="2777490"/>
              </a:xfrm>
              <a:prstGeom prst="rect">
                <a:avLst/>
              </a:prstGeom>
              <a:noFill/>
            </p:spPr>
            <p:txBody>
              <a:bodyPr wrap="square" rtlCol="0">
                <a:spAutoFit/>
              </a:bodyPr>
              <a:p>
                <a:r>
                  <a:rPr lang="zh-CN" altLang="en-US"/>
                  <a:t>为了分析</a:t>
                </a:r>
                <a:r>
                  <a:rPr lang="zh-CN" altLang="en-US">
                    <a:solidFill>
                      <a:schemeClr val="accent1"/>
                    </a:solidFill>
                    <a:effectLst>
                      <a:outerShdw blurRad="38100" dist="25400" dir="5400000" algn="ctr" rotWithShape="0">
                        <a:srgbClr val="6E747A">
                          <a:alpha val="43000"/>
                        </a:srgbClr>
                      </a:outerShdw>
                    </a:effectLst>
                  </a:rPr>
                  <a:t>有向图</a:t>
                </a:r>
                <a:r>
                  <a:rPr lang="zh-CN" altLang="en-US"/>
                  <a:t>中变量间的</a:t>
                </a:r>
                <a:r>
                  <a:rPr lang="zh-CN" altLang="en-US">
                    <a:solidFill>
                      <a:schemeClr val="accent1"/>
                    </a:solidFill>
                    <a:effectLst>
                      <a:outerShdw blurRad="38100" dist="25400" dir="5400000" algn="ctr" rotWithShape="0">
                        <a:srgbClr val="6E747A">
                          <a:alpha val="43000"/>
                        </a:srgbClr>
                      </a:outerShdw>
                    </a:effectLst>
                  </a:rPr>
                  <a:t>条件独立性</a:t>
                </a:r>
                <a:r>
                  <a:rPr lang="zh-CN" altLang="en-US"/>
                  <a:t>，可使用有向分离，将</a:t>
                </a:r>
                <a:r>
                  <a:rPr lang="zh-CN" altLang="en-US">
                    <a:solidFill>
                      <a:schemeClr val="accent1"/>
                    </a:solidFill>
                    <a:effectLst>
                      <a:outerShdw blurRad="38100" dist="25400" dir="5400000" algn="ctr" rotWithShape="0">
                        <a:srgbClr val="6E747A">
                          <a:alpha val="43000"/>
                        </a:srgbClr>
                      </a:outerShdw>
                    </a:effectLst>
                  </a:rPr>
                  <a:t>有向图</a:t>
                </a:r>
                <a:r>
                  <a:rPr lang="zh-CN" altLang="en-US"/>
                  <a:t>转化为</a:t>
                </a:r>
                <a:r>
                  <a:rPr lang="zh-CN" altLang="en-US">
                    <a:solidFill>
                      <a:schemeClr val="accent1"/>
                    </a:solidFill>
                    <a:effectLst>
                      <a:outerShdw blurRad="38100" dist="25400" dir="5400000" algn="ctr" rotWithShape="0">
                        <a:srgbClr val="6E747A">
                          <a:alpha val="43000"/>
                        </a:srgbClr>
                      </a:outerShdw>
                    </a:effectLst>
                  </a:rPr>
                  <a:t>无向图</a:t>
                </a:r>
                <a:r>
                  <a:rPr lang="zh-CN" altLang="en-US"/>
                  <a:t>：</a:t>
                </a:r>
                <a:endParaRPr lang="zh-CN" altLang="en-US"/>
              </a:p>
              <a:p>
                <a:pPr indent="457200">
                  <a:lnSpc>
                    <a:spcPct val="40000"/>
                  </a:lnSpc>
                </a:pPr>
                <a:endParaRPr lang="en-US" altLang="zh-CN"/>
              </a:p>
              <a:p>
                <a:pPr indent="457200"/>
                <a:r>
                  <a:rPr lang="en-US" altLang="zh-CN"/>
                  <a:t>1</a:t>
                </a:r>
                <a:r>
                  <a:rPr lang="zh-CN" altLang="en-US"/>
                  <a:t>）找出有向图中的所有</a:t>
                </a:r>
                <a:r>
                  <a:rPr lang="en-US" altLang="zh-CN"/>
                  <a:t>V</a:t>
                </a:r>
                <a:r>
                  <a:rPr lang="zh-CN" altLang="en-US"/>
                  <a:t>型结构，在</a:t>
                </a:r>
                <a:r>
                  <a:rPr lang="en-US" altLang="zh-CN"/>
                  <a:t>V</a:t>
                </a:r>
                <a:r>
                  <a:rPr lang="zh-CN" altLang="en-US"/>
                  <a:t>型结构的两个父结点之间加上一条无向边</a:t>
                </a:r>
                <a:endParaRPr lang="zh-CN" altLang="en-US"/>
              </a:p>
              <a:p>
                <a:pPr indent="457200">
                  <a:lnSpc>
                    <a:spcPct val="30000"/>
                  </a:lnSpc>
                </a:pPr>
                <a:endParaRPr lang="en-US" altLang="zh-CN"/>
              </a:p>
              <a:p>
                <a:pPr indent="457200"/>
                <a:r>
                  <a:rPr lang="en-US" altLang="zh-CN"/>
                  <a:t>2</a:t>
                </a:r>
                <a:r>
                  <a:rPr lang="zh-CN" altLang="en-US"/>
                  <a:t>）将所有有向边改为无向边</a:t>
                </a:r>
                <a:endParaRPr lang="zh-CN" altLang="en-US"/>
              </a:p>
              <a:p>
                <a:pPr indent="457200"/>
                <a:endParaRPr lang="zh-CN" altLang="en-US"/>
              </a:p>
              <a:p>
                <a:pPr marL="0" lvl="0" indent="457200">
                  <a:buNone/>
                </a:pPr>
                <a:r>
                  <a:rPr lang="zh-CN" altLang="en-US">
                    <a:solidFill>
                      <a:schemeClr val="tx1"/>
                    </a:solidFill>
                  </a:rPr>
                  <a:t>由此产生的无向图称为</a:t>
                </a:r>
                <a:r>
                  <a:rPr lang="zh-CN" altLang="en-US">
                    <a:solidFill>
                      <a:schemeClr val="accent1"/>
                    </a:solidFill>
                    <a:effectLst>
                      <a:outerShdw blurRad="38100" dist="25400" dir="5400000" algn="ctr" rotWithShape="0">
                        <a:srgbClr val="6E747A">
                          <a:alpha val="43000"/>
                        </a:srgbClr>
                      </a:outerShdw>
                    </a:effectLst>
                  </a:rPr>
                  <a:t>道德图</a:t>
                </a:r>
                <a:r>
                  <a:rPr lang="zh-CN" altLang="en-US">
                    <a:solidFill>
                      <a:schemeClr val="tx1"/>
                    </a:solidFill>
                  </a:rPr>
                  <a:t>，令父结点相连的过程称为</a:t>
                </a:r>
                <a:r>
                  <a:rPr lang="zh-CN" altLang="en-US">
                    <a:solidFill>
                      <a:schemeClr val="accent1"/>
                    </a:solidFill>
                    <a:effectLst>
                      <a:outerShdw blurRad="38100" dist="25400" dir="5400000" algn="ctr" rotWithShape="0">
                        <a:srgbClr val="6E747A">
                          <a:alpha val="43000"/>
                        </a:srgbClr>
                      </a:outerShdw>
                    </a:effectLst>
                  </a:rPr>
                  <a:t>道德化</a:t>
                </a:r>
                <a:r>
                  <a:rPr lang="zh-CN" altLang="en-US">
                    <a:solidFill>
                      <a:schemeClr val="tx1"/>
                    </a:solidFill>
                  </a:rPr>
                  <a:t>。假定</a:t>
                </a:r>
                <a:r>
                  <a:rPr lang="zh-CN" altLang="en-US">
                    <a:solidFill>
                      <a:schemeClr val="accent1"/>
                    </a:solidFill>
                    <a:effectLst>
                      <a:outerShdw blurRad="38100" dist="25400" dir="5400000" algn="ctr" rotWithShape="0">
                        <a:srgbClr val="6E747A">
                          <a:alpha val="43000"/>
                        </a:srgbClr>
                      </a:outerShdw>
                    </a:effectLst>
                  </a:rPr>
                  <a:t>道德图</a:t>
                </a:r>
                <a:r>
                  <a:rPr lang="zh-CN" altLang="en-US">
                    <a:solidFill>
                      <a:schemeClr val="tx1"/>
                    </a:solidFill>
                  </a:rPr>
                  <a:t>中有变量</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𝑦</m:t>
                    </m:r>
                  </m:oMath>
                </a14:m>
                <a:r>
                  <a:rPr lang="zh-CN" altLang="en-US">
                    <a:solidFill>
                      <a:schemeClr val="tx1"/>
                    </a:solidFill>
                    <a:latin typeface="Cambria Math" panose="02040503050406030204" pitchFamily="18" charset="0"/>
                    <a:cs typeface="Cambria Math" panose="02040503050406030204" pitchFamily="18" charset="0"/>
                  </a:rPr>
                  <a:t>和变量集合</a:t>
                </a:r>
                <a14:m>
                  <m:oMath xmlns:m="http://schemas.openxmlformats.org/officeDocument/2006/math">
                    <m:r>
                      <a:rPr lang="en-US" altLang="zh-CN" b="1" i="1">
                        <a:solidFill>
                          <a:schemeClr val="tx1"/>
                        </a:solidFill>
                        <a:latin typeface="Cambria Math" panose="02040503050406030204" pitchFamily="18" charset="0"/>
                        <a:cs typeface="Cambria Math" panose="02040503050406030204" pitchFamily="18" charset="0"/>
                      </a:rPr>
                      <m:t>𝒛</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𝑧</m:t>
                        </m:r>
                      </m:e>
                      <m:sub>
                        <m:r>
                          <a:rPr lang="en-US" altLang="zh-CN" i="1">
                            <a:solidFill>
                              <a:schemeClr val="tx1"/>
                            </a:solidFill>
                            <a:latin typeface="Cambria Math" panose="02040503050406030204" pitchFamily="18" charset="0"/>
                            <a:cs typeface="Cambria Math" panose="02040503050406030204" pitchFamily="18" charset="0"/>
                          </a:rPr>
                          <m:t>𝑖</m:t>
                        </m:r>
                      </m:sub>
                    </m:sSub>
                    <m:r>
                      <a:rPr lang="en-US" altLang="zh-CN" i="1">
                        <a:solidFill>
                          <a:schemeClr val="tx1"/>
                        </a:solidFill>
                        <a:latin typeface="Cambria Math" panose="02040503050406030204" pitchFamily="18" charset="0"/>
                        <a:cs typeface="Cambria Math" panose="02040503050406030204" pitchFamily="18" charset="0"/>
                      </a:rPr>
                      <m:t>}</m:t>
                    </m:r>
                  </m:oMath>
                </a14:m>
                <a:r>
                  <a:rPr lang="zh-CN" altLang="en-US">
                    <a:solidFill>
                      <a:schemeClr val="tx1"/>
                    </a:solidFill>
                    <a:latin typeface="Cambria Math" panose="02040503050406030204" pitchFamily="18" charset="0"/>
                    <a:cs typeface="Cambria Math" panose="02040503050406030204" pitchFamily="18" charset="0"/>
                  </a:rPr>
                  <a:t>，若变量</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𝑥</m:t>
                    </m:r>
                  </m:oMath>
                </a14:m>
                <a:r>
                  <a:rPr lang="zh-CN" altLang="en-US">
                    <a:solidFill>
                      <a:schemeClr val="tx1"/>
                    </a:solidFill>
                    <a:latin typeface="Cambria Math" panose="02040503050406030204" pitchFamily="18" charset="0"/>
                    <a:cs typeface="Cambria Math" panose="02040503050406030204" pitchFamily="18" charset="0"/>
                  </a:rPr>
                  <a:t>和</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𝑦</m:t>
                    </m:r>
                  </m:oMath>
                </a14:m>
                <a:r>
                  <a:rPr lang="zh-CN" altLang="en-US">
                    <a:solidFill>
                      <a:schemeClr val="tx1"/>
                    </a:solidFill>
                    <a:latin typeface="Cambria Math" panose="02040503050406030204" pitchFamily="18" charset="0"/>
                    <a:cs typeface="Cambria Math" panose="02040503050406030204" pitchFamily="18" charset="0"/>
                  </a:rPr>
                  <a:t>能在图上被</a:t>
                </a:r>
                <a14:m>
                  <m:oMath xmlns:m="http://schemas.openxmlformats.org/officeDocument/2006/math">
                    <m:r>
                      <a:rPr lang="en-US" altLang="zh-CN" b="1" i="1">
                        <a:solidFill>
                          <a:schemeClr val="tx1"/>
                        </a:solidFill>
                        <a:latin typeface="Cambria Math" panose="02040503050406030204" pitchFamily="18" charset="0"/>
                        <a:cs typeface="Cambria Math" panose="02040503050406030204" pitchFamily="18" charset="0"/>
                      </a:rPr>
                      <m:t>𝒛</m:t>
                    </m:r>
                  </m:oMath>
                </a14:m>
                <a:r>
                  <a:rPr lang="zh-CN" altLang="en-US">
                    <a:solidFill>
                      <a:schemeClr val="tx1"/>
                    </a:solidFill>
                    <a:latin typeface="Cambria Math" panose="02040503050406030204" pitchFamily="18" charset="0"/>
                    <a:cs typeface="Cambria Math" panose="02040503050406030204" pitchFamily="18" charset="0"/>
                  </a:rPr>
                  <a:t>分开，即从</a:t>
                </a:r>
                <a:r>
                  <a:rPr lang="zh-CN" altLang="en-US">
                    <a:solidFill>
                      <a:schemeClr val="accent1"/>
                    </a:solidFill>
                    <a:effectLst>
                      <a:outerShdw blurRad="38100" dist="25400" dir="5400000" algn="ctr" rotWithShape="0">
                        <a:srgbClr val="6E747A">
                          <a:alpha val="43000"/>
                        </a:srgbClr>
                      </a:outerShdw>
                    </a:effectLst>
                  </a:rPr>
                  <a:t>道德图</a:t>
                </a:r>
                <a:r>
                  <a:rPr lang="zh-CN" altLang="en-US">
                    <a:solidFill>
                      <a:schemeClr val="tx1"/>
                    </a:solidFill>
                    <a:latin typeface="Cambria Math" panose="02040503050406030204" pitchFamily="18" charset="0"/>
                    <a:cs typeface="Cambria Math" panose="02040503050406030204" pitchFamily="18" charset="0"/>
                  </a:rPr>
                  <a:t>中将变量</a:t>
                </a:r>
                <a14:m>
                  <m:oMath xmlns:m="http://schemas.openxmlformats.org/officeDocument/2006/math">
                    <m:r>
                      <a:rPr lang="en-US" altLang="zh-CN" b="1" i="1">
                        <a:solidFill>
                          <a:schemeClr val="tx1"/>
                        </a:solidFill>
                        <a:latin typeface="Cambria Math" panose="02040503050406030204" pitchFamily="18" charset="0"/>
                        <a:cs typeface="Cambria Math" panose="02040503050406030204" pitchFamily="18" charset="0"/>
                      </a:rPr>
                      <m:t>𝒛</m:t>
                    </m:r>
                  </m:oMath>
                </a14:m>
                <a:r>
                  <a:rPr lang="zh-CN" altLang="en-US">
                    <a:solidFill>
                      <a:schemeClr val="tx1"/>
                    </a:solidFill>
                    <a:latin typeface="Cambria Math" panose="02040503050406030204" pitchFamily="18" charset="0"/>
                    <a:cs typeface="Cambria Math" panose="02040503050406030204" pitchFamily="18" charset="0"/>
                  </a:rPr>
                  <a:t>去除后，</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𝑥</m:t>
                    </m:r>
                  </m:oMath>
                </a14:m>
                <a:r>
                  <a:rPr lang="zh-CN" altLang="en-US">
                    <a:solidFill>
                      <a:schemeClr val="tx1"/>
                    </a:solidFill>
                    <a:latin typeface="Cambria Math" panose="02040503050406030204" pitchFamily="18" charset="0"/>
                    <a:cs typeface="Cambria Math" panose="02040503050406030204" pitchFamily="18" charset="0"/>
                  </a:rPr>
                  <a:t>和</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𝑦</m:t>
                    </m:r>
                  </m:oMath>
                </a14:m>
                <a:r>
                  <a:rPr lang="zh-CN" altLang="en-US">
                    <a:solidFill>
                      <a:schemeClr val="tx1"/>
                    </a:solidFill>
                    <a:latin typeface="Cambria Math" panose="02040503050406030204" pitchFamily="18" charset="0"/>
                    <a:cs typeface="Cambria Math" panose="02040503050406030204" pitchFamily="18" charset="0"/>
                  </a:rPr>
                  <a:t>分属两个分支，则称变量</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𝑥</m:t>
                    </m:r>
                  </m:oMath>
                </a14:m>
                <a:r>
                  <a:rPr lang="zh-CN" altLang="en-US">
                    <a:solidFill>
                      <a:schemeClr val="tx1"/>
                    </a:solidFill>
                    <a:latin typeface="Cambria Math" panose="02040503050406030204" pitchFamily="18" charset="0"/>
                    <a:cs typeface="Cambria Math" panose="02040503050406030204" pitchFamily="18" charset="0"/>
                  </a:rPr>
                  <a:t>和</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𝑦</m:t>
                    </m:r>
                  </m:oMath>
                </a14:m>
                <a:r>
                  <a:rPr lang="zh-CN" altLang="en-US">
                    <a:solidFill>
                      <a:schemeClr val="tx1"/>
                    </a:solidFill>
                    <a:latin typeface="Cambria Math" panose="02040503050406030204" pitchFamily="18" charset="0"/>
                    <a:cs typeface="Cambria Math" panose="02040503050406030204" pitchFamily="18" charset="0"/>
                  </a:rPr>
                  <a:t>被</a:t>
                </a:r>
                <a14:m>
                  <m:oMath xmlns:m="http://schemas.openxmlformats.org/officeDocument/2006/math">
                    <m:r>
                      <a:rPr lang="en-US" altLang="zh-CN" b="1" i="1">
                        <a:solidFill>
                          <a:schemeClr val="tx1"/>
                        </a:solidFill>
                        <a:latin typeface="Cambria Math" panose="02040503050406030204" pitchFamily="18" charset="0"/>
                        <a:cs typeface="Cambria Math" panose="02040503050406030204" pitchFamily="18" charset="0"/>
                      </a:rPr>
                      <m:t>𝒛</m:t>
                    </m:r>
                  </m:oMath>
                </a14:m>
                <a:r>
                  <a:rPr lang="zh-CN" altLang="en-US">
                    <a:solidFill>
                      <a:schemeClr val="tx1"/>
                    </a:solidFill>
                    <a:latin typeface="Cambria Math" panose="02040503050406030204" pitchFamily="18" charset="0"/>
                    <a:cs typeface="Cambria Math" panose="02040503050406030204" pitchFamily="18" charset="0"/>
                  </a:rPr>
                  <a:t>有向分离，</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    </m:t>
                    </m:r>
                    <m:r>
                      <a:rPr lang="en-US" altLang="zh-CN" i="1">
                        <a:solidFill>
                          <a:schemeClr val="tx1"/>
                        </a:solidFill>
                        <a:latin typeface="Cambria Math" panose="02040503050406030204" pitchFamily="18" charset="0"/>
                        <a:cs typeface="Cambria Math" panose="02040503050406030204" pitchFamily="18" charset="0"/>
                      </a:rPr>
                      <m:t>𝑦</m:t>
                    </m:r>
                    <m:r>
                      <a:rPr lang="en-US" altLang="zh-CN"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𝒛</m:t>
                    </m:r>
                  </m:oMath>
                </a14:m>
                <a:r>
                  <a:rPr lang="zh-CN" altLang="en-US">
                    <a:solidFill>
                      <a:schemeClr val="tx1"/>
                    </a:solidFill>
                    <a:latin typeface="Cambria Math" panose="02040503050406030204" pitchFamily="18" charset="0"/>
                    <a:cs typeface="Cambria Math" panose="02040503050406030204" pitchFamily="18" charset="0"/>
                  </a:rPr>
                  <a:t>成立</a:t>
                </a:r>
                <a:endParaRPr lang="zh-CN" altLang="en-US">
                  <a:solidFill>
                    <a:schemeClr val="tx1"/>
                  </a:solidFill>
                  <a:latin typeface="Cambria Math" panose="02040503050406030204" pitchFamily="18" charset="0"/>
                  <a:cs typeface="Cambria Math" panose="02040503050406030204" pitchFamily="18" charset="0"/>
                </a:endParaRPr>
              </a:p>
              <a:p>
                <a:pPr marL="0" lvl="0" indent="457200">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457200">
                  <a:buNone/>
                </a:pPr>
                <a:r>
                  <a:rPr lang="zh-CN" altLang="en-US">
                    <a:solidFill>
                      <a:schemeClr val="tx1"/>
                    </a:solidFill>
                    <a:latin typeface="Cambria Math" panose="02040503050406030204" pitchFamily="18" charset="0"/>
                    <a:cs typeface="Cambria Math" panose="02040503050406030204" pitchFamily="18" charset="0"/>
                  </a:rPr>
                  <a:t>以之前的西瓜问题为例：</a:t>
                </a:r>
                <a:endParaRPr lang="zh-CN" altLang="en-US">
                  <a:solidFill>
                    <a:schemeClr val="tx1"/>
                  </a:solidFill>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02260" y="1200785"/>
                <a:ext cx="11323955" cy="2777490"/>
              </a:xfrm>
              <a:prstGeom prst="rect">
                <a:avLst/>
              </a:prstGeom>
              <a:blipFill rotWithShape="1">
                <a:blip r:embed="rId1"/>
                <a:stretch>
                  <a:fillRect/>
                </a:stretch>
              </a:blipFill>
            </p:spPr>
            <p:txBody>
              <a:bodyPr/>
              <a:lstStyle/>
              <a:p>
                <a:r>
                  <a:rPr lang="zh-CN" altLang="en-US">
                    <a:noFill/>
                  </a:rPr>
                  <a:t> </a:t>
                </a:r>
              </a:p>
            </p:txBody>
          </p:sp>
        </mc:Fallback>
      </mc:AlternateContent>
      <p:cxnSp>
        <p:nvCxnSpPr>
          <p:cNvPr id="12" name="直接连接符 11"/>
          <p:cNvCxnSpPr/>
          <p:nvPr>
            <p:custDataLst>
              <p:tags r:id="rId2"/>
            </p:custDataLst>
          </p:nvPr>
        </p:nvCxnSpPr>
        <p:spPr>
          <a:xfrm flipH="1">
            <a:off x="1296035" y="3193415"/>
            <a:ext cx="1270" cy="109220"/>
          </a:xfrm>
          <a:prstGeom prst="line">
            <a:avLst/>
          </a:prstGeom>
          <a:ln w="12700"/>
        </p:spPr>
        <p:style>
          <a:lnRef idx="1">
            <a:schemeClr val="dk1"/>
          </a:lnRef>
          <a:fillRef idx="0">
            <a:schemeClr val="dk1"/>
          </a:fillRef>
          <a:effectRef idx="0">
            <a:schemeClr val="dk1"/>
          </a:effectRef>
          <a:fontRef idx="minor">
            <a:schemeClr val="tx1"/>
          </a:fontRef>
        </p:style>
      </p:cxnSp>
      <p:cxnSp>
        <p:nvCxnSpPr>
          <p:cNvPr id="13" name="直接连接符 12"/>
          <p:cNvCxnSpPr/>
          <p:nvPr>
            <p:custDataLst>
              <p:tags r:id="rId3"/>
            </p:custDataLst>
          </p:nvPr>
        </p:nvCxnSpPr>
        <p:spPr>
          <a:xfrm>
            <a:off x="1212215" y="3307715"/>
            <a:ext cx="170180" cy="635"/>
          </a:xfrm>
          <a:prstGeom prst="line">
            <a:avLst/>
          </a:prstGeom>
          <a:ln w="12700"/>
        </p:spPr>
        <p:style>
          <a:lnRef idx="1">
            <a:schemeClr val="dk1"/>
          </a:lnRef>
          <a:fillRef idx="0">
            <a:schemeClr val="dk1"/>
          </a:fillRef>
          <a:effectRef idx="0">
            <a:schemeClr val="dk1"/>
          </a:effectRef>
          <a:fontRef idx="minor">
            <a:schemeClr val="tx1"/>
          </a:fontRef>
        </p:style>
      </p:cxnSp>
      <p:pic>
        <p:nvPicPr>
          <p:cNvPr id="6" name="图片 5" descr="贝叶斯网"/>
          <p:cNvPicPr>
            <a:picLocks noChangeAspect="1"/>
          </p:cNvPicPr>
          <p:nvPr/>
        </p:nvPicPr>
        <p:blipFill>
          <a:blip r:embed="rId4"/>
          <a:stretch>
            <a:fillRect/>
          </a:stretch>
        </p:blipFill>
        <p:spPr>
          <a:xfrm>
            <a:off x="269240" y="4205605"/>
            <a:ext cx="3020060" cy="1195070"/>
          </a:xfrm>
          <a:prstGeom prst="rect">
            <a:avLst/>
          </a:prstGeom>
        </p:spPr>
      </p:pic>
      <p:pic>
        <p:nvPicPr>
          <p:cNvPr id="7" name="图片 6" descr="贝叶斯网"/>
          <p:cNvPicPr>
            <a:picLocks noChangeAspect="1"/>
          </p:cNvPicPr>
          <p:nvPr>
            <p:custDataLst>
              <p:tags r:id="rId5"/>
            </p:custDataLst>
          </p:nvPr>
        </p:nvPicPr>
        <p:blipFill>
          <a:blip r:embed="rId4"/>
          <a:stretch>
            <a:fillRect/>
          </a:stretch>
        </p:blipFill>
        <p:spPr>
          <a:xfrm>
            <a:off x="4164330" y="4205605"/>
            <a:ext cx="3020060" cy="1195070"/>
          </a:xfrm>
          <a:prstGeom prst="rect">
            <a:avLst/>
          </a:prstGeom>
        </p:spPr>
      </p:pic>
      <p:cxnSp>
        <p:nvCxnSpPr>
          <p:cNvPr id="8" name="直接连接符 7"/>
          <p:cNvCxnSpPr/>
          <p:nvPr/>
        </p:nvCxnSpPr>
        <p:spPr>
          <a:xfrm flipV="1">
            <a:off x="5518150" y="4443730"/>
            <a:ext cx="360045" cy="8255"/>
          </a:xfrm>
          <a:prstGeom prst="line">
            <a:avLst/>
          </a:prstGeom>
          <a:ln w="19050"/>
        </p:spPr>
        <p:style>
          <a:lnRef idx="1">
            <a:schemeClr val="accent2"/>
          </a:lnRef>
          <a:fillRef idx="0">
            <a:schemeClr val="accent2"/>
          </a:fillRef>
          <a:effectRef idx="0">
            <a:schemeClr val="accent2"/>
          </a:effectRef>
          <a:fontRef idx="minor">
            <a:schemeClr val="tx1"/>
          </a:fontRef>
        </p:style>
      </p:cxnSp>
      <p:pic>
        <p:nvPicPr>
          <p:cNvPr id="9" name="图片 8" descr="贝叶斯网"/>
          <p:cNvPicPr>
            <a:picLocks noChangeAspect="1"/>
          </p:cNvPicPr>
          <p:nvPr>
            <p:custDataLst>
              <p:tags r:id="rId6"/>
            </p:custDataLst>
          </p:nvPr>
        </p:nvPicPr>
        <p:blipFill>
          <a:blip r:embed="rId4"/>
          <a:stretch>
            <a:fillRect/>
          </a:stretch>
        </p:blipFill>
        <p:spPr>
          <a:xfrm>
            <a:off x="8188325" y="4205605"/>
            <a:ext cx="3020060" cy="1195070"/>
          </a:xfrm>
          <a:prstGeom prst="rect">
            <a:avLst/>
          </a:prstGeom>
        </p:spPr>
      </p:pic>
      <p:cxnSp>
        <p:nvCxnSpPr>
          <p:cNvPr id="10" name="直接连接符 9"/>
          <p:cNvCxnSpPr/>
          <p:nvPr>
            <p:custDataLst>
              <p:tags r:id="rId7"/>
            </p:custDataLst>
          </p:nvPr>
        </p:nvCxnSpPr>
        <p:spPr>
          <a:xfrm flipV="1">
            <a:off x="9540875" y="4435475"/>
            <a:ext cx="360045" cy="8255"/>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1" name="直接连接符 10"/>
          <p:cNvCxnSpPr/>
          <p:nvPr>
            <p:custDataLst>
              <p:tags r:id="rId8"/>
            </p:custDataLst>
          </p:nvPr>
        </p:nvCxnSpPr>
        <p:spPr>
          <a:xfrm flipV="1">
            <a:off x="8613140" y="4616450"/>
            <a:ext cx="374650" cy="393700"/>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4" name="直接连接符 13"/>
          <p:cNvCxnSpPr/>
          <p:nvPr>
            <p:custDataLst>
              <p:tags r:id="rId9"/>
            </p:custDataLst>
          </p:nvPr>
        </p:nvCxnSpPr>
        <p:spPr>
          <a:xfrm flipH="1" flipV="1">
            <a:off x="9340215" y="4616450"/>
            <a:ext cx="285750" cy="409575"/>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5" name="直接连接符 14"/>
          <p:cNvCxnSpPr/>
          <p:nvPr>
            <p:custDataLst>
              <p:tags r:id="rId10"/>
            </p:custDataLst>
          </p:nvPr>
        </p:nvCxnSpPr>
        <p:spPr>
          <a:xfrm flipV="1">
            <a:off x="9727565" y="4606290"/>
            <a:ext cx="409575" cy="422910"/>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6" name="直接连接符 15"/>
          <p:cNvCxnSpPr/>
          <p:nvPr>
            <p:custDataLst>
              <p:tags r:id="rId11"/>
            </p:custDataLst>
          </p:nvPr>
        </p:nvCxnSpPr>
        <p:spPr>
          <a:xfrm flipH="1" flipV="1">
            <a:off x="10419715" y="4616450"/>
            <a:ext cx="333375" cy="390525"/>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17" name="右箭头 16"/>
          <p:cNvSpPr/>
          <p:nvPr/>
        </p:nvSpPr>
        <p:spPr>
          <a:xfrm>
            <a:off x="3333750" y="4587240"/>
            <a:ext cx="830580" cy="3962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右箭头 17"/>
          <p:cNvSpPr/>
          <p:nvPr>
            <p:custDataLst>
              <p:tags r:id="rId12"/>
            </p:custDataLst>
          </p:nvPr>
        </p:nvSpPr>
        <p:spPr>
          <a:xfrm>
            <a:off x="7270750" y="4587240"/>
            <a:ext cx="830580" cy="3962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19" name="文本框 18"/>
              <p:cNvSpPr txBox="1"/>
              <p:nvPr/>
            </p:nvSpPr>
            <p:spPr>
              <a:xfrm>
                <a:off x="725170" y="5783580"/>
                <a:ext cx="10416540" cy="368300"/>
              </a:xfrm>
              <a:prstGeom prst="rect">
                <a:avLst/>
              </a:prstGeom>
              <a:noFill/>
            </p:spPr>
            <p:txBody>
              <a:bodyPr wrap="square" rtlCol="0">
                <a:spAutoFit/>
              </a:bodyPr>
              <a:p>
                <a:r>
                  <a:rPr lang="zh-CN" altLang="en-US"/>
                  <a:t>从最右的</a:t>
                </a:r>
                <a:r>
                  <a:rPr lang="zh-CN" altLang="en-US">
                    <a:solidFill>
                      <a:schemeClr val="accent1"/>
                    </a:solidFill>
                    <a:effectLst>
                      <a:outerShdw blurRad="38100" dist="25400" dir="5400000" algn="ctr" rotWithShape="0">
                        <a:srgbClr val="6E747A">
                          <a:alpha val="43000"/>
                        </a:srgbClr>
                      </a:outerShdw>
                    </a:effectLst>
                  </a:rPr>
                  <a:t>道德图</a:t>
                </a:r>
                <a:r>
                  <a:rPr lang="zh-CN" altLang="en-US"/>
                  <a:t>中可以得出：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4</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oMath>
                </a14:m>
                <a:r>
                  <a:rPr lang="zh-CN" altLang="en-US">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4</m:t>
                        </m:r>
                      </m:sub>
                    </m:sSub>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5</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oMath>
                </a14:m>
                <a:r>
                  <a:rPr lang="zh-CN" altLang="en-US">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oMath>
                </a14:m>
                <a:r>
                  <a:rPr lang="zh-CN" altLang="en-US">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5</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oMath>
                </a14:m>
                <a:r>
                  <a:rPr lang="zh-CN" altLang="en-US">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5</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oMath>
                </a14:m>
                <a:endParaRPr lang="zh-CN" altLang="en-US">
                  <a:latin typeface="Cambria Math" panose="02040503050406030204" pitchFamily="18" charset="0"/>
                  <a:cs typeface="Cambria Math" panose="02040503050406030204" pitchFamily="18" charset="0"/>
                </a:endParaRPr>
              </a:p>
            </p:txBody>
          </p:sp>
        </mc:Choice>
        <mc:Fallback>
          <p:sp>
            <p:nvSpPr>
              <p:cNvPr id="19" name="文本框 18"/>
              <p:cNvSpPr txBox="1">
                <a:spLocks noRot="1" noChangeAspect="1" noMove="1" noResize="1" noEditPoints="1" noAdjustHandles="1" noChangeArrowheads="1" noChangeShapeType="1" noTextEdit="1"/>
              </p:cNvSpPr>
              <p:nvPr/>
            </p:nvSpPr>
            <p:spPr>
              <a:xfrm>
                <a:off x="725170" y="5783580"/>
                <a:ext cx="10416540" cy="368300"/>
              </a:xfrm>
              <a:prstGeom prst="rect">
                <a:avLst/>
              </a:prstGeom>
              <a:blipFill rotWithShape="1">
                <a:blip r:embed="rId13"/>
                <a:stretch>
                  <a:fillRect/>
                </a:stretch>
              </a:blipFill>
            </p:spPr>
            <p:txBody>
              <a:bodyPr/>
              <a:lstStyle/>
              <a:p>
                <a:r>
                  <a:rPr lang="zh-CN" altLang="en-US">
                    <a:noFill/>
                  </a:rPr>
                  <a:t> </a:t>
                </a:r>
              </a:p>
            </p:txBody>
          </p:sp>
        </mc:Fallback>
      </mc:AlternateContent>
      <p:cxnSp>
        <p:nvCxnSpPr>
          <p:cNvPr id="23" name="直接连接符 22"/>
          <p:cNvCxnSpPr/>
          <p:nvPr>
            <p:custDataLst>
              <p:tags r:id="rId14"/>
            </p:custDataLst>
          </p:nvPr>
        </p:nvCxnSpPr>
        <p:spPr>
          <a:xfrm flipH="1">
            <a:off x="4161790" y="5967095"/>
            <a:ext cx="1270" cy="109220"/>
          </a:xfrm>
          <a:prstGeom prst="line">
            <a:avLst/>
          </a:prstGeom>
          <a:ln w="12700"/>
        </p:spPr>
        <p:style>
          <a:lnRef idx="1">
            <a:schemeClr val="dk1"/>
          </a:lnRef>
          <a:fillRef idx="0">
            <a:schemeClr val="dk1"/>
          </a:fillRef>
          <a:effectRef idx="0">
            <a:schemeClr val="dk1"/>
          </a:effectRef>
          <a:fontRef idx="minor">
            <a:schemeClr val="tx1"/>
          </a:fontRef>
        </p:style>
      </p:cxnSp>
      <p:cxnSp>
        <p:nvCxnSpPr>
          <p:cNvPr id="24" name="直接连接符 23"/>
          <p:cNvCxnSpPr/>
          <p:nvPr>
            <p:custDataLst>
              <p:tags r:id="rId15"/>
            </p:custDataLst>
          </p:nvPr>
        </p:nvCxnSpPr>
        <p:spPr>
          <a:xfrm>
            <a:off x="4077335" y="6075680"/>
            <a:ext cx="170180" cy="635"/>
          </a:xfrm>
          <a:prstGeom prst="line">
            <a:avLst/>
          </a:prstGeom>
          <a:ln w="12700"/>
        </p:spPr>
        <p:style>
          <a:lnRef idx="1">
            <a:schemeClr val="dk1"/>
          </a:lnRef>
          <a:fillRef idx="0">
            <a:schemeClr val="dk1"/>
          </a:fillRef>
          <a:effectRef idx="0">
            <a:schemeClr val="dk1"/>
          </a:effectRef>
          <a:fontRef idx="minor">
            <a:schemeClr val="tx1"/>
          </a:fontRef>
        </p:style>
      </p:cxnSp>
      <p:cxnSp>
        <p:nvCxnSpPr>
          <p:cNvPr id="25" name="直接连接符 24"/>
          <p:cNvCxnSpPr/>
          <p:nvPr>
            <p:custDataLst>
              <p:tags r:id="rId16"/>
            </p:custDataLst>
          </p:nvPr>
        </p:nvCxnSpPr>
        <p:spPr>
          <a:xfrm flipH="1">
            <a:off x="5375910" y="5966460"/>
            <a:ext cx="1270" cy="109220"/>
          </a:xfrm>
          <a:prstGeom prst="line">
            <a:avLst/>
          </a:prstGeom>
          <a:ln w="12700"/>
        </p:spPr>
        <p:style>
          <a:lnRef idx="1">
            <a:schemeClr val="dk1"/>
          </a:lnRef>
          <a:fillRef idx="0">
            <a:schemeClr val="dk1"/>
          </a:fillRef>
          <a:effectRef idx="0">
            <a:schemeClr val="dk1"/>
          </a:effectRef>
          <a:fontRef idx="minor">
            <a:schemeClr val="tx1"/>
          </a:fontRef>
        </p:style>
      </p:cxnSp>
      <p:cxnSp>
        <p:nvCxnSpPr>
          <p:cNvPr id="26" name="直接连接符 25"/>
          <p:cNvCxnSpPr/>
          <p:nvPr>
            <p:custDataLst>
              <p:tags r:id="rId17"/>
            </p:custDataLst>
          </p:nvPr>
        </p:nvCxnSpPr>
        <p:spPr>
          <a:xfrm>
            <a:off x="5291455" y="6075045"/>
            <a:ext cx="170180" cy="635"/>
          </a:xfrm>
          <a:prstGeom prst="line">
            <a:avLst/>
          </a:prstGeom>
          <a:ln w="12700"/>
        </p:spPr>
        <p:style>
          <a:lnRef idx="1">
            <a:schemeClr val="dk1"/>
          </a:lnRef>
          <a:fillRef idx="0">
            <a:schemeClr val="dk1"/>
          </a:fillRef>
          <a:effectRef idx="0">
            <a:schemeClr val="dk1"/>
          </a:effectRef>
          <a:fontRef idx="minor">
            <a:schemeClr val="tx1"/>
          </a:fontRef>
        </p:style>
      </p:cxnSp>
      <p:cxnSp>
        <p:nvCxnSpPr>
          <p:cNvPr id="27" name="直接连接符 26"/>
          <p:cNvCxnSpPr/>
          <p:nvPr>
            <p:custDataLst>
              <p:tags r:id="rId18"/>
            </p:custDataLst>
          </p:nvPr>
        </p:nvCxnSpPr>
        <p:spPr>
          <a:xfrm flipH="1">
            <a:off x="6617970" y="5965825"/>
            <a:ext cx="1270" cy="109220"/>
          </a:xfrm>
          <a:prstGeom prst="line">
            <a:avLst/>
          </a:prstGeom>
          <a:ln w="12700"/>
        </p:spPr>
        <p:style>
          <a:lnRef idx="1">
            <a:schemeClr val="dk1"/>
          </a:lnRef>
          <a:fillRef idx="0">
            <a:schemeClr val="dk1"/>
          </a:fillRef>
          <a:effectRef idx="0">
            <a:schemeClr val="dk1"/>
          </a:effectRef>
          <a:fontRef idx="minor">
            <a:schemeClr val="tx1"/>
          </a:fontRef>
        </p:style>
      </p:cxnSp>
      <p:cxnSp>
        <p:nvCxnSpPr>
          <p:cNvPr id="28" name="直接连接符 27"/>
          <p:cNvCxnSpPr/>
          <p:nvPr>
            <p:custDataLst>
              <p:tags r:id="rId19"/>
            </p:custDataLst>
          </p:nvPr>
        </p:nvCxnSpPr>
        <p:spPr>
          <a:xfrm>
            <a:off x="6533515" y="6074410"/>
            <a:ext cx="170180" cy="635"/>
          </a:xfrm>
          <a:prstGeom prst="line">
            <a:avLst/>
          </a:prstGeom>
          <a:ln w="12700"/>
        </p:spPr>
        <p:style>
          <a:lnRef idx="1">
            <a:schemeClr val="dk1"/>
          </a:lnRef>
          <a:fillRef idx="0">
            <a:schemeClr val="dk1"/>
          </a:fillRef>
          <a:effectRef idx="0">
            <a:schemeClr val="dk1"/>
          </a:effectRef>
          <a:fontRef idx="minor">
            <a:schemeClr val="tx1"/>
          </a:fontRef>
        </p:style>
      </p:cxnSp>
      <p:cxnSp>
        <p:nvCxnSpPr>
          <p:cNvPr id="31" name="直接连接符 30"/>
          <p:cNvCxnSpPr/>
          <p:nvPr>
            <p:custDataLst>
              <p:tags r:id="rId20"/>
            </p:custDataLst>
          </p:nvPr>
        </p:nvCxnSpPr>
        <p:spPr>
          <a:xfrm flipH="1">
            <a:off x="7826375" y="5982970"/>
            <a:ext cx="1270" cy="109220"/>
          </a:xfrm>
          <a:prstGeom prst="line">
            <a:avLst/>
          </a:prstGeom>
          <a:ln w="12700"/>
        </p:spPr>
        <p:style>
          <a:lnRef idx="1">
            <a:schemeClr val="dk1"/>
          </a:lnRef>
          <a:fillRef idx="0">
            <a:schemeClr val="dk1"/>
          </a:fillRef>
          <a:effectRef idx="0">
            <a:schemeClr val="dk1"/>
          </a:effectRef>
          <a:fontRef idx="minor">
            <a:schemeClr val="tx1"/>
          </a:fontRef>
        </p:style>
      </p:cxnSp>
      <p:cxnSp>
        <p:nvCxnSpPr>
          <p:cNvPr id="32" name="直接连接符 31"/>
          <p:cNvCxnSpPr/>
          <p:nvPr>
            <p:custDataLst>
              <p:tags r:id="rId21"/>
            </p:custDataLst>
          </p:nvPr>
        </p:nvCxnSpPr>
        <p:spPr>
          <a:xfrm>
            <a:off x="7741920" y="6091555"/>
            <a:ext cx="170180" cy="635"/>
          </a:xfrm>
          <a:prstGeom prst="line">
            <a:avLst/>
          </a:prstGeom>
          <a:ln w="12700"/>
        </p:spPr>
        <p:style>
          <a:lnRef idx="1">
            <a:schemeClr val="dk1"/>
          </a:lnRef>
          <a:fillRef idx="0">
            <a:schemeClr val="dk1"/>
          </a:fillRef>
          <a:effectRef idx="0">
            <a:schemeClr val="dk1"/>
          </a:effectRef>
          <a:fontRef idx="minor">
            <a:schemeClr val="tx1"/>
          </a:fontRef>
        </p:style>
      </p:cxnSp>
      <p:cxnSp>
        <p:nvCxnSpPr>
          <p:cNvPr id="33" name="直接连接符 32"/>
          <p:cNvCxnSpPr/>
          <p:nvPr>
            <p:custDataLst>
              <p:tags r:id="rId22"/>
            </p:custDataLst>
          </p:nvPr>
        </p:nvCxnSpPr>
        <p:spPr>
          <a:xfrm flipH="1">
            <a:off x="9074150" y="5983605"/>
            <a:ext cx="1270" cy="109220"/>
          </a:xfrm>
          <a:prstGeom prst="line">
            <a:avLst/>
          </a:prstGeom>
          <a:ln w="12700"/>
        </p:spPr>
        <p:style>
          <a:lnRef idx="1">
            <a:schemeClr val="dk1"/>
          </a:lnRef>
          <a:fillRef idx="0">
            <a:schemeClr val="dk1"/>
          </a:fillRef>
          <a:effectRef idx="0">
            <a:schemeClr val="dk1"/>
          </a:effectRef>
          <a:fontRef idx="minor">
            <a:schemeClr val="tx1"/>
          </a:fontRef>
        </p:style>
      </p:cxnSp>
      <p:cxnSp>
        <p:nvCxnSpPr>
          <p:cNvPr id="34" name="直接连接符 33"/>
          <p:cNvCxnSpPr/>
          <p:nvPr>
            <p:custDataLst>
              <p:tags r:id="rId23"/>
            </p:custDataLst>
          </p:nvPr>
        </p:nvCxnSpPr>
        <p:spPr>
          <a:xfrm>
            <a:off x="8989695" y="6092190"/>
            <a:ext cx="170180" cy="635"/>
          </a:xfrm>
          <a:prstGeom prst="line">
            <a:avLst/>
          </a:prstGeom>
          <a:ln w="12700"/>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贝叶斯网</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37820" y="1314450"/>
                <a:ext cx="11268075" cy="4660900"/>
              </a:xfrm>
              <a:prstGeom prst="rect">
                <a:avLst/>
              </a:prstGeom>
              <a:noFill/>
            </p:spPr>
            <p:txBody>
              <a:bodyPr wrap="square" rtlCol="0">
                <a:spAutoFit/>
              </a:bodyPr>
              <a:p>
                <a:pPr indent="457200"/>
                <a:r>
                  <a:rPr lang="zh-CN" altLang="en-US"/>
                  <a:t>若贝叶斯网结构已知，即属性间的依赖关系已知，则贝叶斯网的学习过程相对简单，只需通过训练样本计数，估计出每个结点的条件概率表即可。但在现实应用中我们往往不知晓网络结构，贝叶斯网学习的主要任务就是根据训练数据集找出结构最恰当的贝叶斯网，一般采用</a:t>
                </a:r>
                <a:r>
                  <a:rPr lang="zh-CN" altLang="en-US">
                    <a:solidFill>
                      <a:schemeClr val="accent1"/>
                    </a:solidFill>
                    <a:effectLst>
                      <a:outerShdw blurRad="38100" dist="25400" dir="5400000" algn="ctr" rotWithShape="0">
                        <a:srgbClr val="6E747A">
                          <a:alpha val="43000"/>
                        </a:srgbClr>
                      </a:outerShdw>
                    </a:effectLst>
                  </a:rPr>
                  <a:t>评分搜索</a:t>
                </a:r>
                <a:r>
                  <a:rPr lang="zh-CN" altLang="en-US"/>
                  <a:t>来实现</a:t>
                </a:r>
                <a:endParaRPr lang="zh-CN" altLang="en-US"/>
              </a:p>
              <a:p>
                <a:pPr indent="457200">
                  <a:lnSpc>
                    <a:spcPct val="70000"/>
                  </a:lnSpc>
                </a:pPr>
                <a:endParaRPr lang="zh-CN" altLang="en-US"/>
              </a:p>
              <a:p>
                <a:pPr indent="457200"/>
                <a:r>
                  <a:rPr lang="zh-CN" altLang="en-US">
                    <a:solidFill>
                      <a:schemeClr val="accent1"/>
                    </a:solidFill>
                    <a:effectLst>
                      <a:outerShdw blurRad="38100" dist="25400" dir="5400000" algn="ctr" rotWithShape="0">
                        <a:srgbClr val="6E747A">
                          <a:alpha val="43000"/>
                        </a:srgbClr>
                      </a:outerShdw>
                    </a:effectLst>
                  </a:rPr>
                  <a:t>评分搜索</a:t>
                </a:r>
                <a:r>
                  <a:rPr lang="zh-CN" altLang="en-US"/>
                  <a:t>：定义一个</a:t>
                </a:r>
                <a:r>
                  <a:rPr lang="zh-CN" altLang="en-US">
                    <a:solidFill>
                      <a:schemeClr val="accent1"/>
                    </a:solidFill>
                    <a:effectLst>
                      <a:outerShdw blurRad="38100" dist="25400" dir="5400000" algn="ctr" rotWithShape="0">
                        <a:srgbClr val="6E747A">
                          <a:alpha val="43000"/>
                        </a:srgbClr>
                      </a:outerShdw>
                    </a:effectLst>
                  </a:rPr>
                  <a:t>评分函数</a:t>
                </a:r>
                <a:r>
                  <a:rPr lang="zh-CN" altLang="en-US"/>
                  <a:t>用以估计贝叶斯网与训练数据的契合程度，然后基于这个</a:t>
                </a:r>
                <a:r>
                  <a:rPr lang="zh-CN" altLang="en-US">
                    <a:solidFill>
                      <a:schemeClr val="accent1"/>
                    </a:solidFill>
                    <a:effectLst>
                      <a:outerShdw blurRad="38100" dist="25400" dir="5400000" algn="ctr" rotWithShape="0">
                        <a:srgbClr val="6E747A">
                          <a:alpha val="43000"/>
                        </a:srgbClr>
                      </a:outerShdw>
                    </a:effectLst>
                  </a:rPr>
                  <a:t>评分函数</a:t>
                </a:r>
                <a:r>
                  <a:rPr lang="zh-CN" altLang="en-US"/>
                  <a:t>来寻找结构最优的</a:t>
                </a:r>
                <a:r>
                  <a:rPr lang="zh-CN" altLang="en-US"/>
                  <a:t>贝叶斯网。</a:t>
                </a:r>
                <a:endParaRPr lang="zh-CN" altLang="en-US"/>
              </a:p>
              <a:p>
                <a:pPr indent="457200"/>
                <a:endParaRPr lang="zh-CN" altLang="en-US"/>
              </a:p>
              <a:p>
                <a:pPr indent="457200"/>
                <a:r>
                  <a:rPr lang="zh-CN" altLang="en-US"/>
                  <a:t>常用的</a:t>
                </a:r>
                <a:r>
                  <a:rPr lang="zh-CN" altLang="en-US">
                    <a:solidFill>
                      <a:schemeClr val="accent1"/>
                    </a:solidFill>
                    <a:effectLst>
                      <a:outerShdw blurRad="38100" dist="25400" dir="5400000" algn="ctr" rotWithShape="0">
                        <a:srgbClr val="6E747A">
                          <a:alpha val="43000"/>
                        </a:srgbClr>
                      </a:outerShdw>
                    </a:effectLst>
                  </a:rPr>
                  <a:t>评分函数</a:t>
                </a:r>
                <a:r>
                  <a:rPr lang="zh-CN" altLang="en-US"/>
                  <a:t>通常基于</a:t>
                </a:r>
                <a:r>
                  <a:rPr lang="zh-CN" altLang="en-US">
                    <a:solidFill>
                      <a:schemeClr val="accent1"/>
                    </a:solidFill>
                    <a:effectLst>
                      <a:outerShdw blurRad="38100" dist="25400" dir="5400000" algn="ctr" rotWithShape="0">
                        <a:srgbClr val="6E747A">
                          <a:alpha val="43000"/>
                        </a:srgbClr>
                      </a:outerShdw>
                    </a:effectLst>
                  </a:rPr>
                  <a:t>信息论准则</a:t>
                </a:r>
                <a:r>
                  <a:rPr lang="zh-CN" altLang="en-US"/>
                  <a:t>，此类准则将学习问题看作一个数据压缩任务，学习的目标是找到一个能以最短编码长度描述训练数据的模型，此时编码的长度包括了</a:t>
                </a:r>
                <a:r>
                  <a:rPr lang="zh-CN" altLang="en-US">
                    <a:solidFill>
                      <a:schemeClr val="accent1"/>
                    </a:solidFill>
                    <a:effectLst>
                      <a:outerShdw blurRad="38100" dist="25400" dir="5400000" algn="ctr" rotWithShape="0">
                        <a:srgbClr val="6E747A">
                          <a:alpha val="43000"/>
                        </a:srgbClr>
                      </a:outerShdw>
                    </a:effectLst>
                  </a:rPr>
                  <a:t>描述模型自身所需的编码位数</a:t>
                </a:r>
                <a:r>
                  <a:rPr lang="zh-CN" altLang="en-US"/>
                  <a:t>和</a:t>
                </a:r>
                <a:r>
                  <a:rPr lang="zh-CN" altLang="en-US">
                    <a:solidFill>
                      <a:schemeClr val="accent1"/>
                    </a:solidFill>
                    <a:effectLst>
                      <a:outerShdw blurRad="38100" dist="25400" dir="5400000" algn="ctr" rotWithShape="0">
                        <a:srgbClr val="6E747A">
                          <a:alpha val="43000"/>
                        </a:srgbClr>
                      </a:outerShdw>
                    </a:effectLst>
                  </a:rPr>
                  <a:t>使用该模型描述数据所需的编码位数</a:t>
                </a:r>
                <a:r>
                  <a:rPr lang="zh-CN" altLang="en-US"/>
                  <a:t>。我们应选择</a:t>
                </a:r>
                <a:r>
                  <a:rPr lang="zh-CN" altLang="en-US">
                    <a:solidFill>
                      <a:schemeClr val="accent1"/>
                    </a:solidFill>
                    <a:effectLst>
                      <a:outerShdw blurRad="38100" dist="25400" dir="5400000" algn="ctr" rotWithShape="0">
                        <a:srgbClr val="6E747A">
                          <a:alpha val="43000"/>
                        </a:srgbClr>
                      </a:outerShdw>
                    </a:effectLst>
                  </a:rPr>
                  <a:t>综合编码长度</a:t>
                </a:r>
                <a:r>
                  <a:rPr lang="en-US" altLang="zh-CN"/>
                  <a:t>(</a:t>
                </a:r>
                <a:r>
                  <a:rPr lang="zh-CN" altLang="en-US"/>
                  <a:t>描述模型自身所需的编码位数</a:t>
                </a:r>
                <a:r>
                  <a:rPr lang="en-US" altLang="zh-CN"/>
                  <a:t>+</a:t>
                </a:r>
                <a:r>
                  <a:rPr lang="zh-CN" altLang="en-US">
                    <a:sym typeface="+mn-ea"/>
                  </a:rPr>
                  <a:t>使用该模型描述数据所需的编码位数</a:t>
                </a:r>
                <a:r>
                  <a:rPr lang="zh-CN" altLang="en-US"/>
                  <a:t>)最短的贝叶斯网，这就是</a:t>
                </a:r>
                <a:r>
                  <a:rPr lang="zh-CN" altLang="en-US">
                    <a:solidFill>
                      <a:schemeClr val="accent1"/>
                    </a:solidFill>
                    <a:effectLst>
                      <a:outerShdw blurRad="38100" dist="25400" dir="5400000" algn="ctr" rotWithShape="0">
                        <a:srgbClr val="6E747A">
                          <a:alpha val="43000"/>
                        </a:srgbClr>
                      </a:outerShdw>
                    </a:effectLst>
                  </a:rPr>
                  <a:t>最小描述长度准则</a:t>
                </a:r>
                <a:r>
                  <a:rPr lang="en-US" altLang="zh-CN"/>
                  <a:t>(Minimal Description Length, MDL)</a:t>
                </a:r>
                <a:endParaRPr lang="en-US" altLang="zh-CN"/>
              </a:p>
              <a:p>
                <a:pPr indent="457200"/>
                <a:endParaRPr lang="en-US" altLang="zh-CN"/>
              </a:p>
              <a:p>
                <a:pPr indent="457200"/>
                <a:r>
                  <a:rPr lang="zh-CN" altLang="en-US"/>
                  <a:t>给定训练集</a:t>
                </a:r>
                <a14:m>
                  <m:oMath xmlns:m="http://schemas.openxmlformats.org/officeDocument/2006/math">
                    <m:r>
                      <a:rPr lang="en-US" altLang="zh-CN" i="1">
                        <a:latin typeface="Cambria Math" panose="02040503050406030204" pitchFamily="18" charset="0"/>
                        <a:cs typeface="Cambria Math" panose="02040503050406030204" pitchFamily="18" charset="0"/>
                      </a:rPr>
                      <m:t>𝐷</m:t>
                    </m:r>
                  </m:oMath>
                </a14:m>
                <a:r>
                  <a:rPr lang="zh-CN" altLang="en-US">
                    <a:latin typeface="Cambria Math" panose="02040503050406030204" pitchFamily="18" charset="0"/>
                    <a:cs typeface="Cambria Math" panose="02040503050406030204" pitchFamily="18" charset="0"/>
                  </a:rPr>
                  <a:t>，贝叶斯网</a:t>
                </a:r>
                <a14:m>
                  <m:oMath xmlns:m="http://schemas.openxmlformats.org/officeDocument/2006/math">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=&lt;</m:t>
                    </m:r>
                    <m:r>
                      <a:rPr lang="en-US" altLang="zh-CN" i="1">
                        <a:latin typeface="Cambria Math" panose="02040503050406030204" pitchFamily="18" charset="0"/>
                        <a:cs typeface="Cambria Math" panose="02040503050406030204" pitchFamily="18" charset="0"/>
                      </a:rPr>
                      <m:t>𝐺</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𝛩</m:t>
                    </m:r>
                    <m:r>
                      <a:rPr lang="en-US" altLang="zh-CN" i="1">
                        <a:latin typeface="Cambria Math" panose="02040503050406030204" pitchFamily="18" charset="0"/>
                        <a:cs typeface="Cambria Math" panose="02040503050406030204" pitchFamily="18" charset="0"/>
                      </a:rPr>
                      <m:t>&gt;</m:t>
                    </m:r>
                  </m:oMath>
                </a14:m>
                <a:r>
                  <a:rPr lang="zh-CN" altLang="en-US">
                    <a:latin typeface="Cambria Math" panose="02040503050406030204" pitchFamily="18" charset="0"/>
                    <a:cs typeface="Cambria Math" panose="02040503050406030204" pitchFamily="18" charset="0"/>
                  </a:rPr>
                  <a:t>在</a:t>
                </a:r>
                <a14:m>
                  <m:oMath xmlns:m="http://schemas.openxmlformats.org/officeDocument/2006/math">
                    <m:r>
                      <a:rPr lang="en-US" altLang="zh-CN" i="1">
                        <a:latin typeface="Cambria Math" panose="02040503050406030204" pitchFamily="18" charset="0"/>
                        <a:cs typeface="Cambria Math" panose="02040503050406030204" pitchFamily="18" charset="0"/>
                      </a:rPr>
                      <m:t>𝐷</m:t>
                    </m:r>
                  </m:oMath>
                </a14:m>
                <a:r>
                  <a:rPr lang="zh-CN" altLang="en-US">
                    <a:latin typeface="Cambria Math" panose="02040503050406030204" pitchFamily="18" charset="0"/>
                    <a:cs typeface="Cambria Math" panose="02040503050406030204" pitchFamily="18" charset="0"/>
                  </a:rPr>
                  <a:t>上的评分函数可写为：</a:t>
                </a:r>
                <a:endParaRPr lang="zh-CN" altLang="en-US">
                  <a:latin typeface="Cambria Math" panose="02040503050406030204" pitchFamily="18" charset="0"/>
                  <a:cs typeface="Cambria Math" panose="02040503050406030204" pitchFamily="18" charset="0"/>
                </a:endParaRPr>
              </a:p>
              <a:p>
                <a:pPr indent="457200">
                  <a:lnSpc>
                    <a:spcPct val="30000"/>
                  </a:lnSpc>
                </a:pPr>
                <a:endParaRPr lang="zh-CN" altLang="en-US">
                  <a:latin typeface="Cambria Math" panose="02040503050406030204" pitchFamily="18" charset="0"/>
                  <a:cs typeface="Cambria Math" panose="02040503050406030204" pitchFamily="18" charset="0"/>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𝑠</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𝛩</m:t>
                      </m:r>
                      <m:r>
                        <a:rPr lang="en-US" altLang="zh-CN" i="1">
                          <a:latin typeface="Cambria Math" panose="02040503050406030204" pitchFamily="18" charset="0"/>
                          <a:cs typeface="Cambria Math" panose="02040503050406030204" pitchFamily="18" charset="0"/>
                        </a:rPr>
                        <m:t>)</m:t>
                      </m:r>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𝐵</m:t>
                          </m:r>
                        </m:e>
                      </m:d>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𝐿𝐿</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endParaRPr>
              </a:p>
              <a:p>
                <a:pPr indent="457200">
                  <a:lnSpc>
                    <a:spcPct val="50000"/>
                  </a:lnSpc>
                </a:pPr>
                <a:endParaRPr lang="zh-CN" altLang="en-US">
                  <a:latin typeface="Cambria Math" panose="02040503050406030204" pitchFamily="18" charset="0"/>
                  <a:cs typeface="Cambria Math" panose="02040503050406030204" pitchFamily="18" charset="0"/>
                </a:endParaRPr>
              </a:p>
              <a:p>
                <a:pPr indent="457200"/>
                <a:r>
                  <a:rPr lang="zh-CN" altLang="en-US">
                    <a:latin typeface="Cambria Math" panose="02040503050406030204" pitchFamily="18" charset="0"/>
                    <a:cs typeface="Cambria Math" panose="02040503050406030204" pitchFamily="18" charset="0"/>
                  </a:rPr>
                  <a:t>其中</a:t>
                </a:r>
                <a14:m>
                  <m:oMath xmlns:m="http://schemas.openxmlformats.org/officeDocument/2006/math">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𝐵</m:t>
                        </m:r>
                      </m:e>
                    </m:d>
                  </m:oMath>
                </a14:m>
                <a:r>
                  <a:rPr lang="zh-CN" altLang="en-US">
                    <a:latin typeface="Cambria Math" panose="02040503050406030204" pitchFamily="18" charset="0"/>
                    <a:cs typeface="Cambria Math" panose="02040503050406030204" pitchFamily="18" charset="0"/>
                  </a:rPr>
                  <a:t>为贝叶斯网的参数个数</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所有条件概率表涉及的概率个数总和</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a:t>
                </a:r>
                <a14:m>
                  <m:oMath xmlns:m="http://schemas.openxmlformats.org/officeDocument/2006/math">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𝛩</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表示描述每个参数</a:t>
                </a:r>
                <a14:m>
                  <m:oMath xmlns:m="http://schemas.openxmlformats.org/officeDocument/2006/math">
                    <m:r>
                      <a:rPr lang="en-US" altLang="zh-CN" i="1">
                        <a:latin typeface="Cambria Math" panose="02040503050406030204" pitchFamily="18" charset="0"/>
                        <a:cs typeface="Cambria Math" panose="02040503050406030204" pitchFamily="18" charset="0"/>
                      </a:rPr>
                      <m:t>𝛩</m:t>
                    </m:r>
                  </m:oMath>
                </a14:m>
                <a:r>
                  <a:rPr lang="zh-CN" altLang="en-US">
                    <a:latin typeface="Cambria Math" panose="02040503050406030204" pitchFamily="18" charset="0"/>
                    <a:cs typeface="Cambria Math" panose="02040503050406030204" pitchFamily="18" charset="0"/>
                  </a:rPr>
                  <a:t>所需的编码位数，而</a:t>
                </a:r>
                <a14:m>
                  <m:oMath xmlns:m="http://schemas.openxmlformats.org/officeDocument/2006/math">
                    <m:r>
                      <a:rPr lang="en-US" altLang="zh-CN" i="1">
                        <a:latin typeface="Cambria Math" panose="02040503050406030204" pitchFamily="18" charset="0"/>
                        <a:cs typeface="Cambria Math" panose="02040503050406030204" pitchFamily="18" charset="0"/>
                      </a:rPr>
                      <m:t>𝐿𝐿</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是贝叶斯网的对数似然：</a:t>
                </a:r>
                <a:endParaRPr lang="en-US" altLang="zh-CN">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37820" y="1314450"/>
                <a:ext cx="11268075" cy="466090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2828925" y="5902325"/>
                <a:ext cx="6096000" cy="844550"/>
              </a:xfrm>
              <a:prstGeom prst="rect">
                <a:avLst/>
              </a:prstGeom>
              <a:noFill/>
            </p:spPr>
            <p:txBody>
              <a:bodyPr wrap="square" rtlCol="0" anchor="t">
                <a:spAutoFit/>
              </a:bodyPr>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𝐿𝐿</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r>
                            <a:rPr lang="en-US" altLang="zh-CN" i="1">
                              <a:latin typeface="Cambria Math" panose="02040503050406030204" pitchFamily="18" charset="0"/>
                              <a:cs typeface="Cambria Math" panose="02040503050406030204" pitchFamily="18" charset="0"/>
                            </a:rPr>
                            <m:t>𝑙𝑜𝑔</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𝑃</m:t>
                              </m:r>
                            </m:e>
                            <m:sub>
                              <m:r>
                                <a:rPr lang="en-US" altLang="zh-CN" i="1">
                                  <a:latin typeface="Cambria Math" panose="02040503050406030204" pitchFamily="18" charset="0"/>
                                  <a:cs typeface="Cambria Math" panose="02040503050406030204" pitchFamily="18" charset="0"/>
                                </a:rPr>
                                <m:t>𝐵</m:t>
                              </m:r>
                            </m:sub>
                          </m:sSub>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i="1">
                              <a:latin typeface="Cambria Math" panose="02040503050406030204" pitchFamily="18" charset="0"/>
                              <a:cs typeface="Cambria Math" panose="02040503050406030204" pitchFamily="18" charset="0"/>
                            </a:rPr>
                            <m:t>)</m:t>
                          </m:r>
                        </m:e>
                      </m:nary>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2828925" y="5902325"/>
                <a:ext cx="6096000" cy="844550"/>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贝叶斯网</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2898775" y="1195070"/>
                <a:ext cx="6096000" cy="368300"/>
              </a:xfrm>
              <a:prstGeom prst="rect">
                <a:avLst/>
              </a:prstGeom>
              <a:noFill/>
            </p:spPr>
            <p:txBody>
              <a:bodyPr wrap="square" rtlCol="0" anchor="t">
                <a:spAutoFit/>
              </a:bodyPr>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𝑠</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𝛩</m:t>
                      </m:r>
                      <m:r>
                        <a:rPr lang="en-US" altLang="zh-CN" i="1">
                          <a:latin typeface="Cambria Math" panose="02040503050406030204" pitchFamily="18" charset="0"/>
                          <a:cs typeface="Cambria Math" panose="02040503050406030204" pitchFamily="18" charset="0"/>
                        </a:rPr>
                        <m:t>)</m:t>
                      </m:r>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𝐵</m:t>
                          </m:r>
                        </m:e>
                      </m:d>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𝐿𝐿</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898775" y="1195070"/>
                <a:ext cx="6096000" cy="36830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412750" y="1883410"/>
                <a:ext cx="11210925" cy="1531620"/>
              </a:xfrm>
              <a:prstGeom prst="rect">
                <a:avLst/>
              </a:prstGeom>
              <a:noFill/>
            </p:spPr>
            <p:txBody>
              <a:bodyPr wrap="square" rtlCol="0">
                <a:spAutoFit/>
              </a:bodyPr>
              <a:p>
                <a:r>
                  <a:rPr lang="zh-CN" altLang="en-US">
                    <a:solidFill>
                      <a:schemeClr val="accent4"/>
                    </a:solidFill>
                  </a:rPr>
                  <a:t>第一项</a:t>
                </a:r>
                <a:r>
                  <a:rPr lang="zh-CN" altLang="en-US"/>
                  <a:t>：计算编码贝叶斯网</a:t>
                </a:r>
                <a14:m>
                  <m:oMath xmlns:m="http://schemas.openxmlformats.org/officeDocument/2006/math">
                    <m:r>
                      <a:rPr lang="en-US" altLang="zh-CN" i="1">
                        <a:latin typeface="Cambria Math" panose="02040503050406030204" pitchFamily="18" charset="0"/>
                        <a:cs typeface="Cambria Math" panose="02040503050406030204" pitchFamily="18" charset="0"/>
                      </a:rPr>
                      <m:t>𝐵</m:t>
                    </m:r>
                  </m:oMath>
                </a14:m>
                <a:r>
                  <a:rPr lang="zh-CN" altLang="en-US">
                    <a:latin typeface="Cambria Math" panose="02040503050406030204" pitchFamily="18" charset="0"/>
                    <a:cs typeface="Cambria Math" panose="02040503050406030204" pitchFamily="18" charset="0"/>
                  </a:rPr>
                  <a:t>所需的编码位数</a:t>
                </a:r>
                <a:endParaRPr lang="zh-CN" altLang="en-US">
                  <a:latin typeface="Cambria Math" panose="02040503050406030204" pitchFamily="18" charset="0"/>
                  <a:cs typeface="Cambria Math" panose="02040503050406030204" pitchFamily="18" charset="0"/>
                </a:endParaRPr>
              </a:p>
              <a:p>
                <a:pPr>
                  <a:lnSpc>
                    <a:spcPct val="20000"/>
                  </a:lnSpc>
                </a:pPr>
                <a:endParaRPr lang="zh-CN" altLang="en-US">
                  <a:latin typeface="Cambria Math" panose="02040503050406030204" pitchFamily="18" charset="0"/>
                  <a:cs typeface="Cambria Math" panose="02040503050406030204" pitchFamily="18" charset="0"/>
                </a:endParaRPr>
              </a:p>
              <a:p>
                <a:r>
                  <a:rPr lang="zh-CN" altLang="en-US">
                    <a:solidFill>
                      <a:srgbClr val="0070C0"/>
                    </a:solidFill>
                    <a:latin typeface="Cambria Math" panose="02040503050406030204" pitchFamily="18" charset="0"/>
                    <a:cs typeface="Cambria Math" panose="02040503050406030204" pitchFamily="18" charset="0"/>
                  </a:rPr>
                  <a:t>第二项</a:t>
                </a:r>
                <a:r>
                  <a:rPr lang="zh-CN" altLang="en-US">
                    <a:latin typeface="Cambria Math" panose="02040503050406030204" pitchFamily="18" charset="0"/>
                    <a:cs typeface="Cambria Math" panose="02040503050406030204" pitchFamily="18" charset="0"/>
                  </a:rPr>
                  <a:t>：计算</a:t>
                </a:r>
                <a14:m>
                  <m:oMath xmlns:m="http://schemas.openxmlformats.org/officeDocument/2006/math">
                    <m:r>
                      <a:rPr lang="en-US" altLang="zh-CN" i="1">
                        <a:latin typeface="Cambria Math" panose="02040503050406030204" pitchFamily="18" charset="0"/>
                        <a:cs typeface="Cambria Math" panose="02040503050406030204" pitchFamily="18" charset="0"/>
                      </a:rPr>
                      <m:t>𝐵</m:t>
                    </m:r>
                  </m:oMath>
                </a14:m>
                <a:r>
                  <a:rPr lang="zh-CN" altLang="en-US">
                    <a:latin typeface="Cambria Math" panose="02040503050406030204" pitchFamily="18" charset="0"/>
                    <a:cs typeface="Cambria Math" panose="02040503050406030204" pitchFamily="18" charset="0"/>
                  </a:rPr>
                  <a:t>所对应的概率分布</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𝑃</m:t>
                        </m:r>
                      </m:e>
                      <m:sub>
                        <m:r>
                          <a:rPr lang="en-US" altLang="zh-CN" i="1">
                            <a:latin typeface="Cambria Math" panose="02040503050406030204" pitchFamily="18" charset="0"/>
                            <a:cs typeface="Cambria Math" panose="02040503050406030204" pitchFamily="18" charset="0"/>
                          </a:rPr>
                          <m:t>𝐵</m:t>
                        </m:r>
                      </m:sub>
                    </m:sSub>
                  </m:oMath>
                </a14:m>
                <a:r>
                  <a:rPr lang="zh-CN" altLang="en-US">
                    <a:latin typeface="Cambria Math" panose="02040503050406030204" pitchFamily="18" charset="0"/>
                    <a:cs typeface="Cambria Math" panose="02040503050406030204" pitchFamily="18" charset="0"/>
                  </a:rPr>
                  <a:t>对</a:t>
                </a:r>
                <a14:m>
                  <m:oMath xmlns:m="http://schemas.openxmlformats.org/officeDocument/2006/math">
                    <m:r>
                      <a:rPr lang="en-US" altLang="zh-CN" i="1">
                        <a:latin typeface="Cambria Math" panose="02040503050406030204" pitchFamily="18" charset="0"/>
                        <a:cs typeface="Cambria Math" panose="02040503050406030204" pitchFamily="18" charset="0"/>
                      </a:rPr>
                      <m:t>𝐷</m:t>
                    </m:r>
                  </m:oMath>
                </a14:m>
                <a:r>
                  <a:rPr lang="zh-CN" altLang="en-US">
                    <a:latin typeface="Cambria Math" panose="02040503050406030204" pitchFamily="18" charset="0"/>
                    <a:cs typeface="Cambria Math" panose="02040503050406030204" pitchFamily="18" charset="0"/>
                  </a:rPr>
                  <a:t>的描述的好坏程度</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r>
                  <a:rPr lang="zh-CN" altLang="en-US">
                    <a:latin typeface="Cambria Math" panose="02040503050406030204" pitchFamily="18" charset="0"/>
                    <a:cs typeface="Cambria Math" panose="02040503050406030204" pitchFamily="18" charset="0"/>
                  </a:rPr>
                  <a:t>学习任务便转化为一个优化任务，寻找一个贝叶斯网</a:t>
                </a:r>
                <a14:m>
                  <m:oMath xmlns:m="http://schemas.openxmlformats.org/officeDocument/2006/math">
                    <m:r>
                      <a:rPr lang="en-US" altLang="zh-CN" i="1">
                        <a:latin typeface="Cambria Math" panose="02040503050406030204" pitchFamily="18" charset="0"/>
                        <a:cs typeface="Cambria Math" panose="02040503050406030204" pitchFamily="18" charset="0"/>
                      </a:rPr>
                      <m:t>𝐵</m:t>
                    </m:r>
                  </m:oMath>
                </a14:m>
                <a:r>
                  <a:rPr lang="zh-CN" altLang="en-US">
                    <a:latin typeface="Cambria Math" panose="02040503050406030204" pitchFamily="18" charset="0"/>
                    <a:cs typeface="Cambria Math" panose="02040503050406030204" pitchFamily="18" charset="0"/>
                  </a:rPr>
                  <a:t>使得评分函数</a:t>
                </a:r>
                <a14:m>
                  <m:oMath xmlns:m="http://schemas.openxmlformats.org/officeDocument/2006/math">
                    <m:r>
                      <a:rPr lang="en-US" altLang="zh-CN" i="1">
                        <a:latin typeface="Cambria Math" panose="02040503050406030204" pitchFamily="18" charset="0"/>
                        <a:cs typeface="Cambria Math" panose="02040503050406030204" pitchFamily="18" charset="0"/>
                      </a:rPr>
                      <m:t>𝑠</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最小，最小化</a:t>
                </a:r>
                <a14:m>
                  <m:oMath xmlns:m="http://schemas.openxmlformats.org/officeDocument/2006/math">
                    <m:r>
                      <a:rPr lang="en-US" altLang="zh-CN" i="1">
                        <a:latin typeface="Cambria Math" panose="02040503050406030204" pitchFamily="18" charset="0"/>
                        <a:cs typeface="Cambria Math" panose="02040503050406030204" pitchFamily="18" charset="0"/>
                      </a:rPr>
                      <m:t>𝑠</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便是希望得到一个贝叶斯网</a:t>
                </a:r>
                <a14:m>
                  <m:oMath xmlns:m="http://schemas.openxmlformats.org/officeDocument/2006/math">
                    <m:r>
                      <a:rPr lang="en-US" altLang="zh-CN" i="1">
                        <a:latin typeface="Cambria Math" panose="02040503050406030204" pitchFamily="18" charset="0"/>
                        <a:cs typeface="Cambria Math" panose="02040503050406030204" pitchFamily="18" charset="0"/>
                      </a:rPr>
                      <m:t>𝐵</m:t>
                    </m:r>
                  </m:oMath>
                </a14:m>
                <a:r>
                  <a:rPr lang="zh-CN" altLang="en-US">
                    <a:latin typeface="Cambria Math" panose="02040503050406030204" pitchFamily="18" charset="0"/>
                    <a:cs typeface="Cambria Math" panose="02040503050406030204" pitchFamily="18" charset="0"/>
                  </a:rPr>
                  <a:t>在保证参数量较小的同时又可以对训练集</a:t>
                </a:r>
                <a14:m>
                  <m:oMath xmlns:m="http://schemas.openxmlformats.org/officeDocument/2006/math">
                    <m:r>
                      <a:rPr lang="en-US" altLang="zh-CN" i="1">
                        <a:latin typeface="Cambria Math" panose="02040503050406030204" pitchFamily="18" charset="0"/>
                        <a:cs typeface="Cambria Math" panose="02040503050406030204" pitchFamily="18" charset="0"/>
                      </a:rPr>
                      <m:t>𝐷</m:t>
                    </m:r>
                  </m:oMath>
                </a14:m>
                <a:r>
                  <a:rPr lang="zh-CN" altLang="en-US">
                    <a:latin typeface="Cambria Math" panose="02040503050406030204" pitchFamily="18" charset="0"/>
                    <a:cs typeface="Cambria Math" panose="02040503050406030204" pitchFamily="18" charset="0"/>
                  </a:rPr>
                  <a:t>中的样本进行准确描述</a:t>
                </a:r>
                <a:endParaRPr lang="zh-CN" altLang="en-US">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412750" y="1883410"/>
                <a:ext cx="11210925" cy="1531620"/>
              </a:xfrm>
              <a:prstGeom prst="rect">
                <a:avLst/>
              </a:prstGeom>
              <a:blipFill rotWithShape="1">
                <a:blip r:embed="rId2"/>
                <a:stretch>
                  <a:fillRect/>
                </a:stretch>
              </a:blipFill>
            </p:spPr>
            <p:txBody>
              <a:bodyPr/>
              <a:lstStyle/>
              <a:p>
                <a:r>
                  <a:rPr lang="zh-CN" altLang="en-US">
                    <a:noFill/>
                  </a:rPr>
                  <a:t> </a:t>
                </a:r>
              </a:p>
            </p:txBody>
          </p:sp>
        </mc:Fallback>
      </mc:AlternateContent>
      <p:sp>
        <p:nvSpPr>
          <p:cNvPr id="16" name="任意多边形 15"/>
          <p:cNvSpPr/>
          <p:nvPr>
            <p:custDataLst>
              <p:tags r:id="rId3"/>
            </p:custDataLst>
          </p:nvPr>
        </p:nvSpPr>
        <p:spPr>
          <a:xfrm>
            <a:off x="5970270" y="1563370"/>
            <a:ext cx="800100" cy="76200"/>
          </a:xfrm>
          <a:custGeom>
            <a:avLst/>
            <a:gdLst>
              <a:gd name="connisteX0" fmla="*/ 0 w 629158"/>
              <a:gd name="connsiteY0" fmla="*/ 10274 h 76363"/>
              <a:gd name="connisteX1" fmla="*/ 111760 w 629158"/>
              <a:gd name="connsiteY1" fmla="*/ 76314 h 76363"/>
              <a:gd name="connisteX2" fmla="*/ 213360 w 629158"/>
              <a:gd name="connsiteY2" fmla="*/ 114 h 76363"/>
              <a:gd name="connisteX3" fmla="*/ 386080 w 629158"/>
              <a:gd name="connsiteY3" fmla="*/ 61074 h 76363"/>
              <a:gd name="connisteX4" fmla="*/ 538480 w 629158"/>
              <a:gd name="connsiteY4" fmla="*/ 114 h 76363"/>
              <a:gd name="connisteX5" fmla="*/ 619760 w 629158"/>
              <a:gd name="connsiteY5" fmla="*/ 66154 h 76363"/>
              <a:gd name="connisteX6" fmla="*/ 624840 w 629158"/>
              <a:gd name="connsiteY6" fmla="*/ 61074 h 7636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629158" h="76364">
                <a:moveTo>
                  <a:pt x="0" y="10274"/>
                </a:moveTo>
                <a:cubicBezTo>
                  <a:pt x="20320" y="24879"/>
                  <a:pt x="69215" y="78219"/>
                  <a:pt x="111760" y="76314"/>
                </a:cubicBezTo>
                <a:cubicBezTo>
                  <a:pt x="154305" y="74409"/>
                  <a:pt x="158750" y="3289"/>
                  <a:pt x="213360" y="114"/>
                </a:cubicBezTo>
                <a:cubicBezTo>
                  <a:pt x="267970" y="-3061"/>
                  <a:pt x="321310" y="61074"/>
                  <a:pt x="386080" y="61074"/>
                </a:cubicBezTo>
                <a:cubicBezTo>
                  <a:pt x="450850" y="61074"/>
                  <a:pt x="491490" y="-1156"/>
                  <a:pt x="538480" y="114"/>
                </a:cubicBezTo>
                <a:cubicBezTo>
                  <a:pt x="585470" y="1384"/>
                  <a:pt x="602615" y="54089"/>
                  <a:pt x="619760" y="66154"/>
                </a:cubicBezTo>
                <a:cubicBezTo>
                  <a:pt x="636905" y="78219"/>
                  <a:pt x="625475" y="63614"/>
                  <a:pt x="624840" y="61074"/>
                </a:cubicBezTo>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任意多边形 16"/>
          <p:cNvSpPr/>
          <p:nvPr>
            <p:custDataLst>
              <p:tags r:id="rId4"/>
            </p:custDataLst>
          </p:nvPr>
        </p:nvSpPr>
        <p:spPr>
          <a:xfrm>
            <a:off x="6964680" y="1563370"/>
            <a:ext cx="804545" cy="76200"/>
          </a:xfrm>
          <a:custGeom>
            <a:avLst/>
            <a:gdLst>
              <a:gd name="connisteX0" fmla="*/ 0 w 629158"/>
              <a:gd name="connsiteY0" fmla="*/ 10274 h 76363"/>
              <a:gd name="connisteX1" fmla="*/ 111760 w 629158"/>
              <a:gd name="connsiteY1" fmla="*/ 76314 h 76363"/>
              <a:gd name="connisteX2" fmla="*/ 213360 w 629158"/>
              <a:gd name="connsiteY2" fmla="*/ 114 h 76363"/>
              <a:gd name="connisteX3" fmla="*/ 386080 w 629158"/>
              <a:gd name="connsiteY3" fmla="*/ 61074 h 76363"/>
              <a:gd name="connisteX4" fmla="*/ 538480 w 629158"/>
              <a:gd name="connsiteY4" fmla="*/ 114 h 76363"/>
              <a:gd name="connisteX5" fmla="*/ 619760 w 629158"/>
              <a:gd name="connsiteY5" fmla="*/ 66154 h 76363"/>
              <a:gd name="connisteX6" fmla="*/ 624840 w 629158"/>
              <a:gd name="connsiteY6" fmla="*/ 61074 h 7636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629158" h="76364">
                <a:moveTo>
                  <a:pt x="0" y="10274"/>
                </a:moveTo>
                <a:cubicBezTo>
                  <a:pt x="20320" y="24879"/>
                  <a:pt x="69215" y="78219"/>
                  <a:pt x="111760" y="76314"/>
                </a:cubicBezTo>
                <a:cubicBezTo>
                  <a:pt x="154305" y="74409"/>
                  <a:pt x="158750" y="3289"/>
                  <a:pt x="213360" y="114"/>
                </a:cubicBezTo>
                <a:cubicBezTo>
                  <a:pt x="267970" y="-3061"/>
                  <a:pt x="321310" y="61074"/>
                  <a:pt x="386080" y="61074"/>
                </a:cubicBezTo>
                <a:cubicBezTo>
                  <a:pt x="450850" y="61074"/>
                  <a:pt x="491490" y="-1156"/>
                  <a:pt x="538480" y="114"/>
                </a:cubicBezTo>
                <a:cubicBezTo>
                  <a:pt x="585470" y="1384"/>
                  <a:pt x="602615" y="54089"/>
                  <a:pt x="619760" y="66154"/>
                </a:cubicBezTo>
                <a:cubicBezTo>
                  <a:pt x="636905" y="78219"/>
                  <a:pt x="625475" y="63614"/>
                  <a:pt x="624840" y="61074"/>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mc:AlternateContent xmlns:mc="http://schemas.openxmlformats.org/markup-compatibility/2006">
        <mc:Choice xmlns:a14="http://schemas.microsoft.com/office/drawing/2010/main" Requires="a14">
          <p:sp>
            <p:nvSpPr>
              <p:cNvPr id="7" name="文本框 6"/>
              <p:cNvSpPr txBox="1"/>
              <p:nvPr/>
            </p:nvSpPr>
            <p:spPr>
              <a:xfrm>
                <a:off x="518795" y="3724275"/>
                <a:ext cx="10906125" cy="2692400"/>
              </a:xfrm>
              <a:prstGeom prst="rect">
                <a:avLst/>
              </a:prstGeom>
              <a:noFill/>
            </p:spPr>
            <p:txBody>
              <a:bodyPr wrap="square" rtlCol="0">
                <a:spAutoFit/>
              </a:bodyPr>
              <a:p>
                <a:r>
                  <a:rPr lang="en-US" altLang="zh-CN"/>
                  <a:t>1</a:t>
                </a:r>
                <a:r>
                  <a:rPr lang="zh-CN" altLang="en-US"/>
                  <a:t>）若</a:t>
                </a:r>
                <a14:m>
                  <m:oMath xmlns:m="http://schemas.openxmlformats.org/officeDocument/2006/math">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𝛩</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a14:m>
                <a:r>
                  <a:rPr lang="zh-CN" altLang="en-US">
                    <a:latin typeface="Cambria Math" panose="02040503050406030204" pitchFamily="18" charset="0"/>
                    <a:cs typeface="Cambria Math" panose="02040503050406030204" pitchFamily="18" charset="0"/>
                  </a:rPr>
                  <a:t>，即每个参数用</a:t>
                </a:r>
                <a:r>
                  <a:rPr lang="en-US" altLang="zh-CN">
                    <a:latin typeface="Cambria Math" panose="02040503050406030204" pitchFamily="18" charset="0"/>
                    <a:cs typeface="Cambria Math" panose="02040503050406030204" pitchFamily="18" charset="0"/>
                  </a:rPr>
                  <a:t>1</a:t>
                </a:r>
                <a:r>
                  <a:rPr lang="zh-CN" altLang="en-US">
                    <a:latin typeface="Cambria Math" panose="02040503050406030204" pitchFamily="18" charset="0"/>
                    <a:cs typeface="Cambria Math" panose="02040503050406030204" pitchFamily="18" charset="0"/>
                  </a:rPr>
                  <a:t>编码位描述，则得到</a:t>
                </a:r>
                <a:r>
                  <a:rPr lang="en-US" altLang="zh-CN">
                    <a:solidFill>
                      <a:schemeClr val="accent6"/>
                    </a:solidFill>
                    <a:latin typeface="Cambria Math" panose="02040503050406030204" pitchFamily="18" charset="0"/>
                    <a:cs typeface="Cambria Math" panose="02040503050406030204" pitchFamily="18" charset="0"/>
                  </a:rPr>
                  <a:t>AIC</a:t>
                </a:r>
                <a:r>
                  <a:rPr lang="zh-CN" altLang="en-US">
                    <a:solidFill>
                      <a:schemeClr val="accent6"/>
                    </a:solidFill>
                    <a:latin typeface="Cambria Math" panose="02040503050406030204" pitchFamily="18" charset="0"/>
                    <a:cs typeface="Cambria Math" panose="02040503050406030204" pitchFamily="18" charset="0"/>
                  </a:rPr>
                  <a:t>评分函数</a:t>
                </a:r>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𝐴𝐼𝐶</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d>
                        <m:dPr>
                          <m:begChr m:val="|"/>
                          <m:endChr m:val="|"/>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𝐵</m:t>
                          </m:r>
                        </m:e>
                      </m:d>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𝐿𝐿</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𝐵</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endParaRPr>
              </a:p>
              <a:p>
                <a:pPr>
                  <a:lnSpc>
                    <a:spcPct val="70000"/>
                  </a:lnSpc>
                </a:pPr>
                <a:endParaRPr lang="zh-CN" altLang="en-US">
                  <a:latin typeface="Cambria Math" panose="02040503050406030204" pitchFamily="18" charset="0"/>
                  <a:cs typeface="Cambria Math" panose="02040503050406030204" pitchFamily="18" charset="0"/>
                </a:endParaRPr>
              </a:p>
              <a:p>
                <a:r>
                  <a:rPr lang="en-US" altLang="zh-CN">
                    <a:latin typeface="Cambria Math" panose="02040503050406030204" pitchFamily="18" charset="0"/>
                    <a:cs typeface="Cambria Math" panose="02040503050406030204" pitchFamily="18" charset="0"/>
                  </a:rPr>
                  <a:t>2</a:t>
                </a:r>
                <a:r>
                  <a:rPr lang="zh-CN" altLang="en-US">
                    <a:latin typeface="Cambria Math" panose="02040503050406030204" pitchFamily="18" charset="0"/>
                    <a:cs typeface="Cambria Math" panose="02040503050406030204" pitchFamily="18" charset="0"/>
                  </a:rPr>
                  <a:t>）若</a:t>
                </a:r>
                <a14:m>
                  <m:oMath xmlns:m="http://schemas.openxmlformats.org/officeDocument/2006/math">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𝛩</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r>
                      <a:rPr lang="en-US" altLang="zh-CN" i="1">
                        <a:latin typeface="Cambria Math" panose="02040503050406030204" pitchFamily="18" charset="0"/>
                        <a:cs typeface="Cambria Math" panose="02040503050406030204" pitchFamily="18" charset="0"/>
                      </a:rPr>
                      <m:t>𝑙𝑜𝑔𝑚</m:t>
                    </m:r>
                  </m:oMath>
                </a14:m>
                <a:r>
                  <a:rPr lang="zh-CN" altLang="en-US">
                    <a:latin typeface="Cambria Math" panose="02040503050406030204" pitchFamily="18" charset="0"/>
                    <a:cs typeface="Cambria Math" panose="02040503050406030204" pitchFamily="18" charset="0"/>
                  </a:rPr>
                  <a:t>，即每个参数用</a:t>
                </a:r>
                <a14:m>
                  <m:oMath xmlns:m="http://schemas.openxmlformats.org/officeDocument/2006/math">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r>
                      <a:rPr lang="en-US" altLang="zh-CN" i="1">
                        <a:latin typeface="Cambria Math" panose="02040503050406030204" pitchFamily="18" charset="0"/>
                        <a:cs typeface="Cambria Math" panose="02040503050406030204" pitchFamily="18" charset="0"/>
                      </a:rPr>
                      <m:t>𝑙𝑜𝑔𝑚</m:t>
                    </m:r>
                  </m:oMath>
                </a14:m>
                <a:r>
                  <a:rPr lang="zh-CN" altLang="en-US">
                    <a:latin typeface="Cambria Math" panose="02040503050406030204" pitchFamily="18" charset="0"/>
                    <a:cs typeface="Cambria Math" panose="02040503050406030204" pitchFamily="18" charset="0"/>
                  </a:rPr>
                  <a:t>编码位描述，则得到</a:t>
                </a:r>
                <a:r>
                  <a:rPr lang="en-US" altLang="zh-CN">
                    <a:solidFill>
                      <a:schemeClr val="accent6"/>
                    </a:solidFill>
                    <a:latin typeface="Cambria Math" panose="02040503050406030204" pitchFamily="18" charset="0"/>
                    <a:cs typeface="Cambria Math" panose="02040503050406030204" pitchFamily="18" charset="0"/>
                  </a:rPr>
                  <a:t>B</a:t>
                </a:r>
                <a:r>
                  <a:rPr lang="en-US" altLang="zh-CN">
                    <a:solidFill>
                      <a:schemeClr val="accent6"/>
                    </a:solidFill>
                    <a:latin typeface="Cambria Math" panose="02040503050406030204" pitchFamily="18" charset="0"/>
                    <a:cs typeface="Cambria Math" panose="02040503050406030204" pitchFamily="18" charset="0"/>
                    <a:sym typeface="+mn-ea"/>
                  </a:rPr>
                  <a:t>IC评分函数</a:t>
                </a:r>
                <a:r>
                  <a:rPr lang="zh-CN" altLang="en-US">
                    <a:latin typeface="Cambria Math" panose="02040503050406030204" pitchFamily="18" charset="0"/>
                    <a:cs typeface="Cambria Math" panose="02040503050406030204" pitchFamily="18" charset="0"/>
                    <a:sym typeface="+mn-ea"/>
                  </a:rPr>
                  <a:t>：</a:t>
                </a:r>
                <a:endParaRPr lang="zh-CN" altLang="en-US">
                  <a:latin typeface="Cambria Math" panose="02040503050406030204" pitchFamily="18" charset="0"/>
                  <a:cs typeface="Cambria Math" panose="02040503050406030204" pitchFamily="18" charset="0"/>
                  <a:sym typeface="+mn-ea"/>
                </a:endParaRPr>
              </a:p>
              <a:p>
                <a:pPr>
                  <a:lnSpc>
                    <a:spcPct val="70000"/>
                  </a:lnSpc>
                </a:pPr>
                <a:endParaRPr lang="zh-CN" altLang="en-US">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𝐵𝐼𝐶</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𝐵</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𝐷</m:t>
                      </m:r>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sym typeface="+mn-ea"/>
                            </a:rPr>
                          </m:ctrlPr>
                        </m:fPr>
                        <m:num>
                          <m:r>
                            <a:rPr lang="en-US" altLang="zh-CN" i="1">
                              <a:latin typeface="Cambria Math" panose="02040503050406030204" pitchFamily="18" charset="0"/>
                              <a:cs typeface="Cambria Math" panose="02040503050406030204" pitchFamily="18" charset="0"/>
                              <a:sym typeface="+mn-ea"/>
                            </a:rPr>
                            <m:t>𝑙𝑜𝑔𝑚</m:t>
                          </m:r>
                        </m:num>
                        <m:den>
                          <m:r>
                            <a:rPr lang="en-US" altLang="zh-CN" i="1">
                              <a:latin typeface="Cambria Math" panose="02040503050406030204" pitchFamily="18" charset="0"/>
                              <a:cs typeface="Cambria Math" panose="02040503050406030204" pitchFamily="18" charset="0"/>
                              <a:sym typeface="+mn-ea"/>
                            </a:rPr>
                            <m:t>2</m:t>
                          </m:r>
                        </m:den>
                      </m:f>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i="1">
                              <a:latin typeface="Cambria Math" panose="02040503050406030204" pitchFamily="18" charset="0"/>
                              <a:cs typeface="Cambria Math" panose="02040503050406030204" pitchFamily="18" charset="0"/>
                              <a:sym typeface="+mn-ea"/>
                            </a:rPr>
                            <m:t>𝐵</m:t>
                          </m:r>
                        </m:e>
                      </m:d>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𝐿𝐿</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𝐵</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𝐷</m:t>
                      </m:r>
                      <m:r>
                        <a:rPr lang="en-US" altLang="zh-CN" i="1">
                          <a:latin typeface="Cambria Math" panose="02040503050406030204" pitchFamily="18" charset="0"/>
                          <a:cs typeface="Cambria Math" panose="02040503050406030204" pitchFamily="18" charset="0"/>
                          <a:sym typeface="+mn-ea"/>
                        </a:rPr>
                        <m:t>)</m:t>
                      </m:r>
                    </m:oMath>
                  </m:oMathPara>
                </a14:m>
                <a:endParaRPr lang="en-US" altLang="zh-CN" i="1">
                  <a:latin typeface="Cambria Math" panose="02040503050406030204" pitchFamily="18" charset="0"/>
                  <a:cs typeface="Cambria Math" panose="02040503050406030204" pitchFamily="18" charset="0"/>
                  <a:sym typeface="+mn-ea"/>
                </a:endParaRPr>
              </a:p>
              <a:p>
                <a:pPr>
                  <a:lnSpc>
                    <a:spcPct val="70000"/>
                  </a:lnSpc>
                </a:pPr>
                <a:endParaRPr lang="zh-CN" altLang="en-US">
                  <a:latin typeface="Cambria Math" panose="02040503050406030204" pitchFamily="18" charset="0"/>
                  <a:cs typeface="Cambria Math" panose="02040503050406030204" pitchFamily="18" charset="0"/>
                  <a:sym typeface="+mn-ea"/>
                </a:endParaRPr>
              </a:p>
              <a:p>
                <a:r>
                  <a:rPr lang="en-US" altLang="zh-CN">
                    <a:latin typeface="Cambria Math" panose="02040503050406030204" pitchFamily="18" charset="0"/>
                    <a:cs typeface="Cambria Math" panose="02040503050406030204" pitchFamily="18" charset="0"/>
                    <a:sym typeface="+mn-ea"/>
                  </a:rPr>
                  <a:t>3</a:t>
                </a:r>
                <a:r>
                  <a:rPr lang="zh-CN" altLang="en-US">
                    <a:latin typeface="Cambria Math" panose="02040503050406030204" pitchFamily="18" charset="0"/>
                    <a:cs typeface="Cambria Math" panose="02040503050406030204" pitchFamily="18" charset="0"/>
                    <a:sym typeface="+mn-ea"/>
                  </a:rPr>
                  <a:t>）若</a:t>
                </a:r>
                <a14:m>
                  <m:oMath xmlns:m="http://schemas.openxmlformats.org/officeDocument/2006/math">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𝛩</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a14:m>
                <a:r>
                  <a:rPr lang="zh-CN" altLang="en-US">
                    <a:latin typeface="Cambria Math" panose="02040503050406030204" pitchFamily="18" charset="0"/>
                    <a:cs typeface="Cambria Math" panose="02040503050406030204" pitchFamily="18" charset="0"/>
                  </a:rPr>
                  <a:t>，即不计算网络的编码长度，则评分函数退化为</a:t>
                </a:r>
                <a:r>
                  <a:rPr lang="en-US" altLang="zh-CN">
                    <a:solidFill>
                      <a:schemeClr val="accent6"/>
                    </a:solidFill>
                    <a:latin typeface="Cambria Math" panose="02040503050406030204" pitchFamily="18" charset="0"/>
                    <a:cs typeface="Cambria Math" panose="02040503050406030204" pitchFamily="18" charset="0"/>
                  </a:rPr>
                  <a:t>负对数似然</a:t>
                </a:r>
                <a:r>
                  <a:rPr lang="zh-CN" altLang="en-US">
                    <a:latin typeface="Cambria Math" panose="02040503050406030204" pitchFamily="18" charset="0"/>
                    <a:cs typeface="Cambria Math" panose="02040503050406030204" pitchFamily="18" charset="0"/>
                  </a:rPr>
                  <a:t>，学习任务退化为极大似然估计</a:t>
                </a:r>
                <a:endParaRPr lang="zh-CN" altLang="en-US">
                  <a:latin typeface="Cambria Math" panose="02040503050406030204" pitchFamily="18" charset="0"/>
                  <a:cs typeface="Cambria Math" panose="02040503050406030204" pitchFamily="18" charset="0"/>
                  <a:sym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518795" y="3724275"/>
                <a:ext cx="10906125" cy="2692400"/>
              </a:xfrm>
              <a:prstGeom prst="rect">
                <a:avLst/>
              </a:prstGeom>
              <a:blipFill rotWithShape="1">
                <a:blip r:embed="rId5"/>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贝叶斯网</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09245" y="1228725"/>
                <a:ext cx="11315700" cy="1918335"/>
              </a:xfrm>
              <a:prstGeom prst="rect">
                <a:avLst/>
              </a:prstGeom>
              <a:noFill/>
            </p:spPr>
            <p:txBody>
              <a:bodyPr wrap="square" rtlCol="0">
                <a:spAutoFit/>
              </a:bodyPr>
              <a:p>
                <a:pPr indent="457200"/>
                <a:r>
                  <a:rPr lang="zh-CN" altLang="en-US"/>
                  <a:t>然而，从所有可能的网络结构空间搜索最优贝叶斯网络结构是一个</a:t>
                </a:r>
                <a14:m>
                  <m:oMath xmlns:m="http://schemas.openxmlformats.org/officeDocument/2006/math">
                    <m:r>
                      <a:rPr lang="zh-CN" altLang="en-US">
                        <a:solidFill>
                          <a:srgbClr val="0070C0"/>
                        </a:solidFill>
                        <a:latin typeface="Cambria Math" panose="02040503050406030204" pitchFamily="18" charset="0"/>
                        <a:cs typeface="Cambria Math" panose="02040503050406030204" pitchFamily="18" charset="0"/>
                      </a:rPr>
                      <m:t>𝑁𝑃</m:t>
                    </m:r>
                  </m:oMath>
                </a14:m>
                <a:r>
                  <a:rPr lang="zh-CN" altLang="en-US">
                    <a:solidFill>
                      <a:srgbClr val="0070C0"/>
                    </a:solidFill>
                    <a:latin typeface="Cambria Math" panose="02040503050406030204" pitchFamily="18" charset="0"/>
                    <a:cs typeface="Cambria Math" panose="02040503050406030204" pitchFamily="18" charset="0"/>
                  </a:rPr>
                  <a:t>难问题</a:t>
                </a:r>
                <a:r>
                  <a:rPr lang="zh-CN" altLang="en-US">
                    <a:latin typeface="Cambria Math" panose="02040503050406030204" pitchFamily="18" charset="0"/>
                    <a:cs typeface="Cambria Math" panose="02040503050406030204" pitchFamily="18" charset="0"/>
                  </a:rPr>
                  <a:t>，难以快速求解。最常用的两种策略能在有限时间内求得近似解：</a:t>
                </a:r>
                <a:endParaRPr lang="zh-CN" altLang="en-US">
                  <a:latin typeface="Cambria Math" panose="02040503050406030204" pitchFamily="18" charset="0"/>
                  <a:cs typeface="Cambria Math" panose="02040503050406030204" pitchFamily="18" charset="0"/>
                </a:endParaRPr>
              </a:p>
              <a:p>
                <a:pPr indent="457200">
                  <a:lnSpc>
                    <a:spcPct val="30000"/>
                  </a:lnSpc>
                </a:pPr>
                <a:endParaRPr lang="en-US" altLang="zh-CN">
                  <a:latin typeface="Cambria Math" panose="02040503050406030204" pitchFamily="18" charset="0"/>
                  <a:cs typeface="Cambria Math" panose="02040503050406030204" pitchFamily="18" charset="0"/>
                </a:endParaRPr>
              </a:p>
              <a:p>
                <a:pPr marL="0" lvl="0" indent="457200">
                  <a:buNone/>
                </a:pPr>
                <a:r>
                  <a:rPr lang="en-US" altLang="zh-CN">
                    <a:solidFill>
                      <a:schemeClr val="tx1"/>
                    </a:solidFill>
                    <a:latin typeface="Cambria Math" panose="02040503050406030204" pitchFamily="18" charset="0"/>
                    <a:cs typeface="Cambria Math" panose="02040503050406030204" pitchFamily="18" charset="0"/>
                  </a:rPr>
                  <a:t>1</a:t>
                </a:r>
                <a:r>
                  <a:rPr lang="zh-CN" altLang="en-US">
                    <a:latin typeface="Cambria Math" panose="02040503050406030204" pitchFamily="18" charset="0"/>
                    <a:cs typeface="Cambria Math" panose="02040503050406030204" pitchFamily="18" charset="0"/>
                  </a:rPr>
                  <a:t>）贪心法：从某个网络结构出发，每次调整一条边</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增加、删除或调整方向</a:t>
                </a:r>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直到评分函数值不再降低为止</a:t>
                </a:r>
                <a:endParaRPr lang="zh-CN" altLang="en-US">
                  <a:latin typeface="Cambria Math" panose="02040503050406030204" pitchFamily="18" charset="0"/>
                  <a:cs typeface="Cambria Math" panose="02040503050406030204" pitchFamily="18" charset="0"/>
                </a:endParaRPr>
              </a:p>
              <a:p>
                <a:pPr marL="0" lvl="0" indent="457200">
                  <a:lnSpc>
                    <a:spcPct val="30000"/>
                  </a:lnSpc>
                  <a:buNone/>
                </a:pPr>
                <a:endParaRPr lang="zh-CN" altLang="en-US">
                  <a:latin typeface="Cambria Math" panose="02040503050406030204" pitchFamily="18" charset="0"/>
                  <a:cs typeface="Cambria Math" panose="02040503050406030204" pitchFamily="18" charset="0"/>
                </a:endParaRPr>
              </a:p>
              <a:p>
                <a:pPr marL="0" lvl="0" indent="457200">
                  <a:buNone/>
                </a:pPr>
                <a:r>
                  <a:rPr lang="en-US" altLang="zh-CN">
                    <a:latin typeface="Cambria Math" panose="02040503050406030204" pitchFamily="18" charset="0"/>
                    <a:cs typeface="Cambria Math" panose="02040503050406030204" pitchFamily="18" charset="0"/>
                  </a:rPr>
                  <a:t>2</a:t>
                </a:r>
                <a:r>
                  <a:rPr lang="zh-CN" altLang="en-US">
                    <a:latin typeface="Cambria Math" panose="02040503050406030204" pitchFamily="18" charset="0"/>
                    <a:cs typeface="Cambria Math" panose="02040503050406030204" pitchFamily="18" charset="0"/>
                  </a:rPr>
                  <a:t>）通过给网络结构施加约束来削减搜索空间，例如将网络结构限定为树形结构</a:t>
                </a:r>
                <a:endParaRPr lang="zh-CN" altLang="en-US">
                  <a:latin typeface="Cambria Math" panose="02040503050406030204" pitchFamily="18" charset="0"/>
                  <a:cs typeface="Cambria Math" panose="02040503050406030204" pitchFamily="18" charset="0"/>
                </a:endParaRPr>
              </a:p>
              <a:p>
                <a:pPr marL="0" lvl="0" indent="457200">
                  <a:buNone/>
                </a:pPr>
                <a:endParaRPr lang="zh-CN" altLang="en-US">
                  <a:latin typeface="Cambria Math" panose="02040503050406030204" pitchFamily="18" charset="0"/>
                  <a:cs typeface="Cambria Math" panose="02040503050406030204" pitchFamily="18" charset="0"/>
                </a:endParaRPr>
              </a:p>
              <a:p>
                <a:pPr marL="0" lvl="0" indent="457200">
                  <a:buNone/>
                </a:pPr>
                <a14:m>
                  <m:oMath xmlns:m="http://schemas.openxmlformats.org/officeDocument/2006/math">
                    <m:r>
                      <a:rPr lang="zh-CN" altLang="en-US">
                        <a:solidFill>
                          <a:srgbClr val="0070C0"/>
                        </a:solidFill>
                        <a:latin typeface="Cambria Math" panose="02040503050406030204" pitchFamily="18" charset="0"/>
                        <a:cs typeface="Cambria Math" panose="02040503050406030204" pitchFamily="18" charset="0"/>
                      </a:rPr>
                      <m:t>𝑁𝑃</m:t>
                    </m:r>
                  </m:oMath>
                </a14:m>
                <a:r>
                  <a:rPr lang="zh-CN" altLang="en-US">
                    <a:latin typeface="Cambria Math" panose="02040503050406030204" pitchFamily="18" charset="0"/>
                    <a:cs typeface="Cambria Math" panose="02040503050406030204" pitchFamily="18" charset="0"/>
                  </a:rPr>
                  <a:t>：Non-deterministic Polynomial问题，即多项式复杂程度的非确定性问题</a:t>
                </a:r>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09245" y="1228725"/>
                <a:ext cx="11315700" cy="1918335"/>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flipH="1">
            <a:off x="3823652" y="1411646"/>
            <a:ext cx="5080" cy="475932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p:sp>
        <p:nvSpPr>
          <p:cNvPr id="2" name="文本框 1"/>
          <p:cNvSpPr txBox="1"/>
          <p:nvPr/>
        </p:nvSpPr>
        <p:spPr>
          <a:xfrm>
            <a:off x="4094480" y="1411605"/>
            <a:ext cx="6861175" cy="4073525"/>
          </a:xfrm>
          <a:prstGeom prst="rect">
            <a:avLst/>
          </a:prstGeom>
          <a:noFill/>
        </p:spPr>
        <p:txBody>
          <a:bodyPr wrap="square" rtlCol="0">
            <a:noAutofit/>
            <a:scene3d>
              <a:camera prst="orthographicFront"/>
              <a:lightRig rig="threePt" dir="t"/>
            </a:scene3d>
          </a:bodyPr>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贝叶斯定理</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贝叶斯决策论</a:t>
            </a:r>
            <a:endParaRPr lang="zh-CN" altLang="en-US" sz="2800" b="1" spc="200" dirty="0">
              <a:uFillTx/>
              <a:latin typeface="宋体" panose="02010600030101010101" pitchFamily="2" charset="-122"/>
              <a:ea typeface="宋体" panose="02010600030101010101" pitchFamily="2" charset="-122"/>
              <a:cs typeface="+mj-cs"/>
            </a:endParaRPr>
          </a:p>
          <a:p>
            <a:pPr>
              <a:lnSpc>
                <a:spcPct val="30000"/>
              </a:lnSpc>
            </a:pPr>
            <a:endParaRPr lang="zh-CN" altLang="en-US" sz="28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极大似然估计</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利用贝叶斯解决实际问题：拼写纠错</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半朴素贝叶斯分类器</a:t>
            </a:r>
            <a:endParaRPr lang="zh-CN" altLang="en-US" sz="2800" b="1" spc="200" dirty="0">
              <a:uFillTx/>
              <a:latin typeface="宋体" panose="02010600030101010101" pitchFamily="2" charset="-122"/>
              <a:ea typeface="宋体" panose="02010600030101010101" pitchFamily="2" charset="-122"/>
              <a:cs typeface="+mj-cs"/>
            </a:endParaRPr>
          </a:p>
          <a:p>
            <a:pPr algn="l">
              <a:lnSpc>
                <a:spcPct val="4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uFillTx/>
                <a:latin typeface="宋体" panose="02010600030101010101" pitchFamily="2" charset="-122"/>
                <a:ea typeface="宋体" panose="02010600030101010101" pitchFamily="2" charset="-122"/>
                <a:cs typeface="+mj-cs"/>
              </a:rPr>
              <a:t>贝叶斯网</a:t>
            </a:r>
            <a:endParaRPr lang="zh-CN" altLang="en-US" sz="2800" b="1" spc="200" dirty="0">
              <a:uFillTx/>
              <a:latin typeface="宋体" panose="02010600030101010101" pitchFamily="2" charset="-122"/>
              <a:ea typeface="宋体" panose="02010600030101010101" pitchFamily="2" charset="-122"/>
              <a:cs typeface="+mj-cs"/>
            </a:endParaRPr>
          </a:p>
          <a:p>
            <a:pPr algn="l">
              <a:lnSpc>
                <a:spcPct val="30000"/>
              </a:lnSpc>
              <a:buClrTx/>
              <a:buSzTx/>
              <a:buFontTx/>
            </a:pPr>
            <a:endParaRPr lang="zh-CN" altLang="en-US" sz="2800" b="1" spc="200" dirty="0">
              <a:uFillTx/>
              <a:latin typeface="宋体" panose="02010600030101010101" pitchFamily="2" charset="-122"/>
              <a:ea typeface="宋体" panose="02010600030101010101" pitchFamily="2" charset="-122"/>
              <a:cs typeface="+mj-cs"/>
            </a:endParaRPr>
          </a:p>
          <a:p>
            <a:pPr algn="l">
              <a:buClrTx/>
              <a:buSzTx/>
              <a:buFontTx/>
            </a:pPr>
            <a:r>
              <a:rPr lang="zh-CN" altLang="en-US" sz="2800" b="1" spc="200" dirty="0">
                <a:solidFill>
                  <a:schemeClr val="accent1"/>
                </a:solidFill>
                <a:uFillTx/>
                <a:latin typeface="宋体" panose="02010600030101010101" pitchFamily="2" charset="-122"/>
                <a:ea typeface="宋体" panose="02010600030101010101" pitchFamily="2" charset="-122"/>
                <a:cs typeface="+mj-cs"/>
              </a:rPr>
              <a:t>思考题</a:t>
            </a:r>
            <a:endParaRPr lang="zh-CN" altLang="en-US" sz="2800" b="1" spc="200" dirty="0">
              <a:solidFill>
                <a:schemeClr val="accent1"/>
              </a:solidFill>
              <a:uFillTx/>
              <a:latin typeface="宋体" panose="02010600030101010101" pitchFamily="2" charset="-122"/>
              <a:ea typeface="宋体" panose="02010600030101010101" pitchFamily="2" charset="-122"/>
              <a:cs typeface="+mj-cs"/>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思考题</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7" name="文本框 6"/>
              <p:cNvSpPr txBox="1"/>
              <p:nvPr/>
            </p:nvSpPr>
            <p:spPr>
              <a:xfrm>
                <a:off x="301625" y="1195070"/>
                <a:ext cx="11567795" cy="3949700"/>
              </a:xfrm>
              <a:prstGeom prst="rect">
                <a:avLst/>
              </a:prstGeom>
              <a:noFill/>
            </p:spPr>
            <p:txBody>
              <a:bodyPr wrap="square" rtlCol="0" anchor="t">
                <a:spAutoFit/>
              </a:bodyPr>
              <a:p>
                <a:r>
                  <a:rPr lang="en-US" altLang="zh-CN" b="1">
                    <a:sym typeface="+mn-ea"/>
                  </a:rPr>
                  <a:t>6-1 </a:t>
                </a:r>
                <a:r>
                  <a:rPr lang="zh-CN" altLang="en-US">
                    <a:latin typeface="Cambria Math" panose="02040503050406030204" pitchFamily="18" charset="0"/>
                    <a:cs typeface="Cambria Math" panose="02040503050406030204" pitchFamily="18" charset="0"/>
                    <a:sym typeface="+mn-ea"/>
                  </a:rPr>
                  <a:t>属于类别</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𝑐</m:t>
                    </m:r>
                  </m:oMath>
                </a14:m>
                <a:r>
                  <a:rPr lang="zh-CN" altLang="en-US">
                    <a:latin typeface="Cambria Math" panose="02040503050406030204" pitchFamily="18" charset="0"/>
                    <a:cs typeface="Cambria Math" panose="02040503050406030204" pitchFamily="18" charset="0"/>
                    <a:sym typeface="+mn-ea"/>
                  </a:rPr>
                  <a:t>的训练集样本</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𝑥</m:t>
                    </m:r>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𝐷</m:t>
                        </m:r>
                      </m:e>
                      <m:sub>
                        <m:r>
                          <a:rPr lang="en-US" altLang="zh-CN" i="1">
                            <a:latin typeface="Cambria Math" panose="02040503050406030204" pitchFamily="18" charset="0"/>
                            <a:cs typeface="Cambria Math" panose="02040503050406030204" pitchFamily="18" charset="0"/>
                            <a:sym typeface="+mn-ea"/>
                          </a:rPr>
                          <m:t>𝑐</m:t>
                        </m:r>
                      </m:sub>
                    </m:sSub>
                  </m:oMath>
                </a14:m>
                <a:r>
                  <a:rPr lang="zh-CN" altLang="en-US">
                    <a:latin typeface="Cambria Math" panose="02040503050406030204" pitchFamily="18" charset="0"/>
                    <a:cs typeface="Cambria Math" panose="02040503050406030204" pitchFamily="18" charset="0"/>
                    <a:sym typeface="+mn-ea"/>
                  </a:rPr>
                  <a:t>在连续属性上的分布符合正态分布</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𝑁</m:t>
                    </m:r>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𝜇</m:t>
                        </m:r>
                      </m:e>
                      <m:sub>
                        <m:r>
                          <a:rPr lang="en-US" altLang="zh-CN" i="1">
                            <a:latin typeface="Cambria Math" panose="02040503050406030204" pitchFamily="18" charset="0"/>
                            <a:cs typeface="Cambria Math" panose="02040503050406030204" pitchFamily="18" charset="0"/>
                            <a:sym typeface="+mn-ea"/>
                          </a:rPr>
                          <m:t>𝑐</m:t>
                        </m:r>
                      </m:sub>
                    </m:sSub>
                    <m:r>
                      <a:rPr lang="en-US" altLang="zh-CN" i="1">
                        <a:latin typeface="Cambria Math" panose="02040503050406030204" pitchFamily="18" charset="0"/>
                        <a:cs typeface="Cambria Math" panose="02040503050406030204" pitchFamily="18" charset="0"/>
                        <a:sym typeface="+mn-ea"/>
                      </a:rPr>
                      <m:t>,</m:t>
                    </m:r>
                    <m:sSubSup>
                      <m:sSubSupPr>
                        <m:ctrlPr>
                          <a:rPr lang="en-US" altLang="zh-CN" i="1">
                            <a:latin typeface="Cambria Math" panose="02040503050406030204" pitchFamily="18" charset="0"/>
                            <a:cs typeface="Cambria Math" panose="02040503050406030204" pitchFamily="18" charset="0"/>
                            <a:sym typeface="+mn-ea"/>
                          </a:rPr>
                        </m:ctrlPr>
                      </m:sSubSupPr>
                      <m:e>
                        <m:r>
                          <a:rPr lang="en-US" altLang="zh-CN" i="1">
                            <a:latin typeface="Cambria Math" panose="02040503050406030204" pitchFamily="18" charset="0"/>
                            <a:cs typeface="Cambria Math" panose="02040503050406030204" pitchFamily="18" charset="0"/>
                            <a:sym typeface="+mn-ea"/>
                          </a:rPr>
                          <m:t>𝜎</m:t>
                        </m:r>
                      </m:e>
                      <m:sub>
                        <m:r>
                          <a:rPr lang="en-US" altLang="zh-CN" i="1">
                            <a:latin typeface="Cambria Math" panose="02040503050406030204" pitchFamily="18" charset="0"/>
                            <a:cs typeface="Cambria Math" panose="02040503050406030204" pitchFamily="18" charset="0"/>
                            <a:sym typeface="+mn-ea"/>
                          </a:rPr>
                          <m:t>𝑐</m:t>
                        </m:r>
                      </m:sub>
                      <m:sup>
                        <m:r>
                          <a:rPr lang="en-US" altLang="zh-CN" i="1">
                            <a:latin typeface="Cambria Math" panose="02040503050406030204" pitchFamily="18" charset="0"/>
                            <a:cs typeface="Cambria Math" panose="02040503050406030204" pitchFamily="18" charset="0"/>
                            <a:sym typeface="+mn-ea"/>
                          </a:rPr>
                          <m:t>2</m:t>
                        </m:r>
                      </m:sup>
                    </m:sSubSup>
                    <m:r>
                      <a:rPr lang="en-US" altLang="zh-CN" i="1">
                        <a:latin typeface="Cambria Math" panose="02040503050406030204" pitchFamily="18" charset="0"/>
                        <a:cs typeface="Cambria Math" panose="02040503050406030204" pitchFamily="18" charset="0"/>
                        <a:sym typeface="+mn-ea"/>
                      </a:rPr>
                      <m:t>)</m:t>
                    </m:r>
                  </m:oMath>
                </a14:m>
                <a:r>
                  <a:rPr lang="zh-CN" altLang="en-US">
                    <a:latin typeface="Cambria Math" panose="02040503050406030204" pitchFamily="18" charset="0"/>
                    <a:cs typeface="Cambria Math" panose="02040503050406030204" pitchFamily="18" charset="0"/>
                    <a:sym typeface="+mn-ea"/>
                  </a:rPr>
                  <a:t>，试通过极大似然估计求得</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𝜇</m:t>
                        </m:r>
                      </m:e>
                      <m:sub>
                        <m:r>
                          <a:rPr lang="en-US" altLang="zh-CN" i="1">
                            <a:latin typeface="Cambria Math" panose="02040503050406030204" pitchFamily="18" charset="0"/>
                            <a:cs typeface="Cambria Math" panose="02040503050406030204" pitchFamily="18" charset="0"/>
                            <a:sym typeface="+mn-ea"/>
                          </a:rPr>
                          <m:t>𝑐</m:t>
                        </m:r>
                      </m:sub>
                    </m:sSub>
                  </m:oMath>
                </a14:m>
                <a:r>
                  <a:rPr lang="zh-CN" altLang="en-US">
                    <a:latin typeface="Cambria Math" panose="02040503050406030204" pitchFamily="18" charset="0"/>
                    <a:cs typeface="Cambria Math" panose="02040503050406030204" pitchFamily="18" charset="0"/>
                    <a:sym typeface="+mn-ea"/>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𝜎</m:t>
                        </m:r>
                      </m:e>
                      <m:sub>
                        <m:r>
                          <a:rPr lang="en-US" altLang="zh-CN" i="1">
                            <a:latin typeface="Cambria Math" panose="02040503050406030204" pitchFamily="18" charset="0"/>
                            <a:cs typeface="Cambria Math" panose="02040503050406030204" pitchFamily="18" charset="0"/>
                            <a:sym typeface="+mn-ea"/>
                          </a:rPr>
                          <m:t>𝑐</m:t>
                        </m:r>
                      </m:sub>
                    </m:sSub>
                  </m:oMath>
                </a14:m>
                <a:endParaRPr lang="en-US" altLang="zh-CN" i="1">
                  <a:latin typeface="Cambria Math" panose="02040503050406030204" pitchFamily="18" charset="0"/>
                  <a:cs typeface="Cambria Math" panose="02040503050406030204" pitchFamily="18" charset="0"/>
                  <a:sym typeface="+mn-ea"/>
                </a:endParaRPr>
              </a:p>
              <a:p>
                <a:endParaRPr lang="en-US" altLang="zh-CN" b="1" i="1">
                  <a:latin typeface="Cambria Math" panose="02040503050406030204" pitchFamily="18" charset="0"/>
                  <a:cs typeface="Cambria Math" panose="02040503050406030204" pitchFamily="18" charset="0"/>
                  <a:sym typeface="+mn-ea"/>
                </a:endParaRPr>
              </a:p>
              <a:p>
                <a:pPr marL="0" lvl="0" indent="0">
                  <a:buNone/>
                </a:pPr>
                <a:r>
                  <a:rPr lang="en-US" altLang="zh-CN" b="1">
                    <a:solidFill>
                      <a:schemeClr val="tx1"/>
                    </a:solidFill>
                    <a:sym typeface="+mn-ea"/>
                  </a:rPr>
                  <a:t>6-2 </a:t>
                </a:r>
                <a:r>
                  <a:rPr lang="zh-CN">
                    <a:latin typeface="Cambria Math" panose="02040503050406030204" pitchFamily="18" charset="0"/>
                    <a:cs typeface="Cambria Math" panose="02040503050406030204" pitchFamily="18" charset="0"/>
                    <a:sym typeface="+mn-ea"/>
                  </a:rPr>
                  <a:t>代码题</a:t>
                </a:r>
                <a:endParaRPr lang="zh-CN">
                  <a:latin typeface="Cambria Math" panose="02040503050406030204" pitchFamily="18" charset="0"/>
                  <a:cs typeface="Cambria Math" panose="02040503050406030204" pitchFamily="18" charset="0"/>
                  <a:sym typeface="+mn-ea"/>
                </a:endParaRPr>
              </a:p>
              <a:p>
                <a:pPr marL="0" lvl="0" indent="457200">
                  <a:buNone/>
                </a:pPr>
                <a:r>
                  <a:rPr lang="zh-CN">
                    <a:latin typeface="Cambria Math" panose="02040503050406030204" pitchFamily="18" charset="0"/>
                    <a:cs typeface="Cambria Math" panose="02040503050406030204" pitchFamily="18" charset="0"/>
                    <a:sym typeface="+mn-ea"/>
                  </a:rPr>
                  <a:t>使用 scikit-learn 库构建一个朴素贝叶斯分类模型来进行文本分类。请完成以下步骤：</a:t>
                </a:r>
                <a:endParaRPr lang="zh-CN">
                  <a:latin typeface="Cambria Math" panose="02040503050406030204" pitchFamily="18" charset="0"/>
                  <a:cs typeface="Cambria Math" panose="02040503050406030204" pitchFamily="18" charset="0"/>
                  <a:sym typeface="+mn-ea"/>
                </a:endParaRPr>
              </a:p>
              <a:p>
                <a:pPr marL="800100" lvl="1" indent="-342900">
                  <a:buFont typeface="+mj-lt"/>
                  <a:buAutoNum type="arabicPeriod"/>
                </a:pPr>
                <a:r>
                  <a:rPr lang="zh-CN" sz="1600">
                    <a:latin typeface="Cambria Math" panose="02040503050406030204" pitchFamily="18" charset="0"/>
                    <a:cs typeface="Cambria Math" panose="02040503050406030204" pitchFamily="18" charset="0"/>
                    <a:sym typeface="+mn-ea"/>
                  </a:rPr>
                  <a:t>导入必要的库。</a:t>
                </a:r>
                <a:endParaRPr lang="zh-CN" sz="1600">
                  <a:latin typeface="Cambria Math" panose="02040503050406030204" pitchFamily="18" charset="0"/>
                  <a:cs typeface="Cambria Math" panose="02040503050406030204" pitchFamily="18" charset="0"/>
                  <a:sym typeface="+mn-ea"/>
                </a:endParaRPr>
              </a:p>
              <a:p>
                <a:pPr marL="800100" lvl="1" indent="-342900">
                  <a:buFont typeface="+mj-lt"/>
                  <a:buAutoNum type="arabicPeriod"/>
                </a:pPr>
                <a:r>
                  <a:rPr lang="zh-CN" sz="1600">
                    <a:latin typeface="Cambria Math" panose="02040503050406030204" pitchFamily="18" charset="0"/>
                    <a:cs typeface="Cambria Math" panose="02040503050406030204" pitchFamily="18" charset="0"/>
                    <a:sym typeface="+mn-ea"/>
                  </a:rPr>
                  <a:t>使用 fetch_20newsgroups 加载新闻组数据集。</a:t>
                </a:r>
                <a:endParaRPr lang="zh-CN" sz="1600">
                  <a:latin typeface="Cambria Math" panose="02040503050406030204" pitchFamily="18" charset="0"/>
                  <a:cs typeface="Cambria Math" panose="02040503050406030204" pitchFamily="18" charset="0"/>
                  <a:sym typeface="+mn-ea"/>
                </a:endParaRPr>
              </a:p>
              <a:p>
                <a:pPr marL="800100" lvl="1" indent="-342900">
                  <a:buFont typeface="+mj-lt"/>
                  <a:buAutoNum type="arabicPeriod"/>
                </a:pPr>
                <a:r>
                  <a:rPr lang="zh-CN" sz="1600">
                    <a:latin typeface="Cambria Math" panose="02040503050406030204" pitchFamily="18" charset="0"/>
                    <a:cs typeface="Cambria Math" panose="02040503050406030204" pitchFamily="18" charset="0"/>
                    <a:sym typeface="+mn-ea"/>
                  </a:rPr>
                  <a:t>划分数据集为训练集和测试集。</a:t>
                </a:r>
                <a:endParaRPr lang="zh-CN" sz="1600">
                  <a:latin typeface="Cambria Math" panose="02040503050406030204" pitchFamily="18" charset="0"/>
                  <a:cs typeface="Cambria Math" panose="02040503050406030204" pitchFamily="18" charset="0"/>
                  <a:sym typeface="+mn-ea"/>
                </a:endParaRPr>
              </a:p>
              <a:p>
                <a:pPr marL="800100" lvl="1" indent="-342900">
                  <a:buFont typeface="+mj-lt"/>
                  <a:buAutoNum type="arabicPeriod"/>
                </a:pPr>
                <a:r>
                  <a:rPr lang="zh-CN" sz="1600">
                    <a:latin typeface="Cambria Math" panose="02040503050406030204" pitchFamily="18" charset="0"/>
                    <a:cs typeface="Cambria Math" panose="02040503050406030204" pitchFamily="18" charset="0"/>
                    <a:sym typeface="+mn-ea"/>
                  </a:rPr>
                  <a:t>使用 CountVectorizer 将文本数据转换为特征向量。</a:t>
                </a:r>
                <a:endParaRPr lang="zh-CN" sz="1600">
                  <a:latin typeface="Cambria Math" panose="02040503050406030204" pitchFamily="18" charset="0"/>
                  <a:cs typeface="Cambria Math" panose="02040503050406030204" pitchFamily="18" charset="0"/>
                  <a:sym typeface="+mn-ea"/>
                </a:endParaRPr>
              </a:p>
              <a:p>
                <a:pPr marL="800100" lvl="1" indent="-342900">
                  <a:buFont typeface="+mj-lt"/>
                  <a:buAutoNum type="arabicPeriod"/>
                </a:pPr>
                <a:r>
                  <a:rPr lang="zh-CN" sz="1600">
                    <a:latin typeface="Cambria Math" panose="02040503050406030204" pitchFamily="18" charset="0"/>
                    <a:cs typeface="Cambria Math" panose="02040503050406030204" pitchFamily="18" charset="0"/>
                    <a:sym typeface="+mn-ea"/>
                  </a:rPr>
                  <a:t>创建并训练一个朴素贝叶斯分类模型。</a:t>
                </a:r>
                <a:endParaRPr lang="zh-CN" sz="1600">
                  <a:latin typeface="Cambria Math" panose="02040503050406030204" pitchFamily="18" charset="0"/>
                  <a:cs typeface="Cambria Math" panose="02040503050406030204" pitchFamily="18" charset="0"/>
                  <a:sym typeface="+mn-ea"/>
                </a:endParaRPr>
              </a:p>
              <a:p>
                <a:pPr marL="800100" lvl="1" indent="-342900">
                  <a:buFont typeface="+mj-lt"/>
                  <a:buAutoNum type="arabicPeriod"/>
                </a:pPr>
                <a:r>
                  <a:rPr lang="zh-CN" sz="1600">
                    <a:latin typeface="Cambria Math" panose="02040503050406030204" pitchFamily="18" charset="0"/>
                    <a:cs typeface="Cambria Math" panose="02040503050406030204" pitchFamily="18" charset="0"/>
                    <a:sym typeface="+mn-ea"/>
                  </a:rPr>
                  <a:t>使用模型对测试集进行预测。</a:t>
                </a:r>
                <a:endParaRPr lang="zh-CN" sz="1600">
                  <a:latin typeface="Cambria Math" panose="02040503050406030204" pitchFamily="18" charset="0"/>
                  <a:cs typeface="Cambria Math" panose="02040503050406030204" pitchFamily="18" charset="0"/>
                  <a:sym typeface="+mn-ea"/>
                </a:endParaRPr>
              </a:p>
              <a:p>
                <a:pPr marL="800100" lvl="1" indent="-342900">
                  <a:buFont typeface="+mj-lt"/>
                  <a:buAutoNum type="arabicPeriod"/>
                </a:pPr>
                <a:r>
                  <a:rPr lang="zh-CN" sz="1600">
                    <a:latin typeface="Cambria Math" panose="02040503050406030204" pitchFamily="18" charset="0"/>
                    <a:cs typeface="Cambria Math" panose="02040503050406030204" pitchFamily="18" charset="0"/>
                    <a:sym typeface="+mn-ea"/>
                  </a:rPr>
                  <a:t>计算并输出模型的准确率。</a:t>
                </a:r>
                <a:endParaRPr lang="zh-CN" sz="1600">
                  <a:latin typeface="Cambria Math" panose="02040503050406030204" pitchFamily="18" charset="0"/>
                  <a:cs typeface="Cambria Math" panose="02040503050406030204" pitchFamily="18" charset="0"/>
                  <a:sym typeface="+mn-ea"/>
                </a:endParaRPr>
              </a:p>
              <a:p>
                <a:pPr marL="0" lvl="0" indent="457200">
                  <a:buNone/>
                </a:pPr>
                <a:r>
                  <a:rPr lang="zh-CN">
                    <a:latin typeface="Cambria Math" panose="02040503050406030204" pitchFamily="18" charset="0"/>
                    <a:cs typeface="Cambria Math" panose="02040503050406030204" pitchFamily="18" charset="0"/>
                    <a:sym typeface="+mn-ea"/>
                  </a:rPr>
                  <a:t>要求</a:t>
                </a:r>
                <a:endParaRPr lang="zh-CN">
                  <a:latin typeface="Cambria Math" panose="02040503050406030204" pitchFamily="18" charset="0"/>
                  <a:cs typeface="Cambria Math" panose="02040503050406030204" pitchFamily="18" charset="0"/>
                  <a:sym typeface="+mn-ea"/>
                </a:endParaRPr>
              </a:p>
              <a:p>
                <a:pPr marL="800100" lvl="1" indent="-342900">
                  <a:buAutoNum type="arabicPeriod"/>
                </a:pPr>
                <a:r>
                  <a:rPr lang="zh-CN" sz="1600">
                    <a:latin typeface="Cambria Math" panose="02040503050406030204" pitchFamily="18" charset="0"/>
                    <a:cs typeface="Cambria Math" panose="02040503050406030204" pitchFamily="18" charset="0"/>
                    <a:sym typeface="+mn-ea"/>
                  </a:rPr>
                  <a:t>使用 train_test_split 将数据集分为训练集（80%）和测试集（20%）。</a:t>
                </a:r>
                <a:endParaRPr lang="zh-CN" sz="1600">
                  <a:latin typeface="Cambria Math" panose="02040503050406030204" pitchFamily="18" charset="0"/>
                  <a:cs typeface="Cambria Math" panose="02040503050406030204" pitchFamily="18" charset="0"/>
                  <a:sym typeface="+mn-ea"/>
                </a:endParaRPr>
              </a:p>
              <a:p>
                <a:pPr marL="800100" lvl="1" indent="-342900">
                  <a:buAutoNum type="arabicPeriod"/>
                </a:pPr>
                <a:r>
                  <a:rPr lang="zh-CN" sz="1600">
                    <a:latin typeface="Cambria Math" panose="02040503050406030204" pitchFamily="18" charset="0"/>
                    <a:cs typeface="Cambria Math" panose="02040503050406030204" pitchFamily="18" charset="0"/>
                    <a:sym typeface="+mn-ea"/>
                  </a:rPr>
                  <a:t>使用 MultinomialNB 类创建朴素贝叶斯分类器。</a:t>
                </a:r>
                <a:endParaRPr lang="zh-CN" sz="1600">
                  <a:latin typeface="Cambria Math" panose="02040503050406030204" pitchFamily="18" charset="0"/>
                  <a:cs typeface="Cambria Math" panose="02040503050406030204" pitchFamily="18" charset="0"/>
                  <a:sym typeface="+mn-ea"/>
                </a:endParaRPr>
              </a:p>
              <a:p>
                <a:pPr marL="800100" lvl="1" indent="-342900">
                  <a:buAutoNum type="arabicPeriod"/>
                </a:pPr>
                <a:r>
                  <a:rPr lang="zh-CN" sz="1600">
                    <a:latin typeface="Cambria Math" panose="02040503050406030204" pitchFamily="18" charset="0"/>
                    <a:cs typeface="Cambria Math" panose="02040503050406030204" pitchFamily="18" charset="0"/>
                    <a:sym typeface="+mn-ea"/>
                  </a:rPr>
                  <a:t>最后，打印测试集的准确率。</a:t>
                </a:r>
                <a:endParaRPr lang="zh-CN" sz="1600">
                  <a:latin typeface="Cambria Math" panose="02040503050406030204" pitchFamily="18" charset="0"/>
                  <a:cs typeface="Cambria Math" panose="02040503050406030204" pitchFamily="18" charset="0"/>
                  <a:sym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301625" y="1195070"/>
                <a:ext cx="11567795" cy="3949700"/>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思考题</a:t>
            </a:r>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答案</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7" name="文本框 6"/>
              <p:cNvSpPr txBox="1"/>
              <p:nvPr>
                <p:custDataLst>
                  <p:tags r:id="rId1"/>
                </p:custDataLst>
              </p:nvPr>
            </p:nvSpPr>
            <p:spPr>
              <a:xfrm>
                <a:off x="301625" y="1195070"/>
                <a:ext cx="11322050" cy="379730"/>
              </a:xfrm>
              <a:prstGeom prst="rect">
                <a:avLst/>
              </a:prstGeom>
              <a:noFill/>
            </p:spPr>
            <p:txBody>
              <a:bodyPr wrap="square" rtlCol="0" anchor="t">
                <a:spAutoFit/>
              </a:bodyPr>
              <a:p>
                <a:r>
                  <a:rPr lang="en-US" altLang="zh-CN" b="1">
                    <a:sym typeface="+mn-ea"/>
                  </a:rPr>
                  <a:t>6-1 </a:t>
                </a:r>
                <a:r>
                  <a:rPr lang="zh-CN" altLang="en-US">
                    <a:latin typeface="Cambria Math" panose="02040503050406030204" pitchFamily="18" charset="0"/>
                    <a:cs typeface="Cambria Math" panose="02040503050406030204" pitchFamily="18" charset="0"/>
                    <a:sym typeface="+mn-ea"/>
                  </a:rPr>
                  <a:t>属于类别</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𝑐</m:t>
                    </m:r>
                  </m:oMath>
                </a14:m>
                <a:r>
                  <a:rPr lang="zh-CN" altLang="en-US">
                    <a:latin typeface="Cambria Math" panose="02040503050406030204" pitchFamily="18" charset="0"/>
                    <a:cs typeface="Cambria Math" panose="02040503050406030204" pitchFamily="18" charset="0"/>
                    <a:sym typeface="+mn-ea"/>
                  </a:rPr>
                  <a:t>的训练集样本</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𝑥</m:t>
                    </m:r>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𝐷</m:t>
                        </m:r>
                      </m:e>
                      <m:sub>
                        <m:r>
                          <a:rPr lang="en-US" altLang="zh-CN" i="1">
                            <a:latin typeface="Cambria Math" panose="02040503050406030204" pitchFamily="18" charset="0"/>
                            <a:cs typeface="Cambria Math" panose="02040503050406030204" pitchFamily="18" charset="0"/>
                            <a:sym typeface="+mn-ea"/>
                          </a:rPr>
                          <m:t>𝑐</m:t>
                        </m:r>
                      </m:sub>
                    </m:sSub>
                  </m:oMath>
                </a14:m>
                <a:r>
                  <a:rPr lang="zh-CN" altLang="en-US">
                    <a:latin typeface="Cambria Math" panose="02040503050406030204" pitchFamily="18" charset="0"/>
                    <a:cs typeface="Cambria Math" panose="02040503050406030204" pitchFamily="18" charset="0"/>
                    <a:sym typeface="+mn-ea"/>
                  </a:rPr>
                  <a:t>在连续属性上的分布符合正态分布</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𝑁</m:t>
                    </m:r>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𝜇</m:t>
                        </m:r>
                      </m:e>
                      <m:sub>
                        <m:r>
                          <a:rPr lang="en-US" altLang="zh-CN" i="1">
                            <a:latin typeface="Cambria Math" panose="02040503050406030204" pitchFamily="18" charset="0"/>
                            <a:cs typeface="Cambria Math" panose="02040503050406030204" pitchFamily="18" charset="0"/>
                            <a:sym typeface="+mn-ea"/>
                          </a:rPr>
                          <m:t>𝑐</m:t>
                        </m:r>
                      </m:sub>
                    </m:sSub>
                    <m:r>
                      <a:rPr lang="en-US" altLang="zh-CN" i="1">
                        <a:latin typeface="Cambria Math" panose="02040503050406030204" pitchFamily="18" charset="0"/>
                        <a:cs typeface="Cambria Math" panose="02040503050406030204" pitchFamily="18" charset="0"/>
                        <a:sym typeface="+mn-ea"/>
                      </a:rPr>
                      <m:t>,</m:t>
                    </m:r>
                    <m:sSubSup>
                      <m:sSubSupPr>
                        <m:ctrlPr>
                          <a:rPr lang="en-US" altLang="zh-CN" i="1">
                            <a:latin typeface="Cambria Math" panose="02040503050406030204" pitchFamily="18" charset="0"/>
                            <a:cs typeface="Cambria Math" panose="02040503050406030204" pitchFamily="18" charset="0"/>
                            <a:sym typeface="+mn-ea"/>
                          </a:rPr>
                        </m:ctrlPr>
                      </m:sSubSupPr>
                      <m:e>
                        <m:r>
                          <a:rPr lang="en-US" altLang="zh-CN" i="1">
                            <a:latin typeface="Cambria Math" panose="02040503050406030204" pitchFamily="18" charset="0"/>
                            <a:cs typeface="Cambria Math" panose="02040503050406030204" pitchFamily="18" charset="0"/>
                            <a:sym typeface="+mn-ea"/>
                          </a:rPr>
                          <m:t>𝜎</m:t>
                        </m:r>
                      </m:e>
                      <m:sub>
                        <m:r>
                          <a:rPr lang="en-US" altLang="zh-CN" i="1">
                            <a:latin typeface="Cambria Math" panose="02040503050406030204" pitchFamily="18" charset="0"/>
                            <a:cs typeface="Cambria Math" panose="02040503050406030204" pitchFamily="18" charset="0"/>
                            <a:sym typeface="+mn-ea"/>
                          </a:rPr>
                          <m:t>𝑐</m:t>
                        </m:r>
                      </m:sub>
                      <m:sup>
                        <m:r>
                          <a:rPr lang="en-US" altLang="zh-CN" i="1">
                            <a:latin typeface="Cambria Math" panose="02040503050406030204" pitchFamily="18" charset="0"/>
                            <a:cs typeface="Cambria Math" panose="02040503050406030204" pitchFamily="18" charset="0"/>
                            <a:sym typeface="+mn-ea"/>
                          </a:rPr>
                          <m:t>2</m:t>
                        </m:r>
                      </m:sup>
                    </m:sSubSup>
                    <m:r>
                      <a:rPr lang="en-US" altLang="zh-CN" i="1">
                        <a:latin typeface="Cambria Math" panose="02040503050406030204" pitchFamily="18" charset="0"/>
                        <a:cs typeface="Cambria Math" panose="02040503050406030204" pitchFamily="18" charset="0"/>
                        <a:sym typeface="+mn-ea"/>
                      </a:rPr>
                      <m:t>)</m:t>
                    </m:r>
                  </m:oMath>
                </a14:m>
                <a:r>
                  <a:rPr lang="zh-CN" altLang="en-US">
                    <a:latin typeface="Cambria Math" panose="02040503050406030204" pitchFamily="18" charset="0"/>
                    <a:cs typeface="Cambria Math" panose="02040503050406030204" pitchFamily="18" charset="0"/>
                    <a:sym typeface="+mn-ea"/>
                  </a:rPr>
                  <a:t>，试通过极大似然估计求得</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𝜇</m:t>
                        </m:r>
                      </m:e>
                      <m:sub>
                        <m:r>
                          <a:rPr lang="en-US" altLang="zh-CN" i="1">
                            <a:latin typeface="Cambria Math" panose="02040503050406030204" pitchFamily="18" charset="0"/>
                            <a:cs typeface="Cambria Math" panose="02040503050406030204" pitchFamily="18" charset="0"/>
                            <a:sym typeface="+mn-ea"/>
                          </a:rPr>
                          <m:t>𝑐</m:t>
                        </m:r>
                      </m:sub>
                    </m:sSub>
                  </m:oMath>
                </a14:m>
                <a:r>
                  <a:rPr lang="zh-CN" altLang="en-US">
                    <a:latin typeface="Cambria Math" panose="02040503050406030204" pitchFamily="18" charset="0"/>
                    <a:cs typeface="Cambria Math" panose="02040503050406030204" pitchFamily="18" charset="0"/>
                    <a:sym typeface="+mn-ea"/>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𝜎</m:t>
                        </m:r>
                      </m:e>
                      <m:sub>
                        <m:r>
                          <a:rPr lang="en-US" altLang="zh-CN" i="1">
                            <a:latin typeface="Cambria Math" panose="02040503050406030204" pitchFamily="18" charset="0"/>
                            <a:cs typeface="Cambria Math" panose="02040503050406030204" pitchFamily="18" charset="0"/>
                            <a:sym typeface="+mn-ea"/>
                          </a:rPr>
                          <m:t>𝑐</m:t>
                        </m:r>
                      </m:sub>
                    </m:sSub>
                  </m:oMath>
                </a14:m>
                <a:endParaRPr lang="zh-CN" altLang="en-US">
                  <a:latin typeface="Cambria Math" panose="02040503050406030204" pitchFamily="18" charset="0"/>
                  <a:cs typeface="Cambria Math" panose="02040503050406030204" pitchFamily="18" charset="0"/>
                  <a:sym typeface="+mn-ea"/>
                </a:endParaRPr>
              </a:p>
            </p:txBody>
          </p:sp>
        </mc:Choice>
        <mc:Fallback>
          <p:sp>
            <p:nvSpPr>
              <p:cNvPr id="7" name="文本框 6"/>
              <p:cNvSpPr txBox="1">
                <a:spLocks noRot="1" noChangeAspect="1" noMove="1" noResize="1" noEditPoints="1" noAdjustHandles="1" noChangeArrowheads="1" noChangeShapeType="1" noTextEdit="1"/>
              </p:cNvSpPr>
              <p:nvPr>
                <p:custDataLst>
                  <p:tags r:id="rId2"/>
                </p:custDataLst>
              </p:nvPr>
            </p:nvSpPr>
            <p:spPr>
              <a:xfrm>
                <a:off x="301625" y="1195070"/>
                <a:ext cx="11322050" cy="37973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209550" y="1714500"/>
                <a:ext cx="6096000" cy="3075940"/>
              </a:xfrm>
              <a:prstGeom prst="rect">
                <a:avLst/>
              </a:prstGeom>
              <a:noFill/>
            </p:spPr>
            <p:txBody>
              <a:bodyPr wrap="square" rtlCol="0" anchor="t">
                <a:spAutoFit/>
              </a:bodyPr>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𝑃</m:t>
                      </m:r>
                      <m:r>
                        <a:rPr lang="en-US" altLang="zh-CN"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1</m:t>
                          </m:r>
                        </m:num>
                        <m:den>
                          <m:rad>
                            <m:radPr>
                              <m:degHide m:val="on"/>
                              <m:ctrlPr>
                                <a:rPr lang="en-US" altLang="zh-CN" i="1">
                                  <a:solidFill>
                                    <a:schemeClr val="tx1"/>
                                  </a:solidFill>
                                  <a:latin typeface="Cambria Math" panose="02040503050406030204" pitchFamily="18" charset="0"/>
                                  <a:cs typeface="Cambria Math" panose="02040503050406030204" pitchFamily="18" charset="0"/>
                                </a:rPr>
                              </m:ctrlPr>
                            </m:radPr>
                            <m:deg/>
                            <m:e>
                              <m:r>
                                <a:rPr lang="en-US" altLang="zh-CN" i="1">
                                  <a:solidFill>
                                    <a:schemeClr val="tx1"/>
                                  </a:solidFill>
                                  <a:latin typeface="Cambria Math" panose="02040503050406030204" pitchFamily="18" charset="0"/>
                                  <a:cs typeface="Cambria Math" panose="02040503050406030204" pitchFamily="18" charset="0"/>
                                </a:rPr>
                                <m:t>2</m:t>
                              </m:r>
                              <m:r>
                                <a:rPr lang="en-US" altLang="zh-CN" i="1">
                                  <a:solidFill>
                                    <a:schemeClr val="tx1"/>
                                  </a:solidFill>
                                  <a:latin typeface="Cambria Math" panose="02040503050406030204" pitchFamily="18" charset="0"/>
                                  <a:cs typeface="Cambria Math" panose="02040503050406030204" pitchFamily="18" charset="0"/>
                                </a:rPr>
                                <m:t>𝜋</m:t>
                              </m:r>
                            </m:e>
                          </m:rad>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den>
                      </m:f>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𝑒</m:t>
                          </m:r>
                        </m:e>
                        <m:sup>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e>
                                <m:sup>
                                  <m:r>
                                    <a:rPr lang="en-US" altLang="zh-CN" i="1">
                                      <a:solidFill>
                                        <a:schemeClr val="tx1"/>
                                      </a:solidFill>
                                      <a:latin typeface="Cambria Math" panose="02040503050406030204" pitchFamily="18" charset="0"/>
                                      <a:cs typeface="Cambria Math" panose="02040503050406030204" pitchFamily="18" charset="0"/>
                                    </a:rPr>
                                    <m:t>2</m:t>
                                  </m:r>
                                </m:sup>
                              </m:sSup>
                            </m:num>
                            <m:den>
                              <m:r>
                                <a:rPr lang="en-US" altLang="zh-CN" i="1">
                                  <a:solidFill>
                                    <a:schemeClr val="tx1"/>
                                  </a:solidFill>
                                  <a:latin typeface="Cambria Math" panose="02040503050406030204" pitchFamily="18" charset="0"/>
                                  <a:cs typeface="Cambria Math" panose="02040503050406030204" pitchFamily="18" charset="0"/>
                                </a:rPr>
                                <m:t>2</m:t>
                              </m:r>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solidFill>
                                        <a:schemeClr val="tx1"/>
                                      </a:solidFill>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𝟐</m:t>
                                  </m:r>
                                </m:sup>
                              </m:sSubSup>
                            </m:den>
                          </m:f>
                        </m:sup>
                      </m:sSup>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lnSpc>
                    <a:spcPct val="10000"/>
                  </a:lnSpc>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0">
                  <a:buNone/>
                </a:pPr>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𝐿𝐿</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1</m:t>
                              </m:r>
                            </m:num>
                            <m:den>
                              <m:r>
                                <a:rPr lang="en-US" altLang="zh-CN" i="1">
                                  <a:solidFill>
                                    <a:schemeClr val="tx1"/>
                                  </a:solidFill>
                                  <a:latin typeface="Cambria Math" panose="02040503050406030204" pitchFamily="18" charset="0"/>
                                  <a:cs typeface="Cambria Math" panose="02040503050406030204" pitchFamily="18" charset="0"/>
                                </a:rPr>
                                <m:t>2</m:t>
                              </m:r>
                            </m:den>
                          </m:f>
                          <m:r>
                            <a:rPr lang="en-US" altLang="zh-CN" i="1">
                              <a:solidFill>
                                <a:schemeClr val="tx1"/>
                              </a:solidFill>
                              <a:latin typeface="Cambria Math" panose="02040503050406030204" pitchFamily="18" charset="0"/>
                              <a:cs typeface="Cambria Math" panose="02040503050406030204" pitchFamily="18" charset="0"/>
                            </a:rPr>
                            <m:t>𝑙𝑛</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2</m:t>
                          </m:r>
                          <m:r>
                            <a:rPr lang="en-US" altLang="zh-CN" i="1">
                              <a:solidFill>
                                <a:schemeClr val="tx1"/>
                              </a:solidFill>
                              <a:latin typeface="Cambria Math" panose="02040503050406030204" pitchFamily="18" charset="0"/>
                              <a:cs typeface="Cambria Math" panose="02040503050406030204" pitchFamily="18" charset="0"/>
                            </a:rPr>
                            <m:t>𝜋</m:t>
                          </m:r>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𝑙𝑛</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e>
                                <m:sup>
                                  <m:r>
                                    <a:rPr lang="en-US" altLang="zh-CN" i="1">
                                      <a:solidFill>
                                        <a:schemeClr val="tx1"/>
                                      </a:solidFill>
                                      <a:latin typeface="Cambria Math" panose="02040503050406030204" pitchFamily="18" charset="0"/>
                                      <a:cs typeface="Cambria Math" panose="02040503050406030204" pitchFamily="18" charset="0"/>
                                    </a:rPr>
                                    <m:t>2</m:t>
                                  </m:r>
                                </m:sup>
                              </m:sSup>
                            </m:num>
                            <m:den>
                              <m:r>
                                <a:rPr lang="en-US" altLang="zh-CN" i="1">
                                  <a:solidFill>
                                    <a:schemeClr val="tx1"/>
                                  </a:solidFill>
                                  <a:latin typeface="Cambria Math" panose="02040503050406030204" pitchFamily="18" charset="0"/>
                                  <a:cs typeface="Cambria Math" panose="02040503050406030204" pitchFamily="18" charset="0"/>
                                </a:rPr>
                                <m:t>2</m:t>
                              </m:r>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solidFill>
                                        <a:schemeClr val="tx1"/>
                                      </a:solidFill>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𝟐</m:t>
                                  </m:r>
                                </m:sup>
                              </m:sSubSup>
                            </m:den>
                          </m:f>
                          <m:r>
                            <a:rPr lang="en-US" altLang="zh-CN" i="1">
                              <a:solidFill>
                                <a:schemeClr val="tx1"/>
                              </a:solidFill>
                              <a:latin typeface="Cambria Math" panose="02040503050406030204" pitchFamily="18" charset="0"/>
                              <a:cs typeface="Cambria Math" panose="02040503050406030204" pitchFamily="18" charset="0"/>
                            </a:rPr>
                            <m:t>]</m:t>
                          </m:r>
                        </m:e>
                      </m:nary>
                    </m:oMath>
                  </m:oMathPara>
                </a14:m>
                <a:endParaRPr lang="en-US" altLang="zh-CN" i="1">
                  <a:solidFill>
                    <a:schemeClr val="tx1"/>
                  </a:solidFill>
                  <a:latin typeface="Cambria Math" panose="02040503050406030204" pitchFamily="18" charset="0"/>
                  <a:cs typeface="Cambria Math" panose="02040503050406030204" pitchFamily="18" charset="0"/>
                </a:endParaRPr>
              </a:p>
              <a:p>
                <a:pPr marL="0" lvl="0" indent="0">
                  <a:lnSpc>
                    <a:spcPct val="40000"/>
                  </a:lnSpc>
                  <a:buNone/>
                </a:pPr>
                <a:endParaRPr lang="zh-CN" altLang="en-US">
                  <a:solidFill>
                    <a:schemeClr val="tx1"/>
                  </a:solidFill>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d>
                        <m:dPr>
                          <m:begChr m:val="{"/>
                          <m:endChr m:val=""/>
                          <m:ctrlPr>
                            <a:rPr lang="en-US" altLang="zh-CN" i="1">
                              <a:solidFill>
                                <a:schemeClr val="tx1"/>
                              </a:solidFill>
                              <a:latin typeface="Cambria Math" panose="02040503050406030204" pitchFamily="18" charset="0"/>
                              <a:cs typeface="Cambria Math" panose="02040503050406030204" pitchFamily="18" charset="0"/>
                            </a:rPr>
                          </m:ctrlPr>
                        </m:dPr>
                        <m:e>
                          <m:eqArr>
                            <m:eqArrPr>
                              <m:ctrlPr>
                                <a:rPr lang="en-US" altLang="zh-CN" i="1">
                                  <a:solidFill>
                                    <a:schemeClr val="tx1"/>
                                  </a:solidFill>
                                  <a:latin typeface="Cambria Math" panose="02040503050406030204" pitchFamily="18" charset="0"/>
                                  <a:cs typeface="Cambria Math" panose="02040503050406030204" pitchFamily="18" charset="0"/>
                                </a:rPr>
                              </m:ctrlPr>
                            </m:eqArrPr>
                            <m:e>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𝐿𝐿</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num>
                                    <m:den>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solidFill>
                                                <a:schemeClr val="tx1"/>
                                              </a:solidFill>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𝟐</m:t>
                                          </m:r>
                                        </m:sup>
                                      </m:sSubSup>
                                    </m:den>
                                  </m:f>
                                  <m:r>
                                    <a:rPr lang="en-US" altLang="zh-CN" i="1">
                                      <a:solidFill>
                                        <a:schemeClr val="tx1"/>
                                      </a:solidFill>
                                      <a:latin typeface="Cambria Math" panose="02040503050406030204" pitchFamily="18" charset="0"/>
                                      <a:cs typeface="Cambria Math" panose="02040503050406030204" pitchFamily="18" charset="0"/>
                                    </a:rPr>
                                    <m:t>                                  </m:t>
                                  </m:r>
                                </m:e>
                              </m:nary>
                            </m:e>
                            <m:e>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𝐿𝐿</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r>
                                    <a:rPr lang="en-US" altLang="zh-CN" i="1">
                                      <a:solidFill>
                                        <a:schemeClr val="tx1"/>
                                      </a:solidFill>
                                      <a:latin typeface="Cambria Math" panose="02040503050406030204" pitchFamily="18" charset="0"/>
                                      <a:cs typeface="Cambria Math" panose="02040503050406030204" pitchFamily="18" charset="0"/>
                                    </a:rPr>
                                    <m:t>[</m:t>
                                  </m:r>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𝟏</m:t>
                                      </m:r>
                                    </m:sup>
                                  </m:sSubSup>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e>
                                    <m:sup>
                                      <m:r>
                                        <a:rPr lang="en-US" altLang="zh-CN" i="1">
                                          <a:solidFill>
                                            <a:schemeClr val="tx1"/>
                                          </a:solidFill>
                                          <a:latin typeface="Cambria Math" panose="02040503050406030204" pitchFamily="18" charset="0"/>
                                          <a:cs typeface="Cambria Math" panose="02040503050406030204" pitchFamily="18" charset="0"/>
                                        </a:rPr>
                                        <m:t>2</m:t>
                                      </m:r>
                                    </m:sup>
                                  </m:sSup>
                                  <m:r>
                                    <a:rPr lang="en-US" altLang="zh-CN" i="1">
                                      <a:solidFill>
                                        <a:schemeClr val="tx1"/>
                                      </a:solidFill>
                                      <a:latin typeface="Cambria Math" panose="02040503050406030204" pitchFamily="18" charset="0"/>
                                      <a:cs typeface="Cambria Math" panose="02040503050406030204" pitchFamily="18" charset="0"/>
                                    </a:rPr>
                                    <m:t>∙</m:t>
                                  </m:r>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solidFill>
                                            <a:schemeClr val="tx1"/>
                                          </a:solidFill>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𝟑</m:t>
                                      </m:r>
                                    </m:sup>
                                  </m:sSubSup>
                                  <m:r>
                                    <a:rPr lang="en-US" altLang="zh-CN" i="1">
                                      <a:solidFill>
                                        <a:schemeClr val="tx1"/>
                                      </a:solidFill>
                                      <a:latin typeface="Cambria Math" panose="02040503050406030204" pitchFamily="18" charset="0"/>
                                      <a:cs typeface="Cambria Math" panose="02040503050406030204" pitchFamily="18" charset="0"/>
                                    </a:rPr>
                                    <m:t>]</m:t>
                                  </m:r>
                                </m:e>
                              </m:nary>
                            </m:e>
                          </m:eqArr>
                        </m:e>
                      </m:d>
                    </m:oMath>
                  </m:oMathPara>
                </a14:m>
                <a:endParaRPr lang="en-US" altLang="zh-CN" b="1" i="1">
                  <a:solidFill>
                    <a:schemeClr val="tx1"/>
                  </a:solidFill>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09550" y="1714500"/>
                <a:ext cx="6096000" cy="307594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419100" y="4847590"/>
                <a:ext cx="6096000" cy="1535430"/>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d>
                        <m:dPr>
                          <m:begChr m:val="{"/>
                          <m:endChr m:val=""/>
                          <m:ctrlPr>
                            <a:rPr lang="en-US" altLang="zh-CN" i="1">
                              <a:solidFill>
                                <a:schemeClr val="tx1"/>
                              </a:solidFill>
                              <a:latin typeface="Cambria Math" panose="02040503050406030204" pitchFamily="18" charset="0"/>
                              <a:cs typeface="Cambria Math" panose="02040503050406030204" pitchFamily="18" charset="0"/>
                            </a:rPr>
                          </m:ctrlPr>
                        </m:dPr>
                        <m:e>
                          <m:eqArr>
                            <m:eqArrPr>
                              <m:ctrlPr>
                                <a:rPr lang="en-US" altLang="zh-CN" i="1">
                                  <a:solidFill>
                                    <a:schemeClr val="tx1"/>
                                  </a:solidFill>
                                  <a:latin typeface="Cambria Math" panose="02040503050406030204" pitchFamily="18" charset="0"/>
                                  <a:cs typeface="Cambria Math" panose="02040503050406030204" pitchFamily="18" charset="0"/>
                                </a:rPr>
                              </m:ctrlPr>
                            </m:eqArrPr>
                            <m:e>
                              <m:r>
                                <a:rPr lang="en-US" altLang="zh-CN" i="1">
                                  <a:solidFill>
                                    <a:schemeClr val="tx1"/>
                                  </a:solidFill>
                                  <a:latin typeface="Cambria Math" panose="02040503050406030204" pitchFamily="18" charset="0"/>
                                  <a:cs typeface="Cambria Math" panose="02040503050406030204" pitchFamily="18" charset="0"/>
                                </a:rPr>
                                <m:t>0</m:t>
                              </m:r>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𝐿𝐿</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b="1" i="1">
                                      <a:solidFill>
                                        <a:schemeClr val="tx1"/>
                                      </a:solidFill>
                                      <a:latin typeface="Cambria Math" panose="02040503050406030204" pitchFamily="18" charset="0"/>
                                      <a:cs typeface="Cambria Math" panose="02040503050406030204" pitchFamily="18" charset="0"/>
                                    </a:rPr>
                                    <m:t>𝒃𝒙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num>
                                    <m:den>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solidFill>
                                                <a:schemeClr val="tx1"/>
                                              </a:solidFill>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𝟐</m:t>
                                          </m:r>
                                        </m:sup>
                                      </m:sSubSup>
                                    </m:den>
                                  </m:f>
                                  <m:r>
                                    <a:rPr lang="en-US" altLang="zh-CN" i="1">
                                      <a:solidFill>
                                        <a:schemeClr val="tx1"/>
                                      </a:solidFill>
                                      <a:latin typeface="Cambria Math" panose="02040503050406030204" pitchFamily="18" charset="0"/>
                                      <a:cs typeface="Cambria Math" panose="02040503050406030204" pitchFamily="18" charset="0"/>
                                    </a:rPr>
                                    <m:t>                                  </m:t>
                                  </m:r>
                                </m:e>
                              </m:nary>
                            </m:e>
                            <m:e>
                              <m:r>
                                <a:rPr lang="en-US" altLang="zh-CN" i="1">
                                  <a:solidFill>
                                    <a:schemeClr val="tx1"/>
                                  </a:solidFill>
                                  <a:latin typeface="Cambria Math" panose="02040503050406030204" pitchFamily="18" charset="0"/>
                                  <a:cs typeface="Cambria Math" panose="02040503050406030204" pitchFamily="18" charset="0"/>
                                </a:rPr>
                                <m:t>0</m:t>
                              </m:r>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𝐿𝐿</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num>
                                <m:den>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den>
                              </m:f>
                              <m:r>
                                <a:rPr lang="en-US" altLang="zh-CN" i="1">
                                  <a:solidFill>
                                    <a:schemeClr val="tx1"/>
                                  </a:solidFill>
                                  <a:latin typeface="Cambria Math" panose="02040503050406030204" pitchFamily="18" charset="0"/>
                                  <a:cs typeface="Cambria Math" panose="02040503050406030204" pitchFamily="18" charset="0"/>
                                </a:rPr>
                                <m:t>=−</m:t>
                              </m:r>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r>
                                    <a:rPr lang="en-US" altLang="zh-CN" i="1">
                                      <a:solidFill>
                                        <a:schemeClr val="tx1"/>
                                      </a:solidFill>
                                      <a:latin typeface="Cambria Math" panose="02040503050406030204" pitchFamily="18" charset="0"/>
                                      <a:cs typeface="Cambria Math" panose="02040503050406030204" pitchFamily="18" charset="0"/>
                                    </a:rPr>
                                    <m:t>[</m:t>
                                  </m:r>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𝟏</m:t>
                                      </m:r>
                                    </m:sup>
                                  </m:sSubSup>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i="1">
                                          <a:solidFill>
                                            <a:schemeClr val="tx1"/>
                                          </a:solidFill>
                                          <a:latin typeface="Cambria Math" panose="02040503050406030204" pitchFamily="18" charset="0"/>
                                          <a:cs typeface="Cambria Math" panose="02040503050406030204" pitchFamily="18" charset="0"/>
                                        </a:rPr>
                                        <m:t>(</m:t>
                                      </m:r>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e>
                                    <m:sup>
                                      <m:r>
                                        <a:rPr lang="en-US" altLang="zh-CN" i="1">
                                          <a:solidFill>
                                            <a:schemeClr val="tx1"/>
                                          </a:solidFill>
                                          <a:latin typeface="Cambria Math" panose="02040503050406030204" pitchFamily="18" charset="0"/>
                                          <a:cs typeface="Cambria Math" panose="02040503050406030204" pitchFamily="18" charset="0"/>
                                        </a:rPr>
                                        <m:t>2</m:t>
                                      </m:r>
                                    </m:sup>
                                  </m:sSup>
                                  <m:r>
                                    <a:rPr lang="en-US" altLang="zh-CN" i="1">
                                      <a:solidFill>
                                        <a:schemeClr val="tx1"/>
                                      </a:solidFill>
                                      <a:latin typeface="Cambria Math" panose="02040503050406030204" pitchFamily="18" charset="0"/>
                                      <a:cs typeface="Cambria Math" panose="02040503050406030204" pitchFamily="18" charset="0"/>
                                    </a:rPr>
                                    <m:t>∙</m:t>
                                  </m:r>
                                  <m:sSubSup>
                                    <m:sSubSupPr>
                                      <m:ctrlPr>
                                        <a:rPr lang="en-US" altLang="zh-CN" b="1" i="1">
                                          <a:solidFill>
                                            <a:schemeClr val="tx1"/>
                                          </a:solidFill>
                                          <a:latin typeface="Cambria Math" panose="02040503050406030204" pitchFamily="18" charset="0"/>
                                          <a:cs typeface="Cambria Math" panose="02040503050406030204" pitchFamily="18" charset="0"/>
                                        </a:rPr>
                                      </m:ctrlPr>
                                    </m:sSubSupPr>
                                    <m:e>
                                      <m:r>
                                        <a:rPr lang="en-US" altLang="zh-CN" b="1" i="1">
                                          <a:solidFill>
                                            <a:schemeClr val="tx1"/>
                                          </a:solidFill>
                                          <a:latin typeface="Cambria Math" panose="02040503050406030204" pitchFamily="18" charset="0"/>
                                          <a:cs typeface="Cambria Math" panose="02040503050406030204" pitchFamily="18" charset="0"/>
                                        </a:rPr>
                                        <m:t>𝝈</m:t>
                                      </m:r>
                                    </m:e>
                                    <m:sub>
                                      <m:r>
                                        <a:rPr lang="en-US" altLang="zh-CN" b="1" i="1">
                                          <a:solidFill>
                                            <a:schemeClr val="tx1"/>
                                          </a:solidFill>
                                          <a:latin typeface="Cambria Math" panose="02040503050406030204" pitchFamily="18" charset="0"/>
                                          <a:cs typeface="Cambria Math" panose="02040503050406030204" pitchFamily="18" charset="0"/>
                                        </a:rPr>
                                        <m:t>𝒄</m:t>
                                      </m:r>
                                    </m:sub>
                                    <m:sup>
                                      <m:r>
                                        <a:rPr lang="en-US" altLang="zh-CN" b="1"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𝟑</m:t>
                                      </m:r>
                                    </m:sup>
                                  </m:sSubSup>
                                  <m:r>
                                    <a:rPr lang="en-US" altLang="zh-CN" i="1">
                                      <a:solidFill>
                                        <a:schemeClr val="tx1"/>
                                      </a:solidFill>
                                      <a:latin typeface="Cambria Math" panose="02040503050406030204" pitchFamily="18" charset="0"/>
                                      <a:cs typeface="Cambria Math" panose="02040503050406030204" pitchFamily="18" charset="0"/>
                                    </a:rPr>
                                    <m:t>]</m:t>
                                  </m:r>
                                </m:e>
                              </m:nary>
                            </m:e>
                          </m:eqArr>
                        </m:e>
                      </m:d>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419100" y="4847590"/>
                <a:ext cx="6096000" cy="1535430"/>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custDataLst>
                  <p:tags r:id="rId6"/>
                </p:custDataLst>
              </p:nvPr>
            </p:nvSpPr>
            <p:spPr>
              <a:xfrm>
                <a:off x="6944360" y="3185795"/>
                <a:ext cx="4495800" cy="150939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d>
                        <m:dPr>
                          <m:begChr m:val="{"/>
                          <m:endChr m:val=""/>
                          <m:ctrlPr>
                            <a:rPr lang="en-US" altLang="zh-CN" i="1">
                              <a:solidFill>
                                <a:schemeClr val="tx1"/>
                              </a:solidFill>
                              <a:latin typeface="Cambria Math" panose="02040503050406030204" pitchFamily="18" charset="0"/>
                              <a:cs typeface="Cambria Math" panose="02040503050406030204" pitchFamily="18" charset="0"/>
                            </a:rPr>
                          </m:ctrlPr>
                        </m:dPr>
                        <m:e>
                          <m:eqArr>
                            <m:eqArrPr>
                              <m:ctrlPr>
                                <a:rPr lang="en-US" altLang="zh-CN" i="1">
                                  <a:solidFill>
                                    <a:schemeClr val="tx1"/>
                                  </a:solidFill>
                                  <a:latin typeface="Cambria Math" panose="02040503050406030204" pitchFamily="18" charset="0"/>
                                  <a:cs typeface="Cambria Math" panose="02040503050406030204" pitchFamily="18" charset="0"/>
                                </a:rPr>
                              </m:ctrlPr>
                            </m:eqArrPr>
                            <m:e>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1</m:t>
                                  </m:r>
                                </m:num>
                                <m:den>
                                  <m:d>
                                    <m:dPr>
                                      <m:begChr m:val="|"/>
                                      <m:endChr m:val="|"/>
                                      <m:ctrlPr>
                                        <a:rPr lang="en-US" altLang="zh-CN" i="1">
                                          <a:solidFill>
                                            <a:schemeClr val="tx1"/>
                                          </a:solidFill>
                                          <a:latin typeface="Cambria Math" panose="02040503050406030204" pitchFamily="18" charset="0"/>
                                          <a:cs typeface="Cambria Math" panose="02040503050406030204" pitchFamily="18" charset="0"/>
                                        </a:rPr>
                                      </m:ctrlPr>
                                    </m:dPr>
                                    <m:e>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e>
                                  </m:d>
                                </m:den>
                              </m:f>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r>
                                    <a:rPr lang="en-US" altLang="zh-CN" b="1" i="1">
                                      <a:solidFill>
                                        <a:schemeClr val="tx1"/>
                                      </a:solidFill>
                                      <a:latin typeface="Cambria Math" panose="02040503050406030204" pitchFamily="18" charset="0"/>
                                      <a:cs typeface="Cambria Math" panose="02040503050406030204" pitchFamily="18" charset="0"/>
                                    </a:rPr>
                                    <m:t>𝒙</m:t>
                                  </m:r>
                                </m:e>
                              </m:nary>
                              <m:r>
                                <a:rPr lang="en-US" altLang="zh-CN" i="1">
                                  <a:solidFill>
                                    <a:schemeClr val="tx1"/>
                                  </a:solidFill>
                                  <a:latin typeface="Cambria Math" panose="02040503050406030204" pitchFamily="18" charset="0"/>
                                  <a:cs typeface="Cambria Math" panose="02040503050406030204" pitchFamily="18" charset="0"/>
                                </a:rPr>
                                <m:t>                                </m:t>
                              </m:r>
                            </m:e>
                            <m:e>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𝝈</m:t>
                                  </m:r>
                                </m:e>
                                <m:sub>
                                  <m:r>
                                    <a:rPr lang="en-US" altLang="zh-CN" b="1" i="1">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f>
                                <m:fPr>
                                  <m:ctrlPr>
                                    <a:rPr lang="en-US" altLang="zh-CN" i="1">
                                      <a:solidFill>
                                        <a:schemeClr val="tx1"/>
                                      </a:solidFill>
                                      <a:latin typeface="Cambria Math" panose="02040503050406030204" pitchFamily="18" charset="0"/>
                                      <a:cs typeface="Cambria Math" panose="02040503050406030204" pitchFamily="18" charset="0"/>
                                    </a:rPr>
                                  </m:ctrlPr>
                                </m:fPr>
                                <m:num>
                                  <m:r>
                                    <a:rPr lang="en-US" altLang="zh-CN" i="1">
                                      <a:solidFill>
                                        <a:schemeClr val="tx1"/>
                                      </a:solidFill>
                                      <a:latin typeface="Cambria Math" panose="02040503050406030204" pitchFamily="18" charset="0"/>
                                      <a:cs typeface="Cambria Math" panose="02040503050406030204" pitchFamily="18" charset="0"/>
                                    </a:rPr>
                                    <m:t>1</m:t>
                                  </m:r>
                                </m:num>
                                <m:den>
                                  <m:d>
                                    <m:dPr>
                                      <m:begChr m:val="|"/>
                                      <m:endChr m:val="|"/>
                                      <m:ctrlPr>
                                        <a:rPr lang="en-US" altLang="zh-CN" i="1">
                                          <a:solidFill>
                                            <a:schemeClr val="tx1"/>
                                          </a:solidFill>
                                          <a:latin typeface="Cambria Math" panose="02040503050406030204" pitchFamily="18" charset="0"/>
                                          <a:cs typeface="Cambria Math" panose="02040503050406030204" pitchFamily="18" charset="0"/>
                                        </a:rPr>
                                      </m:ctrlPr>
                                    </m:dPr>
                                    <m:e>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e>
                                  </m:d>
                                </m:den>
                              </m:f>
                              <m:nary>
                                <m:naryPr>
                                  <m:chr m:val="∑"/>
                                  <m:limLoc m:val="undOvr"/>
                                  <m:supHide m:val="on"/>
                                  <m:ctrlPr>
                                    <a:rPr lang="en-US" altLang="zh-CN" i="1">
                                      <a:solidFill>
                                        <a:schemeClr val="tx1"/>
                                      </a:solidFill>
                                      <a:latin typeface="Cambria Math" panose="02040503050406030204" pitchFamily="18" charset="0"/>
                                      <a:cs typeface="Cambria Math" panose="02040503050406030204" pitchFamily="18" charset="0"/>
                                    </a:rPr>
                                  </m:ctrlPr>
                                </m:naryPr>
                                <m:sub>
                                  <m:r>
                                    <a:rPr lang="en-US" altLang="zh-CN" i="1">
                                      <a:solidFill>
                                        <a:schemeClr val="tx1"/>
                                      </a:solidFill>
                                      <a:latin typeface="Cambria Math" panose="02040503050406030204" pitchFamily="18" charset="0"/>
                                      <a:cs typeface="Cambria Math" panose="02040503050406030204" pitchFamily="18" charset="0"/>
                                    </a:rPr>
                                    <m:t>𝑥</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𝐷</m:t>
                                      </m:r>
                                    </m:e>
                                    <m:sub>
                                      <m:r>
                                        <a:rPr lang="en-US" altLang="zh-CN" i="1">
                                          <a:solidFill>
                                            <a:schemeClr val="tx1"/>
                                          </a:solidFill>
                                          <a:latin typeface="Cambria Math" panose="02040503050406030204" pitchFamily="18" charset="0"/>
                                          <a:cs typeface="Cambria Math" panose="02040503050406030204" pitchFamily="18" charset="0"/>
                                        </a:rPr>
                                        <m:t>𝑐</m:t>
                                      </m:r>
                                    </m:sub>
                                  </m:sSub>
                                </m:sub>
                                <m:sup/>
                                <m:e>
                                  <m:r>
                                    <a:rPr lang="en-US" altLang="zh-CN" i="1">
                                      <a:solidFill>
                                        <a:schemeClr val="tx1"/>
                                      </a:solidFill>
                                      <a:latin typeface="Cambria Math" panose="02040503050406030204" pitchFamily="18" charset="0"/>
                                      <a:cs typeface="Cambria Math" panose="02040503050406030204" pitchFamily="18" charset="0"/>
                                    </a:rPr>
                                    <m:t>(</m:t>
                                  </m:r>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i="1">
                                      <a:solidFill>
                                        <a:schemeClr val="tx1"/>
                                      </a:solidFill>
                                      <a:latin typeface="Cambria Math" panose="02040503050406030204" pitchFamily="18" charset="0"/>
                                      <a:cs typeface="Cambria Math" panose="02040503050406030204" pitchFamily="18" charset="0"/>
                                    </a:rPr>
                                    <m:t>)(</m:t>
                                  </m:r>
                                  <m:sSup>
                                    <m:sSupPr>
                                      <m:ctrlPr>
                                        <a:rPr lang="en-US" altLang="zh-CN" i="1">
                                          <a:solidFill>
                                            <a:schemeClr val="tx1"/>
                                          </a:solidFill>
                                          <a:latin typeface="Cambria Math" panose="02040503050406030204" pitchFamily="18" charset="0"/>
                                          <a:cs typeface="Cambria Math" panose="02040503050406030204" pitchFamily="18" charset="0"/>
                                        </a:rPr>
                                      </m:ctrlPr>
                                    </m:sSupPr>
                                    <m:e>
                                      <m:r>
                                        <a:rPr lang="en-US" altLang="zh-CN" b="1" i="1">
                                          <a:solidFill>
                                            <a:schemeClr val="tx1"/>
                                          </a:solidFill>
                                          <a:latin typeface="Cambria Math" panose="02040503050406030204" pitchFamily="18" charset="0"/>
                                          <a:cs typeface="Cambria Math" panose="02040503050406030204" pitchFamily="18" charset="0"/>
                                        </a:rPr>
                                        <m:t>𝒙</m:t>
                                      </m:r>
                                      <m:r>
                                        <a:rPr lang="en-US" altLang="zh-CN" i="1">
                                          <a:solidFill>
                                            <a:schemeClr val="tx1"/>
                                          </a:solidFill>
                                          <a:latin typeface="Cambria Math" panose="02040503050406030204" pitchFamily="18" charset="0"/>
                                          <a:cs typeface="Cambria Math" panose="02040503050406030204" pitchFamily="18" charset="0"/>
                                        </a:rPr>
                                        <m:t>−</m:t>
                                      </m:r>
                                      <m:sSub>
                                        <m:sSubPr>
                                          <m:ctrlPr>
                                            <a:rPr lang="en-US" altLang="zh-CN" b="1" i="1">
                                              <a:solidFill>
                                                <a:schemeClr val="tx1"/>
                                              </a:solidFill>
                                              <a:latin typeface="Cambria Math" panose="02040503050406030204" pitchFamily="18" charset="0"/>
                                              <a:cs typeface="Cambria Math" panose="02040503050406030204" pitchFamily="18" charset="0"/>
                                            </a:rPr>
                                          </m:ctrlPr>
                                        </m:sSubPr>
                                        <m:e>
                                          <m:r>
                                            <a:rPr lang="en-US" altLang="zh-CN" b="1" i="1">
                                              <a:solidFill>
                                                <a:schemeClr val="tx1"/>
                                              </a:solidFill>
                                              <a:latin typeface="Cambria Math" panose="02040503050406030204" pitchFamily="18" charset="0"/>
                                              <a:cs typeface="Cambria Math" panose="02040503050406030204" pitchFamily="18" charset="0"/>
                                            </a:rPr>
                                            <m:t>𝝁</m:t>
                                          </m:r>
                                        </m:e>
                                        <m:sub>
                                          <m:r>
                                            <a:rPr lang="en-US" altLang="zh-CN" b="1" i="1">
                                              <a:solidFill>
                                                <a:schemeClr val="tx1"/>
                                              </a:solidFill>
                                              <a:latin typeface="Cambria Math" panose="02040503050406030204" pitchFamily="18" charset="0"/>
                                              <a:cs typeface="Cambria Math" panose="02040503050406030204" pitchFamily="18" charset="0"/>
                                            </a:rPr>
                                            <m:t>𝒄</m:t>
                                          </m:r>
                                        </m:sub>
                                      </m:sSub>
                                      <m:r>
                                        <a:rPr lang="en-US" altLang="zh-CN" b="1" i="1">
                                          <a:solidFill>
                                            <a:schemeClr val="tx1"/>
                                          </a:solidFill>
                                          <a:latin typeface="Cambria Math" panose="02040503050406030204" pitchFamily="18" charset="0"/>
                                          <a:cs typeface="Cambria Math" panose="02040503050406030204" pitchFamily="18" charset="0"/>
                                        </a:rPr>
                                        <m:t>)</m:t>
                                      </m:r>
                                    </m:e>
                                    <m:sup>
                                      <m:r>
                                        <a:rPr lang="en-US" altLang="zh-CN" i="1">
                                          <a:solidFill>
                                            <a:schemeClr val="tx1"/>
                                          </a:solidFill>
                                          <a:latin typeface="Cambria Math" panose="02040503050406030204" pitchFamily="18" charset="0"/>
                                          <a:cs typeface="Cambria Math" panose="02040503050406030204" pitchFamily="18" charset="0"/>
                                        </a:rPr>
                                        <m:t>𝑇</m:t>
                                      </m:r>
                                    </m:sup>
                                  </m:sSup>
                                </m:e>
                              </m:nary>
                            </m:e>
                          </m:eqArr>
                        </m:e>
                      </m:d>
                    </m:oMath>
                  </m:oMathPara>
                </a14:m>
                <a:endParaRPr lang="en-US" altLang="zh-CN" i="1">
                  <a:solidFill>
                    <a:schemeClr val="tx1"/>
                  </a:solidFill>
                  <a:latin typeface="Cambria Math" panose="02040503050406030204" pitchFamily="18" charset="0"/>
                  <a:cs typeface="Cambria Math" panose="02040503050406030204" pitchFamily="18" charset="0"/>
                </a:endParaRPr>
              </a:p>
            </p:txBody>
          </p:sp>
        </mc:Choice>
        <mc:Fallback>
          <p:sp>
            <p:nvSpPr>
              <p:cNvPr id="10" name="文本框 9"/>
              <p:cNvSpPr txBox="1">
                <a:spLocks noRot="1" noChangeAspect="1" noMove="1" noResize="1" noEditPoints="1" noAdjustHandles="1" noChangeArrowheads="1" noChangeShapeType="1" noTextEdit="1"/>
              </p:cNvSpPr>
              <p:nvPr>
                <p:custDataLst>
                  <p:tags r:id="rId7"/>
                </p:custDataLst>
              </p:nvPr>
            </p:nvSpPr>
            <p:spPr>
              <a:xfrm>
                <a:off x="6944360" y="3185795"/>
                <a:ext cx="4495800" cy="1509395"/>
              </a:xfrm>
              <a:prstGeom prst="rect">
                <a:avLst/>
              </a:prstGeom>
              <a:blipFill rotWithShape="1">
                <a:blip r:embed="rId8"/>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6706870" cy="583565"/>
          </a:xfrm>
          <a:prstGeom prst="rect">
            <a:avLst/>
          </a:prstGeom>
          <a:noFill/>
        </p:spPr>
        <p:txBody>
          <a:bodyPr wrap="square" rtlCol="0">
            <a:spAutoFit/>
            <a:scene3d>
              <a:camera prst="orthographicFront"/>
              <a:lightRig rig="threePt" dir="t"/>
            </a:scene3d>
          </a:bodyPr>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思考题</a:t>
            </a:r>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答案</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7" name="文本框 6"/>
          <p:cNvSpPr txBox="1"/>
          <p:nvPr>
            <p:custDataLst>
              <p:tags r:id="rId1"/>
            </p:custDataLst>
          </p:nvPr>
        </p:nvSpPr>
        <p:spPr>
          <a:xfrm>
            <a:off x="301625" y="1195070"/>
            <a:ext cx="11322050" cy="368300"/>
          </a:xfrm>
          <a:prstGeom prst="rect">
            <a:avLst/>
          </a:prstGeom>
          <a:noFill/>
        </p:spPr>
        <p:txBody>
          <a:bodyPr wrap="square" rtlCol="0" anchor="t">
            <a:spAutoFit/>
          </a:bodyPr>
          <a:p>
            <a:r>
              <a:rPr lang="en-US" altLang="zh-CN" b="1">
                <a:sym typeface="+mn-ea"/>
              </a:rPr>
              <a:t>6-2 </a:t>
            </a:r>
            <a:r>
              <a:rPr lang="zh-CN">
                <a:latin typeface="Cambria Math" panose="02040503050406030204" pitchFamily="18" charset="0"/>
                <a:cs typeface="Cambria Math" panose="02040503050406030204" pitchFamily="18" charset="0"/>
                <a:sym typeface="+mn-ea"/>
              </a:rPr>
              <a:t>答案</a:t>
            </a:r>
            <a:endParaRPr lang="zh-CN">
              <a:latin typeface="Cambria Math" panose="02040503050406030204" pitchFamily="18" charset="0"/>
              <a:cs typeface="Cambria Math" panose="02040503050406030204" pitchFamily="18" charset="0"/>
              <a:sym typeface="+mn-ea"/>
            </a:endParaRPr>
          </a:p>
        </p:txBody>
      </p:sp>
      <p:pic>
        <p:nvPicPr>
          <p:cNvPr id="8" name="图片 7"/>
          <p:cNvPicPr>
            <a:picLocks noChangeAspect="1"/>
          </p:cNvPicPr>
          <p:nvPr/>
        </p:nvPicPr>
        <p:blipFill>
          <a:blip r:embed="rId2"/>
          <a:stretch>
            <a:fillRect/>
          </a:stretch>
        </p:blipFill>
        <p:spPr>
          <a:xfrm>
            <a:off x="1407795" y="1104265"/>
            <a:ext cx="5957570" cy="5659120"/>
          </a:xfrm>
          <a:prstGeom prst="rect">
            <a:avLst/>
          </a:prstGeom>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4890,&quot;width&quot;:4560}"/>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 name="KSO_WM_UNIT_PLACING_PICTURE_USER_VIEWPORT" val="{&quot;height&quot;:10065,&quot;width&quot;:10275}"/>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PP_MARK_KEY" val="ce225390-6514-4faa-84f2-e89cbf6ee03a"/>
  <p:tag name="COMMONDATA" val="eyJoZGlkIjoiNWRiN2EzOTIwNTFkMWRjYjlhM2M2MjEwMTAzOTAyMTAifQ=="/>
  <p:tag name="commondata" val="eyJoZGlkIjoiZWVhYmRhZTIyMDlkYTBlYWEwMTNhN2ZhYWRhYjdkNG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15204</Words>
  <Application>WPS 演示</Application>
  <PresentationFormat>宽屏</PresentationFormat>
  <Paragraphs>756</Paragraphs>
  <Slides>46</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46</vt:i4>
      </vt:variant>
    </vt:vector>
  </HeadingPairs>
  <TitlesOfParts>
    <vt:vector size="60" baseType="lpstr">
      <vt:lpstr>Arial</vt:lpstr>
      <vt:lpstr>宋体</vt:lpstr>
      <vt:lpstr>Wingdings</vt:lpstr>
      <vt:lpstr>Times New Roman</vt:lpstr>
      <vt:lpstr>微软雅黑 Light</vt:lpstr>
      <vt:lpstr>微软雅黑</vt:lpstr>
      <vt:lpstr>Cambria Math</vt:lpstr>
      <vt:lpstr>MS Mincho</vt:lpstr>
      <vt:lpstr>Segoe Print</vt:lpstr>
      <vt:lpstr>Arial Unicode MS</vt:lpstr>
      <vt:lpstr>Calibri</vt:lpstr>
      <vt:lpstr>黑体</vt:lpstr>
      <vt:lpstr>华文琥珀</vt:lpstr>
      <vt:lpstr>Office 主题</vt:lpstr>
      <vt:lpstr>PowerPoint 演示文稿</vt:lpstr>
      <vt:lpstr>本课程内容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王泽林</dc:creator>
  <cp:lastModifiedBy>周建光</cp:lastModifiedBy>
  <cp:revision>307</cp:revision>
  <dcterms:created xsi:type="dcterms:W3CDTF">2022-04-13T13:21:00Z</dcterms:created>
  <dcterms:modified xsi:type="dcterms:W3CDTF">2024-11-13T15:05:50Z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B462288B34EB402DA6EF70CBA2B234F3</vt:lpwstr>
  </property>
  <property fmtid="{D5CDD505-2E9C-101B-9397-08002B2CF9AE}" pid="3" name="KSOProductBuildVer">
    <vt:lpwstr>2052-12.1.0.18276</vt:lpwstr>
  </property>
  <property fmtid="{D5CDD505-2E9C-101B-9397-08002B2CF9AE}" pid="4" name="commondata">
    <vt:lpwstr>eyJoZGlkIjoiNWRiN2EzOTIwNTFkMWRjYjlhM2M2MjEwMTAzOTAyMTAifQ==</vt:lpwstr>
  </property>
</Properties>
</file>