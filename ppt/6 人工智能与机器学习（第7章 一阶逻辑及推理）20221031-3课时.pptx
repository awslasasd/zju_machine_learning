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16.svg" ContentType="image/svg+xml"/>
  <Override PartName="/ppt/media/image76.svg" ContentType="image/svg+xml"/>
  <Override PartName="/ppt/media/image7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1"/>
  </p:handoutMasterIdLst>
  <p:sldIdLst>
    <p:sldId id="1180" r:id="rId3"/>
    <p:sldId id="1187" r:id="rId5"/>
    <p:sldId id="1343" r:id="rId6"/>
    <p:sldId id="1342" r:id="rId7"/>
    <p:sldId id="1344" r:id="rId8"/>
    <p:sldId id="1260" r:id="rId9"/>
    <p:sldId id="1340" r:id="rId10"/>
    <p:sldId id="1346" r:id="rId11"/>
    <p:sldId id="1349" r:id="rId12"/>
    <p:sldId id="1618" r:id="rId13"/>
    <p:sldId id="1436" r:id="rId14"/>
    <p:sldId id="1643" r:id="rId15"/>
    <p:sldId id="1620" r:id="rId16"/>
    <p:sldId id="1623" r:id="rId17"/>
    <p:sldId id="1645" r:id="rId18"/>
    <p:sldId id="1624" r:id="rId19"/>
    <p:sldId id="1622" r:id="rId20"/>
    <p:sldId id="1689" r:id="rId21"/>
    <p:sldId id="1686" r:id="rId22"/>
    <p:sldId id="1687" r:id="rId23"/>
    <p:sldId id="1688" r:id="rId24"/>
    <p:sldId id="1690" r:id="rId25"/>
    <p:sldId id="1692" r:id="rId26"/>
    <p:sldId id="1813" r:id="rId27"/>
    <p:sldId id="1814" r:id="rId28"/>
    <p:sldId id="1817" r:id="rId29"/>
    <p:sldId id="1650" r:id="rId30"/>
    <p:sldId id="1664" r:id="rId31"/>
    <p:sldId id="1668" r:id="rId32"/>
    <p:sldId id="1626" r:id="rId33"/>
    <p:sldId id="1670" r:id="rId34"/>
    <p:sldId id="1669" r:id="rId35"/>
    <p:sldId id="1671" r:id="rId36"/>
    <p:sldId id="1672" r:id="rId37"/>
    <p:sldId id="1973" r:id="rId38"/>
    <p:sldId id="1933" r:id="rId39"/>
    <p:sldId id="1934" r:id="rId40"/>
    <p:sldId id="1949" r:id="rId41"/>
    <p:sldId id="1939" r:id="rId42"/>
    <p:sldId id="1936" r:id="rId43"/>
    <p:sldId id="1937" r:id="rId44"/>
    <p:sldId id="1938" r:id="rId45"/>
    <p:sldId id="1941" r:id="rId46"/>
    <p:sldId id="1957" r:id="rId47"/>
    <p:sldId id="1958" r:id="rId48"/>
    <p:sldId id="1943" r:id="rId49"/>
    <p:sldId id="1944" r:id="rId50"/>
    <p:sldId id="1946" r:id="rId51"/>
    <p:sldId id="1950" r:id="rId52"/>
    <p:sldId id="1960" r:id="rId53"/>
    <p:sldId id="1961" r:id="rId54"/>
    <p:sldId id="1962" r:id="rId55"/>
    <p:sldId id="1953" r:id="rId56"/>
    <p:sldId id="1955" r:id="rId57"/>
    <p:sldId id="1965" r:id="rId58"/>
    <p:sldId id="1966" r:id="rId59"/>
    <p:sldId id="1967" r:id="rId60"/>
    <p:sldId id="1968" r:id="rId61"/>
    <p:sldId id="1970" r:id="rId62"/>
    <p:sldId id="1971" r:id="rId63"/>
    <p:sldId id="1975" r:id="rId64"/>
    <p:sldId id="1974" r:id="rId65"/>
    <p:sldId id="1657" r:id="rId66"/>
    <p:sldId id="1658" r:id="rId67"/>
    <p:sldId id="1209" r:id="rId68"/>
    <p:sldId id="1211" r:id="rId69"/>
    <p:sldId id="1532" r:id="rId70"/>
    <p:sldId id="1931" r:id="rId71"/>
    <p:sldId id="1977" r:id="rId72"/>
    <p:sldId id="1932" r:id="rId73"/>
    <p:sldId id="2054" r:id="rId74"/>
    <p:sldId id="2055" r:id="rId75"/>
    <p:sldId id="2030" r:id="rId76"/>
    <p:sldId id="2031" r:id="rId77"/>
    <p:sldId id="2032" r:id="rId78"/>
    <p:sldId id="1547" r:id="rId79"/>
    <p:sldId id="1565" r:id="rId80"/>
  </p:sldIdLst>
  <p:sldSz cx="9144000" cy="6858000" type="screen4x3"/>
  <p:notesSz cx="6858000" cy="9144000"/>
  <p:custDataLst>
    <p:tags r:id="rId86"/>
  </p:custDataLst>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37" userDrawn="1">
          <p15:clr>
            <a:srgbClr val="A4A3A4"/>
          </p15:clr>
        </p15:guide>
        <p15:guide id="2" pos="287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003366"/>
    <a:srgbClr val="FF00FF"/>
    <a:srgbClr val="577CCE"/>
    <a:srgbClr val="FF0066"/>
    <a:srgbClr val="0099CC"/>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30"/>
    <p:restoredTop sz="79746" autoAdjust="0"/>
  </p:normalViewPr>
  <p:slideViewPr>
    <p:cSldViewPr snapToGrid="0" showGuides="1">
      <p:cViewPr varScale="1">
        <p:scale>
          <a:sx n="75" d="100"/>
          <a:sy n="75" d="100"/>
        </p:scale>
        <p:origin x="1340" y="52"/>
      </p:cViewPr>
      <p:guideLst>
        <p:guide orient="horz" pos="2237"/>
        <p:guide pos="287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6" Type="http://schemas.openxmlformats.org/officeDocument/2006/relationships/tags" Target="tags/tag160.xml"/><Relationship Id="rId85" Type="http://schemas.openxmlformats.org/officeDocument/2006/relationships/commentAuthors" Target="commentAuthors.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handoutMaster" Target="handoutMasters/handoutMaster1.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F9C1A87-648F-4FA3-8298-F7FF69248063}" type="doc">
      <dgm:prSet loTypeId="urn:microsoft.com/office/officeart/2005/8/layout/hProcess9#1" loCatId="process" qsTypeId="urn:microsoft.com/office/officeart/2005/8/quickstyle/simple1#1" qsCatId="simple" csTypeId="urn:microsoft.com/office/officeart/2005/8/colors/accent1_2#1" csCatId="accent1" phldr="0"/>
      <dgm:spPr/>
    </dgm:pt>
    <dgm:pt modelId="{220DFBB3-6A2B-48E2-96FE-229E7135E226}">
      <dgm:prSet phldrT="[文本]" phldr="0" custT="0"/>
      <dgm:spPr/>
      <dgm:t>
        <a:bodyPr vert="horz" wrap="square"/>
        <a:lstStyle/>
        <a:p>
          <a:pPr>
            <a:lnSpc>
              <a:spcPct val="100000"/>
            </a:lnSpc>
            <a:spcBef>
              <a:spcPct val="0"/>
            </a:spcBef>
            <a:spcAft>
              <a:spcPct val="35000"/>
            </a:spcAft>
          </a:pPr>
          <a:r>
            <a:rPr lang="zh-CN" altLang="en-US"/>
            <a:t>亚里士多德</a:t>
          </a:r>
        </a:p>
        <a:p>
          <a:pPr>
            <a:lnSpc>
              <a:spcPct val="100000"/>
            </a:lnSpc>
            <a:spcBef>
              <a:spcPct val="0"/>
            </a:spcBef>
            <a:spcAft>
              <a:spcPct val="35000"/>
            </a:spcAft>
          </a:pPr>
          <a:r>
            <a:rPr lang="zh-CN" altLang="en-US"/>
            <a:t>《前分析篇》三段论</a:t>
          </a:r>
        </a:p>
      </dgm:t>
    </dgm:pt>
    <dgm:pt modelId="{6799A159-375E-48BE-AABD-9A2FE821DAF2}" cxnId="{6F76A5F4-7396-4574-9380-918B78D6793B}" type="parTrans">
      <dgm:prSet/>
      <dgm:spPr/>
    </dgm:pt>
    <dgm:pt modelId="{3E8FE182-047D-4DBF-B997-A26D7EF167CE}" cxnId="{6F76A5F4-7396-4574-9380-918B78D6793B}" type="sibTrans">
      <dgm:prSet/>
      <dgm:spPr/>
    </dgm:pt>
    <dgm:pt modelId="{2BAA06EE-C86F-49AF-99BB-79BA0A7024A5}">
      <dgm:prSet phldrT="[文本]" phldr="0" custT="0"/>
      <dgm:spPr/>
      <dgm:t>
        <a:bodyPr vert="horz" wrap="square"/>
        <a:lstStyle/>
        <a:p>
          <a:pPr>
            <a:lnSpc>
              <a:spcPct val="100000"/>
            </a:lnSpc>
            <a:spcBef>
              <a:spcPct val="0"/>
            </a:spcBef>
            <a:spcAft>
              <a:spcPct val="35000"/>
            </a:spcAft>
          </a:pPr>
          <a:r>
            <a:rPr lang="zh-CN" altLang="en-US"/>
            <a:t>莱布尼茨</a:t>
          </a:r>
        </a:p>
        <a:p>
          <a:pPr>
            <a:lnSpc>
              <a:spcPct val="100000"/>
            </a:lnSpc>
            <a:spcBef>
              <a:spcPct val="0"/>
            </a:spcBef>
            <a:spcAft>
              <a:spcPct val="35000"/>
            </a:spcAft>
          </a:pPr>
          <a:r>
            <a:rPr lang="zh-CN" altLang="en-US"/>
            <a:t>设想要建立一种“普遍语言”（即：形式语言）</a:t>
          </a:r>
        </a:p>
      </dgm:t>
    </dgm:pt>
    <dgm:pt modelId="{A5CFD625-30CE-461F-8B81-D06F77FA42EF}" cxnId="{A7AEAA2D-F099-4CCD-869B-46616A758505}" type="parTrans">
      <dgm:prSet/>
      <dgm:spPr/>
    </dgm:pt>
    <dgm:pt modelId="{C409FDE6-5B12-4918-B71D-6D01D512B111}" cxnId="{A7AEAA2D-F099-4CCD-869B-46616A758505}" type="sibTrans">
      <dgm:prSet/>
      <dgm:spPr/>
    </dgm:pt>
    <dgm:pt modelId="{F3610FD5-CB40-4155-A302-E1ED46CA7965}">
      <dgm:prSet phldrT="[文本]" phldr="0" custT="0"/>
      <dgm:spPr/>
      <dgm:t>
        <a:bodyPr vert="horz" wrap="square"/>
        <a:lstStyle/>
        <a:p>
          <a:pPr>
            <a:lnSpc>
              <a:spcPct val="100000"/>
            </a:lnSpc>
            <a:spcBef>
              <a:spcPct val="0"/>
            </a:spcBef>
            <a:spcAft>
              <a:spcPct val="35000"/>
            </a:spcAft>
          </a:pPr>
          <a:r>
            <a:rPr lang="zh-CN" altLang="en-US"/>
            <a:t>弗雷格</a:t>
          </a:r>
        </a:p>
        <a:p>
          <a:pPr>
            <a:lnSpc>
              <a:spcPct val="100000"/>
            </a:lnSpc>
            <a:spcBef>
              <a:spcPct val="0"/>
            </a:spcBef>
            <a:spcAft>
              <a:spcPct val="35000"/>
            </a:spcAft>
          </a:pPr>
          <a:r>
            <a:rPr lang="en-US" altLang="zh-CN"/>
            <a:t>1879</a:t>
          </a:r>
          <a:r>
            <a:rPr lang="zh-CN" altLang="en-US"/>
            <a:t>《概念文字——一种模仿算术语言构造的纯思维的形式语言》</a:t>
          </a:r>
        </a:p>
      </dgm:t>
    </dgm:pt>
    <dgm:pt modelId="{5412155B-9E11-4BF1-82F9-EADF6AFF0F60}" cxnId="{DB3F3453-1BB1-4DFB-94D9-38C66B245348}" type="parTrans">
      <dgm:prSet/>
      <dgm:spPr/>
    </dgm:pt>
    <dgm:pt modelId="{0E659347-3E53-4D9E-9630-9B59FF0356FD}" cxnId="{DB3F3453-1BB1-4DFB-94D9-38C66B245348}" type="sibTrans">
      <dgm:prSet/>
      <dgm:spPr/>
    </dgm:pt>
    <dgm:pt modelId="{F23344A7-7506-4DCB-902B-679B322C0B61}">
      <dgm:prSet phldr="0" custT="0"/>
      <dgm:spPr/>
      <dgm:t>
        <a:bodyPr vert="horz" wrap="square"/>
        <a:lstStyle/>
        <a:p>
          <a:pPr>
            <a:lnSpc>
              <a:spcPct val="100000"/>
            </a:lnSpc>
            <a:spcBef>
              <a:spcPct val="0"/>
            </a:spcBef>
            <a:spcAft>
              <a:spcPct val="35000"/>
            </a:spcAft>
          </a:pPr>
          <a:r>
            <a:rPr altLang="en-US"/>
            <a:t>罗素和怀特海</a:t>
          </a:r>
        </a:p>
        <a:p>
          <a:pPr>
            <a:lnSpc>
              <a:spcPct val="100000"/>
            </a:lnSpc>
            <a:spcBef>
              <a:spcPct val="0"/>
            </a:spcBef>
            <a:spcAft>
              <a:spcPct val="35000"/>
            </a:spcAft>
          </a:pPr>
          <a:r>
            <a:rPr altLang="en-US">
              <a:sym typeface="+mn-ea"/>
            </a:rPr>
            <a:t>1910-1913年，</a:t>
          </a:r>
          <a:r>
            <a:rPr altLang="en-US"/>
            <a:t>《数学原理》发展和完善了弗雷格的形式语言和形式推理系统</a:t>
          </a:r>
        </a:p>
      </dgm:t>
    </dgm:pt>
    <dgm:pt modelId="{BD3DCD00-65A1-4E00-857E-6396402EA4DE}" cxnId="{91E27115-6B0D-443C-8D58-B266C09AEA08}" type="parTrans">
      <dgm:prSet/>
      <dgm:spPr/>
    </dgm:pt>
    <dgm:pt modelId="{10E1F009-A685-4218-BEE8-381342B02881}" cxnId="{91E27115-6B0D-443C-8D58-B266C09AEA08}" type="sibTrans">
      <dgm:prSet/>
      <dgm:spPr/>
    </dgm:pt>
    <dgm:pt modelId="{FF5EBCE2-33A1-4410-8CCE-241621ACBF4A}" type="pres">
      <dgm:prSet presAssocID="{0F9C1A87-648F-4FA3-8298-F7FF69248063}" presName="CompostProcess" presStyleCnt="0">
        <dgm:presLayoutVars>
          <dgm:dir/>
          <dgm:resizeHandles val="exact"/>
        </dgm:presLayoutVars>
      </dgm:prSet>
      <dgm:spPr/>
    </dgm:pt>
    <dgm:pt modelId="{5C766BF9-8E89-4CF9-B19C-78006AB9D0FF}" type="pres">
      <dgm:prSet presAssocID="{0F9C1A87-648F-4FA3-8298-F7FF69248063}" presName="arrow" presStyleLbl="bgShp" presStyleIdx="0" presStyleCnt="1"/>
      <dgm:spPr/>
    </dgm:pt>
    <dgm:pt modelId="{44C3D485-6283-4E5E-8A42-8B1B6385595E}" type="pres">
      <dgm:prSet presAssocID="{0F9C1A87-648F-4FA3-8298-F7FF69248063}" presName="linearProcess" presStyleCnt="0"/>
      <dgm:spPr/>
    </dgm:pt>
    <dgm:pt modelId="{88977C2E-9DA8-43F7-869A-FA4A7946B9D0}" type="pres">
      <dgm:prSet presAssocID="{220DFBB3-6A2B-48E2-96FE-229E7135E226}" presName="textNode" presStyleLbl="node1" presStyleIdx="0" presStyleCnt="4">
        <dgm:presLayoutVars>
          <dgm:bulletEnabled val="1"/>
        </dgm:presLayoutVars>
      </dgm:prSet>
      <dgm:spPr/>
    </dgm:pt>
    <dgm:pt modelId="{409696F9-775D-4DF9-8C31-B566981A86A8}" type="pres">
      <dgm:prSet presAssocID="{3E8FE182-047D-4DBF-B997-A26D7EF167CE}" presName="sibTrans" presStyleCnt="0"/>
      <dgm:spPr/>
    </dgm:pt>
    <dgm:pt modelId="{B0141BFD-552C-43F6-9DD9-B107954BE5A0}" type="pres">
      <dgm:prSet presAssocID="{2BAA06EE-C86F-49AF-99BB-79BA0A7024A5}" presName="textNode" presStyleLbl="node1" presStyleIdx="1" presStyleCnt="4">
        <dgm:presLayoutVars>
          <dgm:bulletEnabled val="1"/>
        </dgm:presLayoutVars>
      </dgm:prSet>
      <dgm:spPr/>
    </dgm:pt>
    <dgm:pt modelId="{1B3EEB7B-99F3-4351-A080-D5700D4E3F26}" type="pres">
      <dgm:prSet presAssocID="{C409FDE6-5B12-4918-B71D-6D01D512B111}" presName="sibTrans" presStyleCnt="0"/>
      <dgm:spPr/>
    </dgm:pt>
    <dgm:pt modelId="{42404743-5237-4B72-A3D1-12E21DAAED91}" type="pres">
      <dgm:prSet presAssocID="{F3610FD5-CB40-4155-A302-E1ED46CA7965}" presName="textNode" presStyleLbl="node1" presStyleIdx="2" presStyleCnt="4">
        <dgm:presLayoutVars>
          <dgm:bulletEnabled val="1"/>
        </dgm:presLayoutVars>
      </dgm:prSet>
      <dgm:spPr/>
    </dgm:pt>
    <dgm:pt modelId="{61DCDECC-B78C-4CA5-B973-DD986478656E}" type="pres">
      <dgm:prSet presAssocID="{0E659347-3E53-4D9E-9630-9B59FF0356FD}" presName="sibTrans" presStyleCnt="0"/>
      <dgm:spPr/>
    </dgm:pt>
    <dgm:pt modelId="{B7AC63C9-6EAD-4517-A9D5-FF7985F0BC4C}" type="pres">
      <dgm:prSet presAssocID="{F23344A7-7506-4DCB-902B-679B322C0B61}" presName="textNode" presStyleLbl="node1" presStyleIdx="3" presStyleCnt="4">
        <dgm:presLayoutVars>
          <dgm:bulletEnabled val="1"/>
        </dgm:presLayoutVars>
      </dgm:prSet>
      <dgm:spPr/>
    </dgm:pt>
  </dgm:ptLst>
  <dgm:cxnLst>
    <dgm:cxn modelId="{91E27115-6B0D-443C-8D58-B266C09AEA08}" srcId="{0F9C1A87-648F-4FA3-8298-F7FF69248063}" destId="{F23344A7-7506-4DCB-902B-679B322C0B61}" srcOrd="3" destOrd="0" parTransId="{BD3DCD00-65A1-4E00-857E-6396402EA4DE}" sibTransId="{10E1F009-A685-4218-BEE8-381342B02881}"/>
    <dgm:cxn modelId="{A7AEAA2D-F099-4CCD-869B-46616A758505}" srcId="{0F9C1A87-648F-4FA3-8298-F7FF69248063}" destId="{2BAA06EE-C86F-49AF-99BB-79BA0A7024A5}" srcOrd="1" destOrd="0" parTransId="{A5CFD625-30CE-461F-8B81-D06F77FA42EF}" sibTransId="{C409FDE6-5B12-4918-B71D-6D01D512B111}"/>
    <dgm:cxn modelId="{6CC28C35-4F87-4BEF-9D00-91D7EEE43923}" type="presOf" srcId="{F3610FD5-CB40-4155-A302-E1ED46CA7965}" destId="{42404743-5237-4B72-A3D1-12E21DAAED91}" srcOrd="0" destOrd="0" presId="urn:microsoft.com/office/officeart/2005/8/layout/hProcess9#1"/>
    <dgm:cxn modelId="{7D6A593D-9495-46DB-9DBE-09A951669FE7}" type="presOf" srcId="{0F9C1A87-648F-4FA3-8298-F7FF69248063}" destId="{FF5EBCE2-33A1-4410-8CCE-241621ACBF4A}" srcOrd="0" destOrd="0" presId="urn:microsoft.com/office/officeart/2005/8/layout/hProcess9#1"/>
    <dgm:cxn modelId="{DB3F3453-1BB1-4DFB-94D9-38C66B245348}" srcId="{0F9C1A87-648F-4FA3-8298-F7FF69248063}" destId="{F3610FD5-CB40-4155-A302-E1ED46CA7965}" srcOrd="2" destOrd="0" parTransId="{5412155B-9E11-4BF1-82F9-EADF6AFF0F60}" sibTransId="{0E659347-3E53-4D9E-9630-9B59FF0356FD}"/>
    <dgm:cxn modelId="{2337C75A-B13A-4153-9170-8AE0111E6C19}" type="presOf" srcId="{F23344A7-7506-4DCB-902B-679B322C0B61}" destId="{B7AC63C9-6EAD-4517-A9D5-FF7985F0BC4C}" srcOrd="0" destOrd="0" presId="urn:microsoft.com/office/officeart/2005/8/layout/hProcess9#1"/>
    <dgm:cxn modelId="{0CA61D83-F5A8-4693-B14F-2DCE08A850D7}" type="presOf" srcId="{220DFBB3-6A2B-48E2-96FE-229E7135E226}" destId="{88977C2E-9DA8-43F7-869A-FA4A7946B9D0}" srcOrd="0" destOrd="0" presId="urn:microsoft.com/office/officeart/2005/8/layout/hProcess9#1"/>
    <dgm:cxn modelId="{8E6720A1-4670-45F8-A3AE-C60A768897CE}" type="presOf" srcId="{2BAA06EE-C86F-49AF-99BB-79BA0A7024A5}" destId="{B0141BFD-552C-43F6-9DD9-B107954BE5A0}" srcOrd="0" destOrd="0" presId="urn:microsoft.com/office/officeart/2005/8/layout/hProcess9#1"/>
    <dgm:cxn modelId="{6F76A5F4-7396-4574-9380-918B78D6793B}" srcId="{0F9C1A87-648F-4FA3-8298-F7FF69248063}" destId="{220DFBB3-6A2B-48E2-96FE-229E7135E226}" srcOrd="0" destOrd="0" parTransId="{6799A159-375E-48BE-AABD-9A2FE821DAF2}" sibTransId="{3E8FE182-047D-4DBF-B997-A26D7EF167CE}"/>
    <dgm:cxn modelId="{4A61354E-378A-41E8-B587-C6DFFE2B7D34}" type="presParOf" srcId="{FF5EBCE2-33A1-4410-8CCE-241621ACBF4A}" destId="{5C766BF9-8E89-4CF9-B19C-78006AB9D0FF}" srcOrd="0" destOrd="0" presId="urn:microsoft.com/office/officeart/2005/8/layout/hProcess9#1"/>
    <dgm:cxn modelId="{A5DBACF0-C5A0-40D3-8599-59E4E66C6A25}" type="presParOf" srcId="{FF5EBCE2-33A1-4410-8CCE-241621ACBF4A}" destId="{44C3D485-6283-4E5E-8A42-8B1B6385595E}" srcOrd="1" destOrd="0" presId="urn:microsoft.com/office/officeart/2005/8/layout/hProcess9#1"/>
    <dgm:cxn modelId="{E9FD3A02-8E8D-4E3B-A798-8E841D702AB9}" type="presParOf" srcId="{44C3D485-6283-4E5E-8A42-8B1B6385595E}" destId="{88977C2E-9DA8-43F7-869A-FA4A7946B9D0}" srcOrd="0" destOrd="0" presId="urn:microsoft.com/office/officeart/2005/8/layout/hProcess9#1"/>
    <dgm:cxn modelId="{CB4EF0B4-7491-491D-AA1C-78389E2DC858}" type="presParOf" srcId="{44C3D485-6283-4E5E-8A42-8B1B6385595E}" destId="{409696F9-775D-4DF9-8C31-B566981A86A8}" srcOrd="1" destOrd="0" presId="urn:microsoft.com/office/officeart/2005/8/layout/hProcess9#1"/>
    <dgm:cxn modelId="{D7AB001B-B131-4B7B-B940-E80AF32A01D6}" type="presParOf" srcId="{44C3D485-6283-4E5E-8A42-8B1B6385595E}" destId="{B0141BFD-552C-43F6-9DD9-B107954BE5A0}" srcOrd="2" destOrd="0" presId="urn:microsoft.com/office/officeart/2005/8/layout/hProcess9#1"/>
    <dgm:cxn modelId="{20E2332E-CBB1-4672-A054-1FE3065592FD}" type="presParOf" srcId="{44C3D485-6283-4E5E-8A42-8B1B6385595E}" destId="{1B3EEB7B-99F3-4351-A080-D5700D4E3F26}" srcOrd="3" destOrd="0" presId="urn:microsoft.com/office/officeart/2005/8/layout/hProcess9#1"/>
    <dgm:cxn modelId="{B6680A14-26DF-43EC-8738-19B6D60F4251}" type="presParOf" srcId="{44C3D485-6283-4E5E-8A42-8B1B6385595E}" destId="{42404743-5237-4B72-A3D1-12E21DAAED91}" srcOrd="4" destOrd="0" presId="urn:microsoft.com/office/officeart/2005/8/layout/hProcess9#1"/>
    <dgm:cxn modelId="{F1FE9F5A-E203-4E68-9EE6-AF5B66FAA7A5}" type="presParOf" srcId="{44C3D485-6283-4E5E-8A42-8B1B6385595E}" destId="{61DCDECC-B78C-4CA5-B973-DD986478656E}" srcOrd="5" destOrd="0" presId="urn:microsoft.com/office/officeart/2005/8/layout/hProcess9#1"/>
    <dgm:cxn modelId="{492F98DA-165E-4B96-91BC-9B0D1453E38F}" type="presParOf" srcId="{44C3D485-6283-4E5E-8A42-8B1B6385595E}" destId="{B7AC63C9-6EAD-4517-A9D5-FF7985F0BC4C}" srcOrd="6" destOrd="0" presId="urn:microsoft.com/office/officeart/2005/8/layout/hProcess9#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674100" cy="4359275"/>
        <a:chOff x="0" y="0"/>
        <a:chExt cx="8674100" cy="4359275"/>
      </a:xfrm>
    </dsp:grpSpPr>
    <dsp:sp modelId="{5C766BF9-8E89-4CF9-B19C-78006AB9D0FF}">
      <dsp:nvSpPr>
        <dsp:cNvPr id="3" name="右箭头 2"/>
        <dsp:cNvSpPr/>
      </dsp:nvSpPr>
      <dsp:spPr bwMode="white">
        <a:xfrm>
          <a:off x="650558" y="0"/>
          <a:ext cx="7372985" cy="4359275"/>
        </a:xfrm>
        <a:prstGeom prst="rightArrow">
          <a:avLst/>
        </a:prstGeom>
      </dsp:spPr>
      <dsp:style>
        <a:lnRef idx="0">
          <a:schemeClr val="accent1"/>
        </a:lnRef>
        <a:fillRef idx="1">
          <a:schemeClr val="accent1">
            <a:tint val="40000"/>
          </a:schemeClr>
        </a:fillRef>
        <a:effectRef idx="0">
          <a:scrgbClr r="0" g="0" b="0"/>
        </a:effectRef>
        <a:fontRef idx="minor"/>
      </dsp:style>
      <dsp:txXfrm>
        <a:off x="650558" y="0"/>
        <a:ext cx="7372985" cy="4359275"/>
      </dsp:txXfrm>
    </dsp:sp>
    <dsp:sp modelId="{88977C2E-9DA8-43F7-869A-FA4A7946B9D0}">
      <dsp:nvSpPr>
        <dsp:cNvPr id="4" name="圆角矩形 3"/>
        <dsp:cNvSpPr/>
      </dsp:nvSpPr>
      <dsp:spPr bwMode="white">
        <a:xfrm>
          <a:off x="0" y="1307783"/>
          <a:ext cx="1927578" cy="174371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53340" tIns="53340" rIns="53340" bIns="5334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t>亚里士多德</a:t>
          </a:r>
          <a:endParaRPr lang="zh-CN" altLang="en-US"/>
        </a:p>
        <a:p>
          <a:pPr lvl="0">
            <a:lnSpc>
              <a:spcPct val="100000"/>
            </a:lnSpc>
            <a:spcBef>
              <a:spcPct val="0"/>
            </a:spcBef>
            <a:spcAft>
              <a:spcPct val="35000"/>
            </a:spcAft>
          </a:pPr>
          <a:r>
            <a:rPr lang="zh-CN" altLang="en-US"/>
            <a:t>《前分析篇》三段论</a:t>
          </a:r>
        </a:p>
      </dsp:txBody>
      <dsp:txXfrm>
        <a:off x="0" y="1307783"/>
        <a:ext cx="1927578" cy="1743710"/>
      </dsp:txXfrm>
    </dsp:sp>
    <dsp:sp modelId="{B0141BFD-552C-43F6-9DD9-B107954BE5A0}">
      <dsp:nvSpPr>
        <dsp:cNvPr id="5" name="圆角矩形 4"/>
        <dsp:cNvSpPr/>
      </dsp:nvSpPr>
      <dsp:spPr bwMode="white">
        <a:xfrm>
          <a:off x="2248841" y="1307783"/>
          <a:ext cx="1927578" cy="174371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53340" tIns="53340" rIns="53340" bIns="5334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t>莱布尼茨</a:t>
          </a:r>
          <a:endParaRPr lang="zh-CN" altLang="en-US"/>
        </a:p>
        <a:p>
          <a:pPr lvl="0">
            <a:lnSpc>
              <a:spcPct val="100000"/>
            </a:lnSpc>
            <a:spcBef>
              <a:spcPct val="0"/>
            </a:spcBef>
            <a:spcAft>
              <a:spcPct val="35000"/>
            </a:spcAft>
          </a:pPr>
          <a:r>
            <a:rPr lang="zh-CN" altLang="en-US"/>
            <a:t>设想要建立一种“普遍语言”（即：形式语言）</a:t>
          </a:r>
        </a:p>
      </dsp:txBody>
      <dsp:txXfrm>
        <a:off x="2248841" y="1307783"/>
        <a:ext cx="1927578" cy="1743710"/>
      </dsp:txXfrm>
    </dsp:sp>
    <dsp:sp modelId="{42404743-5237-4B72-A3D1-12E21DAAED91}">
      <dsp:nvSpPr>
        <dsp:cNvPr id="6" name="圆角矩形 5"/>
        <dsp:cNvSpPr/>
      </dsp:nvSpPr>
      <dsp:spPr bwMode="white">
        <a:xfrm>
          <a:off x="4497681" y="1307783"/>
          <a:ext cx="1927578" cy="174371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53340" tIns="53340" rIns="53340" bIns="5334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t>弗雷格</a:t>
          </a:r>
          <a:endParaRPr lang="zh-CN" altLang="en-US"/>
        </a:p>
        <a:p>
          <a:pPr lvl="0">
            <a:lnSpc>
              <a:spcPct val="100000"/>
            </a:lnSpc>
            <a:spcBef>
              <a:spcPct val="0"/>
            </a:spcBef>
            <a:spcAft>
              <a:spcPct val="35000"/>
            </a:spcAft>
          </a:pPr>
          <a:r>
            <a:rPr lang="en-US" altLang="zh-CN"/>
            <a:t>1879</a:t>
          </a:r>
          <a:r>
            <a:rPr lang="zh-CN" altLang="en-US"/>
            <a:t>《概念文字——一种模仿算术语言构造的纯思维的形式语言》</a:t>
          </a:r>
        </a:p>
      </dsp:txBody>
      <dsp:txXfrm>
        <a:off x="4497681" y="1307783"/>
        <a:ext cx="1927578" cy="1743710"/>
      </dsp:txXfrm>
    </dsp:sp>
    <dsp:sp modelId="{B7AC63C9-6EAD-4517-A9D5-FF7985F0BC4C}">
      <dsp:nvSpPr>
        <dsp:cNvPr id="7" name="圆角矩形 6"/>
        <dsp:cNvSpPr/>
      </dsp:nvSpPr>
      <dsp:spPr bwMode="white">
        <a:xfrm>
          <a:off x="6746522" y="1307783"/>
          <a:ext cx="1927578" cy="174371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53340" tIns="53340" rIns="53340" bIns="5334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altLang="en-US"/>
            <a:t>罗素和怀特海</a:t>
          </a:r>
          <a:endParaRPr altLang="en-US"/>
        </a:p>
        <a:p>
          <a:pPr lvl="0">
            <a:lnSpc>
              <a:spcPct val="100000"/>
            </a:lnSpc>
            <a:spcBef>
              <a:spcPct val="0"/>
            </a:spcBef>
            <a:spcAft>
              <a:spcPct val="35000"/>
            </a:spcAft>
          </a:pPr>
          <a:r>
            <a:rPr altLang="en-US">
              <a:sym typeface="+mn-ea"/>
            </a:rPr>
            <a:t>1910-1913年，</a:t>
          </a:r>
          <a:r>
            <a:rPr altLang="en-US"/>
            <a:t>《数学原理》发展和完善了弗雷格的形式语言和形式推理系统</a:t>
          </a:r>
        </a:p>
      </dsp:txBody>
      <dsp:txXfrm>
        <a:off x="6746522" y="1307783"/>
        <a:ext cx="1927578" cy="174371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7.png"/></Relationships>
</file>

<file path=ppt/drawings/_rels/vmlDrawing7.vml.rels><?xml version="1.0" encoding="UTF-8" standalone="yes"?>
<Relationships xmlns="http://schemas.openxmlformats.org/package/2006/relationships"><Relationship Id="rId4" Type="http://schemas.openxmlformats.org/officeDocument/2006/relationships/image" Target="../media/image65.wmf"/><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34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42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425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499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24261"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426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426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
        <p:nvSpPr>
          <p:cNvPr id="6147" name="Rectangle 2"/>
          <p:cNvSpPr>
            <a:spLocks noGrp="1" noRot="1" noChangeAspect="1" noTextEdit="1"/>
          </p:cNvSpPr>
          <p:nvPr>
            <p:ph type="sldImg"/>
          </p:nvPr>
        </p:nvSpPr>
        <p:spPr/>
      </p:sp>
      <p:sp>
        <p:nvSpPr>
          <p:cNvPr id="6148" name="Rectangle 3"/>
          <p:cNvSpPr>
            <a:spLocks noGrp="1"/>
          </p:cNvSpPr>
          <p:nvPr>
            <p:ph type="body" idx="1"/>
          </p:nvPr>
        </p:nvSpPr>
        <p:spPr/>
        <p:txBody>
          <a:bodyPr wrap="square" lIns="99048" tIns="49524" rIns="99048" bIns="49524"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p:sp>
      <p:sp>
        <p:nvSpPr>
          <p:cNvPr id="87043" name="备注占位符 2"/>
          <p:cNvSpPr>
            <a:spLocks noGrp="1"/>
          </p:cNvSpPr>
          <p:nvPr>
            <p:ph type="body" idx="1"/>
          </p:nvPr>
        </p:nvSpPr>
        <p:spPr/>
        <p:txBody>
          <a:bodyPr wrap="square" lIns="91440" tIns="45720" rIns="91440" bIns="45720" anchor="t" anchorCtr="0"/>
          <a:lstStyle/>
          <a:p>
            <a:pPr lvl="0"/>
            <a:r>
              <a:rPr lang="zh-CN" altLang="en-US" dirty="0"/>
              <a:t>在前面的一讲中，我们介绍了基于知识的智能体，它如何能够表示它运转的世界并演绎出要采取的行动，在其中，我们介绍了命题逻辑作为知识表示的语言，它足以阐述逻辑和基于知识的智能体的基本概念，但是命题逻辑的表达能力很弱，无法用简明的方式表示复杂的环境。在这一节中我们介绍一阶逻辑，它具有丰富的表达能力，可以表示大量常识知识，它还包含或形成了很多其他表示语言的基础</a:t>
            </a:r>
            <a:endParaRPr lang="zh-CN" altLang="en-US" dirty="0"/>
          </a:p>
        </p:txBody>
      </p:sp>
      <p:sp>
        <p:nvSpPr>
          <p:cNvPr id="8704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p:sp>
      <p:sp>
        <p:nvSpPr>
          <p:cNvPr id="87043"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8704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我们希望从所使用的符号那里带给我们更多 的信息，比如可以看出他们的共性。命题逻辑不能实现</a:t>
            </a:r>
            <a:endParaRPr lang="zh-CN" altLang="en-US"/>
          </a:p>
          <a:p>
            <a:endParaRPr lang="zh-CN" altLang="en-US"/>
          </a:p>
          <a:p>
            <a:r>
              <a:rPr lang="zh-CN" altLang="en-US" b="1" spc="150" dirty="0">
                <a:solidFill>
                  <a:schemeClr val="tx1">
                    <a:lumMod val="75000"/>
                    <a:lumOff val="25000"/>
                  </a:schemeClr>
                </a:solidFill>
                <a:uFillTx/>
                <a:ea typeface="隶书" panose="02010509060101010101" pitchFamily="49" charset="-122"/>
                <a:sym typeface="+mn-ea"/>
              </a:rPr>
              <a:t>命题逻辑的推证中有着很大的局限性，有些简单的论断也不能用命题逻辑进行推证。</a:t>
            </a:r>
            <a:endParaRPr lang="zh-CN" altLang="en-US" b="1" spc="150" dirty="0">
              <a:solidFill>
                <a:schemeClr val="tx1">
                  <a:lumMod val="75000"/>
                  <a:lumOff val="25000"/>
                </a:schemeClr>
              </a:solidFill>
              <a:uFillTx/>
              <a:ea typeface="隶书" panose="02010509060101010101" pitchFamily="49" charset="-122"/>
              <a:sym typeface="+mn-ea"/>
            </a:endParaRPr>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90000"/>
              </a:lnSpc>
              <a:buNone/>
            </a:pPr>
            <a:r>
              <a:rPr lang="en-US" altLang="zh-CN" b="1" dirty="0">
                <a:ea typeface="隶书" panose="02010509060101010101" pitchFamily="49" charset="-122"/>
                <a:sym typeface="+mn-ea"/>
              </a:rPr>
              <a:t> </a:t>
            </a:r>
            <a:r>
              <a:rPr lang="zh-CN" altLang="en-US" b="1" dirty="0">
                <a:ea typeface="隶书" panose="02010509060101010101" pitchFamily="49" charset="-122"/>
                <a:sym typeface="+mn-ea"/>
              </a:rPr>
              <a:t>在命题逻辑中，主要研究命题和命题演算，其基本组成单位是原子命题，并把它看作不可再分解的。</a:t>
            </a:r>
            <a:endParaRPr lang="zh-CN" altLang="en-US" b="1" dirty="0">
              <a:ea typeface="隶书" panose="02010509060101010101" pitchFamily="49" charset="-122"/>
            </a:endParaRPr>
          </a:p>
          <a:p>
            <a:pPr>
              <a:lnSpc>
                <a:spcPct val="90000"/>
              </a:lnSpc>
              <a:buNone/>
            </a:pPr>
            <a:r>
              <a:rPr lang="zh-CN" altLang="en-US" b="1" dirty="0">
                <a:ea typeface="隶书" panose="02010509060101010101" pitchFamily="49" charset="-122"/>
                <a:sym typeface="+mn-ea"/>
              </a:rPr>
              <a:t>但是原子命题，实际上还是可以作进一步分析的，特别是两个原子命题间，常常有一些共同特征，为了</a:t>
            </a:r>
            <a:r>
              <a:rPr lang="zh-CN" altLang="en-US" b="1" dirty="0">
                <a:solidFill>
                  <a:srgbClr val="FF0000"/>
                </a:solidFill>
                <a:ea typeface="隶书" panose="02010509060101010101" pitchFamily="49" charset="-122"/>
                <a:sym typeface="+mn-ea"/>
              </a:rPr>
              <a:t>刻划命题内部的逻辑结构</a:t>
            </a:r>
            <a:r>
              <a:rPr lang="zh-CN" altLang="en-US" b="1" dirty="0">
                <a:ea typeface="隶书" panose="02010509060101010101" pitchFamily="49" charset="-122"/>
                <a:sym typeface="+mn-ea"/>
              </a:rPr>
              <a:t>，就需要研究谓词逻辑。</a:t>
            </a:r>
            <a:endParaRPr lang="zh-CN" altLang="en-US" b="1" dirty="0">
              <a:ea typeface="隶书" panose="02010509060101010101" pitchFamily="49" charset="-122"/>
            </a:endParaRPr>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57346" name="Rectangle 2"/>
          <p:cNvSpPr>
            <a:spLocks noGrp="1" noRot="1" noChangeAspect="1" noTextEdit="1"/>
          </p:cNvSpPr>
          <p:nvPr>
            <p:ph type="sldImg"/>
          </p:nvPr>
        </p:nvSpPr>
        <p:spPr/>
      </p:sp>
      <p:sp>
        <p:nvSpPr>
          <p:cNvPr id="57347"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60418" name="Rectangle 2"/>
          <p:cNvSpPr>
            <a:spLocks noGrp="1" noRot="1" noChangeAspect="1" noTextEdit="1"/>
          </p:cNvSpPr>
          <p:nvPr>
            <p:ph type="sldImg"/>
          </p:nvPr>
        </p:nvSpPr>
        <p:spPr/>
      </p:sp>
      <p:sp>
        <p:nvSpPr>
          <p:cNvPr id="60419" name="Rectangle 3"/>
          <p:cNvSpPr>
            <a:spLocks noGrp="1"/>
          </p:cNvSpPr>
          <p:nvPr>
            <p:ph type="body"/>
          </p:nvPr>
        </p:nvSpPr>
        <p:spPr/>
        <p:txBody>
          <a:bodyPr wrap="square" lIns="91440" tIns="45720" rIns="91440" bIns="45720" anchor="t" anchorCtr="0"/>
          <a:lstStyle/>
          <a:p>
            <a:pPr>
              <a:buNone/>
            </a:pPr>
            <a:r>
              <a:rPr lang="zh-CN" altLang="en-US">
                <a:latin typeface="Arial" panose="020B0604020202020204" pitchFamily="34" charset="0"/>
                <a:sym typeface="+mn-ea"/>
              </a:rPr>
              <a:t> </a:t>
            </a:r>
            <a:r>
              <a:rPr lang="en-US" altLang="zh-CN">
                <a:latin typeface="Arial" panose="020B0604020202020204" pitchFamily="34" charset="0"/>
                <a:sym typeface="+mn-ea"/>
              </a:rPr>
              <a:t>x</a:t>
            </a:r>
            <a:r>
              <a:rPr lang="en-US" altLang="zh-CN" baseline="-25000">
                <a:latin typeface="Arial" panose="020B0604020202020204" pitchFamily="34" charset="0"/>
                <a:sym typeface="+mn-ea"/>
              </a:rPr>
              <a:t>1</a:t>
            </a:r>
            <a:r>
              <a:rPr lang="zh-CN" altLang="en-US">
                <a:latin typeface="Arial" panose="020B0604020202020204" pitchFamily="34" charset="0"/>
                <a:sym typeface="+mn-ea"/>
              </a:rPr>
              <a:t>， </a:t>
            </a:r>
            <a:r>
              <a:rPr lang="en-US" altLang="zh-CN">
                <a:latin typeface="Arial" panose="020B0604020202020204" pitchFamily="34" charset="0"/>
                <a:sym typeface="+mn-ea"/>
              </a:rPr>
              <a:t>x</a:t>
            </a:r>
            <a:r>
              <a:rPr lang="en-US" altLang="zh-CN" baseline="-25000">
                <a:latin typeface="Arial" panose="020B0604020202020204" pitchFamily="34" charset="0"/>
                <a:sym typeface="+mn-ea"/>
              </a:rPr>
              <a:t>2 </a:t>
            </a:r>
            <a:r>
              <a:rPr lang="zh-CN" altLang="en-US">
                <a:latin typeface="Arial" panose="020B0604020202020204" pitchFamily="34" charset="0"/>
                <a:sym typeface="+mn-ea"/>
              </a:rPr>
              <a:t>，</a:t>
            </a:r>
            <a:r>
              <a:rPr lang="en-US" altLang="zh-CN">
                <a:latin typeface="Arial" panose="020B0604020202020204" pitchFamily="34" charset="0"/>
                <a:ea typeface="Arial" panose="020B0604020202020204" pitchFamily="34" charset="0"/>
                <a:sym typeface="+mn-ea"/>
              </a:rPr>
              <a:t>…</a:t>
            </a:r>
            <a:r>
              <a:rPr lang="zh-CN" altLang="en-US">
                <a:latin typeface="Arial" panose="020B0604020202020204" pitchFamily="34" charset="0"/>
                <a:sym typeface="+mn-ea"/>
              </a:rPr>
              <a:t>，</a:t>
            </a:r>
            <a:r>
              <a:rPr lang="zh-CN" altLang="en-US" baseline="-25000">
                <a:latin typeface="Arial" panose="020B0604020202020204" pitchFamily="34" charset="0"/>
                <a:sym typeface="+mn-ea"/>
              </a:rPr>
              <a:t> </a:t>
            </a:r>
            <a:r>
              <a:rPr lang="en-US" altLang="zh-CN" err="1">
                <a:latin typeface="Arial" panose="020B0604020202020204" pitchFamily="34" charset="0"/>
                <a:sym typeface="+mn-ea"/>
              </a:rPr>
              <a:t>x</a:t>
            </a:r>
            <a:r>
              <a:rPr lang="en-US" altLang="zh-CN" baseline="-25000" err="1">
                <a:latin typeface="Arial" panose="020B0604020202020204" pitchFamily="34" charset="0"/>
                <a:sym typeface="+mn-ea"/>
              </a:rPr>
              <a:t>n</a:t>
            </a:r>
            <a:r>
              <a:rPr lang="zh-CN" altLang="en-US" dirty="0">
                <a:latin typeface="Arial" panose="020B0604020202020204" pitchFamily="34" charset="0"/>
                <a:sym typeface="+mn-ea"/>
              </a:rPr>
              <a:t>是</a:t>
            </a:r>
            <a:r>
              <a:rPr lang="zh-CN" altLang="en-US" dirty="0">
                <a:solidFill>
                  <a:schemeClr val="folHlink"/>
                </a:solidFill>
                <a:latin typeface="Arial" panose="020B0604020202020204" pitchFamily="34" charset="0"/>
                <a:sym typeface="+mn-ea"/>
              </a:rPr>
              <a:t>个体，</a:t>
            </a:r>
            <a:r>
              <a:rPr lang="zh-CN" altLang="en-US" dirty="0">
                <a:latin typeface="Arial" panose="020B0604020202020204" pitchFamily="34" charset="0"/>
                <a:sym typeface="+mn-ea"/>
              </a:rPr>
              <a:t>表示某个独立存 在的事物或者某个抽象的概念。</a:t>
            </a:r>
            <a:endParaRPr lang="zh-CN" altLang="en-US" dirty="0">
              <a:latin typeface="Arial" panose="020B0604020202020204" pitchFamily="34" charset="0"/>
            </a:endParaRPr>
          </a:p>
          <a:p>
            <a:pPr lvl="0" eaLnBrk="1" hangingPunct="1"/>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62466" name="Rectangle 2"/>
          <p:cNvSpPr>
            <a:spLocks noGrp="1" noRot="1" noChangeAspect="1" noTextEdit="1"/>
          </p:cNvSpPr>
          <p:nvPr>
            <p:ph type="sldImg"/>
          </p:nvPr>
        </p:nvSpPr>
        <p:spPr/>
      </p:sp>
      <p:sp>
        <p:nvSpPr>
          <p:cNvPr id="62467"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67586" name="Rectangle 2"/>
          <p:cNvSpPr>
            <a:spLocks noGrp="1" noRot="1" noChangeAspect="1" noTextEdit="1"/>
          </p:cNvSpPr>
          <p:nvPr>
            <p:ph type="sldImg"/>
          </p:nvPr>
        </p:nvSpPr>
        <p:spPr/>
      </p:sp>
      <p:sp>
        <p:nvSpPr>
          <p:cNvPr id="67587"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69634" name="Rectangle 2"/>
          <p:cNvSpPr>
            <a:spLocks noGrp="1" noRot="1" noChangeAspect="1" noTextEdit="1"/>
          </p:cNvSpPr>
          <p:nvPr>
            <p:ph type="sldImg"/>
          </p:nvPr>
        </p:nvSpPr>
        <p:spPr/>
      </p:sp>
      <p:sp>
        <p:nvSpPr>
          <p:cNvPr id="69635"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64514" name="Rectangle 2"/>
          <p:cNvSpPr>
            <a:spLocks noGrp="1" noRot="1" noChangeAspect="1" noTextEdit="1"/>
          </p:cNvSpPr>
          <p:nvPr>
            <p:ph type="sldImg"/>
          </p:nvPr>
        </p:nvSpPr>
        <p:spPr/>
      </p:sp>
      <p:sp>
        <p:nvSpPr>
          <p:cNvPr id="64515"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42900" indent="-34290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本讲目标：介绍谓词逻辑</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进一步解析原子命题的成分、结构</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引入</a:t>
            </a:r>
            <a:r>
              <a:rPr lang="zh-CN" altLang="en-US" dirty="0">
                <a:solidFill>
                  <a:srgbClr val="FF3300"/>
                </a:solidFill>
                <a:latin typeface="微软雅黑" panose="020B0503020204020204" charset="-122"/>
                <a:ea typeface="微软雅黑" panose="020B0503020204020204" charset="-122"/>
                <a:sym typeface="+mn-ea"/>
              </a:rPr>
              <a:t>个体词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谓词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量词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谓词公式</a:t>
            </a:r>
            <a:r>
              <a:rPr lang="zh-CN" altLang="en-US" dirty="0">
                <a:latin typeface="微软雅黑" panose="020B0503020204020204" charset="-122"/>
                <a:ea typeface="微软雅黑" panose="020B0503020204020204" charset="-122"/>
                <a:sym typeface="+mn-ea"/>
              </a:rPr>
              <a:t>等概念</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研究谓词公式间的</a:t>
            </a:r>
            <a:r>
              <a:rPr lang="zh-CN" altLang="en-US" dirty="0">
                <a:solidFill>
                  <a:srgbClr val="FF3300"/>
                </a:solidFill>
                <a:latin typeface="微软雅黑" panose="020B0503020204020204" charset="-122"/>
                <a:ea typeface="微软雅黑" panose="020B0503020204020204" charset="-122"/>
                <a:sym typeface="+mn-ea"/>
              </a:rPr>
              <a:t>等值关系</a:t>
            </a:r>
            <a:r>
              <a:rPr lang="zh-CN" altLang="en-US" dirty="0">
                <a:latin typeface="微软雅黑" panose="020B0503020204020204" charset="-122"/>
                <a:ea typeface="微软雅黑" panose="020B0503020204020204" charset="-122"/>
                <a:sym typeface="+mn-ea"/>
              </a:rPr>
              <a:t>和</a:t>
            </a:r>
            <a:r>
              <a:rPr lang="zh-CN" altLang="en-US" dirty="0">
                <a:solidFill>
                  <a:srgbClr val="FF3300"/>
                </a:solidFill>
                <a:latin typeface="微软雅黑" panose="020B0503020204020204" charset="-122"/>
                <a:ea typeface="微软雅黑" panose="020B0503020204020204" charset="-122"/>
                <a:sym typeface="+mn-ea"/>
              </a:rPr>
              <a:t>蕴含关系</a:t>
            </a:r>
            <a:r>
              <a:rPr lang="zh-CN" altLang="en-US" dirty="0">
                <a:latin typeface="微软雅黑" panose="020B0503020204020204" charset="-122"/>
                <a:ea typeface="微软雅黑" panose="020B0503020204020204" charset="-122"/>
                <a:sym typeface="+mn-ea"/>
              </a:rPr>
              <a:t>，并对命题逻辑中的推理规则进行扩充，进行谓词演绎</a:t>
            </a:r>
            <a:endParaRPr lang="zh-CN" altLang="en-US" dirty="0">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42900" indent="-34290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本讲目标：介绍谓词逻辑</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进一步解析原子命题的成分、结构</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引入</a:t>
            </a:r>
            <a:r>
              <a:rPr lang="zh-CN" altLang="en-US" dirty="0">
                <a:solidFill>
                  <a:srgbClr val="FF3300"/>
                </a:solidFill>
                <a:latin typeface="微软雅黑" panose="020B0503020204020204" charset="-122"/>
                <a:ea typeface="微软雅黑" panose="020B0503020204020204" charset="-122"/>
                <a:sym typeface="+mn-ea"/>
              </a:rPr>
              <a:t>个体词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谓词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量词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谓词公式</a:t>
            </a:r>
            <a:r>
              <a:rPr lang="zh-CN" altLang="en-US" dirty="0">
                <a:latin typeface="微软雅黑" panose="020B0503020204020204" charset="-122"/>
                <a:ea typeface="微软雅黑" panose="020B0503020204020204" charset="-122"/>
                <a:sym typeface="+mn-ea"/>
              </a:rPr>
              <a:t>等概念</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研究谓词公式间的</a:t>
            </a:r>
            <a:r>
              <a:rPr lang="zh-CN" altLang="en-US" dirty="0">
                <a:solidFill>
                  <a:srgbClr val="FF3300"/>
                </a:solidFill>
                <a:latin typeface="微软雅黑" panose="020B0503020204020204" charset="-122"/>
                <a:ea typeface="微软雅黑" panose="020B0503020204020204" charset="-122"/>
                <a:sym typeface="+mn-ea"/>
              </a:rPr>
              <a:t>等值关系</a:t>
            </a:r>
            <a:r>
              <a:rPr lang="zh-CN" altLang="en-US" dirty="0">
                <a:latin typeface="微软雅黑" panose="020B0503020204020204" charset="-122"/>
                <a:ea typeface="微软雅黑" panose="020B0503020204020204" charset="-122"/>
                <a:sym typeface="+mn-ea"/>
              </a:rPr>
              <a:t>和</a:t>
            </a:r>
            <a:r>
              <a:rPr lang="zh-CN" altLang="en-US" dirty="0">
                <a:solidFill>
                  <a:srgbClr val="FF3300"/>
                </a:solidFill>
                <a:latin typeface="微软雅黑" panose="020B0503020204020204" charset="-122"/>
                <a:ea typeface="微软雅黑" panose="020B0503020204020204" charset="-122"/>
                <a:sym typeface="+mn-ea"/>
              </a:rPr>
              <a:t>蕴含关系</a:t>
            </a:r>
            <a:r>
              <a:rPr lang="zh-CN" altLang="en-US" dirty="0">
                <a:latin typeface="微软雅黑" panose="020B0503020204020204" charset="-122"/>
                <a:ea typeface="微软雅黑" panose="020B0503020204020204" charset="-122"/>
                <a:sym typeface="+mn-ea"/>
              </a:rPr>
              <a:t>，并对命题逻辑中的推理规则进行扩充，进行谓词演绎</a:t>
            </a:r>
            <a:endParaRPr lang="zh-CN" altLang="en-US" dirty="0">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将自然语言叙述的命题翻译成谓词公式的形式。</a:t>
            </a:r>
            <a:endParaRPr lang="zh-CN" altLang="en-US"/>
          </a:p>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42900" indent="-34290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本讲目标：介绍谓词逻辑</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进一步解析原子命题的成分、结构</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引入</a:t>
            </a:r>
            <a:r>
              <a:rPr lang="zh-CN" altLang="en-US" dirty="0">
                <a:solidFill>
                  <a:srgbClr val="FF3300"/>
                </a:solidFill>
                <a:latin typeface="微软雅黑" panose="020B0503020204020204" charset="-122"/>
                <a:ea typeface="微软雅黑" panose="020B0503020204020204" charset="-122"/>
                <a:sym typeface="+mn-ea"/>
              </a:rPr>
              <a:t>个体词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谓词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量词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谓词公式</a:t>
            </a:r>
            <a:r>
              <a:rPr lang="zh-CN" altLang="en-US" dirty="0">
                <a:latin typeface="微软雅黑" panose="020B0503020204020204" charset="-122"/>
                <a:ea typeface="微软雅黑" panose="020B0503020204020204" charset="-122"/>
                <a:sym typeface="+mn-ea"/>
              </a:rPr>
              <a:t>等概念</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研究谓词公式间的</a:t>
            </a:r>
            <a:r>
              <a:rPr lang="zh-CN" altLang="en-US" dirty="0">
                <a:solidFill>
                  <a:srgbClr val="FF3300"/>
                </a:solidFill>
                <a:latin typeface="微软雅黑" panose="020B0503020204020204" charset="-122"/>
                <a:ea typeface="微软雅黑" panose="020B0503020204020204" charset="-122"/>
                <a:sym typeface="+mn-ea"/>
              </a:rPr>
              <a:t>等值关系</a:t>
            </a:r>
            <a:r>
              <a:rPr lang="zh-CN" altLang="en-US" dirty="0">
                <a:latin typeface="微软雅黑" panose="020B0503020204020204" charset="-122"/>
                <a:ea typeface="微软雅黑" panose="020B0503020204020204" charset="-122"/>
                <a:sym typeface="+mn-ea"/>
              </a:rPr>
              <a:t>和</a:t>
            </a:r>
            <a:r>
              <a:rPr lang="zh-CN" altLang="en-US" dirty="0">
                <a:solidFill>
                  <a:srgbClr val="FF3300"/>
                </a:solidFill>
                <a:latin typeface="微软雅黑" panose="020B0503020204020204" charset="-122"/>
                <a:ea typeface="微软雅黑" panose="020B0503020204020204" charset="-122"/>
                <a:sym typeface="+mn-ea"/>
              </a:rPr>
              <a:t>蕴含关系</a:t>
            </a:r>
            <a:r>
              <a:rPr lang="zh-CN" altLang="en-US" dirty="0">
                <a:latin typeface="微软雅黑" panose="020B0503020204020204" charset="-122"/>
                <a:ea typeface="微软雅黑" panose="020B0503020204020204" charset="-122"/>
                <a:sym typeface="+mn-ea"/>
              </a:rPr>
              <a:t>，并对命题逻辑中的推理规则进行扩充，进行谓词演绎</a:t>
            </a:r>
            <a:endParaRPr lang="zh-CN" altLang="en-US" dirty="0">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42900" indent="-34290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本讲目标：介绍谓词逻辑</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进一步解析原子命题的成分、结构</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引入</a:t>
            </a:r>
            <a:r>
              <a:rPr lang="zh-CN" altLang="en-US" dirty="0">
                <a:solidFill>
                  <a:srgbClr val="FF3300"/>
                </a:solidFill>
                <a:latin typeface="微软雅黑" panose="020B0503020204020204" charset="-122"/>
                <a:ea typeface="微软雅黑" panose="020B0503020204020204" charset="-122"/>
                <a:sym typeface="+mn-ea"/>
              </a:rPr>
              <a:t>个体词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谓词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量词</a:t>
            </a:r>
            <a:r>
              <a:rPr lang="zh-CN" altLang="en-US" dirty="0">
                <a:latin typeface="微软雅黑" panose="020B0503020204020204" charset="-122"/>
                <a:ea typeface="微软雅黑" panose="020B0503020204020204" charset="-122"/>
                <a:sym typeface="+mn-ea"/>
              </a:rPr>
              <a:t>、</a:t>
            </a:r>
            <a:r>
              <a:rPr lang="zh-CN" altLang="en-US" dirty="0">
                <a:solidFill>
                  <a:srgbClr val="FF3300"/>
                </a:solidFill>
                <a:latin typeface="微软雅黑" panose="020B0503020204020204" charset="-122"/>
                <a:ea typeface="微软雅黑" panose="020B0503020204020204" charset="-122"/>
                <a:sym typeface="+mn-ea"/>
              </a:rPr>
              <a:t>谓词公式</a:t>
            </a:r>
            <a:r>
              <a:rPr lang="zh-CN" altLang="en-US" dirty="0">
                <a:latin typeface="微软雅黑" panose="020B0503020204020204" charset="-122"/>
                <a:ea typeface="微软雅黑" panose="020B0503020204020204" charset="-122"/>
                <a:sym typeface="+mn-ea"/>
              </a:rPr>
              <a:t>等概念</a:t>
            </a:r>
            <a:endParaRPr lang="zh-CN" altLang="en-US" dirty="0">
              <a:latin typeface="微软雅黑" panose="020B0503020204020204" charset="-122"/>
              <a:ea typeface="微软雅黑" panose="020B0503020204020204" charset="-122"/>
            </a:endParaRPr>
          </a:p>
          <a:p>
            <a:pPr marL="742950" lvl="1" indent="-285750" eaLnBrk="0" hangingPunct="0">
              <a:spcBef>
                <a:spcPct val="20000"/>
              </a:spcBef>
              <a:buSzPct val="100000"/>
              <a:buChar char="•"/>
            </a:pPr>
            <a:r>
              <a:rPr lang="zh-CN" altLang="en-US" dirty="0">
                <a:latin typeface="微软雅黑" panose="020B0503020204020204" charset="-122"/>
                <a:ea typeface="微软雅黑" panose="020B0503020204020204" charset="-122"/>
                <a:sym typeface="+mn-ea"/>
              </a:rPr>
              <a:t>研究谓词公式间的</a:t>
            </a:r>
            <a:r>
              <a:rPr lang="zh-CN" altLang="en-US" dirty="0">
                <a:solidFill>
                  <a:srgbClr val="FF3300"/>
                </a:solidFill>
                <a:latin typeface="微软雅黑" panose="020B0503020204020204" charset="-122"/>
                <a:ea typeface="微软雅黑" panose="020B0503020204020204" charset="-122"/>
                <a:sym typeface="+mn-ea"/>
              </a:rPr>
              <a:t>等值关系</a:t>
            </a:r>
            <a:r>
              <a:rPr lang="zh-CN" altLang="en-US" dirty="0">
                <a:latin typeface="微软雅黑" panose="020B0503020204020204" charset="-122"/>
                <a:ea typeface="微软雅黑" panose="020B0503020204020204" charset="-122"/>
                <a:sym typeface="+mn-ea"/>
              </a:rPr>
              <a:t>和</a:t>
            </a:r>
            <a:r>
              <a:rPr lang="zh-CN" altLang="en-US" dirty="0">
                <a:solidFill>
                  <a:srgbClr val="FF3300"/>
                </a:solidFill>
                <a:latin typeface="微软雅黑" panose="020B0503020204020204" charset="-122"/>
                <a:ea typeface="微软雅黑" panose="020B0503020204020204" charset="-122"/>
                <a:sym typeface="+mn-ea"/>
              </a:rPr>
              <a:t>蕴含关系</a:t>
            </a:r>
            <a:r>
              <a:rPr lang="zh-CN" altLang="en-US" dirty="0">
                <a:latin typeface="微软雅黑" panose="020B0503020204020204" charset="-122"/>
                <a:ea typeface="微软雅黑" panose="020B0503020204020204" charset="-122"/>
                <a:sym typeface="+mn-ea"/>
              </a:rPr>
              <a:t>，并对命题逻辑中的推理规则进行扩充，进行谓词演绎</a:t>
            </a:r>
            <a:endParaRPr lang="zh-CN" altLang="en-US" dirty="0">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609600" indent="-609600">
              <a:buClr>
                <a:schemeClr val="folHlink"/>
              </a:buClr>
              <a:buSzPct val="60000"/>
              <a:buFont typeface="Wingdings" panose="05000000000000000000" pitchFamily="2" charset="2"/>
            </a:pPr>
            <a:r>
              <a:rPr lang="zh-CN" altLang="en-US" dirty="0">
                <a:latin typeface="仿宋_GB2312" panose="02010609030101010101" pitchFamily="49" charset="-122"/>
                <a:ea typeface="仿宋_GB2312" panose="02010609030101010101" pitchFamily="49" charset="-122"/>
                <a:sym typeface="Symbol" panose="05050102010706020507" pitchFamily="18" charset="2"/>
              </a:rPr>
              <a:t>实际上，引入</a:t>
            </a:r>
            <a:r>
              <a:rPr lang="en-US" altLang="zh-CN" err="1">
                <a:latin typeface="仿宋_GB2312" panose="02010609030101010101" pitchFamily="49" charset="-122"/>
                <a:ea typeface="仿宋_GB2312" panose="02010609030101010101" pitchFamily="49" charset="-122"/>
                <a:sym typeface="Symbol" panose="05050102010706020507" pitchFamily="18" charset="2"/>
              </a:rPr>
              <a:t>Skolem</a:t>
            </a:r>
            <a:r>
              <a:rPr lang="zh-CN" altLang="en-US" dirty="0">
                <a:latin typeface="仿宋_GB2312" panose="02010609030101010101" pitchFamily="49" charset="-122"/>
                <a:ea typeface="仿宋_GB2312" panose="02010609030101010101" pitchFamily="49" charset="-122"/>
                <a:sym typeface="Symbol" panose="05050102010706020507" pitchFamily="18" charset="2"/>
              </a:rPr>
              <a:t>函数，是由于存在量词在全称量词的辖域之内，其约束变元的取值完全依赖于全称变量的取值。而</a:t>
            </a:r>
            <a:r>
              <a:rPr lang="en-US" altLang="zh-CN" err="1">
                <a:latin typeface="仿宋_GB2312" panose="02010609030101010101" pitchFamily="49" charset="-122"/>
                <a:ea typeface="仿宋_GB2312" panose="02010609030101010101" pitchFamily="49" charset="-122"/>
                <a:sym typeface="Symbol" panose="05050102010706020507" pitchFamily="18" charset="2"/>
              </a:rPr>
              <a:t>Skolem</a:t>
            </a:r>
            <a:r>
              <a:rPr lang="zh-CN" altLang="en-US" dirty="0">
                <a:latin typeface="仿宋_GB2312" panose="02010609030101010101" pitchFamily="49" charset="-122"/>
                <a:ea typeface="仿宋_GB2312" panose="02010609030101010101" pitchFamily="49" charset="-122"/>
                <a:sym typeface="Symbol" panose="05050102010706020507" pitchFamily="18" charset="2"/>
              </a:rPr>
              <a:t>函数反映了这种依赖关系。</a:t>
            </a:r>
            <a:endParaRPr lang="zh-CN" altLang="en-US" dirty="0">
              <a:solidFill>
                <a:srgbClr val="0000FF"/>
              </a:solidFill>
              <a:latin typeface="仿宋_GB2312" panose="02010609030101010101" pitchFamily="49" charset="-122"/>
              <a:ea typeface="仿宋_GB2312" panose="02010609030101010101" pitchFamily="49" charset="-122"/>
              <a:sym typeface="Symbol" panose="05050102010706020507" pitchFamily="18" charset="2"/>
            </a:endParaRPr>
          </a:p>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solidFill>
                <a:schemeClr val="lt1"/>
              </a:solidFill>
              <a:highlight>
                <a:srgbClr val="1171F1"/>
              </a:highlight>
            </a:endParaRPr>
          </a:p>
        </p:txBody>
      </p:sp>
      <p:sp>
        <p:nvSpPr>
          <p:cNvPr id="8" name="任意形状 8"/>
          <p:cNvSpPr/>
          <p:nvPr userDrawn="1">
            <p:custDataLst>
              <p:tags r:id="rId3"/>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solidFill>
                <a:schemeClr val="lt1"/>
              </a:solidFill>
              <a:highlight>
                <a:srgbClr val="1171F1"/>
              </a:highlight>
            </a:endParaRPr>
          </a:p>
        </p:txBody>
      </p:sp>
      <p:sp>
        <p:nvSpPr>
          <p:cNvPr id="9" name="任意形状 9"/>
          <p:cNvSpPr/>
          <p:nvPr userDrawn="1">
            <p:custDataLst>
              <p:tags r:id="rId4"/>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solidFill>
                <a:schemeClr val="lt1"/>
              </a:solidFill>
              <a:highlight>
                <a:srgbClr val="1171F1"/>
              </a:highlight>
            </a:endParaRPr>
          </a:p>
        </p:txBody>
      </p:sp>
      <p:sp>
        <p:nvSpPr>
          <p:cNvPr id="10" name="矩形 9"/>
          <p:cNvSpPr/>
          <p:nvPr userDrawn="1">
            <p:custDataLst>
              <p:tags r:id="rId5"/>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1" name="矩形 10"/>
          <p:cNvSpPr/>
          <p:nvPr userDrawn="1">
            <p:custDataLst>
              <p:tags r:id="rId6"/>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2" name="矩形 11"/>
          <p:cNvSpPr/>
          <p:nvPr userDrawn="1">
            <p:custDataLst>
              <p:tags r:id="rId7"/>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3" name="矩形 12"/>
          <p:cNvSpPr/>
          <p:nvPr userDrawn="1">
            <p:custDataLst>
              <p:tags r:id="rId8"/>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6" name="日期占位符 15"/>
          <p:cNvSpPr>
            <a:spLocks noGrp="1"/>
          </p:cNvSpPr>
          <p:nvPr>
            <p:ph type="dt" sz="half" idx="10"/>
            <p:custDataLst>
              <p:tags r:id="rId9"/>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1"/>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charset="-122"/>
              </a:defRPr>
            </a:lvl1pPr>
            <a:lvl2pPr>
              <a:defRPr sz="1200" baseline="0">
                <a:solidFill>
                  <a:schemeClr val="tx1">
                    <a:lumMod val="75000"/>
                    <a:lumOff val="25000"/>
                  </a:schemeClr>
                </a:solidFill>
                <a:latin typeface="Arial" panose="020B0604020202020204" pitchFamily="34" charset="0"/>
                <a:ea typeface="微软雅黑" panose="020B0503020204020204" charset="-122"/>
              </a:defRPr>
            </a:lvl2pPr>
            <a:lvl3pPr>
              <a:defRPr sz="1200" baseline="0">
                <a:solidFill>
                  <a:schemeClr val="tx1">
                    <a:lumMod val="75000"/>
                    <a:lumOff val="25000"/>
                  </a:schemeClr>
                </a:solidFill>
                <a:latin typeface="Arial" panose="020B0604020202020204" pitchFamily="34" charset="0"/>
                <a:ea typeface="微软雅黑" panose="020B0503020204020204" charset="-122"/>
              </a:defRPr>
            </a:lvl3pPr>
            <a:lvl4pPr>
              <a:defRPr sz="1200" baseline="0">
                <a:solidFill>
                  <a:schemeClr val="tx1">
                    <a:lumMod val="75000"/>
                    <a:lumOff val="25000"/>
                  </a:schemeClr>
                </a:solidFill>
                <a:latin typeface="Arial" panose="020B0604020202020204" pitchFamily="34" charset="0"/>
                <a:ea typeface="微软雅黑" panose="020B0503020204020204" charset="-122"/>
              </a:defRPr>
            </a:lvl4pPr>
            <a:lvl5pPr>
              <a:defRPr sz="12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
        <p:nvSpPr>
          <p:cNvPr id="209" name="矩形 7"/>
          <p:cNvSpPr/>
          <p:nvPr userDrawn="1">
            <p:custDataLst>
              <p:tags r:id="rId5"/>
            </p:custDataLst>
          </p:nvPr>
        </p:nvSpPr>
        <p:spPr>
          <a:xfrm>
            <a:off x="0" y="0"/>
            <a:ext cx="9144000" cy="912114"/>
          </a:xfrm>
          <a:prstGeom prst="rect">
            <a:avLst/>
          </a:prstGeom>
          <a:solidFill>
            <a:schemeClr val="accent1"/>
          </a:solidFill>
          <a:ln w="12700">
            <a:miter lim="400000"/>
          </a:ln>
        </p:spPr>
        <p:txBody>
          <a:bodyPr lIns="0" tIns="0" rIns="0" bIns="0" anchor="ctr"/>
          <a:lstStyle/>
          <a:p>
            <a:pPr algn="ctr">
              <a:defRPr>
                <a:solidFill>
                  <a:srgbClr val="FFFFFF"/>
                </a:solidFill>
              </a:defRPr>
            </a:pPr>
            <a:endParaRPr sz="1350">
              <a:solidFill>
                <a:srgbClr val="FFFFFF"/>
              </a:solidFill>
            </a:endParaRPr>
          </a:p>
        </p:txBody>
      </p:sp>
      <p:sp>
        <p:nvSpPr>
          <p:cNvPr id="256" name="文本框 6"/>
          <p:cNvSpPr txBox="1"/>
          <p:nvPr userDrawn="1">
            <p:custDataLst>
              <p:tags r:id="rId6"/>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endParaRPr lang="zh-CN" altLang="en-US" sz="2900" dirty="0">
              <a:solidFill>
                <a:schemeClr val="lt1"/>
              </a:solidFill>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8"/>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9"/>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0"/>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1"/>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12"/>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5.xml"/><Relationship Id="rId5" Type="http://schemas.openxmlformats.org/officeDocument/2006/relationships/tags" Target="../tags/tag50.xml"/><Relationship Id="rId4" Type="http://schemas.openxmlformats.org/officeDocument/2006/relationships/image" Target="../media/image1.png"/><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5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5.xml"/><Relationship Id="rId2" Type="http://schemas.openxmlformats.org/officeDocument/2006/relationships/tags" Target="../tags/tag53.xml"/><Relationship Id="rId1" Type="http://schemas.openxmlformats.org/officeDocument/2006/relationships/tags" Target="../tags/tag5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54.xml"/></Relationships>
</file>

<file path=ppt/slides/_rels/slide6.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0" Type="http://schemas.openxmlformats.org/officeDocument/2006/relationships/slideLayout" Target="../slideLayouts/slideLayout5.xml"/><Relationship Id="rId1" Type="http://schemas.openxmlformats.org/officeDocument/2006/relationships/tags" Target="../tags/tag55.xml"/></Relationships>
</file>

<file path=ppt/slides/_rels/slide7.xml.rels><?xml version="1.0" encoding="UTF-8" standalone="yes"?>
<Relationships xmlns="http://schemas.openxmlformats.org/package/2006/relationships"><Relationship Id="rId9" Type="http://schemas.openxmlformats.org/officeDocument/2006/relationships/image" Target="../media/image4.jpeg"/><Relationship Id="rId8" Type="http://schemas.openxmlformats.org/officeDocument/2006/relationships/image" Target="../media/image3.jpeg"/><Relationship Id="rId7" Type="http://schemas.openxmlformats.org/officeDocument/2006/relationships/image" Target="../media/image2.jpeg"/><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2" Type="http://schemas.openxmlformats.org/officeDocument/2006/relationships/slideLayout" Target="../slideLayouts/slideLayout5.xml"/><Relationship Id="rId11" Type="http://schemas.openxmlformats.org/officeDocument/2006/relationships/tags" Target="../tags/tag65.xml"/><Relationship Id="rId10" Type="http://schemas.openxmlformats.org/officeDocument/2006/relationships/image" Target="../media/image5.png"/><Relationship Id="rId1" Type="http://schemas.openxmlformats.org/officeDocument/2006/relationships/tags" Target="../tags/tag64.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67.xml"/><Relationship Id="rId2" Type="http://schemas.openxmlformats.org/officeDocument/2006/relationships/image" Target="../media/image6.png"/><Relationship Id="rId1" Type="http://schemas.openxmlformats.org/officeDocument/2006/relationships/tags" Target="../tags/tag66.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5.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9.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5.xml"/><Relationship Id="rId4" Type="http://schemas.openxmlformats.org/officeDocument/2006/relationships/tags" Target="../tags/tag80.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5.xml"/><Relationship Id="rId2" Type="http://schemas.openxmlformats.org/officeDocument/2006/relationships/tags" Target="../tags/tag81.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8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2.xml"/><Relationship Id="rId4" Type="http://schemas.openxmlformats.org/officeDocument/2006/relationships/image" Target="../media/image17.jpeg"/><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image" Target="../media/image14.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9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4.xml"/><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95.xml"/></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5.xml"/><Relationship Id="rId3" Type="http://schemas.openxmlformats.org/officeDocument/2006/relationships/tags" Target="../tags/tag96.xml"/><Relationship Id="rId2" Type="http://schemas.openxmlformats.org/officeDocument/2006/relationships/image" Target="../media/image19.wmf"/><Relationship Id="rId1"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02.xml"/></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ags" Target="../tags/tag104.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tags" Target="../tags/tag103.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105.xml"/><Relationship Id="rId2" Type="http://schemas.openxmlformats.org/officeDocument/2006/relationships/image" Target="../media/image25.png"/><Relationship Id="rId1" Type="http://schemas.openxmlformats.org/officeDocument/2006/relationships/image" Target="../media/image2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7.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108.xml"/><Relationship Id="rId2" Type="http://schemas.openxmlformats.org/officeDocument/2006/relationships/image" Target="../media/image27.png"/><Relationship Id="rId1"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09.xml"/><Relationship Id="rId1" Type="http://schemas.openxmlformats.org/officeDocument/2006/relationships/image" Target="../media/image28.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10.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11.xml"/><Relationship Id="rId1"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1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13.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14.xml"/><Relationship Id="rId1" Type="http://schemas.openxmlformats.org/officeDocument/2006/relationships/image" Target="../media/image31.png"/></Relationships>
</file>

<file path=ppt/slides/_rels/slide4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15.xml"/><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4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1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image" Target="../media/image3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17.xml"/></Relationships>
</file>

<file path=ppt/slides/_rels/slide50.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tags" Target="../tags/tag121.xml"/><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12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23.xml"/><Relationship Id="rId1" Type="http://schemas.openxmlformats.org/officeDocument/2006/relationships/image" Target="../media/image47.png"/></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ags" Target="../tags/tag124.xml"/><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5.xml"/><Relationship Id="rId2" Type="http://schemas.openxmlformats.org/officeDocument/2006/relationships/tags" Target="../tags/tag125.xml"/><Relationship Id="rId1" Type="http://schemas.openxmlformats.org/officeDocument/2006/relationships/image" Target="../media/image52.png"/></Relationships>
</file>

<file path=ppt/slides/_rels/slide55.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tags" Target="../tags/tag126.xml"/><Relationship Id="rId2" Type="http://schemas.openxmlformats.org/officeDocument/2006/relationships/image" Target="../media/image53.png"/><Relationship Id="rId1" Type="http://schemas.openxmlformats.org/officeDocument/2006/relationships/oleObject" Target="../embeddings/oleObject2.bin"/></Relationships>
</file>

<file path=ppt/slides/_rels/slide56.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tags" Target="../tags/tag127.xml"/><Relationship Id="rId2" Type="http://schemas.openxmlformats.org/officeDocument/2006/relationships/image" Target="../media/image54.png"/><Relationship Id="rId1" Type="http://schemas.openxmlformats.org/officeDocument/2006/relationships/oleObject" Target="../embeddings/oleObject3.bin"/></Relationships>
</file>

<file path=ppt/slides/_rels/slide57.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tags" Target="../tags/tag128.xml"/><Relationship Id="rId2" Type="http://schemas.openxmlformats.org/officeDocument/2006/relationships/image" Target="../media/image55.png"/><Relationship Id="rId1" Type="http://schemas.openxmlformats.org/officeDocument/2006/relationships/oleObject" Target="../embeddings/oleObject4.bin"/></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29.xml"/></Relationships>
</file>

<file path=ppt/slides/_rels/slide59.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tags" Target="../tags/tag130.xml"/><Relationship Id="rId2" Type="http://schemas.openxmlformats.org/officeDocument/2006/relationships/image" Target="../media/image56.png"/><Relationship Id="rId1" Type="http://schemas.openxmlformats.org/officeDocument/2006/relationships/oleObject" Target="../embeddings/oleObject5.bin"/></Relationships>
</file>

<file path=ppt/slides/_rels/slide60.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tags" Target="../tags/tag131.xml"/><Relationship Id="rId2" Type="http://schemas.openxmlformats.org/officeDocument/2006/relationships/image" Target="../media/image57.png"/><Relationship Id="rId1" Type="http://schemas.openxmlformats.org/officeDocument/2006/relationships/oleObject" Target="../embeddings/oleObject6.bin"/></Relationships>
</file>

<file path=ppt/slides/_rels/slide61.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ags" Target="../tags/tag135.xml"/><Relationship Id="rId4" Type="http://schemas.openxmlformats.org/officeDocument/2006/relationships/image" Target="../media/image58.png"/><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136.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137.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38.xml"/><Relationship Id="rId1" Type="http://schemas.openxmlformats.org/officeDocument/2006/relationships/image" Target="../media/image59.jpeg"/></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ags" Target="../tags/tag141.xml"/><Relationship Id="rId3" Type="http://schemas.openxmlformats.org/officeDocument/2006/relationships/image" Target="../media/image60.png"/><Relationship Id="rId2" Type="http://schemas.openxmlformats.org/officeDocument/2006/relationships/tags" Target="../tags/tag140.xml"/><Relationship Id="rId1" Type="http://schemas.openxmlformats.org/officeDocument/2006/relationships/tags" Target="../tags/tag139.xml"/></Relationships>
</file>

<file path=ppt/slides/_rels/slide66.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ags" Target="../tags/tag145.xml"/><Relationship Id="rId4" Type="http://schemas.openxmlformats.org/officeDocument/2006/relationships/image" Target="../media/image61.png"/><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47.xml"/><Relationship Id="rId1" Type="http://schemas.openxmlformats.org/officeDocument/2006/relationships/tags" Target="../tags/tag146.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148.xml"/></Relationships>
</file>

<file path=ppt/slides/_rels/slide69.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image" Target="../media/image65.wmf"/><Relationship Id="rId7" Type="http://schemas.openxmlformats.org/officeDocument/2006/relationships/oleObject" Target="../embeddings/oleObject10.bin"/><Relationship Id="rId6" Type="http://schemas.openxmlformats.org/officeDocument/2006/relationships/image" Target="../media/image64.wmf"/><Relationship Id="rId5" Type="http://schemas.openxmlformats.org/officeDocument/2006/relationships/oleObject" Target="../embeddings/oleObject9.bin"/><Relationship Id="rId4" Type="http://schemas.openxmlformats.org/officeDocument/2006/relationships/image" Target="../media/image63.wmf"/><Relationship Id="rId3" Type="http://schemas.openxmlformats.org/officeDocument/2006/relationships/oleObject" Target="../embeddings/oleObject8.bin"/><Relationship Id="rId2" Type="http://schemas.openxmlformats.org/officeDocument/2006/relationships/image" Target="../media/image62.wmf"/><Relationship Id="rId12" Type="http://schemas.openxmlformats.org/officeDocument/2006/relationships/notesSlide" Target="../notesSlides/notesSlide24.xml"/><Relationship Id="rId11" Type="http://schemas.openxmlformats.org/officeDocument/2006/relationships/vmlDrawing" Target="../drawings/vmlDrawing7.vml"/><Relationship Id="rId10" Type="http://schemas.openxmlformats.org/officeDocument/2006/relationships/slideLayout" Target="../slideLayouts/slideLayout2.xml"/><Relationship Id="rId1" Type="http://schemas.openxmlformats.org/officeDocument/2006/relationships/oleObject" Target="../embeddings/oleObject7.bin"/></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150.xml"/></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tags" Target="../tags/tag153.xml"/><Relationship Id="rId5" Type="http://schemas.openxmlformats.org/officeDocument/2006/relationships/image" Target="../media/image68.png"/><Relationship Id="rId4" Type="http://schemas.openxmlformats.org/officeDocument/2006/relationships/image" Target="../media/image67.png"/><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image" Target="../media/image66.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4.xml"/><Relationship Id="rId1" Type="http://schemas.openxmlformats.org/officeDocument/2006/relationships/image" Target="../media/image69.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155.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56.xml"/></Relationships>
</file>

<file path=ppt/slides/_rels/slide75.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2.xml"/><Relationship Id="rId7" Type="http://schemas.openxmlformats.org/officeDocument/2006/relationships/tags" Target="../tags/tag157.xml"/><Relationship Id="rId6" Type="http://schemas.openxmlformats.org/officeDocument/2006/relationships/image" Target="../media/image72.wmf"/><Relationship Id="rId5" Type="http://schemas.openxmlformats.org/officeDocument/2006/relationships/oleObject" Target="../embeddings/oleObject13.bin"/><Relationship Id="rId4" Type="http://schemas.openxmlformats.org/officeDocument/2006/relationships/image" Target="../media/image71.wmf"/><Relationship Id="rId3" Type="http://schemas.openxmlformats.org/officeDocument/2006/relationships/oleObject" Target="../embeddings/oleObject12.bin"/><Relationship Id="rId2" Type="http://schemas.openxmlformats.org/officeDocument/2006/relationships/image" Target="../media/image70.wmf"/><Relationship Id="rId1" Type="http://schemas.openxmlformats.org/officeDocument/2006/relationships/oleObject" Target="../embeddings/oleObject11.bin"/></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58.xml"/><Relationship Id="rId1" Type="http://schemas.openxmlformats.org/officeDocument/2006/relationships/image" Target="../media/image73.jpeg"/></Relationships>
</file>

<file path=ppt/slides/_rels/slide77.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tags" Target="../tags/tag159.xml"/><Relationship Id="rId5" Type="http://schemas.openxmlformats.org/officeDocument/2006/relationships/image" Target="../media/image78.svg"/><Relationship Id="rId4" Type="http://schemas.openxmlformats.org/officeDocument/2006/relationships/image" Target="../media/image77.png"/><Relationship Id="rId3" Type="http://schemas.openxmlformats.org/officeDocument/2006/relationships/image" Target="../media/image76.svg"/><Relationship Id="rId2" Type="http://schemas.openxmlformats.org/officeDocument/2006/relationships/image" Target="../media/image75.png"/><Relationship Id="rId1" Type="http://schemas.openxmlformats.org/officeDocument/2006/relationships/image" Target="../media/image7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1316673" y="1607503"/>
            <a:ext cx="6508909" cy="1066800"/>
          </a:xfrm>
        </p:spPr>
        <p:txBody>
          <a:bodyPr>
            <a:noAutofit/>
          </a:bodyPr>
          <a:lstStyle/>
          <a:p>
            <a:pPr marL="0" algn="ctr">
              <a:lnSpc>
                <a:spcPct val="100000"/>
              </a:lnSpc>
              <a:spcBef>
                <a:spcPts val="0"/>
              </a:spcBef>
              <a:spcAft>
                <a:spcPts val="0"/>
              </a:spcAft>
              <a:buClrTx/>
              <a:buSzTx/>
              <a:buFontTx/>
              <a:buNone/>
            </a:pPr>
            <a:r>
              <a:rPr lang="zh-CN" altLang="en-US" sz="4500" u="none" strike="noStrike" spc="0" baseline="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rPr>
              <a:t>人工智能与机器学习</a:t>
            </a:r>
            <a:endParaRPr lang="zh-CN" altLang="en-US" sz="4500" u="none" strike="noStrike" spc="0" baseline="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endParaRPr>
          </a:p>
        </p:txBody>
      </p:sp>
      <p:sp>
        <p:nvSpPr>
          <p:cNvPr id="5" name="文本占位符 4"/>
          <p:cNvSpPr>
            <a:spLocks noGrp="1"/>
          </p:cNvSpPr>
          <p:nvPr>
            <p:ph type="body" sz="quarter" idx="13"/>
            <p:custDataLst>
              <p:tags r:id="rId2"/>
            </p:custDataLst>
          </p:nvPr>
        </p:nvSpPr>
        <p:spPr>
          <a:xfrm>
            <a:off x="3219450" y="5751989"/>
            <a:ext cx="2705100" cy="419100"/>
          </a:xfrm>
        </p:spPr>
        <p:txBody>
          <a:bodyPr>
            <a:noAutofit/>
          </a:bodyPr>
          <a:lstStyle/>
          <a:p>
            <a:pPr marL="0" lvl="0" indent="0" algn="ctr">
              <a:lnSpc>
                <a:spcPct val="130000"/>
              </a:lnSpc>
              <a:spcBef>
                <a:spcPts val="0"/>
              </a:spcBef>
              <a:spcAft>
                <a:spcPts val="1000"/>
              </a:spcAft>
              <a:buSzPct val="100000"/>
              <a:buNone/>
            </a:pPr>
            <a:r>
              <a:rPr lang="zh-CN" altLang="en-US" sz="1600" b="1" dirty="0">
                <a:solidFill>
                  <a:srgbClr val="0070C0"/>
                </a:solidFill>
              </a:rPr>
              <a:t>杭州 • 浙江大学</a:t>
            </a:r>
            <a:r>
              <a:rPr lang="en-US" altLang="zh-CN" sz="1600" b="1" dirty="0">
                <a:solidFill>
                  <a:srgbClr val="0070C0"/>
                </a:solidFill>
              </a:rPr>
              <a:t> </a:t>
            </a:r>
            <a:r>
              <a:rPr lang="zh-CN" altLang="en-US" sz="1600" b="1" dirty="0">
                <a:solidFill>
                  <a:srgbClr val="0070C0"/>
                </a:solidFill>
                <a:sym typeface="+mn-ea"/>
              </a:rPr>
              <a:t>•</a:t>
            </a:r>
            <a:r>
              <a:rPr lang="en-US" altLang="zh-CN" sz="1600" b="1" dirty="0">
                <a:solidFill>
                  <a:srgbClr val="0070C0"/>
                </a:solidFill>
                <a:sym typeface="+mn-ea"/>
              </a:rPr>
              <a:t> 2022</a:t>
            </a:r>
            <a:r>
              <a:rPr lang="zh-CN" altLang="en-US" sz="1600" b="1" dirty="0">
                <a:solidFill>
                  <a:srgbClr val="0070C0"/>
                </a:solidFill>
              </a:rPr>
              <a:t> </a:t>
            </a:r>
            <a:endParaRPr lang="zh-CN" altLang="en-US" sz="1600" b="1" dirty="0">
              <a:solidFill>
                <a:srgbClr val="0070C0"/>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z="675" smtClean="0"/>
            </a:fld>
            <a:endParaRPr lang="zh-CN" altLang="en-US" sz="675" dirty="0"/>
          </a:p>
        </p:txBody>
      </p:sp>
      <p:sp>
        <p:nvSpPr>
          <p:cNvPr id="6" name="副标题 5"/>
          <p:cNvSpPr>
            <a:spLocks noGrp="1"/>
          </p:cNvSpPr>
          <p:nvPr>
            <p:ph type="subTitle" idx="1"/>
          </p:nvPr>
        </p:nvSpPr>
        <p:spPr/>
        <p:txBody>
          <a:bodyPr/>
          <a:lstStyle/>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9" name="矩形 7"/>
          <p:cNvSpPr/>
          <p:nvPr>
            <p:custDataLst>
              <p:tags r:id="rId1"/>
            </p:custDataLst>
          </p:nvPr>
        </p:nvSpPr>
        <p:spPr>
          <a:xfrm>
            <a:off x="0" y="0"/>
            <a:ext cx="9144000" cy="912114"/>
          </a:xfrm>
          <a:prstGeom prst="rect">
            <a:avLst/>
          </a:prstGeom>
          <a:solidFill>
            <a:schemeClr val="accent1"/>
          </a:solidFill>
          <a:ln w="12700">
            <a:miter lim="400000"/>
          </a:ln>
        </p:spPr>
        <p:txBody>
          <a:bodyPr lIns="0" tIns="0" rIns="0" bIns="0" anchor="ctr"/>
          <a:lstStyle/>
          <a:p>
            <a:pPr algn="ctr">
              <a:defRPr>
                <a:solidFill>
                  <a:srgbClr val="FFFFFF"/>
                </a:solidFill>
              </a:defRPr>
            </a:pPr>
            <a:endParaRPr sz="1350">
              <a:solidFill>
                <a:srgbClr val="FFFFFF"/>
              </a:solidFill>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altLang="en-US" sz="2900" dirty="0">
                <a:solidFill>
                  <a:schemeClr val="lt1"/>
                </a:solidFill>
                <a:sym typeface="+mn-ea"/>
              </a:rPr>
              <a:t>一阶逻辑</a:t>
            </a:r>
            <a:endParaRPr lang="zh-CN" altLang="en-US" sz="2900" dirty="0">
              <a:solidFill>
                <a:schemeClr val="lt1"/>
              </a:solidFill>
              <a:sym typeface="+mn-ea"/>
            </a:endParaRPr>
          </a:p>
        </p:txBody>
      </p:sp>
      <p:sp>
        <p:nvSpPr>
          <p:cNvPr id="6" name="Title 6"/>
          <p:cNvSpPr txBox="1"/>
          <p:nvPr>
            <p:custDataLst>
              <p:tags r:id="rId3"/>
            </p:custDataLst>
          </p:nvPr>
        </p:nvSpPr>
        <p:spPr>
          <a:xfrm>
            <a:off x="898525" y="993775"/>
            <a:ext cx="6346190" cy="135001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30000"/>
              </a:lnSpc>
              <a:spcBef>
                <a:spcPts val="1000"/>
              </a:spcBef>
              <a:spcAft>
                <a:spcPts val="0"/>
              </a:spcAft>
              <a:buSzPct val="100000"/>
              <a:buFont typeface="Wingdings" panose="05000000000000000000" charset="0"/>
            </a:pPr>
            <a:r>
              <a:rPr lang="en-US" altLang="zh-CN" sz="2800" b="1" spc="100" dirty="0">
                <a:ln w="3175">
                  <a:noFill/>
                  <a:prstDash val="dash"/>
                </a:ln>
                <a:solidFill>
                  <a:srgbClr val="FF0000"/>
                </a:solidFill>
                <a:latin typeface="微软雅黑" panose="020B0503020204020204" charset="-122"/>
                <a:ea typeface="微软雅黑" panose="020B0503020204020204" charset="-122"/>
                <a:cs typeface="微软雅黑" panose="020B0503020204020204" charset="-122"/>
                <a:sym typeface="+mn-ea"/>
              </a:rPr>
              <a:t>7.1  表示方法的回顾</a:t>
            </a:r>
            <a:endParaRPr lang="en-US" altLang="zh-CN" sz="2800" b="1" spc="100" dirty="0">
              <a:ln w="3175">
                <a:noFill/>
                <a:prstDash val="dash"/>
              </a:ln>
              <a:solidFill>
                <a:srgbClr val="FF0000"/>
              </a:solidFill>
              <a:latin typeface="微软雅黑" panose="020B0503020204020204" charset="-122"/>
              <a:ea typeface="微软雅黑" panose="020B0503020204020204" charset="-122"/>
              <a:cs typeface="微软雅黑" panose="020B0503020204020204" charset="-122"/>
              <a:sym typeface="+mn-ea"/>
            </a:endParaRPr>
          </a:p>
          <a:p>
            <a:pPr lvl="0" algn="l" fontAlgn="ctr">
              <a:lnSpc>
                <a:spcPct val="130000"/>
              </a:lnSpc>
              <a:spcBef>
                <a:spcPts val="1000"/>
              </a:spcBef>
              <a:spcAft>
                <a:spcPts val="0"/>
              </a:spcAft>
              <a:buSzPct val="100000"/>
              <a:buFont typeface="Wingdings" panose="05000000000000000000" charset="0"/>
            </a:pPr>
            <a:r>
              <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  一阶</a:t>
            </a:r>
            <a:r>
              <a:rPr lang="zh-CN" altLang="en-US"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逻辑</a:t>
            </a:r>
            <a:endParaRPr lang="zh-CN" altLang="en-US"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pic>
        <p:nvPicPr>
          <p:cNvPr id="100" name="图片 99"/>
          <p:cNvPicPr/>
          <p:nvPr/>
        </p:nvPicPr>
        <p:blipFill>
          <a:blip r:embed="rId4">
            <a:clrChange>
              <a:clrFrom>
                <a:srgbClr val="FFFFFF">
                  <a:alpha val="100000"/>
                </a:srgbClr>
              </a:clrFrom>
              <a:clrTo>
                <a:srgbClr val="FFFFFF">
                  <a:alpha val="100000"/>
                  <a:alpha val="0"/>
                </a:srgbClr>
              </a:clrTo>
            </a:clrChange>
          </a:blip>
          <a:stretch>
            <a:fillRect/>
          </a:stretch>
        </p:blipFill>
        <p:spPr>
          <a:xfrm>
            <a:off x="2047240" y="1628775"/>
            <a:ext cx="6534150" cy="4619625"/>
          </a:xfrm>
          <a:prstGeom prst="rect">
            <a:avLst/>
          </a:prstGeom>
          <a:noFill/>
          <a:ln w="9525">
            <a:noFill/>
          </a:ln>
        </p:spPr>
      </p:pic>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1070610"/>
            <a:ext cx="8870950" cy="5534660"/>
          </a:xfrm>
          <a:prstGeom prst="rect">
            <a:avLst/>
          </a:prstGeom>
          <a:noFill/>
        </p:spPr>
        <p:txBody>
          <a:bodyPr wrap="square" rtlCol="0" anchor="t">
            <a:noAutofit/>
          </a:bodyPr>
          <a:lstStyle/>
          <a:p>
            <a:pPr marL="285750" indent="-285750" algn="l">
              <a:lnSpc>
                <a:spcPct val="170000"/>
              </a:lnSpc>
              <a:buFont typeface="Arial" panose="020B0604020202020204" pitchFamily="34" charset="0"/>
              <a:buChar char="•"/>
            </a:pPr>
            <a:r>
              <a:rPr lang="zh-CN" altLang="en-US" sz="1800">
                <a:latin typeface="微软雅黑" panose="020B0503020204020204" charset="-122"/>
                <a:ea typeface="微软雅黑" panose="020B0503020204020204" charset="-122"/>
                <a:cs typeface="微软雅黑" panose="020B0503020204020204" charset="-122"/>
                <a:sym typeface="+mn-ea"/>
              </a:rPr>
              <a:t>一个智能程序高水平的运行需要有关的</a:t>
            </a:r>
            <a:r>
              <a:rPr lang="zh-CN" altLang="en-US" sz="1800" b="1">
                <a:solidFill>
                  <a:srgbClr val="0070C0"/>
                </a:solidFill>
                <a:latin typeface="微软雅黑" panose="020B0503020204020204" charset="-122"/>
                <a:ea typeface="微软雅黑" panose="020B0503020204020204" charset="-122"/>
                <a:cs typeface="微软雅黑" panose="020B0503020204020204" charset="-122"/>
                <a:sym typeface="+mn-ea"/>
              </a:rPr>
              <a:t>事实知识、规则知识、控制知识和元知识。</a:t>
            </a:r>
            <a:endParaRPr lang="zh-CN" altLang="en-US" sz="1800" b="1">
              <a:solidFill>
                <a:srgbClr val="0070C0"/>
              </a:solidFill>
              <a:latin typeface="微软雅黑" panose="020B0503020204020204" charset="-122"/>
              <a:ea typeface="微软雅黑" panose="020B0503020204020204" charset="-122"/>
              <a:cs typeface="微软雅黑" panose="020B0503020204020204" charset="-122"/>
            </a:endParaRPr>
          </a:p>
          <a:p>
            <a:pPr marL="742950" lvl="1" indent="-285750" algn="l">
              <a:lnSpc>
                <a:spcPct val="170000"/>
              </a:lnSpc>
              <a:buFont typeface="Arial" panose="020B0604020202020204" pitchFamily="34" charset="0"/>
              <a:buChar char="•"/>
            </a:pPr>
            <a:r>
              <a:rPr lang="zh-CN" altLang="en-US" sz="1800" b="1">
                <a:solidFill>
                  <a:srgbClr val="0070C0"/>
                </a:solidFill>
                <a:latin typeface="微软雅黑" panose="020B0503020204020204" charset="-122"/>
                <a:ea typeface="微软雅黑" panose="020B0503020204020204" charset="-122"/>
                <a:cs typeface="微软雅黑" panose="020B0503020204020204" charset="-122"/>
                <a:sym typeface="+mn-ea"/>
              </a:rPr>
              <a:t>事实：</a:t>
            </a:r>
            <a:r>
              <a:rPr lang="zh-CN" altLang="en-US" sz="1800">
                <a:latin typeface="微软雅黑" panose="020B0503020204020204" charset="-122"/>
                <a:ea typeface="微软雅黑" panose="020B0503020204020204" charset="-122"/>
                <a:cs typeface="微软雅黑" panose="020B0503020204020204" charset="-122"/>
                <a:sym typeface="+mn-ea"/>
              </a:rPr>
              <a:t>是有关问题环境的一些事物的知识，常以“…是…”的形式出现。如事物的分类、属性、事物间关系、科学事实、客观事实等，在知识库中属于低层的知识。如雪是白色的、鸟有翅膀、张三李四是好朋友。</a:t>
            </a:r>
            <a:endParaRPr lang="zh-CN" altLang="en-US" sz="1800">
              <a:latin typeface="微软雅黑" panose="020B0503020204020204" charset="-122"/>
              <a:ea typeface="微软雅黑" panose="020B0503020204020204" charset="-122"/>
              <a:cs typeface="微软雅黑" panose="020B0503020204020204" charset="-122"/>
            </a:endParaRPr>
          </a:p>
          <a:p>
            <a:pPr marL="742950" lvl="1" indent="-285750" algn="l">
              <a:lnSpc>
                <a:spcPct val="170000"/>
              </a:lnSpc>
              <a:buFont typeface="Arial" panose="020B0604020202020204" pitchFamily="34" charset="0"/>
              <a:buChar char="•"/>
            </a:pPr>
            <a:r>
              <a:rPr lang="zh-CN" altLang="en-US" sz="1800" b="1">
                <a:solidFill>
                  <a:srgbClr val="0070C0"/>
                </a:solidFill>
                <a:latin typeface="微软雅黑" panose="020B0503020204020204" charset="-122"/>
                <a:ea typeface="微软雅黑" panose="020B0503020204020204" charset="-122"/>
                <a:cs typeface="微软雅黑" panose="020B0503020204020204" charset="-122"/>
                <a:sym typeface="+mn-ea"/>
              </a:rPr>
              <a:t>规则：</a:t>
            </a:r>
            <a:r>
              <a:rPr lang="zh-CN" altLang="en-US" sz="1800">
                <a:latin typeface="微软雅黑" panose="020B0503020204020204" charset="-122"/>
                <a:ea typeface="微软雅黑" panose="020B0503020204020204" charset="-122"/>
                <a:cs typeface="微软雅黑" panose="020B0503020204020204" charset="-122"/>
                <a:sym typeface="+mn-ea"/>
              </a:rPr>
              <a:t>是有关问题中与事物的行动、动作相联系的因果关系知识，是动态的，常以“如果…那么…”形式出现。特别是启发式规则是属于专家提供的专门经验知识，这种知识虽无严格解释但很有用处。</a:t>
            </a:r>
            <a:endParaRPr lang="zh-CN" altLang="en-US" sz="1800">
              <a:latin typeface="微软雅黑" panose="020B0503020204020204" charset="-122"/>
              <a:ea typeface="微软雅黑" panose="020B0503020204020204" charset="-122"/>
              <a:cs typeface="微软雅黑" panose="020B0503020204020204" charset="-122"/>
            </a:endParaRPr>
          </a:p>
          <a:p>
            <a:pPr marL="742950" lvl="1" indent="-285750" algn="l">
              <a:lnSpc>
                <a:spcPct val="170000"/>
              </a:lnSpc>
              <a:buFont typeface="Arial" panose="020B0604020202020204" pitchFamily="34" charset="0"/>
              <a:buChar char="•"/>
            </a:pPr>
            <a:r>
              <a:rPr lang="zh-CN" altLang="en-US" sz="1800" b="1">
                <a:solidFill>
                  <a:srgbClr val="0070C0"/>
                </a:solidFill>
                <a:latin typeface="微软雅黑" panose="020B0503020204020204" charset="-122"/>
                <a:ea typeface="微软雅黑" panose="020B0503020204020204" charset="-122"/>
                <a:cs typeface="微软雅黑" panose="020B0503020204020204" charset="-122"/>
                <a:sym typeface="+mn-ea"/>
              </a:rPr>
              <a:t>控制：</a:t>
            </a:r>
            <a:r>
              <a:rPr lang="zh-CN" altLang="en-US" sz="1800">
                <a:latin typeface="微软雅黑" panose="020B0503020204020204" charset="-122"/>
                <a:ea typeface="微软雅黑" panose="020B0503020204020204" charset="-122"/>
                <a:cs typeface="微软雅黑" panose="020B0503020204020204" charset="-122"/>
                <a:sym typeface="+mn-ea"/>
              </a:rPr>
              <a:t>是有关问题的求解步骤，技巧性知识，告诉怎么做一件事。也包括当有多个动作同时被激活时应选哪一个动作来执行的知识。</a:t>
            </a:r>
            <a:endParaRPr lang="zh-CN" altLang="en-US" sz="1800">
              <a:latin typeface="微软雅黑" panose="020B0503020204020204" charset="-122"/>
              <a:ea typeface="微软雅黑" panose="020B0503020204020204" charset="-122"/>
              <a:cs typeface="微软雅黑" panose="020B0503020204020204" charset="-122"/>
            </a:endParaRPr>
          </a:p>
          <a:p>
            <a:pPr marL="742950" lvl="1" indent="-285750" algn="l">
              <a:lnSpc>
                <a:spcPct val="170000"/>
              </a:lnSpc>
              <a:buFont typeface="Arial" panose="020B0604020202020204" pitchFamily="34" charset="0"/>
              <a:buChar char="•"/>
            </a:pPr>
            <a:r>
              <a:rPr lang="zh-CN" altLang="en-US" sz="1800" b="1">
                <a:solidFill>
                  <a:srgbClr val="0070C0"/>
                </a:solidFill>
                <a:latin typeface="微软雅黑" panose="020B0503020204020204" charset="-122"/>
                <a:ea typeface="微软雅黑" panose="020B0503020204020204" charset="-122"/>
                <a:cs typeface="微软雅黑" panose="020B0503020204020204" charset="-122"/>
                <a:sym typeface="+mn-ea"/>
              </a:rPr>
              <a:t>元知识：</a:t>
            </a:r>
            <a:r>
              <a:rPr lang="zh-CN" altLang="en-US" sz="1800">
                <a:latin typeface="微软雅黑" panose="020B0503020204020204" charset="-122"/>
                <a:ea typeface="微软雅黑" panose="020B0503020204020204" charset="-122"/>
                <a:cs typeface="微软雅黑" panose="020B0503020204020204" charset="-122"/>
                <a:sym typeface="+mn-ea"/>
              </a:rPr>
              <a:t>是有关知识的知识，是知识库中的高层知识。包括怎样使用规则、解释规则、校验规则、解释程序结构等知识。</a:t>
            </a:r>
            <a:endParaRPr lang="zh-CN" altLang="en-US" sz="1800">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273050" y="341630"/>
            <a:ext cx="4572000" cy="33718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wrap="square" lIns="34289" rIns="34289" rtlCol="0" anchor="ctr" anchorCtr="0"/>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lvl="0" algn="l">
              <a:lnSpc>
                <a:spcPct val="100000"/>
              </a:lnSpc>
              <a:spcBef>
                <a:spcPts val="0"/>
              </a:spcBef>
              <a:spcAft>
                <a:spcPts val="0"/>
              </a:spcAft>
              <a:buClrTx/>
              <a:buSzTx/>
              <a:buFontTx/>
            </a:pPr>
            <a:r>
              <a:rPr lang="zh-CN" altLang="en-US" sz="2400" dirty="0">
                <a:solidFill>
                  <a:schemeClr val="lt1"/>
                </a:solidFill>
                <a:sym typeface="+mn-ea"/>
              </a:rPr>
              <a:t>人工智能系统所关心的知识</a:t>
            </a:r>
            <a:endParaRPr lang="zh-CN" altLang="en-US" sz="2400" dirty="0">
              <a:solidFill>
                <a:schemeClr val="lt1"/>
              </a:solidFill>
              <a:sym typeface="+mn-ea"/>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altLang="en-US" sz="2900" dirty="0">
                <a:solidFill>
                  <a:schemeClr val="lt1"/>
                </a:solidFill>
                <a:sym typeface="+mn-ea"/>
              </a:rPr>
              <a:t>知识表示</a:t>
            </a:r>
            <a:r>
              <a:rPr lang="zh-CN" altLang="en-US" sz="2900">
                <a:solidFill>
                  <a:schemeClr val="bg1">
                    <a:lumMod val="95000"/>
                  </a:schemeClr>
                </a:solidFill>
                <a:sym typeface="+mn-ea"/>
              </a:rPr>
              <a:t>（knowledge representation）</a:t>
            </a:r>
            <a:endParaRPr lang="zh-CN" altLang="en-US" sz="2900" dirty="0">
              <a:solidFill>
                <a:schemeClr val="lt1"/>
              </a:solidFill>
              <a:sym typeface="+mn-ea"/>
            </a:endParaRPr>
          </a:p>
        </p:txBody>
      </p:sp>
      <p:sp>
        <p:nvSpPr>
          <p:cNvPr id="2" name="文本框 1"/>
          <p:cNvSpPr txBox="1"/>
          <p:nvPr/>
        </p:nvSpPr>
        <p:spPr>
          <a:xfrm>
            <a:off x="211455" y="983615"/>
            <a:ext cx="8439150" cy="5339715"/>
          </a:xfrm>
          <a:prstGeom prst="rect">
            <a:avLst/>
          </a:prstGeom>
          <a:noFill/>
        </p:spPr>
        <p:txBody>
          <a:bodyPr wrap="square" rtlCol="0" anchor="t">
            <a:noAutofit/>
          </a:bodyPr>
          <a:lstStyle/>
          <a:p>
            <a:pPr marL="285750" indent="-285750">
              <a:lnSpc>
                <a:spcPct val="200000"/>
              </a:lnSpc>
              <a:buFont typeface="Arial" panose="020B0604020202020204" pitchFamily="34" charset="0"/>
              <a:buChar char="•"/>
            </a:pPr>
            <a:r>
              <a:rPr lang="zh-CN" altLang="en-US" sz="2000">
                <a:latin typeface="微软雅黑" panose="020B0503020204020204" charset="-122"/>
                <a:ea typeface="微软雅黑" panose="020B0503020204020204" charset="-122"/>
              </a:rPr>
              <a:t>维基百科：</a:t>
            </a:r>
            <a:r>
              <a:rPr lang="zh-CN" altLang="en-US" sz="2000" b="1" dirty="0">
                <a:solidFill>
                  <a:srgbClr val="C00000"/>
                </a:solidFill>
                <a:latin typeface="微软雅黑" panose="020B0503020204020204" charset="-122"/>
                <a:ea typeface="微软雅黑" panose="020B0503020204020204" charset="-122"/>
                <a:sym typeface="+mn-ea"/>
              </a:rPr>
              <a:t>知识表示</a:t>
            </a:r>
            <a:r>
              <a:rPr lang="zh-CN" altLang="en-US" sz="2000">
                <a:latin typeface="微软雅黑" panose="020B0503020204020204" charset="-122"/>
                <a:ea typeface="微软雅黑" panose="020B0503020204020204" charset="-122"/>
              </a:rPr>
              <a:t>是认知科学和人工智能两个领域共同存在的问题。</a:t>
            </a:r>
            <a:endParaRPr lang="zh-CN" altLang="en-US" sz="2000">
              <a:latin typeface="微软雅黑" panose="020B0503020204020204" charset="-122"/>
              <a:ea typeface="微软雅黑" panose="020B0503020204020204" charset="-122"/>
            </a:endParaRPr>
          </a:p>
          <a:p>
            <a:pPr marL="742950" lvl="1" indent="-285750">
              <a:lnSpc>
                <a:spcPct val="200000"/>
              </a:lnSpc>
              <a:buFont typeface="Arial" panose="020B0604020202020204" pitchFamily="34" charset="0"/>
              <a:buChar char="•"/>
            </a:pPr>
            <a:r>
              <a:rPr lang="zh-CN" altLang="en-US" sz="2000">
                <a:latin typeface="微软雅黑" panose="020B0503020204020204" charset="-122"/>
                <a:ea typeface="微软雅黑" panose="020B0503020204020204" charset="-122"/>
              </a:rPr>
              <a:t>在</a:t>
            </a:r>
            <a:r>
              <a:rPr lang="zh-CN" altLang="en-US" sz="2000" b="1">
                <a:solidFill>
                  <a:srgbClr val="0070C0"/>
                </a:solidFill>
                <a:latin typeface="微软雅黑" panose="020B0503020204020204" charset="-122"/>
                <a:ea typeface="微软雅黑" panose="020B0503020204020204" charset="-122"/>
              </a:rPr>
              <a:t>认知科学</a:t>
            </a:r>
            <a:r>
              <a:rPr lang="zh-CN" altLang="en-US" sz="2000">
                <a:latin typeface="微软雅黑" panose="020B0503020204020204" charset="-122"/>
                <a:ea typeface="微软雅黑" panose="020B0503020204020204" charset="-122"/>
              </a:rPr>
              <a:t>里，它关系到人类如何储存和处理资料。</a:t>
            </a:r>
            <a:endParaRPr lang="zh-CN" altLang="en-US" sz="2000">
              <a:latin typeface="微软雅黑" panose="020B0503020204020204" charset="-122"/>
              <a:ea typeface="微软雅黑" panose="020B0503020204020204" charset="-122"/>
            </a:endParaRPr>
          </a:p>
          <a:p>
            <a:pPr marL="742950" lvl="1" indent="-285750">
              <a:lnSpc>
                <a:spcPct val="200000"/>
              </a:lnSpc>
              <a:buFont typeface="Arial" panose="020B0604020202020204" pitchFamily="34" charset="0"/>
              <a:buChar char="•"/>
            </a:pPr>
            <a:r>
              <a:rPr lang="zh-CN" altLang="en-US" sz="2000">
                <a:latin typeface="微软雅黑" panose="020B0503020204020204" charset="-122"/>
                <a:ea typeface="微软雅黑" panose="020B0503020204020204" charset="-122"/>
              </a:rPr>
              <a:t>在</a:t>
            </a:r>
            <a:r>
              <a:rPr lang="zh-CN" altLang="en-US" sz="2000" b="1">
                <a:solidFill>
                  <a:srgbClr val="0070C0"/>
                </a:solidFill>
                <a:latin typeface="微软雅黑" panose="020B0503020204020204" charset="-122"/>
                <a:ea typeface="微软雅黑" panose="020B0503020204020204" charset="-122"/>
              </a:rPr>
              <a:t>人工智能</a:t>
            </a:r>
            <a:r>
              <a:rPr lang="zh-CN" altLang="en-US" sz="2000">
                <a:latin typeface="微软雅黑" panose="020B0503020204020204" charset="-122"/>
                <a:ea typeface="微软雅黑" panose="020B0503020204020204" charset="-122"/>
              </a:rPr>
              <a:t>里，其主要目标为储存知识，让程式能够处理，达到人类的智慧。</a:t>
            </a:r>
            <a:endParaRPr lang="zh-CN" altLang="en-US" sz="2000">
              <a:latin typeface="微软雅黑" panose="020B0503020204020204" charset="-122"/>
              <a:ea typeface="微软雅黑" panose="020B0503020204020204" charset="-122"/>
            </a:endParaRPr>
          </a:p>
          <a:p>
            <a:pPr marL="285750" indent="-285750">
              <a:lnSpc>
                <a:spcPct val="200000"/>
              </a:lnSpc>
              <a:buFont typeface="Arial" panose="020B0604020202020204" pitchFamily="34" charset="0"/>
              <a:buChar char="•"/>
            </a:pPr>
            <a:r>
              <a:rPr lang="zh-CN" altLang="en-US" sz="2000" b="1">
                <a:solidFill>
                  <a:srgbClr val="C00000"/>
                </a:solidFill>
                <a:latin typeface="微软雅黑" panose="020B0503020204020204" charset="-122"/>
                <a:ea typeface="微软雅黑" panose="020B0503020204020204" charset="-122"/>
              </a:rPr>
              <a:t>知识表示</a:t>
            </a:r>
            <a:r>
              <a:rPr lang="zh-CN" altLang="en-US" sz="2000">
                <a:latin typeface="微软雅黑" panose="020B0503020204020204" charset="-122"/>
                <a:ea typeface="微软雅黑" panose="020B0503020204020204" charset="-122"/>
              </a:rPr>
              <a:t>是研究用机器表示知识的可行性、有效性的一般方法，是一种数据结构与控制结构的统一体，既考虑知识的存储又考虑知识的使用。</a:t>
            </a:r>
            <a:endParaRPr lang="zh-CN" altLang="en-US" sz="2000">
              <a:latin typeface="微软雅黑" panose="020B0503020204020204" charset="-122"/>
              <a:ea typeface="微软雅黑" panose="020B0503020204020204" charset="-122"/>
            </a:endParaRPr>
          </a:p>
          <a:p>
            <a:pPr marL="285750" indent="-285750">
              <a:lnSpc>
                <a:spcPct val="200000"/>
              </a:lnSpc>
              <a:buFont typeface="Arial" panose="020B0604020202020204" pitchFamily="34" charset="0"/>
              <a:buChar char="•"/>
            </a:pPr>
            <a:r>
              <a:rPr lang="zh-CN" altLang="en-US" sz="2000" b="1">
                <a:solidFill>
                  <a:srgbClr val="C00000"/>
                </a:solidFill>
                <a:latin typeface="微软雅黑" panose="020B0503020204020204" charset="-122"/>
                <a:ea typeface="微软雅黑" panose="020B0503020204020204" charset="-122"/>
              </a:rPr>
              <a:t>知识表示</a:t>
            </a:r>
            <a:r>
              <a:rPr lang="zh-CN" altLang="en-US" sz="2000">
                <a:latin typeface="微软雅黑" panose="020B0503020204020204" charset="-122"/>
                <a:ea typeface="微软雅黑" panose="020B0503020204020204" charset="-122"/>
              </a:rPr>
              <a:t>可看成是一组描述事物的约定，以</a:t>
            </a:r>
            <a:r>
              <a:rPr lang="zh-CN" altLang="en-US" sz="2000" b="1">
                <a:solidFill>
                  <a:srgbClr val="0070C0"/>
                </a:solidFill>
                <a:latin typeface="微软雅黑" panose="020B0503020204020204" charset="-122"/>
                <a:ea typeface="微软雅黑" panose="020B0503020204020204" charset="-122"/>
              </a:rPr>
              <a:t>把人类知识表示成机器能处理的数据结构</a:t>
            </a:r>
            <a:r>
              <a:rPr lang="zh-CN" altLang="en-US" sz="2000" b="1">
                <a:latin typeface="微软雅黑" panose="020B0503020204020204" charset="-122"/>
                <a:ea typeface="微软雅黑" panose="020B0503020204020204" charset="-122"/>
              </a:rPr>
              <a:t>。</a:t>
            </a:r>
            <a:endParaRPr lang="zh-CN" altLang="en-US" sz="2000" b="1">
              <a:latin typeface="微软雅黑" panose="020B0503020204020204" charset="-122"/>
              <a:ea typeface="微软雅黑" panose="020B0503020204020204" charset="-122"/>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68300" y="285750"/>
            <a:ext cx="2540000" cy="3683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wrap="square" lIns="34289" rIns="34289" rtlCol="0" anchor="ctr" anchorCtr="0"/>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lvl="0" algn="l">
              <a:lnSpc>
                <a:spcPct val="100000"/>
              </a:lnSpc>
              <a:spcBef>
                <a:spcPts val="0"/>
              </a:spcBef>
              <a:spcAft>
                <a:spcPts val="0"/>
              </a:spcAft>
              <a:buClrTx/>
              <a:buSzTx/>
              <a:buFontTx/>
            </a:pPr>
            <a:r>
              <a:rPr lang="zh-CN" altLang="en-US" sz="2400" dirty="0">
                <a:solidFill>
                  <a:schemeClr val="lt1"/>
                </a:solidFill>
                <a:sym typeface="+mn-ea"/>
              </a:rPr>
              <a:t>知识特性</a:t>
            </a:r>
            <a:endParaRPr lang="zh-CN" altLang="en-US" sz="2400" dirty="0">
              <a:solidFill>
                <a:schemeClr val="lt1"/>
              </a:solidFill>
              <a:sym typeface="+mn-ea"/>
            </a:endParaRPr>
          </a:p>
        </p:txBody>
      </p:sp>
      <p:sp>
        <p:nvSpPr>
          <p:cNvPr id="3" name="文本框 2"/>
          <p:cNvSpPr txBox="1"/>
          <p:nvPr/>
        </p:nvSpPr>
        <p:spPr>
          <a:xfrm>
            <a:off x="1157605" y="1208405"/>
            <a:ext cx="7694930" cy="1420495"/>
          </a:xfrm>
          <a:prstGeom prst="rect">
            <a:avLst/>
          </a:prstGeom>
          <a:noFill/>
        </p:spPr>
        <p:txBody>
          <a:bodyPr wrap="square" rtlCol="0" anchor="t">
            <a:spAutoFit/>
          </a:bodyPr>
          <a:lstStyle/>
          <a:p>
            <a:pPr marL="285750" indent="-285750">
              <a:lnSpc>
                <a:spcPct val="160000"/>
              </a:lnSpc>
              <a:buFont typeface="Arial" panose="020B0604020202020204" pitchFamily="34" charset="0"/>
              <a:buChar char="•"/>
            </a:pPr>
            <a:r>
              <a:rPr lang="zh-CN" altLang="en-US" b="1">
                <a:solidFill>
                  <a:srgbClr val="0070C0"/>
                </a:solidFill>
                <a:latin typeface="微软雅黑" panose="020B0503020204020204" charset="-122"/>
                <a:ea typeface="微软雅黑" panose="020B0503020204020204" charset="-122"/>
                <a:cs typeface="微软雅黑" panose="020B0503020204020204" charset="-122"/>
              </a:rPr>
              <a:t>相对正确性。</a:t>
            </a:r>
            <a:r>
              <a:rPr lang="zh-CN" altLang="en-US">
                <a:latin typeface="微软雅黑" panose="020B0503020204020204" charset="-122"/>
                <a:ea typeface="微软雅黑" panose="020B0503020204020204" charset="-122"/>
                <a:cs typeface="微软雅黑" panose="020B0503020204020204" charset="-122"/>
              </a:rPr>
              <a:t>一定条件下/某种环境中</a:t>
            </a:r>
            <a:endParaRPr lang="zh-CN" altLang="en-US">
              <a:latin typeface="微软雅黑" panose="020B0503020204020204" charset="-122"/>
              <a:ea typeface="微软雅黑" panose="020B0503020204020204" charset="-122"/>
              <a:cs typeface="微软雅黑" panose="020B0503020204020204" charset="-122"/>
            </a:endParaRPr>
          </a:p>
          <a:p>
            <a:pPr marL="285750" indent="-285750">
              <a:lnSpc>
                <a:spcPct val="160000"/>
              </a:lnSpc>
              <a:buFont typeface="Arial" panose="020B0604020202020204" pitchFamily="34" charset="0"/>
              <a:buChar char="•"/>
            </a:pPr>
            <a:r>
              <a:rPr lang="zh-CN" altLang="en-US" b="1">
                <a:solidFill>
                  <a:srgbClr val="0070C0"/>
                </a:solidFill>
                <a:latin typeface="微软雅黑" panose="020B0503020204020204" charset="-122"/>
                <a:ea typeface="微软雅黑" panose="020B0503020204020204" charset="-122"/>
                <a:cs typeface="微软雅黑" panose="020B0503020204020204" charset="-122"/>
              </a:rPr>
              <a:t>不确定性。</a:t>
            </a:r>
            <a:r>
              <a:rPr lang="zh-CN" altLang="en-US">
                <a:latin typeface="微软雅黑" panose="020B0503020204020204" charset="-122"/>
                <a:ea typeface="微软雅黑" panose="020B0503020204020204" charset="-122"/>
                <a:cs typeface="微软雅黑" panose="020B0503020204020204" charset="-122"/>
              </a:rPr>
              <a:t>中间状态/为真程度/随机性/模糊性/经验性/不完全性</a:t>
            </a:r>
            <a:endParaRPr lang="zh-CN" altLang="en-US">
              <a:latin typeface="微软雅黑" panose="020B0503020204020204" charset="-122"/>
              <a:ea typeface="微软雅黑" panose="020B0503020204020204" charset="-122"/>
              <a:cs typeface="微软雅黑" panose="020B0503020204020204" charset="-122"/>
            </a:endParaRPr>
          </a:p>
          <a:p>
            <a:pPr marL="285750" indent="-285750">
              <a:lnSpc>
                <a:spcPct val="160000"/>
              </a:lnSpc>
              <a:buFont typeface="Arial" panose="020B0604020202020204" pitchFamily="34" charset="0"/>
              <a:buChar char="•"/>
            </a:pPr>
            <a:r>
              <a:rPr lang="zh-CN" altLang="en-US" b="1">
                <a:solidFill>
                  <a:srgbClr val="0070C0"/>
                </a:solidFill>
                <a:latin typeface="微软雅黑" panose="020B0503020204020204" charset="-122"/>
                <a:ea typeface="微软雅黑" panose="020B0503020204020204" charset="-122"/>
                <a:cs typeface="微软雅黑" panose="020B0503020204020204" charset="-122"/>
              </a:rPr>
              <a:t>可表示性。</a:t>
            </a:r>
            <a:r>
              <a:rPr lang="zh-CN" altLang="en-US">
                <a:latin typeface="微软雅黑" panose="020B0503020204020204" charset="-122"/>
                <a:ea typeface="微软雅黑" panose="020B0503020204020204" charset="-122"/>
                <a:cs typeface="微软雅黑" panose="020B0503020204020204" charset="-122"/>
              </a:rPr>
              <a:t>语言/文字/图像/视频/图形/音频/神经网络/概率图</a:t>
            </a:r>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377825" y="3183255"/>
            <a:ext cx="2540000" cy="3683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wrap="square" lIns="34289" rIns="34289" rtlCol="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lvl="0" algn="l">
              <a:lnSpc>
                <a:spcPct val="100000"/>
              </a:lnSpc>
              <a:spcBef>
                <a:spcPts val="0"/>
              </a:spcBef>
              <a:spcAft>
                <a:spcPts val="0"/>
              </a:spcAft>
              <a:buClrTx/>
              <a:buSzTx/>
              <a:buFontTx/>
            </a:pPr>
            <a:r>
              <a:rPr lang="zh-CN" altLang="en-US" sz="2400" dirty="0">
                <a:solidFill>
                  <a:srgbClr val="577CCE"/>
                </a:solidFill>
                <a:sym typeface="+mn-ea"/>
              </a:rPr>
              <a:t>知识的分类</a:t>
            </a:r>
            <a:endParaRPr lang="zh-CN" altLang="en-US" sz="2400" dirty="0">
              <a:solidFill>
                <a:srgbClr val="577CCE"/>
              </a:solidFill>
              <a:sym typeface="+mn-ea"/>
            </a:endParaRPr>
          </a:p>
        </p:txBody>
      </p:sp>
      <p:sp>
        <p:nvSpPr>
          <p:cNvPr id="5" name="文本框 4"/>
          <p:cNvSpPr txBox="1"/>
          <p:nvPr/>
        </p:nvSpPr>
        <p:spPr>
          <a:xfrm>
            <a:off x="1157605" y="3746500"/>
            <a:ext cx="6285230" cy="2306320"/>
          </a:xfrm>
          <a:prstGeom prst="rect">
            <a:avLst/>
          </a:prstGeom>
          <a:noFill/>
        </p:spPr>
        <p:txBody>
          <a:bodyPr wrap="square" rtlCol="0" anchor="t">
            <a:spAutoFit/>
          </a:bodyPr>
          <a:lstStyle/>
          <a:p>
            <a:pPr marL="285750" lvl="0" indent="-285750" algn="l">
              <a:lnSpc>
                <a:spcPct val="160000"/>
              </a:lnSpc>
              <a:buClrTx/>
              <a:buSzTx/>
              <a:buFont typeface="Arial" panose="020B0604020202020204" pitchFamily="34" charset="0"/>
              <a:buChar char="•"/>
            </a:pPr>
            <a:r>
              <a:rPr lang="zh-CN" altLang="en-US" sz="1800" b="1">
                <a:solidFill>
                  <a:srgbClr val="0070C0"/>
                </a:solidFill>
                <a:latin typeface="微软雅黑" panose="020B0503020204020204" charset="-122"/>
                <a:ea typeface="微软雅黑" panose="020B0503020204020204" charset="-122"/>
                <a:cs typeface="微软雅黑" panose="020B0503020204020204" charset="-122"/>
                <a:sym typeface="+mn-ea"/>
              </a:rPr>
              <a:t>范围。</a:t>
            </a:r>
            <a:r>
              <a:rPr lang="zh-CN" altLang="en-US" sz="1800">
                <a:solidFill>
                  <a:schemeClr val="tx1"/>
                </a:solidFill>
                <a:latin typeface="微软雅黑" panose="020B0503020204020204" charset="-122"/>
                <a:ea typeface="微软雅黑" panose="020B0503020204020204" charset="-122"/>
                <a:cs typeface="微软雅黑" panose="020B0503020204020204" charset="-122"/>
                <a:sym typeface="+mn-ea"/>
              </a:rPr>
              <a:t>常识性知识/领域性知识</a:t>
            </a:r>
            <a:endParaRPr lang="zh-CN" altLang="en-US" sz="1800">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lvl="0" indent="-285750" algn="l">
              <a:lnSpc>
                <a:spcPct val="160000"/>
              </a:lnSpc>
              <a:buClrTx/>
              <a:buSzTx/>
              <a:buFont typeface="Arial" panose="020B0604020202020204" pitchFamily="34" charset="0"/>
              <a:buChar char="•"/>
            </a:pPr>
            <a:r>
              <a:rPr lang="zh-CN" altLang="en-US" sz="1800" b="1">
                <a:solidFill>
                  <a:srgbClr val="0070C0"/>
                </a:solidFill>
                <a:latin typeface="微软雅黑" panose="020B0503020204020204" charset="-122"/>
                <a:ea typeface="微软雅黑" panose="020B0503020204020204" charset="-122"/>
                <a:cs typeface="微软雅黑" panose="020B0503020204020204" charset="-122"/>
                <a:sym typeface="+mn-ea"/>
              </a:rPr>
              <a:t>作用。</a:t>
            </a:r>
            <a:r>
              <a:rPr lang="zh-CN" altLang="en-US" sz="1800">
                <a:solidFill>
                  <a:schemeClr val="tx1"/>
                </a:solidFill>
                <a:latin typeface="微软雅黑" panose="020B0503020204020204" charset="-122"/>
                <a:ea typeface="微软雅黑" panose="020B0503020204020204" charset="-122"/>
                <a:cs typeface="微软雅黑" panose="020B0503020204020204" charset="-122"/>
                <a:sym typeface="+mn-ea"/>
              </a:rPr>
              <a:t>事实性知识/过程性知识/控制知识</a:t>
            </a:r>
            <a:endParaRPr lang="zh-CN" altLang="en-US" sz="1800">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lvl="0" indent="-285750" algn="l">
              <a:lnSpc>
                <a:spcPct val="160000"/>
              </a:lnSpc>
              <a:buClrTx/>
              <a:buSzTx/>
              <a:buFont typeface="Arial" panose="020B0604020202020204" pitchFamily="34" charset="0"/>
              <a:buChar char="•"/>
            </a:pPr>
            <a:r>
              <a:rPr lang="zh-CN" altLang="en-US" sz="1800" b="1">
                <a:solidFill>
                  <a:srgbClr val="0070C0"/>
                </a:solidFill>
                <a:latin typeface="微软雅黑" panose="020B0503020204020204" charset="-122"/>
                <a:ea typeface="微软雅黑" panose="020B0503020204020204" charset="-122"/>
                <a:cs typeface="微软雅黑" panose="020B0503020204020204" charset="-122"/>
                <a:sym typeface="+mn-ea"/>
              </a:rPr>
              <a:t>确定。</a:t>
            </a:r>
            <a:r>
              <a:rPr lang="zh-CN" altLang="en-US" sz="1800">
                <a:solidFill>
                  <a:schemeClr val="tx1"/>
                </a:solidFill>
                <a:latin typeface="微软雅黑" panose="020B0503020204020204" charset="-122"/>
                <a:ea typeface="微软雅黑" panose="020B0503020204020204" charset="-122"/>
                <a:cs typeface="微软雅黑" panose="020B0503020204020204" charset="-122"/>
                <a:sym typeface="+mn-ea"/>
              </a:rPr>
              <a:t>确定性知识/不确定性知识</a:t>
            </a:r>
            <a:endParaRPr lang="zh-CN" altLang="en-US" sz="1800">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lvl="0" indent="-285750" algn="l">
              <a:lnSpc>
                <a:spcPct val="160000"/>
              </a:lnSpc>
              <a:buClrTx/>
              <a:buSzTx/>
              <a:buFont typeface="Arial" panose="020B0604020202020204" pitchFamily="34" charset="0"/>
              <a:buChar char="•"/>
            </a:pPr>
            <a:r>
              <a:rPr lang="zh-CN" altLang="en-US" sz="1800" b="1">
                <a:solidFill>
                  <a:srgbClr val="0070C0"/>
                </a:solidFill>
                <a:latin typeface="微软雅黑" panose="020B0503020204020204" charset="-122"/>
                <a:ea typeface="微软雅黑" panose="020B0503020204020204" charset="-122"/>
                <a:cs typeface="微软雅黑" panose="020B0503020204020204" charset="-122"/>
                <a:sym typeface="+mn-ea"/>
              </a:rPr>
              <a:t>表现。</a:t>
            </a:r>
            <a:r>
              <a:rPr lang="zh-CN" altLang="en-US" sz="1800">
                <a:solidFill>
                  <a:schemeClr val="tx1"/>
                </a:solidFill>
                <a:latin typeface="微软雅黑" panose="020B0503020204020204" charset="-122"/>
                <a:ea typeface="微软雅黑" panose="020B0503020204020204" charset="-122"/>
                <a:cs typeface="微软雅黑" panose="020B0503020204020204" charset="-122"/>
                <a:sym typeface="+mn-ea"/>
              </a:rPr>
              <a:t>逻辑性知识/形象性知识</a:t>
            </a:r>
            <a:endParaRPr lang="zh-CN" altLang="en-US" sz="1800">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lvl="0" indent="-285750" algn="l">
              <a:lnSpc>
                <a:spcPct val="160000"/>
              </a:lnSpc>
              <a:buClrTx/>
              <a:buSzTx/>
              <a:buFont typeface="Arial" panose="020B0604020202020204" pitchFamily="34" charset="0"/>
              <a:buChar char="•"/>
            </a:pPr>
            <a:r>
              <a:rPr lang="zh-CN" altLang="en-US" sz="1800" b="1">
                <a:solidFill>
                  <a:srgbClr val="0070C0"/>
                </a:solidFill>
                <a:latin typeface="微软雅黑" panose="020B0503020204020204" charset="-122"/>
                <a:ea typeface="微软雅黑" panose="020B0503020204020204" charset="-122"/>
                <a:cs typeface="微软雅黑" panose="020B0503020204020204" charset="-122"/>
                <a:sym typeface="+mn-ea"/>
              </a:rPr>
              <a:t>抽象。</a:t>
            </a:r>
            <a:r>
              <a:rPr lang="zh-CN" altLang="en-US" sz="1800">
                <a:solidFill>
                  <a:schemeClr val="tx1"/>
                </a:solidFill>
                <a:latin typeface="微软雅黑" panose="020B0503020204020204" charset="-122"/>
                <a:ea typeface="微软雅黑" panose="020B0503020204020204" charset="-122"/>
                <a:cs typeface="微软雅黑" panose="020B0503020204020204" charset="-122"/>
                <a:sym typeface="+mn-ea"/>
              </a:rPr>
              <a:t>零级知识/一级知识/二级知识</a:t>
            </a:r>
            <a:endParaRPr lang="zh-CN" altLang="en-US" sz="18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altLang="en-US" sz="2900" dirty="0">
                <a:solidFill>
                  <a:schemeClr val="lt1"/>
                </a:solidFill>
                <a:sym typeface="+mn-ea"/>
              </a:rPr>
              <a:t>表示语言</a:t>
            </a:r>
            <a:endParaRPr lang="zh-CN" altLang="en-US" sz="2900" dirty="0">
              <a:solidFill>
                <a:schemeClr val="lt1"/>
              </a:solidFill>
              <a:sym typeface="+mn-ea"/>
            </a:endParaRPr>
          </a:p>
        </p:txBody>
      </p:sp>
      <p:sp>
        <p:nvSpPr>
          <p:cNvPr id="1534" name="文本框 1533"/>
          <p:cNvSpPr txBox="1"/>
          <p:nvPr>
            <p:custDataLst>
              <p:tags r:id="rId2"/>
            </p:custDataLst>
          </p:nvPr>
        </p:nvSpPr>
        <p:spPr>
          <a:xfrm>
            <a:off x="1318260" y="2613660"/>
            <a:ext cx="7096760" cy="913130"/>
          </a:xfrm>
          <a:prstGeom prst="rect">
            <a:avLst/>
          </a:prstGeom>
          <a:noFill/>
        </p:spPr>
        <p:txBody>
          <a:bodyPr wrap="square" lIns="67500" tIns="35100" rIns="67500" bIns="35100" rtlCol="0">
            <a:normAutofit/>
          </a:bodyPr>
          <a:lstStyle/>
          <a:p>
            <a:pPr marL="0" lvl="0" indent="0" algn="just">
              <a:lnSpc>
                <a:spcPct val="150000"/>
              </a:lnSpc>
              <a:spcBef>
                <a:spcPts val="0"/>
              </a:spcBef>
              <a:spcAft>
                <a:spcPts val="0"/>
              </a:spcAft>
              <a:buSzPct val="100000"/>
            </a:pPr>
            <a:r>
              <a:rPr lang="zh-CN" altLang="en-US" sz="1800">
                <a:solidFill>
                  <a:schemeClr val="tx1"/>
                </a:solidFill>
                <a:latin typeface="微软雅黑" panose="020B0503020204020204" charset="-122"/>
                <a:ea typeface="微软雅黑" panose="020B0503020204020204" charset="-122"/>
              </a:rPr>
              <a:t>就是人类讲的语言，比如汉语、英语和法语。这类语言不是人为设计（虽然有人试图强加一些规则）而是自然进化的。</a:t>
            </a:r>
            <a:endParaRPr lang="zh-CN" altLang="en-US" sz="1800">
              <a:solidFill>
                <a:schemeClr val="tx1"/>
              </a:solidFill>
              <a:latin typeface="微软雅黑" panose="020B0503020204020204" charset="-122"/>
              <a:ea typeface="微软雅黑" panose="020B0503020204020204" charset="-122"/>
            </a:endParaRPr>
          </a:p>
        </p:txBody>
      </p:sp>
      <p:sp>
        <p:nvSpPr>
          <p:cNvPr id="1535" name="文本框 1534"/>
          <p:cNvSpPr txBox="1"/>
          <p:nvPr>
            <p:custDataLst>
              <p:tags r:id="rId3"/>
            </p:custDataLst>
          </p:nvPr>
        </p:nvSpPr>
        <p:spPr>
          <a:xfrm>
            <a:off x="1318462" y="2232524"/>
            <a:ext cx="4308489" cy="381125"/>
          </a:xfrm>
          <a:prstGeom prst="rect">
            <a:avLst/>
          </a:prstGeom>
          <a:noFill/>
        </p:spPr>
        <p:txBody>
          <a:bodyPr wrap="square" rtlCol="0" anchor="b">
            <a:noAutofit/>
          </a:bodyPr>
          <a:lstStyle/>
          <a:p>
            <a:pPr marL="0" indent="0" algn="l">
              <a:lnSpc>
                <a:spcPct val="100000"/>
              </a:lnSpc>
              <a:spcBef>
                <a:spcPts val="0"/>
              </a:spcBef>
              <a:spcAft>
                <a:spcPts val="0"/>
              </a:spcAft>
              <a:buSzPct val="100000"/>
            </a:pPr>
            <a:r>
              <a:rPr lang="zh-CN" altLang="en-US" sz="1800" b="1">
                <a:solidFill>
                  <a:schemeClr val="accent1"/>
                </a:solidFill>
                <a:latin typeface="微软雅黑" panose="020B0503020204020204" charset="-122"/>
                <a:ea typeface="微软雅黑" panose="020B0503020204020204" charset="-122"/>
                <a:cs typeface="微软雅黑" panose="020B0503020204020204" charset="-122"/>
              </a:rPr>
              <a:t>自然语言（Natural Language）</a:t>
            </a:r>
            <a:endParaRPr lang="zh-CN" altLang="en-US" sz="18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536" name="任意多边形 1535"/>
          <p:cNvSpPr/>
          <p:nvPr>
            <p:custDataLst>
              <p:tags r:id="rId4"/>
            </p:custDataLst>
          </p:nvPr>
        </p:nvSpPr>
        <p:spPr bwMode="auto">
          <a:xfrm>
            <a:off x="661761" y="2448242"/>
            <a:ext cx="579178" cy="458902"/>
          </a:xfrm>
          <a:custGeom>
            <a:avLst/>
            <a:gdLst>
              <a:gd name="connsiteX0" fmla="*/ 511657 w 606157"/>
              <a:gd name="connsiteY0" fmla="*/ 343654 h 480339"/>
              <a:gd name="connsiteX1" fmla="*/ 521432 w 606157"/>
              <a:gd name="connsiteY1" fmla="*/ 353421 h 480339"/>
              <a:gd name="connsiteX2" fmla="*/ 521432 w 606157"/>
              <a:gd name="connsiteY2" fmla="*/ 376178 h 480339"/>
              <a:gd name="connsiteX3" fmla="*/ 544305 w 606157"/>
              <a:gd name="connsiteY3" fmla="*/ 376178 h 480339"/>
              <a:gd name="connsiteX4" fmla="*/ 554080 w 606157"/>
              <a:gd name="connsiteY4" fmla="*/ 385945 h 480339"/>
              <a:gd name="connsiteX5" fmla="*/ 544305 w 606157"/>
              <a:gd name="connsiteY5" fmla="*/ 395712 h 480339"/>
              <a:gd name="connsiteX6" fmla="*/ 521432 w 606157"/>
              <a:gd name="connsiteY6" fmla="*/ 395712 h 480339"/>
              <a:gd name="connsiteX7" fmla="*/ 521432 w 606157"/>
              <a:gd name="connsiteY7" fmla="*/ 418566 h 480339"/>
              <a:gd name="connsiteX8" fmla="*/ 511657 w 606157"/>
              <a:gd name="connsiteY8" fmla="*/ 428333 h 480339"/>
              <a:gd name="connsiteX9" fmla="*/ 501882 w 606157"/>
              <a:gd name="connsiteY9" fmla="*/ 418566 h 480339"/>
              <a:gd name="connsiteX10" fmla="*/ 501882 w 606157"/>
              <a:gd name="connsiteY10" fmla="*/ 395712 h 480339"/>
              <a:gd name="connsiteX11" fmla="*/ 479106 w 606157"/>
              <a:gd name="connsiteY11" fmla="*/ 395712 h 480339"/>
              <a:gd name="connsiteX12" fmla="*/ 469331 w 606157"/>
              <a:gd name="connsiteY12" fmla="*/ 385945 h 480339"/>
              <a:gd name="connsiteX13" fmla="*/ 479106 w 606157"/>
              <a:gd name="connsiteY13" fmla="*/ 376178 h 480339"/>
              <a:gd name="connsiteX14" fmla="*/ 501882 w 606157"/>
              <a:gd name="connsiteY14" fmla="*/ 376178 h 480339"/>
              <a:gd name="connsiteX15" fmla="*/ 501882 w 606157"/>
              <a:gd name="connsiteY15" fmla="*/ 353421 h 480339"/>
              <a:gd name="connsiteX16" fmla="*/ 511657 w 606157"/>
              <a:gd name="connsiteY16" fmla="*/ 343654 h 480339"/>
              <a:gd name="connsiteX17" fmla="*/ 511621 w 606157"/>
              <a:gd name="connsiteY17" fmla="*/ 311170 h 480339"/>
              <a:gd name="connsiteX18" fmla="*/ 436735 w 606157"/>
              <a:gd name="connsiteY18" fmla="*/ 385944 h 480339"/>
              <a:gd name="connsiteX19" fmla="*/ 511621 w 606157"/>
              <a:gd name="connsiteY19" fmla="*/ 460816 h 480339"/>
              <a:gd name="connsiteX20" fmla="*/ 586605 w 606157"/>
              <a:gd name="connsiteY20" fmla="*/ 385944 h 480339"/>
              <a:gd name="connsiteX21" fmla="*/ 511621 w 606157"/>
              <a:gd name="connsiteY21" fmla="*/ 311170 h 480339"/>
              <a:gd name="connsiteX22" fmla="*/ 511621 w 606157"/>
              <a:gd name="connsiteY22" fmla="*/ 291647 h 480339"/>
              <a:gd name="connsiteX23" fmla="*/ 606157 w 606157"/>
              <a:gd name="connsiteY23" fmla="*/ 385944 h 480339"/>
              <a:gd name="connsiteX24" fmla="*/ 511621 w 606157"/>
              <a:gd name="connsiteY24" fmla="*/ 480339 h 480339"/>
              <a:gd name="connsiteX25" fmla="*/ 417183 w 606157"/>
              <a:gd name="connsiteY25" fmla="*/ 385944 h 480339"/>
              <a:gd name="connsiteX26" fmla="*/ 511621 w 606157"/>
              <a:gd name="connsiteY26" fmla="*/ 291647 h 480339"/>
              <a:gd name="connsiteX27" fmla="*/ 368279 w 606157"/>
              <a:gd name="connsiteY27" fmla="*/ 200476 h 480339"/>
              <a:gd name="connsiteX28" fmla="*/ 489505 w 606157"/>
              <a:gd name="connsiteY28" fmla="*/ 259991 h 480339"/>
              <a:gd name="connsiteX29" fmla="*/ 487746 w 606157"/>
              <a:gd name="connsiteY29" fmla="*/ 273650 h 480339"/>
              <a:gd name="connsiteX30" fmla="*/ 481782 w 606157"/>
              <a:gd name="connsiteY30" fmla="*/ 275699 h 480339"/>
              <a:gd name="connsiteX31" fmla="*/ 474059 w 606157"/>
              <a:gd name="connsiteY31" fmla="*/ 271894 h 480339"/>
              <a:gd name="connsiteX32" fmla="*/ 368279 w 606157"/>
              <a:gd name="connsiteY32" fmla="*/ 219989 h 480339"/>
              <a:gd name="connsiteX33" fmla="*/ 293588 w 606157"/>
              <a:gd name="connsiteY33" fmla="*/ 242819 h 480339"/>
              <a:gd name="connsiteX34" fmla="*/ 279999 w 606157"/>
              <a:gd name="connsiteY34" fmla="*/ 240185 h 480339"/>
              <a:gd name="connsiteX35" fmla="*/ 282639 w 606157"/>
              <a:gd name="connsiteY35" fmla="*/ 226623 h 480339"/>
              <a:gd name="connsiteX36" fmla="*/ 368279 w 606157"/>
              <a:gd name="connsiteY36" fmla="*/ 200476 h 480339"/>
              <a:gd name="connsiteX37" fmla="*/ 153211 w 606157"/>
              <a:gd name="connsiteY37" fmla="*/ 200476 h 480339"/>
              <a:gd name="connsiteX38" fmla="*/ 306325 w 606157"/>
              <a:gd name="connsiteY38" fmla="*/ 353439 h 480339"/>
              <a:gd name="connsiteX39" fmla="*/ 296547 w 606157"/>
              <a:gd name="connsiteY39" fmla="*/ 363200 h 480339"/>
              <a:gd name="connsiteX40" fmla="*/ 286770 w 606157"/>
              <a:gd name="connsiteY40" fmla="*/ 353439 h 480339"/>
              <a:gd name="connsiteX41" fmla="*/ 153211 w 606157"/>
              <a:gd name="connsiteY41" fmla="*/ 219999 h 480339"/>
              <a:gd name="connsiteX42" fmla="*/ 19554 w 606157"/>
              <a:gd name="connsiteY42" fmla="*/ 353439 h 480339"/>
              <a:gd name="connsiteX43" fmla="*/ 9777 w 606157"/>
              <a:gd name="connsiteY43" fmla="*/ 363200 h 480339"/>
              <a:gd name="connsiteX44" fmla="*/ 0 w 606157"/>
              <a:gd name="connsiteY44" fmla="*/ 353439 h 480339"/>
              <a:gd name="connsiteX45" fmla="*/ 153211 w 606157"/>
              <a:gd name="connsiteY45" fmla="*/ 200476 h 480339"/>
              <a:gd name="connsiteX46" fmla="*/ 368295 w 606157"/>
              <a:gd name="connsiteY46" fmla="*/ 19531 h 480339"/>
              <a:gd name="connsiteX47" fmla="*/ 306326 w 606157"/>
              <a:gd name="connsiteY47" fmla="*/ 81348 h 480339"/>
              <a:gd name="connsiteX48" fmla="*/ 368295 w 606157"/>
              <a:gd name="connsiteY48" fmla="*/ 143262 h 480339"/>
              <a:gd name="connsiteX49" fmla="*/ 430165 w 606157"/>
              <a:gd name="connsiteY49" fmla="*/ 81348 h 480339"/>
              <a:gd name="connsiteX50" fmla="*/ 368295 w 606157"/>
              <a:gd name="connsiteY50" fmla="*/ 19531 h 480339"/>
              <a:gd name="connsiteX51" fmla="*/ 153211 w 606157"/>
              <a:gd name="connsiteY51" fmla="*/ 19531 h 480339"/>
              <a:gd name="connsiteX52" fmla="*/ 91242 w 606157"/>
              <a:gd name="connsiteY52" fmla="*/ 81348 h 480339"/>
              <a:gd name="connsiteX53" fmla="*/ 153211 w 606157"/>
              <a:gd name="connsiteY53" fmla="*/ 143262 h 480339"/>
              <a:gd name="connsiteX54" fmla="*/ 215081 w 606157"/>
              <a:gd name="connsiteY54" fmla="*/ 81348 h 480339"/>
              <a:gd name="connsiteX55" fmla="*/ 153211 w 606157"/>
              <a:gd name="connsiteY55" fmla="*/ 19531 h 480339"/>
              <a:gd name="connsiteX56" fmla="*/ 368295 w 606157"/>
              <a:gd name="connsiteY56" fmla="*/ 0 h 480339"/>
              <a:gd name="connsiteX57" fmla="*/ 449714 w 606157"/>
              <a:gd name="connsiteY57" fmla="*/ 81348 h 480339"/>
              <a:gd name="connsiteX58" fmla="*/ 368295 w 606157"/>
              <a:gd name="connsiteY58" fmla="*/ 162794 h 480339"/>
              <a:gd name="connsiteX59" fmla="*/ 286778 w 606157"/>
              <a:gd name="connsiteY59" fmla="*/ 81348 h 480339"/>
              <a:gd name="connsiteX60" fmla="*/ 368295 w 606157"/>
              <a:gd name="connsiteY60" fmla="*/ 0 h 480339"/>
              <a:gd name="connsiteX61" fmla="*/ 153211 w 606157"/>
              <a:gd name="connsiteY61" fmla="*/ 0 h 480339"/>
              <a:gd name="connsiteX62" fmla="*/ 234630 w 606157"/>
              <a:gd name="connsiteY62" fmla="*/ 81348 h 480339"/>
              <a:gd name="connsiteX63" fmla="*/ 153211 w 606157"/>
              <a:gd name="connsiteY63" fmla="*/ 162794 h 480339"/>
              <a:gd name="connsiteX64" fmla="*/ 71694 w 606157"/>
              <a:gd name="connsiteY64" fmla="*/ 81348 h 480339"/>
              <a:gd name="connsiteX65" fmla="*/ 153211 w 606157"/>
              <a:gd name="connsiteY65" fmla="*/ 0 h 48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6157" h="480339">
                <a:moveTo>
                  <a:pt x="511657" y="343654"/>
                </a:moveTo>
                <a:cubicBezTo>
                  <a:pt x="517131" y="343654"/>
                  <a:pt x="521432" y="348049"/>
                  <a:pt x="521432" y="353421"/>
                </a:cubicBezTo>
                <a:lnTo>
                  <a:pt x="521432" y="376178"/>
                </a:lnTo>
                <a:lnTo>
                  <a:pt x="544305" y="376178"/>
                </a:lnTo>
                <a:cubicBezTo>
                  <a:pt x="549682" y="376178"/>
                  <a:pt x="554080" y="380573"/>
                  <a:pt x="554080" y="385945"/>
                </a:cubicBezTo>
                <a:cubicBezTo>
                  <a:pt x="554080" y="391414"/>
                  <a:pt x="549682" y="395712"/>
                  <a:pt x="544305" y="395712"/>
                </a:cubicBezTo>
                <a:lnTo>
                  <a:pt x="521432" y="395712"/>
                </a:lnTo>
                <a:lnTo>
                  <a:pt x="521432" y="418566"/>
                </a:lnTo>
                <a:cubicBezTo>
                  <a:pt x="521432" y="423938"/>
                  <a:pt x="517131" y="428333"/>
                  <a:pt x="511657" y="428333"/>
                </a:cubicBezTo>
                <a:cubicBezTo>
                  <a:pt x="506281" y="428333"/>
                  <a:pt x="501882" y="423938"/>
                  <a:pt x="501882" y="418566"/>
                </a:cubicBezTo>
                <a:lnTo>
                  <a:pt x="501882" y="395712"/>
                </a:lnTo>
                <a:lnTo>
                  <a:pt x="479106" y="395712"/>
                </a:lnTo>
                <a:cubicBezTo>
                  <a:pt x="473730" y="395712"/>
                  <a:pt x="469331" y="391414"/>
                  <a:pt x="469331" y="385945"/>
                </a:cubicBezTo>
                <a:cubicBezTo>
                  <a:pt x="469331" y="380573"/>
                  <a:pt x="473730" y="376178"/>
                  <a:pt x="479106" y="376178"/>
                </a:cubicBezTo>
                <a:lnTo>
                  <a:pt x="501882" y="376178"/>
                </a:lnTo>
                <a:lnTo>
                  <a:pt x="501882" y="353421"/>
                </a:lnTo>
                <a:cubicBezTo>
                  <a:pt x="501882" y="348049"/>
                  <a:pt x="506281" y="343654"/>
                  <a:pt x="511657" y="343654"/>
                </a:cubicBezTo>
                <a:close/>
                <a:moveTo>
                  <a:pt x="511621" y="311170"/>
                </a:moveTo>
                <a:cubicBezTo>
                  <a:pt x="470366" y="311170"/>
                  <a:pt x="436735" y="344750"/>
                  <a:pt x="436735" y="385944"/>
                </a:cubicBezTo>
                <a:cubicBezTo>
                  <a:pt x="436735" y="427236"/>
                  <a:pt x="470366" y="460816"/>
                  <a:pt x="511621" y="460816"/>
                </a:cubicBezTo>
                <a:cubicBezTo>
                  <a:pt x="552975" y="460816"/>
                  <a:pt x="586605" y="427236"/>
                  <a:pt x="586605" y="385944"/>
                </a:cubicBezTo>
                <a:cubicBezTo>
                  <a:pt x="586605" y="344750"/>
                  <a:pt x="552975" y="311170"/>
                  <a:pt x="511621" y="311170"/>
                </a:cubicBezTo>
                <a:close/>
                <a:moveTo>
                  <a:pt x="511621" y="291647"/>
                </a:moveTo>
                <a:cubicBezTo>
                  <a:pt x="563729" y="291647"/>
                  <a:pt x="606157" y="333915"/>
                  <a:pt x="606157" y="385944"/>
                </a:cubicBezTo>
                <a:cubicBezTo>
                  <a:pt x="606157" y="437974"/>
                  <a:pt x="563729" y="480339"/>
                  <a:pt x="511621" y="480339"/>
                </a:cubicBezTo>
                <a:cubicBezTo>
                  <a:pt x="459514" y="480339"/>
                  <a:pt x="417183" y="437974"/>
                  <a:pt x="417183" y="385944"/>
                </a:cubicBezTo>
                <a:cubicBezTo>
                  <a:pt x="417183" y="333915"/>
                  <a:pt x="459514" y="291647"/>
                  <a:pt x="511621" y="291647"/>
                </a:cubicBezTo>
                <a:close/>
                <a:moveTo>
                  <a:pt x="368279" y="200476"/>
                </a:moveTo>
                <a:cubicBezTo>
                  <a:pt x="416085" y="200476"/>
                  <a:pt x="460274" y="222135"/>
                  <a:pt x="489505" y="259991"/>
                </a:cubicBezTo>
                <a:cubicBezTo>
                  <a:pt x="492829" y="264284"/>
                  <a:pt x="492047" y="270333"/>
                  <a:pt x="487746" y="273650"/>
                </a:cubicBezTo>
                <a:cubicBezTo>
                  <a:pt x="485986" y="275016"/>
                  <a:pt x="483835" y="275699"/>
                  <a:pt x="481782" y="275699"/>
                </a:cubicBezTo>
                <a:cubicBezTo>
                  <a:pt x="478849" y="275699"/>
                  <a:pt x="475916" y="274430"/>
                  <a:pt x="474059" y="271894"/>
                </a:cubicBezTo>
                <a:cubicBezTo>
                  <a:pt x="448542" y="238917"/>
                  <a:pt x="409926" y="219989"/>
                  <a:pt x="368279" y="219989"/>
                </a:cubicBezTo>
                <a:cubicBezTo>
                  <a:pt x="341492" y="219989"/>
                  <a:pt x="315683" y="227892"/>
                  <a:pt x="293588" y="242819"/>
                </a:cubicBezTo>
                <a:cubicBezTo>
                  <a:pt x="289091" y="245844"/>
                  <a:pt x="283030" y="244673"/>
                  <a:pt x="279999" y="240185"/>
                </a:cubicBezTo>
                <a:cubicBezTo>
                  <a:pt x="276969" y="235697"/>
                  <a:pt x="278142" y="229648"/>
                  <a:pt x="282639" y="226623"/>
                </a:cubicBezTo>
                <a:cubicBezTo>
                  <a:pt x="307960" y="209549"/>
                  <a:pt x="337582" y="200476"/>
                  <a:pt x="368279" y="200476"/>
                </a:cubicBezTo>
                <a:close/>
                <a:moveTo>
                  <a:pt x="153211" y="200476"/>
                </a:moveTo>
                <a:cubicBezTo>
                  <a:pt x="237688" y="200476"/>
                  <a:pt x="306325" y="269099"/>
                  <a:pt x="306325" y="353439"/>
                </a:cubicBezTo>
                <a:cubicBezTo>
                  <a:pt x="306325" y="358808"/>
                  <a:pt x="302023" y="363200"/>
                  <a:pt x="296547" y="363200"/>
                </a:cubicBezTo>
                <a:cubicBezTo>
                  <a:pt x="291170" y="363200"/>
                  <a:pt x="286770" y="358808"/>
                  <a:pt x="286770" y="353439"/>
                </a:cubicBezTo>
                <a:cubicBezTo>
                  <a:pt x="286770" y="279837"/>
                  <a:pt x="226835" y="219999"/>
                  <a:pt x="153211" y="219999"/>
                </a:cubicBezTo>
                <a:cubicBezTo>
                  <a:pt x="79490" y="219999"/>
                  <a:pt x="19554" y="279837"/>
                  <a:pt x="19554" y="353439"/>
                </a:cubicBezTo>
                <a:cubicBezTo>
                  <a:pt x="19554" y="358808"/>
                  <a:pt x="15155" y="363200"/>
                  <a:pt x="9777" y="363200"/>
                </a:cubicBezTo>
                <a:cubicBezTo>
                  <a:pt x="4400" y="363200"/>
                  <a:pt x="0" y="358808"/>
                  <a:pt x="0" y="353439"/>
                </a:cubicBezTo>
                <a:cubicBezTo>
                  <a:pt x="0" y="269099"/>
                  <a:pt x="68735" y="200476"/>
                  <a:pt x="153211" y="200476"/>
                </a:cubicBezTo>
                <a:close/>
                <a:moveTo>
                  <a:pt x="368295" y="19531"/>
                </a:moveTo>
                <a:cubicBezTo>
                  <a:pt x="334085" y="19531"/>
                  <a:pt x="306326" y="47266"/>
                  <a:pt x="306326" y="81348"/>
                </a:cubicBezTo>
                <a:cubicBezTo>
                  <a:pt x="306326" y="115528"/>
                  <a:pt x="334085" y="143262"/>
                  <a:pt x="368295" y="143262"/>
                </a:cubicBezTo>
                <a:cubicBezTo>
                  <a:pt x="402407" y="143262"/>
                  <a:pt x="430165" y="115528"/>
                  <a:pt x="430165" y="81348"/>
                </a:cubicBezTo>
                <a:cubicBezTo>
                  <a:pt x="430165" y="47266"/>
                  <a:pt x="402407" y="19531"/>
                  <a:pt x="368295" y="19531"/>
                </a:cubicBezTo>
                <a:close/>
                <a:moveTo>
                  <a:pt x="153211" y="19531"/>
                </a:moveTo>
                <a:cubicBezTo>
                  <a:pt x="119001" y="19531"/>
                  <a:pt x="91242" y="47266"/>
                  <a:pt x="91242" y="81348"/>
                </a:cubicBezTo>
                <a:cubicBezTo>
                  <a:pt x="91242" y="115528"/>
                  <a:pt x="119001" y="143262"/>
                  <a:pt x="153211" y="143262"/>
                </a:cubicBezTo>
                <a:cubicBezTo>
                  <a:pt x="187323" y="143262"/>
                  <a:pt x="215081" y="115528"/>
                  <a:pt x="215081" y="81348"/>
                </a:cubicBezTo>
                <a:cubicBezTo>
                  <a:pt x="215081" y="47266"/>
                  <a:pt x="187323" y="19531"/>
                  <a:pt x="153211" y="19531"/>
                </a:cubicBezTo>
                <a:close/>
                <a:moveTo>
                  <a:pt x="368295" y="0"/>
                </a:moveTo>
                <a:cubicBezTo>
                  <a:pt x="413158" y="0"/>
                  <a:pt x="449714" y="36523"/>
                  <a:pt x="449714" y="81348"/>
                </a:cubicBezTo>
                <a:cubicBezTo>
                  <a:pt x="449714" y="126270"/>
                  <a:pt x="413158" y="162794"/>
                  <a:pt x="368295" y="162794"/>
                </a:cubicBezTo>
                <a:cubicBezTo>
                  <a:pt x="323333" y="162794"/>
                  <a:pt x="286778" y="126270"/>
                  <a:pt x="286778" y="81348"/>
                </a:cubicBezTo>
                <a:cubicBezTo>
                  <a:pt x="286778" y="36523"/>
                  <a:pt x="323333" y="0"/>
                  <a:pt x="368295" y="0"/>
                </a:cubicBezTo>
                <a:close/>
                <a:moveTo>
                  <a:pt x="153211" y="0"/>
                </a:moveTo>
                <a:cubicBezTo>
                  <a:pt x="198074" y="0"/>
                  <a:pt x="234630" y="36523"/>
                  <a:pt x="234630" y="81348"/>
                </a:cubicBezTo>
                <a:cubicBezTo>
                  <a:pt x="234630" y="126270"/>
                  <a:pt x="198074" y="162794"/>
                  <a:pt x="153211" y="162794"/>
                </a:cubicBezTo>
                <a:cubicBezTo>
                  <a:pt x="108249" y="162794"/>
                  <a:pt x="71694" y="126270"/>
                  <a:pt x="71694" y="81348"/>
                </a:cubicBezTo>
                <a:cubicBezTo>
                  <a:pt x="71694" y="36523"/>
                  <a:pt x="108249" y="0"/>
                  <a:pt x="153211" y="0"/>
                </a:cubicBezTo>
                <a:close/>
              </a:path>
            </a:pathLst>
          </a:custGeom>
          <a:solidFill>
            <a:schemeClr val="accent1"/>
          </a:solidFill>
          <a:ln>
            <a:noFill/>
          </a:ln>
        </p:spPr>
        <p:txBody>
          <a:bodyPr anchor="ctr"/>
          <a:lstStyle/>
          <a:p>
            <a:pPr algn="ctr"/>
            <a:endParaRPr sz="1350"/>
          </a:p>
        </p:txBody>
      </p:sp>
      <p:sp>
        <p:nvSpPr>
          <p:cNvPr id="1537" name="任意多边形 1536"/>
          <p:cNvSpPr/>
          <p:nvPr>
            <p:custDataLst>
              <p:tags r:id="rId5"/>
            </p:custDataLst>
          </p:nvPr>
        </p:nvSpPr>
        <p:spPr bwMode="auto">
          <a:xfrm>
            <a:off x="661761" y="3803670"/>
            <a:ext cx="579178" cy="395171"/>
          </a:xfrm>
          <a:custGeom>
            <a:avLst/>
            <a:gdLst>
              <a:gd name="connsiteX0" fmla="*/ 20293 w 607639"/>
              <a:gd name="connsiteY0" fmla="*/ 364067 h 414642"/>
              <a:gd name="connsiteX1" fmla="*/ 20293 w 607639"/>
              <a:gd name="connsiteY1" fmla="*/ 384244 h 414642"/>
              <a:gd name="connsiteX2" fmla="*/ 30351 w 607639"/>
              <a:gd name="connsiteY2" fmla="*/ 394377 h 414642"/>
              <a:gd name="connsiteX3" fmla="*/ 577199 w 607639"/>
              <a:gd name="connsiteY3" fmla="*/ 394377 h 414642"/>
              <a:gd name="connsiteX4" fmla="*/ 587346 w 607639"/>
              <a:gd name="connsiteY4" fmla="*/ 384244 h 414642"/>
              <a:gd name="connsiteX5" fmla="*/ 587346 w 607639"/>
              <a:gd name="connsiteY5" fmla="*/ 364067 h 414642"/>
              <a:gd name="connsiteX6" fmla="*/ 556995 w 607639"/>
              <a:gd name="connsiteY6" fmla="*/ 364067 h 414642"/>
              <a:gd name="connsiteX7" fmla="*/ 394916 w 607639"/>
              <a:gd name="connsiteY7" fmla="*/ 364067 h 414642"/>
              <a:gd name="connsiteX8" fmla="*/ 394916 w 607639"/>
              <a:gd name="connsiteY8" fmla="*/ 374200 h 414642"/>
              <a:gd name="connsiteX9" fmla="*/ 384859 w 607639"/>
              <a:gd name="connsiteY9" fmla="*/ 384244 h 414642"/>
              <a:gd name="connsiteX10" fmla="*/ 222780 w 607639"/>
              <a:gd name="connsiteY10" fmla="*/ 384244 h 414642"/>
              <a:gd name="connsiteX11" fmla="*/ 212634 w 607639"/>
              <a:gd name="connsiteY11" fmla="*/ 374200 h 414642"/>
              <a:gd name="connsiteX12" fmla="*/ 212634 w 607639"/>
              <a:gd name="connsiteY12" fmla="*/ 364067 h 414642"/>
              <a:gd name="connsiteX13" fmla="*/ 50644 w 607639"/>
              <a:gd name="connsiteY13" fmla="*/ 364067 h 414642"/>
              <a:gd name="connsiteX14" fmla="*/ 141754 w 607639"/>
              <a:gd name="connsiteY14" fmla="*/ 232583 h 414642"/>
              <a:gd name="connsiteX15" fmla="*/ 161961 w 607639"/>
              <a:gd name="connsiteY15" fmla="*/ 232583 h 414642"/>
              <a:gd name="connsiteX16" fmla="*/ 172110 w 607639"/>
              <a:gd name="connsiteY16" fmla="*/ 242719 h 414642"/>
              <a:gd name="connsiteX17" fmla="*/ 161961 w 607639"/>
              <a:gd name="connsiteY17" fmla="*/ 252765 h 414642"/>
              <a:gd name="connsiteX18" fmla="*/ 141754 w 607639"/>
              <a:gd name="connsiteY18" fmla="*/ 252765 h 414642"/>
              <a:gd name="connsiteX19" fmla="*/ 131605 w 607639"/>
              <a:gd name="connsiteY19" fmla="*/ 242719 h 414642"/>
              <a:gd name="connsiteX20" fmla="*/ 141754 w 607639"/>
              <a:gd name="connsiteY20" fmla="*/ 232583 h 414642"/>
              <a:gd name="connsiteX21" fmla="*/ 141758 w 607639"/>
              <a:gd name="connsiteY21" fmla="*/ 192149 h 414642"/>
              <a:gd name="connsiteX22" fmla="*/ 182279 w 607639"/>
              <a:gd name="connsiteY22" fmla="*/ 192149 h 414642"/>
              <a:gd name="connsiteX23" fmla="*/ 192432 w 607639"/>
              <a:gd name="connsiteY23" fmla="*/ 202196 h 414642"/>
              <a:gd name="connsiteX24" fmla="*/ 182279 w 607639"/>
              <a:gd name="connsiteY24" fmla="*/ 212331 h 414642"/>
              <a:gd name="connsiteX25" fmla="*/ 141758 w 607639"/>
              <a:gd name="connsiteY25" fmla="*/ 212331 h 414642"/>
              <a:gd name="connsiteX26" fmla="*/ 131605 w 607639"/>
              <a:gd name="connsiteY26" fmla="*/ 202196 h 414642"/>
              <a:gd name="connsiteX27" fmla="*/ 141758 w 607639"/>
              <a:gd name="connsiteY27" fmla="*/ 192149 h 414642"/>
              <a:gd name="connsiteX28" fmla="*/ 141754 w 607639"/>
              <a:gd name="connsiteY28" fmla="*/ 151716 h 414642"/>
              <a:gd name="connsiteX29" fmla="*/ 161961 w 607639"/>
              <a:gd name="connsiteY29" fmla="*/ 151716 h 414642"/>
              <a:gd name="connsiteX30" fmla="*/ 172110 w 607639"/>
              <a:gd name="connsiteY30" fmla="*/ 161763 h 414642"/>
              <a:gd name="connsiteX31" fmla="*/ 161961 w 607639"/>
              <a:gd name="connsiteY31" fmla="*/ 171898 h 414642"/>
              <a:gd name="connsiteX32" fmla="*/ 141754 w 607639"/>
              <a:gd name="connsiteY32" fmla="*/ 171898 h 414642"/>
              <a:gd name="connsiteX33" fmla="*/ 131605 w 607639"/>
              <a:gd name="connsiteY33" fmla="*/ 161763 h 414642"/>
              <a:gd name="connsiteX34" fmla="*/ 141754 w 607639"/>
              <a:gd name="connsiteY34" fmla="*/ 151716 h 414642"/>
              <a:gd name="connsiteX35" fmla="*/ 141758 w 607639"/>
              <a:gd name="connsiteY35" fmla="*/ 111211 h 414642"/>
              <a:gd name="connsiteX36" fmla="*/ 182279 w 607639"/>
              <a:gd name="connsiteY36" fmla="*/ 111211 h 414642"/>
              <a:gd name="connsiteX37" fmla="*/ 192432 w 607639"/>
              <a:gd name="connsiteY37" fmla="*/ 121337 h 414642"/>
              <a:gd name="connsiteX38" fmla="*/ 182279 w 607639"/>
              <a:gd name="connsiteY38" fmla="*/ 131463 h 414642"/>
              <a:gd name="connsiteX39" fmla="*/ 141758 w 607639"/>
              <a:gd name="connsiteY39" fmla="*/ 131463 h 414642"/>
              <a:gd name="connsiteX40" fmla="*/ 131605 w 607639"/>
              <a:gd name="connsiteY40" fmla="*/ 121337 h 414642"/>
              <a:gd name="connsiteX41" fmla="*/ 141758 w 607639"/>
              <a:gd name="connsiteY41" fmla="*/ 111211 h 414642"/>
              <a:gd name="connsiteX42" fmla="*/ 425367 w 607639"/>
              <a:gd name="connsiteY42" fmla="*/ 101191 h 414642"/>
              <a:gd name="connsiteX43" fmla="*/ 496228 w 607639"/>
              <a:gd name="connsiteY43" fmla="*/ 101191 h 414642"/>
              <a:gd name="connsiteX44" fmla="*/ 506377 w 607639"/>
              <a:gd name="connsiteY44" fmla="*/ 111231 h 414642"/>
              <a:gd name="connsiteX45" fmla="*/ 506377 w 607639"/>
              <a:gd name="connsiteY45" fmla="*/ 182042 h 414642"/>
              <a:gd name="connsiteX46" fmla="*/ 496228 w 607639"/>
              <a:gd name="connsiteY46" fmla="*/ 192171 h 414642"/>
              <a:gd name="connsiteX47" fmla="*/ 486080 w 607639"/>
              <a:gd name="connsiteY47" fmla="*/ 182042 h 414642"/>
              <a:gd name="connsiteX48" fmla="*/ 486080 w 607639"/>
              <a:gd name="connsiteY48" fmla="*/ 135575 h 414642"/>
              <a:gd name="connsiteX49" fmla="*/ 402043 w 607639"/>
              <a:gd name="connsiteY49" fmla="*/ 219447 h 414642"/>
              <a:gd name="connsiteX50" fmla="*/ 394921 w 607639"/>
              <a:gd name="connsiteY50" fmla="*/ 222468 h 414642"/>
              <a:gd name="connsiteX51" fmla="*/ 387889 w 607639"/>
              <a:gd name="connsiteY51" fmla="*/ 219447 h 414642"/>
              <a:gd name="connsiteX52" fmla="*/ 344268 w 607639"/>
              <a:gd name="connsiteY52" fmla="*/ 176001 h 414642"/>
              <a:gd name="connsiteX53" fmla="*/ 270380 w 607639"/>
              <a:gd name="connsiteY53" fmla="*/ 249744 h 414642"/>
              <a:gd name="connsiteX54" fmla="*/ 263258 w 607639"/>
              <a:gd name="connsiteY54" fmla="*/ 252765 h 414642"/>
              <a:gd name="connsiteX55" fmla="*/ 256225 w 607639"/>
              <a:gd name="connsiteY55" fmla="*/ 249744 h 414642"/>
              <a:gd name="connsiteX56" fmla="*/ 256225 w 607639"/>
              <a:gd name="connsiteY56" fmla="*/ 235617 h 414642"/>
              <a:gd name="connsiteX57" fmla="*/ 337235 w 607639"/>
              <a:gd name="connsiteY57" fmla="*/ 154766 h 414642"/>
              <a:gd name="connsiteX58" fmla="*/ 338837 w 607639"/>
              <a:gd name="connsiteY58" fmla="*/ 153433 h 414642"/>
              <a:gd name="connsiteX59" fmla="*/ 340618 w 607639"/>
              <a:gd name="connsiteY59" fmla="*/ 152456 h 414642"/>
              <a:gd name="connsiteX60" fmla="*/ 341508 w 607639"/>
              <a:gd name="connsiteY60" fmla="*/ 152101 h 414642"/>
              <a:gd name="connsiteX61" fmla="*/ 343378 w 607639"/>
              <a:gd name="connsiteY61" fmla="*/ 151745 h 414642"/>
              <a:gd name="connsiteX62" fmla="*/ 344268 w 607639"/>
              <a:gd name="connsiteY62" fmla="*/ 151745 h 414642"/>
              <a:gd name="connsiteX63" fmla="*/ 346226 w 607639"/>
              <a:gd name="connsiteY63" fmla="*/ 151923 h 414642"/>
              <a:gd name="connsiteX64" fmla="*/ 351390 w 607639"/>
              <a:gd name="connsiteY64" fmla="*/ 154766 h 414642"/>
              <a:gd name="connsiteX65" fmla="*/ 394921 w 607639"/>
              <a:gd name="connsiteY65" fmla="*/ 198213 h 414642"/>
              <a:gd name="connsiteX66" fmla="*/ 471925 w 607639"/>
              <a:gd name="connsiteY66" fmla="*/ 121359 h 414642"/>
              <a:gd name="connsiteX67" fmla="*/ 425367 w 607639"/>
              <a:gd name="connsiteY67" fmla="*/ 121359 h 414642"/>
              <a:gd name="connsiteX68" fmla="*/ 415218 w 607639"/>
              <a:gd name="connsiteY68" fmla="*/ 111231 h 414642"/>
              <a:gd name="connsiteX69" fmla="*/ 425367 w 607639"/>
              <a:gd name="connsiteY69" fmla="*/ 101191 h 414642"/>
              <a:gd name="connsiteX70" fmla="*/ 101297 w 607639"/>
              <a:gd name="connsiteY70" fmla="*/ 91029 h 414642"/>
              <a:gd name="connsiteX71" fmla="*/ 111423 w 607639"/>
              <a:gd name="connsiteY71" fmla="*/ 101159 h 414642"/>
              <a:gd name="connsiteX72" fmla="*/ 111423 w 607639"/>
              <a:gd name="connsiteY72" fmla="*/ 262887 h 414642"/>
              <a:gd name="connsiteX73" fmla="*/ 101297 w 607639"/>
              <a:gd name="connsiteY73" fmla="*/ 273017 h 414642"/>
              <a:gd name="connsiteX74" fmla="*/ 91171 w 607639"/>
              <a:gd name="connsiteY74" fmla="*/ 262887 h 414642"/>
              <a:gd name="connsiteX75" fmla="*/ 91171 w 607639"/>
              <a:gd name="connsiteY75" fmla="*/ 101159 h 414642"/>
              <a:gd name="connsiteX76" fmla="*/ 101297 w 607639"/>
              <a:gd name="connsiteY76" fmla="*/ 91029 h 414642"/>
              <a:gd name="connsiteX77" fmla="*/ 70848 w 607639"/>
              <a:gd name="connsiteY77" fmla="*/ 20177 h 414642"/>
              <a:gd name="connsiteX78" fmla="*/ 60791 w 607639"/>
              <a:gd name="connsiteY78" fmla="*/ 30309 h 414642"/>
              <a:gd name="connsiteX79" fmla="*/ 60791 w 607639"/>
              <a:gd name="connsiteY79" fmla="*/ 343802 h 414642"/>
              <a:gd name="connsiteX80" fmla="*/ 222780 w 607639"/>
              <a:gd name="connsiteY80" fmla="*/ 343802 h 414642"/>
              <a:gd name="connsiteX81" fmla="*/ 232927 w 607639"/>
              <a:gd name="connsiteY81" fmla="*/ 353935 h 414642"/>
              <a:gd name="connsiteX82" fmla="*/ 232927 w 607639"/>
              <a:gd name="connsiteY82" fmla="*/ 364067 h 414642"/>
              <a:gd name="connsiteX83" fmla="*/ 374712 w 607639"/>
              <a:gd name="connsiteY83" fmla="*/ 364067 h 414642"/>
              <a:gd name="connsiteX84" fmla="*/ 374712 w 607639"/>
              <a:gd name="connsiteY84" fmla="*/ 353935 h 414642"/>
              <a:gd name="connsiteX85" fmla="*/ 384859 w 607639"/>
              <a:gd name="connsiteY85" fmla="*/ 343802 h 414642"/>
              <a:gd name="connsiteX86" fmla="*/ 546848 w 607639"/>
              <a:gd name="connsiteY86" fmla="*/ 343802 h 414642"/>
              <a:gd name="connsiteX87" fmla="*/ 546848 w 607639"/>
              <a:gd name="connsiteY87" fmla="*/ 30309 h 414642"/>
              <a:gd name="connsiteX88" fmla="*/ 536702 w 607639"/>
              <a:gd name="connsiteY88" fmla="*/ 20177 h 414642"/>
              <a:gd name="connsiteX89" fmla="*/ 70848 w 607639"/>
              <a:gd name="connsiteY89" fmla="*/ 0 h 414642"/>
              <a:gd name="connsiteX90" fmla="*/ 536702 w 607639"/>
              <a:gd name="connsiteY90" fmla="*/ 0 h 414642"/>
              <a:gd name="connsiteX91" fmla="*/ 567142 w 607639"/>
              <a:gd name="connsiteY91" fmla="*/ 30309 h 414642"/>
              <a:gd name="connsiteX92" fmla="*/ 567142 w 607639"/>
              <a:gd name="connsiteY92" fmla="*/ 343802 h 414642"/>
              <a:gd name="connsiteX93" fmla="*/ 597492 w 607639"/>
              <a:gd name="connsiteY93" fmla="*/ 343802 h 414642"/>
              <a:gd name="connsiteX94" fmla="*/ 607639 w 607639"/>
              <a:gd name="connsiteY94" fmla="*/ 353935 h 414642"/>
              <a:gd name="connsiteX95" fmla="*/ 607639 w 607639"/>
              <a:gd name="connsiteY95" fmla="*/ 384244 h 414642"/>
              <a:gd name="connsiteX96" fmla="*/ 577199 w 607639"/>
              <a:gd name="connsiteY96" fmla="*/ 414642 h 414642"/>
              <a:gd name="connsiteX97" fmla="*/ 30351 w 607639"/>
              <a:gd name="connsiteY97" fmla="*/ 414642 h 414642"/>
              <a:gd name="connsiteX98" fmla="*/ 0 w 607639"/>
              <a:gd name="connsiteY98" fmla="*/ 384244 h 414642"/>
              <a:gd name="connsiteX99" fmla="*/ 0 w 607639"/>
              <a:gd name="connsiteY99" fmla="*/ 353935 h 414642"/>
              <a:gd name="connsiteX100" fmla="*/ 10147 w 607639"/>
              <a:gd name="connsiteY100" fmla="*/ 343802 h 414642"/>
              <a:gd name="connsiteX101" fmla="*/ 40497 w 607639"/>
              <a:gd name="connsiteY101" fmla="*/ 343802 h 414642"/>
              <a:gd name="connsiteX102" fmla="*/ 40497 w 607639"/>
              <a:gd name="connsiteY102" fmla="*/ 30309 h 414642"/>
              <a:gd name="connsiteX103" fmla="*/ 70848 w 607639"/>
              <a:gd name="connsiteY103" fmla="*/ 0 h 41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7639" h="414642">
                <a:moveTo>
                  <a:pt x="20293" y="364067"/>
                </a:moveTo>
                <a:lnTo>
                  <a:pt x="20293" y="384244"/>
                </a:lnTo>
                <a:cubicBezTo>
                  <a:pt x="20293" y="390377"/>
                  <a:pt x="24298" y="394377"/>
                  <a:pt x="30351" y="394377"/>
                </a:cubicBezTo>
                <a:lnTo>
                  <a:pt x="577199" y="394377"/>
                </a:lnTo>
                <a:cubicBezTo>
                  <a:pt x="583341" y="394377"/>
                  <a:pt x="587346" y="390377"/>
                  <a:pt x="587346" y="384244"/>
                </a:cubicBezTo>
                <a:lnTo>
                  <a:pt x="587346" y="364067"/>
                </a:lnTo>
                <a:lnTo>
                  <a:pt x="556995" y="364067"/>
                </a:lnTo>
                <a:lnTo>
                  <a:pt x="394916" y="364067"/>
                </a:lnTo>
                <a:lnTo>
                  <a:pt x="394916" y="374200"/>
                </a:lnTo>
                <a:cubicBezTo>
                  <a:pt x="394916" y="380244"/>
                  <a:pt x="390911" y="384244"/>
                  <a:pt x="384859" y="384244"/>
                </a:cubicBezTo>
                <a:lnTo>
                  <a:pt x="222780" y="384244"/>
                </a:lnTo>
                <a:cubicBezTo>
                  <a:pt x="216728" y="384244"/>
                  <a:pt x="212634" y="380244"/>
                  <a:pt x="212634" y="374200"/>
                </a:cubicBezTo>
                <a:lnTo>
                  <a:pt x="212634" y="364067"/>
                </a:lnTo>
                <a:lnTo>
                  <a:pt x="50644" y="364067"/>
                </a:lnTo>
                <a:close/>
                <a:moveTo>
                  <a:pt x="141754" y="232583"/>
                </a:moveTo>
                <a:lnTo>
                  <a:pt x="161961" y="232583"/>
                </a:lnTo>
                <a:cubicBezTo>
                  <a:pt x="168104" y="232583"/>
                  <a:pt x="172110" y="236584"/>
                  <a:pt x="172110" y="242719"/>
                </a:cubicBezTo>
                <a:cubicBezTo>
                  <a:pt x="172110" y="248764"/>
                  <a:pt x="168104" y="252765"/>
                  <a:pt x="161961" y="252765"/>
                </a:cubicBezTo>
                <a:lnTo>
                  <a:pt x="141754" y="252765"/>
                </a:lnTo>
                <a:cubicBezTo>
                  <a:pt x="135700" y="252765"/>
                  <a:pt x="131605" y="248764"/>
                  <a:pt x="131605" y="242719"/>
                </a:cubicBezTo>
                <a:cubicBezTo>
                  <a:pt x="131605" y="236584"/>
                  <a:pt x="135700" y="232583"/>
                  <a:pt x="141754" y="232583"/>
                </a:cubicBezTo>
                <a:close/>
                <a:moveTo>
                  <a:pt x="141758" y="192149"/>
                </a:moveTo>
                <a:lnTo>
                  <a:pt x="182279" y="192149"/>
                </a:lnTo>
                <a:cubicBezTo>
                  <a:pt x="188335" y="192149"/>
                  <a:pt x="192432" y="196150"/>
                  <a:pt x="192432" y="202196"/>
                </a:cubicBezTo>
                <a:cubicBezTo>
                  <a:pt x="192432" y="208330"/>
                  <a:pt x="188335" y="212331"/>
                  <a:pt x="182279" y="212331"/>
                </a:cubicBezTo>
                <a:lnTo>
                  <a:pt x="141758" y="212331"/>
                </a:lnTo>
                <a:cubicBezTo>
                  <a:pt x="135702" y="212331"/>
                  <a:pt x="131605" y="208330"/>
                  <a:pt x="131605" y="202196"/>
                </a:cubicBezTo>
                <a:cubicBezTo>
                  <a:pt x="131605" y="196150"/>
                  <a:pt x="135702" y="192149"/>
                  <a:pt x="141758" y="192149"/>
                </a:cubicBezTo>
                <a:close/>
                <a:moveTo>
                  <a:pt x="141754" y="151716"/>
                </a:moveTo>
                <a:lnTo>
                  <a:pt x="161961" y="151716"/>
                </a:lnTo>
                <a:cubicBezTo>
                  <a:pt x="168104" y="151716"/>
                  <a:pt x="172110" y="155717"/>
                  <a:pt x="172110" y="161763"/>
                </a:cubicBezTo>
                <a:cubicBezTo>
                  <a:pt x="172110" y="167897"/>
                  <a:pt x="168104" y="171898"/>
                  <a:pt x="161961" y="171898"/>
                </a:cubicBezTo>
                <a:lnTo>
                  <a:pt x="141754" y="171898"/>
                </a:lnTo>
                <a:cubicBezTo>
                  <a:pt x="135700" y="171898"/>
                  <a:pt x="131605" y="167897"/>
                  <a:pt x="131605" y="161763"/>
                </a:cubicBezTo>
                <a:cubicBezTo>
                  <a:pt x="131605" y="155717"/>
                  <a:pt x="135700" y="151716"/>
                  <a:pt x="141754" y="151716"/>
                </a:cubicBezTo>
                <a:close/>
                <a:moveTo>
                  <a:pt x="141758" y="111211"/>
                </a:moveTo>
                <a:lnTo>
                  <a:pt x="182279" y="111211"/>
                </a:lnTo>
                <a:cubicBezTo>
                  <a:pt x="188335" y="111211"/>
                  <a:pt x="192432" y="115297"/>
                  <a:pt x="192432" y="121337"/>
                </a:cubicBezTo>
                <a:cubicBezTo>
                  <a:pt x="192432" y="127377"/>
                  <a:pt x="188335" y="131463"/>
                  <a:pt x="182279" y="131463"/>
                </a:cubicBezTo>
                <a:lnTo>
                  <a:pt x="141758" y="131463"/>
                </a:lnTo>
                <a:cubicBezTo>
                  <a:pt x="135702" y="131463"/>
                  <a:pt x="131605" y="127377"/>
                  <a:pt x="131605" y="121337"/>
                </a:cubicBezTo>
                <a:cubicBezTo>
                  <a:pt x="131605" y="115297"/>
                  <a:pt x="135702" y="111211"/>
                  <a:pt x="141758" y="111211"/>
                </a:cubicBezTo>
                <a:close/>
                <a:moveTo>
                  <a:pt x="425367" y="101191"/>
                </a:moveTo>
                <a:lnTo>
                  <a:pt x="496228" y="101191"/>
                </a:lnTo>
                <a:cubicBezTo>
                  <a:pt x="502282" y="101191"/>
                  <a:pt x="506377" y="105189"/>
                  <a:pt x="506377" y="111231"/>
                </a:cubicBezTo>
                <a:lnTo>
                  <a:pt x="506377" y="182042"/>
                </a:lnTo>
                <a:cubicBezTo>
                  <a:pt x="506377" y="188084"/>
                  <a:pt x="502282" y="192171"/>
                  <a:pt x="496228" y="192171"/>
                </a:cubicBezTo>
                <a:cubicBezTo>
                  <a:pt x="490175" y="192171"/>
                  <a:pt x="486080" y="188084"/>
                  <a:pt x="486080" y="182042"/>
                </a:cubicBezTo>
                <a:lnTo>
                  <a:pt x="486080" y="135575"/>
                </a:lnTo>
                <a:lnTo>
                  <a:pt x="402043" y="219447"/>
                </a:lnTo>
                <a:cubicBezTo>
                  <a:pt x="399996" y="221491"/>
                  <a:pt x="397948" y="222468"/>
                  <a:pt x="394921" y="222468"/>
                </a:cubicBezTo>
                <a:cubicBezTo>
                  <a:pt x="391895" y="222468"/>
                  <a:pt x="389847" y="221491"/>
                  <a:pt x="387889" y="219447"/>
                </a:cubicBezTo>
                <a:lnTo>
                  <a:pt x="344268" y="176001"/>
                </a:lnTo>
                <a:lnTo>
                  <a:pt x="270380" y="249744"/>
                </a:lnTo>
                <a:cubicBezTo>
                  <a:pt x="268332" y="251788"/>
                  <a:pt x="266285" y="252765"/>
                  <a:pt x="263258" y="252765"/>
                </a:cubicBezTo>
                <a:cubicBezTo>
                  <a:pt x="260231" y="252765"/>
                  <a:pt x="258184" y="251788"/>
                  <a:pt x="256225" y="249744"/>
                </a:cubicBezTo>
                <a:cubicBezTo>
                  <a:pt x="252130" y="245746"/>
                  <a:pt x="252130" y="239616"/>
                  <a:pt x="256225" y="235617"/>
                </a:cubicBezTo>
                <a:lnTo>
                  <a:pt x="337235" y="154766"/>
                </a:lnTo>
                <a:cubicBezTo>
                  <a:pt x="337769" y="154233"/>
                  <a:pt x="338303" y="153789"/>
                  <a:pt x="338837" y="153433"/>
                </a:cubicBezTo>
                <a:cubicBezTo>
                  <a:pt x="339372" y="152989"/>
                  <a:pt x="339995" y="152723"/>
                  <a:pt x="340618" y="152456"/>
                </a:cubicBezTo>
                <a:cubicBezTo>
                  <a:pt x="340885" y="152367"/>
                  <a:pt x="341152" y="152190"/>
                  <a:pt x="341508" y="152101"/>
                </a:cubicBezTo>
                <a:cubicBezTo>
                  <a:pt x="342131" y="151923"/>
                  <a:pt x="342754" y="151834"/>
                  <a:pt x="343378" y="151745"/>
                </a:cubicBezTo>
                <a:cubicBezTo>
                  <a:pt x="343645" y="151745"/>
                  <a:pt x="344001" y="151745"/>
                  <a:pt x="344268" y="151745"/>
                </a:cubicBezTo>
                <a:cubicBezTo>
                  <a:pt x="344980" y="151745"/>
                  <a:pt x="345603" y="151745"/>
                  <a:pt x="346226" y="151923"/>
                </a:cubicBezTo>
                <a:cubicBezTo>
                  <a:pt x="348096" y="152278"/>
                  <a:pt x="349876" y="153256"/>
                  <a:pt x="351390" y="154766"/>
                </a:cubicBezTo>
                <a:lnTo>
                  <a:pt x="394921" y="198213"/>
                </a:lnTo>
                <a:lnTo>
                  <a:pt x="471925" y="121359"/>
                </a:lnTo>
                <a:lnTo>
                  <a:pt x="425367" y="121359"/>
                </a:lnTo>
                <a:cubicBezTo>
                  <a:pt x="419224" y="121359"/>
                  <a:pt x="415218" y="117361"/>
                  <a:pt x="415218" y="111231"/>
                </a:cubicBezTo>
                <a:cubicBezTo>
                  <a:pt x="415218" y="105189"/>
                  <a:pt x="419224" y="101191"/>
                  <a:pt x="425367" y="101191"/>
                </a:cubicBezTo>
                <a:close/>
                <a:moveTo>
                  <a:pt x="101297" y="91029"/>
                </a:moveTo>
                <a:cubicBezTo>
                  <a:pt x="107337" y="91029"/>
                  <a:pt x="111423" y="95028"/>
                  <a:pt x="111423" y="101159"/>
                </a:cubicBezTo>
                <a:lnTo>
                  <a:pt x="111423" y="262887"/>
                </a:lnTo>
                <a:cubicBezTo>
                  <a:pt x="111423" y="268929"/>
                  <a:pt x="107337" y="273017"/>
                  <a:pt x="101297" y="273017"/>
                </a:cubicBezTo>
                <a:cubicBezTo>
                  <a:pt x="95257" y="273017"/>
                  <a:pt x="91171" y="268929"/>
                  <a:pt x="91171" y="262887"/>
                </a:cubicBezTo>
                <a:lnTo>
                  <a:pt x="91171" y="101159"/>
                </a:lnTo>
                <a:cubicBezTo>
                  <a:pt x="91171" y="95028"/>
                  <a:pt x="95257" y="91029"/>
                  <a:pt x="101297" y="91029"/>
                </a:cubicBezTo>
                <a:close/>
                <a:moveTo>
                  <a:pt x="70848" y="20177"/>
                </a:moveTo>
                <a:cubicBezTo>
                  <a:pt x="64796" y="20177"/>
                  <a:pt x="60791" y="24265"/>
                  <a:pt x="60791" y="30309"/>
                </a:cubicBezTo>
                <a:lnTo>
                  <a:pt x="60791" y="343802"/>
                </a:lnTo>
                <a:lnTo>
                  <a:pt x="222780" y="343802"/>
                </a:lnTo>
                <a:cubicBezTo>
                  <a:pt x="228833" y="343802"/>
                  <a:pt x="232927" y="347890"/>
                  <a:pt x="232927" y="353935"/>
                </a:cubicBezTo>
                <a:lnTo>
                  <a:pt x="232927" y="364067"/>
                </a:lnTo>
                <a:lnTo>
                  <a:pt x="374712" y="364067"/>
                </a:lnTo>
                <a:lnTo>
                  <a:pt x="374712" y="353935"/>
                </a:lnTo>
                <a:cubicBezTo>
                  <a:pt x="374712" y="347890"/>
                  <a:pt x="378717" y="343802"/>
                  <a:pt x="384859" y="343802"/>
                </a:cubicBezTo>
                <a:lnTo>
                  <a:pt x="546848" y="343802"/>
                </a:lnTo>
                <a:lnTo>
                  <a:pt x="546848" y="30309"/>
                </a:lnTo>
                <a:cubicBezTo>
                  <a:pt x="546848" y="24265"/>
                  <a:pt x="542754" y="20177"/>
                  <a:pt x="536702" y="20177"/>
                </a:cubicBezTo>
                <a:close/>
                <a:moveTo>
                  <a:pt x="70848" y="0"/>
                </a:moveTo>
                <a:lnTo>
                  <a:pt x="536702" y="0"/>
                </a:lnTo>
                <a:cubicBezTo>
                  <a:pt x="553969" y="0"/>
                  <a:pt x="567142" y="13155"/>
                  <a:pt x="567142" y="30309"/>
                </a:cubicBezTo>
                <a:lnTo>
                  <a:pt x="567142" y="343802"/>
                </a:lnTo>
                <a:lnTo>
                  <a:pt x="597492" y="343802"/>
                </a:lnTo>
                <a:cubicBezTo>
                  <a:pt x="603545" y="343802"/>
                  <a:pt x="607639" y="347890"/>
                  <a:pt x="607639" y="353935"/>
                </a:cubicBezTo>
                <a:lnTo>
                  <a:pt x="607639" y="384244"/>
                </a:lnTo>
                <a:cubicBezTo>
                  <a:pt x="607639" y="401487"/>
                  <a:pt x="594466" y="414642"/>
                  <a:pt x="577199" y="414642"/>
                </a:cubicBezTo>
                <a:lnTo>
                  <a:pt x="30351" y="414642"/>
                </a:lnTo>
                <a:cubicBezTo>
                  <a:pt x="13173" y="414642"/>
                  <a:pt x="0" y="401487"/>
                  <a:pt x="0" y="384244"/>
                </a:cubicBezTo>
                <a:lnTo>
                  <a:pt x="0" y="353935"/>
                </a:lnTo>
                <a:cubicBezTo>
                  <a:pt x="0" y="347890"/>
                  <a:pt x="4094" y="343802"/>
                  <a:pt x="10147" y="343802"/>
                </a:cubicBezTo>
                <a:lnTo>
                  <a:pt x="40497" y="343802"/>
                </a:lnTo>
                <a:lnTo>
                  <a:pt x="40497" y="30309"/>
                </a:lnTo>
                <a:cubicBezTo>
                  <a:pt x="40497" y="13155"/>
                  <a:pt x="53670" y="0"/>
                  <a:pt x="70848" y="0"/>
                </a:cubicBezTo>
                <a:close/>
              </a:path>
            </a:pathLst>
          </a:custGeom>
          <a:solidFill>
            <a:schemeClr val="accent1"/>
          </a:solidFill>
          <a:ln>
            <a:noFill/>
          </a:ln>
        </p:spPr>
        <p:txBody>
          <a:bodyPr anchor="ct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endParaRPr sz="1350"/>
          </a:p>
        </p:txBody>
      </p:sp>
      <p:cxnSp>
        <p:nvCxnSpPr>
          <p:cNvPr id="1538" name="直接连接符 1537"/>
          <p:cNvCxnSpPr/>
          <p:nvPr>
            <p:custDataLst>
              <p:tags r:id="rId6"/>
            </p:custDataLst>
          </p:nvPr>
        </p:nvCxnSpPr>
        <p:spPr>
          <a:xfrm>
            <a:off x="661761" y="3601238"/>
            <a:ext cx="4890335"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539" name="文本框 1538"/>
          <p:cNvSpPr txBox="1"/>
          <p:nvPr>
            <p:custDataLst>
              <p:tags r:id="rId7"/>
            </p:custDataLst>
          </p:nvPr>
        </p:nvSpPr>
        <p:spPr>
          <a:xfrm>
            <a:off x="1318260" y="4097020"/>
            <a:ext cx="7096760" cy="2261235"/>
          </a:xfrm>
          <a:prstGeom prst="rect">
            <a:avLst/>
          </a:prstGeom>
          <a:noFill/>
        </p:spPr>
        <p:txBody>
          <a:bodyPr wrap="square" lIns="67500" tIns="35100" rIns="67500" bIns="35100" rtlCol="0">
            <a:normAutofit/>
          </a:bodyPr>
          <a:lstStyle/>
          <a:p>
            <a:pPr marL="0" lvl="0" algn="just">
              <a:lnSpc>
                <a:spcPct val="150000"/>
              </a:lnSpc>
              <a:spcBef>
                <a:spcPts val="0"/>
              </a:spcBef>
              <a:spcAft>
                <a:spcPts val="0"/>
              </a:spcAft>
              <a:buClrTx/>
              <a:buSzTx/>
              <a:buFontTx/>
            </a:pPr>
            <a:r>
              <a:rPr lang="zh-CN" altLang="en-US" sz="1800">
                <a:solidFill>
                  <a:schemeClr val="tx1"/>
                </a:solidFill>
                <a:latin typeface="微软雅黑" panose="020B0503020204020204" charset="-122"/>
                <a:ea typeface="微软雅黑" panose="020B0503020204020204" charset="-122"/>
              </a:rPr>
              <a:t>是为了特定应用而人为设计的语言。例如数学家用的数字和运算符号、化学家用的分子式等。是</a:t>
            </a:r>
            <a:r>
              <a:rPr lang="zh-CN" altLang="en-US" sz="1800">
                <a:latin typeface="微软雅黑" panose="020B0503020204020204" charset="-122"/>
                <a:ea typeface="微软雅黑" panose="020B0503020204020204" charset="-122"/>
                <a:sym typeface="+mn-ea"/>
              </a:rPr>
              <a:t>一种由标记和符号组成的形式化系统，包括该系统所容许的表达式的形成和转换的规则。</a:t>
            </a:r>
            <a:endParaRPr lang="zh-CN" altLang="en-US" sz="1800">
              <a:solidFill>
                <a:schemeClr val="tx1"/>
              </a:solidFill>
              <a:latin typeface="微软雅黑" panose="020B0503020204020204" charset="-122"/>
              <a:ea typeface="微软雅黑" panose="020B0503020204020204" charset="-122"/>
            </a:endParaRPr>
          </a:p>
        </p:txBody>
      </p:sp>
      <p:sp>
        <p:nvSpPr>
          <p:cNvPr id="1540" name="文本框 1539"/>
          <p:cNvSpPr txBox="1"/>
          <p:nvPr>
            <p:custDataLst>
              <p:tags r:id="rId8"/>
            </p:custDataLst>
          </p:nvPr>
        </p:nvSpPr>
        <p:spPr>
          <a:xfrm>
            <a:off x="1318462" y="3763573"/>
            <a:ext cx="4308489" cy="284265"/>
          </a:xfrm>
          <a:prstGeom prst="rect">
            <a:avLst/>
          </a:prstGeom>
          <a:noFill/>
        </p:spPr>
        <p:txBody>
          <a:bodyPr wrap="square" rtlCol="0">
            <a:noAutofit/>
          </a:bodyPr>
          <a:lstStyle>
            <a:defPPr>
              <a:defRPr lang="zh-CN"/>
            </a:defPPr>
            <a:lvl1pPr>
              <a:defRPr sz="1400" b="1">
                <a:solidFill>
                  <a:schemeClr val="accent1"/>
                </a:solidFill>
              </a:defRPr>
            </a:lvl1pPr>
          </a:lstStyle>
          <a:p>
            <a:pPr marL="0" indent="0" algn="l">
              <a:lnSpc>
                <a:spcPct val="100000"/>
              </a:lnSpc>
              <a:spcBef>
                <a:spcPts val="0"/>
              </a:spcBef>
              <a:spcAft>
                <a:spcPts val="0"/>
              </a:spcAft>
              <a:buSzPct val="100000"/>
            </a:pPr>
            <a:r>
              <a:rPr lang="zh-CN" altLang="en-US" sz="1800">
                <a:latin typeface="微软雅黑" panose="020B0503020204020204" charset="-122"/>
                <a:ea typeface="微软雅黑" panose="020B0503020204020204" charset="-122"/>
                <a:cs typeface="微软雅黑" panose="020B0503020204020204" charset="-122"/>
              </a:rPr>
              <a:t>形式语言（Formal Language）</a:t>
            </a:r>
            <a:endParaRPr lang="zh-CN" altLang="en-US" sz="1800">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342900" y="1004570"/>
            <a:ext cx="8166100" cy="829945"/>
          </a:xfrm>
          <a:prstGeom prst="rect">
            <a:avLst/>
          </a:prstGeom>
          <a:noFill/>
        </p:spPr>
        <p:txBody>
          <a:bodyPr wrap="square" rtlCol="0" anchor="t">
            <a:spAutoFit/>
          </a:bodyPr>
          <a:lstStyle/>
          <a:p>
            <a:pPr>
              <a:lnSpc>
                <a:spcPct val="120000"/>
              </a:lnSpc>
            </a:pPr>
            <a:r>
              <a:rPr lang="zh-CN" altLang="en-US" sz="2000" b="1">
                <a:solidFill>
                  <a:srgbClr val="577CCE"/>
                </a:solidFill>
                <a:latin typeface="微软雅黑" panose="020B0503020204020204" charset="-122"/>
                <a:ea typeface="微软雅黑" panose="020B0503020204020204" charset="-122"/>
              </a:rPr>
              <a:t>语言：</a:t>
            </a:r>
            <a:r>
              <a:rPr lang="zh-CN" altLang="en-US" sz="2000" b="1">
                <a:latin typeface="微软雅黑" panose="020B0503020204020204" charset="-122"/>
                <a:ea typeface="微软雅黑" panose="020B0503020204020204" charset="-122"/>
              </a:rPr>
              <a:t>人类所特有的用来表达意思、交流思想的工具，是一种特殊的社会现象，由</a:t>
            </a:r>
            <a:r>
              <a:rPr lang="zh-CN" altLang="en-US" sz="2000" b="1">
                <a:solidFill>
                  <a:srgbClr val="577CCE"/>
                </a:solidFill>
                <a:latin typeface="微软雅黑" panose="020B0503020204020204" charset="-122"/>
                <a:ea typeface="微软雅黑" panose="020B0503020204020204" charset="-122"/>
              </a:rPr>
              <a:t>语音、词汇和语法</a:t>
            </a:r>
            <a:r>
              <a:rPr lang="zh-CN" altLang="en-US" sz="2000" b="1">
                <a:latin typeface="微软雅黑" panose="020B0503020204020204" charset="-122"/>
                <a:ea typeface="微软雅黑" panose="020B0503020204020204" charset="-122"/>
              </a:rPr>
              <a:t>构成一定的系统。</a:t>
            </a:r>
            <a:endParaRPr lang="zh-CN" altLang="en-US" sz="2000" b="1">
              <a:latin typeface="微软雅黑" panose="020B0503020204020204" charset="-122"/>
              <a:ea typeface="微软雅黑" panose="020B0503020204020204" charset="-122"/>
            </a:endParaRPr>
          </a:p>
        </p:txBody>
      </p:sp>
      <p:sp>
        <p:nvSpPr>
          <p:cNvPr id="5" name="文本框 4"/>
          <p:cNvSpPr txBox="1"/>
          <p:nvPr/>
        </p:nvSpPr>
        <p:spPr>
          <a:xfrm>
            <a:off x="1318260" y="5742305"/>
            <a:ext cx="4014470" cy="368300"/>
          </a:xfrm>
          <a:prstGeom prst="rect">
            <a:avLst/>
          </a:prstGeom>
          <a:noFill/>
        </p:spPr>
        <p:txBody>
          <a:bodyPr wrap="none" rtlCol="0">
            <a:spAutoFit/>
          </a:bodyPr>
          <a:lstStyle/>
          <a:p>
            <a:pPr algn="l">
              <a:spcBef>
                <a:spcPts val="0"/>
              </a:spcBef>
              <a:spcAft>
                <a:spcPts val="0"/>
              </a:spcAft>
              <a:buClrTx/>
              <a:buSzTx/>
              <a:buFontTx/>
            </a:pPr>
            <a:r>
              <a:rPr lang="zh-CN" altLang="en-US" sz="1800" b="1">
                <a:solidFill>
                  <a:schemeClr val="accent1"/>
                </a:solidFill>
                <a:latin typeface="微软雅黑" panose="020B0503020204020204" charset="-122"/>
                <a:ea typeface="微软雅黑" panose="020B0503020204020204" charset="-122"/>
                <a:cs typeface="微软雅黑" panose="020B0503020204020204" charset="-122"/>
              </a:rPr>
              <a:t>半形式化语言：自然语言+特定的符号</a:t>
            </a:r>
            <a:endParaRPr lang="zh-CN" altLang="en-US" sz="1800" b="1">
              <a:solidFill>
                <a:schemeClr val="accent1"/>
              </a:solidFill>
              <a:latin typeface="微软雅黑" panose="020B0503020204020204" charset="-122"/>
              <a:ea typeface="微软雅黑" panose="020B0503020204020204" charset="-122"/>
              <a:cs typeface="微软雅黑" panose="020B0503020204020204" charset="-122"/>
            </a:endParaRPr>
          </a:p>
        </p:txBody>
      </p:sp>
    </p:spTree>
    <p:custDataLst>
      <p:tags r:id="rId9"/>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240668" y="16129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sz="2000">
                <a:solidFill>
                  <a:schemeClr val="lt1"/>
                </a:solidFill>
              </a:rPr>
              <a:t>形式语言</a:t>
            </a:r>
            <a:endParaRPr lang="zh-CN" sz="2000">
              <a:solidFill>
                <a:schemeClr val="lt1"/>
              </a:solidFill>
            </a:endParaRPr>
          </a:p>
        </p:txBody>
      </p:sp>
      <p:sp>
        <p:nvSpPr>
          <p:cNvPr id="3" name="文本框 2"/>
          <p:cNvSpPr txBox="1"/>
          <p:nvPr/>
        </p:nvSpPr>
        <p:spPr>
          <a:xfrm>
            <a:off x="1582420" y="62230"/>
            <a:ext cx="7116445" cy="829945"/>
          </a:xfrm>
          <a:prstGeom prst="rect">
            <a:avLst/>
          </a:prstGeom>
          <a:noFill/>
        </p:spPr>
        <p:txBody>
          <a:bodyPr wrap="square" rtlCol="0">
            <a:spAutoFit/>
          </a:bodyPr>
          <a:lstStyle/>
          <a:p>
            <a:r>
              <a:rPr lang="zh-CN" altLang="en-US" sz="1600" b="1">
                <a:solidFill>
                  <a:schemeClr val="accent5">
                    <a:lumMod val="20000"/>
                    <a:lumOff val="80000"/>
                  </a:schemeClr>
                </a:solidFill>
                <a:latin typeface="微软雅黑" panose="020B0503020204020204" charset="-122"/>
                <a:ea typeface="微软雅黑" panose="020B0503020204020204" charset="-122"/>
                <a:cs typeface="微软雅黑" panose="020B0503020204020204" charset="-122"/>
              </a:rPr>
              <a:t>数学语言：（数字</a:t>
            </a:r>
            <a:r>
              <a:rPr lang="en-US" altLang="zh-CN" sz="1600" b="1">
                <a:solidFill>
                  <a:schemeClr val="accent5">
                    <a:lumMod val="20000"/>
                    <a:lumOff val="80000"/>
                  </a:schemeClr>
                </a:solidFill>
                <a:latin typeface="微软雅黑" panose="020B0503020204020204" charset="-122"/>
                <a:ea typeface="微软雅黑" panose="020B0503020204020204" charset="-122"/>
                <a:cs typeface="微软雅黑" panose="020B0503020204020204" charset="-122"/>
              </a:rPr>
              <a:t>+</a:t>
            </a:r>
            <a:r>
              <a:rPr lang="zh-CN" altLang="en-US" sz="1600" b="1">
                <a:solidFill>
                  <a:schemeClr val="accent5">
                    <a:lumMod val="20000"/>
                    <a:lumOff val="80000"/>
                  </a:schemeClr>
                </a:solidFill>
                <a:latin typeface="微软雅黑" panose="020B0503020204020204" charset="-122"/>
                <a:ea typeface="微软雅黑" panose="020B0503020204020204" charset="-122"/>
                <a:cs typeface="微软雅黑" panose="020B0503020204020204" charset="-122"/>
              </a:rPr>
              <a:t>运算符）</a:t>
            </a:r>
            <a:r>
              <a:rPr lang="en-US" altLang="zh-CN" sz="1600" b="1">
                <a:solidFill>
                  <a:schemeClr val="accent5">
                    <a:lumMod val="20000"/>
                    <a:lumOff val="80000"/>
                  </a:schemeClr>
                </a:solidFill>
                <a:latin typeface="微软雅黑" panose="020B0503020204020204" charset="-122"/>
                <a:ea typeface="微软雅黑" panose="020B0503020204020204" charset="-122"/>
                <a:cs typeface="微软雅黑" panose="020B0503020204020204" charset="-122"/>
              </a:rPr>
              <a:t>--</a:t>
            </a:r>
            <a:r>
              <a:rPr lang="zh-CN" altLang="en-US" sz="1600" b="1">
                <a:solidFill>
                  <a:schemeClr val="accent5">
                    <a:lumMod val="20000"/>
                    <a:lumOff val="80000"/>
                  </a:schemeClr>
                </a:solidFill>
                <a:latin typeface="微软雅黑" panose="020B0503020204020204" charset="-122"/>
                <a:ea typeface="微软雅黑" panose="020B0503020204020204" charset="-122"/>
                <a:cs typeface="微软雅黑" panose="020B0503020204020204" charset="-122"/>
              </a:rPr>
              <a:t>半形式化语言</a:t>
            </a:r>
            <a:endParaRPr lang="zh-CN" altLang="en-US" sz="1600" b="1">
              <a:solidFill>
                <a:schemeClr val="accent5">
                  <a:lumMod val="20000"/>
                  <a:lumOff val="80000"/>
                </a:schemeClr>
              </a:solidFill>
              <a:latin typeface="微软雅黑" panose="020B0503020204020204" charset="-122"/>
              <a:ea typeface="微软雅黑" panose="020B0503020204020204" charset="-122"/>
              <a:cs typeface="微软雅黑" panose="020B0503020204020204" charset="-122"/>
            </a:endParaRPr>
          </a:p>
          <a:p>
            <a:r>
              <a:rPr lang="zh-CN" altLang="en-US" sz="1600" b="1">
                <a:solidFill>
                  <a:schemeClr val="accent5">
                    <a:lumMod val="20000"/>
                    <a:lumOff val="80000"/>
                  </a:schemeClr>
                </a:solidFill>
                <a:latin typeface="微软雅黑" panose="020B0503020204020204" charset="-122"/>
                <a:ea typeface="微软雅黑" panose="020B0503020204020204" charset="-122"/>
                <a:cs typeface="微软雅黑" panose="020B0503020204020204" charset="-122"/>
              </a:rPr>
              <a:t>编程语言（programming language）：是用来定义计算机程序的形式语言</a:t>
            </a:r>
            <a:endParaRPr lang="zh-CN" altLang="en-US" sz="1600" b="1">
              <a:solidFill>
                <a:schemeClr val="accent5">
                  <a:lumMod val="20000"/>
                  <a:lumOff val="80000"/>
                </a:schemeClr>
              </a:solidFill>
              <a:latin typeface="微软雅黑" panose="020B0503020204020204" charset="-122"/>
              <a:ea typeface="微软雅黑" panose="020B0503020204020204" charset="-122"/>
              <a:cs typeface="微软雅黑" panose="020B0503020204020204" charset="-122"/>
            </a:endParaRPr>
          </a:p>
          <a:p>
            <a:r>
              <a:rPr lang="zh-CN" altLang="en-US" sz="1600" b="1">
                <a:solidFill>
                  <a:schemeClr val="accent5">
                    <a:lumMod val="20000"/>
                    <a:lumOff val="80000"/>
                  </a:schemeClr>
                </a:solidFill>
                <a:latin typeface="微软雅黑" panose="020B0503020204020204" charset="-122"/>
                <a:ea typeface="微软雅黑" panose="020B0503020204020204" charset="-122"/>
                <a:cs typeface="微软雅黑" panose="020B0503020204020204" charset="-122"/>
              </a:rPr>
              <a:t>逻辑编程语言（Programming in logic）：面向演绎推理的逻辑型语言</a:t>
            </a:r>
            <a:endParaRPr lang="zh-CN" altLang="en-US" sz="1600" b="1">
              <a:solidFill>
                <a:schemeClr val="accent5">
                  <a:lumMod val="20000"/>
                  <a:lumOff val="80000"/>
                </a:schemeClr>
              </a:solidFill>
              <a:latin typeface="微软雅黑" panose="020B0503020204020204" charset="-122"/>
              <a:ea typeface="微软雅黑" panose="020B0503020204020204" charset="-122"/>
              <a:cs typeface="微软雅黑" panose="020B0503020204020204" charset="-122"/>
            </a:endParaRPr>
          </a:p>
        </p:txBody>
      </p:sp>
      <p:graphicFrame>
        <p:nvGraphicFramePr>
          <p:cNvPr id="6" name="图示 5"/>
          <p:cNvGraphicFramePr/>
          <p:nvPr/>
        </p:nvGraphicFramePr>
        <p:xfrm>
          <a:off x="266065" y="2806065"/>
          <a:ext cx="8674100" cy="4359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0" name="图片 99"/>
          <p:cNvPicPr/>
          <p:nvPr/>
        </p:nvPicPr>
        <p:blipFill>
          <a:blip r:embed="rId7"/>
          <a:stretch>
            <a:fillRect/>
          </a:stretch>
        </p:blipFill>
        <p:spPr>
          <a:xfrm>
            <a:off x="4130040" y="1149985"/>
            <a:ext cx="1752600" cy="2400300"/>
          </a:xfrm>
          <a:prstGeom prst="rect">
            <a:avLst/>
          </a:prstGeom>
          <a:noFill/>
          <a:ln w="9525">
            <a:noFill/>
          </a:ln>
        </p:spPr>
      </p:pic>
      <p:pic>
        <p:nvPicPr>
          <p:cNvPr id="102" name="图片 101"/>
          <p:cNvPicPr/>
          <p:nvPr/>
        </p:nvPicPr>
        <p:blipFill>
          <a:blip r:embed="rId8"/>
          <a:stretch>
            <a:fillRect/>
          </a:stretch>
        </p:blipFill>
        <p:spPr>
          <a:xfrm>
            <a:off x="2278380" y="1147445"/>
            <a:ext cx="1851660" cy="2402840"/>
          </a:xfrm>
          <a:prstGeom prst="rect">
            <a:avLst/>
          </a:prstGeom>
          <a:noFill/>
          <a:ln w="9525">
            <a:noFill/>
          </a:ln>
        </p:spPr>
      </p:pic>
      <p:pic>
        <p:nvPicPr>
          <p:cNvPr id="103" name="图片 102"/>
          <p:cNvPicPr/>
          <p:nvPr/>
        </p:nvPicPr>
        <p:blipFill>
          <a:blip r:embed="rId9"/>
          <a:srcRect r="48881"/>
          <a:stretch>
            <a:fillRect/>
          </a:stretch>
        </p:blipFill>
        <p:spPr>
          <a:xfrm>
            <a:off x="266065" y="1149350"/>
            <a:ext cx="2012315" cy="2395855"/>
          </a:xfrm>
          <a:prstGeom prst="rect">
            <a:avLst/>
          </a:prstGeom>
          <a:noFill/>
          <a:ln w="9525">
            <a:noFill/>
          </a:ln>
        </p:spPr>
      </p:pic>
      <p:pic>
        <p:nvPicPr>
          <p:cNvPr id="12" name="图片 11"/>
          <p:cNvPicPr>
            <a:picLocks noChangeAspect="1"/>
          </p:cNvPicPr>
          <p:nvPr/>
        </p:nvPicPr>
        <p:blipFill>
          <a:blip r:embed="rId10"/>
          <a:stretch>
            <a:fillRect/>
          </a:stretch>
        </p:blipFill>
        <p:spPr>
          <a:xfrm>
            <a:off x="5882640" y="1154430"/>
            <a:ext cx="3202305" cy="2395855"/>
          </a:xfrm>
          <a:prstGeom prst="rect">
            <a:avLst/>
          </a:prstGeom>
        </p:spPr>
      </p:pic>
    </p:spTree>
    <p:custDataLst>
      <p:tags r:id="rId1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图片 103"/>
          <p:cNvPicPr/>
          <p:nvPr>
            <p:custDataLst>
              <p:tags r:id="rId1"/>
            </p:custDataLst>
          </p:nvPr>
        </p:nvPicPr>
        <p:blipFill>
          <a:blip r:embed="rId2"/>
          <a:stretch>
            <a:fillRect/>
          </a:stretch>
        </p:blipFill>
        <p:spPr>
          <a:xfrm>
            <a:off x="248285" y="205740"/>
            <a:ext cx="8764905" cy="4614545"/>
          </a:xfrm>
          <a:prstGeom prst="rect">
            <a:avLst/>
          </a:prstGeom>
          <a:noFill/>
          <a:ln w="9525">
            <a:noFill/>
          </a:ln>
        </p:spPr>
      </p:pic>
      <p:sp>
        <p:nvSpPr>
          <p:cNvPr id="2" name="文本框 1"/>
          <p:cNvSpPr txBox="1"/>
          <p:nvPr/>
        </p:nvSpPr>
        <p:spPr>
          <a:xfrm>
            <a:off x="647700" y="5434330"/>
            <a:ext cx="7847965" cy="645160"/>
          </a:xfrm>
          <a:prstGeom prst="rect">
            <a:avLst/>
          </a:prstGeom>
          <a:noFill/>
        </p:spPr>
        <p:txBody>
          <a:bodyPr wrap="square" rtlCol="0" anchor="t">
            <a:spAutoFit/>
          </a:bodyPr>
          <a:lstStyle/>
          <a:p>
            <a:r>
              <a:rPr lang="zh-CN" altLang="en-US"/>
              <a:t>细节上来说，知识表示主要经历了从一阶谓词逻辑表示、产生式规则、框架表示法、脚本表示法、语义网表示法、知识图谱表示法等几种表示。</a:t>
            </a:r>
            <a:endParaRPr lang="zh-CN"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矩形 7"/>
          <p:cNvSpPr/>
          <p:nvPr>
            <p:custDataLst>
              <p:tags r:id="rId1"/>
            </p:custDataLst>
          </p:nvPr>
        </p:nvSpPr>
        <p:spPr>
          <a:xfrm>
            <a:off x="0" y="0"/>
            <a:ext cx="9144000" cy="912114"/>
          </a:xfrm>
          <a:prstGeom prst="rect">
            <a:avLst/>
          </a:prstGeom>
          <a:solidFill>
            <a:schemeClr val="accent1"/>
          </a:solidFill>
          <a:ln w="12700">
            <a:miter lim="400000"/>
          </a:ln>
        </p:spPr>
        <p:txBody>
          <a:bodyPr lIns="0" tIns="0" rIns="0" bIns="0" anchor="ctr"/>
          <a:lstStyle/>
          <a:p>
            <a:pPr algn="ctr">
              <a:defRPr>
                <a:solidFill>
                  <a:srgbClr val="FFFFFF"/>
                </a:solidFill>
              </a:defRPr>
            </a:pPr>
            <a:endParaRPr sz="1015">
              <a:solidFill>
                <a:srgbClr val="FFFFFF"/>
              </a:solidFill>
            </a:endParaRPr>
          </a:p>
        </p:txBody>
      </p:sp>
      <p:sp>
        <p:nvSpPr>
          <p:cNvPr id="256" name="文本框 6"/>
          <p:cNvSpPr txBox="1"/>
          <p:nvPr>
            <p:custDataLst>
              <p:tags r:id="rId2"/>
            </p:custDataLst>
          </p:nvPr>
        </p:nvSpPr>
        <p:spPr>
          <a:xfrm>
            <a:off x="342903"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sz="2000">
                <a:solidFill>
                  <a:schemeClr val="lt1"/>
                </a:solidFill>
              </a:rPr>
              <a:t>形式语言</a:t>
            </a:r>
            <a:r>
              <a:rPr lang="en-US" altLang="zh-CN" sz="2000">
                <a:solidFill>
                  <a:schemeClr val="lt1"/>
                </a:solidFill>
              </a:rPr>
              <a:t> vs. </a:t>
            </a:r>
            <a:r>
              <a:rPr lang="zh-CN" altLang="en-US" sz="2000">
                <a:solidFill>
                  <a:schemeClr val="lt1"/>
                </a:solidFill>
              </a:rPr>
              <a:t>自然语言</a:t>
            </a:r>
            <a:endParaRPr lang="zh-CN" altLang="en-US" sz="2000">
              <a:solidFill>
                <a:schemeClr val="lt1"/>
              </a:solidFill>
            </a:endParaRPr>
          </a:p>
        </p:txBody>
      </p:sp>
      <p:graphicFrame>
        <p:nvGraphicFramePr>
          <p:cNvPr id="3" name="表格 2"/>
          <p:cNvGraphicFramePr/>
          <p:nvPr>
            <p:custDataLst>
              <p:tags r:id="rId3"/>
            </p:custDataLst>
          </p:nvPr>
        </p:nvGraphicFramePr>
        <p:xfrm>
          <a:off x="215900" y="956924"/>
          <a:ext cx="8712200" cy="5545201"/>
        </p:xfrm>
        <a:graphic>
          <a:graphicData uri="http://schemas.openxmlformats.org/drawingml/2006/table">
            <a:tbl>
              <a:tblPr firstRow="1" bandRow="1">
                <a:tableStyleId>{5C22544A-7EE6-4342-B048-85BDC9FD1C3A}</a:tableStyleId>
              </a:tblPr>
              <a:tblGrid>
                <a:gridCol w="2524125"/>
                <a:gridCol w="2433320"/>
                <a:gridCol w="2192020"/>
                <a:gridCol w="1562735"/>
              </a:tblGrid>
              <a:tr h="491490">
                <a:tc gridSpan="3">
                  <a:txBody>
                    <a:bodyPr/>
                    <a:lstStyle/>
                    <a:p>
                      <a:pPr indent="0" algn="ctr">
                        <a:lnSpc>
                          <a:spcPct val="120000"/>
                        </a:lnSpc>
                        <a:spcBef>
                          <a:spcPts val="0"/>
                        </a:spcBef>
                        <a:spcAft>
                          <a:spcPts val="0"/>
                        </a:spcAft>
                        <a:buNone/>
                      </a:pPr>
                      <a:r>
                        <a:rPr lang="zh-CN" altLang="en-US" sz="1500" b="1" spc="120">
                          <a:solidFill>
                            <a:srgbClr val="646464"/>
                          </a:solidFill>
                          <a:latin typeface="微软雅黑" panose="020B0503020204020204" charset="-122"/>
                          <a:ea typeface="微软雅黑" panose="020B0503020204020204" charset="-122"/>
                        </a:rPr>
                        <a:t>形式语言</a:t>
                      </a:r>
                      <a:endParaRPr lang="zh-CN" altLang="en-US" sz="1500" b="1"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hMerge="1">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hMerge="1">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rowSpan="2">
                  <a:txBody>
                    <a:bodyPr/>
                    <a:lstStyle/>
                    <a:p>
                      <a:pPr indent="0" algn="ctr">
                        <a:lnSpc>
                          <a:spcPct val="120000"/>
                        </a:lnSpc>
                        <a:spcBef>
                          <a:spcPts val="0"/>
                        </a:spcBef>
                        <a:spcAft>
                          <a:spcPts val="0"/>
                        </a:spcAft>
                        <a:buNone/>
                      </a:pPr>
                      <a:r>
                        <a:rPr lang="zh-CN" altLang="en-US" sz="1500" b="1" spc="120">
                          <a:solidFill>
                            <a:srgbClr val="646464"/>
                          </a:solidFill>
                          <a:latin typeface="微软雅黑" panose="020B0503020204020204" charset="-122"/>
                          <a:ea typeface="微软雅黑" panose="020B0503020204020204" charset="-122"/>
                        </a:rPr>
                        <a:t>自然语言</a:t>
                      </a:r>
                      <a:endParaRPr lang="zh-CN" altLang="en-US" sz="1500" b="1"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r h="325120">
                <a:tc>
                  <a:txBody>
                    <a:bodyPr/>
                    <a:lstStyle/>
                    <a:p>
                      <a:pPr indent="0" algn="ctr">
                        <a:lnSpc>
                          <a:spcPct val="120000"/>
                        </a:lnSpc>
                        <a:spcBef>
                          <a:spcPts val="0"/>
                        </a:spcBef>
                        <a:spcAft>
                          <a:spcPts val="0"/>
                        </a:spcAft>
                        <a:buNone/>
                      </a:pPr>
                      <a:r>
                        <a:rPr lang="zh-CN" altLang="en-US" sz="1500" b="1" spc="120">
                          <a:solidFill>
                            <a:srgbClr val="646464"/>
                          </a:solidFill>
                          <a:latin typeface="微软雅黑" panose="020B0503020204020204" charset="-122"/>
                          <a:ea typeface="微软雅黑" panose="020B0503020204020204" charset="-122"/>
                        </a:rPr>
                        <a:t>程序设计语言</a:t>
                      </a:r>
                      <a:endParaRPr lang="zh-CN" altLang="en-US" sz="1500" b="1"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FFFFF"/>
                    </a:solidFill>
                  </a:tcPr>
                </a:tc>
                <a:tc>
                  <a:txBody>
                    <a:bodyPr/>
                    <a:lstStyle/>
                    <a:p>
                      <a:pPr indent="0" algn="ctr">
                        <a:lnSpc>
                          <a:spcPct val="120000"/>
                        </a:lnSpc>
                        <a:spcBef>
                          <a:spcPts val="0"/>
                        </a:spcBef>
                        <a:spcAft>
                          <a:spcPts val="0"/>
                        </a:spcAft>
                        <a:buNone/>
                      </a:pPr>
                      <a:r>
                        <a:rPr lang="zh-CN" altLang="en-US" sz="1500" b="1" spc="120">
                          <a:solidFill>
                            <a:srgbClr val="646464"/>
                          </a:solidFill>
                          <a:latin typeface="微软雅黑" panose="020B0503020204020204" charset="-122"/>
                          <a:ea typeface="微软雅黑" panose="020B0503020204020204" charset="-122"/>
                        </a:rPr>
                        <a:t>命题逻辑</a:t>
                      </a:r>
                      <a:endParaRPr lang="zh-CN" altLang="en-US" sz="1500" b="1"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FFFFF"/>
                    </a:solidFill>
                  </a:tcPr>
                </a:tc>
                <a:tc>
                  <a:txBody>
                    <a:bodyPr/>
                    <a:lstStyle/>
                    <a:p>
                      <a:pPr indent="0" algn="ctr">
                        <a:lnSpc>
                          <a:spcPct val="120000"/>
                        </a:lnSpc>
                        <a:spcBef>
                          <a:spcPts val="0"/>
                        </a:spcBef>
                        <a:spcAft>
                          <a:spcPts val="0"/>
                        </a:spcAft>
                        <a:buNone/>
                      </a:pPr>
                      <a:r>
                        <a:rPr lang="zh-CN" altLang="en-US" sz="1500" b="1" spc="120">
                          <a:solidFill>
                            <a:srgbClr val="646464"/>
                          </a:solidFill>
                          <a:latin typeface="微软雅黑" panose="020B0503020204020204" charset="-122"/>
                          <a:ea typeface="微软雅黑" panose="020B0503020204020204" charset="-122"/>
                        </a:rPr>
                        <a:t>一阶谓词逻辑</a:t>
                      </a:r>
                      <a:endParaRPr lang="zh-CN" altLang="en-US" sz="1500" b="1"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FFFFF"/>
                    </a:solidFill>
                  </a:tcPr>
                </a:tc>
                <a:tc vMerge="1">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r h="306070">
                <a:tc>
                  <a:txBody>
                    <a:bodyPr/>
                    <a:lstStyle/>
                    <a:p>
                      <a:pPr indent="0" algn="l">
                        <a:lnSpc>
                          <a:spcPct val="120000"/>
                        </a:lnSpc>
                        <a:spcBef>
                          <a:spcPts val="0"/>
                        </a:spcBef>
                        <a:spcAft>
                          <a:spcPts val="0"/>
                        </a:spcAft>
                        <a:buNone/>
                      </a:pPr>
                      <a:r>
                        <a:rPr lang="zh-CN" altLang="en-US" sz="1300" b="0" spc="120">
                          <a:solidFill>
                            <a:srgbClr val="646464"/>
                          </a:solidFill>
                          <a:latin typeface="微软雅黑" panose="020B0503020204020204" charset="-122"/>
                          <a:ea typeface="微软雅黑" panose="020B0503020204020204" charset="-122"/>
                          <a:cs typeface="微软雅黑" panose="020B0503020204020204" charset="-122"/>
                        </a:rPr>
                        <a:t>过程性，本身只表示计算过程，无法从一个事实推导出新的事实；推理和表示分开,推理完全不依赖于领域</a:t>
                      </a:r>
                      <a:endParaRPr lang="zh-CN" altLang="en-US" sz="1300" b="0" spc="120">
                        <a:solidFill>
                          <a:srgbClr val="646464"/>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a:txBody>
                    <a:bodyPr/>
                    <a:lstStyle/>
                    <a:p>
                      <a:pPr indent="0" algn="l">
                        <a:lnSpc>
                          <a:spcPct val="120000"/>
                        </a:lnSpc>
                        <a:spcBef>
                          <a:spcPts val="0"/>
                        </a:spcBef>
                        <a:spcAft>
                          <a:spcPts val="0"/>
                        </a:spcAft>
                        <a:buNone/>
                      </a:pPr>
                      <a:r>
                        <a:rPr lang="zh-CN" altLang="en-US" sz="1300" b="0" spc="120">
                          <a:solidFill>
                            <a:srgbClr val="404040"/>
                          </a:solidFill>
                          <a:latin typeface="微软雅黑" panose="020B0503020204020204" charset="-122"/>
                          <a:ea typeface="微软雅黑" panose="020B0503020204020204" charset="-122"/>
                          <a:cs typeface="微软雅黑" panose="020B0503020204020204" charset="-122"/>
                        </a:rPr>
                        <a:t>描述性</a:t>
                      </a:r>
                      <a:r>
                        <a:rPr lang="en-US" altLang="zh-CN" sz="1300" b="0" spc="120">
                          <a:solidFill>
                            <a:srgbClr val="404040"/>
                          </a:solidFill>
                          <a:latin typeface="微软雅黑" panose="020B0503020204020204" charset="-122"/>
                          <a:ea typeface="微软雅黑" panose="020B0503020204020204" charset="-122"/>
                          <a:cs typeface="微软雅黑" panose="020B0503020204020204" charset="-122"/>
                        </a:rPr>
                        <a:t>/</a:t>
                      </a:r>
                      <a:r>
                        <a:rPr lang="zh-CN" altLang="en-US" sz="1300" b="0" spc="120">
                          <a:solidFill>
                            <a:srgbClr val="404040"/>
                          </a:solidFill>
                          <a:latin typeface="微软雅黑" panose="020B0503020204020204" charset="-122"/>
                          <a:ea typeface="微软雅黑" panose="020B0503020204020204" charset="-122"/>
                          <a:cs typeface="微软雅黑" panose="020B0503020204020204" charset="-122"/>
                        </a:rPr>
                        <a:t>陈述性，？</a:t>
                      </a:r>
                      <a:endParaRPr lang="zh-CN" altLang="en-US" sz="1300" b="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a:txBody>
                    <a:bodyPr/>
                    <a:lstStyle/>
                    <a:p>
                      <a:pPr indent="0" algn="ctr">
                        <a:lnSpc>
                          <a:spcPct val="120000"/>
                        </a:lnSpc>
                        <a:spcBef>
                          <a:spcPts val="0"/>
                        </a:spcBef>
                        <a:spcAft>
                          <a:spcPts val="0"/>
                        </a:spcAft>
                        <a:buNone/>
                      </a:pPr>
                      <a:r>
                        <a:rPr lang="zh-CN" altLang="en-US" sz="1300">
                          <a:sym typeface="+mn-ea"/>
                        </a:rPr>
                        <a:t>在形式上可接近于人类自然语言，对于过程性和非确定性知识表达有限</a:t>
                      </a:r>
                      <a:endParaRPr lang="zh-CN" altLang="en-US" sz="1300" b="0" spc="120">
                        <a:solidFill>
                          <a:srgbClr val="404040"/>
                        </a:solidFill>
                        <a:latin typeface="微软雅黑" panose="020B0503020204020204" charset="-122"/>
                        <a:ea typeface="微软雅黑" panose="020B0503020204020204" charset="-122"/>
                        <a:sym typeface="+mn-ea"/>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a:txBody>
                    <a:bodyPr/>
                    <a:lstStyle/>
                    <a:p>
                      <a:pPr indent="0" algn="l">
                        <a:lnSpc>
                          <a:spcPct val="120000"/>
                        </a:lnSpc>
                        <a:spcBef>
                          <a:spcPts val="0"/>
                        </a:spcBef>
                        <a:spcAft>
                          <a:spcPts val="0"/>
                        </a:spcAft>
                        <a:buNone/>
                      </a:pPr>
                      <a:endParaRPr lang="zh-CN" altLang="en-US" sz="1300" b="0" spc="120">
                        <a:solidFill>
                          <a:srgbClr val="404040"/>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r>
              <a:tr h="1169035">
                <a:tc>
                  <a:txBody>
                    <a:bodyPr/>
                    <a:lstStyle/>
                    <a:p>
                      <a:pPr indent="0" algn="l">
                        <a:lnSpc>
                          <a:spcPct val="120000"/>
                        </a:lnSpc>
                        <a:spcBef>
                          <a:spcPts val="0"/>
                        </a:spcBef>
                        <a:spcAft>
                          <a:spcPts val="0"/>
                        </a:spcAft>
                        <a:buNone/>
                      </a:pPr>
                      <a:r>
                        <a:rPr lang="zh-CN" altLang="en-US" sz="1300" b="0" spc="120">
                          <a:solidFill>
                            <a:srgbClr val="646464"/>
                          </a:solidFill>
                          <a:latin typeface="微软雅黑" panose="020B0503020204020204" charset="-122"/>
                          <a:ea typeface="微软雅黑" panose="020B0503020204020204" charset="-122"/>
                        </a:rPr>
                        <a:t>程序以及数据库中的数据结构，缺乏简便的表述方式，无法处理不确定性信息</a:t>
                      </a:r>
                      <a:endParaRPr lang="zh-CN" altLang="en-US" sz="1300" b="0" kern="1200"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lvl="0" indent="0" algn="l" defTabSz="914400">
                        <a:lnSpc>
                          <a:spcPct val="120000"/>
                        </a:lnSpc>
                        <a:spcBef>
                          <a:spcPts val="0"/>
                        </a:spcBef>
                        <a:spcAft>
                          <a:spcPts val="0"/>
                        </a:spcAft>
                        <a:buSzTx/>
                        <a:buNone/>
                      </a:pPr>
                      <a:r>
                        <a:rPr lang="zh-CN" altLang="en-US" sz="1300" b="0" spc="120">
                          <a:solidFill>
                            <a:srgbClr val="404040"/>
                          </a:solidFill>
                          <a:latin typeface="微软雅黑" panose="020B0503020204020204" charset="-122"/>
                          <a:ea typeface="微软雅黑" panose="020B0503020204020204" charset="-122"/>
                          <a:cs typeface="微软雅黑" panose="020B0503020204020204" charset="-122"/>
                        </a:rPr>
                        <a:t>有特定的语法，可以采用析取式和否定式来处理不完全信息；具有合成性，例如B</a:t>
                      </a:r>
                      <a:r>
                        <a:rPr lang="zh-CN" altLang="en-US" sz="1300" b="0" spc="120" baseline="-25000">
                          <a:solidFill>
                            <a:srgbClr val="404040"/>
                          </a:solidFill>
                          <a:latin typeface="微软雅黑" panose="020B0503020204020204" charset="-122"/>
                          <a:ea typeface="微软雅黑" panose="020B0503020204020204" charset="-122"/>
                          <a:cs typeface="微软雅黑" panose="020B0503020204020204" charset="-122"/>
                        </a:rPr>
                        <a:t>1,1</a:t>
                      </a:r>
                      <a:r>
                        <a:rPr lang="en-US" altLang="zh-CN" sz="1300" b="0" spc="120">
                          <a:solidFill>
                            <a:srgbClr val="404040"/>
                          </a:solidFill>
                          <a:latin typeface="微软雅黑" panose="020B0503020204020204" charset="-122"/>
                          <a:ea typeface="微软雅黑" panose="020B0503020204020204" charset="-122"/>
                          <a:cs typeface="微软雅黑" panose="020B0503020204020204" charset="-122"/>
                        </a:rPr>
                        <a:t></a:t>
                      </a:r>
                      <a:r>
                        <a:rPr lang="zh-CN" altLang="en-US" sz="1300" b="0" spc="120">
                          <a:solidFill>
                            <a:srgbClr val="404040"/>
                          </a:solidFill>
                          <a:latin typeface="微软雅黑" panose="020B0503020204020204" charset="-122"/>
                          <a:ea typeface="微软雅黑" panose="020B0503020204020204" charset="-122"/>
                          <a:cs typeface="微软雅黑" panose="020B0503020204020204" charset="-122"/>
                        </a:rPr>
                        <a:t>P</a:t>
                      </a:r>
                      <a:r>
                        <a:rPr lang="zh-CN" altLang="en-US" sz="1300" b="0" spc="120" baseline="-25000">
                          <a:solidFill>
                            <a:srgbClr val="404040"/>
                          </a:solidFill>
                          <a:latin typeface="微软雅黑" panose="020B0503020204020204" charset="-122"/>
                          <a:ea typeface="微软雅黑" panose="020B0503020204020204" charset="-122"/>
                          <a:cs typeface="微软雅黑" panose="020B0503020204020204" charset="-122"/>
                        </a:rPr>
                        <a:t>1,2</a:t>
                      </a:r>
                      <a:r>
                        <a:rPr lang="zh-CN" altLang="en-US" sz="1300" b="0" spc="120">
                          <a:solidFill>
                            <a:srgbClr val="404040"/>
                          </a:solidFill>
                          <a:latin typeface="微软雅黑" panose="020B0503020204020204" charset="-122"/>
                          <a:ea typeface="微软雅黑" panose="020B0503020204020204" charset="-122"/>
                          <a:cs typeface="微软雅黑" panose="020B0503020204020204" charset="-122"/>
                        </a:rPr>
                        <a:t> 的含义从 B</a:t>
                      </a:r>
                      <a:r>
                        <a:rPr lang="zh-CN" altLang="en-US" sz="1300" b="0" spc="120" baseline="-25000">
                          <a:solidFill>
                            <a:srgbClr val="404040"/>
                          </a:solidFill>
                          <a:latin typeface="微软雅黑" panose="020B0503020204020204" charset="-122"/>
                          <a:ea typeface="微软雅黑" panose="020B0503020204020204" charset="-122"/>
                          <a:cs typeface="微软雅黑" panose="020B0503020204020204" charset="-122"/>
                        </a:rPr>
                        <a:t>1,1</a:t>
                      </a:r>
                      <a:r>
                        <a:rPr lang="zh-CN" altLang="en-US" sz="1300" b="0" spc="120">
                          <a:solidFill>
                            <a:srgbClr val="404040"/>
                          </a:solidFill>
                          <a:latin typeface="微软雅黑" panose="020B0503020204020204" charset="-122"/>
                          <a:ea typeface="微软雅黑" panose="020B0503020204020204" charset="-122"/>
                          <a:cs typeface="微软雅黑" panose="020B0503020204020204" charset="-122"/>
                        </a:rPr>
                        <a:t>和 P</a:t>
                      </a:r>
                      <a:r>
                        <a:rPr lang="zh-CN" altLang="en-US" sz="1300" b="0" spc="120" baseline="-25000">
                          <a:solidFill>
                            <a:srgbClr val="404040"/>
                          </a:solidFill>
                          <a:latin typeface="微软雅黑" panose="020B0503020204020204" charset="-122"/>
                          <a:ea typeface="微软雅黑" panose="020B0503020204020204" charset="-122"/>
                          <a:cs typeface="微软雅黑" panose="020B0503020204020204" charset="-122"/>
                        </a:rPr>
                        <a:t>1,2</a:t>
                      </a:r>
                      <a:r>
                        <a:rPr lang="zh-CN" altLang="en-US" sz="1300" b="0" spc="120">
                          <a:solidFill>
                            <a:srgbClr val="404040"/>
                          </a:solidFill>
                          <a:latin typeface="微软雅黑" panose="020B0503020204020204" charset="-122"/>
                          <a:ea typeface="微软雅黑" panose="020B0503020204020204" charset="-122"/>
                          <a:cs typeface="微软雅黑" panose="020B0503020204020204" charset="-122"/>
                        </a:rPr>
                        <a:t>得到。</a:t>
                      </a:r>
                      <a:endParaRPr lang="zh-CN" altLang="en-US" sz="1300" b="0" kern="1200" spc="120">
                        <a:solidFill>
                          <a:srgbClr val="404040"/>
                        </a:solidFill>
                        <a:latin typeface="微软雅黑" panose="020B0503020204020204" charset="-122"/>
                        <a:ea typeface="微软雅黑" panose="020B0503020204020204" charset="-122"/>
                        <a:cs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lvl="0" indent="0" algn="ctr" defTabSz="914400">
                        <a:lnSpc>
                          <a:spcPct val="120000"/>
                        </a:lnSpc>
                        <a:spcBef>
                          <a:spcPts val="0"/>
                        </a:spcBef>
                        <a:spcAft>
                          <a:spcPts val="0"/>
                        </a:spcAft>
                        <a:buSzTx/>
                        <a:buNone/>
                      </a:pPr>
                      <a:r>
                        <a:rPr lang="zh-CN" altLang="en-US" sz="1300">
                          <a:sym typeface="+mn-ea"/>
                        </a:rPr>
                        <a:t>表示能力较差，只能表达确定性知识</a:t>
                      </a:r>
                      <a:endParaRPr lang="zh-CN" altLang="en-US" sz="1300" b="0" spc="120">
                        <a:solidFill>
                          <a:srgbClr val="404040"/>
                        </a:solidFill>
                        <a:latin typeface="微软雅黑" panose="020B0503020204020204" charset="-122"/>
                        <a:ea typeface="微软雅黑" panose="020B0503020204020204" charset="-122"/>
                        <a:sym typeface="+mn-ea"/>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marL="0" lvl="1" indent="0" algn="l">
                        <a:lnSpc>
                          <a:spcPct val="120000"/>
                        </a:lnSpc>
                        <a:spcBef>
                          <a:spcPts val="0"/>
                        </a:spcBef>
                        <a:spcAft>
                          <a:spcPts val="0"/>
                        </a:spcAft>
                        <a:buNone/>
                      </a:pPr>
                      <a:r>
                        <a:rPr lang="zh-CN" altLang="en-US" sz="1300" b="0" spc="120">
                          <a:solidFill>
                            <a:srgbClr val="404040"/>
                          </a:solidFill>
                          <a:latin typeface="微软雅黑" panose="020B0503020204020204" charset="-122"/>
                          <a:ea typeface="微软雅黑" panose="020B0503020204020204" charset="-122"/>
                        </a:rPr>
                        <a:t>有语法特征？</a:t>
                      </a:r>
                      <a:endParaRPr lang="zh-CN" altLang="en-US" sz="1300" b="0" spc="120">
                        <a:solidFill>
                          <a:srgbClr val="404040"/>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r>
              <a:tr h="248920">
                <a:tc>
                  <a:txBody>
                    <a:bodyPr/>
                    <a:lstStyle/>
                    <a:p>
                      <a:pPr indent="0" algn="l">
                        <a:lnSpc>
                          <a:spcPct val="120000"/>
                        </a:lnSpc>
                        <a:spcBef>
                          <a:spcPts val="0"/>
                        </a:spcBef>
                        <a:spcAft>
                          <a:spcPts val="0"/>
                        </a:spcAft>
                        <a:buNone/>
                      </a:pPr>
                      <a:endParaRPr lang="zh-CN" altLang="en-US" sz="1300" b="0"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FFFFF"/>
                    </a:solidFill>
                  </a:tcPr>
                </a:tc>
                <a:tc>
                  <a:txBody>
                    <a:bodyPr/>
                    <a:lstStyle/>
                    <a:p>
                      <a:pPr indent="0" algn="l">
                        <a:lnSpc>
                          <a:spcPct val="120000"/>
                        </a:lnSpc>
                        <a:spcBef>
                          <a:spcPts val="0"/>
                        </a:spcBef>
                        <a:spcAft>
                          <a:spcPts val="0"/>
                        </a:spcAft>
                        <a:buNone/>
                      </a:pPr>
                      <a:r>
                        <a:rPr lang="zh-CN" altLang="en-US" sz="1300" b="0" spc="120">
                          <a:solidFill>
                            <a:srgbClr val="404040"/>
                          </a:solidFill>
                          <a:latin typeface="微软雅黑" panose="020B0503020204020204" charset="-122"/>
                          <a:ea typeface="微软雅黑" panose="020B0503020204020204" charset="-122"/>
                        </a:rPr>
                        <a:t>含义与上下文无关，语义基于语句和可能世界之间的真值关系</a:t>
                      </a:r>
                      <a:endParaRPr lang="zh-CN" altLang="en-US" sz="1300" b="0" kern="1200" spc="120">
                        <a:solidFill>
                          <a:srgbClr val="404040"/>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FFFFF"/>
                    </a:solidFill>
                  </a:tcPr>
                </a:tc>
                <a:tc>
                  <a:txBody>
                    <a:bodyPr/>
                    <a:lstStyle/>
                    <a:p>
                      <a:pPr indent="0" algn="ctr">
                        <a:lnSpc>
                          <a:spcPct val="120000"/>
                        </a:lnSpc>
                        <a:spcBef>
                          <a:spcPts val="0"/>
                        </a:spcBef>
                        <a:spcAft>
                          <a:spcPts val="0"/>
                        </a:spcAft>
                        <a:buNone/>
                      </a:pPr>
                      <a:r>
                        <a:rPr lang="zh-CN" altLang="en-US" sz="1300">
                          <a:sym typeface="+mn-ea"/>
                        </a:rPr>
                        <a:t>由于知识之间是相互独立的，知识与知识之间缺乏关联，使得知识管理实施相对困难</a:t>
                      </a:r>
                      <a:endParaRPr lang="zh-CN" altLang="en-US" sz="1300" b="0" spc="120">
                        <a:solidFill>
                          <a:srgbClr val="404040"/>
                        </a:solidFill>
                        <a:latin typeface="微软雅黑" panose="020B0503020204020204" charset="-122"/>
                        <a:ea typeface="微软雅黑" panose="020B0503020204020204" charset="-122"/>
                        <a:sym typeface="+mn-ea"/>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FFFFF"/>
                    </a:solidFill>
                  </a:tcPr>
                </a:tc>
                <a:tc>
                  <a:txBody>
                    <a:bodyPr/>
                    <a:lstStyle/>
                    <a:p>
                      <a:pPr indent="0" algn="l">
                        <a:lnSpc>
                          <a:spcPct val="120000"/>
                        </a:lnSpc>
                        <a:spcBef>
                          <a:spcPts val="0"/>
                        </a:spcBef>
                        <a:spcAft>
                          <a:spcPts val="0"/>
                        </a:spcAft>
                        <a:buNone/>
                      </a:pPr>
                      <a:r>
                        <a:rPr lang="zh-CN" altLang="en-US" sz="1300" b="0" spc="120">
                          <a:solidFill>
                            <a:srgbClr val="404040"/>
                          </a:solidFill>
                          <a:latin typeface="微软雅黑" panose="020B0503020204020204" charset="-122"/>
                          <a:ea typeface="微软雅黑" panose="020B0503020204020204" charset="-122"/>
                        </a:rPr>
                        <a:t>语义取决于上下文</a:t>
                      </a:r>
                      <a:endParaRPr lang="zh-CN" altLang="en-US" sz="1300" b="0" spc="120">
                        <a:solidFill>
                          <a:srgbClr val="404040"/>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FFFFF"/>
                    </a:solidFill>
                  </a:tcPr>
                </a:tc>
              </a:tr>
              <a:tr h="693420">
                <a:tc>
                  <a:txBody>
                    <a:bodyPr/>
                    <a:lstStyle/>
                    <a:p>
                      <a:pPr indent="0" algn="l">
                        <a:lnSpc>
                          <a:spcPct val="120000"/>
                        </a:lnSpc>
                        <a:spcBef>
                          <a:spcPts val="0"/>
                        </a:spcBef>
                        <a:spcAft>
                          <a:spcPts val="0"/>
                        </a:spcAft>
                        <a:buNone/>
                      </a:pPr>
                      <a:endParaRPr lang="zh-CN" altLang="en-US" sz="1300" b="0" spc="120">
                        <a:solidFill>
                          <a:srgbClr val="646464"/>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indent="0" algn="l">
                        <a:lnSpc>
                          <a:spcPct val="120000"/>
                        </a:lnSpc>
                        <a:spcBef>
                          <a:spcPts val="0"/>
                        </a:spcBef>
                        <a:spcAft>
                          <a:spcPts val="0"/>
                        </a:spcAft>
                        <a:buNone/>
                      </a:pPr>
                      <a:r>
                        <a:rPr lang="zh-CN" altLang="en-US" sz="1300" b="0" spc="120">
                          <a:solidFill>
                            <a:srgbClr val="404040"/>
                          </a:solidFill>
                          <a:latin typeface="微软雅黑" panose="020B0503020204020204" charset="-122"/>
                          <a:ea typeface="微软雅黑" panose="020B0503020204020204" charset="-122"/>
                        </a:rPr>
                        <a:t>缺乏足够的表达能力，无法简洁描述有多个对象的环境</a:t>
                      </a:r>
                      <a:endParaRPr lang="zh-CN" altLang="en-US" sz="1300" b="0" kern="1200" spc="120">
                        <a:solidFill>
                          <a:srgbClr val="404040"/>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indent="0" algn="ctr">
                        <a:lnSpc>
                          <a:spcPct val="120000"/>
                        </a:lnSpc>
                        <a:spcBef>
                          <a:spcPts val="0"/>
                        </a:spcBef>
                        <a:spcAft>
                          <a:spcPts val="0"/>
                        </a:spcAft>
                        <a:buNone/>
                      </a:pPr>
                      <a:r>
                        <a:rPr lang="zh-CN" altLang="en-US" sz="1300">
                          <a:sym typeface="+mn-ea"/>
                        </a:rPr>
                        <a:t>较为精确，表达自然</a:t>
                      </a:r>
                      <a:endParaRPr lang="zh-CN" altLang="en-US" sz="1300" b="0" spc="120">
                        <a:solidFill>
                          <a:srgbClr val="404040"/>
                        </a:solidFill>
                        <a:latin typeface="微软雅黑" panose="020B0503020204020204" charset="-122"/>
                        <a:ea typeface="微软雅黑" panose="020B0503020204020204" charset="-122"/>
                        <a:sym typeface="+mn-ea"/>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c>
                  <a:txBody>
                    <a:bodyPr/>
                    <a:lstStyle/>
                    <a:p>
                      <a:pPr indent="0" algn="l">
                        <a:lnSpc>
                          <a:spcPct val="120000"/>
                        </a:lnSpc>
                        <a:spcBef>
                          <a:spcPts val="0"/>
                        </a:spcBef>
                        <a:spcAft>
                          <a:spcPts val="0"/>
                        </a:spcAft>
                        <a:buNone/>
                      </a:pPr>
                      <a:r>
                        <a:rPr lang="zh-CN" altLang="en-US" sz="1300" spc="120">
                          <a:solidFill>
                            <a:srgbClr val="404040"/>
                          </a:solidFill>
                          <a:latin typeface="微软雅黑" panose="020B0503020204020204" charset="-122"/>
                          <a:ea typeface="微软雅黑" panose="020B0503020204020204" charset="-122"/>
                          <a:sym typeface="+mn-ea"/>
                        </a:rPr>
                        <a:t>非常强大的表达能力</a:t>
                      </a:r>
                      <a:endParaRPr lang="zh-CN" altLang="en-US" sz="1300" b="0" spc="120">
                        <a:solidFill>
                          <a:srgbClr val="404040"/>
                        </a:solidFill>
                        <a:latin typeface="微软雅黑" panose="020B0503020204020204" charset="-122"/>
                        <a:ea typeface="微软雅黑" panose="020B0503020204020204" charset="-122"/>
                      </a:endParaRPr>
                    </a:p>
                  </a:txBody>
                  <a:tcPr marL="177800" marR="177800" marT="107950" marB="1079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2F2F2"/>
                    </a:solidFill>
                  </a:tcPr>
                </a:tc>
              </a:tr>
            </a:tbl>
          </a:graphicData>
        </a:graphic>
      </p:graphicFrame>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9" name="矩形 7"/>
          <p:cNvSpPr/>
          <p:nvPr>
            <p:custDataLst>
              <p:tags r:id="rId1"/>
            </p:custDataLst>
          </p:nvPr>
        </p:nvSpPr>
        <p:spPr>
          <a:xfrm>
            <a:off x="0" y="0"/>
            <a:ext cx="9144000" cy="912114"/>
          </a:xfrm>
          <a:prstGeom prst="rect">
            <a:avLst/>
          </a:prstGeom>
          <a:solidFill>
            <a:schemeClr val="accent1"/>
          </a:solidFill>
          <a:ln w="12700">
            <a:miter lim="400000"/>
          </a:ln>
        </p:spPr>
        <p:txBody>
          <a:bodyPr lIns="0" tIns="0" rIns="0" bIns="0" anchor="ctr"/>
          <a:lstStyle/>
          <a:p>
            <a:pPr algn="ctr">
              <a:defRPr>
                <a:solidFill>
                  <a:srgbClr val="FFFFFF"/>
                </a:solidFill>
              </a:defRPr>
            </a:pPr>
            <a:endParaRPr sz="1350">
              <a:solidFill>
                <a:srgbClr val="FFFFFF"/>
              </a:solidFill>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altLang="en-US" sz="2900" dirty="0">
                <a:solidFill>
                  <a:schemeClr val="lt1"/>
                </a:solidFill>
                <a:sym typeface="+mn-ea"/>
              </a:rPr>
              <a:t>一阶逻辑</a:t>
            </a:r>
            <a:endParaRPr lang="zh-CN" altLang="en-US" sz="2900" dirty="0">
              <a:solidFill>
                <a:schemeClr val="lt1"/>
              </a:solidFill>
              <a:sym typeface="+mn-ea"/>
            </a:endParaRPr>
          </a:p>
        </p:txBody>
      </p:sp>
      <p:sp>
        <p:nvSpPr>
          <p:cNvPr id="6" name="Title 6"/>
          <p:cNvSpPr txBox="1"/>
          <p:nvPr>
            <p:custDataLst>
              <p:tags r:id="rId3"/>
            </p:custDataLst>
          </p:nvPr>
        </p:nvSpPr>
        <p:spPr>
          <a:xfrm>
            <a:off x="1398905" y="1113155"/>
            <a:ext cx="6346190" cy="5202555"/>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30000"/>
              </a:lnSpc>
              <a:spcBef>
                <a:spcPts val="1000"/>
              </a:spcBef>
              <a:spcAft>
                <a:spcPts val="0"/>
              </a:spcAft>
              <a:buClrTx/>
              <a:buSzTx/>
              <a:buFont typeface="Wingdings" panose="05000000000000000000" charset="0"/>
            </a:pPr>
            <a:r>
              <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7.1  表示方法的回顾</a:t>
            </a:r>
            <a:endPar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algn="l" fontAlgn="ctr">
              <a:lnSpc>
                <a:spcPct val="130000"/>
              </a:lnSpc>
              <a:spcBef>
                <a:spcPts val="1000"/>
              </a:spcBef>
              <a:spcAft>
                <a:spcPts val="0"/>
              </a:spcAft>
              <a:buSzPct val="100000"/>
              <a:buFont typeface="Wingdings" panose="05000000000000000000" charset="0"/>
            </a:pPr>
            <a:r>
              <a:rPr lang="en-US" altLang="zh-CN" sz="2800" b="1" spc="100" dirty="0">
                <a:ln w="3175">
                  <a:noFill/>
                  <a:prstDash val="dash"/>
                </a:ln>
                <a:solidFill>
                  <a:srgbClr val="FF0000"/>
                </a:solidFill>
                <a:latin typeface="微软雅黑" panose="020B0503020204020204" charset="-122"/>
                <a:ea typeface="微软雅黑" panose="020B0503020204020204" charset="-122"/>
                <a:cs typeface="微软雅黑" panose="020B0503020204020204" charset="-122"/>
                <a:sym typeface="+mn-ea"/>
              </a:rPr>
              <a:t>7.2  一阶逻辑</a:t>
            </a:r>
            <a:endParaRPr lang="en-US" altLang="zh-CN" sz="2800" b="1" spc="100" dirty="0">
              <a:ln w="3175">
                <a:noFill/>
                <a:prstDash val="dash"/>
              </a:ln>
              <a:solidFill>
                <a:srgbClr val="FF0000"/>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SzPct val="100000"/>
              <a:buFont typeface="Wingdings" panose="05000000000000000000" charset="0"/>
            </a:pPr>
            <a:r>
              <a:rPr lang="en-US" altLang="zh-CN" sz="28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rPr>
              <a:t>7.2.1	谓词基本概念</a:t>
            </a:r>
            <a:endParaRPr lang="en-US" altLang="zh-CN" sz="28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SzPct val="100000"/>
              <a:buFont typeface="Wingdings" panose="05000000000000000000" charset="0"/>
            </a:pPr>
            <a:r>
              <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7.2.2	一阶谓词逻辑</a:t>
            </a:r>
            <a:endPar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SzPct val="100000"/>
              <a:buFont typeface="Wingdings" panose="05000000000000000000" charset="0"/>
            </a:pPr>
            <a:r>
              <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7.2.3	</a:t>
            </a:r>
            <a:r>
              <a:rPr altLang="zh-CN" sz="2800" b="1" spc="10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如何使用一阶逻辑</a:t>
            </a:r>
            <a:r>
              <a:rPr lang="zh-CN" altLang="en-US" sz="2800">
                <a:solidFill>
                  <a:schemeClr val="lt1"/>
                </a:solidFill>
                <a:sym typeface="+mn-ea"/>
              </a:rPr>
              <a:t>语言</a:t>
            </a:r>
            <a:endPar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SzPct val="100000"/>
              <a:buFont typeface="Wingdings" panose="05000000000000000000" charset="0"/>
            </a:pPr>
            <a:r>
              <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7.2.4	谓词知识表示</a:t>
            </a:r>
            <a:endPar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SzPct val="100000"/>
              <a:buFont typeface="Wingdings" panose="05000000000000000000" charset="0"/>
            </a:pPr>
            <a:r>
              <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7.2.5	谓词逻辑归结原理</a:t>
            </a:r>
            <a:endPar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4839970" y="1488440"/>
            <a:ext cx="3961130" cy="806930"/>
          </a:xfrm>
          <a:prstGeom prst="cloudCallout">
            <a:avLst>
              <a:gd name="adj1" fmla="val -51861"/>
              <a:gd name="adj2" fmla="val 160711"/>
            </a:avLst>
          </a:prstGeom>
          <a:noFill/>
          <a:ln>
            <a:solidFill>
              <a:schemeClr val="accent1"/>
            </a:solidFill>
          </a:ln>
        </p:spPr>
        <p:txBody>
          <a:bodyPr wrap="square" rtlCol="0">
            <a:spAutoFit/>
          </a:bodyPr>
          <a:lstStyle/>
          <a:p>
            <a:r>
              <a:rPr lang="zh-CN" altLang="en-US" sz="2800" b="1"/>
              <a:t>一阶谓词逻辑</a:t>
            </a:r>
            <a:endParaRPr lang="zh-CN" altLang="en-US" sz="2800" b="1"/>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矩形 7"/>
          <p:cNvSpPr/>
          <p:nvPr>
            <p:custDataLst>
              <p:tags r:id="rId1"/>
            </p:custDataLst>
          </p:nvPr>
        </p:nvSpPr>
        <p:spPr>
          <a:xfrm>
            <a:off x="0" y="0"/>
            <a:ext cx="9144000" cy="912114"/>
          </a:xfrm>
          <a:prstGeom prst="rect">
            <a:avLst/>
          </a:prstGeom>
          <a:solidFill>
            <a:schemeClr val="accent1"/>
          </a:solidFill>
          <a:ln w="12700">
            <a:miter lim="400000"/>
          </a:ln>
        </p:spPr>
        <p:txBody>
          <a:bodyPr lIns="0" tIns="0" rIns="0" bIns="0" anchor="ctr"/>
          <a:lstStyle/>
          <a:p>
            <a:pPr algn="ctr">
              <a:defRPr>
                <a:solidFill>
                  <a:srgbClr val="FFFFFF"/>
                </a:solidFill>
              </a:defRPr>
            </a:pPr>
            <a:endParaRPr sz="1015">
              <a:solidFill>
                <a:srgbClr val="FFFFFF"/>
              </a:solidFill>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sz="2000">
                <a:solidFill>
                  <a:schemeClr val="lt1"/>
                </a:solidFill>
              </a:rPr>
              <a:t>回顾：命题逻辑的基本概念</a:t>
            </a:r>
            <a:endParaRPr sz="2000">
              <a:solidFill>
                <a:schemeClr val="lt1"/>
              </a:solidFill>
            </a:endParaRPr>
          </a:p>
        </p:txBody>
      </p:sp>
      <p:sp>
        <p:nvSpPr>
          <p:cNvPr id="116739" name="矩形 116738"/>
          <p:cNvSpPr/>
          <p:nvPr/>
        </p:nvSpPr>
        <p:spPr>
          <a:xfrm>
            <a:off x="664528" y="1025843"/>
            <a:ext cx="8142287" cy="5334000"/>
          </a:xfrm>
          <a:prstGeom prst="rect">
            <a:avLst/>
          </a:prstGeom>
          <a:noFill/>
          <a:ln w="9525">
            <a:noFill/>
          </a:ln>
        </p:spPr>
        <p:txBody>
          <a:bodyPr wrap="none" anchor="ctr" anchorCtr="0"/>
          <a:lstStyle/>
          <a:p>
            <a:pPr eaLnBrk="0" hangingPunct="0">
              <a:spcBef>
                <a:spcPct val="50000"/>
              </a:spcBef>
            </a:pPr>
            <a:r>
              <a:rPr lang="zh-CN" altLang="en-US" sz="2400" b="1" dirty="0">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命题（</a:t>
            </a:r>
            <a:r>
              <a:rPr lang="en-US" altLang="zh-CN" sz="2400" b="1">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proposition</a:t>
            </a:r>
            <a:r>
              <a:rPr lang="zh-CN" altLang="en-US" sz="2400" b="1">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2400" b="1" dirty="0">
                <a:latin typeface="Times New Roman" panose="02020603050405020304" pitchFamily="18" charset="0"/>
                <a:ea typeface="微软雅黑" panose="020B0503020204020204" charset="-122"/>
                <a:cs typeface="Times New Roman" panose="02020603050405020304" pitchFamily="18" charset="0"/>
              </a:rPr>
              <a:t>是具有真假意义的语句。命题代表人</a:t>
            </a:r>
            <a:endParaRPr lang="zh-CN" altLang="en-US" sz="2400" b="1" dirty="0">
              <a:latin typeface="Times New Roman" panose="02020603050405020304" pitchFamily="18" charset="0"/>
              <a:ea typeface="微软雅黑" panose="020B0503020204020204" charset="-122"/>
              <a:cs typeface="Times New Roman" panose="02020603050405020304" pitchFamily="18" charset="0"/>
            </a:endParaRPr>
          </a:p>
          <a:p>
            <a:pPr eaLnBrk="0" hangingPunct="0">
              <a:spcBef>
                <a:spcPct val="50000"/>
              </a:spcBef>
            </a:pPr>
            <a:r>
              <a:rPr lang="zh-CN" altLang="en-US" sz="2400" b="1" dirty="0">
                <a:latin typeface="Times New Roman" panose="02020603050405020304" pitchFamily="18" charset="0"/>
                <a:ea typeface="微软雅黑" panose="020B0503020204020204" charset="-122"/>
                <a:cs typeface="Times New Roman" panose="02020603050405020304" pitchFamily="18" charset="0"/>
              </a:rPr>
              <a:t>们进行思维时的一种判断，或者是否定，或者是肯定。</a:t>
            </a:r>
            <a:endParaRPr lang="zh-CN" altLang="en-US" sz="2400" b="1" dirty="0">
              <a:latin typeface="Times New Roman" panose="02020603050405020304" pitchFamily="18" charset="0"/>
              <a:ea typeface="微软雅黑" panose="020B0503020204020204" charset="-122"/>
              <a:cs typeface="Times New Roman" panose="02020603050405020304" pitchFamily="18" charset="0"/>
            </a:endParaRPr>
          </a:p>
          <a:p>
            <a:pPr eaLnBrk="0" hangingPunct="0">
              <a:spcBef>
                <a:spcPct val="50000"/>
              </a:spcBef>
              <a:buClr>
                <a:schemeClr val="hlink"/>
              </a:buClr>
              <a:buFont typeface="Wingdings" panose="05000000000000000000" pitchFamily="2" charset="2"/>
              <a:buChar char="§"/>
            </a:pPr>
            <a:r>
              <a:rPr lang="zh-CN" altLang="en-US" sz="2400" dirty="0">
                <a:latin typeface="Times New Roman" panose="02020603050405020304" pitchFamily="18" charset="0"/>
                <a:ea typeface="微软雅黑" panose="020B0503020204020204" charset="-122"/>
                <a:cs typeface="Times New Roman" panose="02020603050405020304" pitchFamily="18" charset="0"/>
              </a:rPr>
              <a:t>命题可以用命题符号表示。</a:t>
            </a:r>
            <a:endParaRPr lang="zh-CN" altLang="en-US" sz="2400" dirty="0">
              <a:latin typeface="Times New Roman" panose="02020603050405020304" pitchFamily="18" charset="0"/>
              <a:ea typeface="微软雅黑" panose="020B0503020204020204" charset="-122"/>
              <a:cs typeface="Times New Roman" panose="02020603050405020304" pitchFamily="18" charset="0"/>
            </a:endParaRPr>
          </a:p>
          <a:p>
            <a:pPr eaLnBrk="0" hangingPunct="0">
              <a:spcBef>
                <a:spcPct val="50000"/>
              </a:spcBef>
              <a:buClr>
                <a:schemeClr val="hlink"/>
              </a:buClr>
              <a:buFont typeface="Wingdings" panose="05000000000000000000" pitchFamily="2" charset="2"/>
              <a:buChar char="§"/>
            </a:pPr>
            <a:endParaRPr lang="zh-CN" altLang="en-US" sz="2400" dirty="0">
              <a:latin typeface="Times New Roman" panose="02020603050405020304" pitchFamily="18" charset="0"/>
              <a:ea typeface="微软雅黑" panose="020B0503020204020204" charset="-122"/>
              <a:cs typeface="Times New Roman" panose="02020603050405020304" pitchFamily="18" charset="0"/>
            </a:endParaRPr>
          </a:p>
          <a:p>
            <a:pPr eaLnBrk="0" hangingPunct="0">
              <a:spcBef>
                <a:spcPct val="50000"/>
              </a:spcBef>
              <a:buClr>
                <a:schemeClr val="hlink"/>
              </a:buClr>
              <a:buFont typeface="Wingdings" panose="05000000000000000000" pitchFamily="2" charset="2"/>
              <a:buChar char="§"/>
            </a:pPr>
            <a:endParaRPr lang="zh-CN" altLang="en-US" sz="2400" dirty="0">
              <a:latin typeface="Times New Roman" panose="02020603050405020304" pitchFamily="18" charset="0"/>
              <a:ea typeface="微软雅黑" panose="020B0503020204020204" charset="-122"/>
              <a:cs typeface="Times New Roman" panose="02020603050405020304" pitchFamily="18" charset="0"/>
            </a:endParaRPr>
          </a:p>
          <a:p>
            <a:pPr eaLnBrk="0" hangingPunct="0">
              <a:spcBef>
                <a:spcPct val="50000"/>
              </a:spcBef>
              <a:buClr>
                <a:schemeClr val="hlink"/>
              </a:buClr>
              <a:buFont typeface="Wingdings" panose="05000000000000000000" pitchFamily="2" charset="2"/>
              <a:buChar char="§"/>
            </a:pPr>
            <a:endParaRPr lang="zh-CN" altLang="en-US" sz="2400" dirty="0">
              <a:latin typeface="Times New Roman" panose="02020603050405020304" pitchFamily="18" charset="0"/>
              <a:ea typeface="微软雅黑" panose="020B0503020204020204" charset="-122"/>
              <a:cs typeface="Times New Roman" panose="02020603050405020304" pitchFamily="18" charset="0"/>
            </a:endParaRPr>
          </a:p>
          <a:p>
            <a:pPr eaLnBrk="0" hangingPunct="0">
              <a:spcBef>
                <a:spcPct val="50000"/>
              </a:spcBef>
              <a:buClr>
                <a:schemeClr val="hlink"/>
              </a:buClr>
              <a:buFont typeface="Wingdings" panose="05000000000000000000" pitchFamily="2" charset="2"/>
              <a:buChar char="§"/>
            </a:pPr>
            <a:r>
              <a:rPr lang="zh-CN" altLang="en-US" sz="2400" dirty="0">
                <a:latin typeface="Times New Roman" panose="02020603050405020304" pitchFamily="18" charset="0"/>
                <a:ea typeface="微软雅黑" panose="020B0503020204020204" charset="-122"/>
                <a:cs typeface="Times New Roman" panose="02020603050405020304" pitchFamily="18" charset="0"/>
              </a:rPr>
              <a:t>用命题符号可以表示简单的逻辑关系和推理。</a:t>
            </a:r>
            <a:endParaRPr lang="zh-CN" altLang="en-US" sz="2400" dirty="0">
              <a:latin typeface="Times New Roman" panose="02020603050405020304" pitchFamily="18" charset="0"/>
              <a:ea typeface="微软雅黑" panose="020B0503020204020204" charset="-122"/>
              <a:cs typeface="Times New Roman" panose="02020603050405020304" pitchFamily="18" charset="0"/>
            </a:endParaRPr>
          </a:p>
          <a:p>
            <a:pPr eaLnBrk="0" hangingPunct="0">
              <a:spcBef>
                <a:spcPct val="50000"/>
              </a:spcBef>
              <a:buClr>
                <a:schemeClr val="hlink"/>
              </a:buClr>
              <a:buFont typeface="Wingdings" panose="05000000000000000000" pitchFamily="2" charset="2"/>
              <a:buChar char="§"/>
            </a:pPr>
            <a:endParaRPr lang="zh-CN" altLang="en-US" sz="2400" dirty="0">
              <a:latin typeface="Times New Roman" panose="02020603050405020304" pitchFamily="18" charset="0"/>
              <a:ea typeface="微软雅黑" panose="020B0503020204020204" charset="-122"/>
              <a:cs typeface="Times New Roman" panose="02020603050405020304" pitchFamily="18" charset="0"/>
            </a:endParaRPr>
          </a:p>
          <a:p>
            <a:pPr eaLnBrk="0" hangingPunct="0">
              <a:spcBef>
                <a:spcPct val="50000"/>
              </a:spcBef>
              <a:buClr>
                <a:schemeClr val="hlink"/>
              </a:buClr>
              <a:buFont typeface="Wingdings" panose="05000000000000000000" pitchFamily="2" charset="2"/>
            </a:pPr>
            <a:r>
              <a:rPr lang="zh-CN" altLang="en-US" sz="2400">
                <a:latin typeface="Times New Roman" panose="02020603050405020304" pitchFamily="18" charset="0"/>
                <a:ea typeface="微软雅黑" panose="020B0503020204020204" charset="-122"/>
                <a:cs typeface="Times New Roman" panose="02020603050405020304" pitchFamily="18" charset="0"/>
              </a:rPr>
              <a:t>   </a:t>
            </a:r>
            <a:endParaRPr lang="zh-CN" altLang="en-US" sz="2400">
              <a:latin typeface="Times New Roman" panose="02020603050405020304" pitchFamily="18" charset="0"/>
              <a:ea typeface="微软雅黑" panose="020B0503020204020204" charset="-122"/>
              <a:cs typeface="Times New Roman" panose="02020603050405020304" pitchFamily="18" charset="0"/>
            </a:endParaRPr>
          </a:p>
        </p:txBody>
      </p:sp>
      <p:sp>
        <p:nvSpPr>
          <p:cNvPr id="116740" name="矩形 116739"/>
          <p:cNvSpPr/>
          <p:nvPr/>
        </p:nvSpPr>
        <p:spPr>
          <a:xfrm>
            <a:off x="1116013" y="2887980"/>
            <a:ext cx="7239000" cy="1368425"/>
          </a:xfrm>
          <a:prstGeom prst="rect">
            <a:avLst/>
          </a:prstGeom>
          <a:solidFill>
            <a:schemeClr val="accent1">
              <a:alpha val="50000"/>
            </a:schemeClr>
          </a:solidFill>
          <a:ln w="9525">
            <a:noFill/>
          </a:ln>
        </p:spPr>
        <p:txBody>
          <a:bodyPr wrap="none" anchor="ctr" anchorCtr="0"/>
          <a:lstStyle/>
          <a:p>
            <a:pPr>
              <a:spcBef>
                <a:spcPct val="50000"/>
              </a:spcBef>
            </a:pPr>
            <a:r>
              <a:rPr lang="en-US" altLang="zh-CN">
                <a:latin typeface="Times New Roman" panose="02020603050405020304" pitchFamily="18" charset="0"/>
                <a:ea typeface="微软雅黑" panose="020B0503020204020204" charset="-122"/>
                <a:cs typeface="Times New Roman" panose="02020603050405020304" pitchFamily="18" charset="0"/>
              </a:rPr>
              <a:t>P:</a:t>
            </a:r>
            <a:r>
              <a:rPr lang="zh-CN" altLang="en-US" dirty="0">
                <a:latin typeface="Times New Roman" panose="02020603050405020304" pitchFamily="18" charset="0"/>
                <a:ea typeface="微软雅黑" panose="020B0503020204020204" charset="-122"/>
                <a:cs typeface="Times New Roman" panose="02020603050405020304" pitchFamily="18" charset="0"/>
              </a:rPr>
              <a:t>今天天气好 </a:t>
            </a:r>
            <a:endParaRPr lang="zh-CN" altLang="en-US" dirty="0">
              <a:latin typeface="Times New Roman" panose="02020603050405020304" pitchFamily="18" charset="0"/>
              <a:ea typeface="微软雅黑" panose="020B0503020204020204" charset="-122"/>
              <a:cs typeface="Times New Roman" panose="02020603050405020304" pitchFamily="18" charset="0"/>
            </a:endParaRPr>
          </a:p>
          <a:p>
            <a:pPr>
              <a:spcBef>
                <a:spcPct val="50000"/>
              </a:spcBef>
            </a:pPr>
            <a:r>
              <a:rPr lang="en-US" altLang="zh-CN">
                <a:latin typeface="Times New Roman" panose="02020603050405020304" pitchFamily="18" charset="0"/>
                <a:ea typeface="微软雅黑" panose="020B0503020204020204" charset="-122"/>
                <a:cs typeface="Times New Roman" panose="02020603050405020304" pitchFamily="18" charset="0"/>
              </a:rPr>
              <a:t>Q:</a:t>
            </a:r>
            <a:r>
              <a:rPr lang="zh-CN" altLang="en-US" dirty="0">
                <a:latin typeface="Times New Roman" panose="02020603050405020304" pitchFamily="18" charset="0"/>
                <a:ea typeface="微软雅黑" panose="020B0503020204020204" charset="-122"/>
                <a:cs typeface="Times New Roman" panose="02020603050405020304" pitchFamily="18" charset="0"/>
              </a:rPr>
              <a:t>去旅游</a:t>
            </a:r>
            <a:endParaRPr lang="zh-CN" altLang="en-US" dirty="0">
              <a:latin typeface="Times New Roman" panose="02020603050405020304" pitchFamily="18" charset="0"/>
              <a:ea typeface="微软雅黑" panose="020B0503020204020204" charset="-122"/>
              <a:cs typeface="Times New Roman" panose="02020603050405020304" pitchFamily="18" charset="0"/>
            </a:endParaRPr>
          </a:p>
          <a:p>
            <a:pPr>
              <a:spcBef>
                <a:spcPct val="50000"/>
              </a:spcBef>
            </a:pPr>
            <a:r>
              <a:rPr lang="zh-CN" altLang="en-US" dirty="0">
                <a:latin typeface="Times New Roman" panose="02020603050405020304" pitchFamily="18" charset="0"/>
                <a:ea typeface="微软雅黑" panose="020B0503020204020204" charset="-122"/>
                <a:cs typeface="Times New Roman" panose="02020603050405020304" pitchFamily="18" charset="0"/>
              </a:rPr>
              <a:t> </a:t>
            </a:r>
            <a:r>
              <a:rPr lang="en-US" altLang="zh-CN">
                <a:latin typeface="Times New Roman" panose="02020603050405020304" pitchFamily="18" charset="0"/>
                <a:ea typeface="微软雅黑" panose="020B0503020204020204" charset="-122"/>
                <a:cs typeface="Times New Roman" panose="02020603050405020304" pitchFamily="18" charset="0"/>
              </a:rPr>
              <a:t>S1</a:t>
            </a:r>
            <a:r>
              <a:rPr lang="zh-CN" altLang="en-US">
                <a:latin typeface="Times New Roman" panose="02020603050405020304" pitchFamily="18" charset="0"/>
                <a:ea typeface="微软雅黑" panose="020B0503020204020204" charset="-122"/>
                <a:cs typeface="Times New Roman" panose="02020603050405020304" pitchFamily="18" charset="0"/>
              </a:rPr>
              <a:t>：</a:t>
            </a:r>
            <a:r>
              <a:rPr lang="zh-CN" altLang="en-US" dirty="0">
                <a:latin typeface="Times New Roman" panose="02020603050405020304" pitchFamily="18" charset="0"/>
                <a:ea typeface="微软雅黑" panose="020B0503020204020204" charset="-122"/>
                <a:cs typeface="Times New Roman" panose="02020603050405020304" pitchFamily="18" charset="0"/>
              </a:rPr>
              <a:t>我有名字</a:t>
            </a:r>
            <a:r>
              <a:rPr lang="en-US" altLang="zh-CN" dirty="0">
                <a:latin typeface="Times New Roman" panose="02020603050405020304" pitchFamily="18" charset="0"/>
                <a:ea typeface="微软雅黑" panose="020B0503020204020204" charset="-122"/>
                <a:cs typeface="Times New Roman" panose="02020603050405020304" pitchFamily="18" charset="0"/>
              </a:rPr>
              <a:t> </a:t>
            </a:r>
            <a:r>
              <a:rPr lang="zh-CN" altLang="en-US" dirty="0">
                <a:latin typeface="Times New Roman" panose="02020603050405020304" pitchFamily="18" charset="0"/>
                <a:ea typeface="微软雅黑" panose="020B0503020204020204" charset="-122"/>
                <a:cs typeface="Times New Roman" panose="02020603050405020304" pitchFamily="18" charset="0"/>
              </a:rPr>
              <a:t>  </a:t>
            </a:r>
            <a:r>
              <a:rPr lang="en-US" altLang="zh-CN">
                <a:latin typeface="Times New Roman" panose="02020603050405020304" pitchFamily="18" charset="0"/>
                <a:ea typeface="微软雅黑" panose="020B0503020204020204" charset="-122"/>
                <a:cs typeface="Times New Roman" panose="02020603050405020304" pitchFamily="18" charset="0"/>
              </a:rPr>
              <a:t>S2</a:t>
            </a:r>
            <a:r>
              <a:rPr lang="zh-CN" altLang="en-US">
                <a:latin typeface="Times New Roman" panose="02020603050405020304" pitchFamily="18" charset="0"/>
                <a:ea typeface="微软雅黑" panose="020B0503020204020204" charset="-122"/>
                <a:cs typeface="Times New Roman" panose="02020603050405020304" pitchFamily="18" charset="0"/>
              </a:rPr>
              <a:t>：</a:t>
            </a:r>
            <a:r>
              <a:rPr lang="zh-CN" altLang="en-US" dirty="0">
                <a:latin typeface="Times New Roman" panose="02020603050405020304" pitchFamily="18" charset="0"/>
                <a:ea typeface="微软雅黑" panose="020B0503020204020204" charset="-122"/>
                <a:cs typeface="Times New Roman" panose="02020603050405020304" pitchFamily="18" charset="0"/>
              </a:rPr>
              <a:t>你有名字</a:t>
            </a:r>
            <a:endParaRPr lang="zh-CN" altLang="en-US"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
        <p:nvSpPr>
          <p:cNvPr id="116741" name="矩形 116740"/>
          <p:cNvSpPr/>
          <p:nvPr/>
        </p:nvSpPr>
        <p:spPr>
          <a:xfrm>
            <a:off x="1116013" y="5108258"/>
            <a:ext cx="7239000" cy="1081087"/>
          </a:xfrm>
          <a:prstGeom prst="rect">
            <a:avLst/>
          </a:prstGeom>
          <a:solidFill>
            <a:schemeClr val="accent1">
              <a:alpha val="50000"/>
            </a:schemeClr>
          </a:solidFill>
          <a:ln w="9525">
            <a:noFill/>
          </a:ln>
        </p:spPr>
        <p:txBody>
          <a:bodyPr wrap="none" anchor="ctr" anchorCtr="0"/>
          <a:lstStyle/>
          <a:p>
            <a:pPr>
              <a:spcBef>
                <a:spcPct val="50000"/>
              </a:spcBef>
            </a:pPr>
            <a:r>
              <a:rPr lang="en-US" altLang="zh-CN">
                <a:latin typeface="Times New Roman" panose="02020603050405020304" pitchFamily="18" charset="0"/>
                <a:ea typeface="微软雅黑" panose="020B0503020204020204" charset="-122"/>
                <a:cs typeface="Times New Roman" panose="02020603050405020304" pitchFamily="18" charset="0"/>
              </a:rPr>
              <a:t>P</a:t>
            </a:r>
            <a:r>
              <a:rPr lang="en-US" altLang="zh-CN">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Q</a:t>
            </a:r>
            <a:r>
              <a:rPr lang="zh-CN" altLang="en-US"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表示：如果今天天气好，就去旅游。</a:t>
            </a:r>
            <a:endParaRPr lang="zh-CN" altLang="en-US"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a:spcBef>
                <a:spcPct val="50000"/>
              </a:spcBef>
            </a:pPr>
            <a:r>
              <a:rPr lang="zh-CN" altLang="en-US"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此时，如果</a:t>
            </a:r>
            <a:r>
              <a:rPr lang="en-US" altLang="zh-CN">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P</a:t>
            </a:r>
            <a:r>
              <a:rPr lang="zh-CN" altLang="en-US">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ea typeface="微软雅黑" panose="020B0503020204020204" charset="-122"/>
                <a:cs typeface="Times New Roman" panose="02020603050405020304" pitchFamily="18" charset="0"/>
              </a:rPr>
              <a:t>今天天气好）</a:t>
            </a:r>
            <a:r>
              <a:rPr lang="zh-CN" altLang="en-US"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成立，则可以得到结论</a:t>
            </a:r>
            <a:r>
              <a:rPr lang="en-US" altLang="zh-CN">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Q</a:t>
            </a:r>
            <a:r>
              <a:rPr lang="zh-CN" altLang="en-US">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ea typeface="微软雅黑" panose="020B0503020204020204" charset="-122"/>
                <a:cs typeface="Times New Roman" panose="02020603050405020304" pitchFamily="18" charset="0"/>
              </a:rPr>
              <a:t>去旅游</a:t>
            </a:r>
            <a:r>
              <a:rPr lang="zh-CN" altLang="en-US"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endParaRPr lang="zh-CN" altLang="en-US"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73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7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73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6741">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16741">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1674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bldLvl="0" animBg="1"/>
      <p:bldP spid="116741" grpId="0" animBg="1"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955" y="150495"/>
            <a:ext cx="6517640" cy="521970"/>
          </a:xfrm>
          <a:prstGeom prst="rect">
            <a:avLst/>
          </a:prstGeom>
          <a:noFill/>
        </p:spPr>
        <p:txBody>
          <a:bodyPr wrap="square" rtlCol="0">
            <a:spAutoFit/>
          </a:bodyPr>
          <a:lstStyle/>
          <a:p>
            <a:r>
              <a:rPr lang="zh-CN" altLang="en-US" sz="2800" b="1">
                <a:solidFill>
                  <a:schemeClr val="bg1"/>
                </a:solidFill>
                <a:latin typeface="微软雅黑" panose="020B0503020204020204" charset="-122"/>
                <a:ea typeface="微软雅黑" panose="020B0503020204020204" charset="-122"/>
                <a:cs typeface="微软雅黑" panose="020B0503020204020204" charset="-122"/>
              </a:rPr>
              <a:t>问题的提出</a:t>
            </a:r>
            <a:r>
              <a:rPr lang="en-US" sz="2800" b="1">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2800" b="1" dirty="0">
                <a:solidFill>
                  <a:schemeClr val="bg1"/>
                </a:solidFill>
                <a:latin typeface="微软雅黑" panose="020B0503020204020204" charset="-122"/>
                <a:ea typeface="微软雅黑" panose="020B0503020204020204" charset="-122"/>
                <a:cs typeface="微软雅黑" panose="020B0503020204020204" charset="-122"/>
                <a:sym typeface="+mn-ea"/>
              </a:rPr>
              <a:t>为何要研究谓词逻辑</a:t>
            </a:r>
            <a:r>
              <a:rPr lang="en-US" altLang="zh-CN" sz="2800" b="1"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en-US" altLang="zh-CN" sz="28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6298565" y="227330"/>
            <a:ext cx="2654935" cy="368300"/>
          </a:xfrm>
          <a:prstGeom prst="rect">
            <a:avLst/>
          </a:prstGeom>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zh-CN" altLang="en-US" b="1"/>
              <a:t>即命题逻辑的局限性</a:t>
            </a:r>
            <a:endParaRPr lang="zh-CN" altLang="en-US" b="1"/>
          </a:p>
        </p:txBody>
      </p:sp>
      <p:sp>
        <p:nvSpPr>
          <p:cNvPr id="4" name="文本框 3"/>
          <p:cNvSpPr txBox="1"/>
          <p:nvPr/>
        </p:nvSpPr>
        <p:spPr>
          <a:xfrm>
            <a:off x="358775" y="974090"/>
            <a:ext cx="4572000" cy="645160"/>
          </a:xfrm>
          <a:prstGeom prst="rect">
            <a:avLst/>
          </a:prstGeom>
          <a:noFill/>
          <a:ln>
            <a:solidFill>
              <a:schemeClr val="accent1"/>
            </a:solidFill>
          </a:ln>
        </p:spPr>
        <p:txBody>
          <a:bodyPr wrap="square" rtlCol="0" anchor="t">
            <a:spAutoFit/>
          </a:bodyPr>
          <a:lstStyle/>
          <a:p>
            <a:r>
              <a:rPr lang="zh-CN" altLang="en-US" b="1">
                <a:latin typeface="微软雅黑" panose="020B0503020204020204" charset="-122"/>
                <a:ea typeface="微软雅黑" panose="020B0503020204020204" charset="-122"/>
                <a:cs typeface="微软雅黑" panose="020B0503020204020204" charset="-122"/>
              </a:rPr>
              <a:t>例1.</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令</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Ｐ：小张是大学生。 </a:t>
            </a:r>
            <a:endParaRPr lang="zh-CN" altLang="en-US" b="1">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rPr>
              <a:t> </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Ｑ：小李是大学生。</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40055" y="1694815"/>
            <a:ext cx="7321550" cy="368300"/>
          </a:xfrm>
          <a:prstGeom prst="rect">
            <a:avLst/>
          </a:prstGeom>
          <a:noFill/>
        </p:spPr>
        <p:txBody>
          <a:bodyPr wrap="square" rtlCol="0" anchor="t">
            <a:spAutoFit/>
          </a:bodyPr>
          <a:lstStyle/>
          <a:p>
            <a:r>
              <a:rPr lang="zh-CN" altLang="en-US"/>
              <a:t>从符号Ｐ、Ｑ中能否归纳出他们都是大学生的共性？</a:t>
            </a:r>
            <a:endParaRPr lang="zh-CN" altLang="en-US"/>
          </a:p>
        </p:txBody>
      </p:sp>
      <p:sp>
        <p:nvSpPr>
          <p:cNvPr id="6" name="文本框 5"/>
          <p:cNvSpPr txBox="1"/>
          <p:nvPr/>
        </p:nvSpPr>
        <p:spPr>
          <a:xfrm>
            <a:off x="521970" y="3162300"/>
            <a:ext cx="8099425" cy="1198880"/>
          </a:xfrm>
          <a:prstGeom prst="rect">
            <a:avLst/>
          </a:prstGeom>
          <a:noFill/>
        </p:spPr>
        <p:txBody>
          <a:bodyPr wrap="square" rtlCol="0" anchor="t">
            <a:spAutoFit/>
          </a:bodyPr>
          <a:lstStyle/>
          <a:p>
            <a:r>
              <a:rPr lang="zh-CN" altLang="en-US"/>
              <a:t>这是著名的三段论推理，A是大前提，B是小前提，C是结论。</a:t>
            </a:r>
            <a:endParaRPr lang="zh-CN" altLang="en-US"/>
          </a:p>
          <a:p>
            <a:r>
              <a:rPr lang="zh-CN" altLang="en-US"/>
              <a:t>显然，由Ａ和Ｂ可以推出结论Ｃ。</a:t>
            </a:r>
            <a:endParaRPr lang="zh-CN" altLang="en-US"/>
          </a:p>
          <a:p>
            <a:endParaRPr lang="zh-CN" altLang="en-US"/>
          </a:p>
          <a:p>
            <a:r>
              <a:rPr lang="zh-CN" altLang="en-US"/>
              <a:t>这个推理是有效的，</a:t>
            </a:r>
            <a:r>
              <a:rPr lang="zh-CN" altLang="en-US" b="1">
                <a:solidFill>
                  <a:srgbClr val="C00000"/>
                </a:solidFill>
              </a:rPr>
              <a:t>但是这个推理在用命题逻辑也是无法实现的。</a:t>
            </a:r>
            <a:endParaRPr lang="zh-CN" altLang="en-US" b="1">
              <a:solidFill>
                <a:srgbClr val="C00000"/>
              </a:solidFill>
            </a:endParaRPr>
          </a:p>
        </p:txBody>
      </p:sp>
      <p:sp>
        <p:nvSpPr>
          <p:cNvPr id="7" name="文本框 6"/>
          <p:cNvSpPr txBox="1"/>
          <p:nvPr/>
        </p:nvSpPr>
        <p:spPr>
          <a:xfrm>
            <a:off x="440055" y="5720080"/>
            <a:ext cx="8594725" cy="92202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r>
              <a:rPr lang="zh-CN" altLang="en-US"/>
              <a:t>分析：命题Ｐ与Ｑ中的谓语是相同的(是大学生), 只是主语不同。命题Ａ、Ｂ、Ｃ之间在主语谓语方面也是有联系的，靠这种联系才能由Ａ、Ｂ推出Ｃ。而从这三个符号上看不出此种联系。 所以就要另外考虑表示命题的方法。</a:t>
            </a:r>
            <a:endParaRPr lang="zh-CN" altLang="en-US"/>
          </a:p>
        </p:txBody>
      </p:sp>
      <p:sp>
        <p:nvSpPr>
          <p:cNvPr id="8" name="文本框 7"/>
          <p:cNvSpPr txBox="1"/>
          <p:nvPr/>
        </p:nvSpPr>
        <p:spPr>
          <a:xfrm>
            <a:off x="165735" y="4462780"/>
            <a:ext cx="8869045" cy="903605"/>
          </a:xfrm>
          <a:prstGeom prst="rect">
            <a:avLst/>
          </a:prstGeom>
          <a:noFill/>
        </p:spPr>
        <p:txBody>
          <a:bodyPr wrap="square" rtlCol="0" anchor="t">
            <a:spAutoFit/>
          </a:bodyPr>
          <a:lstStyle/>
          <a:p>
            <a:pPr marL="742950" lvl="1" indent="-285750" algn="l">
              <a:spcBef>
                <a:spcPct val="20000"/>
              </a:spcBef>
              <a:buClr>
                <a:srgbClr val="FF0000"/>
              </a:buClr>
              <a:buSzPct val="55000"/>
              <a:buFont typeface="Wingdings" panose="05000000000000000000" pitchFamily="2" charset="2"/>
              <a:buChar char="n"/>
            </a:pPr>
            <a:r>
              <a:rPr lang="zh-CN" altLang="en-US" sz="2400" b="1" dirty="0">
                <a:solidFill>
                  <a:srgbClr val="FF0000"/>
                </a:solidFill>
                <a:latin typeface="微软雅黑" panose="020B0503020204020204" charset="-122"/>
                <a:ea typeface="微软雅黑" panose="020B0503020204020204" charset="-122"/>
                <a:cs typeface="+mn-ea"/>
                <a:sym typeface="+mn-ea"/>
              </a:rPr>
              <a:t>无法把不同事物间的共同特征表达出来。</a:t>
            </a:r>
            <a:endParaRPr lang="zh-CN" altLang="en-US" sz="2400" b="1" dirty="0">
              <a:solidFill>
                <a:srgbClr val="FF0000"/>
              </a:solidFill>
              <a:latin typeface="微软雅黑" panose="020B0503020204020204" charset="-122"/>
              <a:ea typeface="微软雅黑" panose="020B0503020204020204" charset="-122"/>
              <a:cs typeface="+mn-ea"/>
              <a:sym typeface="+mn-ea"/>
            </a:endParaRPr>
          </a:p>
          <a:p>
            <a:pPr marL="742950" lvl="1" indent="-285750" algn="l">
              <a:spcBef>
                <a:spcPct val="20000"/>
              </a:spcBef>
              <a:buClr>
                <a:srgbClr val="FF0000"/>
              </a:buClr>
              <a:buSzPct val="55000"/>
              <a:buFont typeface="Wingdings" panose="05000000000000000000" pitchFamily="2" charset="2"/>
              <a:buChar char="n"/>
            </a:pPr>
            <a:r>
              <a:rPr lang="zh-CN" altLang="en-US" sz="2400" b="1" dirty="0">
                <a:solidFill>
                  <a:srgbClr val="FF0000"/>
                </a:solidFill>
                <a:latin typeface="微软雅黑" panose="020B0503020204020204" charset="-122"/>
                <a:ea typeface="微软雅黑" panose="020B0503020204020204" charset="-122"/>
                <a:sym typeface="+mn-ea"/>
              </a:rPr>
              <a:t>无法把所描述的客观事物的结构及逻辑特征反映出来。</a:t>
            </a:r>
            <a:endParaRPr lang="zh-CN" altLang="en-US" sz="2400" b="1" dirty="0">
              <a:solidFill>
                <a:srgbClr val="FF0000"/>
              </a:solidFill>
              <a:latin typeface="微软雅黑" panose="020B0503020204020204" charset="-122"/>
              <a:ea typeface="微软雅黑" panose="020B0503020204020204" charset="-122"/>
              <a:cs typeface="+mn-ea"/>
              <a:sym typeface="+mn-ea"/>
            </a:endParaRPr>
          </a:p>
        </p:txBody>
      </p:sp>
      <p:sp>
        <p:nvSpPr>
          <p:cNvPr id="9" name="文本框 8"/>
          <p:cNvSpPr txBox="1"/>
          <p:nvPr/>
        </p:nvSpPr>
        <p:spPr>
          <a:xfrm>
            <a:off x="274955" y="2138680"/>
            <a:ext cx="4572000" cy="922020"/>
          </a:xfrm>
          <a:prstGeom prst="rect">
            <a:avLst/>
          </a:prstGeom>
          <a:noFill/>
          <a:ln>
            <a:solidFill>
              <a:schemeClr val="accent1"/>
            </a:solidFill>
          </a:ln>
        </p:spPr>
        <p:txBody>
          <a:bodyPr wrap="square" rtlCol="0" anchor="t">
            <a:spAutoFit/>
          </a:bodyPr>
          <a:lstStyle/>
          <a:p>
            <a:r>
              <a:rPr lang="zh-CN" altLang="en-US" b="1">
                <a:latin typeface="微软雅黑" panose="020B0503020204020204" charset="-122"/>
                <a:ea typeface="微软雅黑" panose="020B0503020204020204" charset="-122"/>
                <a:cs typeface="微软雅黑" panose="020B0503020204020204" charset="-122"/>
                <a:sym typeface="+mn-ea"/>
              </a:rPr>
              <a:t>例2.</a:t>
            </a:r>
            <a:r>
              <a:rPr lang="en-US" altLang="zh-CN" b="1">
                <a:latin typeface="微软雅黑" panose="020B0503020204020204" charset="-122"/>
                <a:ea typeface="微软雅黑" panose="020B0503020204020204" charset="-122"/>
                <a:cs typeface="微软雅黑" panose="020B0503020204020204" charset="-122"/>
                <a:sym typeface="+mn-ea"/>
              </a:rPr>
              <a:t>	</a:t>
            </a:r>
            <a:r>
              <a:rPr lang="zh-CN" altLang="en-US" b="1">
                <a:latin typeface="微软雅黑" panose="020B0503020204020204" charset="-122"/>
                <a:ea typeface="微软雅黑" panose="020B0503020204020204" charset="-122"/>
                <a:cs typeface="微软雅黑" panose="020B0503020204020204" charset="-122"/>
                <a:sym typeface="+mn-ea"/>
              </a:rPr>
              <a:t>令 </a:t>
            </a:r>
            <a:r>
              <a:rPr lang="en-US" altLang="zh-CN" b="1">
                <a:latin typeface="微软雅黑" panose="020B0503020204020204" charset="-122"/>
                <a:ea typeface="微软雅黑" panose="020B0503020204020204" charset="-122"/>
                <a:cs typeface="微软雅黑" panose="020B0503020204020204" charset="-122"/>
                <a:sym typeface="+mn-ea"/>
              </a:rPr>
              <a:t>	</a:t>
            </a:r>
            <a:r>
              <a:rPr lang="zh-CN" altLang="en-US" b="1">
                <a:latin typeface="微软雅黑" panose="020B0503020204020204" charset="-122"/>
                <a:ea typeface="微软雅黑" panose="020B0503020204020204" charset="-122"/>
                <a:cs typeface="微软雅黑" panose="020B0503020204020204" charset="-122"/>
                <a:sym typeface="+mn-ea"/>
              </a:rPr>
              <a:t>Ａ：所有自然数都是整数。 </a:t>
            </a:r>
            <a:endParaRPr lang="zh-CN" altLang="en-US" b="1">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sym typeface="+mn-ea"/>
              </a:rPr>
              <a:t> </a:t>
            </a:r>
            <a:r>
              <a:rPr lang="en-US" altLang="zh-CN" b="1">
                <a:latin typeface="微软雅黑" panose="020B0503020204020204" charset="-122"/>
                <a:ea typeface="微软雅黑" panose="020B0503020204020204" charset="-122"/>
                <a:cs typeface="微软雅黑" panose="020B0503020204020204" charset="-122"/>
                <a:sym typeface="+mn-ea"/>
              </a:rPr>
              <a:t>		</a:t>
            </a:r>
            <a:r>
              <a:rPr lang="zh-CN" altLang="en-US" b="1">
                <a:latin typeface="微软雅黑" panose="020B0503020204020204" charset="-122"/>
                <a:ea typeface="微软雅黑" panose="020B0503020204020204" charset="-122"/>
                <a:cs typeface="微软雅黑" panose="020B0503020204020204" charset="-122"/>
                <a:sym typeface="+mn-ea"/>
              </a:rPr>
              <a:t>Ｂ：８是自然数。 </a:t>
            </a:r>
            <a:endParaRPr lang="zh-CN" altLang="en-US" b="1">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sym typeface="+mn-ea"/>
              </a:rPr>
              <a:t> </a:t>
            </a:r>
            <a:r>
              <a:rPr lang="en-US" altLang="zh-CN" b="1">
                <a:latin typeface="微软雅黑" panose="020B0503020204020204" charset="-122"/>
                <a:ea typeface="微软雅黑" panose="020B0503020204020204" charset="-122"/>
                <a:cs typeface="微软雅黑" panose="020B0503020204020204" charset="-122"/>
                <a:sym typeface="+mn-ea"/>
              </a:rPr>
              <a:t>		</a:t>
            </a:r>
            <a:r>
              <a:rPr lang="zh-CN" altLang="en-US" b="1">
                <a:latin typeface="微软雅黑" panose="020B0503020204020204" charset="-122"/>
                <a:ea typeface="微软雅黑" panose="020B0503020204020204" charset="-122"/>
                <a:cs typeface="微软雅黑" panose="020B0503020204020204" charset="-122"/>
                <a:sym typeface="+mn-ea"/>
              </a:rPr>
              <a:t>Ｃ：８是整数。 </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0" name="TextBox 7"/>
          <p:cNvSpPr txBox="1"/>
          <p:nvPr/>
        </p:nvSpPr>
        <p:spPr>
          <a:xfrm>
            <a:off x="4010025" y="3421380"/>
            <a:ext cx="2107565" cy="496570"/>
          </a:xfrm>
          <a:prstGeom prst="rect">
            <a:avLst/>
          </a:prstGeom>
          <a:noFill/>
          <a:ln w="9525">
            <a:noFill/>
          </a:ln>
        </p:spPr>
        <p:txBody>
          <a:bodyPr>
            <a:noAutofit/>
          </a:bodyPr>
          <a:lstStyle/>
          <a:p>
            <a:r>
              <a:rPr lang="en-US" altLang="zh-CN" sz="3200">
                <a:latin typeface="Times New Roman" panose="02020603050405020304" pitchFamily="18" charset="0"/>
              </a:rPr>
              <a:t>(</a:t>
            </a:r>
            <a:r>
              <a:rPr lang="en-US" altLang="zh-CN" sz="3200" i="1">
                <a:latin typeface="Times New Roman" panose="02020603050405020304" pitchFamily="18" charset="0"/>
              </a:rPr>
              <a:t>A</a:t>
            </a:r>
            <a:r>
              <a:rPr lang="el-GR" altLang="zh-CN" sz="3200" b="1" dirty="0">
                <a:latin typeface="Times New Roman" panose="02020603050405020304" pitchFamily="18" charset="0"/>
                <a:sym typeface="Symbol" panose="05050102010706020507" pitchFamily="18" charset="2"/>
              </a:rPr>
              <a:t></a:t>
            </a:r>
            <a:r>
              <a:rPr lang="en-US" altLang="el-GR" sz="3200" b="1" dirty="0">
                <a:latin typeface="Times New Roman" panose="02020603050405020304" pitchFamily="18" charset="0"/>
                <a:sym typeface="Symbol" panose="05050102010706020507" pitchFamily="18" charset="2"/>
              </a:rPr>
              <a:t>B</a:t>
            </a:r>
            <a:r>
              <a:rPr lang="en-US" altLang="zh-CN" sz="3200">
                <a:latin typeface="Times New Roman" panose="02020603050405020304" pitchFamily="18" charset="0"/>
              </a:rPr>
              <a:t>)</a:t>
            </a:r>
            <a:r>
              <a:rPr lang="en-US" altLang="zh-CN" sz="3200" b="1">
                <a:latin typeface="Times New Roman" panose="02020603050405020304" pitchFamily="18" charset="0"/>
              </a:rPr>
              <a:t>→</a:t>
            </a:r>
            <a:r>
              <a:rPr lang="en-US" altLang="zh-CN" sz="3200" i="1">
                <a:latin typeface="Times New Roman" panose="02020603050405020304" pitchFamily="18" charset="0"/>
              </a:rPr>
              <a:t>C</a:t>
            </a:r>
            <a:endParaRPr lang="zh-CN" altLang="en-US" sz="3200" dirty="0">
              <a:latin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linds(horizontal)">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p:bldP spid="5" grpId="1"/>
      <p:bldP spid="7" grpId="0" animBg="1"/>
      <p:bldP spid="7" grpId="1" animBg="1"/>
      <p:bldP spid="9" grpId="0" bldLvl="0" animBg="1"/>
      <p:bldP spid="9" grpId="1" animBg="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88340" y="1035050"/>
            <a:ext cx="7767955" cy="1442720"/>
          </a:xfrm>
        </p:spPr>
        <p:txBody>
          <a:bodyPr/>
          <a:lstStyle/>
          <a:p>
            <a:pPr eaLnBrk="1" hangingPunct="1">
              <a:lnSpc>
                <a:spcPct val="120000"/>
              </a:lnSpc>
            </a:pPr>
            <a:r>
              <a:rPr sz="1800" b="1">
                <a:solidFill>
                  <a:srgbClr val="FF0000"/>
                </a:solidFill>
                <a:latin typeface="Times New Roman" panose="02020603050405020304" pitchFamily="18" charset="0"/>
                <a:cs typeface="Times New Roman" panose="02020603050405020304" pitchFamily="18" charset="0"/>
                <a:sym typeface="+mn-ea"/>
              </a:rPr>
              <a:t>命题</a:t>
            </a:r>
            <a:r>
              <a:rPr sz="1800">
                <a:latin typeface="Times New Roman" panose="02020603050405020304" pitchFamily="18" charset="0"/>
                <a:cs typeface="Times New Roman" panose="02020603050405020304" pitchFamily="18" charset="0"/>
                <a:sym typeface="+mn-ea"/>
              </a:rPr>
              <a:t>内部逻辑结构的分解 </a:t>
            </a:r>
            <a:r>
              <a:rPr sz="1800">
                <a:latin typeface="Times New Roman" panose="02020603050405020304" pitchFamily="18" charset="0"/>
                <a:cs typeface="Times New Roman" panose="02020603050405020304" pitchFamily="18" charset="0"/>
                <a:sym typeface="Symbol" panose="05050102010706020507" pitchFamily="18" charset="2"/>
              </a:rPr>
              <a:t> 对判断的分解</a:t>
            </a:r>
            <a:r>
              <a:rPr lang="en-US" altLang="zh-CN" sz="1800">
                <a:latin typeface="Times New Roman" panose="02020603050405020304" pitchFamily="18" charset="0"/>
                <a:cs typeface="Times New Roman" panose="02020603050405020304" pitchFamily="18" charset="0"/>
                <a:sym typeface="Symbol" panose="05050102010706020507" pitchFamily="18" charset="2"/>
              </a:rPr>
              <a:t>:</a:t>
            </a:r>
            <a:endParaRPr lang="en-US" altLang="zh-CN" sz="1800">
              <a:latin typeface="Times New Roman" panose="02020603050405020304" pitchFamily="18" charset="0"/>
              <a:cs typeface="Times New Roman" panose="02020603050405020304" pitchFamily="18" charset="0"/>
              <a:sym typeface="Symbol" panose="05050102010706020507" pitchFamily="18" charset="2"/>
            </a:endParaRPr>
          </a:p>
          <a:p>
            <a:pPr lvl="1" eaLnBrk="1" hangingPunct="1">
              <a:lnSpc>
                <a:spcPct val="120000"/>
              </a:lnSpc>
            </a:pPr>
            <a:r>
              <a:rPr sz="1800">
                <a:latin typeface="Times New Roman" panose="02020603050405020304" pitchFamily="18" charset="0"/>
                <a:cs typeface="Times New Roman" panose="02020603050405020304" pitchFamily="18" charset="0"/>
                <a:sym typeface="Symbol" panose="05050102010706020507" pitchFamily="18" charset="2"/>
              </a:rPr>
              <a:t>把</a:t>
            </a:r>
            <a:r>
              <a:rPr sz="1800">
                <a:latin typeface="Times New Roman" panose="02020603050405020304" pitchFamily="18" charset="0"/>
                <a:cs typeface="Times New Roman" panose="02020603050405020304" pitchFamily="18" charset="0"/>
                <a:sym typeface="+mn-ea"/>
              </a:rPr>
              <a:t>判断中的具体内容抽出，称为</a:t>
            </a:r>
            <a:r>
              <a:rPr sz="1800" b="1">
                <a:solidFill>
                  <a:srgbClr val="FF0000"/>
                </a:solidFill>
                <a:latin typeface="Times New Roman" panose="02020603050405020304" pitchFamily="18" charset="0"/>
                <a:cs typeface="Times New Roman" panose="02020603050405020304" pitchFamily="18" charset="0"/>
                <a:sym typeface="+mn-ea"/>
              </a:rPr>
              <a:t>个体</a:t>
            </a:r>
            <a:r>
              <a:rPr sz="1800">
                <a:latin typeface="Times New Roman" panose="02020603050405020304" pitchFamily="18" charset="0"/>
                <a:cs typeface="Times New Roman" panose="02020603050405020304" pitchFamily="18" charset="0"/>
                <a:sym typeface="+mn-ea"/>
              </a:rPr>
              <a:t>；</a:t>
            </a:r>
            <a:endParaRPr sz="1800">
              <a:latin typeface="Times New Roman" panose="02020603050405020304" pitchFamily="18" charset="0"/>
              <a:cs typeface="Times New Roman" panose="02020603050405020304" pitchFamily="18" charset="0"/>
              <a:sym typeface="+mn-ea"/>
            </a:endParaRPr>
          </a:p>
          <a:p>
            <a:pPr lvl="1" eaLnBrk="1" hangingPunct="1">
              <a:lnSpc>
                <a:spcPct val="120000"/>
              </a:lnSpc>
            </a:pPr>
            <a:r>
              <a:rPr sz="1800">
                <a:latin typeface="Times New Roman" panose="02020603050405020304" pitchFamily="18" charset="0"/>
                <a:cs typeface="Times New Roman" panose="02020603050405020304" pitchFamily="18" charset="0"/>
                <a:sym typeface="+mn-ea"/>
              </a:rPr>
              <a:t>剩下的</a:t>
            </a:r>
            <a:r>
              <a:rPr sz="1800">
                <a:solidFill>
                  <a:srgbClr val="FF0000"/>
                </a:solidFill>
                <a:latin typeface="Times New Roman" panose="02020603050405020304" pitchFamily="18" charset="0"/>
                <a:cs typeface="Times New Roman" panose="02020603050405020304" pitchFamily="18" charset="0"/>
                <a:sym typeface="+mn-ea"/>
              </a:rPr>
              <a:t>判断</a:t>
            </a:r>
            <a:r>
              <a:rPr sz="1800">
                <a:latin typeface="Times New Roman" panose="02020603050405020304" pitchFamily="18" charset="0"/>
                <a:cs typeface="Times New Roman" panose="02020603050405020304" pitchFamily="18" charset="0"/>
                <a:sym typeface="+mn-ea"/>
              </a:rPr>
              <a:t>即为</a:t>
            </a:r>
            <a:r>
              <a:rPr sz="1800" b="1">
                <a:solidFill>
                  <a:srgbClr val="FF0000"/>
                </a:solidFill>
                <a:latin typeface="Times New Roman" panose="02020603050405020304" pitchFamily="18" charset="0"/>
                <a:cs typeface="Times New Roman" panose="02020603050405020304" pitchFamily="18" charset="0"/>
                <a:sym typeface="+mn-ea"/>
              </a:rPr>
              <a:t>谓词</a:t>
            </a:r>
            <a:r>
              <a:rPr lang="en-US" altLang="zh-CN" sz="1800">
                <a:solidFill>
                  <a:srgbClr val="0000FF"/>
                </a:solidFill>
                <a:latin typeface="Times New Roman" panose="02020603050405020304" pitchFamily="18" charset="0"/>
                <a:sym typeface="Symbol" panose="05050102010706020507" pitchFamily="18" charset="2"/>
              </a:rPr>
              <a:t>predicate</a:t>
            </a:r>
            <a:endParaRPr lang="en-US" altLang="zh-CN" sz="1800" dirty="0">
              <a:solidFill>
                <a:srgbClr val="0000FF"/>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1" name="Rectangle 2"/>
          <p:cNvSpPr txBox="1">
            <a:spLocks noChangeArrowheads="1"/>
          </p:cNvSpPr>
          <p:nvPr/>
        </p:nvSpPr>
        <p:spPr>
          <a:xfrm>
            <a:off x="375920" y="132715"/>
            <a:ext cx="7834630" cy="692150"/>
          </a:xfrm>
          <a:prstGeom prst="rect">
            <a:avLst/>
          </a:prstGeom>
        </p:spPr>
        <p:txBody>
          <a:bodyPr/>
          <a:lstStyle/>
          <a:p>
            <a:pPr marR="0" algn="l" defTabSz="914400" eaLnBrk="0" hangingPunct="0">
              <a:buClrTx/>
              <a:buSzPct val="100000"/>
              <a:buFontTx/>
              <a:buNone/>
              <a:defRPr/>
            </a:pPr>
            <a:r>
              <a:rPr kumimoji="0" lang="zh-CN" altLang="en-US" sz="3600" b="1" kern="0" cap="none" spc="0" normalizeH="0" baseline="0" noProof="0">
                <a:solidFill>
                  <a:schemeClr val="bg1"/>
                </a:solidFill>
                <a:latin typeface="+mj-lt"/>
                <a:ea typeface="+mj-ea"/>
                <a:cs typeface="+mj-cs"/>
              </a:rPr>
              <a:t>谓词逻辑的引入</a:t>
            </a:r>
            <a:endParaRPr kumimoji="0" lang="zh-CN" altLang="en-US" sz="3600" b="1" kern="0" cap="none" spc="0" normalizeH="0" baseline="0" noProof="0" dirty="0">
              <a:solidFill>
                <a:schemeClr val="bg1"/>
              </a:solidFill>
              <a:latin typeface="+mj-lt"/>
              <a:ea typeface="+mj-ea"/>
              <a:cs typeface="+mj-cs"/>
            </a:endParaRPr>
          </a:p>
        </p:txBody>
      </p:sp>
      <p:sp>
        <p:nvSpPr>
          <p:cNvPr id="2" name="文本框 1"/>
          <p:cNvSpPr txBox="1"/>
          <p:nvPr/>
        </p:nvSpPr>
        <p:spPr>
          <a:xfrm>
            <a:off x="4187825" y="-28575"/>
            <a:ext cx="4845050" cy="1014730"/>
          </a:xfrm>
          <a:prstGeom prst="rect">
            <a:avLst/>
          </a:prstGeom>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zh-CN" altLang="en-US" sz="2000" b="1"/>
              <a:t>在表示命题时，既表示出主语(主词)，也表示出谓语(谓词)，就可以解决上述问题。这就提出了谓词</a:t>
            </a:r>
            <a:r>
              <a:rPr lang="en-US" altLang="zh-CN" sz="2000" b="1">
                <a:solidFill>
                  <a:srgbClr val="0000FF"/>
                </a:solidFill>
                <a:latin typeface="Times New Roman" panose="02020603050405020304" pitchFamily="18" charset="0"/>
                <a:sym typeface="Symbol" panose="05050102010706020507" pitchFamily="18" charset="2"/>
              </a:rPr>
              <a:t>predicate </a:t>
            </a:r>
            <a:r>
              <a:rPr lang="zh-CN" altLang="en-US" sz="2000" b="1"/>
              <a:t>的概念。</a:t>
            </a:r>
            <a:endParaRPr lang="zh-CN" altLang="en-US" sz="2000" b="1"/>
          </a:p>
        </p:txBody>
      </p:sp>
      <p:pic>
        <p:nvPicPr>
          <p:cNvPr id="5" name="图片 4"/>
          <p:cNvPicPr>
            <a:picLocks noChangeAspect="1"/>
          </p:cNvPicPr>
          <p:nvPr/>
        </p:nvPicPr>
        <p:blipFill>
          <a:blip r:embed="rId1"/>
          <a:stretch>
            <a:fillRect/>
          </a:stretch>
        </p:blipFill>
        <p:spPr>
          <a:xfrm>
            <a:off x="2038985" y="2405380"/>
            <a:ext cx="5807710" cy="1349375"/>
          </a:xfrm>
          <a:prstGeom prst="rect">
            <a:avLst/>
          </a:prstGeom>
        </p:spPr>
      </p:pic>
      <p:sp>
        <p:nvSpPr>
          <p:cNvPr id="7" name="文本框 6"/>
          <p:cNvSpPr txBox="1"/>
          <p:nvPr/>
        </p:nvSpPr>
        <p:spPr>
          <a:xfrm>
            <a:off x="688340" y="3938905"/>
            <a:ext cx="4572000" cy="368300"/>
          </a:xfrm>
          <a:prstGeom prst="rect">
            <a:avLst/>
          </a:prstGeom>
          <a:noFill/>
        </p:spPr>
        <p:txBody>
          <a:bodyPr wrap="square" rtlCol="0" anchor="t">
            <a:spAutoFit/>
          </a:bodyPr>
          <a:lstStyle/>
          <a:p>
            <a:r>
              <a:rPr lang="zh-CN" altLang="en-US"/>
              <a:t>令N(</a:t>
            </a:r>
            <a:r>
              <a:rPr lang="en-US" altLang="zh-CN"/>
              <a:t>x</a:t>
            </a:r>
            <a:r>
              <a:rPr lang="zh-CN" altLang="en-US"/>
              <a:t>):x是自然数。I(x):x是整数。</a:t>
            </a:r>
            <a:endParaRPr lang="zh-CN" altLang="en-US"/>
          </a:p>
        </p:txBody>
      </p:sp>
      <p:sp>
        <p:nvSpPr>
          <p:cNvPr id="9" name="文本框 8"/>
          <p:cNvSpPr txBox="1"/>
          <p:nvPr/>
        </p:nvSpPr>
        <p:spPr>
          <a:xfrm>
            <a:off x="986790" y="4299585"/>
            <a:ext cx="4572000" cy="368300"/>
          </a:xfrm>
          <a:prstGeom prst="rect">
            <a:avLst/>
          </a:prstGeom>
          <a:noFill/>
        </p:spPr>
        <p:txBody>
          <a:bodyPr wrap="square" rtlCol="0" anchor="t">
            <a:spAutoFit/>
          </a:bodyPr>
          <a:lstStyle/>
          <a:p>
            <a:r>
              <a:rPr lang="zh-CN" altLang="en-US"/>
              <a:t>∀表示所有的。</a:t>
            </a:r>
            <a:endParaRPr lang="zh-CN" altLang="en-US"/>
          </a:p>
        </p:txBody>
      </p:sp>
      <p:pic>
        <p:nvPicPr>
          <p:cNvPr id="10" name="图片 9"/>
          <p:cNvPicPr>
            <a:picLocks noChangeAspect="1"/>
          </p:cNvPicPr>
          <p:nvPr/>
        </p:nvPicPr>
        <p:blipFill>
          <a:blip r:embed="rId2"/>
          <a:stretch>
            <a:fillRect/>
          </a:stretch>
        </p:blipFill>
        <p:spPr>
          <a:xfrm>
            <a:off x="1149350" y="4667885"/>
            <a:ext cx="3038475" cy="1362075"/>
          </a:xfrm>
          <a:prstGeom prst="rect">
            <a:avLst/>
          </a:prstGeom>
        </p:spPr>
      </p:pic>
      <p:pic>
        <p:nvPicPr>
          <p:cNvPr id="15" name="图片 14"/>
          <p:cNvPicPr>
            <a:picLocks noChangeAspect="1"/>
          </p:cNvPicPr>
          <p:nvPr/>
        </p:nvPicPr>
        <p:blipFill>
          <a:blip r:embed="rId3"/>
          <a:stretch>
            <a:fillRect/>
          </a:stretch>
        </p:blipFill>
        <p:spPr>
          <a:xfrm>
            <a:off x="4943475" y="4491355"/>
            <a:ext cx="2533650" cy="1181100"/>
          </a:xfrm>
          <a:prstGeom prst="rect">
            <a:avLst/>
          </a:prstGeom>
        </p:spPr>
      </p:pic>
      <p:sp>
        <p:nvSpPr>
          <p:cNvPr id="16" name="文本框 15"/>
          <p:cNvSpPr txBox="1"/>
          <p:nvPr/>
        </p:nvSpPr>
        <p:spPr>
          <a:xfrm>
            <a:off x="5193665" y="3938905"/>
            <a:ext cx="2734310" cy="368300"/>
          </a:xfrm>
          <a:prstGeom prst="rect">
            <a:avLst/>
          </a:prstGeom>
          <a:noFill/>
        </p:spPr>
        <p:txBody>
          <a:bodyPr wrap="square" rtlCol="0" anchor="t">
            <a:spAutoFit/>
          </a:bodyPr>
          <a:lstStyle/>
          <a:p>
            <a:r>
              <a:rPr lang="zh-CN" altLang="en-US"/>
              <a:t>推理如此实现：</a:t>
            </a:r>
            <a:endParaRPr lang="zh-CN" altLang="en-US"/>
          </a:p>
        </p:txBody>
      </p:sp>
      <p:sp>
        <p:nvSpPr>
          <p:cNvPr id="18" name="文本框 17"/>
          <p:cNvSpPr txBox="1"/>
          <p:nvPr/>
        </p:nvSpPr>
        <p:spPr>
          <a:xfrm>
            <a:off x="1985645" y="6130290"/>
            <a:ext cx="5861050" cy="460375"/>
          </a:xfrm>
          <a:prstGeom prst="rect">
            <a:avLst/>
          </a:prstGeom>
          <a:noFill/>
        </p:spPr>
        <p:txBody>
          <a:bodyPr wrap="square" rtlCol="0" anchor="t">
            <a:spAutoFit/>
          </a:bodyPr>
          <a:lstStyle/>
          <a:p>
            <a:r>
              <a:rPr lang="zh-CN" altLang="en-US" sz="2400" b="1">
                <a:solidFill>
                  <a:srgbClr val="C00000"/>
                </a:solidFill>
                <a:latin typeface="Times New Roman" panose="02020603050405020304" pitchFamily="18" charset="0"/>
                <a:cs typeface="Times New Roman" panose="02020603050405020304" pitchFamily="18" charset="0"/>
              </a:rPr>
              <a:t>符号 S(</a:t>
            </a:r>
            <a:r>
              <a:rPr lang="zh-CN" altLang="en-US" sz="2400" b="1" i="1">
                <a:solidFill>
                  <a:srgbClr val="C00000"/>
                </a:solidFill>
                <a:latin typeface="Times New Roman" panose="02020603050405020304" pitchFamily="18" charset="0"/>
                <a:cs typeface="Times New Roman" panose="02020603050405020304" pitchFamily="18" charset="0"/>
              </a:rPr>
              <a:t>x</a:t>
            </a:r>
            <a:r>
              <a:rPr lang="zh-CN" altLang="en-US" sz="2400" b="1">
                <a:solidFill>
                  <a:srgbClr val="C00000"/>
                </a:solidFill>
                <a:latin typeface="Times New Roman" panose="02020603050405020304" pitchFamily="18" charset="0"/>
                <a:cs typeface="Times New Roman" panose="02020603050405020304" pitchFamily="18" charset="0"/>
              </a:rPr>
              <a:t>)、N(</a:t>
            </a:r>
            <a:r>
              <a:rPr lang="zh-CN" altLang="en-US" sz="2400" b="1" i="1">
                <a:solidFill>
                  <a:srgbClr val="C00000"/>
                </a:solidFill>
                <a:latin typeface="Times New Roman" panose="02020603050405020304" pitchFamily="18" charset="0"/>
                <a:cs typeface="Times New Roman" panose="02020603050405020304" pitchFamily="18" charset="0"/>
              </a:rPr>
              <a:t>x</a:t>
            </a:r>
            <a:r>
              <a:rPr lang="zh-CN" altLang="en-US" sz="2400" b="1">
                <a:solidFill>
                  <a:srgbClr val="C00000"/>
                </a:solidFill>
                <a:latin typeface="Times New Roman" panose="02020603050405020304" pitchFamily="18" charset="0"/>
                <a:cs typeface="Times New Roman" panose="02020603050405020304" pitchFamily="18" charset="0"/>
              </a:rPr>
              <a:t>)、I(</a:t>
            </a:r>
            <a:r>
              <a:rPr lang="zh-CN" altLang="en-US" sz="2400" b="1" i="1">
                <a:solidFill>
                  <a:srgbClr val="C00000"/>
                </a:solidFill>
                <a:latin typeface="Times New Roman" panose="02020603050405020304" pitchFamily="18" charset="0"/>
                <a:cs typeface="Times New Roman" panose="02020603050405020304" pitchFamily="18" charset="0"/>
              </a:rPr>
              <a:t>x</a:t>
            </a:r>
            <a:r>
              <a:rPr lang="zh-CN" altLang="en-US" sz="2400" b="1">
                <a:solidFill>
                  <a:srgbClr val="C00000"/>
                </a:solidFill>
                <a:latin typeface="Times New Roman" panose="02020603050405020304" pitchFamily="18" charset="0"/>
                <a:cs typeface="Times New Roman" panose="02020603050405020304" pitchFamily="18" charset="0"/>
              </a:rPr>
              <a:t>)就是所谓的</a:t>
            </a:r>
            <a:r>
              <a:rPr lang="zh-CN" altLang="en-US" sz="2400" b="1">
                <a:solidFill>
                  <a:srgbClr val="C00000"/>
                </a:solidFill>
                <a:latin typeface="微软雅黑" panose="020B0503020204020204" charset="-122"/>
                <a:ea typeface="微软雅黑" panose="020B0503020204020204" charset="-122"/>
                <a:cs typeface="Times New Roman" panose="02020603050405020304" pitchFamily="18" charset="0"/>
              </a:rPr>
              <a:t>谓词</a:t>
            </a:r>
            <a:r>
              <a:rPr lang="zh-CN" altLang="en-US" sz="2400" b="1">
                <a:solidFill>
                  <a:srgbClr val="C00000"/>
                </a:solidFill>
                <a:latin typeface="Times New Roman" panose="02020603050405020304" pitchFamily="18" charset="0"/>
                <a:cs typeface="Times New Roman" panose="02020603050405020304" pitchFamily="18" charset="0"/>
              </a:rPr>
              <a:t>。</a:t>
            </a:r>
            <a:endParaRPr lang="zh-CN" altLang="en-US" sz="2400" b="1">
              <a:solidFill>
                <a:srgbClr val="C00000"/>
              </a:solidFill>
              <a:latin typeface="Times New Roman" panose="02020603050405020304" pitchFamily="18" charset="0"/>
              <a:cs typeface="Times New Roman" panose="02020603050405020304" pitchFamily="18" charset="0"/>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2" grpId="0" animBg="1"/>
      <p:bldP spid="2" grpId="1" animBg="1"/>
      <p:bldP spid="7" grpId="0"/>
      <p:bldP spid="7" grpId="1"/>
      <p:bldP spid="9" grpId="0"/>
      <p:bldP spid="9" grpId="1"/>
      <p:bldP spid="16" grpId="0"/>
      <p:bldP spid="16" grpId="1"/>
      <p:bldP spid="18" grpId="0"/>
      <p:bldP spid="18"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normAutofit fontScale="75000" lnSpcReduction="20000"/>
          </a:bodyPr>
          <a:lstStyle/>
          <a:p>
            <a:pPr marL="0" marR="0" lvl="0" indent="0" algn="r" defTabSz="914400" rtl="0" eaLnBrk="1" fontAlgn="base" latinLnBrk="1" hangingPunct="1">
              <a:lnSpc>
                <a:spcPct val="100000"/>
              </a:lnSpc>
              <a:spcBef>
                <a:spcPct val="0"/>
              </a:spcBef>
              <a:spcAft>
                <a:spcPct val="0"/>
              </a:spcAft>
              <a:buClrTx/>
              <a:buSzTx/>
              <a:buFontTx/>
              <a:buNone/>
              <a:defRPr/>
            </a:pPr>
            <a:fld id="{70EA5055-1DCA-42CB-9C3F-BC3218ABEBED}"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4146" name="Rectangle 2"/>
          <p:cNvSpPr>
            <a:spLocks noGrp="1" noChangeArrowheads="1"/>
          </p:cNvSpPr>
          <p:nvPr>
            <p:ph type="title" idx="4294967295"/>
          </p:nvPr>
        </p:nvSpPr>
        <p:spPr>
          <a:xfrm>
            <a:off x="329565" y="37465"/>
            <a:ext cx="7772400" cy="732155"/>
          </a:xfrm>
        </p:spPr>
        <p:txBody>
          <a:bodyPr vert="horz" wrap="square" lIns="91440" tIns="45720" rIns="91440" bIns="45720" numCol="1" anchor="ctr" anchorCtr="0" compatLnSpc="1">
            <a:normAutofit/>
          </a:bodyPr>
          <a:lstStyle/>
          <a:p>
            <a:pPr marL="0" marR="0" lvl="0" indent="0" algn="l" defTabSz="914400" rtl="0" eaLnBrk="1" fontAlgn="base" latinLnBrk="1" hangingPunct="1">
              <a:lnSpc>
                <a:spcPct val="100000"/>
              </a:lnSpc>
              <a:spcBef>
                <a:spcPct val="0"/>
              </a:spcBef>
              <a:spcAft>
                <a:spcPct val="0"/>
              </a:spcAft>
              <a:buClrTx/>
              <a:buSzTx/>
              <a:buFontTx/>
              <a:buNone/>
              <a:defRPr/>
            </a:pPr>
            <a:r>
              <a:rPr lang="zh-CN" sz="3100">
                <a:solidFill>
                  <a:schemeClr val="lt1"/>
                </a:solidFill>
                <a:sym typeface="+mn-ea"/>
              </a:rPr>
              <a:t>一阶谓词的结构</a:t>
            </a:r>
            <a:endParaRPr kumimoji="1" lang="zh-CN" sz="4000" b="1" i="0" u="none" strike="noStrike" kern="1200" cap="none" spc="0" normalizeH="0" baseline="0" noProof="0" dirty="0">
              <a:ln>
                <a:noFill/>
              </a:ln>
              <a:solidFill>
                <a:schemeClr val="bg1"/>
              </a:solidFill>
              <a:effectLst/>
              <a:uLnTx/>
              <a:uFillTx/>
              <a:latin typeface="微软雅黑" panose="020B0503020204020204" charset="-122"/>
              <a:cs typeface="微软雅黑" panose="020B0503020204020204" charset="-122"/>
              <a:sym typeface="+mn-ea"/>
            </a:endParaRPr>
          </a:p>
        </p:txBody>
      </p:sp>
      <p:sp>
        <p:nvSpPr>
          <p:cNvPr id="134147" name="Rectangle 3"/>
          <p:cNvSpPr>
            <a:spLocks noGrp="1"/>
          </p:cNvSpPr>
          <p:nvPr>
            <p:ph idx="4294967295"/>
          </p:nvPr>
        </p:nvSpPr>
        <p:spPr>
          <a:xfrm>
            <a:off x="329565" y="963295"/>
            <a:ext cx="8411845" cy="2567305"/>
          </a:xfrm>
        </p:spPr>
        <p:txBody>
          <a:bodyPr vert="horz" wrap="square" lIns="91440" tIns="45720" rIns="91440" bIns="45720" anchor="t" anchorCtr="0">
            <a:normAutofit/>
          </a:bodyPr>
          <a:lstStyle/>
          <a:p>
            <a:pPr eaLnBrk="1" hangingPunct="1">
              <a:lnSpc>
                <a:spcPct val="110000"/>
              </a:lnSpc>
            </a:pPr>
            <a:r>
              <a:rPr lang="zh-CN" altLang="en-US" sz="2000" b="1" dirty="0">
                <a:solidFill>
                  <a:srgbClr val="0000FF"/>
                </a:solidFill>
                <a:latin typeface="微软雅黑" panose="020B0503020204020204" charset="-122"/>
                <a:cs typeface="微软雅黑" panose="020B0503020204020204" charset="-122"/>
                <a:sym typeface="+mn-ea"/>
              </a:rPr>
              <a:t>论域</a:t>
            </a:r>
            <a:r>
              <a:rPr lang="en-US" altLang="zh-CN" sz="2000" dirty="0">
                <a:latin typeface="微软雅黑" panose="020B0503020204020204" charset="-122"/>
                <a:cs typeface="微软雅黑" panose="020B0503020204020204" charset="-122"/>
                <a:sym typeface="+mn-ea"/>
              </a:rPr>
              <a:t>/</a:t>
            </a:r>
            <a:r>
              <a:rPr lang="zh-CN" altLang="en-US" sz="2000" b="1" dirty="0">
                <a:solidFill>
                  <a:srgbClr val="0000FF"/>
                </a:solidFill>
                <a:latin typeface="微软雅黑" panose="020B0503020204020204" charset="-122"/>
                <a:cs typeface="微软雅黑" panose="020B0503020204020204" charset="-122"/>
                <a:sym typeface="+mn-ea"/>
              </a:rPr>
              <a:t>个体</a:t>
            </a:r>
            <a:r>
              <a:rPr lang="en-US" altLang="zh-CN" sz="2000" dirty="0">
                <a:latin typeface="微软雅黑" panose="020B0503020204020204" charset="-122"/>
                <a:cs typeface="微软雅黑" panose="020B0503020204020204" charset="-122"/>
                <a:sym typeface="+mn-ea"/>
              </a:rPr>
              <a:t>/</a:t>
            </a:r>
            <a:r>
              <a:rPr lang="zh-CN" altLang="en-US" sz="2000" dirty="0">
                <a:latin typeface="微软雅黑" panose="020B0503020204020204" charset="-122"/>
                <a:cs typeface="微软雅黑" panose="020B0503020204020204" charset="-122"/>
                <a:sym typeface="+mn-ea"/>
              </a:rPr>
              <a:t>个体间</a:t>
            </a:r>
            <a:r>
              <a:rPr lang="zh-CN" altLang="en-US" sz="2000" b="1" dirty="0">
                <a:solidFill>
                  <a:srgbClr val="0000FF"/>
                </a:solidFill>
                <a:latin typeface="微软雅黑" panose="020B0503020204020204" charset="-122"/>
                <a:cs typeface="微软雅黑" panose="020B0503020204020204" charset="-122"/>
                <a:sym typeface="+mn-ea"/>
              </a:rPr>
              <a:t>关系</a:t>
            </a:r>
            <a:r>
              <a:rPr lang="en-US" altLang="zh-CN" sz="2000" dirty="0">
                <a:latin typeface="微软雅黑" panose="020B0503020204020204" charset="-122"/>
                <a:cs typeface="微软雅黑" panose="020B0503020204020204" charset="-122"/>
                <a:sym typeface="+mn-ea"/>
              </a:rPr>
              <a:t>/</a:t>
            </a:r>
            <a:r>
              <a:rPr lang="zh-CN" altLang="en-US" sz="2000" dirty="0">
                <a:latin typeface="微软雅黑" panose="020B0503020204020204" charset="-122"/>
                <a:cs typeface="微软雅黑" panose="020B0503020204020204" charset="-122"/>
                <a:sym typeface="+mn-ea"/>
              </a:rPr>
              <a:t>作用于个体</a:t>
            </a:r>
            <a:r>
              <a:rPr lang="zh-CN" altLang="en-US" sz="2000" b="1" dirty="0">
                <a:solidFill>
                  <a:srgbClr val="0000FF"/>
                </a:solidFill>
                <a:latin typeface="微软雅黑" panose="020B0503020204020204" charset="-122"/>
                <a:cs typeface="微软雅黑" panose="020B0503020204020204" charset="-122"/>
                <a:sym typeface="+mn-ea"/>
              </a:rPr>
              <a:t>函数</a:t>
            </a:r>
            <a:r>
              <a:rPr lang="zh-CN" altLang="en-US" sz="2000" dirty="0">
                <a:latin typeface="微软雅黑" panose="020B0503020204020204" charset="-122"/>
                <a:cs typeface="微软雅黑" panose="020B0503020204020204" charset="-122"/>
                <a:sym typeface="+mn-ea"/>
              </a:rPr>
              <a:t> 这</a:t>
            </a:r>
            <a:r>
              <a:rPr lang="en-US" altLang="zh-CN" sz="2000" dirty="0">
                <a:latin typeface="微软雅黑" panose="020B0503020204020204" charset="-122"/>
                <a:cs typeface="微软雅黑" panose="020B0503020204020204" charset="-122"/>
                <a:sym typeface="+mn-ea"/>
              </a:rPr>
              <a:t>4</a:t>
            </a:r>
            <a:r>
              <a:rPr lang="zh-CN" altLang="en-US" sz="2000" dirty="0">
                <a:latin typeface="微软雅黑" panose="020B0503020204020204" charset="-122"/>
                <a:cs typeface="微软雅黑" panose="020B0503020204020204" charset="-122"/>
                <a:sym typeface="+mn-ea"/>
              </a:rPr>
              <a:t>个成分构成了</a:t>
            </a:r>
            <a:r>
              <a:rPr lang="zh-CN" altLang="en-US" sz="2000" b="1" dirty="0">
                <a:solidFill>
                  <a:srgbClr val="FF0000"/>
                </a:solidFill>
                <a:latin typeface="微软雅黑" panose="020B0503020204020204" charset="-122"/>
                <a:cs typeface="微软雅黑" panose="020B0503020204020204" charset="-122"/>
                <a:sym typeface="+mn-ea"/>
              </a:rPr>
              <a:t>一阶逻辑的结构</a:t>
            </a:r>
            <a:endParaRPr lang="zh-CN" altLang="en-US" sz="2000" b="1" dirty="0">
              <a:solidFill>
                <a:srgbClr val="FF0000"/>
              </a:solidFill>
              <a:latin typeface="微软雅黑" panose="020B0503020204020204" charset="-122"/>
              <a:cs typeface="微软雅黑" panose="020B0503020204020204" charset="-122"/>
            </a:endParaRPr>
          </a:p>
          <a:p>
            <a:pPr lvl="1" eaLnBrk="1" hangingPunct="1">
              <a:lnSpc>
                <a:spcPct val="110000"/>
              </a:lnSpc>
            </a:pPr>
            <a:r>
              <a:rPr lang="zh-CN" altLang="en-US" sz="2000" dirty="0">
                <a:latin typeface="微软雅黑" panose="020B0503020204020204" charset="-122"/>
                <a:cs typeface="微软雅黑" panose="020B0503020204020204" charset="-122"/>
              </a:rPr>
              <a:t>在一阶逻辑中，被研究对象构成的非空集称为</a:t>
            </a:r>
            <a:r>
              <a:rPr lang="zh-CN" altLang="en-US" sz="2000" b="1" dirty="0">
                <a:solidFill>
                  <a:srgbClr val="FF0000"/>
                </a:solidFill>
                <a:latin typeface="微软雅黑" panose="020B0503020204020204" charset="-122"/>
                <a:cs typeface="微软雅黑" panose="020B0503020204020204" charset="-122"/>
              </a:rPr>
              <a:t>论域</a:t>
            </a:r>
            <a:r>
              <a:rPr lang="zh-CN" altLang="en-US" sz="2000" dirty="0">
                <a:latin typeface="微软雅黑" panose="020B0503020204020204" charset="-122"/>
                <a:cs typeface="微软雅黑" panose="020B0503020204020204" charset="-122"/>
              </a:rPr>
              <a:t>；论域中的每个元素称为</a:t>
            </a:r>
            <a:r>
              <a:rPr lang="zh-CN" altLang="en-US" sz="2000" b="1" dirty="0">
                <a:solidFill>
                  <a:srgbClr val="FF0000"/>
                </a:solidFill>
                <a:latin typeface="微软雅黑" panose="020B0503020204020204" charset="-122"/>
                <a:cs typeface="微软雅黑" panose="020B0503020204020204" charset="-122"/>
              </a:rPr>
              <a:t>个体（对象）</a:t>
            </a:r>
            <a:endParaRPr lang="zh-CN" altLang="en-US" sz="2000" b="1" dirty="0">
              <a:solidFill>
                <a:srgbClr val="FF0000"/>
              </a:solidFill>
              <a:latin typeface="微软雅黑" panose="020B0503020204020204" charset="-122"/>
              <a:cs typeface="微软雅黑" panose="020B0503020204020204" charset="-122"/>
            </a:endParaRPr>
          </a:p>
          <a:p>
            <a:pPr lvl="1" eaLnBrk="1" hangingPunct="1">
              <a:lnSpc>
                <a:spcPct val="110000"/>
              </a:lnSpc>
            </a:pPr>
            <a:r>
              <a:rPr lang="zh-CN" altLang="en-US" sz="2000" dirty="0">
                <a:latin typeface="微软雅黑" panose="020B0503020204020204" charset="-122"/>
                <a:cs typeface="微软雅黑" panose="020B0503020204020204" charset="-122"/>
              </a:rPr>
              <a:t>一阶逻辑研究个体的</a:t>
            </a:r>
            <a:r>
              <a:rPr lang="zh-CN" altLang="en-US" sz="2000" b="1" dirty="0">
                <a:solidFill>
                  <a:srgbClr val="FF0000"/>
                </a:solidFill>
                <a:latin typeface="微软雅黑" panose="020B0503020204020204" charset="-122"/>
                <a:cs typeface="微软雅黑" panose="020B0503020204020204" charset="-122"/>
              </a:rPr>
              <a:t>性质</a:t>
            </a:r>
            <a:r>
              <a:rPr lang="zh-CN" altLang="en-US" sz="2000" dirty="0">
                <a:latin typeface="微软雅黑" panose="020B0503020204020204" charset="-122"/>
                <a:cs typeface="微软雅黑" panose="020B0503020204020204" charset="-122"/>
              </a:rPr>
              <a:t>、个体之间的</a:t>
            </a:r>
            <a:r>
              <a:rPr lang="zh-CN" altLang="en-US" sz="2000" b="1" dirty="0">
                <a:solidFill>
                  <a:srgbClr val="FF0000"/>
                </a:solidFill>
                <a:latin typeface="微软雅黑" panose="020B0503020204020204" charset="-122"/>
                <a:cs typeface="微软雅黑" panose="020B0503020204020204" charset="-122"/>
              </a:rPr>
              <a:t>关系</a:t>
            </a:r>
            <a:r>
              <a:rPr lang="zh-CN" altLang="en-US" sz="2000" dirty="0">
                <a:latin typeface="微软雅黑" panose="020B0503020204020204" charset="-122"/>
                <a:cs typeface="微软雅黑" panose="020B0503020204020204" charset="-122"/>
              </a:rPr>
              <a:t>及作用于个体的</a:t>
            </a:r>
            <a:r>
              <a:rPr lang="zh-CN" altLang="en-US" sz="2000" b="1" dirty="0">
                <a:solidFill>
                  <a:srgbClr val="FF0000"/>
                </a:solidFill>
                <a:latin typeface="微软雅黑" panose="020B0503020204020204" charset="-122"/>
                <a:cs typeface="微软雅黑" panose="020B0503020204020204" charset="-122"/>
              </a:rPr>
              <a:t>函数</a:t>
            </a:r>
            <a:endParaRPr lang="zh-CN" altLang="en-US" sz="2000" b="1" dirty="0">
              <a:solidFill>
                <a:srgbClr val="FF0000"/>
              </a:solidFill>
              <a:latin typeface="微软雅黑" panose="020B0503020204020204" charset="-122"/>
              <a:cs typeface="微软雅黑" panose="020B0503020204020204" charset="-122"/>
            </a:endParaRPr>
          </a:p>
        </p:txBody>
      </p:sp>
      <p:pic>
        <p:nvPicPr>
          <p:cNvPr id="32771" name="Picture 3" descr="fol-model"/>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848485" y="3121025"/>
            <a:ext cx="4297045" cy="3180715"/>
          </a:xfrm>
          <a:prstGeom prst="rect">
            <a:avLst/>
          </a:prstGeom>
          <a:noFill/>
          <a:ln w="9525">
            <a:noFill/>
          </a:ln>
        </p:spPr>
      </p:pic>
      <p:sp>
        <p:nvSpPr>
          <p:cNvPr id="6" name="文本框 5"/>
          <p:cNvSpPr txBox="1"/>
          <p:nvPr/>
        </p:nvSpPr>
        <p:spPr>
          <a:xfrm>
            <a:off x="715010" y="6389370"/>
            <a:ext cx="6260465" cy="349250"/>
          </a:xfrm>
          <a:prstGeom prst="rect">
            <a:avLst/>
          </a:prstGeom>
          <a:noFill/>
        </p:spPr>
        <p:txBody>
          <a:bodyPr wrap="square" rtlCol="0" anchor="t">
            <a:spAutoFit/>
          </a:bodyPr>
          <a:lstStyle/>
          <a:p>
            <a:pPr algn="l" fontAlgn="auto">
              <a:lnSpc>
                <a:spcPct val="120000"/>
              </a:lnSpc>
              <a:spcBef>
                <a:spcPts val="0"/>
              </a:spcBef>
              <a:spcAft>
                <a:spcPts val="800"/>
              </a:spcAft>
            </a:pPr>
            <a:r>
              <a:rPr lang="zh-CN" altLang="en-US" sz="1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包含5个对象、2个二元关系、3个一元关系以及</a:t>
            </a:r>
            <a:r>
              <a:rPr lang="en-US" altLang="zh-CN" sz="1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1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个一元函数左腿的模型</a:t>
            </a:r>
            <a:endParaRPr lang="zh-CN" altLang="en-US" sz="1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64490" y="274320"/>
            <a:ext cx="7755255" cy="706755"/>
          </a:xfrm>
          <a:prstGeom prst="rect">
            <a:avLst/>
          </a:prstGeom>
          <a:noFill/>
        </p:spPr>
        <p:txBody>
          <a:bodyPr wrap="square" rtlCol="0" anchor="t">
            <a:spAutoFit/>
          </a:bodyPr>
          <a:lstStyle/>
          <a:p>
            <a:pPr lvl="0" algn="l" latinLnBrk="1">
              <a:buClrTx/>
              <a:buSzTx/>
              <a:buFontTx/>
              <a:defRPr/>
            </a:pPr>
            <a:r>
              <a:rPr kumimoji="1" lang="zh-CN" altLang="en-US" sz="4000" b="1" noProof="0">
                <a:ln>
                  <a:noFill/>
                </a:ln>
                <a:effectLst/>
                <a:uLnTx/>
                <a:uFillTx/>
                <a:latin typeface="微软雅黑" panose="020B0503020204020204" charset="-122"/>
                <a:ea typeface="微软雅黑" panose="020B0503020204020204" charset="-122"/>
                <a:cs typeface="微软雅黑" panose="020B0503020204020204" charset="-122"/>
                <a:sym typeface="+mn-ea"/>
              </a:rPr>
              <a:t>基本概念1 ：个体词（客体）</a:t>
            </a:r>
            <a:endParaRPr kumimoji="1" lang="zh-CN" altLang="en-US" sz="4000" b="1" noProof="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659130" y="1130935"/>
            <a:ext cx="8018780" cy="1322070"/>
          </a:xfrm>
          <a:prstGeom prst="rect">
            <a:avLst/>
          </a:prstGeom>
          <a:noFill/>
        </p:spPr>
        <p:txBody>
          <a:bodyPr wrap="square" rtlCol="0" anchor="t">
            <a:spAutoFit/>
          </a:bodyPr>
          <a:lstStyle/>
          <a:p>
            <a:r>
              <a:rPr lang="zh-CN" altLang="en-US" sz="2000" b="1">
                <a:solidFill>
                  <a:srgbClr val="0000FF"/>
                </a:solidFill>
                <a:latin typeface="微软雅黑" panose="020B0503020204020204" charset="-122"/>
                <a:ea typeface="微软雅黑" panose="020B0503020204020204" charset="-122"/>
                <a:cs typeface="微软雅黑" panose="020B0503020204020204" charset="-122"/>
              </a:rPr>
              <a:t>定义：能够独立存在的事物，称之为客体，也称之为个体。</a:t>
            </a:r>
            <a:endParaRPr lang="zh-CN" altLang="en-US" sz="2000" b="1">
              <a:solidFill>
                <a:srgbClr val="0000FF"/>
              </a:solidFill>
              <a:latin typeface="微软雅黑" panose="020B0503020204020204" charset="-122"/>
              <a:ea typeface="微软雅黑" panose="020B0503020204020204" charset="-122"/>
              <a:cs typeface="微软雅黑" panose="020B0503020204020204" charset="-122"/>
            </a:endParaRPr>
          </a:p>
          <a:p>
            <a:pPr indent="457200"/>
            <a:r>
              <a:rPr lang="zh-CN" altLang="en-US" sz="2000">
                <a:latin typeface="微软雅黑" panose="020B0503020204020204" charset="-122"/>
                <a:ea typeface="微软雅黑" panose="020B0503020204020204" charset="-122"/>
                <a:cs typeface="微软雅黑" panose="020B0503020204020204" charset="-122"/>
              </a:rPr>
              <a:t>它可以是具体的，也可以是抽象的事物。</a:t>
            </a:r>
            <a:endParaRPr lang="zh-CN" altLang="en-US" sz="2000">
              <a:latin typeface="微软雅黑" panose="020B0503020204020204" charset="-122"/>
              <a:ea typeface="微软雅黑" panose="020B0503020204020204" charset="-122"/>
              <a:cs typeface="微软雅黑" panose="020B0503020204020204" charset="-122"/>
            </a:endParaRPr>
          </a:p>
          <a:p>
            <a:pPr indent="457200"/>
            <a:r>
              <a:rPr lang="zh-CN" altLang="en-US" sz="2000">
                <a:latin typeface="微软雅黑" panose="020B0503020204020204" charset="-122"/>
                <a:ea typeface="微软雅黑" panose="020B0503020204020204" charset="-122"/>
                <a:cs typeface="微软雅黑" panose="020B0503020204020204" charset="-122"/>
              </a:rPr>
              <a:t>通常用</a:t>
            </a:r>
            <a:r>
              <a:rPr lang="zh-CN" altLang="en-US" sz="2000" b="1">
                <a:solidFill>
                  <a:srgbClr val="0000FF"/>
                </a:solidFill>
                <a:latin typeface="微软雅黑" panose="020B0503020204020204" charset="-122"/>
                <a:ea typeface="微软雅黑" panose="020B0503020204020204" charset="-122"/>
                <a:cs typeface="微软雅黑" panose="020B0503020204020204" charset="-122"/>
              </a:rPr>
              <a:t>小写英文字母</a:t>
            </a:r>
            <a:r>
              <a:rPr lang="zh-CN" altLang="en-US" sz="2000">
                <a:latin typeface="微软雅黑" panose="020B0503020204020204" charset="-122"/>
                <a:ea typeface="微软雅黑" panose="020B0503020204020204" charset="-122"/>
                <a:cs typeface="微软雅黑" panose="020B0503020204020204" charset="-122"/>
              </a:rPr>
              <a:t>a、b、c、...表示。 </a:t>
            </a:r>
            <a:endParaRPr lang="zh-CN" altLang="en-US" sz="2000">
              <a:latin typeface="微软雅黑" panose="020B0503020204020204" charset="-122"/>
              <a:ea typeface="微软雅黑" panose="020B0503020204020204" charset="-122"/>
              <a:cs typeface="微软雅黑" panose="020B0503020204020204" charset="-122"/>
            </a:endParaRPr>
          </a:p>
          <a:p>
            <a:pPr indent="457200"/>
            <a:r>
              <a:rPr lang="zh-CN" altLang="en-US" sz="2000">
                <a:latin typeface="微软雅黑" panose="020B0503020204020204" charset="-122"/>
                <a:ea typeface="微软雅黑" panose="020B0503020204020204" charset="-122"/>
                <a:cs typeface="微软雅黑" panose="020B0503020204020204" charset="-122"/>
              </a:rPr>
              <a:t>例如，小张、小李、8、a、杭州、社会主义等等都是客体。</a:t>
            </a:r>
            <a:endParaRPr lang="zh-CN" altLang="en-US" sz="2000">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FC7FCB4C-881D-46EB-AD35-6CEB29057F83}"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206850" name="Rectangle 2"/>
          <p:cNvSpPr txBox="1">
            <a:spLocks noGrp="1" noChangeArrowheads="1"/>
          </p:cNvSpPr>
          <p:nvPr>
            <p:ph type="title"/>
          </p:nvPr>
        </p:nvSpPr>
        <p:spPr>
          <a:xfrm>
            <a:off x="684213" y="476250"/>
            <a:ext cx="7772400" cy="706755"/>
          </a:xfrm>
          <a:noFill/>
        </p:spPr>
        <p:txBody>
          <a:bodyPr vert="horz" wrap="square" lIns="91440" tIns="45720" rIns="91440" bIns="45720" numCol="1" rtlCol="0" anchor="t" anchorCtr="0" compatLnSpc="0">
            <a:spAutoFit/>
          </a:bodyPr>
          <a:lstStyle/>
          <a:p>
            <a:pPr lvl="0" algn="l" fontAlgn="base" latinLnBrk="1">
              <a:buClrTx/>
              <a:buSzTx/>
              <a:buFontTx/>
              <a:defRPr/>
            </a:pPr>
            <a:r>
              <a:rPr kumimoji="1" sz="4000" spc="0" noProof="0">
                <a:ln>
                  <a:noFill/>
                </a:ln>
                <a:solidFill>
                  <a:schemeClr val="tx1"/>
                </a:solidFill>
                <a:effectLst/>
                <a:uLnTx/>
                <a:latin typeface="微软雅黑" panose="020B0503020204020204" charset="-122"/>
                <a:cs typeface="微软雅黑" panose="020B0503020204020204" charset="-122"/>
                <a:sym typeface="+mn-ea"/>
              </a:rPr>
              <a:t>基本概念2：谓词</a:t>
            </a:r>
            <a:endParaRPr kumimoji="1" sz="4000" spc="0" noProof="0">
              <a:ln>
                <a:noFill/>
              </a:ln>
              <a:solidFill>
                <a:schemeClr val="tx1"/>
              </a:solidFill>
              <a:effectLst/>
              <a:uLnTx/>
              <a:latin typeface="微软雅黑" panose="020B0503020204020204" charset="-122"/>
              <a:cs typeface="微软雅黑" panose="020B0503020204020204" charset="-122"/>
              <a:sym typeface="+mn-ea"/>
            </a:endParaRPr>
          </a:p>
        </p:txBody>
      </p:sp>
      <p:sp>
        <p:nvSpPr>
          <p:cNvPr id="206851" name="Rectangle 3"/>
          <p:cNvSpPr>
            <a:spLocks noGrp="1"/>
          </p:cNvSpPr>
          <p:nvPr>
            <p:ph idx="1"/>
          </p:nvPr>
        </p:nvSpPr>
        <p:spPr>
          <a:xfrm>
            <a:off x="685800" y="1280160"/>
            <a:ext cx="7772400" cy="908050"/>
          </a:xfrm>
        </p:spPr>
        <p:txBody>
          <a:bodyPr vert="horz" wrap="square" lIns="91440" tIns="45720" rIns="91440" bIns="45720" anchor="t" anchorCtr="0"/>
          <a:lstStyle/>
          <a:p>
            <a:pPr eaLnBrk="1" hangingPunct="1"/>
            <a:r>
              <a:rPr lang="zh-CN" altLang="en-US" sz="2000" b="1" dirty="0">
                <a:latin typeface="微软雅黑" panose="020B0503020204020204" charset="-122"/>
                <a:cs typeface="微软雅黑" panose="020B0503020204020204" charset="-122"/>
              </a:rPr>
              <a:t>定义：一阶形式语言中用于指称论域中</a:t>
            </a:r>
            <a:r>
              <a:rPr lang="zh-CN" altLang="en-US" sz="2000" b="1" dirty="0">
                <a:solidFill>
                  <a:srgbClr val="FF0000"/>
                </a:solidFill>
                <a:latin typeface="微软雅黑" panose="020B0503020204020204" charset="-122"/>
                <a:cs typeface="微软雅黑" panose="020B0503020204020204" charset="-122"/>
              </a:rPr>
              <a:t>个体的性质</a:t>
            </a:r>
            <a:r>
              <a:rPr lang="zh-CN" altLang="en-US" sz="2000" b="1" dirty="0">
                <a:latin typeface="微软雅黑" panose="020B0503020204020204" charset="-122"/>
                <a:cs typeface="微软雅黑" panose="020B0503020204020204" charset="-122"/>
              </a:rPr>
              <a:t>或者</a:t>
            </a:r>
            <a:r>
              <a:rPr lang="zh-CN" altLang="en-US" sz="2000" b="1" dirty="0">
                <a:solidFill>
                  <a:srgbClr val="FF0000"/>
                </a:solidFill>
                <a:latin typeface="微软雅黑" panose="020B0503020204020204" charset="-122"/>
                <a:cs typeface="微软雅黑" panose="020B0503020204020204" charset="-122"/>
              </a:rPr>
              <a:t>个体之间关系</a:t>
            </a:r>
            <a:r>
              <a:rPr lang="zh-CN" altLang="en-US" sz="2000" b="1" dirty="0">
                <a:latin typeface="微软雅黑" panose="020B0503020204020204" charset="-122"/>
                <a:cs typeface="微软雅黑" panose="020B0503020204020204" charset="-122"/>
              </a:rPr>
              <a:t>的形式符号（</a:t>
            </a:r>
            <a:r>
              <a:rPr lang="zh-CN" altLang="en-US" sz="2000" b="1" dirty="0">
                <a:solidFill>
                  <a:srgbClr val="0000FF"/>
                </a:solidFill>
                <a:latin typeface="微软雅黑" panose="020B0503020204020204" charset="-122"/>
                <a:cs typeface="微软雅黑" panose="020B0503020204020204" charset="-122"/>
              </a:rPr>
              <a:t>大写字母</a:t>
            </a:r>
            <a:r>
              <a:rPr lang="zh-CN" altLang="en-US" sz="2000" b="1" dirty="0">
                <a:latin typeface="微软雅黑" panose="020B0503020204020204" charset="-122"/>
                <a:cs typeface="微软雅黑" panose="020B0503020204020204" charset="-122"/>
              </a:rPr>
              <a:t>表示）</a:t>
            </a:r>
            <a:endParaRPr lang="zh-CN" altLang="en-US" sz="2000" b="1" dirty="0">
              <a:latin typeface="微软雅黑" panose="020B0503020204020204" charset="-122"/>
              <a:cs typeface="微软雅黑" panose="020B0503020204020204" charset="-122"/>
            </a:endParaRPr>
          </a:p>
          <a:p>
            <a:pPr eaLnBrk="1" hangingPunct="1"/>
            <a:endParaRPr lang="zh-CN" altLang="en-US" sz="2000" b="1" dirty="0">
              <a:latin typeface="微软雅黑" panose="020B0503020204020204" charset="-122"/>
              <a:cs typeface="微软雅黑" panose="020B0503020204020204" charset="-122"/>
            </a:endParaRPr>
          </a:p>
          <a:p>
            <a:pPr eaLnBrk="1" hangingPunct="1"/>
            <a:endParaRPr lang="zh-CN" altLang="en-US" sz="2000" b="1" dirty="0">
              <a:latin typeface="微软雅黑" panose="020B0503020204020204" charset="-122"/>
              <a:cs typeface="微软雅黑" panose="020B0503020204020204" charset="-122"/>
            </a:endParaRPr>
          </a:p>
          <a:p>
            <a:pPr eaLnBrk="1" hangingPunct="1"/>
            <a:r>
              <a:rPr lang="zh-CN" altLang="en-US" sz="2000" b="1" dirty="0">
                <a:latin typeface="微软雅黑" panose="020B0503020204020204" charset="-122"/>
                <a:cs typeface="微软雅黑" panose="020B0503020204020204" charset="-122"/>
              </a:rPr>
              <a:t>给定了论域，就确定了谓词的真假值</a:t>
            </a:r>
            <a:endParaRPr lang="zh-CN" altLang="en-US" sz="2000" b="1" dirty="0">
              <a:latin typeface="微软雅黑" panose="020B0503020204020204" charset="-122"/>
              <a:cs typeface="微软雅黑" panose="020B0503020204020204" charset="-122"/>
            </a:endParaRPr>
          </a:p>
          <a:p>
            <a:pPr lvl="1" eaLnBrk="1" hangingPunct="1"/>
            <a:r>
              <a:rPr lang="zh-CN" altLang="en-US" sz="2000" b="1" dirty="0">
                <a:solidFill>
                  <a:srgbClr val="0000FF"/>
                </a:solidFill>
                <a:latin typeface="微软雅黑" panose="020B0503020204020204" charset="-122"/>
                <a:cs typeface="微软雅黑" panose="020B0503020204020204" charset="-122"/>
              </a:rPr>
              <a:t>当谓词中的变元都用特定的个体取代时，谓词就具有一个确定的真值</a:t>
            </a:r>
            <a:r>
              <a:rPr lang="en-US" altLang="zh-CN" sz="2000" b="1" dirty="0">
                <a:solidFill>
                  <a:srgbClr val="0000FF"/>
                </a:solidFill>
                <a:latin typeface="微软雅黑" panose="020B0503020204020204" charset="-122"/>
                <a:cs typeface="微软雅黑" panose="020B0503020204020204" charset="-122"/>
              </a:rPr>
              <a:t>T</a:t>
            </a:r>
            <a:r>
              <a:rPr sz="2000" b="1" dirty="0">
                <a:solidFill>
                  <a:srgbClr val="0000FF"/>
                </a:solidFill>
                <a:latin typeface="微软雅黑" panose="020B0503020204020204" charset="-122"/>
                <a:cs typeface="微软雅黑" panose="020B0503020204020204" charset="-122"/>
              </a:rPr>
              <a:t>或</a:t>
            </a:r>
            <a:r>
              <a:rPr lang="en-US" altLang="zh-CN" sz="2000" b="1" dirty="0">
                <a:solidFill>
                  <a:srgbClr val="0000FF"/>
                </a:solidFill>
                <a:latin typeface="微软雅黑" panose="020B0503020204020204" charset="-122"/>
                <a:cs typeface="微软雅黑" panose="020B0503020204020204" charset="-122"/>
              </a:rPr>
              <a:t>F</a:t>
            </a:r>
            <a:endParaRPr lang="en-US" altLang="zh-CN" sz="2000" b="1" dirty="0">
              <a:solidFill>
                <a:srgbClr val="0000FF"/>
              </a:solidFill>
              <a:latin typeface="微软雅黑" panose="020B0503020204020204" charset="-122"/>
              <a:cs typeface="微软雅黑" panose="020B0503020204020204" charset="-122"/>
            </a:endParaRPr>
          </a:p>
          <a:p>
            <a:pPr eaLnBrk="1" hangingPunct="1"/>
            <a:r>
              <a:rPr lang="zh-CN" altLang="en-US" sz="2000" b="1" dirty="0">
                <a:latin typeface="微软雅黑" panose="020B0503020204020204" charset="-122"/>
                <a:cs typeface="微软雅黑" panose="020B0503020204020204" charset="-122"/>
              </a:rPr>
              <a:t>一元谓词：个体的性质；</a:t>
            </a:r>
            <a:endParaRPr lang="zh-CN" altLang="en-US" sz="2000" b="1" dirty="0">
              <a:latin typeface="微软雅黑" panose="020B0503020204020204" charset="-122"/>
              <a:cs typeface="微软雅黑" panose="020B0503020204020204" charset="-122"/>
            </a:endParaRPr>
          </a:p>
          <a:p>
            <a:pPr eaLnBrk="1" hangingPunct="1"/>
            <a:r>
              <a:rPr lang="zh-CN" altLang="en-US" sz="2000" b="1" dirty="0">
                <a:latin typeface="微软雅黑" panose="020B0503020204020204" charset="-122"/>
                <a:cs typeface="微软雅黑" panose="020B0503020204020204" charset="-122"/>
              </a:rPr>
              <a:t>二元谓词</a:t>
            </a:r>
            <a:r>
              <a:rPr lang="en-US" altLang="zh-CN" sz="2000" b="1" dirty="0">
                <a:latin typeface="微软雅黑" panose="020B0503020204020204" charset="-122"/>
                <a:cs typeface="微软雅黑" panose="020B0503020204020204" charset="-122"/>
              </a:rPr>
              <a:t>(</a:t>
            </a:r>
            <a:r>
              <a:rPr lang="zh-CN" altLang="en-US" sz="2000" b="1" dirty="0">
                <a:latin typeface="微软雅黑" panose="020B0503020204020204" charset="-122"/>
                <a:cs typeface="微软雅黑" panose="020B0503020204020204" charset="-122"/>
              </a:rPr>
              <a:t>多元谓词</a:t>
            </a:r>
            <a:r>
              <a:rPr lang="en-US" altLang="zh-CN" sz="2000" b="1" dirty="0">
                <a:latin typeface="微软雅黑" panose="020B0503020204020204" charset="-122"/>
                <a:cs typeface="微软雅黑" panose="020B0503020204020204" charset="-122"/>
              </a:rPr>
              <a:t>)</a:t>
            </a:r>
            <a:r>
              <a:rPr lang="zh-CN" altLang="en-US" sz="2000" b="1" dirty="0">
                <a:latin typeface="微软雅黑" panose="020B0503020204020204" charset="-122"/>
                <a:cs typeface="微软雅黑" panose="020B0503020204020204" charset="-122"/>
              </a:rPr>
              <a:t>：个体的关系</a:t>
            </a:r>
            <a:endParaRPr lang="zh-CN" altLang="en-US" sz="2000" b="1" dirty="0">
              <a:latin typeface="微软雅黑" panose="020B0503020204020204" charset="-122"/>
              <a:cs typeface="微软雅黑" panose="020B0503020204020204" charset="-122"/>
            </a:endParaRPr>
          </a:p>
        </p:txBody>
      </p:sp>
      <p:sp>
        <p:nvSpPr>
          <p:cNvPr id="2" name="文本框 1"/>
          <p:cNvSpPr txBox="1"/>
          <p:nvPr/>
        </p:nvSpPr>
        <p:spPr>
          <a:xfrm>
            <a:off x="1123950" y="2285365"/>
            <a:ext cx="6847840" cy="953135"/>
          </a:xfrm>
          <a:prstGeom prst="rect">
            <a:avLst/>
          </a:prstGeom>
          <a:noFill/>
        </p:spPr>
        <p:txBody>
          <a:bodyPr wrap="square" rtlCol="0" anchor="t">
            <a:spAutoFit/>
          </a:bodyPr>
          <a:lstStyle/>
          <a:p>
            <a:pPr>
              <a:lnSpc>
                <a:spcPct val="140000"/>
              </a:lnSpc>
              <a:buNone/>
            </a:pPr>
            <a:r>
              <a:rPr lang="zh-CN" altLang="en-US" sz="2000" dirty="0">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谓词</a:t>
            </a:r>
            <a:r>
              <a:rPr lang="en-US" altLang="zh-CN" sz="2000">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(predicate)</a:t>
            </a:r>
            <a:r>
              <a:rPr lang="zh-CN" altLang="en-US" sz="2000">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2000" dirty="0">
                <a:latin typeface="Times New Roman" panose="02020603050405020304" pitchFamily="18" charset="0"/>
                <a:ea typeface="微软雅黑" panose="020B0503020204020204" charset="-122"/>
                <a:cs typeface="Times New Roman" panose="02020603050405020304" pitchFamily="18" charset="0"/>
                <a:sym typeface="+mn-ea"/>
              </a:rPr>
              <a:t>一般形式为</a:t>
            </a:r>
            <a:r>
              <a:rPr lang="en-US" altLang="zh-CN" sz="2000">
                <a:latin typeface="Times New Roman" panose="02020603050405020304" pitchFamily="18" charset="0"/>
                <a:ea typeface="微软雅黑" panose="020B0503020204020204" charset="-122"/>
                <a:cs typeface="Times New Roman" panose="02020603050405020304" pitchFamily="18" charset="0"/>
                <a:sym typeface="+mn-ea"/>
              </a:rPr>
              <a:t>P(x</a:t>
            </a:r>
            <a:r>
              <a:rPr lang="en-US" altLang="zh-CN" sz="2000" baseline="-2500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000">
                <a:latin typeface="Times New Roman" panose="02020603050405020304" pitchFamily="18" charset="0"/>
                <a:ea typeface="微软雅黑" panose="020B0503020204020204" charset="-122"/>
                <a:cs typeface="Times New Roman" panose="02020603050405020304" pitchFamily="18" charset="0"/>
                <a:sym typeface="+mn-ea"/>
              </a:rPr>
              <a:t>, x</a:t>
            </a:r>
            <a:r>
              <a:rPr lang="en-US" altLang="zh-CN" sz="2000" baseline="-25000">
                <a:latin typeface="Times New Roman" panose="02020603050405020304" pitchFamily="18" charset="0"/>
                <a:ea typeface="微软雅黑" panose="020B0503020204020204" charset="-122"/>
                <a:cs typeface="Times New Roman" panose="02020603050405020304" pitchFamily="18" charset="0"/>
                <a:sym typeface="+mn-ea"/>
              </a:rPr>
              <a:t>2 </a:t>
            </a:r>
            <a:r>
              <a:rPr lang="en-US" altLang="zh-CN" sz="200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baseline="-2500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000">
                <a:latin typeface="Times New Roman" panose="02020603050405020304" pitchFamily="18" charset="0"/>
                <a:ea typeface="微软雅黑" panose="020B0503020204020204" charset="-122"/>
                <a:cs typeface="Times New Roman" panose="02020603050405020304" pitchFamily="18" charset="0"/>
                <a:sym typeface="+mn-ea"/>
              </a:rPr>
              <a:t>x</a:t>
            </a:r>
            <a:r>
              <a:rPr lang="en-US" altLang="zh-CN" sz="2000" baseline="-25000">
                <a:latin typeface="Times New Roman" panose="02020603050405020304" pitchFamily="18" charset="0"/>
                <a:ea typeface="微软雅黑" panose="020B0503020204020204" charset="-122"/>
                <a:cs typeface="Times New Roman" panose="02020603050405020304" pitchFamily="18" charset="0"/>
                <a:sym typeface="+mn-ea"/>
              </a:rPr>
              <a:t>n</a:t>
            </a:r>
            <a:r>
              <a:rPr lang="en-US" altLang="zh-CN" sz="2000">
                <a:latin typeface="Times New Roman" panose="02020603050405020304" pitchFamily="18" charset="0"/>
                <a:ea typeface="微软雅黑" panose="020B0503020204020204" charset="-122"/>
                <a:cs typeface="Times New Roman" panose="02020603050405020304" pitchFamily="18" charset="0"/>
                <a:sym typeface="+mn-ea"/>
              </a:rPr>
              <a:t> )</a:t>
            </a:r>
            <a:endParaRPr lang="zh-CN" altLang="en-US" sz="2000">
              <a:latin typeface="Times New Roman" panose="02020603050405020304" pitchFamily="18" charset="0"/>
              <a:ea typeface="微软雅黑" panose="020B0503020204020204" charset="-122"/>
              <a:cs typeface="Times New Roman" panose="02020603050405020304" pitchFamily="18" charset="0"/>
            </a:endParaRPr>
          </a:p>
          <a:p>
            <a:pPr>
              <a:lnSpc>
                <a:spcPct val="140000"/>
              </a:lnSpc>
              <a:buNone/>
            </a:pPr>
            <a:r>
              <a:rPr lang="en-US" altLang="zh-CN" sz="2000" b="1">
                <a:latin typeface="Times New Roman" panose="02020603050405020304" pitchFamily="18" charset="0"/>
                <a:ea typeface="微软雅黑" panose="020B0503020204020204" charset="-122"/>
                <a:cs typeface="Times New Roman" panose="02020603050405020304" pitchFamily="18" charset="0"/>
                <a:sym typeface="+mn-ea"/>
              </a:rPr>
              <a:t>P</a:t>
            </a:r>
            <a:r>
              <a:rPr lang="zh-CN" altLang="en-US" sz="2000" b="1" dirty="0">
                <a:latin typeface="Times New Roman" panose="02020603050405020304" pitchFamily="18" charset="0"/>
                <a:ea typeface="微软雅黑" panose="020B0503020204020204" charset="-122"/>
                <a:cs typeface="Times New Roman" panose="02020603050405020304" pitchFamily="18" charset="0"/>
                <a:sym typeface="+mn-ea"/>
              </a:rPr>
              <a:t>为</a:t>
            </a:r>
            <a:r>
              <a:rPr lang="zh-CN" altLang="en-US" sz="2000" b="1" dirty="0">
                <a:solidFill>
                  <a:schemeClr val="folHlink"/>
                </a:solidFill>
                <a:latin typeface="Times New Roman" panose="02020603050405020304" pitchFamily="18" charset="0"/>
                <a:ea typeface="微软雅黑" panose="020B0503020204020204" charset="-122"/>
                <a:cs typeface="Times New Roman" panose="02020603050405020304" pitchFamily="18" charset="0"/>
                <a:sym typeface="+mn-ea"/>
              </a:rPr>
              <a:t>谓词名</a:t>
            </a:r>
            <a:r>
              <a:rPr lang="zh-CN" altLang="en-US" sz="2000" dirty="0">
                <a:solidFill>
                  <a:schemeClr val="folHlink"/>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000" dirty="0">
                <a:latin typeface="Times New Roman" panose="02020603050405020304" pitchFamily="18" charset="0"/>
                <a:ea typeface="微软雅黑" panose="020B0503020204020204" charset="-122"/>
                <a:cs typeface="Times New Roman" panose="02020603050405020304" pitchFamily="18" charset="0"/>
                <a:sym typeface="+mn-ea"/>
              </a:rPr>
              <a:t>用于刻画个体的性质、状态或个体间的关系。</a:t>
            </a:r>
            <a:endParaRPr lang="zh-CN" altLang="en-US" sz="2000" dirty="0">
              <a:latin typeface="Times New Roman" panose="02020603050405020304" pitchFamily="18" charset="0"/>
              <a:ea typeface="微软雅黑" panose="020B0503020204020204" charset="-122"/>
              <a:cs typeface="Times New Roman" panose="02020603050405020304" pitchFamily="18" charset="0"/>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68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68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685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685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68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ldLvl="5" uiExpand="1" build="p"/>
      <p:bldP spid="206851" grpId="1"/>
      <p:bldP spid="2" grpId="0"/>
      <p:bldP spid="2"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normAutofit fontScale="25000" lnSpcReduction="20000"/>
          </a:bodyPr>
          <a:lstStyle/>
          <a:p>
            <a:pPr marL="0" marR="0" lvl="0" indent="0" algn="r" defTabSz="914400" rtl="0" eaLnBrk="1" fontAlgn="base" latinLnBrk="1" hangingPunct="1">
              <a:lnSpc>
                <a:spcPct val="100000"/>
              </a:lnSpc>
              <a:spcBef>
                <a:spcPct val="0"/>
              </a:spcBef>
              <a:spcAft>
                <a:spcPct val="0"/>
              </a:spcAft>
              <a:buClrTx/>
              <a:buSzTx/>
              <a:buFontTx/>
              <a:buNone/>
              <a:defRPr/>
            </a:pPr>
            <a:fld id="{123941DF-FD35-46D2-99AA-05D498E9451A}"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472067" name="Rectangle 3"/>
          <p:cNvSpPr>
            <a:spLocks noGrp="1"/>
          </p:cNvSpPr>
          <p:nvPr>
            <p:ph idx="1"/>
          </p:nvPr>
        </p:nvSpPr>
        <p:spPr>
          <a:xfrm>
            <a:off x="662305" y="356870"/>
            <a:ext cx="3834130" cy="2831465"/>
          </a:xfrm>
        </p:spPr>
        <p:txBody>
          <a:bodyPr vert="horz" wrap="square" lIns="91440" tIns="45720" rIns="91440" bIns="45720" anchor="t" anchorCtr="0"/>
          <a:lstStyle/>
          <a:p>
            <a:pPr eaLnBrk="1" hangingPunct="1"/>
            <a:r>
              <a:rPr lang="zh-CN" altLang="en-US" sz="2800" b="1" dirty="0">
                <a:solidFill>
                  <a:srgbClr val="0000FF"/>
                </a:solidFill>
                <a:latin typeface="微软雅黑" panose="020B0503020204020204" charset="-122"/>
                <a:cs typeface="微软雅黑" panose="020B0503020204020204" charset="-122"/>
              </a:rPr>
              <a:t>小王</a:t>
            </a:r>
            <a:r>
              <a:rPr lang="zh-CN" altLang="en-US" sz="2800" b="1" dirty="0">
                <a:solidFill>
                  <a:srgbClr val="FF3300"/>
                </a:solidFill>
                <a:latin typeface="微软雅黑" panose="020B0503020204020204" charset="-122"/>
                <a:cs typeface="微软雅黑" panose="020B0503020204020204" charset="-122"/>
              </a:rPr>
              <a:t>是个工程师</a:t>
            </a:r>
            <a:r>
              <a:rPr lang="en-US" altLang="zh-CN" sz="2800" b="1" dirty="0">
                <a:solidFill>
                  <a:srgbClr val="FF3300"/>
                </a:solidFill>
                <a:latin typeface="微软雅黑" panose="020B0503020204020204" charset="-122"/>
                <a:cs typeface="微软雅黑" panose="020B0503020204020204" charset="-122"/>
              </a:rPr>
              <a:t>  </a:t>
            </a:r>
            <a:endParaRPr lang="zh-CN" altLang="en-US" sz="2800" b="1" dirty="0">
              <a:latin typeface="微软雅黑" panose="020B0503020204020204" charset="-122"/>
              <a:cs typeface="微软雅黑" panose="020B0503020204020204" charset="-122"/>
            </a:endParaRPr>
          </a:p>
          <a:p>
            <a:pPr eaLnBrk="1" hangingPunct="1"/>
            <a:r>
              <a:rPr lang="en-US" altLang="zh-CN" sz="2800" b="1" dirty="0">
                <a:solidFill>
                  <a:srgbClr val="0000FF"/>
                </a:solidFill>
                <a:latin typeface="微软雅黑" panose="020B0503020204020204" charset="-122"/>
                <a:cs typeface="微软雅黑" panose="020B0503020204020204" charset="-122"/>
              </a:rPr>
              <a:t>8</a:t>
            </a:r>
            <a:r>
              <a:rPr lang="zh-CN" altLang="en-US" sz="2800" b="1" dirty="0">
                <a:solidFill>
                  <a:srgbClr val="FF0000"/>
                </a:solidFill>
                <a:latin typeface="微软雅黑" panose="020B0503020204020204" charset="-122"/>
                <a:cs typeface="微软雅黑" panose="020B0503020204020204" charset="-122"/>
              </a:rPr>
              <a:t>是个自然数</a:t>
            </a:r>
            <a:endParaRPr lang="zh-CN" altLang="en-US" sz="2800" b="1" dirty="0">
              <a:latin typeface="微软雅黑" panose="020B0503020204020204" charset="-122"/>
              <a:cs typeface="微软雅黑" panose="020B0503020204020204" charset="-122"/>
            </a:endParaRPr>
          </a:p>
          <a:p>
            <a:pPr eaLnBrk="1" hangingPunct="1"/>
            <a:r>
              <a:rPr lang="zh-CN" altLang="en-US" sz="2800" b="1" dirty="0">
                <a:solidFill>
                  <a:srgbClr val="0000FF"/>
                </a:solidFill>
                <a:latin typeface="微软雅黑" panose="020B0503020204020204" charset="-122"/>
                <a:cs typeface="微软雅黑" panose="020B0503020204020204" charset="-122"/>
              </a:rPr>
              <a:t>我</a:t>
            </a:r>
            <a:r>
              <a:rPr lang="zh-CN" altLang="en-US" sz="2800" b="1" dirty="0">
                <a:solidFill>
                  <a:srgbClr val="FF0000"/>
                </a:solidFill>
                <a:latin typeface="微软雅黑" panose="020B0503020204020204" charset="-122"/>
                <a:cs typeface="微软雅黑" panose="020B0503020204020204" charset="-122"/>
              </a:rPr>
              <a:t>去买花</a:t>
            </a:r>
            <a:endParaRPr lang="zh-CN" altLang="en-US" sz="2800" b="1" dirty="0">
              <a:latin typeface="微软雅黑" panose="020B0503020204020204" charset="-122"/>
              <a:cs typeface="微软雅黑" panose="020B0503020204020204" charset="-122"/>
            </a:endParaRPr>
          </a:p>
          <a:p>
            <a:pPr eaLnBrk="1" hangingPunct="1"/>
            <a:r>
              <a:rPr lang="zh-CN" altLang="en-US" sz="2800" b="1" dirty="0">
                <a:solidFill>
                  <a:srgbClr val="0000FF"/>
                </a:solidFill>
                <a:latin typeface="微软雅黑" panose="020B0503020204020204" charset="-122"/>
                <a:cs typeface="微软雅黑" panose="020B0503020204020204" charset="-122"/>
              </a:rPr>
              <a:t>小丽</a:t>
            </a:r>
            <a:r>
              <a:rPr lang="zh-CN" altLang="en-US" sz="2800" b="1" dirty="0">
                <a:gradFill>
                  <a:gsLst>
                    <a:gs pos="0">
                      <a:srgbClr val="14CD68"/>
                    </a:gs>
                    <a:gs pos="100000">
                      <a:srgbClr val="035C7D"/>
                    </a:gs>
                  </a:gsLst>
                  <a:lin scaled="0"/>
                </a:gradFill>
                <a:latin typeface="微软雅黑" panose="020B0503020204020204" charset="-122"/>
                <a:cs typeface="微软雅黑" panose="020B0503020204020204" charset="-122"/>
              </a:rPr>
              <a:t>和</a:t>
            </a:r>
            <a:r>
              <a:rPr lang="zh-CN" altLang="en-US" sz="2800" b="1" dirty="0">
                <a:solidFill>
                  <a:srgbClr val="0000FF"/>
                </a:solidFill>
                <a:latin typeface="微软雅黑" panose="020B0503020204020204" charset="-122"/>
                <a:cs typeface="微软雅黑" panose="020B0503020204020204" charset="-122"/>
              </a:rPr>
              <a:t>小华</a:t>
            </a:r>
            <a:r>
              <a:rPr lang="zh-CN" altLang="en-US" sz="2800" b="1" dirty="0">
                <a:solidFill>
                  <a:srgbClr val="FF0000"/>
                </a:solidFill>
                <a:latin typeface="微软雅黑" panose="020B0503020204020204" charset="-122"/>
                <a:cs typeface="微软雅黑" panose="020B0503020204020204" charset="-122"/>
              </a:rPr>
              <a:t>是朋友</a:t>
            </a:r>
            <a:endParaRPr lang="zh-CN" altLang="en-US" sz="2800" b="1" dirty="0">
              <a:latin typeface="微软雅黑" panose="020B0503020204020204" charset="-122"/>
              <a:cs typeface="微软雅黑" panose="020B0503020204020204" charset="-122"/>
            </a:endParaRPr>
          </a:p>
        </p:txBody>
      </p:sp>
      <p:pic>
        <p:nvPicPr>
          <p:cNvPr id="8" name="图片 7"/>
          <p:cNvPicPr>
            <a:picLocks noChangeAspect="1"/>
          </p:cNvPicPr>
          <p:nvPr/>
        </p:nvPicPr>
        <p:blipFill>
          <a:blip r:embed="rId1"/>
          <a:srcRect t="12021"/>
          <a:stretch>
            <a:fillRect/>
          </a:stretch>
        </p:blipFill>
        <p:spPr>
          <a:xfrm>
            <a:off x="990600" y="3380105"/>
            <a:ext cx="7705725" cy="2723515"/>
          </a:xfrm>
          <a:prstGeom prst="rect">
            <a:avLst/>
          </a:prstGeom>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2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20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20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20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7" grpId="0" build="p"/>
      <p:bldP spid="472067"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3ECC3D43-628E-45C3-92BA-3C1BE68BEE0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5170" name="Rectangle 2"/>
          <p:cNvSpPr>
            <a:spLocks noGrp="1" noChangeArrowheads="1"/>
          </p:cNvSpPr>
          <p:nvPr>
            <p:ph type="title"/>
          </p:nvPr>
        </p:nvSpPr>
        <p:spPr>
          <a:xfrm>
            <a:off x="444183" y="163830"/>
            <a:ext cx="7772400" cy="731838"/>
          </a:xfrm>
        </p:spPr>
        <p:txBody>
          <a:bodyPr vert="horz" wrap="square" lIns="91440" tIns="45720" rIns="91440" bIns="45720" numCol="1" anchor="ctr" anchorCtr="0" compatLnSpc="1"/>
          <a:lstStyle/>
          <a:p>
            <a:pPr marL="0" marR="0" lvl="0" algn="l" defTabSz="914400" rtl="0" eaLnBrk="1" fontAlgn="base" latinLnBrk="1" hangingPunct="1">
              <a:lnSpc>
                <a:spcPct val="100000"/>
              </a:lnSpc>
              <a:buClrTx/>
              <a:buSzTx/>
              <a:buFontTx/>
              <a:buNone/>
              <a:defRPr/>
            </a:pPr>
            <a:r>
              <a:rPr kumimoji="1" sz="4000" spc="0" noProof="0">
                <a:ln>
                  <a:noFill/>
                </a:ln>
                <a:solidFill>
                  <a:schemeClr val="tx1"/>
                </a:solidFill>
                <a:effectLst/>
                <a:uLnTx/>
                <a:latin typeface="微软雅黑" panose="020B0503020204020204" charset="-122"/>
                <a:cs typeface="微软雅黑" panose="020B0503020204020204" charset="-122"/>
                <a:sym typeface="+mn-ea"/>
              </a:rPr>
              <a:t>基本概念</a:t>
            </a:r>
            <a:r>
              <a:rPr kumimoji="1" lang="en-US" altLang="zh-CN" sz="4000" spc="0" noProof="0">
                <a:ln>
                  <a:noFill/>
                </a:ln>
                <a:solidFill>
                  <a:schemeClr val="tx1"/>
                </a:solidFill>
                <a:effectLst/>
                <a:uLnTx/>
                <a:latin typeface="微软雅黑" panose="020B0503020204020204" charset="-122"/>
                <a:cs typeface="微软雅黑" panose="020B0503020204020204" charset="-122"/>
                <a:sym typeface="+mn-ea"/>
              </a:rPr>
              <a:t>3</a:t>
            </a:r>
            <a:r>
              <a:rPr kumimoji="1" sz="4000" spc="0" noProof="0">
                <a:ln>
                  <a:noFill/>
                </a:ln>
                <a:solidFill>
                  <a:schemeClr val="tx1"/>
                </a:solidFill>
                <a:effectLst/>
                <a:uLnTx/>
                <a:latin typeface="微软雅黑" panose="020B0503020204020204" charset="-122"/>
                <a:cs typeface="微软雅黑" panose="020B0503020204020204" charset="-122"/>
                <a:sym typeface="+mn-ea"/>
              </a:rPr>
              <a:t>：</a:t>
            </a:r>
            <a:r>
              <a:rPr kumimoji="1" lang="zh-CN" altLang="en-US" sz="4000" b="1" i="0" u="none" strike="noStrike" kern="1200" cap="none" spc="0" normalizeH="0" baseline="0" noProof="0">
                <a:ln>
                  <a:noFill/>
                </a:ln>
                <a:solidFill>
                  <a:schemeClr val="tx1"/>
                </a:solidFill>
                <a:effectLst/>
                <a:uLnTx/>
                <a:uFillTx/>
                <a:latin typeface="微软雅黑" panose="020B0503020204020204" charset="-122"/>
                <a:cs typeface="微软雅黑" panose="020B0503020204020204" charset="-122"/>
              </a:rPr>
              <a:t>变量</a:t>
            </a:r>
            <a:r>
              <a:rPr kumimoji="1" lang="en-US" altLang="zh-CN" sz="4000" b="1" i="0" u="none" strike="noStrike" kern="1200" cap="none" spc="0" normalizeH="0" baseline="0" noProof="0">
                <a:ln>
                  <a:noFill/>
                </a:ln>
                <a:solidFill>
                  <a:schemeClr val="tx1"/>
                </a:solidFill>
                <a:effectLst/>
                <a:uLnTx/>
                <a:uFillTx/>
                <a:latin typeface="微软雅黑" panose="020B0503020204020204" charset="-122"/>
                <a:cs typeface="微软雅黑" panose="020B0503020204020204" charset="-122"/>
              </a:rPr>
              <a:t>/</a:t>
            </a:r>
            <a:r>
              <a:rPr kumimoji="1" sz="4000" b="1" i="0" u="none" strike="noStrike" kern="1200" cap="none" spc="0" normalizeH="0" baseline="0" noProof="0">
                <a:ln>
                  <a:noFill/>
                </a:ln>
                <a:solidFill>
                  <a:schemeClr val="tx1"/>
                </a:solidFill>
                <a:effectLst/>
                <a:uLnTx/>
                <a:uFillTx/>
                <a:latin typeface="微软雅黑" panose="020B0503020204020204" charset="-122"/>
                <a:cs typeface="微软雅黑" panose="020B0503020204020204" charset="-122"/>
              </a:rPr>
              <a:t>常量</a:t>
            </a:r>
            <a:endParaRPr kumimoji="1" sz="4000" b="1" i="0" u="none" strike="noStrike" kern="1200" cap="none" spc="0" normalizeH="0" baseline="0" noProof="0">
              <a:ln>
                <a:noFill/>
              </a:ln>
              <a:solidFill>
                <a:schemeClr val="tx1"/>
              </a:solidFill>
              <a:effectLst/>
              <a:uLnTx/>
              <a:uFillTx/>
              <a:latin typeface="微软雅黑" panose="020B0503020204020204" charset="-122"/>
              <a:cs typeface="微软雅黑" panose="020B0503020204020204" charset="-122"/>
            </a:endParaRPr>
          </a:p>
        </p:txBody>
      </p:sp>
      <p:sp>
        <p:nvSpPr>
          <p:cNvPr id="135171" name="Rectangle 3"/>
          <p:cNvSpPr>
            <a:spLocks noGrp="1"/>
          </p:cNvSpPr>
          <p:nvPr>
            <p:ph idx="1"/>
          </p:nvPr>
        </p:nvSpPr>
        <p:spPr>
          <a:xfrm>
            <a:off x="684213" y="1208088"/>
            <a:ext cx="7772400" cy="4752975"/>
          </a:xfrm>
        </p:spPr>
        <p:txBody>
          <a:bodyPr vert="horz" wrap="square" lIns="91440" tIns="45720" rIns="91440" bIns="45720" anchor="t" anchorCtr="0"/>
          <a:lstStyle/>
          <a:p>
            <a:pPr algn="just" eaLnBrk="1" hangingPunct="1">
              <a:lnSpc>
                <a:spcPct val="115000"/>
              </a:lnSpc>
            </a:pPr>
            <a:r>
              <a:rPr lang="zh-CN" altLang="en-US" sz="2400" b="1" dirty="0">
                <a:solidFill>
                  <a:srgbClr val="0000FF"/>
                </a:solidFill>
                <a:latin typeface="Times New Roman" panose="02020603050405020304" pitchFamily="18" charset="0"/>
                <a:cs typeface="Times New Roman" panose="02020603050405020304" pitchFamily="18" charset="0"/>
              </a:rPr>
              <a:t>变量</a:t>
            </a:r>
            <a:r>
              <a:rPr lang="en-US" altLang="zh-CN" sz="2400" b="1" dirty="0">
                <a:solidFill>
                  <a:srgbClr val="0000FF"/>
                </a:solidFill>
                <a:latin typeface="Times New Roman" panose="02020603050405020304" pitchFamily="18" charset="0"/>
                <a:cs typeface="Times New Roman" panose="02020603050405020304" pitchFamily="18" charset="0"/>
              </a:rPr>
              <a:t>(</a:t>
            </a:r>
            <a:r>
              <a:rPr lang="zh-CN" altLang="en-US" sz="2400" b="1" dirty="0">
                <a:solidFill>
                  <a:srgbClr val="0000FF"/>
                </a:solidFill>
                <a:latin typeface="Times New Roman" panose="02020603050405020304" pitchFamily="18" charset="0"/>
                <a:cs typeface="Times New Roman" panose="02020603050405020304" pitchFamily="18" charset="0"/>
              </a:rPr>
              <a:t>变元</a:t>
            </a:r>
            <a:r>
              <a:rPr lang="en-US" altLang="zh-CN" sz="2400" b="1" dirty="0">
                <a:solidFill>
                  <a:srgbClr val="0000FF"/>
                </a:solidFill>
                <a:latin typeface="Times New Roman" panose="02020603050405020304" pitchFamily="18" charset="0"/>
                <a:cs typeface="Times New Roman" panose="02020603050405020304" pitchFamily="18" charset="0"/>
              </a:rPr>
              <a:t>)</a:t>
            </a:r>
            <a:r>
              <a:rPr lang="zh-CN" altLang="en-US" sz="2400" b="1" dirty="0">
                <a:solidFill>
                  <a:srgbClr val="0000FF"/>
                </a:solidFill>
                <a:latin typeface="Times New Roman" panose="02020603050405020304" pitchFamily="18" charset="0"/>
                <a:cs typeface="Times New Roman" panose="02020603050405020304" pitchFamily="18" charset="0"/>
              </a:rPr>
              <a:t>：表示论域内的任意一个个体</a:t>
            </a:r>
            <a:endParaRPr lang="zh-CN" altLang="en-US" sz="2400" b="1" dirty="0">
              <a:solidFill>
                <a:srgbClr val="0000FF"/>
              </a:solidFill>
              <a:latin typeface="Times New Roman" panose="02020603050405020304" pitchFamily="18" charset="0"/>
              <a:cs typeface="Times New Roman" panose="02020603050405020304" pitchFamily="18" charset="0"/>
            </a:endParaRPr>
          </a:p>
          <a:p>
            <a:pPr algn="just" eaLnBrk="1" hangingPunct="1">
              <a:lnSpc>
                <a:spcPct val="115000"/>
              </a:lnSpc>
            </a:pPr>
            <a:r>
              <a:rPr lang="zh-CN" altLang="en-US" sz="2400" b="1" dirty="0">
                <a:solidFill>
                  <a:srgbClr val="0000FF"/>
                </a:solidFill>
                <a:latin typeface="Times New Roman" panose="02020603050405020304" pitchFamily="18" charset="0"/>
                <a:cs typeface="Times New Roman" panose="02020603050405020304" pitchFamily="18" charset="0"/>
              </a:rPr>
              <a:t>常量</a:t>
            </a:r>
            <a:r>
              <a:rPr lang="en-US" altLang="zh-CN" sz="2400" b="1" dirty="0">
                <a:solidFill>
                  <a:srgbClr val="0000FF"/>
                </a:solidFill>
                <a:latin typeface="Times New Roman" panose="02020603050405020304" pitchFamily="18" charset="0"/>
                <a:cs typeface="Times New Roman" panose="02020603050405020304" pitchFamily="18" charset="0"/>
              </a:rPr>
              <a:t>(</a:t>
            </a:r>
            <a:r>
              <a:rPr lang="zh-CN" altLang="en-US" sz="2400" b="1" dirty="0">
                <a:solidFill>
                  <a:srgbClr val="0000FF"/>
                </a:solidFill>
                <a:latin typeface="Times New Roman" panose="02020603050405020304" pitchFamily="18" charset="0"/>
                <a:cs typeface="Times New Roman" panose="02020603050405020304" pitchFamily="18" charset="0"/>
              </a:rPr>
              <a:t>常元</a:t>
            </a:r>
            <a:r>
              <a:rPr lang="en-US" altLang="zh-CN" sz="2400" b="1" dirty="0">
                <a:solidFill>
                  <a:srgbClr val="0000FF"/>
                </a:solidFill>
                <a:latin typeface="Times New Roman" panose="02020603050405020304" pitchFamily="18" charset="0"/>
                <a:cs typeface="Times New Roman" panose="02020603050405020304" pitchFamily="18" charset="0"/>
              </a:rPr>
              <a:t>)</a:t>
            </a:r>
            <a:r>
              <a:rPr lang="zh-CN" altLang="en-US" sz="2400" b="1" dirty="0">
                <a:solidFill>
                  <a:srgbClr val="0000FF"/>
                </a:solidFill>
                <a:latin typeface="Times New Roman" panose="02020603050405020304" pitchFamily="18" charset="0"/>
                <a:cs typeface="Times New Roman" panose="02020603050405020304" pitchFamily="18" charset="0"/>
              </a:rPr>
              <a:t>，表示确定的个体</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rcRect r="8126"/>
          <a:stretch>
            <a:fillRect/>
          </a:stretch>
        </p:blipFill>
        <p:spPr>
          <a:xfrm>
            <a:off x="-33020" y="2720340"/>
            <a:ext cx="9207500" cy="1155700"/>
          </a:xfrm>
          <a:prstGeom prst="rect">
            <a:avLst/>
          </a:prstGeom>
        </p:spPr>
      </p:pic>
      <p:sp>
        <p:nvSpPr>
          <p:cNvPr id="3" name="文本框 2"/>
          <p:cNvSpPr txBox="1"/>
          <p:nvPr/>
        </p:nvSpPr>
        <p:spPr>
          <a:xfrm>
            <a:off x="618490" y="4245610"/>
            <a:ext cx="7704455" cy="1476375"/>
          </a:xfrm>
          <a:prstGeom prst="rect">
            <a:avLst/>
          </a:prstGeom>
          <a:noFill/>
        </p:spPr>
        <p:txBody>
          <a:bodyPr wrap="square" rtlCol="0" anchor="t">
            <a:spAutoFit/>
          </a:bodyPr>
          <a:lstStyle/>
          <a:p>
            <a:pPr marL="285750" indent="-285750" algn="l">
              <a:lnSpc>
                <a:spcPct val="150000"/>
              </a:lnSpc>
              <a:buFont typeface="Arial" panose="020B0604020202020204" pitchFamily="34" charset="0"/>
              <a:buChar char="•"/>
            </a:pPr>
            <a:r>
              <a:rPr lang="zh-CN" altLang="en-US" sz="2000" b="1">
                <a:latin typeface="微软雅黑" panose="020B0503020204020204" charset="-122"/>
                <a:ea typeface="微软雅黑" panose="020B0503020204020204" charset="-122"/>
                <a:cs typeface="微软雅黑" panose="020B0503020204020204" charset="-122"/>
                <a:sym typeface="+mn-ea"/>
              </a:rPr>
              <a:t>个体变元的取值范围称为</a:t>
            </a:r>
            <a:r>
              <a:rPr lang="zh-CN" altLang="en-US" sz="2000" b="1">
                <a:solidFill>
                  <a:srgbClr val="0000FF"/>
                </a:solidFill>
                <a:latin typeface="微软雅黑" panose="020B0503020204020204" charset="-122"/>
                <a:ea typeface="微软雅黑" panose="020B0503020204020204" charset="-122"/>
                <a:cs typeface="微软雅黑" panose="020B0503020204020204" charset="-122"/>
                <a:sym typeface="+mn-ea"/>
              </a:rPr>
              <a:t>个体域</a:t>
            </a:r>
            <a:r>
              <a:rPr lang="zh-CN" altLang="en-US" sz="2000" b="1">
                <a:latin typeface="微软雅黑" panose="020B0503020204020204" charset="-122"/>
                <a:ea typeface="微软雅黑" panose="020B0503020204020204" charset="-122"/>
                <a:cs typeface="微软雅黑" panose="020B0503020204020204" charset="-122"/>
                <a:sym typeface="+mn-ea"/>
              </a:rPr>
              <a:t>。</a:t>
            </a:r>
            <a:r>
              <a:rPr lang="zh-CN" altLang="en-US" sz="2000">
                <a:latin typeface="微软雅黑" panose="020B0503020204020204" charset="-122"/>
                <a:ea typeface="微软雅黑" panose="020B0503020204020204" charset="-122"/>
                <a:cs typeface="微软雅黑" panose="020B0503020204020204" charset="-122"/>
                <a:sym typeface="+mn-ea"/>
              </a:rPr>
              <a:t>个体域可以是有限的，也可以是无限的。例如用I（x）表示“x是整数”，则个体域为所有整数，是无限的。</a:t>
            </a:r>
            <a:endParaRPr lang="zh-CN" altLang="en-US" sz="2000">
              <a:latin typeface="微软雅黑" panose="020B0503020204020204" charset="-122"/>
              <a:ea typeface="微软雅黑" panose="020B0503020204020204" charset="-122"/>
              <a:cs typeface="微软雅黑" panose="020B0503020204020204" charset="-122"/>
              <a:sym typeface="+mn-ea"/>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939709B4-887D-4542-B978-30BFF7F1C87A}"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7218" name="Rectangle 2"/>
          <p:cNvSpPr>
            <a:spLocks noGrp="1" noChangeArrowheads="1"/>
          </p:cNvSpPr>
          <p:nvPr>
            <p:ph type="title"/>
          </p:nvPr>
        </p:nvSpPr>
        <p:spPr>
          <a:xfrm>
            <a:off x="684213" y="476250"/>
            <a:ext cx="7772400" cy="731838"/>
          </a:xfrm>
        </p:spPr>
        <p:txBody>
          <a:bodyPr vert="horz" wrap="square" lIns="91440" tIns="45720" rIns="91440" bIns="45720" numCol="1" rtlCol="0" anchor="ctr" anchorCtr="0" compatLnSpc="1">
            <a:noAutofit/>
          </a:bodyPr>
          <a:lstStyle/>
          <a:p>
            <a:pPr lvl="0" algn="l" fontAlgn="base" latinLnBrk="1">
              <a:buClrTx/>
              <a:buSzTx/>
              <a:buFontTx/>
              <a:defRPr/>
            </a:pPr>
            <a:r>
              <a:rPr kumimoji="1" sz="4000" spc="0" noProof="0">
                <a:ln>
                  <a:noFill/>
                </a:ln>
                <a:solidFill>
                  <a:schemeClr val="tx1"/>
                </a:solidFill>
                <a:effectLst/>
                <a:uLnTx/>
                <a:latin typeface="微软雅黑" panose="020B0503020204020204" charset="-122"/>
                <a:cs typeface="微软雅黑" panose="020B0503020204020204" charset="-122"/>
                <a:sym typeface="+mn-ea"/>
              </a:rPr>
              <a:t>基本概念</a:t>
            </a:r>
            <a:r>
              <a:rPr kumimoji="1" lang="en-US" altLang="zh-CN" sz="4000" spc="0" noProof="0">
                <a:ln>
                  <a:noFill/>
                </a:ln>
                <a:solidFill>
                  <a:schemeClr val="tx1"/>
                </a:solidFill>
                <a:effectLst/>
                <a:uLnTx/>
                <a:latin typeface="微软雅黑" panose="020B0503020204020204" charset="-122"/>
                <a:cs typeface="微软雅黑" panose="020B0503020204020204" charset="-122"/>
                <a:sym typeface="+mn-ea"/>
              </a:rPr>
              <a:t>4</a:t>
            </a:r>
            <a:r>
              <a:rPr kumimoji="1" sz="4000" spc="0" noProof="0">
                <a:ln>
                  <a:noFill/>
                </a:ln>
                <a:solidFill>
                  <a:schemeClr val="tx1"/>
                </a:solidFill>
                <a:effectLst/>
                <a:uLnTx/>
                <a:latin typeface="微软雅黑" panose="020B0503020204020204" charset="-122"/>
                <a:cs typeface="微软雅黑" panose="020B0503020204020204" charset="-122"/>
                <a:sym typeface="+mn-ea"/>
              </a:rPr>
              <a:t>：函数</a:t>
            </a:r>
            <a:endParaRPr kumimoji="1" sz="4000" spc="0" noProof="0">
              <a:ln>
                <a:noFill/>
              </a:ln>
              <a:solidFill>
                <a:schemeClr val="tx1"/>
              </a:solidFill>
              <a:effectLst/>
              <a:uLnTx/>
              <a:latin typeface="微软雅黑" panose="020B0503020204020204" charset="-122"/>
              <a:cs typeface="微软雅黑" panose="020B0503020204020204" charset="-122"/>
              <a:sym typeface="+mn-ea"/>
            </a:endParaRPr>
          </a:p>
        </p:txBody>
      </p:sp>
      <p:sp>
        <p:nvSpPr>
          <p:cNvPr id="66563" name="Rectangle 3"/>
          <p:cNvSpPr>
            <a:spLocks noGrp="1"/>
          </p:cNvSpPr>
          <p:nvPr>
            <p:ph idx="1"/>
          </p:nvPr>
        </p:nvSpPr>
        <p:spPr>
          <a:xfrm>
            <a:off x="685483" y="1352233"/>
            <a:ext cx="7772400" cy="4752975"/>
          </a:xfrm>
        </p:spPr>
        <p:txBody>
          <a:bodyPr vert="horz" wrap="square" lIns="91440" tIns="45720" rIns="91440" bIns="45720" anchor="t" anchorCtr="0"/>
          <a:lstStyle/>
          <a:p>
            <a:pPr eaLnBrk="1" hangingPunct="1"/>
            <a:r>
              <a:rPr lang="zh-CN" altLang="en-US" sz="2000" b="1" dirty="0">
                <a:solidFill>
                  <a:srgbClr val="0000FF"/>
                </a:solidFill>
                <a:latin typeface="Times New Roman" panose="02020603050405020304" pitchFamily="18" charset="0"/>
                <a:cs typeface="Times New Roman" panose="02020603050405020304" pitchFamily="18" charset="0"/>
              </a:rPr>
              <a:t>函数：</a:t>
            </a:r>
            <a:r>
              <a:rPr sz="2000" b="1">
                <a:solidFill>
                  <a:srgbClr val="0000FF"/>
                </a:solidFill>
                <a:latin typeface="Times New Roman" panose="02020603050405020304" pitchFamily="18" charset="0"/>
                <a:cs typeface="Times New Roman" panose="02020603050405020304" pitchFamily="18" charset="0"/>
                <a:sym typeface="+mn-ea"/>
              </a:rPr>
              <a:t>为了表达个体之间的对应关系，引入数学中函数概念和记法。用形如</a:t>
            </a:r>
            <a:r>
              <a:rPr lang="en-US" altLang="zh-CN" sz="2000" b="1">
                <a:solidFill>
                  <a:srgbClr val="0000FF"/>
                </a:solidFill>
                <a:latin typeface="Times New Roman" panose="02020603050405020304" pitchFamily="18" charset="0"/>
                <a:cs typeface="Times New Roman" panose="02020603050405020304" pitchFamily="18" charset="0"/>
                <a:sym typeface="+mn-ea"/>
              </a:rPr>
              <a:t>f(x</a:t>
            </a:r>
            <a:r>
              <a:rPr lang="en-US" altLang="zh-CN" sz="2000" b="1" baseline="-25000">
                <a:solidFill>
                  <a:srgbClr val="0000FF"/>
                </a:solidFill>
                <a:latin typeface="Times New Roman" panose="02020603050405020304" pitchFamily="18" charset="0"/>
                <a:cs typeface="Times New Roman" panose="02020603050405020304" pitchFamily="18" charset="0"/>
                <a:sym typeface="+mn-ea"/>
              </a:rPr>
              <a:t>1</a:t>
            </a:r>
            <a:r>
              <a:rPr sz="2000" b="1">
                <a:solidFill>
                  <a:srgbClr val="0000FF"/>
                </a:solidFill>
                <a:latin typeface="Times New Roman" panose="02020603050405020304" pitchFamily="18" charset="0"/>
                <a:cs typeface="Times New Roman" panose="02020603050405020304" pitchFamily="18" charset="0"/>
                <a:sym typeface="+mn-ea"/>
              </a:rPr>
              <a:t>，</a:t>
            </a:r>
            <a:r>
              <a:rPr lang="en-US" altLang="zh-CN" sz="2000" b="1">
                <a:solidFill>
                  <a:srgbClr val="0000FF"/>
                </a:solidFill>
                <a:latin typeface="Times New Roman" panose="02020603050405020304" pitchFamily="18" charset="0"/>
                <a:cs typeface="Times New Roman" panose="02020603050405020304" pitchFamily="18" charset="0"/>
                <a:sym typeface="+mn-ea"/>
              </a:rPr>
              <a:t>x</a:t>
            </a:r>
            <a:r>
              <a:rPr lang="en-US" altLang="zh-CN" sz="2000" b="1" baseline="-25000">
                <a:solidFill>
                  <a:srgbClr val="0000FF"/>
                </a:solidFill>
                <a:latin typeface="Times New Roman" panose="02020603050405020304" pitchFamily="18" charset="0"/>
                <a:cs typeface="Times New Roman" panose="02020603050405020304" pitchFamily="18" charset="0"/>
                <a:sym typeface="+mn-ea"/>
              </a:rPr>
              <a:t>2</a:t>
            </a:r>
            <a:r>
              <a:rPr sz="2000" b="1">
                <a:solidFill>
                  <a:srgbClr val="0000FF"/>
                </a:solidFill>
                <a:latin typeface="Times New Roman" panose="02020603050405020304" pitchFamily="18" charset="0"/>
                <a:cs typeface="Times New Roman" panose="02020603050405020304" pitchFamily="18" charset="0"/>
                <a:sym typeface="+mn-ea"/>
              </a:rPr>
              <a:t>，</a:t>
            </a:r>
            <a:r>
              <a:rPr lang="en-US" altLang="zh-CN" sz="2000" b="1">
                <a:solidFill>
                  <a:srgbClr val="0000FF"/>
                </a:solidFill>
                <a:latin typeface="Times New Roman" panose="02020603050405020304" pitchFamily="18" charset="0"/>
                <a:cs typeface="Times New Roman" panose="02020603050405020304" pitchFamily="18" charset="0"/>
                <a:sym typeface="+mn-ea"/>
              </a:rPr>
              <a:t>…</a:t>
            </a:r>
            <a:r>
              <a:rPr sz="2000" b="1">
                <a:solidFill>
                  <a:srgbClr val="0000FF"/>
                </a:solidFill>
                <a:latin typeface="Times New Roman" panose="02020603050405020304" pitchFamily="18" charset="0"/>
                <a:cs typeface="Times New Roman" panose="02020603050405020304" pitchFamily="18" charset="0"/>
                <a:sym typeface="+mn-ea"/>
              </a:rPr>
              <a:t>，</a:t>
            </a:r>
            <a:r>
              <a:rPr lang="en-US" altLang="zh-CN" sz="2000" b="1">
                <a:solidFill>
                  <a:srgbClr val="0000FF"/>
                </a:solidFill>
                <a:latin typeface="Times New Roman" panose="02020603050405020304" pitchFamily="18" charset="0"/>
                <a:cs typeface="Times New Roman" panose="02020603050405020304" pitchFamily="18" charset="0"/>
                <a:sym typeface="+mn-ea"/>
              </a:rPr>
              <a:t>x</a:t>
            </a:r>
            <a:r>
              <a:rPr lang="en-US" altLang="zh-CN" sz="2000" b="1" baseline="-25000">
                <a:solidFill>
                  <a:srgbClr val="0000FF"/>
                </a:solidFill>
                <a:latin typeface="Times New Roman" panose="02020603050405020304" pitchFamily="18" charset="0"/>
                <a:cs typeface="Times New Roman" panose="02020603050405020304" pitchFamily="18" charset="0"/>
                <a:sym typeface="+mn-ea"/>
              </a:rPr>
              <a:t>n</a:t>
            </a:r>
            <a:r>
              <a:rPr lang="en-US" altLang="zh-CN" sz="2000" b="1">
                <a:solidFill>
                  <a:srgbClr val="0000FF"/>
                </a:solidFill>
                <a:latin typeface="Times New Roman" panose="02020603050405020304" pitchFamily="18" charset="0"/>
                <a:cs typeface="Times New Roman" panose="02020603050405020304" pitchFamily="18" charset="0"/>
                <a:sym typeface="+mn-ea"/>
              </a:rPr>
              <a:t>)</a:t>
            </a:r>
            <a:r>
              <a:rPr sz="2000" b="1">
                <a:solidFill>
                  <a:srgbClr val="0000FF"/>
                </a:solidFill>
                <a:latin typeface="Times New Roman" panose="02020603050405020304" pitchFamily="18" charset="0"/>
                <a:cs typeface="Times New Roman" panose="02020603050405020304" pitchFamily="18" charset="0"/>
                <a:sym typeface="+mn-ea"/>
              </a:rPr>
              <a:t>来表示个体变元对应的个体</a:t>
            </a:r>
            <a:r>
              <a:rPr lang="en-US" altLang="zh-CN" sz="2000" b="1">
                <a:solidFill>
                  <a:srgbClr val="0000FF"/>
                </a:solidFill>
                <a:latin typeface="Times New Roman" panose="02020603050405020304" pitchFamily="18" charset="0"/>
                <a:cs typeface="Times New Roman" panose="02020603050405020304" pitchFamily="18" charset="0"/>
                <a:sym typeface="+mn-ea"/>
              </a:rPr>
              <a:t>y</a:t>
            </a:r>
            <a:r>
              <a:rPr sz="2000" b="1">
                <a:solidFill>
                  <a:srgbClr val="0000FF"/>
                </a:solidFill>
                <a:latin typeface="Times New Roman" panose="02020603050405020304" pitchFamily="18" charset="0"/>
                <a:cs typeface="Times New Roman" panose="02020603050405020304" pitchFamily="18" charset="0"/>
                <a:sym typeface="+mn-ea"/>
              </a:rPr>
              <a:t>，并称之为</a:t>
            </a:r>
            <a:r>
              <a:rPr lang="en-US" altLang="zh-CN" sz="2000" b="1">
                <a:solidFill>
                  <a:srgbClr val="0000FF"/>
                </a:solidFill>
                <a:latin typeface="Times New Roman" panose="02020603050405020304" pitchFamily="18" charset="0"/>
                <a:cs typeface="Times New Roman" panose="02020603050405020304" pitchFamily="18" charset="0"/>
                <a:sym typeface="+mn-ea"/>
              </a:rPr>
              <a:t>n</a:t>
            </a:r>
            <a:r>
              <a:rPr sz="2000" b="1">
                <a:solidFill>
                  <a:srgbClr val="0000FF"/>
                </a:solidFill>
                <a:latin typeface="Times New Roman" panose="02020603050405020304" pitchFamily="18" charset="0"/>
                <a:cs typeface="Times New Roman" panose="02020603050405020304" pitchFamily="18" charset="0"/>
                <a:sym typeface="+mn-ea"/>
              </a:rPr>
              <a:t>元个体函数，简称函数。</a:t>
            </a:r>
            <a:endParaRPr lang="zh-CN" altLang="en-US" sz="2000" b="1" dirty="0">
              <a:solidFill>
                <a:srgbClr val="0000FF"/>
              </a:solidFill>
              <a:latin typeface="Times New Roman" panose="02020603050405020304" pitchFamily="18" charset="0"/>
              <a:cs typeface="Times New Roman" panose="02020603050405020304" pitchFamily="18" charset="0"/>
            </a:endParaRPr>
          </a:p>
          <a:p>
            <a:pPr lvl="1" eaLnBrk="1" hangingPunct="1"/>
            <a:r>
              <a:rPr lang="zh-CN" altLang="en-US" sz="1800" b="1" dirty="0">
                <a:latin typeface="Times New Roman" panose="02020603050405020304" pitchFamily="18" charset="0"/>
                <a:cs typeface="Times New Roman" panose="02020603050405020304" pitchFamily="18" charset="0"/>
              </a:rPr>
              <a:t>表示个体之间的运算，可作用于一个或若干个个体（</a:t>
            </a:r>
            <a:r>
              <a:rPr lang="zh-CN" altLang="en-US" sz="1800" b="1" dirty="0">
                <a:solidFill>
                  <a:srgbClr val="0000FF"/>
                </a:solidFill>
                <a:latin typeface="Times New Roman" panose="02020603050405020304" pitchFamily="18" charset="0"/>
                <a:cs typeface="Times New Roman" panose="02020603050405020304" pitchFamily="18" charset="0"/>
              </a:rPr>
              <a:t>用小写字母</a:t>
            </a:r>
            <a:r>
              <a:rPr lang="zh-CN" altLang="en-US" sz="1800" b="1" dirty="0">
                <a:latin typeface="Times New Roman" panose="02020603050405020304" pitchFamily="18" charset="0"/>
                <a:cs typeface="Times New Roman" panose="02020603050405020304" pitchFamily="18" charset="0"/>
              </a:rPr>
              <a:t>）</a:t>
            </a:r>
            <a:endParaRPr lang="zh-CN" altLang="en-US" sz="1800" b="1" dirty="0">
              <a:latin typeface="Times New Roman" panose="02020603050405020304" pitchFamily="18" charset="0"/>
              <a:cs typeface="Times New Roman" panose="02020603050405020304" pitchFamily="18" charset="0"/>
            </a:endParaRPr>
          </a:p>
          <a:p>
            <a:pPr lvl="1" eaLnBrk="1" hangingPunct="1"/>
            <a:r>
              <a:rPr lang="zh-CN" altLang="en-US" sz="1800" b="1" dirty="0">
                <a:latin typeface="Times New Roman" panose="02020603050405020304" pitchFamily="18" charset="0"/>
                <a:cs typeface="Times New Roman" panose="02020603050405020304" pitchFamily="18" charset="0"/>
              </a:rPr>
              <a:t>给定一个或若干个体（对象），产生一个新的个体（对象）</a:t>
            </a:r>
            <a:r>
              <a:rPr lang="en-US" altLang="zh-CN" sz="1800" b="1" dirty="0">
                <a:latin typeface="Times New Roman" panose="02020603050405020304" pitchFamily="18" charset="0"/>
                <a:cs typeface="Times New Roman" panose="02020603050405020304" pitchFamily="18" charset="0"/>
              </a:rPr>
              <a:t>/ </a:t>
            </a:r>
            <a:r>
              <a:rPr lang="zh-CN" altLang="en-US" sz="1800" b="1" dirty="0">
                <a:latin typeface="Times New Roman" panose="02020603050405020304" pitchFamily="18" charset="0"/>
                <a:cs typeface="Times New Roman" panose="02020603050405020304" pitchFamily="18" charset="0"/>
              </a:rPr>
              <a:t>函数的元数</a:t>
            </a:r>
            <a:endParaRPr lang="zh-CN" altLang="en-US" sz="1800" b="1" dirty="0">
              <a:latin typeface="Times New Roman" panose="02020603050405020304" pitchFamily="18" charset="0"/>
              <a:cs typeface="Times New Roman" panose="02020603050405020304" pitchFamily="18" charset="0"/>
            </a:endParaRPr>
          </a:p>
          <a:p>
            <a:pPr lvl="1" eaLnBrk="1" hangingPunct="1"/>
            <a:r>
              <a:rPr lang="zh-CN" altLang="en-US" sz="1800" b="1" dirty="0">
                <a:latin typeface="Times New Roman" panose="02020603050405020304" pitchFamily="18" charset="0"/>
                <a:cs typeface="Times New Roman" panose="02020603050405020304" pitchFamily="18" charset="0"/>
              </a:rPr>
              <a:t>例子：</a:t>
            </a:r>
            <a:r>
              <a:rPr lang="en-US" altLang="zh-CN" sz="1800" b="1" dirty="0">
                <a:latin typeface="Times New Roman" panose="02020603050405020304" pitchFamily="18" charset="0"/>
                <a:cs typeface="Times New Roman" panose="02020603050405020304" pitchFamily="18" charset="0"/>
              </a:rPr>
              <a:t>x</a:t>
            </a:r>
            <a:r>
              <a:rPr lang="zh-CN" altLang="en-US" sz="1800" b="1" dirty="0">
                <a:latin typeface="Times New Roman" panose="02020603050405020304" pitchFamily="18" charset="0"/>
                <a:cs typeface="Times New Roman" panose="02020603050405020304" pitchFamily="18" charset="0"/>
              </a:rPr>
              <a:t>的父亲  </a:t>
            </a:r>
            <a:r>
              <a:rPr lang="en-US" altLang="zh-CN" sz="1800" b="1" dirty="0">
                <a:latin typeface="Times New Roman" panose="02020603050405020304" pitchFamily="18" charset="0"/>
                <a:cs typeface="Times New Roman" panose="02020603050405020304" pitchFamily="18" charset="0"/>
              </a:rPr>
              <a:t>father(</a:t>
            </a:r>
            <a:r>
              <a:rPr lang="zh-CN" altLang="en-US" sz="1800" b="1" dirty="0">
                <a:latin typeface="Times New Roman" panose="02020603050405020304" pitchFamily="18" charset="0"/>
                <a:cs typeface="Times New Roman" panose="02020603050405020304" pitchFamily="18" charset="0"/>
              </a:rPr>
              <a:t>张三</a:t>
            </a:r>
            <a:r>
              <a:rPr lang="en-US" altLang="zh-CN" sz="1800" b="1" dirty="0">
                <a:latin typeface="Times New Roman" panose="02020603050405020304" pitchFamily="18" charset="0"/>
                <a:cs typeface="Times New Roman" panose="02020603050405020304" pitchFamily="18" charset="0"/>
              </a:rPr>
              <a:t>)</a:t>
            </a:r>
            <a:endParaRPr lang="en-US" altLang="zh-CN" sz="1800" b="1" dirty="0">
              <a:latin typeface="Times New Roman" panose="02020603050405020304" pitchFamily="18" charset="0"/>
              <a:cs typeface="Times New Roman" panose="02020603050405020304" pitchFamily="18" charset="0"/>
            </a:endParaRPr>
          </a:p>
          <a:p>
            <a:pPr lvl="1" eaLnBrk="1" hangingPunct="1"/>
            <a:r>
              <a:rPr lang="zh-CN" altLang="en-US" sz="1800" b="1" dirty="0">
                <a:latin typeface="Times New Roman" panose="02020603050405020304" pitchFamily="18" charset="0"/>
                <a:cs typeface="Times New Roman" panose="02020603050405020304" pitchFamily="18" charset="0"/>
              </a:rPr>
              <a:t>两数之和仍是一个数 </a:t>
            </a:r>
            <a:r>
              <a:rPr lang="en-US" altLang="zh-CN" sz="1800" b="1" dirty="0">
                <a:latin typeface="Times New Roman" panose="02020603050405020304" pitchFamily="18" charset="0"/>
                <a:cs typeface="Times New Roman" panose="02020603050405020304" pitchFamily="18" charset="0"/>
              </a:rPr>
              <a:t>add(e1, e2)</a:t>
            </a:r>
            <a:endParaRPr lang="en-US" altLang="zh-CN" sz="1800" b="1"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5D5FBBB0-87D7-438D-82E9-C7A42548A3F0}"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65538" name="Rectangle 3"/>
          <p:cNvSpPr/>
          <p:nvPr/>
        </p:nvSpPr>
        <p:spPr>
          <a:xfrm>
            <a:off x="611505" y="260350"/>
            <a:ext cx="6694170" cy="2306320"/>
          </a:xfrm>
          <a:prstGeom prst="rect">
            <a:avLst/>
          </a:prstGeom>
          <a:noFill/>
          <a:ln w="9525">
            <a:noFill/>
          </a:ln>
        </p:spPr>
        <p:txBody>
          <a:bodyPr wrap="square" anchor="t" anchorCtr="0">
            <a:spAutoFit/>
          </a:bodyPr>
          <a:lstStyle/>
          <a:p>
            <a:pPr>
              <a:lnSpc>
                <a:spcPct val="120000"/>
              </a:lnSpc>
            </a:pPr>
            <a:r>
              <a:rPr lang="zh-CN" altLang="en-US" sz="2400" b="1" dirty="0">
                <a:latin typeface="微软雅黑" panose="020B0503020204020204" charset="-122"/>
                <a:ea typeface="微软雅黑" panose="020B0503020204020204" charset="-122"/>
                <a:cs typeface="微软雅黑" panose="020B0503020204020204" charset="-122"/>
              </a:rPr>
              <a:t> </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例：每个孩子都比其母年轻</a:t>
            </a:r>
            <a:b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b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           </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C</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x</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x</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是一个小孩</a:t>
            </a:r>
            <a:b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b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           </a:t>
            </a:r>
            <a:r>
              <a:rPr lang="en-US" altLang="zh-CN" sz="2400" b="1" dirty="0">
                <a:solidFill>
                  <a:srgbClr val="0000FF"/>
                </a:solidFill>
                <a:latin typeface="微软雅黑" panose="020B0503020204020204" charset="-122"/>
                <a:ea typeface="微软雅黑" panose="020B0503020204020204" charset="-122"/>
                <a:cs typeface="微软雅黑" panose="020B0503020204020204" charset="-122"/>
              </a:rPr>
              <a:t>M</a:t>
            </a:r>
            <a:r>
              <a:rPr lang="zh-CN" altLang="en-US" sz="2400" b="1" dirty="0">
                <a:solidFill>
                  <a:srgbClr val="0000FF"/>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FF"/>
                </a:solidFill>
                <a:latin typeface="微软雅黑" panose="020B0503020204020204" charset="-122"/>
                <a:ea typeface="微软雅黑" panose="020B0503020204020204" charset="-122"/>
                <a:cs typeface="微软雅黑" panose="020B0503020204020204" charset="-122"/>
              </a:rPr>
              <a:t>y</a:t>
            </a:r>
            <a:r>
              <a:rPr lang="zh-CN" altLang="en-US" sz="2400" b="1" dirty="0">
                <a:solidFill>
                  <a:srgbClr val="0000FF"/>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FF"/>
                </a:solidFill>
                <a:latin typeface="微软雅黑" panose="020B0503020204020204" charset="-122"/>
                <a:ea typeface="微软雅黑" panose="020B0503020204020204" charset="-122"/>
                <a:cs typeface="微软雅黑" panose="020B0503020204020204" charset="-122"/>
              </a:rPr>
              <a:t>x</a:t>
            </a:r>
            <a:r>
              <a:rPr lang="zh-CN" altLang="en-US" sz="2400" b="1" dirty="0">
                <a:solidFill>
                  <a:srgbClr val="0000FF"/>
                </a:solidFill>
                <a:latin typeface="微软雅黑" panose="020B0503020204020204" charset="-122"/>
                <a:ea typeface="微软雅黑" panose="020B0503020204020204" charset="-122"/>
                <a:cs typeface="微软雅黑" panose="020B0503020204020204" charset="-122"/>
              </a:rPr>
              <a:t>）：表示</a:t>
            </a:r>
            <a:r>
              <a:rPr lang="en-US" altLang="zh-CN" sz="2400" b="1" dirty="0">
                <a:solidFill>
                  <a:srgbClr val="0000FF"/>
                </a:solidFill>
                <a:latin typeface="微软雅黑" panose="020B0503020204020204" charset="-122"/>
                <a:ea typeface="微软雅黑" panose="020B0503020204020204" charset="-122"/>
                <a:cs typeface="微软雅黑" panose="020B0503020204020204" charset="-122"/>
              </a:rPr>
              <a:t>y</a:t>
            </a:r>
            <a:r>
              <a:rPr lang="zh-CN" altLang="en-US" sz="2400" b="1" dirty="0">
                <a:solidFill>
                  <a:srgbClr val="0000FF"/>
                </a:solidFill>
                <a:latin typeface="微软雅黑" panose="020B0503020204020204" charset="-122"/>
                <a:ea typeface="微软雅黑" panose="020B0503020204020204" charset="-122"/>
                <a:cs typeface="微软雅黑" panose="020B0503020204020204" charset="-122"/>
              </a:rPr>
              <a:t>是</a:t>
            </a:r>
            <a:r>
              <a:rPr lang="en-US" altLang="zh-CN" sz="2400" b="1" dirty="0">
                <a:solidFill>
                  <a:srgbClr val="0000FF"/>
                </a:solidFill>
                <a:latin typeface="微软雅黑" panose="020B0503020204020204" charset="-122"/>
                <a:ea typeface="微软雅黑" panose="020B0503020204020204" charset="-122"/>
                <a:cs typeface="微软雅黑" panose="020B0503020204020204" charset="-122"/>
              </a:rPr>
              <a:t>x</a:t>
            </a:r>
            <a:r>
              <a:rPr lang="zh-CN" altLang="en-US" sz="2400" b="1" dirty="0">
                <a:solidFill>
                  <a:srgbClr val="0000FF"/>
                </a:solidFill>
                <a:latin typeface="微软雅黑" panose="020B0503020204020204" charset="-122"/>
                <a:ea typeface="微软雅黑" panose="020B0503020204020204" charset="-122"/>
                <a:cs typeface="微软雅黑" panose="020B0503020204020204" charset="-122"/>
              </a:rPr>
              <a:t>的其母</a:t>
            </a:r>
            <a:b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b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           </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Y</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x</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 </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y</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x</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比</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y</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年轻</a:t>
            </a:r>
            <a:b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b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 </a:t>
            </a:r>
            <a:endParaRPr lang="zh-CN" altLang="en-US" sz="24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5540" name="Text Box 7"/>
          <p:cNvSpPr txBox="1"/>
          <p:nvPr/>
        </p:nvSpPr>
        <p:spPr>
          <a:xfrm>
            <a:off x="611188" y="4032250"/>
            <a:ext cx="8281987" cy="1587500"/>
          </a:xfrm>
          <a:prstGeom prst="rect">
            <a:avLst/>
          </a:prstGeom>
          <a:noFill/>
          <a:ln w="9525">
            <a:noFill/>
          </a:ln>
        </p:spPr>
        <p:txBody>
          <a:bodyPr anchor="t" anchorCtr="0">
            <a:spAutoFit/>
          </a:bodyPr>
          <a:lstStyle/>
          <a:p>
            <a:pPr>
              <a:spcBef>
                <a:spcPct val="50000"/>
              </a:spcBef>
            </a:pPr>
            <a:r>
              <a:rPr lang="zh-CN" altLang="en-US" sz="2800" b="1" dirty="0">
                <a:latin typeface="Times New Roman" panose="02020603050405020304" pitchFamily="18" charset="0"/>
                <a:ea typeface="黑体" panose="02010609060101010101" charset="-122"/>
              </a:rPr>
              <a:t>如果采用</a:t>
            </a:r>
            <a:r>
              <a:rPr lang="zh-CN" altLang="en-US" sz="2800" b="1" dirty="0">
                <a:solidFill>
                  <a:srgbClr val="0000FF"/>
                </a:solidFill>
                <a:latin typeface="Times New Roman" panose="02020603050405020304" pitchFamily="18" charset="0"/>
                <a:ea typeface="黑体" panose="02010609060101010101" charset="-122"/>
              </a:rPr>
              <a:t>函数 </a:t>
            </a:r>
            <a:r>
              <a:rPr lang="en-US" altLang="zh-CN" sz="2800" b="1" dirty="0">
                <a:solidFill>
                  <a:srgbClr val="0000FF"/>
                </a:solidFill>
                <a:latin typeface="Times New Roman" panose="02020603050405020304" pitchFamily="18" charset="0"/>
                <a:ea typeface="黑体" panose="02010609060101010101" charset="-122"/>
              </a:rPr>
              <a:t>m(x) </a:t>
            </a:r>
            <a:r>
              <a:rPr lang="zh-CN" altLang="en-US" sz="2800" b="1" dirty="0">
                <a:solidFill>
                  <a:srgbClr val="0000FF"/>
                </a:solidFill>
                <a:latin typeface="Times New Roman" panose="02020603050405020304" pitchFamily="18" charset="0"/>
                <a:ea typeface="黑体" panose="02010609060101010101" charset="-122"/>
              </a:rPr>
              <a:t>来表示</a:t>
            </a:r>
            <a:r>
              <a:rPr lang="en-US" altLang="zh-CN" sz="2800" b="1" dirty="0">
                <a:solidFill>
                  <a:srgbClr val="0000FF"/>
                </a:solidFill>
                <a:latin typeface="Times New Roman" panose="02020603050405020304" pitchFamily="18" charset="0"/>
                <a:ea typeface="黑体" panose="02010609060101010101" charset="-122"/>
              </a:rPr>
              <a:t>x</a:t>
            </a:r>
            <a:r>
              <a:rPr lang="zh-CN" altLang="en-US" sz="2800" b="1" dirty="0">
                <a:solidFill>
                  <a:srgbClr val="0000FF"/>
                </a:solidFill>
                <a:latin typeface="Times New Roman" panose="02020603050405020304" pitchFamily="18" charset="0"/>
                <a:ea typeface="黑体" panose="02010609060101010101" charset="-122"/>
              </a:rPr>
              <a:t>的母亲</a:t>
            </a:r>
            <a:r>
              <a:rPr lang="zh-CN" altLang="en-US" sz="2800" b="1" dirty="0">
                <a:latin typeface="Times New Roman" panose="02020603050405020304" pitchFamily="18" charset="0"/>
                <a:ea typeface="黑体" panose="02010609060101010101" charset="-122"/>
              </a:rPr>
              <a:t>，上式可以更准确地表示为：</a:t>
            </a:r>
            <a:endParaRPr lang="zh-CN" altLang="en-US" sz="2800" b="1" dirty="0">
              <a:latin typeface="Times New Roman" panose="02020603050405020304" pitchFamily="18" charset="0"/>
              <a:ea typeface="黑体" panose="02010609060101010101" charset="-122"/>
            </a:endParaRPr>
          </a:p>
          <a:p>
            <a:pPr>
              <a:spcBef>
                <a:spcPct val="50000"/>
              </a:spcBef>
            </a:pPr>
            <a:r>
              <a:rPr lang="zh-CN" altLang="en-US" sz="2800" b="1" dirty="0">
                <a:solidFill>
                  <a:srgbClr val="000000"/>
                </a:solidFill>
                <a:latin typeface="Times New Roman" panose="02020603050405020304" pitchFamily="18" charset="0"/>
                <a:ea typeface="黑体" panose="02010609060101010101" charset="-122"/>
              </a:rPr>
              <a:t>       ∀</a:t>
            </a:r>
            <a:r>
              <a:rPr lang="en-US" altLang="zh-CN" sz="2800" b="1" dirty="0">
                <a:solidFill>
                  <a:srgbClr val="000000"/>
                </a:solidFill>
                <a:latin typeface="Times New Roman" panose="02020603050405020304" pitchFamily="18" charset="0"/>
                <a:ea typeface="黑体" panose="02010609060101010101" charset="-122"/>
              </a:rPr>
              <a:t>x(C(x) →Y(x, m(x))</a:t>
            </a:r>
            <a:endParaRPr lang="en-US" altLang="zh-CN" sz="2800" b="1" dirty="0">
              <a:solidFill>
                <a:srgbClr val="000000"/>
              </a:solidFill>
              <a:latin typeface="Times New Roman" panose="02020603050405020304" pitchFamily="18" charset="0"/>
              <a:ea typeface="黑体" panose="02010609060101010101" charset="-122"/>
            </a:endParaRPr>
          </a:p>
        </p:txBody>
      </p:sp>
      <p:sp>
        <p:nvSpPr>
          <p:cNvPr id="2" name="文本框 1"/>
          <p:cNvSpPr txBox="1"/>
          <p:nvPr/>
        </p:nvSpPr>
        <p:spPr>
          <a:xfrm>
            <a:off x="740410" y="2646680"/>
            <a:ext cx="7839710" cy="829945"/>
          </a:xfrm>
          <a:prstGeom prst="rect">
            <a:avLst/>
          </a:prstGeom>
          <a:noFill/>
        </p:spPr>
        <p:txBody>
          <a:bodyPr wrap="square" rtlCol="0" anchor="t">
            <a:spAutoFit/>
          </a:bodyPr>
          <a:lstStyle/>
          <a:p>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谓词表示为：</a:t>
            </a:r>
            <a:endParaRPr lang="zh-CN" altLang="en-US" sz="2400" b="1" dirty="0">
              <a:solidFill>
                <a:srgbClr val="000000"/>
              </a:solidFill>
              <a:latin typeface="微软雅黑" panose="020B0503020204020204" charset="-122"/>
              <a:ea typeface="微软雅黑" panose="020B0503020204020204" charset="-122"/>
              <a:cs typeface="微软雅黑" panose="020B0503020204020204" charset="-122"/>
            </a:endParaRPr>
          </a:p>
          <a:p>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     </a:t>
            </a:r>
            <a:r>
              <a:rPr lang="zh-CN" altLang="en-US" sz="1600" b="1" dirty="0">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sym typeface="+mn-ea"/>
              </a:rPr>
              <a:t>x </a:t>
            </a:r>
            <a:r>
              <a:rPr lang="zh-CN" altLang="en-US" sz="1600" b="1" dirty="0">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sym typeface="+mn-ea"/>
              </a:rPr>
              <a:t>y</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sym typeface="+mn-ea"/>
              </a:rPr>
              <a:t>C</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sym typeface="+mn-ea"/>
              </a:rPr>
              <a:t>x</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sym typeface="+mn-ea"/>
              </a:rPr>
              <a:t>M</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sym typeface="+mn-ea"/>
              </a:rPr>
              <a:t>y</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sym typeface="+mn-ea"/>
              </a:rPr>
              <a:t>x</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sym typeface="+mn-ea"/>
              </a:rPr>
              <a:t>Y</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sym typeface="+mn-ea"/>
              </a:rPr>
              <a:t>x</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sym typeface="+mn-ea"/>
              </a:rPr>
              <a:t>y</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 </a:t>
            </a:r>
            <a:endPar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5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p:bldP spid="65540" grpId="1"/>
      <p:bldP spid="2" grpId="0"/>
      <p:bldP spid="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8F8207E0-D582-4369-BECC-8EB6E4B3209A}"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207874" name="Rectangle 2"/>
          <p:cNvSpPr>
            <a:spLocks noGrp="1" noChangeArrowheads="1"/>
          </p:cNvSpPr>
          <p:nvPr>
            <p:ph type="title"/>
          </p:nvPr>
        </p:nvSpPr>
        <p:spPr>
          <a:xfrm>
            <a:off x="684213" y="31369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a:ln>
                  <a:noFill/>
                </a:ln>
                <a:solidFill>
                  <a:srgbClr val="003366"/>
                </a:solidFill>
                <a:effectLst/>
                <a:uLnTx/>
                <a:uFillTx/>
                <a:latin typeface="微软雅黑" panose="020B0503020204020204" charset="-122"/>
                <a:cs typeface="+mj-cs"/>
              </a:rPr>
              <a:t>函数与谓词的区别</a:t>
            </a:r>
            <a:endParaRPr kumimoji="1" lang="zh-CN" altLang="en-US" sz="4000" b="1" i="0" u="none" strike="noStrike" kern="1200" cap="none" spc="0" normalizeH="0" baseline="0" noProof="0">
              <a:ln>
                <a:noFill/>
              </a:ln>
              <a:solidFill>
                <a:srgbClr val="003366"/>
              </a:solidFill>
              <a:effectLst/>
              <a:uLnTx/>
              <a:uFillTx/>
              <a:latin typeface="微软雅黑" panose="020B0503020204020204" charset="-122"/>
              <a:cs typeface="+mj-cs"/>
            </a:endParaRPr>
          </a:p>
        </p:txBody>
      </p:sp>
      <p:sp>
        <p:nvSpPr>
          <p:cNvPr id="207875" name="Rectangle 3"/>
          <p:cNvSpPr>
            <a:spLocks noGrp="1"/>
          </p:cNvSpPr>
          <p:nvPr>
            <p:ph idx="1"/>
          </p:nvPr>
        </p:nvSpPr>
        <p:spPr>
          <a:xfrm>
            <a:off x="684213" y="1371918"/>
            <a:ext cx="7772400" cy="4752975"/>
          </a:xfrm>
        </p:spPr>
        <p:txBody>
          <a:bodyPr vert="horz" wrap="square" lIns="91440" tIns="45720" rIns="91440" bIns="45720" anchor="t" anchorCtr="0"/>
          <a:lstStyle/>
          <a:p>
            <a:pPr algn="just" eaLnBrk="1" hangingPunct="1">
              <a:lnSpc>
                <a:spcPct val="120000"/>
              </a:lnSpc>
            </a:pPr>
            <a:r>
              <a:rPr lang="zh-CN" altLang="en-US" sz="2800" b="1" dirty="0">
                <a:solidFill>
                  <a:srgbClr val="0000FF"/>
                </a:solidFill>
                <a:latin typeface="微软雅黑" panose="020B0503020204020204" charset="-122"/>
              </a:rPr>
              <a:t>谓词和函数的区别：</a:t>
            </a:r>
            <a:r>
              <a:rPr lang="zh-CN" altLang="en-US" sz="2800" b="1" dirty="0">
                <a:solidFill>
                  <a:srgbClr val="C00000"/>
                </a:solidFill>
                <a:latin typeface="微软雅黑" panose="020B0503020204020204" charset="-122"/>
              </a:rPr>
              <a:t>谓词</a:t>
            </a:r>
            <a:r>
              <a:rPr lang="zh-CN" altLang="en-US" sz="2800" b="1" dirty="0">
                <a:latin typeface="微软雅黑" panose="020B0503020204020204" charset="-122"/>
              </a:rPr>
              <a:t>代表语句，结果是关系（具有</a:t>
            </a:r>
            <a:r>
              <a:rPr lang="zh-CN" altLang="en-US" sz="2800" b="1" dirty="0">
                <a:solidFill>
                  <a:srgbClr val="C00000"/>
                </a:solidFill>
                <a:latin typeface="微软雅黑" panose="020B0503020204020204" charset="-122"/>
              </a:rPr>
              <a:t>真假值</a:t>
            </a:r>
            <a:r>
              <a:rPr lang="zh-CN" altLang="en-US" sz="2800" b="1" dirty="0">
                <a:latin typeface="微软雅黑" panose="020B0503020204020204" charset="-122"/>
              </a:rPr>
              <a:t>）；</a:t>
            </a:r>
            <a:r>
              <a:rPr lang="zh-CN" altLang="en-US" sz="2800" b="1" dirty="0">
                <a:solidFill>
                  <a:srgbClr val="C00000"/>
                </a:solidFill>
                <a:latin typeface="微软雅黑" panose="020B0503020204020204" charset="-122"/>
              </a:rPr>
              <a:t>函数</a:t>
            </a:r>
            <a:r>
              <a:rPr lang="zh-CN" altLang="en-US" sz="2800" b="1" dirty="0">
                <a:latin typeface="微软雅黑" panose="020B0503020204020204" charset="-122"/>
              </a:rPr>
              <a:t>代表关系运算，结果是一个</a:t>
            </a:r>
            <a:r>
              <a:rPr lang="zh-CN" altLang="en-US" sz="2800" b="1" dirty="0">
                <a:solidFill>
                  <a:srgbClr val="C00000"/>
                </a:solidFill>
                <a:latin typeface="微软雅黑" panose="020B0503020204020204" charset="-122"/>
              </a:rPr>
              <a:t>新个体</a:t>
            </a:r>
            <a:endParaRPr lang="zh-CN" altLang="en-US" sz="2800" b="1" dirty="0">
              <a:latin typeface="微软雅黑" panose="020B0503020204020204" charset="-122"/>
            </a:endParaRPr>
          </a:p>
          <a:p>
            <a:pPr algn="just" eaLnBrk="1" hangingPunct="1">
              <a:lnSpc>
                <a:spcPct val="120000"/>
              </a:lnSpc>
            </a:pPr>
            <a:r>
              <a:rPr lang="zh-CN" altLang="en-US" sz="2800" b="1" dirty="0">
                <a:latin typeface="Times New Roman" panose="02020603050405020304" pitchFamily="18" charset="0"/>
                <a:ea typeface="黑体" panose="02010609060101010101" charset="-122"/>
              </a:rPr>
              <a:t>例子：</a:t>
            </a:r>
            <a:endParaRPr lang="zh-CN" altLang="en-US" sz="2800" b="1" dirty="0">
              <a:latin typeface="Times New Roman" panose="02020603050405020304" pitchFamily="18" charset="0"/>
              <a:ea typeface="黑体" panose="02010609060101010101" charset="-122"/>
            </a:endParaRPr>
          </a:p>
          <a:p>
            <a:pPr lvl="1" algn="just" eaLnBrk="1" hangingPunct="1">
              <a:lnSpc>
                <a:spcPct val="120000"/>
              </a:lnSpc>
            </a:pPr>
            <a:r>
              <a:rPr lang="zh-CN" altLang="en-US" sz="2800" b="1" dirty="0">
                <a:latin typeface="Times New Roman" panose="02020603050405020304" pitchFamily="18" charset="0"/>
                <a:ea typeface="黑体" panose="02010609060101010101" charset="-122"/>
              </a:rPr>
              <a:t>谓词SUM(e1, e2, e3)  说明e1、e2、e3之间的关系是e1与e2的和是e3 ，</a:t>
            </a:r>
            <a:endParaRPr lang="zh-CN" altLang="en-US" sz="2800" b="1" dirty="0">
              <a:latin typeface="Times New Roman" panose="02020603050405020304" pitchFamily="18" charset="0"/>
              <a:ea typeface="黑体" panose="02010609060101010101" charset="-122"/>
            </a:endParaRPr>
          </a:p>
          <a:p>
            <a:pPr lvl="1" algn="just" eaLnBrk="1" hangingPunct="1">
              <a:lnSpc>
                <a:spcPct val="120000"/>
              </a:lnSpc>
            </a:pPr>
            <a:r>
              <a:rPr lang="zh-CN" altLang="en-US" sz="2800" b="1" dirty="0">
                <a:latin typeface="Times New Roman" panose="02020603050405020304" pitchFamily="18" charset="0"/>
                <a:ea typeface="黑体" panose="02010609060101010101" charset="-122"/>
              </a:rPr>
              <a:t>函数add(e1, e2)说明e1与e2相加的结果仍是一个数</a:t>
            </a:r>
            <a:endParaRPr lang="zh-CN" altLang="en-US" sz="2800" b="1" dirty="0">
              <a:latin typeface="Times New Roman" panose="02020603050405020304" pitchFamily="18" charset="0"/>
              <a:ea typeface="黑体" panose="02010609060101010101"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7875">
                                            <p:txEl>
                                              <p:pRg st="0" end="0"/>
                                            </p:txEl>
                                          </p:spTgt>
                                        </p:tgtEl>
                                        <p:attrNameLst>
                                          <p:attrName>style.visibility</p:attrName>
                                        </p:attrNameLst>
                                      </p:cBhvr>
                                      <p:to>
                                        <p:strVal val="visible"/>
                                      </p:to>
                                    </p:set>
                                    <p:animEffect transition="in" filter="blinds(horizontal)">
                                      <p:cBhvr>
                                        <p:cTn id="7" dur="500"/>
                                        <p:tgtEl>
                                          <p:spTgt spid="2078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7875">
                                            <p:txEl>
                                              <p:pRg st="1" end="1"/>
                                            </p:txEl>
                                          </p:spTgt>
                                        </p:tgtEl>
                                        <p:attrNameLst>
                                          <p:attrName>style.visibility</p:attrName>
                                        </p:attrNameLst>
                                      </p:cBhvr>
                                      <p:to>
                                        <p:strVal val="visible"/>
                                      </p:to>
                                    </p:set>
                                    <p:animEffect transition="in" filter="blinds(horizontal)">
                                      <p:cBhvr>
                                        <p:cTn id="12" dur="500"/>
                                        <p:tgtEl>
                                          <p:spTgt spid="207875">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07875">
                                            <p:txEl>
                                              <p:pRg st="2" end="2"/>
                                            </p:txEl>
                                          </p:spTgt>
                                        </p:tgtEl>
                                        <p:attrNameLst>
                                          <p:attrName>style.visibility</p:attrName>
                                        </p:attrNameLst>
                                      </p:cBhvr>
                                      <p:to>
                                        <p:strVal val="visible"/>
                                      </p:to>
                                    </p:set>
                                    <p:animEffect transition="in" filter="blinds(horizontal)">
                                      <p:cBhvr>
                                        <p:cTn id="15" dur="500"/>
                                        <p:tgtEl>
                                          <p:spTgt spid="207875">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07875">
                                            <p:txEl>
                                              <p:pRg st="3" end="3"/>
                                            </p:txEl>
                                          </p:spTgt>
                                        </p:tgtEl>
                                        <p:attrNameLst>
                                          <p:attrName>style.visibility</p:attrName>
                                        </p:attrNameLst>
                                      </p:cBhvr>
                                      <p:to>
                                        <p:strVal val="visible"/>
                                      </p:to>
                                    </p:set>
                                    <p:animEffect transition="in" filter="blinds(horizontal)">
                                      <p:cBhvr>
                                        <p:cTn id="18" dur="500"/>
                                        <p:tgtEl>
                                          <p:spTgt spid="2078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3200">
                <a:solidFill>
                  <a:srgbClr val="0000FF"/>
                </a:solidFill>
                <a:latin typeface="微软雅黑" panose="020B0503020204020204" charset="-122"/>
                <a:sym typeface="Symbol" panose="05050102010706020507" pitchFamily="18" charset="2"/>
              </a:rPr>
              <a:t>符号约定</a:t>
            </a:r>
            <a:endParaRPr lang="zh-CN" altLang="en-US" sz="3200">
              <a:solidFill>
                <a:srgbClr val="0000FF"/>
              </a:solidFill>
              <a:latin typeface="微软雅黑" panose="020B0503020204020204" charset="-122"/>
              <a:sym typeface="Symbol" panose="05050102010706020507" pitchFamily="18" charset="2"/>
            </a:endParaRPr>
          </a:p>
        </p:txBody>
      </p:sp>
      <p:sp>
        <p:nvSpPr>
          <p:cNvPr id="126981" name="文本框 126980"/>
          <p:cNvSpPr txBox="1"/>
          <p:nvPr/>
        </p:nvSpPr>
        <p:spPr>
          <a:xfrm>
            <a:off x="781368" y="1915795"/>
            <a:ext cx="7580312" cy="2799715"/>
          </a:xfrm>
          <a:prstGeom prst="rect">
            <a:avLst/>
          </a:prstGeom>
          <a:solidFill>
            <a:srgbClr val="FAFEDE"/>
          </a:solidFill>
          <a:ln w="9525">
            <a:noFill/>
          </a:ln>
        </p:spPr>
        <p:txBody>
          <a:bodyPr>
            <a:spAutoFit/>
          </a:bodyPr>
          <a:lstStyle/>
          <a:p>
            <a:pPr>
              <a:spcBef>
                <a:spcPct val="50000"/>
              </a:spcBef>
            </a:pPr>
            <a:r>
              <a:rPr lang="zh-CN" altLang="en-US" sz="32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谓词－大写字母； </a:t>
            </a:r>
            <a:r>
              <a:rPr lang="en-US" altLang="zh-CN" sz="3200">
                <a:latin typeface="Times New Roman" panose="02020603050405020304" pitchFamily="18" charset="0"/>
                <a:ea typeface="微软雅黑" panose="020B0503020204020204" charset="-122"/>
                <a:cs typeface="Times New Roman" panose="02020603050405020304" pitchFamily="18" charset="0"/>
              </a:rPr>
              <a:t>P(x,y)</a:t>
            </a:r>
            <a:endParaRPr lang="en-US" altLang="zh-CN"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a:spcBef>
                <a:spcPct val="50000"/>
              </a:spcBef>
            </a:pPr>
            <a:r>
              <a:rPr lang="zh-CN" altLang="en-US" sz="32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函数－小写字母；</a:t>
            </a:r>
            <a:r>
              <a:rPr lang="en-US" altLang="zh-CN"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f(x)</a:t>
            </a:r>
            <a:endParaRPr lang="en-US" altLang="zh-CN"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a:spcBef>
                <a:spcPct val="50000"/>
              </a:spcBef>
            </a:pPr>
            <a:r>
              <a:rPr lang="zh-CN" altLang="en-US" sz="32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变量－ </a:t>
            </a:r>
            <a:r>
              <a:rPr lang="en-US" altLang="zh-CN"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y</a:t>
            </a:r>
            <a:r>
              <a:rPr lang="zh-CN" altLang="en-US"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z</a:t>
            </a:r>
            <a:r>
              <a:rPr lang="zh-CN" altLang="en-US"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u</a:t>
            </a:r>
            <a:r>
              <a:rPr lang="zh-CN" altLang="en-US"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v……</a:t>
            </a:r>
            <a:r>
              <a:rPr lang="zh-CN" altLang="en-US"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endParaRPr lang="zh-CN" altLang="en-US"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a:spcBef>
                <a:spcPct val="50000"/>
              </a:spcBef>
            </a:pPr>
            <a:r>
              <a:rPr lang="zh-CN" altLang="en-US" sz="32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常量－</a:t>
            </a:r>
            <a:r>
              <a:rPr lang="en-US" altLang="zh-CN"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a:t>
            </a:r>
            <a:r>
              <a:rPr lang="zh-CN" altLang="en-US"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b</a:t>
            </a:r>
            <a:r>
              <a:rPr lang="zh-CN" altLang="en-US"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c…….</a:t>
            </a:r>
            <a:r>
              <a:rPr lang="zh-CN" altLang="en-US" sz="32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3200" err="1">
                <a:latin typeface="Times New Roman" panose="02020603050405020304" pitchFamily="18" charset="0"/>
                <a:ea typeface="微软雅黑" panose="020B0503020204020204" charset="-122"/>
                <a:cs typeface="Times New Roman" panose="02020603050405020304" pitchFamily="18" charset="0"/>
              </a:rPr>
              <a:t>P(a,y</a:t>
            </a:r>
            <a:r>
              <a:rPr lang="en-US" altLang="zh-CN" sz="3200">
                <a:latin typeface="Times New Roman" panose="02020603050405020304" pitchFamily="18" charset="0"/>
                <a:ea typeface="微软雅黑" panose="020B0503020204020204" charset="-122"/>
                <a:cs typeface="Times New Roman" panose="02020603050405020304" pitchFamily="18" charset="0"/>
              </a:rPr>
              <a:t>)</a:t>
            </a:r>
            <a:endParaRPr lang="en-US" altLang="zh-CN" sz="3200">
              <a:latin typeface="Times New Roman" panose="02020603050405020304" pitchFamily="18" charset="0"/>
              <a:ea typeface="微软雅黑" panose="020B0503020204020204"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9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1"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t>一阶谓词</a:t>
            </a:r>
            <a:endParaRPr lang="zh-CN" altLang="en-US" sz="2400"/>
          </a:p>
        </p:txBody>
      </p:sp>
      <p:sp>
        <p:nvSpPr>
          <p:cNvPr id="8" name="文本框 7"/>
          <p:cNvSpPr txBox="1"/>
          <p:nvPr/>
        </p:nvSpPr>
        <p:spPr>
          <a:xfrm>
            <a:off x="502285" y="1102995"/>
            <a:ext cx="8281035" cy="1938020"/>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000">
                <a:latin typeface="微软雅黑" panose="020B0503020204020204" charset="-122"/>
                <a:ea typeface="微软雅黑" panose="020B0503020204020204" charset="-122"/>
                <a:cs typeface="微软雅黑" panose="020B0503020204020204" charset="-122"/>
              </a:rPr>
              <a:t>在n元谓词P</a:t>
            </a:r>
            <a:r>
              <a:rPr lang="en-US" altLang="zh-CN" sz="2000">
                <a:latin typeface="微软雅黑" panose="020B0503020204020204" charset="-122"/>
                <a:ea typeface="微软雅黑" panose="020B0503020204020204" charset="-122"/>
                <a:cs typeface="微软雅黑" panose="020B0503020204020204" charset="-122"/>
              </a:rPr>
              <a:t>(</a:t>
            </a:r>
            <a:r>
              <a:rPr lang="zh-CN" altLang="en-US" sz="2000">
                <a:latin typeface="微软雅黑" panose="020B0503020204020204" charset="-122"/>
                <a:ea typeface="微软雅黑" panose="020B0503020204020204" charset="-122"/>
                <a:cs typeface="微软雅黑" panose="020B0503020204020204" charset="-122"/>
              </a:rPr>
              <a:t>x1，X2，…xn</a:t>
            </a:r>
            <a:r>
              <a:rPr lang="en-US" altLang="zh-CN" sz="2000">
                <a:latin typeface="微软雅黑" panose="020B0503020204020204" charset="-122"/>
                <a:ea typeface="微软雅黑" panose="020B0503020204020204" charset="-122"/>
                <a:cs typeface="微软雅黑" panose="020B0503020204020204" charset="-122"/>
              </a:rPr>
              <a:t>)</a:t>
            </a:r>
            <a:r>
              <a:rPr lang="zh-CN" altLang="en-US" sz="2000">
                <a:latin typeface="微软雅黑" panose="020B0503020204020204" charset="-122"/>
                <a:ea typeface="微软雅黑" panose="020B0503020204020204" charset="-122"/>
                <a:cs typeface="微软雅黑" panose="020B0503020204020204" charset="-122"/>
              </a:rPr>
              <a:t>中，若每个个体均为</a:t>
            </a:r>
            <a:r>
              <a:rPr lang="zh-CN" altLang="en-US" sz="2000" b="1">
                <a:solidFill>
                  <a:srgbClr val="0000FF"/>
                </a:solidFill>
                <a:latin typeface="微软雅黑" panose="020B0503020204020204" charset="-122"/>
                <a:ea typeface="微软雅黑" panose="020B0503020204020204" charset="-122"/>
                <a:cs typeface="微软雅黑" panose="020B0503020204020204" charset="-122"/>
              </a:rPr>
              <a:t>常量、变元</a:t>
            </a:r>
            <a:r>
              <a:rPr lang="zh-CN" altLang="en-US" sz="2000">
                <a:latin typeface="微软雅黑" panose="020B0503020204020204" charset="-122"/>
                <a:ea typeface="微软雅黑" panose="020B0503020204020204" charset="-122"/>
                <a:cs typeface="微软雅黑" panose="020B0503020204020204" charset="-122"/>
              </a:rPr>
              <a:t>或</a:t>
            </a:r>
            <a:r>
              <a:rPr lang="zh-CN" altLang="en-US" sz="2000" b="1">
                <a:solidFill>
                  <a:srgbClr val="0000FF"/>
                </a:solidFill>
                <a:latin typeface="微软雅黑" panose="020B0503020204020204" charset="-122"/>
                <a:ea typeface="微软雅黑" panose="020B0503020204020204" charset="-122"/>
                <a:cs typeface="微软雅黑" panose="020B0503020204020204" charset="-122"/>
              </a:rPr>
              <a:t>函数</a:t>
            </a:r>
            <a:r>
              <a:rPr lang="zh-CN" altLang="en-US" sz="2000">
                <a:latin typeface="微软雅黑" panose="020B0503020204020204" charset="-122"/>
                <a:ea typeface="微软雅黑" panose="020B0503020204020204" charset="-122"/>
                <a:cs typeface="微软雅黑" panose="020B0503020204020204" charset="-122"/>
              </a:rPr>
              <a:t>，则称它为一阶谓词。</a:t>
            </a:r>
            <a:endParaRPr lang="zh-CN" altLang="en-US" sz="2000">
              <a:latin typeface="微软雅黑" panose="020B0503020204020204" charset="-122"/>
              <a:ea typeface="微软雅黑" panose="020B0503020204020204" charset="-122"/>
              <a:cs typeface="微软雅黑" panose="020B0503020204020204" charset="-122"/>
            </a:endParaRPr>
          </a:p>
          <a:p>
            <a:pPr marL="285750" indent="-285750">
              <a:lnSpc>
                <a:spcPct val="150000"/>
              </a:lnSpc>
              <a:buFont typeface="Arial" panose="020B0604020202020204" pitchFamily="34" charset="0"/>
              <a:buChar char="•"/>
            </a:pPr>
            <a:r>
              <a:rPr lang="zh-CN" altLang="en-US" sz="2000">
                <a:latin typeface="微软雅黑" panose="020B0503020204020204" charset="-122"/>
                <a:ea typeface="微软雅黑" panose="020B0503020204020204" charset="-122"/>
                <a:cs typeface="微软雅黑" panose="020B0503020204020204" charset="-122"/>
              </a:rPr>
              <a:t>如果某个个体本身又是一个一阶谓词，则称它为二阶谓词，如此类推。</a:t>
            </a:r>
            <a:endParaRPr lang="zh-CN" altLang="en-US" sz="2000">
              <a:latin typeface="微软雅黑" panose="020B0503020204020204" charset="-122"/>
              <a:ea typeface="微软雅黑" panose="020B0503020204020204" charset="-122"/>
              <a:cs typeface="微软雅黑" panose="020B0503020204020204" charset="-122"/>
            </a:endParaRPr>
          </a:p>
          <a:p>
            <a:pPr marL="285750" indent="-285750">
              <a:lnSpc>
                <a:spcPct val="150000"/>
              </a:lnSpc>
              <a:buFont typeface="Arial" panose="020B0604020202020204" pitchFamily="34" charset="0"/>
              <a:buChar char="•"/>
            </a:pP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1417320" y="2877185"/>
            <a:ext cx="6729730" cy="645160"/>
          </a:xfrm>
          <a:prstGeom prst="rect">
            <a:avLst/>
          </a:prstGeom>
        </p:spPr>
        <p:style>
          <a:lnRef idx="2">
            <a:schemeClr val="accent4"/>
          </a:lnRef>
          <a:fillRef idx="1">
            <a:schemeClr val="lt1"/>
          </a:fillRef>
          <a:effectRef idx="0">
            <a:schemeClr val="accent4"/>
          </a:effectRef>
          <a:fontRef idx="minor">
            <a:schemeClr val="dk1"/>
          </a:fontRef>
        </p:style>
        <p:txBody>
          <a:bodyPr wrap="square" rtlCol="0" anchor="t">
            <a:spAutoFit/>
          </a:bodyPr>
          <a:lstStyle/>
          <a:p>
            <a:r>
              <a:rPr lang="zh-CN" altLang="en-US">
                <a:sym typeface="+mn-ea"/>
              </a:rPr>
              <a:t>高阶逻辑：把一阶逻辑中的关系和函数本身也视为对象。</a:t>
            </a:r>
            <a:endParaRPr lang="zh-CN" altLang="en-US"/>
          </a:p>
          <a:p>
            <a:pPr algn="l">
              <a:buClrTx/>
              <a:buSzTx/>
              <a:buFontTx/>
            </a:pPr>
            <a:r>
              <a:rPr lang="zh-CN" altLang="en-US" sz="1800">
                <a:sym typeface="+mn-ea"/>
              </a:rPr>
              <a:t>比一阶逻辑的表达能力更强。</a:t>
            </a:r>
            <a:endParaRPr lang="zh-CN" altLang="en-US" sz="1800">
              <a:sym typeface="+mn-ea"/>
            </a:endParaRPr>
          </a:p>
        </p:txBody>
      </p:sp>
      <p:pic>
        <p:nvPicPr>
          <p:cNvPr id="101" name="图片 100"/>
          <p:cNvPicPr/>
          <p:nvPr/>
        </p:nvPicPr>
        <p:blipFill>
          <a:blip r:embed="rId1"/>
          <a:stretch>
            <a:fillRect/>
          </a:stretch>
        </p:blipFill>
        <p:spPr>
          <a:xfrm>
            <a:off x="1516380" y="3628390"/>
            <a:ext cx="6253480" cy="2599690"/>
          </a:xfrm>
          <a:prstGeom prst="rect">
            <a:avLst/>
          </a:prstGeom>
          <a:noFill/>
          <a:ln w="9525">
            <a:noFill/>
          </a:ln>
        </p:spPr>
      </p:pic>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2285" y="498475"/>
            <a:ext cx="8139430" cy="521335"/>
          </a:xfrm>
        </p:spPr>
        <p:txBody>
          <a:bodyPr/>
          <a:lstStyle/>
          <a:p>
            <a:r>
              <a:rPr sz="3200">
                <a:solidFill>
                  <a:srgbClr val="0000FF"/>
                </a:solidFill>
                <a:latin typeface="微软雅黑" panose="020B0503020204020204" charset="-122"/>
                <a:sym typeface="+mn-ea"/>
              </a:rPr>
              <a:t>练习：定义谓词</a:t>
            </a:r>
            <a:br>
              <a:rPr lang="zh-CN" altLang="en-US" b="1"/>
            </a:br>
            <a:endParaRPr lang="zh-CN" altLang="en-US"/>
          </a:p>
        </p:txBody>
      </p:sp>
      <p:sp>
        <p:nvSpPr>
          <p:cNvPr id="11267" name="文本占位符 11266"/>
          <p:cNvSpPr>
            <a:spLocks noGrp="1" noRot="1"/>
          </p:cNvSpPr>
          <p:nvPr/>
        </p:nvSpPr>
        <p:spPr>
          <a:xfrm>
            <a:off x="114300" y="1310005"/>
            <a:ext cx="9029700" cy="4924425"/>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folHlink"/>
              </a:buClr>
              <a:buFont typeface="Wingdings" panose="05000000000000000000" pitchFamily="2" charset="2"/>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lr>
                <a:schemeClr val="hlink"/>
              </a:buClr>
              <a:buFontTx/>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lr>
                <a:schemeClr val="folHlink"/>
              </a:buClr>
              <a:buFont typeface="Wingdings" panose="05000000000000000000" pitchFamily="2" charset="2"/>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lr>
                <a:schemeClr val="hlink"/>
              </a:buClr>
              <a:buSzPct val="115000"/>
              <a:buFontTx/>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mn-lt"/>
                <a:ea typeface="+mn-ea"/>
                <a:cs typeface="+mn-cs"/>
              </a:defRPr>
            </a:lvl9pPr>
          </a:lstStyle>
          <a:p>
            <a:pPr marL="330835" lvl="1" indent="-25400">
              <a:lnSpc>
                <a:spcPct val="90000"/>
              </a:lnSpc>
              <a:buNone/>
            </a:pPr>
            <a:r>
              <a:rPr lang="en-US" altLang="zh-CN" sz="2400" b="1"/>
              <a:t>1</a:t>
            </a:r>
            <a:r>
              <a:rPr lang="zh-CN" altLang="en-US" sz="2400" b="1"/>
              <a:t>、小李与小张打网球</a:t>
            </a:r>
            <a:endParaRPr lang="zh-CN" altLang="en-US" sz="2400" b="1"/>
          </a:p>
          <a:p>
            <a:pPr marL="330835" lvl="1" indent="-25400">
              <a:lnSpc>
                <a:spcPct val="90000"/>
              </a:lnSpc>
              <a:buNone/>
            </a:pPr>
            <a:r>
              <a:rPr lang="zh-CN" altLang="en-US" sz="2400" b="1"/>
              <a:t>     </a:t>
            </a:r>
            <a:r>
              <a:rPr lang="en-US" altLang="zh-CN" sz="2000" b="1" i="1">
                <a:latin typeface="Times New Roman" panose="02020603050405020304" pitchFamily="18" charset="0"/>
              </a:rPr>
              <a:t>Play</a:t>
            </a:r>
            <a:r>
              <a:rPr lang="en-US" altLang="zh-CN" sz="2000" b="1">
                <a:latin typeface="Times New Roman" panose="02020603050405020304" pitchFamily="18" charset="0"/>
              </a:rPr>
              <a:t>(</a:t>
            </a:r>
            <a:r>
              <a:rPr lang="en-US" altLang="zh-CN" sz="2000" b="1" i="1">
                <a:latin typeface="Times New Roman" panose="02020603050405020304" pitchFamily="18" charset="0"/>
              </a:rPr>
              <a:t>x,y,z</a:t>
            </a:r>
            <a:r>
              <a:rPr lang="en-US" altLang="zh-CN" sz="2000" b="1">
                <a:latin typeface="Times New Roman" panose="02020603050405020304" pitchFamily="18" charset="0"/>
              </a:rPr>
              <a:t>)</a:t>
            </a:r>
            <a:r>
              <a:rPr lang="zh-CN" altLang="en-US" sz="2000" b="1">
                <a:latin typeface="Times New Roman" panose="02020603050405020304" pitchFamily="18" charset="0"/>
              </a:rPr>
              <a:t>表示</a:t>
            </a:r>
            <a:r>
              <a:rPr lang="en-US" altLang="zh-CN" sz="2000" b="1" i="1">
                <a:latin typeface="Times New Roman" panose="02020603050405020304" pitchFamily="18" charset="0"/>
              </a:rPr>
              <a:t>x,y</a:t>
            </a:r>
            <a:r>
              <a:rPr lang="zh-CN" altLang="en-US" sz="2000" b="1">
                <a:latin typeface="Times New Roman" panose="02020603050405020304" pitchFamily="18" charset="0"/>
              </a:rPr>
              <a:t>在进行</a:t>
            </a:r>
            <a:r>
              <a:rPr lang="en-US" altLang="zh-CN" sz="2000" b="1" i="1">
                <a:latin typeface="Times New Roman" panose="02020603050405020304" pitchFamily="18" charset="0"/>
              </a:rPr>
              <a:t>z </a:t>
            </a:r>
            <a:r>
              <a:rPr lang="zh-CN" altLang="en-US" sz="2000" b="1">
                <a:latin typeface="Times New Roman" panose="02020603050405020304" pitchFamily="18" charset="0"/>
              </a:rPr>
              <a:t>运动</a:t>
            </a:r>
            <a:endParaRPr lang="zh-CN" altLang="en-US" sz="2000" b="1">
              <a:latin typeface="Times New Roman" panose="02020603050405020304" pitchFamily="18" charset="0"/>
            </a:endParaRPr>
          </a:p>
          <a:p>
            <a:pPr marL="330835" lvl="1" indent="-25400">
              <a:lnSpc>
                <a:spcPct val="90000"/>
              </a:lnSpc>
              <a:buNone/>
            </a:pPr>
            <a:r>
              <a:rPr lang="zh-CN" altLang="en-US" sz="2000"/>
              <a:t>      </a:t>
            </a:r>
            <a:r>
              <a:rPr lang="en-US" altLang="zh-CN" sz="2000" b="1" i="1">
                <a:latin typeface="Times New Roman" panose="02020603050405020304" pitchFamily="18" charset="0"/>
              </a:rPr>
              <a:t>Play </a:t>
            </a:r>
            <a:r>
              <a:rPr lang="en-US" altLang="zh-CN" sz="2000" b="1">
                <a:latin typeface="Times New Roman" panose="02020603050405020304" pitchFamily="18" charset="0"/>
              </a:rPr>
              <a:t>( </a:t>
            </a:r>
            <a:r>
              <a:rPr lang="en-US" altLang="zh-CN" sz="2000" b="1" i="1">
                <a:latin typeface="Times New Roman" panose="02020603050405020304" pitchFamily="18" charset="0"/>
              </a:rPr>
              <a:t>Li</a:t>
            </a:r>
            <a:r>
              <a:rPr lang="en-US" altLang="zh-CN" sz="2000" b="1">
                <a:latin typeface="Times New Roman" panose="02020603050405020304" pitchFamily="18" charset="0"/>
              </a:rPr>
              <a:t>, </a:t>
            </a:r>
            <a:r>
              <a:rPr lang="en-US" altLang="zh-CN" sz="2000" b="1" i="1">
                <a:latin typeface="Times New Roman" panose="02020603050405020304" pitchFamily="18" charset="0"/>
              </a:rPr>
              <a:t>Zhang, tennis</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marL="330835" lvl="1" indent="-25400">
              <a:lnSpc>
                <a:spcPct val="90000"/>
              </a:lnSpc>
              <a:buNone/>
            </a:pPr>
            <a:endParaRPr lang="en-US" altLang="zh-CN" sz="2400" b="1"/>
          </a:p>
          <a:p>
            <a:pPr marL="330835" lvl="1" indent="-25400">
              <a:lnSpc>
                <a:spcPct val="90000"/>
              </a:lnSpc>
              <a:buNone/>
            </a:pPr>
            <a:r>
              <a:rPr lang="en-US" altLang="zh-CN" sz="2400" b="1"/>
              <a:t>2</a:t>
            </a:r>
            <a:r>
              <a:rPr lang="zh-CN" altLang="en-US" sz="2400" b="1"/>
              <a:t>、我在浙江大学当教师</a:t>
            </a:r>
            <a:endParaRPr lang="zh-CN" altLang="en-US" sz="2400" b="1"/>
          </a:p>
          <a:p>
            <a:pPr marL="330835" lvl="1" indent="-25400">
              <a:lnSpc>
                <a:spcPct val="90000"/>
              </a:lnSpc>
              <a:buNone/>
            </a:pPr>
            <a:r>
              <a:rPr lang="zh-CN" altLang="en-US" sz="2400" b="1"/>
              <a:t>      </a:t>
            </a:r>
            <a:r>
              <a:rPr lang="en-US" altLang="zh-CN" sz="2000" b="1" i="1">
                <a:latin typeface="Times New Roman" panose="02020603050405020304" pitchFamily="18" charset="0"/>
              </a:rPr>
              <a:t>Work </a:t>
            </a:r>
            <a:r>
              <a:rPr lang="en-US" altLang="zh-CN" sz="2000" b="1">
                <a:latin typeface="Times New Roman" panose="02020603050405020304" pitchFamily="18" charset="0"/>
              </a:rPr>
              <a:t>( </a:t>
            </a:r>
            <a:r>
              <a:rPr lang="en-US" altLang="zh-CN" sz="2000" b="1" i="1">
                <a:latin typeface="Times New Roman" panose="02020603050405020304" pitchFamily="18" charset="0"/>
              </a:rPr>
              <a:t>x</a:t>
            </a:r>
            <a:r>
              <a:rPr lang="en-US" altLang="zh-CN" sz="2000" b="1">
                <a:latin typeface="Times New Roman" panose="02020603050405020304" pitchFamily="18" charset="0"/>
              </a:rPr>
              <a:t>, </a:t>
            </a:r>
            <a:r>
              <a:rPr lang="en-US" altLang="zh-CN" sz="2000" b="1" i="1">
                <a:latin typeface="Times New Roman" panose="02020603050405020304" pitchFamily="18" charset="0"/>
              </a:rPr>
              <a:t>y, z</a:t>
            </a:r>
            <a:r>
              <a:rPr lang="en-US" altLang="zh-CN" sz="2000" b="1">
                <a:latin typeface="Times New Roman" panose="02020603050405020304" pitchFamily="18" charset="0"/>
              </a:rPr>
              <a:t>)</a:t>
            </a:r>
            <a:r>
              <a:rPr lang="zh-CN" altLang="en-US" sz="2000" b="1">
                <a:latin typeface="Times New Roman" panose="02020603050405020304" pitchFamily="18" charset="0"/>
              </a:rPr>
              <a:t>表示</a:t>
            </a:r>
            <a:r>
              <a:rPr lang="en-US" altLang="zh-CN" sz="2000" b="1" i="1">
                <a:latin typeface="Times New Roman" panose="02020603050405020304" pitchFamily="18" charset="0"/>
              </a:rPr>
              <a:t>x</a:t>
            </a:r>
            <a:r>
              <a:rPr lang="zh-CN" altLang="en-US" sz="2000" b="1">
                <a:latin typeface="Times New Roman" panose="02020603050405020304" pitchFamily="18" charset="0"/>
              </a:rPr>
              <a:t>在</a:t>
            </a:r>
            <a:r>
              <a:rPr lang="en-US" altLang="zh-CN" sz="2000" b="1" i="1">
                <a:latin typeface="Times New Roman" panose="02020603050405020304" pitchFamily="18" charset="0"/>
              </a:rPr>
              <a:t>y</a:t>
            </a:r>
            <a:r>
              <a:rPr lang="zh-CN" altLang="en-US" sz="2000" b="1">
                <a:latin typeface="Times New Roman" panose="02020603050405020304" pitchFamily="18" charset="0"/>
              </a:rPr>
              <a:t>单位从事</a:t>
            </a:r>
            <a:r>
              <a:rPr lang="en-US" altLang="zh-CN" sz="2000" b="1" i="1">
                <a:latin typeface="Times New Roman" panose="02020603050405020304" pitchFamily="18" charset="0"/>
              </a:rPr>
              <a:t>z </a:t>
            </a:r>
            <a:r>
              <a:rPr lang="zh-CN" altLang="en-US" sz="2000" b="1">
                <a:latin typeface="Times New Roman" panose="02020603050405020304" pitchFamily="18" charset="0"/>
              </a:rPr>
              <a:t>工作</a:t>
            </a:r>
            <a:endParaRPr lang="zh-CN" altLang="en-US" sz="2000" b="1">
              <a:latin typeface="Times New Roman" panose="02020603050405020304" pitchFamily="18" charset="0"/>
            </a:endParaRPr>
          </a:p>
          <a:p>
            <a:pPr marL="330835" lvl="1" indent="-25400">
              <a:lnSpc>
                <a:spcPct val="90000"/>
              </a:lnSpc>
              <a:buNone/>
            </a:pPr>
            <a:r>
              <a:rPr lang="zh-CN" altLang="en-US" sz="2000" b="1" i="1">
                <a:latin typeface="Times New Roman" panose="02020603050405020304" pitchFamily="18" charset="0"/>
              </a:rPr>
              <a:t>        </a:t>
            </a:r>
            <a:r>
              <a:rPr lang="en-US" altLang="zh-CN" sz="2000" b="1" i="1">
                <a:latin typeface="Times New Roman" panose="02020603050405020304" pitchFamily="18" charset="0"/>
              </a:rPr>
              <a:t>Work </a:t>
            </a:r>
            <a:r>
              <a:rPr lang="en-US" altLang="zh-CN" sz="2000" b="1">
                <a:latin typeface="Times New Roman" panose="02020603050405020304" pitchFamily="18" charset="0"/>
              </a:rPr>
              <a:t>( </a:t>
            </a:r>
            <a:r>
              <a:rPr lang="en-US" altLang="zh-CN" sz="2000" b="1" i="1">
                <a:latin typeface="Times New Roman" panose="02020603050405020304" pitchFamily="18" charset="0"/>
              </a:rPr>
              <a:t>I</a:t>
            </a:r>
            <a:r>
              <a:rPr lang="en-US" altLang="zh-CN" sz="2000" b="1">
                <a:latin typeface="Times New Roman" panose="02020603050405020304" pitchFamily="18" charset="0"/>
              </a:rPr>
              <a:t>, </a:t>
            </a:r>
            <a:r>
              <a:rPr lang="en-US" altLang="zh-CN" sz="2000" b="1" i="1">
                <a:latin typeface="Times New Roman" panose="02020603050405020304" pitchFamily="18" charset="0"/>
              </a:rPr>
              <a:t>ZJU, teacher</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marL="330835" lvl="1" indent="-25400">
              <a:lnSpc>
                <a:spcPct val="90000"/>
              </a:lnSpc>
              <a:buNone/>
            </a:pPr>
            <a:endParaRPr lang="en-US" altLang="zh-CN" sz="2400" b="1"/>
          </a:p>
          <a:p>
            <a:pPr marL="330835" lvl="1" indent="-25400">
              <a:lnSpc>
                <a:spcPct val="90000"/>
              </a:lnSpc>
              <a:buNone/>
            </a:pPr>
            <a:r>
              <a:rPr lang="en-US" altLang="zh-CN" sz="2400" b="1"/>
              <a:t>3</a:t>
            </a:r>
            <a:r>
              <a:rPr lang="zh-CN" altLang="en-US" sz="2400" b="1"/>
              <a:t>、某个房间有电灯、有空调、没有香味、没有投影、没有阳光</a:t>
            </a:r>
            <a:endParaRPr lang="zh-CN" altLang="en-US" sz="2400" b="1"/>
          </a:p>
          <a:p>
            <a:pPr lvl="1">
              <a:lnSpc>
                <a:spcPct val="120000"/>
              </a:lnSpc>
              <a:buNone/>
            </a:pPr>
            <a:r>
              <a:rPr lang="zh-CN" altLang="en-US" sz="2000" b="1" i="1">
                <a:latin typeface="Times New Roman" panose="02020603050405020304" pitchFamily="18" charset="0"/>
              </a:rPr>
              <a:t>     </a:t>
            </a:r>
            <a:r>
              <a:rPr lang="en-US" altLang="zh-CN" sz="2000" b="1" i="1">
                <a:latin typeface="Times New Roman" panose="02020603050405020304" pitchFamily="18" charset="0"/>
              </a:rPr>
              <a:t>Room</a:t>
            </a:r>
            <a:r>
              <a:rPr lang="en-US" altLang="zh-CN" sz="2000" b="1" i="1" baseline="-25000">
                <a:latin typeface="Times New Roman" panose="02020603050405020304" pitchFamily="18" charset="0"/>
              </a:rPr>
              <a:t>i,j</a:t>
            </a:r>
            <a:r>
              <a:rPr lang="en-US" altLang="zh-CN" sz="2000" b="1" i="1">
                <a:latin typeface="Times New Roman" panose="02020603050405020304" pitchFamily="18" charset="0"/>
              </a:rPr>
              <a:t> </a:t>
            </a:r>
            <a:r>
              <a:rPr lang="en-US" altLang="zh-CN" sz="2000" b="1">
                <a:latin typeface="Times New Roman" panose="02020603050405020304" pitchFamily="18" charset="0"/>
              </a:rPr>
              <a:t>( </a:t>
            </a:r>
            <a:r>
              <a:rPr lang="en-US" altLang="zh-CN" sz="2000" b="1" i="1">
                <a:latin typeface="Times New Roman" panose="02020603050405020304" pitchFamily="18" charset="0"/>
              </a:rPr>
              <a:t>x</a:t>
            </a:r>
            <a:r>
              <a:rPr lang="en-US" altLang="zh-CN" sz="2000" b="1">
                <a:latin typeface="Times New Roman" panose="02020603050405020304" pitchFamily="18" charset="0"/>
              </a:rPr>
              <a:t>, </a:t>
            </a:r>
            <a:r>
              <a:rPr lang="en-US" altLang="zh-CN" sz="2000" b="1" i="1">
                <a:latin typeface="Times New Roman" panose="02020603050405020304" pitchFamily="18" charset="0"/>
              </a:rPr>
              <a:t>y, z, m, n</a:t>
            </a:r>
            <a:r>
              <a:rPr lang="en-US" altLang="zh-CN" sz="2000" b="1">
                <a:latin typeface="Times New Roman" panose="02020603050405020304" pitchFamily="18" charset="0"/>
              </a:rPr>
              <a:t>) </a:t>
            </a:r>
            <a:r>
              <a:rPr lang="zh-CN" altLang="en-US" sz="2400" b="1"/>
              <a:t>参数分别对应有没有电灯、空调、香味、投影、阳光</a:t>
            </a:r>
            <a:endParaRPr lang="zh-CN" altLang="en-US" sz="2400" b="1"/>
          </a:p>
          <a:p>
            <a:pPr lvl="1">
              <a:lnSpc>
                <a:spcPct val="120000"/>
              </a:lnSpc>
              <a:buNone/>
            </a:pPr>
            <a:r>
              <a:rPr lang="zh-CN" altLang="en-US" sz="2400" b="1"/>
              <a:t>    </a:t>
            </a:r>
            <a:r>
              <a:rPr lang="en-US" altLang="zh-CN" sz="2000" b="1" i="1">
                <a:latin typeface="Times New Roman" panose="02020603050405020304" pitchFamily="18" charset="0"/>
              </a:rPr>
              <a:t>Room</a:t>
            </a:r>
            <a:r>
              <a:rPr lang="en-US" altLang="zh-CN" sz="2000" b="1" i="1" baseline="-25000">
                <a:latin typeface="Times New Roman" panose="02020603050405020304" pitchFamily="18" charset="0"/>
              </a:rPr>
              <a:t>i,j</a:t>
            </a:r>
            <a:r>
              <a:rPr lang="en-US" altLang="zh-CN" sz="2000" b="1">
                <a:latin typeface="Times New Roman" panose="02020603050405020304" pitchFamily="18" charset="0"/>
              </a:rPr>
              <a:t>( </a:t>
            </a:r>
            <a:r>
              <a:rPr lang="en-US" altLang="zh-CN" sz="2000" b="1" i="1">
                <a:latin typeface="Times New Roman" panose="02020603050405020304" pitchFamily="18" charset="0"/>
              </a:rPr>
              <a:t>1</a:t>
            </a:r>
            <a:r>
              <a:rPr lang="en-US" altLang="zh-CN" sz="2000" b="1">
                <a:latin typeface="Times New Roman" panose="02020603050405020304" pitchFamily="18" charset="0"/>
              </a:rPr>
              <a:t>, </a:t>
            </a:r>
            <a:r>
              <a:rPr lang="en-US" altLang="zh-CN" sz="2000" b="1" i="1">
                <a:latin typeface="Times New Roman" panose="02020603050405020304" pitchFamily="18" charset="0"/>
              </a:rPr>
              <a:t>1, 0, 0, 0</a:t>
            </a:r>
            <a:r>
              <a:rPr lang="en-US" altLang="zh-CN" sz="2000" b="1">
                <a:latin typeface="Times New Roman" panose="02020603050405020304" pitchFamily="18" charset="0"/>
              </a:rPr>
              <a:t>)</a:t>
            </a:r>
            <a:endParaRPr lang="en-US" altLang="zh-CN" sz="2000" b="1">
              <a:latin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267">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6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http://photo-static-api.fotomore.com/creative/vcg/400/new/VCG211237227584.jpg" descr="templates\picture_hover\&amp;pky220_sjzg_VCG211237227584&amp;2&amp;src_toppic_inpsrchzd1&amp;"/>
          <p:cNvPicPr>
            <a:picLocks noChangeAspect="1"/>
          </p:cNvPicPr>
          <p:nvPr/>
        </p:nvPicPr>
        <p:blipFill>
          <a:blip r:embed="rId1">
            <a:clrChange>
              <a:clrFrom>
                <a:srgbClr val="72C9C3">
                  <a:alpha val="100000"/>
                </a:srgbClr>
              </a:clrFrom>
              <a:clrTo>
                <a:srgbClr val="72C9C3">
                  <a:alpha val="100000"/>
                  <a:alpha val="0"/>
                </a:srgbClr>
              </a:clrTo>
            </a:clrChange>
          </a:blip>
          <a:stretch>
            <a:fillRect/>
          </a:stretch>
        </p:blipFill>
        <p:spPr>
          <a:xfrm>
            <a:off x="4460240" y="4166235"/>
            <a:ext cx="2691765" cy="2691765"/>
          </a:xfrm>
          <a:prstGeom prst="rect">
            <a:avLst/>
          </a:prstGeom>
        </p:spPr>
      </p:pic>
      <p:sp>
        <p:nvSpPr>
          <p:cNvPr id="14339" name="文本占位符 14338"/>
          <p:cNvSpPr>
            <a:spLocks noGrp="1" noRot="1"/>
          </p:cNvSpPr>
          <p:nvPr>
            <p:ph type="body" idx="1"/>
          </p:nvPr>
        </p:nvSpPr>
        <p:spPr>
          <a:xfrm>
            <a:off x="225425" y="128588"/>
            <a:ext cx="8540750" cy="4270375"/>
          </a:xfrm>
        </p:spPr>
        <p:txBody>
          <a:bodyPr/>
          <a:lstStyle/>
          <a:p>
            <a:r>
              <a:rPr lang="zh-CN" altLang="en-US" sz="2000" b="1"/>
              <a:t>例</a:t>
            </a:r>
            <a:r>
              <a:rPr lang="en-US" altLang="zh-CN" sz="2000" b="1"/>
              <a:t>. </a:t>
            </a:r>
            <a:r>
              <a:rPr lang="zh-CN" altLang="en-US" sz="2000" b="1"/>
              <a:t>房间里有机器人</a:t>
            </a:r>
            <a:r>
              <a:rPr lang="en-US" altLang="zh-CN" sz="2000" b="1" i="1">
                <a:latin typeface="Times New Roman" panose="02020603050405020304" pitchFamily="18" charset="0"/>
              </a:rPr>
              <a:t>Robot</a:t>
            </a:r>
            <a:r>
              <a:rPr lang="zh-CN" altLang="en-US" sz="2000" b="1"/>
              <a:t>、积木块</a:t>
            </a:r>
            <a:r>
              <a:rPr lang="en-US" altLang="zh-CN" sz="2000" b="1" i="1">
                <a:latin typeface="Times New Roman" panose="02020603050405020304" pitchFamily="18" charset="0"/>
              </a:rPr>
              <a:t>Box</a:t>
            </a:r>
            <a:r>
              <a:rPr lang="en-US" altLang="zh-CN" sz="2000" b="1"/>
              <a:t> </a:t>
            </a:r>
            <a:r>
              <a:rPr lang="zh-CN" altLang="en-US" sz="2000" b="1"/>
              <a:t>、两个桌子</a:t>
            </a:r>
            <a:r>
              <a:rPr lang="en-US" altLang="zh-CN" sz="2000" b="1" i="1">
                <a:latin typeface="Times New Roman" panose="02020603050405020304" pitchFamily="18" charset="0"/>
              </a:rPr>
              <a:t>A</a:t>
            </a:r>
            <a:r>
              <a:rPr lang="zh-CN" altLang="en-US" sz="2000" b="1"/>
              <a:t>和</a:t>
            </a:r>
            <a:r>
              <a:rPr lang="en-US" altLang="zh-CN" sz="2000" b="1" i="1">
                <a:latin typeface="Times New Roman" panose="02020603050405020304" pitchFamily="18" charset="0"/>
              </a:rPr>
              <a:t>B</a:t>
            </a:r>
            <a:r>
              <a:rPr lang="en-US" altLang="zh-CN" sz="2000" b="1"/>
              <a:t> </a:t>
            </a:r>
            <a:r>
              <a:rPr lang="zh-CN" altLang="en-US" sz="2000" b="1"/>
              <a:t>。开始时， </a:t>
            </a:r>
            <a:r>
              <a:rPr lang="en-US" altLang="zh-CN" sz="2000" b="1" i="1">
                <a:latin typeface="Times New Roman" panose="02020603050405020304" pitchFamily="18" charset="0"/>
              </a:rPr>
              <a:t>Robot</a:t>
            </a:r>
            <a:r>
              <a:rPr lang="zh-CN" altLang="en-US" sz="2000" b="1"/>
              <a:t>在</a:t>
            </a:r>
            <a:r>
              <a:rPr lang="en-US" altLang="zh-CN" sz="2000" b="1"/>
              <a:t>A</a:t>
            </a:r>
            <a:r>
              <a:rPr lang="zh-CN" altLang="en-US" sz="2000" b="1"/>
              <a:t>旁，两手空着，</a:t>
            </a:r>
            <a:r>
              <a:rPr lang="en-US" altLang="zh-CN" sz="2000" b="1"/>
              <a:t>A</a:t>
            </a:r>
            <a:r>
              <a:rPr lang="zh-CN" altLang="en-US" sz="2000" b="1"/>
              <a:t>上放着</a:t>
            </a:r>
            <a:r>
              <a:rPr lang="en-US" altLang="zh-CN" sz="2000" b="1"/>
              <a:t>BOX</a:t>
            </a:r>
            <a:r>
              <a:rPr lang="zh-CN" altLang="en-US" sz="2000" b="1"/>
              <a:t>，</a:t>
            </a:r>
            <a:r>
              <a:rPr lang="en-US" altLang="zh-CN" sz="2000" b="1"/>
              <a:t>B</a:t>
            </a:r>
            <a:r>
              <a:rPr lang="zh-CN" altLang="en-US" sz="2000" b="1"/>
              <a:t>是空的。 </a:t>
            </a:r>
            <a:r>
              <a:rPr lang="en-US" altLang="zh-CN" sz="2000" b="1" i="1">
                <a:latin typeface="Times New Roman" panose="02020603050405020304" pitchFamily="18" charset="0"/>
              </a:rPr>
              <a:t>Robot</a:t>
            </a:r>
            <a:r>
              <a:rPr lang="zh-CN" altLang="en-US" sz="2000" b="1">
                <a:latin typeface="Times New Roman" panose="02020603050405020304" pitchFamily="18" charset="0"/>
              </a:rPr>
              <a:t>把</a:t>
            </a:r>
            <a:r>
              <a:rPr lang="en-US" altLang="zh-CN" sz="2000" b="1" i="1">
                <a:latin typeface="Times New Roman" panose="02020603050405020304" pitchFamily="18" charset="0"/>
              </a:rPr>
              <a:t>Box</a:t>
            </a:r>
            <a:r>
              <a:rPr lang="zh-CN" altLang="en-US" sz="2000" b="1">
                <a:latin typeface="Times New Roman" panose="02020603050405020304" pitchFamily="18" charset="0"/>
              </a:rPr>
              <a:t>从</a:t>
            </a:r>
            <a:r>
              <a:rPr lang="en-US" altLang="zh-CN" sz="2000" b="1" i="1">
                <a:latin typeface="Times New Roman" panose="02020603050405020304" pitchFamily="18" charset="0"/>
              </a:rPr>
              <a:t>A</a:t>
            </a:r>
            <a:r>
              <a:rPr lang="zh-CN" altLang="en-US" sz="2000" b="1">
                <a:latin typeface="Times New Roman" panose="02020603050405020304" pitchFamily="18" charset="0"/>
              </a:rPr>
              <a:t>转移到</a:t>
            </a:r>
            <a:r>
              <a:rPr lang="en-US" altLang="zh-CN" sz="2000" b="1" i="1">
                <a:latin typeface="Times New Roman" panose="02020603050405020304" pitchFamily="18" charset="0"/>
              </a:rPr>
              <a:t>B</a:t>
            </a:r>
            <a:r>
              <a:rPr lang="zh-CN" altLang="en-US" sz="2000" b="1">
                <a:latin typeface="Times New Roman" panose="02020603050405020304" pitchFamily="18" charset="0"/>
              </a:rPr>
              <a:t>上</a:t>
            </a:r>
            <a:r>
              <a:rPr lang="zh-CN" altLang="en-US" sz="2000" b="1" i="1">
                <a:latin typeface="Times New Roman" panose="02020603050405020304" pitchFamily="18" charset="0"/>
              </a:rPr>
              <a:t>。</a:t>
            </a:r>
            <a:endParaRPr lang="zh-CN" altLang="en-US" sz="2000" b="1" i="1">
              <a:latin typeface="Times New Roman" panose="02020603050405020304" pitchFamily="18" charset="0"/>
            </a:endParaRPr>
          </a:p>
          <a:p>
            <a:endParaRPr lang="zh-CN" altLang="en-US" b="1"/>
          </a:p>
          <a:p>
            <a:pPr lvl="1"/>
            <a:r>
              <a:rPr lang="zh-CN" altLang="en-US" sz="2000" b="1">
                <a:solidFill>
                  <a:schemeClr val="hlink"/>
                </a:solidFill>
              </a:rPr>
              <a:t>定义谓词</a:t>
            </a:r>
            <a:endParaRPr lang="zh-CN" altLang="en-US" sz="2000" b="1">
              <a:solidFill>
                <a:schemeClr val="hlink"/>
              </a:solidFill>
            </a:endParaRPr>
          </a:p>
          <a:p>
            <a:pPr lvl="1">
              <a:buNone/>
            </a:pPr>
            <a:r>
              <a:rPr lang="en-US" altLang="zh-CN" sz="2000" b="1" i="1">
                <a:latin typeface="Times New Roman" panose="02020603050405020304" pitchFamily="18" charset="0"/>
              </a:rPr>
              <a:t>Table</a:t>
            </a:r>
            <a:r>
              <a:rPr lang="en-US" altLang="zh-CN" sz="2000" b="1">
                <a:latin typeface="Times New Roman" panose="02020603050405020304" pitchFamily="18" charset="0"/>
              </a:rPr>
              <a:t>(</a:t>
            </a:r>
            <a:r>
              <a:rPr lang="en-US" altLang="zh-CN" sz="2000" b="1" i="1">
                <a:latin typeface="Times New Roman" panose="02020603050405020304" pitchFamily="18" charset="0"/>
              </a:rPr>
              <a:t>A</a:t>
            </a:r>
            <a:r>
              <a:rPr lang="en-US" altLang="zh-CN" sz="2000" b="1">
                <a:latin typeface="Times New Roman" panose="02020603050405020304" pitchFamily="18" charset="0"/>
              </a:rPr>
              <a:t>)</a:t>
            </a:r>
            <a:r>
              <a:rPr lang="en-US" altLang="zh-CN" sz="2000">
                <a:latin typeface="Times New Roman" panose="02020603050405020304" pitchFamily="18" charset="0"/>
              </a:rPr>
              <a:t>                                   </a:t>
            </a:r>
            <a:r>
              <a:rPr lang="en-US" altLang="zh-CN" sz="2000" b="1" i="1">
                <a:latin typeface="Times New Roman" panose="02020603050405020304" pitchFamily="18" charset="0"/>
              </a:rPr>
              <a:t>A</a:t>
            </a:r>
            <a:r>
              <a:rPr lang="zh-CN" altLang="en-US" sz="2000" b="1">
                <a:latin typeface="Times New Roman" panose="02020603050405020304" pitchFamily="18" charset="0"/>
              </a:rPr>
              <a:t>是桌子</a:t>
            </a:r>
            <a:r>
              <a:rPr lang="zh-CN" altLang="en-US" sz="2000">
                <a:latin typeface="Times New Roman" panose="02020603050405020304" pitchFamily="18" charset="0"/>
              </a:rPr>
              <a:t>     </a:t>
            </a:r>
            <a:endParaRPr lang="zh-CN" altLang="en-US" sz="2000">
              <a:latin typeface="Times New Roman" panose="02020603050405020304" pitchFamily="18" charset="0"/>
            </a:endParaRPr>
          </a:p>
          <a:p>
            <a:pPr lvl="1">
              <a:buNone/>
            </a:pPr>
            <a:r>
              <a:rPr lang="en-US" altLang="zh-CN" sz="2000" b="1" i="1">
                <a:latin typeface="Times New Roman" panose="02020603050405020304" pitchFamily="18" charset="0"/>
              </a:rPr>
              <a:t>EmptyHanded</a:t>
            </a:r>
            <a:r>
              <a:rPr lang="en-US" altLang="zh-CN" sz="2000" b="1">
                <a:latin typeface="Times New Roman" panose="02020603050405020304" pitchFamily="18" charset="0"/>
              </a:rPr>
              <a:t>(</a:t>
            </a:r>
            <a:r>
              <a:rPr lang="en-US" altLang="zh-CN" sz="2000" b="1" i="1">
                <a:latin typeface="Times New Roman" panose="02020603050405020304" pitchFamily="18" charset="0"/>
              </a:rPr>
              <a:t>Robot</a:t>
            </a:r>
            <a:r>
              <a:rPr lang="en-US" altLang="zh-CN" sz="2000" b="1">
                <a:latin typeface="Times New Roman" panose="02020603050405020304" pitchFamily="18" charset="0"/>
              </a:rPr>
              <a:t>)               </a:t>
            </a:r>
            <a:r>
              <a:rPr lang="zh-CN" altLang="en-US" sz="2000" b="1">
                <a:latin typeface="Times New Roman" panose="02020603050405020304" pitchFamily="18" charset="0"/>
              </a:rPr>
              <a:t>机器人空手</a:t>
            </a:r>
            <a:endParaRPr lang="zh-CN" altLang="en-US" sz="2000" b="1">
              <a:latin typeface="Times New Roman" panose="02020603050405020304" pitchFamily="18" charset="0"/>
            </a:endParaRPr>
          </a:p>
          <a:p>
            <a:pPr lvl="1">
              <a:buNone/>
            </a:pPr>
            <a:r>
              <a:rPr lang="en-US" altLang="zh-CN" sz="2000" b="1" i="1">
                <a:latin typeface="Times New Roman" panose="02020603050405020304" pitchFamily="18" charset="0"/>
              </a:rPr>
              <a:t>At</a:t>
            </a:r>
            <a:r>
              <a:rPr lang="en-US" altLang="zh-CN" sz="2000" b="1">
                <a:latin typeface="Times New Roman" panose="02020603050405020304" pitchFamily="18" charset="0"/>
              </a:rPr>
              <a:t>(</a:t>
            </a:r>
            <a:r>
              <a:rPr lang="en-US" altLang="zh-CN" sz="2000" b="1" i="1">
                <a:latin typeface="Times New Roman" panose="02020603050405020304" pitchFamily="18" charset="0"/>
              </a:rPr>
              <a:t>Robot, A</a:t>
            </a:r>
            <a:r>
              <a:rPr lang="en-US" altLang="zh-CN" sz="2000" b="1">
                <a:latin typeface="Times New Roman" panose="02020603050405020304" pitchFamily="18" charset="0"/>
              </a:rPr>
              <a:t>)                              </a:t>
            </a:r>
            <a:r>
              <a:rPr lang="zh-CN" altLang="en-US" sz="2000" b="1">
                <a:latin typeface="Times New Roman" panose="02020603050405020304" pitchFamily="18" charset="0"/>
              </a:rPr>
              <a:t>机器人位置在</a:t>
            </a:r>
            <a:r>
              <a:rPr lang="en-US" altLang="zh-CN" sz="2000" b="1" i="1">
                <a:latin typeface="Times New Roman" panose="02020603050405020304" pitchFamily="18" charset="0"/>
              </a:rPr>
              <a:t>A</a:t>
            </a:r>
            <a:r>
              <a:rPr lang="zh-CN" altLang="en-US" sz="2000" b="1">
                <a:latin typeface="Times New Roman" panose="02020603050405020304" pitchFamily="18" charset="0"/>
              </a:rPr>
              <a:t>旁</a:t>
            </a:r>
            <a:endParaRPr lang="zh-CN" altLang="en-US" sz="2000" b="1">
              <a:latin typeface="Times New Roman" panose="02020603050405020304" pitchFamily="18" charset="0"/>
            </a:endParaRPr>
          </a:p>
          <a:p>
            <a:pPr lvl="1">
              <a:buNone/>
            </a:pPr>
            <a:r>
              <a:rPr lang="en-US" altLang="zh-CN" sz="2000" b="1" i="1">
                <a:latin typeface="Times New Roman" panose="02020603050405020304" pitchFamily="18" charset="0"/>
              </a:rPr>
              <a:t>Holds</a:t>
            </a:r>
            <a:r>
              <a:rPr lang="en-US" altLang="zh-CN" sz="2000" b="1">
                <a:latin typeface="Times New Roman" panose="02020603050405020304" pitchFamily="18" charset="0"/>
              </a:rPr>
              <a:t>(</a:t>
            </a:r>
            <a:r>
              <a:rPr lang="en-US" altLang="zh-CN" sz="2000" b="1" i="1">
                <a:latin typeface="Times New Roman" panose="02020603050405020304" pitchFamily="18" charset="0"/>
              </a:rPr>
              <a:t>Robot, Box</a:t>
            </a:r>
            <a:r>
              <a:rPr lang="en-US" altLang="zh-CN" sz="2000" b="1">
                <a:latin typeface="Times New Roman" panose="02020603050405020304" pitchFamily="18" charset="0"/>
              </a:rPr>
              <a:t>)                    </a:t>
            </a:r>
            <a:r>
              <a:rPr lang="zh-CN" altLang="en-US" sz="2000" b="1">
                <a:latin typeface="Times New Roman" panose="02020603050405020304" pitchFamily="18" charset="0"/>
              </a:rPr>
              <a:t>机器人拿着</a:t>
            </a:r>
            <a:r>
              <a:rPr lang="en-US" altLang="zh-CN" sz="2000" b="1" i="1">
                <a:latin typeface="Times New Roman" panose="02020603050405020304" pitchFamily="18" charset="0"/>
              </a:rPr>
              <a:t>Box</a:t>
            </a:r>
            <a:endParaRPr lang="en-US" altLang="zh-CN" sz="2000" b="1">
              <a:latin typeface="Times New Roman" panose="02020603050405020304" pitchFamily="18" charset="0"/>
            </a:endParaRPr>
          </a:p>
          <a:p>
            <a:pPr lvl="1">
              <a:buNone/>
            </a:pPr>
            <a:r>
              <a:rPr lang="en-US" altLang="zh-CN" sz="2000" b="1" i="1">
                <a:latin typeface="Times New Roman" panose="02020603050405020304" pitchFamily="18" charset="0"/>
              </a:rPr>
              <a:t>On</a:t>
            </a:r>
            <a:r>
              <a:rPr lang="en-US" altLang="zh-CN" sz="2000" b="1">
                <a:latin typeface="Times New Roman" panose="02020603050405020304" pitchFamily="18" charset="0"/>
              </a:rPr>
              <a:t>(</a:t>
            </a:r>
            <a:r>
              <a:rPr lang="en-US" altLang="zh-CN" sz="2000" b="1" i="1">
                <a:latin typeface="Times New Roman" panose="02020603050405020304" pitchFamily="18" charset="0"/>
              </a:rPr>
              <a:t>Box,A</a:t>
            </a:r>
            <a:r>
              <a:rPr lang="en-US" altLang="zh-CN" sz="2000" b="1">
                <a:latin typeface="Times New Roman" panose="02020603050405020304" pitchFamily="18" charset="0"/>
              </a:rPr>
              <a:t>)                                 </a:t>
            </a:r>
            <a:r>
              <a:rPr lang="en-US" altLang="zh-CN" sz="2000" b="1" i="1">
                <a:latin typeface="Times New Roman" panose="02020603050405020304" pitchFamily="18" charset="0"/>
              </a:rPr>
              <a:t>Box</a:t>
            </a:r>
            <a:r>
              <a:rPr lang="zh-CN" altLang="en-US" sz="2000" b="1">
                <a:latin typeface="Times New Roman" panose="02020603050405020304" pitchFamily="18" charset="0"/>
              </a:rPr>
              <a:t>在桌子</a:t>
            </a:r>
            <a:r>
              <a:rPr lang="en-US" altLang="zh-CN" sz="2000" b="1" i="1">
                <a:latin typeface="Times New Roman" panose="02020603050405020304" pitchFamily="18" charset="0"/>
              </a:rPr>
              <a:t>A</a:t>
            </a:r>
            <a:r>
              <a:rPr lang="zh-CN" altLang="en-US" sz="2000" b="1">
                <a:latin typeface="Times New Roman" panose="02020603050405020304" pitchFamily="18" charset="0"/>
              </a:rPr>
              <a:t>上</a:t>
            </a:r>
            <a:endParaRPr lang="zh-CN" altLang="en-US" sz="2000" b="1">
              <a:latin typeface="Times New Roman" panose="02020603050405020304" pitchFamily="18" charset="0"/>
            </a:endParaRPr>
          </a:p>
        </p:txBody>
      </p:sp>
      <p:pic>
        <p:nvPicPr>
          <p:cNvPr id="3" name="图片 2" descr="templates\docerresourceshop\icons\\32313539373931373b32313539373930373bbbfac6f7c8cb"/>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51320" y="4399280"/>
            <a:ext cx="2014855" cy="2014855"/>
          </a:xfrm>
          <a:prstGeom prst="rect">
            <a:avLst/>
          </a:prstGeom>
        </p:spPr>
      </p:pic>
      <p:pic>
        <p:nvPicPr>
          <p:cNvPr id="4" name="http://photo-static-api.fotomore.com/creative/vcg/veer/400/new/VCG41N123217493.jpg" descr="templates\picture_hover\&amp;pky250_sjzg_VCG41N123217493&amp;2&amp;src_toppic_inpsrchzd1&amp;"/>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5299710" y="4837430"/>
            <a:ext cx="1290320" cy="860425"/>
          </a:xfrm>
          <a:prstGeom prst="rect">
            <a:avLst/>
          </a:prstGeom>
        </p:spPr>
      </p:pic>
      <p:pic>
        <p:nvPicPr>
          <p:cNvPr id="6" name="http://photo-static-api.fotomore.com/creative/vcg/400/new/VCG211237227584.jpg" descr="templates\picture_hover\&amp;pky220_sjzg_VCG211237227584&amp;2&amp;src_toppic_inpsrchzd1&amp;"/>
          <p:cNvPicPr>
            <a:picLocks noChangeAspect="1"/>
          </p:cNvPicPr>
          <p:nvPr/>
        </p:nvPicPr>
        <p:blipFill>
          <a:blip r:embed="rId1">
            <a:clrChange>
              <a:clrFrom>
                <a:srgbClr val="72C9C3">
                  <a:alpha val="100000"/>
                </a:srgbClr>
              </a:clrFrom>
              <a:clrTo>
                <a:srgbClr val="72C9C3">
                  <a:alpha val="100000"/>
                  <a:alpha val="0"/>
                </a:srgbClr>
              </a:clrTo>
            </a:clrChange>
          </a:blip>
          <a:stretch>
            <a:fillRect/>
          </a:stretch>
        </p:blipFill>
        <p:spPr>
          <a:xfrm>
            <a:off x="2397760" y="4399280"/>
            <a:ext cx="2691765" cy="2691765"/>
          </a:xfrm>
          <a:prstGeom prst="rect">
            <a:avLst/>
          </a:prstGeom>
        </p:spPr>
      </p:pic>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3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3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ldLvl="5" uiExpand="1" build="p"/>
      <p:bldP spid="14339"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noRot="1"/>
          </p:cNvSpPr>
          <p:nvPr>
            <p:ph type="title"/>
          </p:nvPr>
        </p:nvSpPr>
        <p:spPr>
          <a:xfrm>
            <a:off x="250825" y="0"/>
            <a:ext cx="8540750" cy="1143000"/>
          </a:xfrm>
        </p:spPr>
        <p:txBody>
          <a:bodyPr anchor="ctr" anchorCtr="0"/>
          <a:lstStyle/>
          <a:p>
            <a:r>
              <a:rPr lang="en-US" altLang="zh-CN" b="1"/>
              <a:t> </a:t>
            </a:r>
            <a:endParaRPr lang="en-US" altLang="zh-CN" b="1"/>
          </a:p>
        </p:txBody>
      </p:sp>
      <p:sp>
        <p:nvSpPr>
          <p:cNvPr id="15363" name="文本占位符 15362"/>
          <p:cNvSpPr>
            <a:spLocks noGrp="1" noRot="1"/>
          </p:cNvSpPr>
          <p:nvPr>
            <p:ph type="body" sz="half" idx="1"/>
          </p:nvPr>
        </p:nvSpPr>
        <p:spPr>
          <a:xfrm>
            <a:off x="0" y="620713"/>
            <a:ext cx="4500563" cy="3240087"/>
          </a:xfrm>
        </p:spPr>
        <p:txBody>
          <a:bodyPr/>
          <a:lstStyle/>
          <a:p>
            <a:pPr lvl="1">
              <a:buClr>
                <a:schemeClr val="hlink"/>
              </a:buClr>
              <a:buFontTx/>
            </a:pPr>
            <a:r>
              <a:rPr lang="zh-CN" altLang="en-US" sz="2000" b="1">
                <a:solidFill>
                  <a:schemeClr val="hlink"/>
                </a:solidFill>
              </a:rPr>
              <a:t>初始状态：机器人空手在</a:t>
            </a:r>
            <a:r>
              <a:rPr lang="en-US" altLang="zh-CN" sz="2000" b="1">
                <a:solidFill>
                  <a:schemeClr val="hlink"/>
                </a:solidFill>
              </a:rPr>
              <a:t>A</a:t>
            </a:r>
            <a:r>
              <a:rPr lang="zh-CN" altLang="en-US" sz="2000" b="1">
                <a:solidFill>
                  <a:schemeClr val="hlink"/>
                </a:solidFill>
                <a:latin typeface="Times New Roman" panose="02020603050405020304" pitchFamily="18" charset="0"/>
              </a:rPr>
              <a:t>桌</a:t>
            </a:r>
            <a:endParaRPr lang="zh-CN" altLang="en-US" sz="2000" b="1">
              <a:solidFill>
                <a:schemeClr val="hlink"/>
              </a:solidFill>
            </a:endParaRPr>
          </a:p>
          <a:p>
            <a:pPr lvl="1">
              <a:buClr>
                <a:schemeClr val="hlink"/>
              </a:buClr>
              <a:buFontTx/>
              <a:buNone/>
            </a:pPr>
            <a:r>
              <a:rPr lang="en-US" altLang="zh-CN" sz="2000" b="1" i="1">
                <a:latin typeface="Times New Roman" panose="02020603050405020304" pitchFamily="18" charset="0"/>
              </a:rPr>
              <a:t>EmptyHanded</a:t>
            </a:r>
            <a:r>
              <a:rPr lang="en-US" altLang="zh-CN" sz="2000" b="1">
                <a:latin typeface="Times New Roman" panose="02020603050405020304" pitchFamily="18" charset="0"/>
              </a:rPr>
              <a:t>(</a:t>
            </a:r>
            <a:r>
              <a:rPr lang="en-US" altLang="zh-CN" sz="2000" b="1" i="1">
                <a:latin typeface="Times New Roman" panose="02020603050405020304" pitchFamily="18" charset="0"/>
              </a:rPr>
              <a:t>Robot</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Clr>
                <a:schemeClr val="hlink"/>
              </a:buClr>
              <a:buFontTx/>
              <a:buNone/>
            </a:pPr>
            <a:r>
              <a:rPr lang="en-US" altLang="zh-CN" sz="2000" b="1" i="1">
                <a:latin typeface="Times New Roman" panose="02020603050405020304" pitchFamily="18" charset="0"/>
              </a:rPr>
              <a:t>At</a:t>
            </a:r>
            <a:r>
              <a:rPr lang="en-US" altLang="zh-CN" sz="2000" b="1">
                <a:latin typeface="Times New Roman" panose="02020603050405020304" pitchFamily="18" charset="0"/>
              </a:rPr>
              <a:t>(</a:t>
            </a:r>
            <a:r>
              <a:rPr lang="en-US" altLang="zh-CN" sz="2000" b="1" i="1">
                <a:latin typeface="Times New Roman" panose="02020603050405020304" pitchFamily="18" charset="0"/>
              </a:rPr>
              <a:t>Robot, A</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Clr>
                <a:schemeClr val="hlink"/>
              </a:buClr>
              <a:buFontTx/>
              <a:buNone/>
            </a:pPr>
            <a:r>
              <a:rPr lang="en-US" altLang="zh-CN" sz="2000" b="1" i="1">
                <a:latin typeface="Times New Roman" panose="02020603050405020304" pitchFamily="18" charset="0"/>
              </a:rPr>
              <a:t>On</a:t>
            </a:r>
            <a:r>
              <a:rPr lang="en-US" altLang="zh-CN" sz="2000" b="1">
                <a:latin typeface="Times New Roman" panose="02020603050405020304" pitchFamily="18" charset="0"/>
              </a:rPr>
              <a:t>(</a:t>
            </a:r>
            <a:r>
              <a:rPr lang="en-US" altLang="zh-CN" sz="2000" b="1" i="1">
                <a:latin typeface="Times New Roman" panose="02020603050405020304" pitchFamily="18" charset="0"/>
              </a:rPr>
              <a:t>Box,A</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Clr>
                <a:schemeClr val="hlink"/>
              </a:buClr>
              <a:buFontTx/>
              <a:buNone/>
            </a:pPr>
            <a:r>
              <a:rPr lang="en-US" altLang="zh-CN" sz="2000" b="1" i="1">
                <a:latin typeface="Times New Roman" panose="02020603050405020304" pitchFamily="18" charset="0"/>
              </a:rPr>
              <a:t>Table</a:t>
            </a:r>
            <a:r>
              <a:rPr lang="en-US" altLang="zh-CN" sz="2000" b="1">
                <a:latin typeface="Times New Roman" panose="02020603050405020304" pitchFamily="18" charset="0"/>
              </a:rPr>
              <a:t>(</a:t>
            </a:r>
            <a:r>
              <a:rPr lang="en-US" altLang="zh-CN" sz="2000" b="1" i="1">
                <a:latin typeface="Times New Roman" panose="02020603050405020304" pitchFamily="18" charset="0"/>
              </a:rPr>
              <a:t>A</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Clr>
                <a:schemeClr val="hlink"/>
              </a:buClr>
              <a:buFontTx/>
              <a:buNone/>
            </a:pPr>
            <a:r>
              <a:rPr lang="en-US" altLang="zh-CN" sz="2000" b="1" i="1">
                <a:latin typeface="Times New Roman" panose="02020603050405020304" pitchFamily="18" charset="0"/>
              </a:rPr>
              <a:t>Table</a:t>
            </a:r>
            <a:r>
              <a:rPr lang="en-US" altLang="zh-CN" sz="2000" b="1">
                <a:latin typeface="Times New Roman" panose="02020603050405020304" pitchFamily="18" charset="0"/>
              </a:rPr>
              <a:t>(</a:t>
            </a:r>
            <a:r>
              <a:rPr lang="en-US" altLang="zh-CN" sz="2000" b="1" i="1">
                <a:latin typeface="Times New Roman" panose="02020603050405020304" pitchFamily="18" charset="0"/>
              </a:rPr>
              <a:t>B</a:t>
            </a:r>
            <a:r>
              <a:rPr lang="en-US" altLang="zh-CN" sz="2000" b="1">
                <a:latin typeface="Times New Roman" panose="02020603050405020304" pitchFamily="18" charset="0"/>
              </a:rPr>
              <a:t>)</a:t>
            </a:r>
            <a:endParaRPr lang="en-US" altLang="zh-CN" sz="2000" b="1">
              <a:latin typeface="Times New Roman" panose="02020603050405020304" pitchFamily="18" charset="0"/>
            </a:endParaRPr>
          </a:p>
        </p:txBody>
      </p:sp>
      <p:sp>
        <p:nvSpPr>
          <p:cNvPr id="15364" name="文本占位符 15363"/>
          <p:cNvSpPr>
            <a:spLocks noGrp="1" noRot="1"/>
          </p:cNvSpPr>
          <p:nvPr>
            <p:ph type="body" sz="half" idx="2"/>
          </p:nvPr>
        </p:nvSpPr>
        <p:spPr>
          <a:xfrm>
            <a:off x="4643438" y="692150"/>
            <a:ext cx="4192587" cy="2663825"/>
          </a:xfrm>
        </p:spPr>
        <p:txBody>
          <a:bodyPr/>
          <a:lstStyle/>
          <a:p>
            <a:pPr lvl="1">
              <a:buClr>
                <a:schemeClr val="hlink"/>
              </a:buClr>
              <a:buFontTx/>
            </a:pPr>
            <a:r>
              <a:rPr lang="zh-CN" altLang="en-US" sz="2000" b="1">
                <a:solidFill>
                  <a:schemeClr val="hlink"/>
                </a:solidFill>
              </a:rPr>
              <a:t>机器人拿起</a:t>
            </a:r>
            <a:r>
              <a:rPr lang="en-US" altLang="zh-CN" sz="2000" b="1" i="1">
                <a:solidFill>
                  <a:schemeClr val="hlink"/>
                </a:solidFill>
                <a:latin typeface="Times New Roman" panose="02020603050405020304" pitchFamily="18" charset="0"/>
              </a:rPr>
              <a:t>Box</a:t>
            </a:r>
            <a:endParaRPr lang="en-US" altLang="zh-CN" sz="2000" b="1">
              <a:solidFill>
                <a:schemeClr val="hlink"/>
              </a:solidFill>
            </a:endParaRPr>
          </a:p>
          <a:p>
            <a:pPr lvl="1">
              <a:buClr>
                <a:schemeClr val="hlink"/>
              </a:buClr>
              <a:buFontTx/>
              <a:buNone/>
            </a:pPr>
            <a:r>
              <a:rPr lang="en-US" altLang="zh-CN" sz="2000" b="1" i="1">
                <a:latin typeface="Times New Roman" panose="02020603050405020304" pitchFamily="18" charset="0"/>
              </a:rPr>
              <a:t>At</a:t>
            </a:r>
            <a:r>
              <a:rPr lang="en-US" altLang="zh-CN" sz="2000" b="1">
                <a:latin typeface="Times New Roman" panose="02020603050405020304" pitchFamily="18" charset="0"/>
              </a:rPr>
              <a:t>(</a:t>
            </a:r>
            <a:r>
              <a:rPr lang="en-US" altLang="zh-CN" sz="2000" b="1" i="1">
                <a:latin typeface="Times New Roman" panose="02020603050405020304" pitchFamily="18" charset="0"/>
              </a:rPr>
              <a:t>Robot, A</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Clr>
                <a:schemeClr val="hlink"/>
              </a:buClr>
              <a:buFontTx/>
              <a:buNone/>
            </a:pPr>
            <a:r>
              <a:rPr lang="en-US" altLang="zh-CN" sz="2000" b="1" i="1">
                <a:latin typeface="Times New Roman" panose="02020603050405020304" pitchFamily="18" charset="0"/>
              </a:rPr>
              <a:t>Holds</a:t>
            </a:r>
            <a:r>
              <a:rPr lang="en-US" altLang="zh-CN" sz="2000" b="1">
                <a:latin typeface="Times New Roman" panose="02020603050405020304" pitchFamily="18" charset="0"/>
              </a:rPr>
              <a:t>(</a:t>
            </a:r>
            <a:r>
              <a:rPr lang="en-US" altLang="zh-CN" sz="2000" b="1" i="1">
                <a:latin typeface="Times New Roman" panose="02020603050405020304" pitchFamily="18" charset="0"/>
              </a:rPr>
              <a:t>Robot, Box</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Clr>
                <a:schemeClr val="hlink"/>
              </a:buClr>
              <a:buFontTx/>
              <a:buNone/>
            </a:pPr>
            <a:r>
              <a:rPr lang="en-US" altLang="zh-CN" sz="2000" b="1" i="1">
                <a:latin typeface="Times New Roman" panose="02020603050405020304" pitchFamily="18" charset="0"/>
              </a:rPr>
              <a:t>Table</a:t>
            </a:r>
            <a:r>
              <a:rPr lang="en-US" altLang="zh-CN" sz="2000" b="1">
                <a:latin typeface="Times New Roman" panose="02020603050405020304" pitchFamily="18" charset="0"/>
              </a:rPr>
              <a:t>(</a:t>
            </a:r>
            <a:r>
              <a:rPr lang="en-US" altLang="zh-CN" sz="2000" b="1" i="1">
                <a:latin typeface="Times New Roman" panose="02020603050405020304" pitchFamily="18" charset="0"/>
              </a:rPr>
              <a:t>A</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Clr>
                <a:schemeClr val="hlink"/>
              </a:buClr>
              <a:buFontTx/>
              <a:buNone/>
            </a:pPr>
            <a:r>
              <a:rPr lang="en-US" altLang="zh-CN" sz="2000" b="1" i="1">
                <a:latin typeface="Times New Roman" panose="02020603050405020304" pitchFamily="18" charset="0"/>
              </a:rPr>
              <a:t>Table</a:t>
            </a:r>
            <a:r>
              <a:rPr lang="en-US" altLang="zh-CN" sz="2000" b="1">
                <a:latin typeface="Times New Roman" panose="02020603050405020304" pitchFamily="18" charset="0"/>
              </a:rPr>
              <a:t>(</a:t>
            </a:r>
            <a:r>
              <a:rPr lang="en-US" altLang="zh-CN" sz="2000" b="1" i="1">
                <a:latin typeface="Times New Roman" panose="02020603050405020304" pitchFamily="18" charset="0"/>
              </a:rPr>
              <a:t>B</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a:buClr>
                <a:schemeClr val="folHlink"/>
              </a:buClr>
              <a:buSzTx/>
              <a:buFont typeface="Wingdings" panose="05000000000000000000" pitchFamily="2" charset="2"/>
            </a:pPr>
            <a:endParaRPr lang="en-US" altLang="zh-CN" sz="2000"/>
          </a:p>
        </p:txBody>
      </p:sp>
      <p:sp>
        <p:nvSpPr>
          <p:cNvPr id="15365" name="矩形 15364"/>
          <p:cNvSpPr/>
          <p:nvPr/>
        </p:nvSpPr>
        <p:spPr>
          <a:xfrm>
            <a:off x="0" y="3644900"/>
            <a:ext cx="4038600" cy="2665413"/>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1"/>
            <a:r>
              <a:rPr lang="zh-CN" altLang="en-US" sz="2000" b="1">
                <a:solidFill>
                  <a:schemeClr val="hlink"/>
                </a:solidFill>
              </a:rPr>
              <a:t>机器人走到</a:t>
            </a:r>
            <a:r>
              <a:rPr lang="en-US" altLang="zh-CN" sz="2000" b="1" i="1">
                <a:solidFill>
                  <a:schemeClr val="hlink"/>
                </a:solidFill>
                <a:latin typeface="Times New Roman" panose="02020603050405020304" pitchFamily="18" charset="0"/>
              </a:rPr>
              <a:t>B</a:t>
            </a:r>
            <a:r>
              <a:rPr lang="zh-CN" altLang="en-US" sz="2000" b="1">
                <a:solidFill>
                  <a:schemeClr val="hlink"/>
                </a:solidFill>
                <a:latin typeface="Times New Roman" panose="02020603050405020304" pitchFamily="18" charset="0"/>
              </a:rPr>
              <a:t>桌</a:t>
            </a:r>
            <a:endParaRPr lang="zh-CN" altLang="en-US" sz="2000" b="1">
              <a:solidFill>
                <a:schemeClr val="hlink"/>
              </a:solidFill>
              <a:latin typeface="Times New Roman" panose="02020603050405020304" pitchFamily="18" charset="0"/>
            </a:endParaRPr>
          </a:p>
          <a:p>
            <a:pPr lvl="1">
              <a:buNone/>
            </a:pPr>
            <a:r>
              <a:rPr lang="en-US" altLang="zh-CN" sz="2000" b="1" i="1">
                <a:latin typeface="Times New Roman" panose="02020603050405020304" pitchFamily="18" charset="0"/>
              </a:rPr>
              <a:t>At</a:t>
            </a:r>
            <a:r>
              <a:rPr lang="en-US" altLang="zh-CN" sz="2000" b="1">
                <a:latin typeface="Times New Roman" panose="02020603050405020304" pitchFamily="18" charset="0"/>
              </a:rPr>
              <a:t>(</a:t>
            </a:r>
            <a:r>
              <a:rPr lang="en-US" altLang="zh-CN" sz="2000" b="1" i="1">
                <a:latin typeface="Times New Roman" panose="02020603050405020304" pitchFamily="18" charset="0"/>
              </a:rPr>
              <a:t>Robot, B</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None/>
            </a:pPr>
            <a:r>
              <a:rPr lang="en-US" altLang="zh-CN" sz="2000" b="1" i="1">
                <a:latin typeface="Times New Roman" panose="02020603050405020304" pitchFamily="18" charset="0"/>
              </a:rPr>
              <a:t>Holds</a:t>
            </a:r>
            <a:r>
              <a:rPr lang="en-US" altLang="zh-CN" sz="2000" b="1">
                <a:latin typeface="Times New Roman" panose="02020603050405020304" pitchFamily="18" charset="0"/>
              </a:rPr>
              <a:t>(</a:t>
            </a:r>
            <a:r>
              <a:rPr lang="en-US" altLang="zh-CN" sz="2000" b="1" i="1">
                <a:latin typeface="Times New Roman" panose="02020603050405020304" pitchFamily="18" charset="0"/>
              </a:rPr>
              <a:t>Robot, Box</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None/>
            </a:pPr>
            <a:r>
              <a:rPr lang="en-US" altLang="zh-CN" sz="2000" b="1" i="1">
                <a:latin typeface="Times New Roman" panose="02020603050405020304" pitchFamily="18" charset="0"/>
              </a:rPr>
              <a:t>Table</a:t>
            </a:r>
            <a:r>
              <a:rPr lang="en-US" altLang="zh-CN" sz="2000" b="1">
                <a:latin typeface="Times New Roman" panose="02020603050405020304" pitchFamily="18" charset="0"/>
              </a:rPr>
              <a:t>(</a:t>
            </a:r>
            <a:r>
              <a:rPr lang="en-US" altLang="zh-CN" sz="2000" b="1" i="1">
                <a:latin typeface="Times New Roman" panose="02020603050405020304" pitchFamily="18" charset="0"/>
              </a:rPr>
              <a:t>A</a:t>
            </a:r>
            <a:r>
              <a:rPr lang="en-US" altLang="zh-CN" sz="2000" b="1">
                <a:latin typeface="Times New Roman" panose="02020603050405020304" pitchFamily="18" charset="0"/>
              </a:rPr>
              <a:t>) </a:t>
            </a:r>
            <a:endParaRPr lang="en-US" altLang="zh-CN" sz="2000" b="1">
              <a:latin typeface="Times New Roman" panose="02020603050405020304" pitchFamily="18" charset="0"/>
            </a:endParaRPr>
          </a:p>
          <a:p>
            <a:pPr lvl="1">
              <a:buNone/>
            </a:pPr>
            <a:r>
              <a:rPr lang="en-US" altLang="zh-CN" sz="2000" b="1" i="1">
                <a:latin typeface="Times New Roman" panose="02020603050405020304" pitchFamily="18" charset="0"/>
              </a:rPr>
              <a:t>Table</a:t>
            </a:r>
            <a:r>
              <a:rPr lang="en-US" altLang="zh-CN" sz="2000" b="1">
                <a:latin typeface="Times New Roman" panose="02020603050405020304" pitchFamily="18" charset="0"/>
              </a:rPr>
              <a:t>(</a:t>
            </a:r>
            <a:r>
              <a:rPr lang="en-US" altLang="zh-CN" sz="2000" b="1" i="1">
                <a:latin typeface="Times New Roman" panose="02020603050405020304" pitchFamily="18" charset="0"/>
              </a:rPr>
              <a:t>B</a:t>
            </a:r>
            <a:r>
              <a:rPr lang="en-US" altLang="zh-CN" sz="2000" b="1">
                <a:latin typeface="Times New Roman" panose="02020603050405020304" pitchFamily="18" charset="0"/>
              </a:rPr>
              <a:t>)</a:t>
            </a:r>
            <a:endParaRPr lang="en-US" altLang="zh-CN" sz="2000"/>
          </a:p>
        </p:txBody>
      </p:sp>
      <p:sp>
        <p:nvSpPr>
          <p:cNvPr id="15366" name="矩形 15365"/>
          <p:cNvSpPr/>
          <p:nvPr/>
        </p:nvSpPr>
        <p:spPr>
          <a:xfrm>
            <a:off x="4572000" y="3357563"/>
            <a:ext cx="3898900" cy="2952750"/>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1"/>
            <a:r>
              <a:rPr lang="zh-CN" altLang="en-US" sz="2000" b="1">
                <a:solidFill>
                  <a:schemeClr val="hlink"/>
                </a:solidFill>
              </a:rPr>
              <a:t>机器人放下</a:t>
            </a:r>
            <a:r>
              <a:rPr lang="en-US" altLang="zh-CN" sz="2000" b="1" i="1">
                <a:solidFill>
                  <a:schemeClr val="hlink"/>
                </a:solidFill>
                <a:latin typeface="Times New Roman" panose="02020603050405020304" pitchFamily="18" charset="0"/>
              </a:rPr>
              <a:t>Box</a:t>
            </a:r>
            <a:endParaRPr lang="en-US" altLang="zh-CN" sz="2000" b="1">
              <a:solidFill>
                <a:schemeClr val="hlink"/>
              </a:solidFill>
            </a:endParaRPr>
          </a:p>
          <a:p>
            <a:pPr lvl="1">
              <a:buNone/>
            </a:pPr>
            <a:r>
              <a:rPr lang="en-US" altLang="zh-CN" sz="2000" b="1" i="1">
                <a:latin typeface="Times New Roman" panose="02020603050405020304" pitchFamily="18" charset="0"/>
              </a:rPr>
              <a:t>EmptyHanded</a:t>
            </a:r>
            <a:r>
              <a:rPr lang="en-US" altLang="zh-CN" sz="2000" b="1">
                <a:latin typeface="Times New Roman" panose="02020603050405020304" pitchFamily="18" charset="0"/>
              </a:rPr>
              <a:t>(</a:t>
            </a:r>
            <a:r>
              <a:rPr lang="en-US" altLang="zh-CN" sz="2000" b="1" i="1">
                <a:latin typeface="Times New Roman" panose="02020603050405020304" pitchFamily="18" charset="0"/>
              </a:rPr>
              <a:t>Robot</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None/>
            </a:pPr>
            <a:r>
              <a:rPr lang="en-US" altLang="zh-CN" sz="2000" b="1" i="1">
                <a:latin typeface="Times New Roman" panose="02020603050405020304" pitchFamily="18" charset="0"/>
              </a:rPr>
              <a:t>At</a:t>
            </a:r>
            <a:r>
              <a:rPr lang="en-US" altLang="zh-CN" sz="2000" b="1">
                <a:latin typeface="Times New Roman" panose="02020603050405020304" pitchFamily="18" charset="0"/>
              </a:rPr>
              <a:t>(</a:t>
            </a:r>
            <a:r>
              <a:rPr lang="en-US" altLang="zh-CN" sz="2000" b="1" i="1">
                <a:latin typeface="Times New Roman" panose="02020603050405020304" pitchFamily="18" charset="0"/>
              </a:rPr>
              <a:t>Robot, B</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None/>
            </a:pPr>
            <a:r>
              <a:rPr lang="en-US" altLang="zh-CN" sz="2000" b="1" i="1">
                <a:latin typeface="Times New Roman" panose="02020603050405020304" pitchFamily="18" charset="0"/>
              </a:rPr>
              <a:t>On</a:t>
            </a:r>
            <a:r>
              <a:rPr lang="en-US" altLang="zh-CN" sz="2000" b="1">
                <a:latin typeface="Times New Roman" panose="02020603050405020304" pitchFamily="18" charset="0"/>
              </a:rPr>
              <a:t>(</a:t>
            </a:r>
            <a:r>
              <a:rPr lang="en-US" altLang="zh-CN" sz="2000" b="1" i="1">
                <a:latin typeface="Times New Roman" panose="02020603050405020304" pitchFamily="18" charset="0"/>
              </a:rPr>
              <a:t>Box,B</a:t>
            </a:r>
            <a:r>
              <a:rPr lang="en-US" altLang="zh-CN" sz="2000" b="1">
                <a:latin typeface="Times New Roman" panose="02020603050405020304" pitchFamily="18" charset="0"/>
              </a:rPr>
              <a:t>)</a:t>
            </a:r>
            <a:endParaRPr lang="en-US" altLang="zh-CN" sz="2000" b="1">
              <a:latin typeface="Times New Roman" panose="02020603050405020304" pitchFamily="18" charset="0"/>
            </a:endParaRPr>
          </a:p>
          <a:p>
            <a:pPr lvl="1">
              <a:buNone/>
            </a:pPr>
            <a:r>
              <a:rPr lang="en-US" altLang="zh-CN" sz="2000" b="1" i="1">
                <a:latin typeface="Times New Roman" panose="02020603050405020304" pitchFamily="18" charset="0"/>
              </a:rPr>
              <a:t>Table</a:t>
            </a:r>
            <a:r>
              <a:rPr lang="en-US" altLang="zh-CN" sz="2000" b="1">
                <a:latin typeface="Times New Roman" panose="02020603050405020304" pitchFamily="18" charset="0"/>
              </a:rPr>
              <a:t>(</a:t>
            </a:r>
            <a:r>
              <a:rPr lang="en-US" altLang="zh-CN" sz="2000" b="1" i="1">
                <a:latin typeface="Times New Roman" panose="02020603050405020304" pitchFamily="18" charset="0"/>
              </a:rPr>
              <a:t>A</a:t>
            </a:r>
            <a:r>
              <a:rPr lang="en-US" altLang="zh-CN" sz="2000" b="1">
                <a:latin typeface="Times New Roman" panose="02020603050405020304" pitchFamily="18" charset="0"/>
              </a:rPr>
              <a:t>) </a:t>
            </a:r>
            <a:endParaRPr lang="en-US" altLang="zh-CN" sz="2000" b="1">
              <a:latin typeface="Times New Roman" panose="02020603050405020304" pitchFamily="18" charset="0"/>
            </a:endParaRPr>
          </a:p>
          <a:p>
            <a:pPr lvl="1">
              <a:buNone/>
            </a:pPr>
            <a:r>
              <a:rPr lang="en-US" altLang="zh-CN" sz="2000" b="1" i="1">
                <a:latin typeface="Times New Roman" panose="02020603050405020304" pitchFamily="18" charset="0"/>
              </a:rPr>
              <a:t>Table</a:t>
            </a:r>
            <a:r>
              <a:rPr lang="en-US" altLang="zh-CN" sz="2000" b="1">
                <a:latin typeface="Times New Roman" panose="02020603050405020304" pitchFamily="18" charset="0"/>
              </a:rPr>
              <a:t>(</a:t>
            </a:r>
            <a:r>
              <a:rPr lang="en-US" altLang="zh-CN" sz="2000" b="1" i="1">
                <a:latin typeface="Times New Roman" panose="02020603050405020304" pitchFamily="18" charset="0"/>
              </a:rPr>
              <a:t>B</a:t>
            </a:r>
            <a:r>
              <a:rPr lang="en-US" altLang="zh-CN" sz="2000" b="1">
                <a:latin typeface="Times New Roman" panose="02020603050405020304" pitchFamily="18" charset="0"/>
              </a:rPr>
              <a:t>)</a:t>
            </a:r>
            <a:endParaRPr lang="en-US" altLang="zh-CN" sz="2000" b="1">
              <a:latin typeface="Times New Roman" panose="02020603050405020304" pitchFamily="18" charset="0"/>
            </a:endParaRPr>
          </a:p>
        </p:txBody>
      </p:sp>
      <p:sp>
        <p:nvSpPr>
          <p:cNvPr id="15367" name="文本框 15366"/>
          <p:cNvSpPr txBox="1"/>
          <p:nvPr/>
        </p:nvSpPr>
        <p:spPr>
          <a:xfrm>
            <a:off x="323850" y="6021388"/>
            <a:ext cx="8820150" cy="457200"/>
          </a:xfrm>
          <a:prstGeom prst="rect">
            <a:avLst/>
          </a:prstGeom>
          <a:noFill/>
          <a:ln w="9525">
            <a:noFill/>
          </a:ln>
        </p:spPr>
        <p:txBody>
          <a:bodyPr>
            <a:spAutoFit/>
          </a:bodyPr>
          <a:lstStyle/>
          <a:p>
            <a:pPr>
              <a:spcBef>
                <a:spcPct val="50000"/>
              </a:spcBef>
            </a:pPr>
            <a:r>
              <a:rPr lang="en-US" altLang="zh-CN" sz="2400" b="1">
                <a:solidFill>
                  <a:srgbClr val="FF0000"/>
                </a:solidFill>
                <a:latin typeface="Arial" panose="020B0604020202020204" pitchFamily="34" charset="0"/>
              </a:rPr>
              <a:t>           </a:t>
            </a:r>
            <a:r>
              <a:rPr lang="zh-CN" altLang="en-US" sz="2400" b="1">
                <a:solidFill>
                  <a:srgbClr val="FF0000"/>
                </a:solidFill>
                <a:latin typeface="Arial" panose="020B0604020202020204" pitchFamily="34" charset="0"/>
              </a:rPr>
              <a:t>可</a:t>
            </a:r>
            <a:r>
              <a:rPr lang="zh-CN" altLang="en-US" sz="2400" b="1">
                <a:solidFill>
                  <a:srgbClr val="FF0000"/>
                </a:solidFill>
                <a:latin typeface="Times New Roman" panose="02020603050405020304" pitchFamily="18" charset="0"/>
              </a:rPr>
              <a:t>用</a:t>
            </a:r>
            <a:r>
              <a:rPr lang="en-US" altLang="zh-CN" sz="2400" b="1" i="1">
                <a:latin typeface="Times New Roman" panose="02020603050405020304" pitchFamily="18" charset="0"/>
              </a:rPr>
              <a:t>Holds</a:t>
            </a:r>
            <a:r>
              <a:rPr lang="en-US" altLang="zh-CN" sz="2400" b="1">
                <a:latin typeface="Times New Roman" panose="02020603050405020304" pitchFamily="18" charset="0"/>
              </a:rPr>
              <a:t>(</a:t>
            </a:r>
            <a:r>
              <a:rPr lang="en-US" altLang="zh-CN" sz="2400" b="1" i="1">
                <a:latin typeface="Times New Roman" panose="02020603050405020304" pitchFamily="18" charset="0"/>
              </a:rPr>
              <a:t>Robot, None</a:t>
            </a:r>
            <a:r>
              <a:rPr lang="en-US" altLang="zh-CN" sz="2400" b="1">
                <a:latin typeface="Times New Roman" panose="02020603050405020304" pitchFamily="18" charset="0"/>
              </a:rPr>
              <a:t>)</a:t>
            </a:r>
            <a:r>
              <a:rPr lang="zh-CN" altLang="en-US" sz="2400" b="1">
                <a:solidFill>
                  <a:srgbClr val="FF0000"/>
                </a:solidFill>
                <a:latin typeface="Times New Roman" panose="02020603050405020304" pitchFamily="18" charset="0"/>
              </a:rPr>
              <a:t>来代替</a:t>
            </a:r>
            <a:r>
              <a:rPr lang="en-US" altLang="zh-CN" sz="2400" b="1" i="1">
                <a:latin typeface="Times New Roman" panose="02020603050405020304" pitchFamily="18" charset="0"/>
              </a:rPr>
              <a:t>EmptyHanded(Robot)</a:t>
            </a:r>
            <a:endParaRPr lang="en-US" altLang="zh-CN" sz="2400" b="1">
              <a:latin typeface="Times New Roman" panose="02020603050405020304" pitchFamily="18" charset="0"/>
            </a:endParaRPr>
          </a:p>
        </p:txBody>
      </p:sp>
      <p:sp>
        <p:nvSpPr>
          <p:cNvPr id="15368" name="文本框 15367"/>
          <p:cNvSpPr txBox="1"/>
          <p:nvPr/>
        </p:nvSpPr>
        <p:spPr>
          <a:xfrm>
            <a:off x="6516688" y="0"/>
            <a:ext cx="2627312" cy="396875"/>
          </a:xfrm>
          <a:prstGeom prst="rect">
            <a:avLst/>
          </a:prstGeom>
          <a:gradFill rotWithShape="0">
            <a:gsLst>
              <a:gs pos="0">
                <a:srgbClr val="009900">
                  <a:gamma/>
                  <a:shade val="46275"/>
                  <a:invGamma/>
                </a:srgbClr>
              </a:gs>
              <a:gs pos="50000">
                <a:srgbClr val="009900"/>
              </a:gs>
              <a:gs pos="100000">
                <a:srgbClr val="009900">
                  <a:gamma/>
                  <a:shade val="46275"/>
                  <a:invGamma/>
                </a:srgbClr>
              </a:gs>
            </a:gsLst>
            <a:lin ang="5400000" scaled="1"/>
            <a:tileRect/>
          </a:gradFill>
          <a:ln w="9525">
            <a:noFill/>
          </a:ln>
        </p:spPr>
        <p:txBody>
          <a:bodyPr lIns="92064" tIns="46032" rIns="92064" bIns="46032">
            <a:spAutoFit/>
          </a:bodyPr>
          <a:lstStyle/>
          <a:p>
            <a:pPr algn="ctr" defTabSz="913130">
              <a:spcBef>
                <a:spcPct val="50000"/>
              </a:spcBef>
            </a:pPr>
            <a:r>
              <a:rPr lang="zh-CN" altLang="en-US" sz="2000">
                <a:latin typeface="楷体_GB2312" pitchFamily="1" charset="-122"/>
                <a:ea typeface="楷体_GB2312" pitchFamily="1" charset="-122"/>
              </a:rPr>
              <a:t>谓词知识表示法举例</a:t>
            </a:r>
            <a:endParaRPr lang="zh-CN" altLang="en-US" sz="2000">
              <a:latin typeface="楷体_GB2312" pitchFamily="1" charset="-122"/>
              <a:ea typeface="楷体_GB2312" pitchFamily="1"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6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6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36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5367"/>
                                        </p:tgtEl>
                                        <p:attrNameLst>
                                          <p:attrName>style.visibility</p:attrName>
                                        </p:attrNameLst>
                                      </p:cBhvr>
                                      <p:to>
                                        <p:strVal val="visible"/>
                                      </p:to>
                                    </p:set>
                                    <p:anim calcmode="lin" valueType="num">
                                      <p:cBhvr additive="base">
                                        <p:cTn id="27" dur="500" fill="hold"/>
                                        <p:tgtEl>
                                          <p:spTgt spid="15367"/>
                                        </p:tgtEl>
                                        <p:attrNameLst>
                                          <p:attrName>ppt_x</p:attrName>
                                        </p:attrNameLst>
                                      </p:cBhvr>
                                      <p:tavLst>
                                        <p:tav tm="0">
                                          <p:val>
                                            <p:strVal val="#ppt_x"/>
                                          </p:val>
                                        </p:tav>
                                        <p:tav tm="100000">
                                          <p:val>
                                            <p:strVal val="#ppt_x"/>
                                          </p:val>
                                        </p:tav>
                                      </p:tavLst>
                                    </p:anim>
                                    <p:anim calcmode="lin" valueType="num">
                                      <p:cBhvr additive="base">
                                        <p:cTn id="28"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build="p"/>
      <p:bldP spid="15364" grpId="1" build="p"/>
      <p:bldP spid="15365" grpId="0"/>
      <p:bldP spid="15365" grpId="1"/>
      <p:bldP spid="15366" grpId="0"/>
      <p:bldP spid="15366" grpId="1"/>
      <p:bldP spid="1536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2901" y="434979"/>
            <a:ext cx="8139178" cy="331473"/>
          </a:xfrm>
        </p:spPr>
        <p:txBody>
          <a:bodyPr vert="horz" wrap="square" lIns="91440" tIns="45720" rIns="91440" bIns="45720" numCol="1" rtlCol="0" anchor="ctr" anchorCtr="0" compatLnSpc="1">
            <a:noAutofit/>
          </a:bodyPr>
          <a:lstStyle/>
          <a:p>
            <a:pPr lvl="0" algn="l" fontAlgn="base" latinLnBrk="1">
              <a:buClrTx/>
              <a:buSzTx/>
              <a:buFontTx/>
              <a:defRPr/>
            </a:pPr>
            <a:r>
              <a:rPr kumimoji="1" sz="4000" spc="0" noProof="0">
                <a:ln>
                  <a:noFill/>
                </a:ln>
                <a:solidFill>
                  <a:schemeClr val="tx1"/>
                </a:solidFill>
                <a:effectLst/>
                <a:uLnTx/>
                <a:latin typeface="微软雅黑" panose="020B0503020204020204" charset="-122"/>
                <a:cs typeface="微软雅黑" panose="020B0503020204020204" charset="-122"/>
                <a:sym typeface="+mn-ea"/>
              </a:rPr>
              <a:t>基本概念</a:t>
            </a:r>
            <a:r>
              <a:rPr kumimoji="1" lang="en-US" altLang="zh-CN" sz="4000" spc="0" noProof="0">
                <a:ln>
                  <a:noFill/>
                </a:ln>
                <a:solidFill>
                  <a:schemeClr val="tx1"/>
                </a:solidFill>
                <a:effectLst/>
                <a:uLnTx/>
                <a:latin typeface="微软雅黑" panose="020B0503020204020204" charset="-122"/>
                <a:cs typeface="微软雅黑" panose="020B0503020204020204" charset="-122"/>
                <a:sym typeface="+mn-ea"/>
              </a:rPr>
              <a:t>5</a:t>
            </a:r>
            <a:r>
              <a:rPr kumimoji="1" sz="4000" spc="0" noProof="0">
                <a:ln>
                  <a:noFill/>
                </a:ln>
                <a:solidFill>
                  <a:schemeClr val="tx1"/>
                </a:solidFill>
                <a:effectLst/>
                <a:uLnTx/>
                <a:latin typeface="微软雅黑" panose="020B0503020204020204" charset="-122"/>
                <a:cs typeface="微软雅黑" panose="020B0503020204020204" charset="-122"/>
                <a:sym typeface="+mn-ea"/>
              </a:rPr>
              <a:t>：量词</a:t>
            </a:r>
            <a:endParaRPr kumimoji="1" sz="4000" spc="0" noProof="0">
              <a:ln>
                <a:noFill/>
              </a:ln>
              <a:solidFill>
                <a:schemeClr val="tx1"/>
              </a:solidFill>
              <a:effectLst/>
              <a:uLnTx/>
              <a:latin typeface="微软雅黑" panose="020B0503020204020204" charset="-122"/>
              <a:cs typeface="微软雅黑" panose="020B0503020204020204" charset="-122"/>
              <a:sym typeface="+mn-ea"/>
            </a:endParaRPr>
          </a:p>
        </p:txBody>
      </p:sp>
      <p:sp>
        <p:nvSpPr>
          <p:cNvPr id="3" name="内容占位符 2"/>
          <p:cNvSpPr>
            <a:spLocks noGrp="1"/>
          </p:cNvSpPr>
          <p:nvPr>
            <p:ph idx="1"/>
          </p:nvPr>
        </p:nvSpPr>
        <p:spPr>
          <a:xfrm>
            <a:off x="502411" y="1061606"/>
            <a:ext cx="8139178" cy="4041680"/>
          </a:xfrm>
        </p:spPr>
        <p:txBody>
          <a:bodyPr/>
          <a:lstStyle/>
          <a:p>
            <a:r>
              <a:rPr lang="zh-CN" altLang="en-US" sz="1800"/>
              <a:t>例如：</a:t>
            </a:r>
            <a:endParaRPr lang="zh-CN" altLang="en-US" sz="1800"/>
          </a:p>
          <a:p>
            <a:pPr lvl="1"/>
            <a:r>
              <a:rPr lang="zh-CN" altLang="en-US" sz="1800" b="1"/>
              <a:t>有些</a:t>
            </a:r>
            <a:r>
              <a:rPr lang="zh-CN" altLang="en-US" sz="1800"/>
              <a:t>人是大学生。 </a:t>
            </a:r>
            <a:endParaRPr lang="zh-CN" altLang="en-US" sz="1800"/>
          </a:p>
          <a:p>
            <a:pPr lvl="1"/>
            <a:r>
              <a:rPr lang="zh-CN" altLang="en-US" sz="1800" b="1"/>
              <a:t>所有</a:t>
            </a:r>
            <a:r>
              <a:rPr lang="zh-CN" altLang="en-US" sz="1800"/>
              <a:t>事物都是发展变化的。 </a:t>
            </a:r>
            <a:endParaRPr lang="zh-CN" altLang="en-US" sz="1800"/>
          </a:p>
          <a:p>
            <a:r>
              <a:rPr lang="zh-CN" altLang="en-US" sz="1800"/>
              <a:t>“有些”,“所有的”,就是对客体量化的词。 </a:t>
            </a:r>
            <a:endParaRPr lang="zh-CN" altLang="en-US" sz="1800"/>
          </a:p>
          <a:p>
            <a:r>
              <a:rPr lang="zh-CN" altLang="en-US" sz="1800" b="1">
                <a:solidFill>
                  <a:srgbClr val="0000FF"/>
                </a:solidFill>
              </a:rPr>
              <a:t>定义：在命题中表示对客体数量化的词，称之为 量词。 </a:t>
            </a:r>
            <a:endParaRPr lang="zh-CN" altLang="en-US" sz="1800" b="1">
              <a:solidFill>
                <a:srgbClr val="0000FF"/>
              </a:solidFill>
            </a:endParaRPr>
          </a:p>
        </p:txBody>
      </p:sp>
      <p:sp>
        <p:nvSpPr>
          <p:cNvPr id="6" name="文本框 5"/>
          <p:cNvSpPr txBox="1"/>
          <p:nvPr/>
        </p:nvSpPr>
        <p:spPr>
          <a:xfrm>
            <a:off x="844550" y="3758565"/>
            <a:ext cx="7454265" cy="645160"/>
          </a:xfrm>
          <a:prstGeom prst="rect">
            <a:avLst/>
          </a:prstGeom>
          <a:noFill/>
        </p:spPr>
        <p:txBody>
          <a:bodyPr wrap="square" rtlCol="0" anchor="t">
            <a:spAutoFit/>
          </a:bodyPr>
          <a:lstStyle/>
          <a:p>
            <a:r>
              <a:rPr lang="zh-CN" altLang="en-US"/>
              <a:t>量词后的指导变元：量词后边要有一个客体变元，用以指明对哪个客体变元量化，称此客体变元是量词后的指导变元（作用变元）</a:t>
            </a:r>
            <a:endParaRPr lang="zh-CN" altLang="en-US"/>
          </a:p>
        </p:txBody>
      </p:sp>
      <p:pic>
        <p:nvPicPr>
          <p:cNvPr id="7" name="图片 6"/>
          <p:cNvPicPr>
            <a:picLocks noChangeAspect="1"/>
          </p:cNvPicPr>
          <p:nvPr/>
        </p:nvPicPr>
        <p:blipFill>
          <a:blip r:embed="rId1"/>
          <a:stretch>
            <a:fillRect/>
          </a:stretch>
        </p:blipFill>
        <p:spPr>
          <a:xfrm>
            <a:off x="1036955" y="4697095"/>
            <a:ext cx="7068820" cy="864235"/>
          </a:xfrm>
          <a:prstGeom prst="rect">
            <a:avLst/>
          </a:prstGeom>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36550" y="297815"/>
            <a:ext cx="2540000" cy="537210"/>
          </a:xfrm>
          <a:prstGeom prst="rect">
            <a:avLst/>
          </a:prstGeom>
          <a:noFill/>
        </p:spPr>
        <p:txBody>
          <a:bodyPr wrap="square" rtlCol="0" anchor="t">
            <a:spAutoFit/>
          </a:bodyPr>
          <a:lstStyle/>
          <a:p>
            <a:pPr algn="l">
              <a:spcBef>
                <a:spcPts val="0"/>
              </a:spcBef>
              <a:spcAft>
                <a:spcPts val="0"/>
              </a:spcAft>
              <a:buClrTx/>
              <a:buSzTx/>
              <a:buFontTx/>
            </a:pPr>
            <a:r>
              <a:rPr lang="zh-CN" altLang="en-US" sz="2900" b="1" dirty="0">
                <a:solidFill>
                  <a:schemeClr val="lt1"/>
                </a:solidFill>
                <a:latin typeface="微软雅黑" panose="020B0503020204020204" charset="-122"/>
                <a:ea typeface="微软雅黑" panose="020B0503020204020204" charset="-122"/>
                <a:cs typeface="微软雅黑" panose="020B0503020204020204" charset="-122"/>
              </a:rPr>
              <a:t>量词</a:t>
            </a:r>
            <a:endParaRPr lang="zh-CN" altLang="en-US" sz="2900" b="1" dirty="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12298" name="矩形 12297"/>
          <p:cNvSpPr/>
          <p:nvPr/>
        </p:nvSpPr>
        <p:spPr>
          <a:xfrm>
            <a:off x="2362200" y="1657350"/>
            <a:ext cx="6026150" cy="258763"/>
          </a:xfrm>
          <a:prstGeom prst="rect">
            <a:avLst/>
          </a:prstGeom>
          <a:noFill/>
          <a:ln w="9525">
            <a:noFill/>
          </a:ln>
        </p:spPr>
        <p:txBody>
          <a:bodyPr wrap="none" rIns="0" anchor="ctr" anchorCtr="0"/>
          <a:lstStyle/>
          <a:p>
            <a:pPr eaLnBrk="0" hangingPunct="0">
              <a:spcBef>
                <a:spcPct val="0"/>
              </a:spcBef>
            </a:pPr>
            <a:r>
              <a:rPr lang="zh-CN" altLang="en-US" dirty="0">
                <a:latin typeface="Times New Roman" panose="02020603050405020304" pitchFamily="18" charset="0"/>
                <a:ea typeface="微软雅黑" panose="020B0503020204020204" charset="-122"/>
                <a:cs typeface="Times New Roman" panose="02020603050405020304" pitchFamily="18" charset="0"/>
              </a:rPr>
              <a:t>表示“对个体域中所有的（或任一个）个体” 。记为</a:t>
            </a:r>
            <a:r>
              <a:rPr lang="en-US" altLang="zh-CN">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endParaRPr lang="en-US" altLang="zh-CN">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
        <p:nvSpPr>
          <p:cNvPr id="12299" name="矩形 12298"/>
          <p:cNvSpPr/>
          <p:nvPr/>
        </p:nvSpPr>
        <p:spPr>
          <a:xfrm>
            <a:off x="1143000" y="1581150"/>
            <a:ext cx="1143000" cy="457200"/>
          </a:xfrm>
          <a:prstGeom prst="rect">
            <a:avLst/>
          </a:prstGeom>
          <a:noFill/>
          <a:ln w="9525">
            <a:noFill/>
          </a:ln>
        </p:spPr>
        <p:txBody>
          <a:bodyPr wrap="none" anchor="ctr" anchorCtr="0"/>
          <a:lstStyle/>
          <a:p>
            <a:pPr algn="ctr">
              <a:spcBef>
                <a:spcPct val="0"/>
              </a:spcBef>
            </a:pPr>
            <a:r>
              <a:rPr lang="zh-CN" altLang="en-US" b="1" dirty="0">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全称量词 </a:t>
            </a:r>
            <a:endParaRPr lang="zh-CN" altLang="en-US" b="1" dirty="0">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
        <p:nvSpPr>
          <p:cNvPr id="12300" name="矩形 12299"/>
          <p:cNvSpPr/>
          <p:nvPr/>
        </p:nvSpPr>
        <p:spPr>
          <a:xfrm>
            <a:off x="2438400" y="3790950"/>
            <a:ext cx="5949950" cy="285750"/>
          </a:xfrm>
          <a:prstGeom prst="rect">
            <a:avLst/>
          </a:prstGeom>
          <a:noFill/>
          <a:ln w="9525">
            <a:noFill/>
          </a:ln>
        </p:spPr>
        <p:txBody>
          <a:bodyPr wrap="none" anchor="ctr" anchorCtr="0"/>
          <a:lstStyle/>
          <a:p>
            <a:pPr eaLnBrk="0" hangingPunct="0">
              <a:spcBef>
                <a:spcPct val="0"/>
              </a:spcBef>
            </a:pPr>
            <a:r>
              <a:rPr lang="zh-CN" altLang="en-US" dirty="0">
                <a:latin typeface="Times New Roman" panose="02020603050405020304" pitchFamily="18" charset="0"/>
                <a:ea typeface="微软雅黑" panose="020B0503020204020204" charset="-122"/>
                <a:cs typeface="Times New Roman" panose="02020603050405020304" pitchFamily="18" charset="0"/>
              </a:rPr>
              <a:t>表示“在个体域中存在个体”。记为</a:t>
            </a:r>
            <a:r>
              <a:rPr lang="en-US" altLang="zh-CN">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endParaRPr lang="en-US" altLang="zh-CN">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
        <p:nvSpPr>
          <p:cNvPr id="12301" name="矩形 12300"/>
          <p:cNvSpPr/>
          <p:nvPr/>
        </p:nvSpPr>
        <p:spPr>
          <a:xfrm>
            <a:off x="1219200" y="3714750"/>
            <a:ext cx="1143000" cy="457200"/>
          </a:xfrm>
          <a:prstGeom prst="rect">
            <a:avLst/>
          </a:prstGeom>
          <a:noFill/>
          <a:ln w="9525">
            <a:noFill/>
          </a:ln>
        </p:spPr>
        <p:txBody>
          <a:bodyPr wrap="none" anchor="ctr" anchorCtr="0"/>
          <a:lstStyle/>
          <a:p>
            <a:pPr algn="ctr">
              <a:spcBef>
                <a:spcPct val="0"/>
              </a:spcBef>
            </a:pPr>
            <a:r>
              <a:rPr lang="zh-CN" altLang="en-US" b="1" dirty="0">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存在量词 </a:t>
            </a:r>
            <a:endParaRPr lang="zh-CN" altLang="en-US" b="1" dirty="0">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
        <p:nvSpPr>
          <p:cNvPr id="12302" name="矩形 12301"/>
          <p:cNvSpPr/>
          <p:nvPr/>
        </p:nvSpPr>
        <p:spPr>
          <a:xfrm>
            <a:off x="1219200" y="2190750"/>
            <a:ext cx="7239000" cy="1295400"/>
          </a:xfrm>
          <a:prstGeom prst="rect">
            <a:avLst/>
          </a:prstGeom>
          <a:solidFill>
            <a:srgbClr val="00E4A8">
              <a:alpha val="50000"/>
            </a:srgbClr>
          </a:solidFill>
          <a:ln w="9525">
            <a:noFill/>
          </a:ln>
        </p:spPr>
        <p:txBody>
          <a:bodyPr wrap="none" anchor="ctr" anchorCtr="0"/>
          <a:lstStyle/>
          <a:p>
            <a:pPr eaLnBrk="0" hangingPunct="0">
              <a:spcBef>
                <a:spcPct val="0"/>
              </a:spcBef>
            </a:pPr>
            <a:r>
              <a:rPr lang="zh-CN" altLang="en-US" sz="2400" dirty="0">
                <a:latin typeface="Times New Roman" panose="02020603050405020304" pitchFamily="18" charset="0"/>
                <a:ea typeface="微软雅黑" panose="020B0503020204020204" charset="-122"/>
                <a:cs typeface="Times New Roman" panose="02020603050405020304" pitchFamily="18" charset="0"/>
              </a:rPr>
              <a:t>如：“凡是人都有名字”</a:t>
            </a:r>
            <a:endParaRPr lang="zh-CN" altLang="en-US" sz="2400" dirty="0">
              <a:latin typeface="Times New Roman" panose="02020603050405020304" pitchFamily="18" charset="0"/>
              <a:ea typeface="微软雅黑" panose="020B0503020204020204" charset="-122"/>
              <a:cs typeface="Times New Roman" panose="02020603050405020304" pitchFamily="18" charset="0"/>
            </a:endParaRPr>
          </a:p>
          <a:p>
            <a:pPr eaLnBrk="0" hangingPunct="0">
              <a:spcBef>
                <a:spcPct val="0"/>
              </a:spcBef>
            </a:pPr>
            <a:r>
              <a:rPr lang="zh-CN" altLang="en-US" sz="2400">
                <a:latin typeface="Times New Roman" panose="02020603050405020304" pitchFamily="18" charset="0"/>
                <a:ea typeface="微软雅黑" panose="020B050302020402020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用</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M</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表示“</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是人”，</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N</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表示“</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有名字” </a:t>
            </a:r>
            <a:endPar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eaLnBrk="0" hangingPunct="0">
              <a:spcBef>
                <a:spcPct val="0"/>
              </a:spcBef>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M</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b="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N</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endPar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
        <p:nvSpPr>
          <p:cNvPr id="12303" name="矩形 12302"/>
          <p:cNvSpPr/>
          <p:nvPr/>
        </p:nvSpPr>
        <p:spPr>
          <a:xfrm>
            <a:off x="1219200" y="4400550"/>
            <a:ext cx="7240588" cy="1404938"/>
          </a:xfrm>
          <a:prstGeom prst="rect">
            <a:avLst/>
          </a:prstGeom>
          <a:solidFill>
            <a:srgbClr val="00E4A8">
              <a:alpha val="50000"/>
            </a:srgbClr>
          </a:solidFill>
          <a:ln w="9525">
            <a:noFill/>
          </a:ln>
        </p:spPr>
        <p:txBody>
          <a:bodyPr wrap="none" anchor="ctr" anchorCtr="0"/>
          <a:lstStyle/>
          <a:p>
            <a:pPr eaLnBrk="0" hangingPunct="0">
              <a:spcBef>
                <a:spcPct val="0"/>
              </a:spcBef>
            </a:pPr>
            <a:r>
              <a:rPr lang="zh-CN" altLang="en-US" sz="2400" dirty="0">
                <a:latin typeface="Times New Roman" panose="02020603050405020304" pitchFamily="18" charset="0"/>
                <a:ea typeface="微软雅黑" panose="020B0503020204020204" charset="-122"/>
                <a:cs typeface="Times New Roman" panose="02020603050405020304" pitchFamily="18" charset="0"/>
              </a:rPr>
              <a:t>如：“存在不是偶数的整数”</a:t>
            </a:r>
            <a:endParaRPr lang="zh-CN" altLang="en-US" sz="2400" dirty="0">
              <a:latin typeface="Times New Roman" panose="02020603050405020304" pitchFamily="18" charset="0"/>
              <a:ea typeface="微软雅黑" panose="020B0503020204020204" charset="-122"/>
              <a:cs typeface="Times New Roman" panose="02020603050405020304" pitchFamily="18" charset="0"/>
            </a:endParaRPr>
          </a:p>
          <a:p>
            <a:pPr eaLnBrk="0" hangingPunct="0">
              <a:spcBef>
                <a:spcPct val="0"/>
              </a:spcBef>
            </a:pP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用</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G</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）表示“</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是整数”，</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E</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）表示“</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是偶数”</a:t>
            </a:r>
            <a:endPar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eaLnBrk="0" hangingPunct="0">
              <a:spcBef>
                <a:spcPct val="0"/>
              </a:spcBef>
            </a:pP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x</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G</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b="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E</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endPar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302">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2302">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23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3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303">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2303">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230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23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2" grpId="0" animBg="1" uiExpand="1" build="p"/>
      <p:bldP spid="12303" grpId="0" animBg="1"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0355" y="269875"/>
            <a:ext cx="3971925" cy="537210"/>
          </a:xfrm>
          <a:prstGeom prst="rect">
            <a:avLst/>
          </a:prstGeom>
          <a:noFill/>
        </p:spPr>
        <p:txBody>
          <a:bodyPr wrap="square" rtlCol="0" anchor="t">
            <a:spAutoFit/>
          </a:bodyPr>
          <a:lstStyle/>
          <a:p>
            <a:pPr algn="l">
              <a:spcBef>
                <a:spcPts val="0"/>
              </a:spcBef>
              <a:spcAft>
                <a:spcPts val="0"/>
              </a:spcAft>
              <a:buClrTx/>
              <a:buSzTx/>
              <a:buFontTx/>
            </a:pPr>
            <a:r>
              <a:rPr lang="zh-CN" altLang="en-US" sz="2900" b="1" dirty="0">
                <a:solidFill>
                  <a:schemeClr val="lt1"/>
                </a:solidFill>
                <a:latin typeface="微软雅黑" panose="020B0503020204020204" charset="-122"/>
                <a:ea typeface="微软雅黑" panose="020B0503020204020204" charset="-122"/>
                <a:cs typeface="微软雅黑" panose="020B0503020204020204" charset="-122"/>
              </a:rPr>
              <a:t>量词嵌套与等价</a:t>
            </a:r>
            <a:endParaRPr lang="zh-CN" altLang="en-US" sz="2900" b="1" dirty="0">
              <a:solidFill>
                <a:schemeClr val="lt1"/>
              </a:solidFill>
              <a:latin typeface="微软雅黑" panose="020B0503020204020204" charset="-122"/>
              <a:ea typeface="微软雅黑" panose="020B0503020204020204" charset="-122"/>
              <a:cs typeface="微软雅黑" panose="020B0503020204020204" charset="-122"/>
            </a:endParaRPr>
          </a:p>
        </p:txBody>
      </p:sp>
      <p:graphicFrame>
        <p:nvGraphicFramePr>
          <p:cNvPr id="4106" name="Object 12"/>
          <p:cNvGraphicFramePr/>
          <p:nvPr/>
        </p:nvGraphicFramePr>
        <p:xfrm>
          <a:off x="838835" y="5059680"/>
          <a:ext cx="7630795" cy="734695"/>
        </p:xfrm>
        <a:graphic>
          <a:graphicData uri="http://schemas.openxmlformats.org/presentationml/2006/ole">
            <mc:AlternateContent xmlns:mc="http://schemas.openxmlformats.org/markup-compatibility/2006">
              <mc:Choice xmlns:v="urn:schemas-microsoft-com:vml" Requires="v">
                <p:oleObj spid="_x0000_s3119" name="" r:id="rId1" imgW="4025900" imgH="457200" progId="Equation.DSMT4">
                  <p:embed/>
                </p:oleObj>
              </mc:Choice>
              <mc:Fallback>
                <p:oleObj name="" r:id="rId1" imgW="4025900" imgH="457200" progId="Equation.DSMT4">
                  <p:embed/>
                  <p:pic>
                    <p:nvPicPr>
                      <p:cNvPr id="0" name="图片 3102"/>
                      <p:cNvPicPr/>
                      <p:nvPr/>
                    </p:nvPicPr>
                    <p:blipFill>
                      <a:blip r:embed="rId2"/>
                      <a:stretch>
                        <a:fillRect/>
                      </a:stretch>
                    </p:blipFill>
                    <p:spPr>
                      <a:xfrm>
                        <a:off x="838835" y="5059680"/>
                        <a:ext cx="7630795" cy="734695"/>
                      </a:xfrm>
                      <a:prstGeom prst="rect">
                        <a:avLst/>
                      </a:prstGeom>
                      <a:noFill/>
                      <a:ln w="38100">
                        <a:noFill/>
                        <a:miter/>
                      </a:ln>
                    </p:spPr>
                  </p:pic>
                </p:oleObj>
              </mc:Fallback>
            </mc:AlternateContent>
          </a:graphicData>
        </a:graphic>
      </p:graphicFrame>
      <p:sp>
        <p:nvSpPr>
          <p:cNvPr id="3" name="Rectangle 3"/>
          <p:cNvSpPr>
            <a:spLocks noGrp="1" noChangeArrowheads="1"/>
          </p:cNvSpPr>
          <p:nvPr/>
        </p:nvSpPr>
        <p:spPr>
          <a:xfrm>
            <a:off x="539750" y="3171190"/>
            <a:ext cx="8064500" cy="1434465"/>
          </a:xfrm>
          <a:prstGeom prst="rect">
            <a:avLst/>
          </a:prstGeom>
          <a:noFill/>
          <a:ln w="9525">
            <a:noFill/>
          </a:ln>
        </p:spPr>
        <p:txBody>
          <a:bodyPr vert="horz" wrap="square" lIns="91440" tIns="45720" rIns="91440" bIns="45720" numCol="1" rtlCol="0" anchor="t" anchorCtr="0" compatLnSpc="1">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marL="342900" marR="0" lvl="0" indent="-342900" algn="l" defTabSz="914400" rtl="0" eaLnBrk="1" fontAlgn="auto" latinLnBrk="0" hangingPunct="1">
              <a:lnSpc>
                <a:spcPct val="140000"/>
              </a:lnSpc>
              <a:spcBef>
                <a:spcPct val="20000"/>
              </a:spcBef>
              <a:spcAft>
                <a:spcPts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 量词的</a:t>
            </a:r>
            <a:r>
              <a:rPr kumimoji="0" lang="zh-CN" altLang="en-US" sz="1800" b="1"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cs typeface="微软雅黑" panose="020B0503020204020204" charset="-122"/>
              </a:rPr>
              <a:t>二元性</a:t>
            </a: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：每个都可以用另一个来表达，</a:t>
            </a:r>
            <a:r>
              <a:rPr kumimoji="0" lang="en-US" altLang="zh-CN"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Symbol" panose="05050102010706020507" pitchFamily="18" charset="2"/>
              </a:rPr>
              <a:t>和</a:t>
            </a:r>
            <a:r>
              <a:rPr kumimoji="0" lang="en-US" altLang="zh-CN"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Symbol" panose="05050102010706020507" pitchFamily="18" charset="2"/>
              </a:rPr>
              <a:t>  </a:t>
            </a: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Symbol" panose="05050102010706020507" pitchFamily="18" charset="2"/>
              </a:rPr>
              <a:t>可通过“非”操作而联系</a:t>
            </a:r>
            <a:endParaRPr kumimoji="0" lang="en-US" altLang="zh-CN"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endParaRPr>
          </a:p>
          <a:p>
            <a:pPr marL="342900" marR="0" lvl="0" indent="-342900" algn="l" defTabSz="914400" rtl="0" eaLnBrk="1" fontAlgn="auto" latinLnBrk="0" hangingPunct="1">
              <a:lnSpc>
                <a:spcPct val="140000"/>
              </a:lnSpc>
              <a:spcBef>
                <a:spcPct val="20000"/>
              </a:spcBef>
              <a:spcAft>
                <a:spcPts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“每个人都喜欢冰淇淋”意味着“没有一个人不喜欢冰淇淋”</a:t>
            </a:r>
            <a:endPar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endParaRPr>
          </a:p>
          <a:p>
            <a:pPr marL="342900" marR="0" lvl="0" indent="-342900" algn="l" defTabSz="914400" rtl="0" eaLnBrk="1" fontAlgn="auto" latinLnBrk="0" hangingPunct="1">
              <a:lnSpc>
                <a:spcPct val="140000"/>
              </a:lnSpc>
              <a:spcBef>
                <a:spcPct val="20000"/>
              </a:spcBef>
              <a:spcAft>
                <a:spcPts val="0"/>
              </a:spcAft>
              <a:buClr>
                <a:schemeClr val="folHlink"/>
              </a:buClr>
              <a:buSzTx/>
              <a:buFontTx/>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“存在某个喜欢巧克力的人”意味着“并不是所有人都不喜欢巧克力”</a:t>
            </a:r>
            <a:endPar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109" name="灯片编号占位符 12"/>
          <p:cNvSpPr txBox="1">
            <a:spLocks noGrp="1"/>
          </p:cNvSpPr>
          <p:nvPr/>
        </p:nvSpPr>
        <p:spPr>
          <a:xfrm>
            <a:off x="6553200" y="6248400"/>
            <a:ext cx="2133600" cy="457200"/>
          </a:xfrm>
          <a:prstGeom prst="rect">
            <a:avLst/>
          </a:prstGeom>
          <a:noFill/>
          <a:ln w="9525">
            <a:noFill/>
            <a:miter lim="800000"/>
          </a:ln>
          <a:effectLst/>
        </p:spPr>
        <p:txBody>
          <a:bodyPr vert="horz" wrap="square" lIns="91440" tIns="45720" rIns="91440" bIns="45720" numCol="1" anchor="t" anchorCtr="0" compatLnSpc="1"/>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6" name="文本框 5"/>
          <p:cNvSpPr txBox="1"/>
          <p:nvPr/>
        </p:nvSpPr>
        <p:spPr>
          <a:xfrm>
            <a:off x="4974590" y="1046480"/>
            <a:ext cx="3641090" cy="1337945"/>
          </a:xfrm>
          <a:prstGeom prst="rect">
            <a:avLst/>
          </a:prstGeom>
          <a:noFill/>
        </p:spPr>
        <p:txBody>
          <a:bodyPr wrap="square" rtlCol="0" anchor="t">
            <a:spAutoFit/>
          </a:bodyPr>
          <a:lstStyle/>
          <a:p>
            <a:pPr>
              <a:lnSpc>
                <a:spcPct val="150000"/>
              </a:lnSpc>
            </a:pPr>
            <a:r>
              <a:rPr lang="zh-CN" altLang="en-US">
                <a:latin typeface="Times New Roman" panose="02020603050405020304" pitchFamily="18" charset="0"/>
                <a:ea typeface="微软雅黑" panose="020B0503020204020204" charset="-122"/>
                <a:cs typeface="Times New Roman" panose="02020603050405020304" pitchFamily="18" charset="0"/>
              </a:rPr>
              <a:t>∀x∀y is the same as ∀y∀x</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zh-CN" altLang="en-US">
                <a:latin typeface="Times New Roman" panose="02020603050405020304" pitchFamily="18" charset="0"/>
                <a:ea typeface="微软雅黑" panose="020B0503020204020204" charset="-122"/>
                <a:cs typeface="Times New Roman" panose="02020603050405020304" pitchFamily="18" charset="0"/>
              </a:rPr>
              <a:t>∃x∃y is the same as ∃y∃x</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zh-CN" altLang="en-US">
                <a:latin typeface="Times New Roman" panose="02020603050405020304" pitchFamily="18" charset="0"/>
                <a:ea typeface="微软雅黑" panose="020B0503020204020204" charset="-122"/>
                <a:cs typeface="Times New Roman" panose="02020603050405020304" pitchFamily="18" charset="0"/>
              </a:rPr>
              <a:t>∃x∀y is not the same as ∀y∃x</a:t>
            </a:r>
            <a:endParaRPr lang="zh-CN" altLang="en-US">
              <a:latin typeface="Times New Roman" panose="02020603050405020304" pitchFamily="18" charset="0"/>
              <a:ea typeface="微软雅黑" panose="020B0503020204020204" charset="-122"/>
              <a:cs typeface="Times New Roman" panose="02020603050405020304" pitchFamily="18" charset="0"/>
            </a:endParaRPr>
          </a:p>
        </p:txBody>
      </p:sp>
      <p:sp>
        <p:nvSpPr>
          <p:cNvPr id="7" name="文本框 6"/>
          <p:cNvSpPr txBox="1"/>
          <p:nvPr/>
        </p:nvSpPr>
        <p:spPr>
          <a:xfrm>
            <a:off x="300355" y="1046480"/>
            <a:ext cx="4779645" cy="1337945"/>
          </a:xfrm>
          <a:prstGeom prst="rect">
            <a:avLst/>
          </a:prstGeom>
          <a:noFill/>
        </p:spPr>
        <p:txBody>
          <a:bodyPr wrap="square" rtlCol="0" anchor="t">
            <a:spAutoFit/>
          </a:bodyPr>
          <a:lstStyle/>
          <a:p>
            <a:pPr>
              <a:lnSpc>
                <a:spcPct val="150000"/>
              </a:lnSpc>
            </a:pPr>
            <a:r>
              <a:rPr lang="zh-CN" altLang="en-US">
                <a:latin typeface="Times New Roman" panose="02020603050405020304" pitchFamily="18" charset="0"/>
                <a:ea typeface="微软雅黑" panose="020B0503020204020204" charset="-122"/>
                <a:cs typeface="Times New Roman" panose="02020603050405020304" pitchFamily="18" charset="0"/>
              </a:rPr>
              <a:t>Loves(x,y)：x爱y</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zh-CN" altLang="en-US">
                <a:latin typeface="Times New Roman" panose="02020603050405020304" pitchFamily="18" charset="0"/>
                <a:ea typeface="微软雅黑" panose="020B0503020204020204" charset="-122"/>
                <a:cs typeface="Times New Roman" panose="02020603050405020304" pitchFamily="18" charset="0"/>
              </a:rPr>
              <a:t>∀x∃y Loves(x,y)：每个人都会爱上某人</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zh-CN" altLang="en-US">
                <a:latin typeface="Times New Roman" panose="02020603050405020304" pitchFamily="18" charset="0"/>
                <a:ea typeface="微软雅黑" panose="020B0503020204020204" charset="-122"/>
                <a:cs typeface="Times New Roman" panose="02020603050405020304" pitchFamily="18" charset="0"/>
              </a:rPr>
              <a:t>∃y∀x Loves(x,y)：存在某个人被每个人爱</a:t>
            </a:r>
            <a:endParaRPr lang="zh-CN" altLang="en-US">
              <a:latin typeface="Times New Roman" panose="02020603050405020304" pitchFamily="18" charset="0"/>
              <a:ea typeface="微软雅黑" panose="020B0503020204020204" charset="-122"/>
              <a:cs typeface="Times New Roman" panose="02020603050405020304" pitchFamily="18" charset="0"/>
            </a:endParaRPr>
          </a:p>
        </p:txBody>
      </p:sp>
      <p:sp>
        <p:nvSpPr>
          <p:cNvPr id="4" name="文本框 3"/>
          <p:cNvSpPr txBox="1"/>
          <p:nvPr/>
        </p:nvSpPr>
        <p:spPr>
          <a:xfrm>
            <a:off x="534035" y="2470785"/>
            <a:ext cx="8240395" cy="521970"/>
          </a:xfrm>
          <a:prstGeom prst="rect">
            <a:avLst/>
          </a:prstGeom>
          <a:noFill/>
        </p:spPr>
        <p:txBody>
          <a:bodyPr wrap="square" rtlCol="0" anchor="t">
            <a:spAutoFit/>
          </a:bodyPr>
          <a:lstStyle/>
          <a:p>
            <a:r>
              <a:rPr lang="zh-CN" altLang="en-US" sz="2800" b="1">
                <a:solidFill>
                  <a:srgbClr val="C00000"/>
                </a:solidFill>
                <a:latin typeface="微软雅黑" panose="020B0503020204020204" charset="-122"/>
                <a:ea typeface="微软雅黑" panose="020B0503020204020204" charset="-122"/>
                <a:cs typeface="+mn-ea"/>
                <a:sym typeface="+mn-ea"/>
              </a:rPr>
              <a:t>量词不能颠倒先后顺序，否则会改变公式的含义。</a:t>
            </a:r>
            <a:endParaRPr lang="zh-CN" altLang="en-US" sz="2800" b="1">
              <a:solidFill>
                <a:srgbClr val="C00000"/>
              </a:solidFill>
              <a:latin typeface="微软雅黑" panose="020B0503020204020204" charset="-122"/>
              <a:ea typeface="微软雅黑" panose="020B0503020204020204" charset="-122"/>
              <a:cs typeface="+mn-ea"/>
              <a:sym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CE325732-E086-43AB-952F-368D7FD7E996}"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6194" name="Rectangle 2"/>
          <p:cNvSpPr>
            <a:spLocks noGrp="1" noChangeArrowheads="1"/>
          </p:cNvSpPr>
          <p:nvPr>
            <p:ph type="title"/>
          </p:nvPr>
        </p:nvSpPr>
        <p:spPr>
          <a:xfrm>
            <a:off x="612140" y="247650"/>
            <a:ext cx="8280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00000"/>
                </a:solidFill>
                <a:effectLst/>
                <a:uLnTx/>
                <a:uFillTx/>
                <a:latin typeface="微软雅黑" panose="020B0503020204020204" charset="-122"/>
                <a:cs typeface="+mj-cs"/>
              </a:rPr>
              <a:t>约束变量（约束变元）和自由变量（自由变元）</a:t>
            </a:r>
            <a:endParaRPr kumimoji="1" lang="zh-CN" altLang="en-US" sz="2800" b="1" i="0" u="none" strike="noStrike" kern="1200" cap="none" spc="0" normalizeH="0" baseline="0" noProof="0">
              <a:ln>
                <a:noFill/>
              </a:ln>
              <a:solidFill>
                <a:srgbClr val="C00000"/>
              </a:solidFill>
              <a:effectLst/>
              <a:uLnTx/>
              <a:uFillTx/>
              <a:latin typeface="微软雅黑" panose="020B0503020204020204" charset="-122"/>
              <a:cs typeface="+mj-cs"/>
            </a:endParaRPr>
          </a:p>
        </p:txBody>
      </p:sp>
      <p:sp>
        <p:nvSpPr>
          <p:cNvPr id="136195" name="Rectangle 3"/>
          <p:cNvSpPr>
            <a:spLocks noGrp="1"/>
          </p:cNvSpPr>
          <p:nvPr>
            <p:ph idx="1"/>
          </p:nvPr>
        </p:nvSpPr>
        <p:spPr>
          <a:xfrm>
            <a:off x="504190" y="1103948"/>
            <a:ext cx="8135938" cy="4752975"/>
          </a:xfrm>
        </p:spPr>
        <p:txBody>
          <a:bodyPr vert="horz" wrap="square" lIns="91440" tIns="45720" rIns="91440" bIns="45720" anchor="t" anchorCtr="0"/>
          <a:lstStyle/>
          <a:p>
            <a:pPr marL="171450" indent="-171450" algn="just" fontAlgn="auto">
              <a:lnSpc>
                <a:spcPct val="115000"/>
              </a:lnSpc>
              <a:spcBef>
                <a:spcPts val="0"/>
              </a:spcBef>
              <a:spcAft>
                <a:spcPts val="1000"/>
              </a:spcAft>
              <a:buFont typeface="Arial" panose="020B0604020202020204" pitchFamily="34" charset="0"/>
              <a:buChar char="•"/>
            </a:pPr>
            <a:r>
              <a:rPr sz="2000" b="1">
                <a:latin typeface="Times New Roman" panose="02020603050405020304" pitchFamily="18" charset="0"/>
                <a:cs typeface="Times New Roman" panose="02020603050405020304" pitchFamily="18" charset="0"/>
                <a:sym typeface="+mn-ea"/>
              </a:rPr>
              <a:t>约束变量：</a:t>
            </a:r>
            <a:r>
              <a:rPr sz="2000" b="1">
                <a:latin typeface="Times New Roman" panose="02020603050405020304" pitchFamily="18" charset="0"/>
                <a:cs typeface="Times New Roman" panose="02020603050405020304" pitchFamily="18" charset="0"/>
                <a:sym typeface="Symbol" panose="05050102010706020507" pitchFamily="18" charset="2"/>
              </a:rPr>
              <a:t></a:t>
            </a:r>
            <a:r>
              <a:rPr sz="2000" b="1">
                <a:latin typeface="Times New Roman" panose="02020603050405020304" pitchFamily="18" charset="0"/>
                <a:cs typeface="Times New Roman" panose="02020603050405020304" pitchFamily="18" charset="0"/>
                <a:sym typeface="+mn-ea"/>
              </a:rPr>
              <a:t>、</a:t>
            </a:r>
            <a:r>
              <a:rPr sz="2000" b="1">
                <a:latin typeface="Times New Roman" panose="02020603050405020304" pitchFamily="18" charset="0"/>
                <a:cs typeface="Times New Roman" panose="02020603050405020304" pitchFamily="18" charset="0"/>
                <a:sym typeface="Symbol" panose="05050102010706020507" pitchFamily="18" charset="2"/>
              </a:rPr>
              <a:t></a:t>
            </a:r>
            <a:r>
              <a:rPr sz="2000" b="1">
                <a:latin typeface="Times New Roman" panose="02020603050405020304" pitchFamily="18" charset="0"/>
                <a:cs typeface="Times New Roman" panose="02020603050405020304" pitchFamily="18" charset="0"/>
                <a:sym typeface="+mn-ea"/>
              </a:rPr>
              <a:t>中</a:t>
            </a:r>
            <a:r>
              <a:rPr lang="en-US" altLang="zh-CN" sz="2000" b="1">
                <a:latin typeface="Times New Roman" panose="02020603050405020304" pitchFamily="18" charset="0"/>
                <a:cs typeface="Times New Roman" panose="02020603050405020304" pitchFamily="18" charset="0"/>
                <a:sym typeface="+mn-ea"/>
              </a:rPr>
              <a:t>x</a:t>
            </a:r>
            <a:r>
              <a:rPr sz="2000" b="1">
                <a:latin typeface="Times New Roman" panose="02020603050405020304" pitchFamily="18" charset="0"/>
                <a:cs typeface="Times New Roman" panose="02020603050405020304" pitchFamily="18" charset="0"/>
                <a:sym typeface="+mn-ea"/>
              </a:rPr>
              <a:t>的变量，量词所管辖的公式如</a:t>
            </a:r>
            <a:r>
              <a:rPr lang="en-US" altLang="zh-CN" sz="2000" b="1">
                <a:latin typeface="Times New Roman" panose="02020603050405020304" pitchFamily="18" charset="0"/>
                <a:cs typeface="Times New Roman" panose="02020603050405020304" pitchFamily="18" charset="0"/>
                <a:sym typeface="+mn-ea"/>
              </a:rPr>
              <a:t>P(x)</a:t>
            </a:r>
            <a:r>
              <a:rPr sz="2000" b="1">
                <a:latin typeface="Times New Roman" panose="02020603050405020304" pitchFamily="18" charset="0"/>
                <a:cs typeface="Times New Roman" panose="02020603050405020304" pitchFamily="18" charset="0"/>
                <a:sym typeface="+mn-ea"/>
              </a:rPr>
              <a:t>称为</a:t>
            </a:r>
            <a:r>
              <a:rPr sz="2000" b="1">
                <a:solidFill>
                  <a:srgbClr val="C00000"/>
                </a:solidFill>
                <a:latin typeface="Times New Roman" panose="02020603050405020304" pitchFamily="18" charset="0"/>
                <a:cs typeface="Times New Roman" panose="02020603050405020304" pitchFamily="18" charset="0"/>
                <a:sym typeface="+mn-ea"/>
              </a:rPr>
              <a:t>量词辖域</a:t>
            </a:r>
            <a:r>
              <a:rPr sz="2000" b="1">
                <a:solidFill>
                  <a:srgbClr val="FF0000"/>
                </a:solidFill>
                <a:latin typeface="华文中宋" panose="02010600040101010101" pitchFamily="2" charset="-122"/>
                <a:ea typeface="华文中宋" panose="02010600040101010101" pitchFamily="2" charset="-122"/>
                <a:sym typeface="+mn-ea"/>
              </a:rPr>
              <a:t>或相应量词的作用域</a:t>
            </a:r>
            <a:endParaRPr sz="2000" b="1">
              <a:solidFill>
                <a:srgbClr val="FF0000"/>
              </a:solidFill>
              <a:latin typeface="华文中宋" panose="02010600040101010101" pitchFamily="2" charset="-122"/>
              <a:ea typeface="华文中宋" panose="02010600040101010101" pitchFamily="2" charset="-122"/>
              <a:sym typeface="+mn-ea"/>
            </a:endParaRPr>
          </a:p>
          <a:p>
            <a:pPr marL="171450" indent="-171450" algn="just" fontAlgn="auto">
              <a:lnSpc>
                <a:spcPct val="115000"/>
              </a:lnSpc>
              <a:spcBef>
                <a:spcPts val="0"/>
              </a:spcBef>
              <a:spcAft>
                <a:spcPts val="1000"/>
              </a:spcAft>
              <a:buFont typeface="Arial" panose="020B0604020202020204" pitchFamily="34" charset="0"/>
              <a:buChar char="•"/>
            </a:pPr>
            <a:r>
              <a:rPr sz="2000" b="1">
                <a:latin typeface="Times New Roman" panose="02020603050405020304" pitchFamily="18" charset="0"/>
                <a:cs typeface="Times New Roman" panose="02020603050405020304" pitchFamily="18" charset="0"/>
                <a:sym typeface="+mn-ea"/>
              </a:rPr>
              <a:t>自由变量：不在量词辖域内的变量为自由变量</a:t>
            </a:r>
            <a:endParaRPr lang="zh-CN" altLang="en-US" sz="2000" b="1" spc="150" dirty="0">
              <a:solidFill>
                <a:schemeClr val="tx1">
                  <a:lumMod val="75000"/>
                  <a:lumOff val="25000"/>
                </a:schemeClr>
              </a:solidFill>
              <a:uFillTx/>
              <a:latin typeface="Times New Roman" panose="02020603050405020304" pitchFamily="18" charset="0"/>
              <a:ea typeface="微软雅黑" panose="020B0503020204020204" charset="-122"/>
              <a:cs typeface="Times New Roman" panose="02020603050405020304" pitchFamily="18" charset="0"/>
              <a:sym typeface="+mn-ea"/>
            </a:endParaRPr>
          </a:p>
          <a:p>
            <a:pPr eaLnBrk="1" hangingPunct="1"/>
            <a:r>
              <a:rPr lang="zh-CN" altLang="en-US" sz="2000" b="1" dirty="0">
                <a:latin typeface="Times New Roman" panose="02020603050405020304" pitchFamily="18" charset="0"/>
                <a:cs typeface="Times New Roman" panose="02020603050405020304" pitchFamily="18" charset="0"/>
              </a:rPr>
              <a:t>区别：自由变量可代入常量，约束变量不行，因为</a:t>
            </a:r>
            <a:r>
              <a:rPr lang="zh-CN" altLang="en-US"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 P(a)</a:t>
            </a:r>
            <a:r>
              <a:rPr lang="zh-CN" altLang="zh-CN" sz="2000" b="1" dirty="0">
                <a:latin typeface="Times New Roman" panose="02020603050405020304" pitchFamily="18" charset="0"/>
                <a:cs typeface="Times New Roman" panose="02020603050405020304" pitchFamily="18" charset="0"/>
                <a:sym typeface="Symbol" panose="05050102010706020507" pitchFamily="18" charset="2"/>
              </a:rPr>
              <a:t>无意义</a:t>
            </a:r>
            <a:r>
              <a:rPr lang="zh-CN" altLang="en-US" sz="2000" b="1" dirty="0">
                <a:latin typeface="Times New Roman" panose="02020603050405020304" pitchFamily="18" charset="0"/>
                <a:cs typeface="Times New Roman" panose="02020603050405020304" pitchFamily="18" charset="0"/>
              </a:rPr>
              <a:t> ；约束变量可改名，自由变量不行</a:t>
            </a:r>
            <a:endParaRPr lang="zh-CN" altLang="en-US" sz="2000" b="1" dirty="0">
              <a:latin typeface="Times New Roman" panose="02020603050405020304" pitchFamily="18" charset="0"/>
              <a:cs typeface="Times New Roman" panose="02020603050405020304" pitchFamily="18" charset="0"/>
            </a:endParaRPr>
          </a:p>
          <a:p>
            <a:pPr lvl="1" eaLnBrk="1" hangingPunct="1"/>
            <a:r>
              <a:rPr lang="zh-CN" altLang="en-US" sz="2000" b="1" dirty="0">
                <a:latin typeface="Times New Roman" panose="02020603050405020304" pitchFamily="18" charset="0"/>
                <a:cs typeface="Times New Roman" panose="02020603050405020304" pitchFamily="18" charset="0"/>
              </a:rPr>
              <a:t>带有全称变量</a:t>
            </a:r>
            <a:r>
              <a:rPr lang="zh-CN" altLang="en-US"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x</a:t>
            </a:r>
            <a:r>
              <a:rPr lang="zh-CN" altLang="en-US" sz="2000" b="1" dirty="0">
                <a:latin typeface="Times New Roman" panose="02020603050405020304" pitchFamily="18" charset="0"/>
                <a:cs typeface="Times New Roman" panose="02020603050405020304" pitchFamily="18" charset="0"/>
              </a:rPr>
              <a:t>的命题表示为一阶公式时，其表示形式为 </a:t>
            </a:r>
            <a:r>
              <a:rPr lang="zh-CN" altLang="en-US"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x(P(x)→…)</a:t>
            </a:r>
            <a:r>
              <a:rPr lang="zh-CN" altLang="en-US" sz="2000" b="1" dirty="0">
                <a:latin typeface="Times New Roman" panose="02020603050405020304" pitchFamily="18" charset="0"/>
                <a:cs typeface="Times New Roman" panose="02020603050405020304" pitchFamily="18" charset="0"/>
              </a:rPr>
              <a:t>，带有存在变量</a:t>
            </a:r>
            <a:r>
              <a:rPr lang="zh-CN" altLang="en-US"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x</a:t>
            </a:r>
            <a:r>
              <a:rPr lang="zh-CN" altLang="en-US" sz="2000" b="1" dirty="0">
                <a:latin typeface="Times New Roman" panose="02020603050405020304" pitchFamily="18" charset="0"/>
                <a:cs typeface="Times New Roman" panose="02020603050405020304" pitchFamily="18" charset="0"/>
              </a:rPr>
              <a:t>的命题则表示形式为</a:t>
            </a:r>
            <a:r>
              <a:rPr lang="zh-CN" altLang="en-US"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x(P(x)∧…)</a:t>
            </a:r>
            <a:endParaRPr lang="en-US" altLang="zh-CN" sz="2000" b="1" dirty="0">
              <a:latin typeface="Times New Roman" panose="02020603050405020304" pitchFamily="18" charset="0"/>
              <a:cs typeface="Times New Roman" panose="02020603050405020304" pitchFamily="18" charset="0"/>
            </a:endParaRPr>
          </a:p>
          <a:p>
            <a:pPr lvl="1" eaLnBrk="1" hangingPunct="1"/>
            <a:r>
              <a:rPr lang="zh-CN" altLang="en-US" sz="2000" b="1" dirty="0">
                <a:latin typeface="Times New Roman" panose="02020603050405020304" pitchFamily="18" charset="0"/>
                <a:cs typeface="Times New Roman" panose="02020603050405020304" pitchFamily="18" charset="0"/>
              </a:rPr>
              <a:t>例子：所有有理数都是实数 </a:t>
            </a:r>
            <a:r>
              <a:rPr lang="zh-CN" altLang="en-US"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x(P(x)→R(x))</a:t>
            </a:r>
            <a:r>
              <a:rPr lang="zh-CN" altLang="en-US"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有些人身高超过2米</a:t>
            </a:r>
            <a:r>
              <a:rPr lang="zh-CN" altLang="en-US"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x(M(x)∧G(x))</a:t>
            </a:r>
            <a:endParaRPr lang="en-US" altLang="zh-CN" sz="2000" b="1" dirty="0">
              <a:latin typeface="Times New Roman" panose="02020603050405020304" pitchFamily="18" charset="0"/>
              <a:cs typeface="Times New Roman" panose="02020603050405020304" pitchFamily="18" charset="0"/>
            </a:endParaRPr>
          </a:p>
          <a:p>
            <a:pPr lvl="1" eaLnBrk="1" hangingPunct="1"/>
            <a:r>
              <a:rPr lang="zh-CN" altLang="en-US" sz="2000" b="1" dirty="0">
                <a:latin typeface="Times New Roman" panose="02020603050405020304" pitchFamily="18" charset="0"/>
                <a:cs typeface="Times New Roman" panose="02020603050405020304" pitchFamily="18" charset="0"/>
              </a:rPr>
              <a:t>上述使用方式不可改变，否则造成逻辑错误</a:t>
            </a:r>
            <a:endParaRPr lang="zh-CN" altLang="en-US" sz="2000" b="1"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61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61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61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61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bldLvl="5" uiExpand="1" build="p"/>
      <p:bldP spid="136195"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文本占位符 92162"/>
          <p:cNvSpPr>
            <a:spLocks noGrp="1"/>
          </p:cNvSpPr>
          <p:nvPr>
            <p:ph type="body" idx="1"/>
          </p:nvPr>
        </p:nvSpPr>
        <p:spPr>
          <a:xfrm>
            <a:off x="711200" y="416560"/>
            <a:ext cx="8084820" cy="2807335"/>
          </a:xfrm>
        </p:spPr>
        <p:txBody>
          <a:bodyPr/>
          <a:lstStyle/>
          <a:p>
            <a:pPr>
              <a:lnSpc>
                <a:spcPct val="120000"/>
              </a:lnSpc>
            </a:pPr>
            <a:r>
              <a:rPr lang="zh-CN" altLang="en-US" sz="1800" b="1" dirty="0">
                <a:solidFill>
                  <a:srgbClr val="0000FF"/>
                </a:solidFill>
              </a:rPr>
              <a:t>辖域（作用域）</a:t>
            </a:r>
            <a:r>
              <a:rPr lang="en-US" altLang="zh-CN" sz="1800" b="1">
                <a:solidFill>
                  <a:schemeClr val="tx1"/>
                </a:solidFill>
                <a:latin typeface="Arial" panose="020B0604020202020204" pitchFamily="34" charset="0"/>
              </a:rPr>
              <a:t>——</a:t>
            </a:r>
            <a:r>
              <a:rPr lang="zh-CN" altLang="en-US" sz="1800" b="1" dirty="0">
                <a:solidFill>
                  <a:schemeClr val="tx1"/>
                </a:solidFill>
              </a:rPr>
              <a:t>确定一个量词的辖域即是找出位于该量词之后的相邻接的子公式，具体地讲</a:t>
            </a:r>
            <a:r>
              <a:rPr lang="en-US" altLang="zh-CN" sz="1800" b="1">
                <a:solidFill>
                  <a:schemeClr val="tx1"/>
                </a:solidFill>
              </a:rPr>
              <a:t>:</a:t>
            </a:r>
            <a:endParaRPr lang="en-US" altLang="zh-CN" sz="1800" b="1">
              <a:solidFill>
                <a:schemeClr val="tx1"/>
              </a:solidFill>
            </a:endParaRPr>
          </a:p>
          <a:p>
            <a:pPr marL="0" indent="0">
              <a:lnSpc>
                <a:spcPct val="120000"/>
              </a:lnSpc>
              <a:buNone/>
            </a:pPr>
            <a:r>
              <a:rPr lang="en-US" altLang="zh-CN" sz="1800" b="1">
                <a:solidFill>
                  <a:srgbClr val="C00000"/>
                </a:solidFill>
              </a:rPr>
              <a:t>① </a:t>
            </a:r>
            <a:r>
              <a:rPr lang="zh-CN" altLang="en-US" sz="1800" b="1" dirty="0">
                <a:solidFill>
                  <a:srgbClr val="C00000"/>
                </a:solidFill>
              </a:rPr>
              <a:t>若量词后有括号，则括号内的子公式就是该量词的辖域；</a:t>
            </a:r>
            <a:endParaRPr lang="zh-CN" altLang="en-US" sz="1800" b="1" dirty="0">
              <a:solidFill>
                <a:srgbClr val="C00000"/>
              </a:solidFill>
            </a:endParaRPr>
          </a:p>
          <a:p>
            <a:pPr marL="0" indent="0">
              <a:lnSpc>
                <a:spcPct val="120000"/>
              </a:lnSpc>
              <a:buNone/>
            </a:pPr>
            <a:r>
              <a:rPr lang="en-US" altLang="zh-CN" sz="1800" b="1" dirty="0">
                <a:solidFill>
                  <a:srgbClr val="C00000"/>
                </a:solidFill>
              </a:rPr>
              <a:t>② </a:t>
            </a:r>
            <a:r>
              <a:rPr lang="zh-CN" altLang="en-US" sz="1800" b="1" dirty="0">
                <a:solidFill>
                  <a:srgbClr val="C00000"/>
                </a:solidFill>
              </a:rPr>
              <a:t>若量词后无括号，则与量词邻接的子公式为该量词的辖域 </a:t>
            </a:r>
            <a:endParaRPr lang="zh-CN" altLang="en-US" sz="1800" b="1" dirty="0">
              <a:solidFill>
                <a:srgbClr val="C00000"/>
              </a:solidFill>
            </a:endParaRPr>
          </a:p>
          <a:p>
            <a:pPr>
              <a:lnSpc>
                <a:spcPct val="120000"/>
              </a:lnSpc>
            </a:pPr>
            <a:r>
              <a:rPr lang="zh-CN" altLang="en-US" sz="1800" b="1" dirty="0">
                <a:solidFill>
                  <a:schemeClr val="tx1"/>
                </a:solidFill>
              </a:rPr>
              <a:t>判定公式中的客体变元是约束变元还是自由变元，关键在于看它是约束出现还是自由出现。</a:t>
            </a:r>
            <a:endParaRPr lang="zh-CN" altLang="en-US" sz="1800" b="1" dirty="0">
              <a:solidFill>
                <a:schemeClr val="tx1"/>
              </a:solidFill>
            </a:endParaRPr>
          </a:p>
        </p:txBody>
      </p:sp>
      <p:sp>
        <p:nvSpPr>
          <p:cNvPr id="2" name="文本框 1"/>
          <p:cNvSpPr txBox="1"/>
          <p:nvPr/>
        </p:nvSpPr>
        <p:spPr>
          <a:xfrm>
            <a:off x="551815" y="3363595"/>
            <a:ext cx="8040370" cy="2584450"/>
          </a:xfrm>
          <a:prstGeom prst="rect">
            <a:avLst/>
          </a:prstGeom>
          <a:noFill/>
        </p:spPr>
        <p:txBody>
          <a:bodyPr wrap="square" rtlCol="0" anchor="t">
            <a:spAutoFit/>
          </a:bodyPr>
          <a:lstStyle/>
          <a:p>
            <a:pPr marL="342900" indent="-342900" algn="l">
              <a:lnSpc>
                <a:spcPct val="125000"/>
              </a:lnSpc>
              <a:spcBef>
                <a:spcPct val="20000"/>
              </a:spcBef>
              <a:buClr>
                <a:srgbClr val="00007D"/>
              </a:buClr>
              <a:buSzPct val="75000"/>
              <a:buFont typeface="Wingdings" panose="05000000000000000000" pitchFamily="2" charset="2"/>
              <a:buChar char="n"/>
            </a:pPr>
            <a:r>
              <a:rPr lang="zh-CN" altLang="en-US" sz="2000" b="1" dirty="0">
                <a:solidFill>
                  <a:srgbClr val="000000"/>
                </a:solidFill>
                <a:latin typeface="微软雅黑" panose="020B0503020204020204" charset="-122"/>
                <a:ea typeface="微软雅黑" panose="020B0503020204020204" charset="-122"/>
                <a:cs typeface="微软雅黑" panose="020B0503020204020204" charset="-122"/>
                <a:sym typeface="+mn-ea"/>
              </a:rPr>
              <a:t>从约束变元的概念可以看出，</a:t>
            </a:r>
            <a:r>
              <a:rPr lang="en-US" altLang="zh-CN" sz="2000" b="1">
                <a:solidFill>
                  <a:srgbClr val="C00000"/>
                </a:solidFill>
                <a:latin typeface="微软雅黑" panose="020B0503020204020204" charset="-122"/>
                <a:ea typeface="微软雅黑" panose="020B0503020204020204" charset="-122"/>
                <a:cs typeface="微软雅黑" panose="020B0503020204020204" charset="-122"/>
                <a:sym typeface="+mn-ea"/>
              </a:rPr>
              <a:t>P(x</a:t>
            </a:r>
            <a:r>
              <a:rPr lang="en-US" altLang="zh-CN" sz="2000" b="1" baseline="-25000">
                <a:solidFill>
                  <a:srgbClr val="C00000"/>
                </a:solidFill>
                <a:latin typeface="微软雅黑" panose="020B0503020204020204" charset="-122"/>
                <a:ea typeface="微软雅黑" panose="020B0503020204020204" charset="-122"/>
                <a:cs typeface="微软雅黑" panose="020B0503020204020204" charset="-122"/>
                <a:sym typeface="+mn-ea"/>
              </a:rPr>
              <a:t>1</a:t>
            </a:r>
            <a:r>
              <a:rPr lang="en-US" altLang="zh-CN" sz="2000" b="1">
                <a:solidFill>
                  <a:srgbClr val="C00000"/>
                </a:solidFill>
                <a:latin typeface="微软雅黑" panose="020B0503020204020204" charset="-122"/>
                <a:ea typeface="微软雅黑" panose="020B0503020204020204" charset="-122"/>
                <a:cs typeface="微软雅黑" panose="020B0503020204020204" charset="-122"/>
                <a:sym typeface="+mn-ea"/>
              </a:rPr>
              <a:t>,x</a:t>
            </a:r>
            <a:r>
              <a:rPr lang="en-US" altLang="zh-CN" sz="2000" b="1" baseline="-25000">
                <a:solidFill>
                  <a:srgbClr val="C00000"/>
                </a:solidFill>
                <a:latin typeface="微软雅黑" panose="020B0503020204020204" charset="-122"/>
                <a:ea typeface="微软雅黑" panose="020B0503020204020204" charset="-122"/>
                <a:cs typeface="微软雅黑" panose="020B0503020204020204" charset="-122"/>
                <a:sym typeface="+mn-ea"/>
              </a:rPr>
              <a:t>2</a:t>
            </a:r>
            <a:r>
              <a:rPr lang="en-US" altLang="zh-CN" sz="2000" b="1">
                <a:solidFill>
                  <a:srgbClr val="C00000"/>
                </a:solidFill>
                <a:latin typeface="微软雅黑" panose="020B0503020204020204" charset="-122"/>
                <a:ea typeface="微软雅黑" panose="020B0503020204020204" charset="-122"/>
                <a:cs typeface="微软雅黑" panose="020B0503020204020204" charset="-122"/>
                <a:sym typeface="+mn-ea"/>
              </a:rPr>
              <a:t>,…</a:t>
            </a:r>
            <a:r>
              <a:rPr lang="en-US" altLang="zh-CN" sz="2000" b="1" dirty="0" err="1">
                <a:solidFill>
                  <a:srgbClr val="C00000"/>
                </a:solidFill>
                <a:latin typeface="微软雅黑" panose="020B0503020204020204" charset="-122"/>
                <a:ea typeface="微软雅黑" panose="020B0503020204020204" charset="-122"/>
                <a:cs typeface="微软雅黑" panose="020B0503020204020204" charset="-122"/>
                <a:sym typeface="+mn-ea"/>
              </a:rPr>
              <a:t>x</a:t>
            </a:r>
            <a:r>
              <a:rPr lang="en-US" altLang="zh-CN" sz="2000" b="1" baseline="-25000" dirty="0" err="1">
                <a:solidFill>
                  <a:srgbClr val="C00000"/>
                </a:solidFill>
                <a:latin typeface="微软雅黑" panose="020B0503020204020204" charset="-122"/>
                <a:ea typeface="微软雅黑" panose="020B0503020204020204" charset="-122"/>
                <a:cs typeface="微软雅黑" panose="020B0503020204020204" charset="-122"/>
                <a:sym typeface="+mn-ea"/>
              </a:rPr>
              <a:t>n</a:t>
            </a:r>
            <a:r>
              <a:rPr lang="en-US" altLang="zh-CN" sz="2000" b="1">
                <a:solidFill>
                  <a:srgbClr val="C00000"/>
                </a:solidFill>
                <a:latin typeface="微软雅黑" panose="020B0503020204020204" charset="-122"/>
                <a:ea typeface="微软雅黑" panose="020B0503020204020204" charset="-122"/>
                <a:cs typeface="微软雅黑" panose="020B0503020204020204" charset="-122"/>
                <a:sym typeface="+mn-ea"/>
              </a:rPr>
              <a:t>)</a:t>
            </a: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sym typeface="+mn-ea"/>
              </a:rPr>
              <a:t>是</a:t>
            </a:r>
            <a:r>
              <a:rPr lang="en-US" altLang="zh-CN" sz="2000" b="1">
                <a:solidFill>
                  <a:srgbClr val="C00000"/>
                </a:solidFill>
                <a:latin typeface="微软雅黑" panose="020B0503020204020204" charset="-122"/>
                <a:ea typeface="微软雅黑" panose="020B0503020204020204" charset="-122"/>
                <a:cs typeface="微软雅黑" panose="020B0503020204020204" charset="-122"/>
                <a:sym typeface="+mn-ea"/>
              </a:rPr>
              <a:t>n</a:t>
            </a: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sym typeface="+mn-ea"/>
              </a:rPr>
              <a:t>元谓词，它有</a:t>
            </a:r>
            <a:r>
              <a:rPr lang="en-US" altLang="zh-CN" sz="2000" b="1">
                <a:solidFill>
                  <a:srgbClr val="C00000"/>
                </a:solidFill>
                <a:latin typeface="微软雅黑" panose="020B0503020204020204" charset="-122"/>
                <a:ea typeface="微软雅黑" panose="020B0503020204020204" charset="-122"/>
                <a:cs typeface="微软雅黑" panose="020B0503020204020204" charset="-122"/>
                <a:sym typeface="+mn-ea"/>
              </a:rPr>
              <a:t>n</a:t>
            </a: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sym typeface="+mn-ea"/>
              </a:rPr>
              <a:t>个相互独立的自由变元，若对其中</a:t>
            </a:r>
            <a:r>
              <a:rPr lang="en-US" altLang="zh-CN" sz="2000" b="1">
                <a:solidFill>
                  <a:srgbClr val="C00000"/>
                </a:solidFill>
                <a:latin typeface="微软雅黑" panose="020B0503020204020204" charset="-122"/>
                <a:ea typeface="微软雅黑" panose="020B0503020204020204" charset="-122"/>
                <a:cs typeface="微软雅黑" panose="020B0503020204020204" charset="-122"/>
                <a:sym typeface="+mn-ea"/>
              </a:rPr>
              <a:t>k</a:t>
            </a: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sym typeface="+mn-ea"/>
              </a:rPr>
              <a:t>个变元进行约束则成为</a:t>
            </a:r>
            <a:r>
              <a:rPr lang="en-US" altLang="zh-CN" sz="2000" b="1" dirty="0" err="1">
                <a:solidFill>
                  <a:srgbClr val="C00000"/>
                </a:solidFill>
                <a:latin typeface="微软雅黑" panose="020B0503020204020204" charset="-122"/>
                <a:ea typeface="微软雅黑" panose="020B0503020204020204" charset="-122"/>
                <a:cs typeface="微软雅黑" panose="020B0503020204020204" charset="-122"/>
                <a:sym typeface="+mn-ea"/>
              </a:rPr>
              <a:t>n-k</a:t>
            </a: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sym typeface="+mn-ea"/>
              </a:rPr>
              <a:t>元谓词，</a:t>
            </a:r>
            <a:r>
              <a:rPr lang="zh-CN" altLang="en-US" sz="2000" b="1" dirty="0">
                <a:solidFill>
                  <a:srgbClr val="000000"/>
                </a:solidFill>
                <a:latin typeface="微软雅黑" panose="020B0503020204020204" charset="-122"/>
                <a:ea typeface="微软雅黑" panose="020B0503020204020204" charset="-122"/>
                <a:cs typeface="微软雅黑" panose="020B0503020204020204" charset="-122"/>
                <a:sym typeface="+mn-ea"/>
              </a:rPr>
              <a:t>因此，谓词公式中如果没有自由变元出现，则该式就成为一个命题。</a:t>
            </a:r>
            <a:endParaRPr lang="zh-CN" altLang="en-US" sz="20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marL="342900" indent="-342900" algn="l">
              <a:lnSpc>
                <a:spcPct val="125000"/>
              </a:lnSpc>
              <a:spcBef>
                <a:spcPct val="20000"/>
              </a:spcBef>
              <a:buClr>
                <a:srgbClr val="00007D"/>
              </a:buClr>
              <a:buSzPct val="75000"/>
              <a:buFont typeface="Wingdings" panose="05000000000000000000" pitchFamily="2" charset="2"/>
              <a:buChar char="n"/>
            </a:pPr>
            <a:r>
              <a:rPr lang="zh-CN" altLang="en-US" sz="2000" b="1" dirty="0">
                <a:solidFill>
                  <a:srgbClr val="000000"/>
                </a:solidFill>
                <a:latin typeface="微软雅黑" panose="020B0503020204020204" charset="-122"/>
                <a:ea typeface="微软雅黑" panose="020B0503020204020204" charset="-122"/>
                <a:cs typeface="微软雅黑" panose="020B0503020204020204" charset="-122"/>
                <a:sym typeface="+mn-ea"/>
              </a:rPr>
              <a:t>例如</a:t>
            </a:r>
            <a:endParaRPr lang="zh-CN" altLang="en-US" sz="20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marL="800100" lvl="1" indent="-342900" algn="l">
              <a:lnSpc>
                <a:spcPct val="125000"/>
              </a:lnSpc>
              <a:spcBef>
                <a:spcPct val="20000"/>
              </a:spcBef>
              <a:buClr>
                <a:srgbClr val="00007D"/>
              </a:buClr>
              <a:buSzPct val="75000"/>
              <a:buFont typeface="Wingdings" panose="05000000000000000000" pitchFamily="2" charset="2"/>
              <a:buChar char="n"/>
            </a:pPr>
            <a:r>
              <a:rPr lang="zh-CN" altLang="en-US" sz="2000" b="1" dirty="0">
                <a:solidFill>
                  <a:srgbClr val="000000"/>
                </a:solidFill>
                <a:latin typeface="微软雅黑" panose="020B0503020204020204" charset="-122"/>
                <a:ea typeface="微软雅黑" panose="020B0503020204020204" charset="-122"/>
                <a:cs typeface="微软雅黑" panose="020B0503020204020204" charset="-122"/>
                <a:sym typeface="+mn-ea"/>
              </a:rPr>
              <a:t> </a:t>
            </a:r>
            <a:r>
              <a:rPr lang="en-US" altLang="zh-CN" sz="2000" b="1" dirty="0">
                <a:solidFill>
                  <a:srgbClr val="680014"/>
                </a:solidFill>
                <a:effectLst>
                  <a:outerShdw blurRad="38100" dist="38100" dir="2700000">
                    <a:srgbClr val="C0C0C0"/>
                  </a:outerShdw>
                </a:effectLst>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000" b="1">
                <a:solidFill>
                  <a:srgbClr val="000000"/>
                </a:solidFill>
                <a:latin typeface="微软雅黑" panose="020B0503020204020204" charset="-122"/>
                <a:ea typeface="微软雅黑" panose="020B0503020204020204" charset="-122"/>
                <a:cs typeface="微软雅黑" panose="020B0503020204020204" charset="-122"/>
                <a:sym typeface="+mn-ea"/>
              </a:rPr>
              <a:t> </a:t>
            </a:r>
            <a:r>
              <a:rPr lang="en-US" altLang="zh-CN" sz="2000" b="1" dirty="0" err="1">
                <a:solidFill>
                  <a:srgbClr val="000000"/>
                </a:solidFill>
                <a:latin typeface="微软雅黑" panose="020B0503020204020204" charset="-122"/>
                <a:ea typeface="微软雅黑" panose="020B0503020204020204" charset="-122"/>
                <a:cs typeface="微软雅黑" panose="020B0503020204020204" charset="-122"/>
                <a:sym typeface="+mn-ea"/>
              </a:rPr>
              <a:t>x P(x,y,z</a:t>
            </a:r>
            <a:r>
              <a:rPr lang="en-US" altLang="zh-CN" sz="2000" b="1">
                <a:solidFill>
                  <a:srgbClr val="000000"/>
                </a:solidFill>
                <a:latin typeface="微软雅黑" panose="020B0503020204020204" charset="-122"/>
                <a:ea typeface="微软雅黑" panose="020B0503020204020204" charset="-122"/>
                <a:cs typeface="微软雅黑" panose="020B0503020204020204" charset="-122"/>
                <a:sym typeface="+mn-ea"/>
              </a:rPr>
              <a:t>)</a:t>
            </a:r>
            <a:r>
              <a:rPr lang="zh-CN" altLang="en-US" sz="2000" b="1" dirty="0">
                <a:solidFill>
                  <a:srgbClr val="000000"/>
                </a:solidFill>
                <a:latin typeface="微软雅黑" panose="020B0503020204020204" charset="-122"/>
                <a:ea typeface="微软雅黑" panose="020B0503020204020204" charset="-122"/>
                <a:cs typeface="微软雅黑" panose="020B0503020204020204" charset="-122"/>
                <a:sym typeface="+mn-ea"/>
              </a:rPr>
              <a:t>是二元谓词。</a:t>
            </a:r>
            <a:endParaRPr lang="zh-CN" altLang="en-US" sz="20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marL="800100" lvl="1" indent="-342900" algn="l">
              <a:lnSpc>
                <a:spcPct val="125000"/>
              </a:lnSpc>
              <a:spcBef>
                <a:spcPct val="20000"/>
              </a:spcBef>
              <a:buClr>
                <a:srgbClr val="00007D"/>
              </a:buClr>
              <a:buSzPct val="75000"/>
              <a:buFont typeface="Wingdings" panose="05000000000000000000" pitchFamily="2" charset="2"/>
              <a:buChar char="n"/>
            </a:pPr>
            <a:r>
              <a:rPr lang="en-US" sz="2000" b="1">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sz="2000" b="1">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000" b="1">
                <a:solidFill>
                  <a:srgbClr val="000000"/>
                </a:solidFill>
                <a:latin typeface="微软雅黑" panose="020B0503020204020204" charset="-122"/>
                <a:ea typeface="微软雅黑" panose="020B0503020204020204" charset="-122"/>
                <a:cs typeface="微软雅黑" panose="020B0503020204020204" charset="-122"/>
                <a:sym typeface="+mn-ea"/>
              </a:rPr>
              <a:t>y </a:t>
            </a:r>
            <a:r>
              <a:rPr lang="en-US" altLang="zh-CN" sz="2000" b="1">
                <a:solidFill>
                  <a:srgbClr val="680014"/>
                </a:solidFill>
                <a:effectLst>
                  <a:outerShdw blurRad="38100" dist="38100" dir="2700000">
                    <a:srgbClr val="C0C0C0"/>
                  </a:outerShdw>
                </a:effectLst>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000" b="1">
                <a:solidFill>
                  <a:srgbClr val="000000"/>
                </a:solidFill>
                <a:latin typeface="微软雅黑" panose="020B0503020204020204" charset="-122"/>
                <a:ea typeface="微软雅黑" panose="020B0503020204020204" charset="-122"/>
                <a:cs typeface="微软雅黑" panose="020B0503020204020204" charset="-122"/>
                <a:sym typeface="+mn-ea"/>
              </a:rPr>
              <a:t> </a:t>
            </a:r>
            <a:r>
              <a:rPr lang="en-US" altLang="zh-CN" sz="2000" b="1" dirty="0" err="1">
                <a:solidFill>
                  <a:srgbClr val="000000"/>
                </a:solidFill>
                <a:latin typeface="微软雅黑" panose="020B0503020204020204" charset="-122"/>
                <a:ea typeface="微软雅黑" panose="020B0503020204020204" charset="-122"/>
                <a:cs typeface="微软雅黑" panose="020B0503020204020204" charset="-122"/>
                <a:sym typeface="+mn-ea"/>
              </a:rPr>
              <a:t>x P(x,y,z</a:t>
            </a:r>
            <a:r>
              <a:rPr lang="en-US" altLang="zh-CN" sz="2000" b="1">
                <a:solidFill>
                  <a:srgbClr val="000000"/>
                </a:solidFill>
                <a:latin typeface="微软雅黑" panose="020B0503020204020204" charset="-122"/>
                <a:ea typeface="微软雅黑" panose="020B0503020204020204" charset="-122"/>
                <a:cs typeface="微软雅黑" panose="020B0503020204020204" charset="-122"/>
                <a:sym typeface="+mn-ea"/>
              </a:rPr>
              <a:t>)</a:t>
            </a:r>
            <a:r>
              <a:rPr lang="zh-CN" altLang="en-US" sz="2000" b="1" dirty="0">
                <a:solidFill>
                  <a:srgbClr val="000000"/>
                </a:solidFill>
                <a:latin typeface="微软雅黑" panose="020B0503020204020204" charset="-122"/>
                <a:ea typeface="微软雅黑" panose="020B0503020204020204" charset="-122"/>
                <a:cs typeface="微软雅黑" panose="020B0503020204020204" charset="-122"/>
                <a:sym typeface="+mn-ea"/>
              </a:rPr>
              <a:t>是一元谓词。 </a:t>
            </a:r>
            <a:endParaRPr lang="zh-CN" altLang="en-US" sz="2000" b="1"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2920" y="167640"/>
            <a:ext cx="8139430" cy="5290820"/>
          </a:xfrm>
        </p:spPr>
        <p:txBody>
          <a:bodyPr/>
          <a:lstStyle/>
          <a:p>
            <a:pPr>
              <a:buNone/>
            </a:pPr>
            <a:r>
              <a:rPr sz="1800" b="1">
                <a:effectLst/>
                <a:sym typeface="+mn-ea"/>
              </a:rPr>
              <a:t>例</a:t>
            </a:r>
            <a:r>
              <a:rPr lang="en-US" altLang="zh-CN" sz="1800" b="1">
                <a:effectLst/>
                <a:sym typeface="+mn-ea"/>
              </a:rPr>
              <a:t>    </a:t>
            </a:r>
            <a:r>
              <a:rPr sz="1800" b="1">
                <a:effectLst/>
                <a:sym typeface="+mn-ea"/>
              </a:rPr>
              <a:t>说明以下各式的</a:t>
            </a:r>
            <a:r>
              <a:rPr sz="1800" b="1">
                <a:solidFill>
                  <a:srgbClr val="0000FF"/>
                </a:solidFill>
                <a:sym typeface="+mn-ea"/>
              </a:rPr>
              <a:t>辖域（</a:t>
            </a:r>
            <a:r>
              <a:rPr sz="1800" b="1">
                <a:solidFill>
                  <a:srgbClr val="0000FF"/>
                </a:solidFill>
                <a:effectLst/>
                <a:sym typeface="+mn-ea"/>
              </a:rPr>
              <a:t>作用域）</a:t>
            </a:r>
            <a:r>
              <a:rPr sz="1800" b="1">
                <a:effectLst/>
                <a:sym typeface="+mn-ea"/>
              </a:rPr>
              <a:t>与变元约束的情况。</a:t>
            </a:r>
            <a:endParaRPr lang="zh-CN" altLang="en-US" sz="1800" b="1" dirty="0">
              <a:effectLst/>
            </a:endParaRPr>
          </a:p>
          <a:p>
            <a:pPr marL="342900" indent="-342900">
              <a:buFont typeface="+mj-lt"/>
              <a:buAutoNum type="alphaLcParenR"/>
            </a:pPr>
            <a:r>
              <a:rPr lang="en-US" altLang="zh-CN" sz="1800" b="1">
                <a:effectLst/>
                <a:sym typeface="+mn-ea"/>
              </a:rPr>
              <a:t> </a:t>
            </a:r>
            <a:r>
              <a:rPr lang="en-US" altLang="zh-CN" sz="1800" b="1">
                <a:solidFill>
                  <a:srgbClr val="680014"/>
                </a:solidFill>
                <a:effectLst/>
                <a:latin typeface="华文中宋" panose="02010600040101010101" pitchFamily="2" charset="-122"/>
                <a:ea typeface="华文中宋" panose="02010600040101010101" pitchFamily="2" charset="-122"/>
                <a:sym typeface="Symbol" panose="05050102010706020507" pitchFamily="18" charset="2"/>
              </a:rPr>
              <a:t></a:t>
            </a:r>
            <a:r>
              <a:rPr lang="en-US" altLang="zh-CN" sz="1800" b="1" dirty="0" err="1">
                <a:effectLst/>
                <a:sym typeface="+mn-ea"/>
              </a:rPr>
              <a:t>x(P(x</a:t>
            </a:r>
            <a:r>
              <a:rPr lang="en-US" altLang="zh-CN" sz="1800" b="1">
                <a:effectLst/>
                <a:sym typeface="+mn-ea"/>
              </a:rPr>
              <a:t>) →</a:t>
            </a:r>
            <a:r>
              <a:rPr lang="en-US" altLang="zh-CN" sz="1800" b="1" dirty="0" err="1">
                <a:effectLst/>
                <a:sym typeface="+mn-ea"/>
              </a:rPr>
              <a:t>Q(x</a:t>
            </a:r>
            <a:r>
              <a:rPr lang="en-US" altLang="zh-CN" sz="1800" b="1">
                <a:effectLst/>
                <a:sym typeface="+mn-ea"/>
              </a:rPr>
              <a:t>))</a:t>
            </a:r>
            <a:endParaRPr lang="en-US" altLang="zh-CN" sz="1800" b="1">
              <a:effectLst/>
              <a:sym typeface="+mn-ea"/>
            </a:endParaRPr>
          </a:p>
          <a:p>
            <a:pPr marL="342900" indent="-342900">
              <a:buFont typeface="+mj-lt"/>
              <a:buAutoNum type="alphaLcParenR"/>
            </a:pPr>
            <a:r>
              <a:rPr lang="en-US" altLang="zh-CN" sz="1800" b="1">
                <a:effectLst/>
                <a:sym typeface="+mn-ea"/>
              </a:rPr>
              <a:t> </a:t>
            </a:r>
            <a:r>
              <a:rPr lang="en-US" altLang="zh-CN" sz="1800" b="1">
                <a:solidFill>
                  <a:srgbClr val="680014"/>
                </a:solidFill>
                <a:effectLst/>
                <a:latin typeface="华文中宋" panose="02010600040101010101" pitchFamily="2" charset="-122"/>
                <a:ea typeface="华文中宋" panose="02010600040101010101" pitchFamily="2" charset="-122"/>
                <a:sym typeface="Symbol" panose="05050102010706020507" pitchFamily="18" charset="2"/>
              </a:rPr>
              <a:t></a:t>
            </a:r>
            <a:r>
              <a:rPr lang="en-US" altLang="zh-CN" sz="1800" b="1" dirty="0" err="1">
                <a:effectLst/>
                <a:sym typeface="+mn-ea"/>
              </a:rPr>
              <a:t>x(P(x</a:t>
            </a:r>
            <a:r>
              <a:rPr lang="en-US" altLang="zh-CN" sz="1800" b="1">
                <a:effectLst/>
                <a:sym typeface="+mn-ea"/>
              </a:rPr>
              <a:t>) →</a:t>
            </a:r>
            <a:r>
              <a:rPr lang="en-US" altLang="zh-CN" sz="1800" b="1" kern="0" spc="0" noProof="0">
                <a:ln>
                  <a:noFill/>
                </a:ln>
                <a:solidFill>
                  <a:schemeClr val="tx1"/>
                </a:solidFill>
                <a:effectLst/>
                <a:uLnTx/>
                <a:latin typeface="微软雅黑" panose="020B0503020204020204" charset="-122"/>
                <a:cs typeface="微软雅黑" panose="020B0503020204020204" charset="-122"/>
                <a:sym typeface="Symbol" panose="05050102010706020507" pitchFamily="18" charset="2"/>
              </a:rPr>
              <a:t></a:t>
            </a:r>
            <a:r>
              <a:rPr lang="en-US" altLang="zh-CN" sz="1800" b="1" dirty="0" err="1">
                <a:effectLst/>
                <a:sym typeface="+mn-ea"/>
              </a:rPr>
              <a:t>yR(x,y</a:t>
            </a:r>
            <a:r>
              <a:rPr lang="en-US" altLang="zh-CN" sz="1800" b="1">
                <a:effectLst/>
                <a:sym typeface="+mn-ea"/>
              </a:rPr>
              <a:t>))</a:t>
            </a:r>
            <a:endParaRPr lang="en-US" altLang="zh-CN" sz="1800" b="1">
              <a:effectLst/>
              <a:sym typeface="+mn-ea"/>
            </a:endParaRPr>
          </a:p>
          <a:p>
            <a:pPr marL="342900" indent="-342900">
              <a:buFont typeface="+mj-lt"/>
              <a:buAutoNum type="alphaLcParenR"/>
            </a:pPr>
            <a:r>
              <a:rPr lang="en-US" altLang="zh-CN" sz="1800" b="1">
                <a:effectLst/>
                <a:sym typeface="+mn-ea"/>
              </a:rPr>
              <a:t> </a:t>
            </a:r>
            <a:r>
              <a:rPr lang="en-US" altLang="zh-CN" sz="1800" b="1">
                <a:solidFill>
                  <a:srgbClr val="680014"/>
                </a:solidFill>
                <a:effectLst/>
                <a:latin typeface="华文中宋" panose="02010600040101010101" pitchFamily="2" charset="-122"/>
                <a:ea typeface="华文中宋" panose="02010600040101010101" pitchFamily="2" charset="-122"/>
                <a:sym typeface="Symbol" panose="05050102010706020507" pitchFamily="18" charset="2"/>
              </a:rPr>
              <a:t></a:t>
            </a:r>
            <a:r>
              <a:rPr lang="en-US" altLang="zh-CN" sz="1800" b="1">
                <a:effectLst/>
                <a:sym typeface="+mn-ea"/>
              </a:rPr>
              <a:t>x </a:t>
            </a:r>
            <a:r>
              <a:rPr lang="en-US" altLang="zh-CN" sz="1800" b="1">
                <a:solidFill>
                  <a:srgbClr val="680014"/>
                </a:solidFill>
                <a:effectLst/>
                <a:latin typeface="华文中宋" panose="02010600040101010101" pitchFamily="2" charset="-122"/>
                <a:ea typeface="华文中宋" panose="02010600040101010101" pitchFamily="2" charset="-122"/>
                <a:sym typeface="Symbol" panose="05050102010706020507" pitchFamily="18" charset="2"/>
              </a:rPr>
              <a:t></a:t>
            </a:r>
            <a:r>
              <a:rPr lang="en-US" altLang="zh-CN" sz="1800" b="1">
                <a:effectLst/>
                <a:sym typeface="+mn-ea"/>
              </a:rPr>
              <a:t> </a:t>
            </a:r>
            <a:r>
              <a:rPr lang="en-US" altLang="zh-CN" sz="1800" b="1" dirty="0" err="1">
                <a:effectLst/>
                <a:sym typeface="+mn-ea"/>
              </a:rPr>
              <a:t>y(P(x,y)∧Q(y,z</a:t>
            </a:r>
            <a:r>
              <a:rPr lang="en-US" altLang="zh-CN" sz="1800" b="1">
                <a:effectLst/>
                <a:sym typeface="+mn-ea"/>
              </a:rPr>
              <a:t>))∧</a:t>
            </a:r>
            <a:r>
              <a:rPr lang="en-US" altLang="zh-CN" sz="1800" b="1" kern="0" spc="0" noProof="0">
                <a:ln>
                  <a:noFill/>
                </a:ln>
                <a:solidFill>
                  <a:schemeClr val="tx1"/>
                </a:solidFill>
                <a:effectLst/>
                <a:uLnTx/>
                <a:latin typeface="微软雅黑" panose="020B0503020204020204" charset="-122"/>
                <a:cs typeface="微软雅黑" panose="020B0503020204020204" charset="-122"/>
                <a:sym typeface="Symbol" panose="05050102010706020507" pitchFamily="18" charset="2"/>
              </a:rPr>
              <a:t></a:t>
            </a:r>
            <a:r>
              <a:rPr lang="en-US" altLang="zh-CN" sz="1800" b="1" dirty="0" err="1">
                <a:effectLst/>
                <a:sym typeface="+mn-ea"/>
              </a:rPr>
              <a:t>xP(x,y</a:t>
            </a:r>
            <a:r>
              <a:rPr lang="en-US" altLang="zh-CN" sz="1800" b="1">
                <a:effectLst/>
                <a:sym typeface="+mn-ea"/>
              </a:rPr>
              <a:t>)</a:t>
            </a:r>
            <a:endParaRPr lang="en-US" altLang="zh-CN" sz="1800" b="1">
              <a:effectLst/>
              <a:sym typeface="+mn-ea"/>
            </a:endParaRPr>
          </a:p>
          <a:p>
            <a:pPr marL="342900" indent="-342900">
              <a:buFont typeface="+mj-lt"/>
              <a:buAutoNum type="alphaLcParenR"/>
            </a:pPr>
            <a:r>
              <a:rPr lang="en-US" altLang="zh-CN" sz="1800" b="1">
                <a:effectLst/>
                <a:sym typeface="+mn-ea"/>
              </a:rPr>
              <a:t> </a:t>
            </a:r>
            <a:r>
              <a:rPr lang="en-US" altLang="zh-CN" sz="1800" b="1">
                <a:solidFill>
                  <a:srgbClr val="680014"/>
                </a:solidFill>
                <a:effectLst/>
                <a:latin typeface="华文中宋" panose="02010600040101010101" pitchFamily="2" charset="-122"/>
                <a:ea typeface="华文中宋" panose="02010600040101010101" pitchFamily="2" charset="-122"/>
                <a:sym typeface="Symbol" panose="05050102010706020507" pitchFamily="18" charset="2"/>
              </a:rPr>
              <a:t></a:t>
            </a:r>
            <a:r>
              <a:rPr lang="en-US" altLang="zh-CN" sz="1800" b="1" dirty="0" err="1">
                <a:effectLst/>
                <a:sym typeface="+mn-ea"/>
              </a:rPr>
              <a:t>x(P(x</a:t>
            </a:r>
            <a:r>
              <a:rPr lang="en-US" altLang="zh-CN" sz="1800" b="1">
                <a:effectLst/>
                <a:sym typeface="+mn-ea"/>
              </a:rPr>
              <a:t>)∧</a:t>
            </a:r>
            <a:r>
              <a:rPr lang="en-US" altLang="zh-CN" sz="1800" b="1" kern="0" spc="0" noProof="0">
                <a:ln>
                  <a:noFill/>
                </a:ln>
                <a:solidFill>
                  <a:schemeClr val="tx1"/>
                </a:solidFill>
                <a:effectLst/>
                <a:uLnTx/>
                <a:latin typeface="微软雅黑" panose="020B0503020204020204" charset="-122"/>
                <a:cs typeface="微软雅黑" panose="020B0503020204020204" charset="-122"/>
                <a:sym typeface="Symbol" panose="05050102010706020507" pitchFamily="18" charset="2"/>
              </a:rPr>
              <a:t></a:t>
            </a:r>
            <a:r>
              <a:rPr lang="en-US" altLang="zh-CN" sz="1800" b="1" dirty="0" err="1">
                <a:effectLst/>
                <a:sym typeface="+mn-ea"/>
              </a:rPr>
              <a:t>xQ(x,z</a:t>
            </a:r>
            <a:r>
              <a:rPr lang="en-US" altLang="zh-CN" sz="1800" b="1">
                <a:effectLst/>
                <a:sym typeface="+mn-ea"/>
              </a:rPr>
              <a:t>) →</a:t>
            </a:r>
            <a:r>
              <a:rPr lang="en-US" altLang="zh-CN" sz="1800" b="1" kern="0" spc="0" noProof="0">
                <a:ln>
                  <a:noFill/>
                </a:ln>
                <a:solidFill>
                  <a:schemeClr val="tx1"/>
                </a:solidFill>
                <a:effectLst/>
                <a:uLnTx/>
                <a:latin typeface="微软雅黑" panose="020B0503020204020204" charset="-122"/>
                <a:cs typeface="微软雅黑" panose="020B0503020204020204" charset="-122"/>
                <a:sym typeface="Symbol" panose="05050102010706020507" pitchFamily="18" charset="2"/>
              </a:rPr>
              <a:t></a:t>
            </a:r>
            <a:r>
              <a:rPr lang="en-US" altLang="zh-CN" sz="1800" b="1" dirty="0" err="1">
                <a:effectLst/>
                <a:sym typeface="+mn-ea"/>
              </a:rPr>
              <a:t>yR(x,y))∨Q(x,y</a:t>
            </a:r>
            <a:r>
              <a:rPr lang="en-US" altLang="zh-CN" sz="1800" b="1">
                <a:effectLst/>
                <a:sym typeface="+mn-ea"/>
              </a:rPr>
              <a:t>)</a:t>
            </a:r>
            <a:endParaRPr lang="en-US" altLang="zh-CN" sz="1800" b="1">
              <a:effectLst/>
            </a:endParaRPr>
          </a:p>
          <a:p>
            <a:endParaRPr lang="en-US" altLang="zh-CN" sz="1800" b="1">
              <a:effectLst/>
            </a:endParaRPr>
          </a:p>
        </p:txBody>
      </p:sp>
      <p:sp>
        <p:nvSpPr>
          <p:cNvPr id="88067" name="文本占位符 88066"/>
          <p:cNvSpPr>
            <a:spLocks noGrp="1"/>
          </p:cNvSpPr>
          <p:nvPr/>
        </p:nvSpPr>
        <p:spPr>
          <a:xfrm>
            <a:off x="354330" y="2985770"/>
            <a:ext cx="8435975" cy="259143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9pPr>
          </a:lstStyle>
          <a:p>
            <a:pPr marL="0" indent="0">
              <a:buNone/>
            </a:pPr>
            <a:r>
              <a:rPr lang="zh-CN" altLang="en-US" sz="1800" b="1" dirty="0"/>
              <a:t>解  ：</a:t>
            </a:r>
            <a:endParaRPr lang="zh-CN" altLang="en-US" sz="1800" b="1" dirty="0"/>
          </a:p>
          <a:p>
            <a:pPr>
              <a:lnSpc>
                <a:spcPct val="150000"/>
              </a:lnSpc>
              <a:buClr>
                <a:srgbClr val="0000FF"/>
              </a:buClr>
              <a:buFont typeface="+mj-lt"/>
              <a:buAutoNum type="alphaLcParenR"/>
            </a:pPr>
            <a:r>
              <a:rPr lang="en-US" altLang="zh-CN" sz="1800" b="1" spc="150">
                <a:solidFill>
                  <a:srgbClr val="FF0000"/>
                </a:solidFill>
                <a:effectLst/>
                <a:uFillTx/>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的作用域是</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P(x</a:t>
            </a:r>
            <a:r>
              <a:rPr lang="en-US" altLang="zh-CN" sz="1800" b="1">
                <a:latin typeface="Times New Roman" panose="02020603050405020304" pitchFamily="18" charset="0"/>
                <a:ea typeface="微软雅黑" panose="020B0503020204020204" charset="-122"/>
                <a:cs typeface="Times New Roman" panose="02020603050405020304" pitchFamily="18" charset="0"/>
              </a:rPr>
              <a:t>) →</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Q(x</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为约束变元。</a:t>
            </a:r>
            <a:endParaRPr lang="zh-CN" altLang="en-US" sz="1800" b="1"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buClr>
                <a:srgbClr val="0000FF"/>
              </a:buClr>
              <a:buFont typeface="+mj-lt"/>
              <a:buAutoNum type="alphaLcParenR"/>
            </a:pPr>
            <a:r>
              <a:rPr lang="en-US" altLang="zh-CN" sz="1800" b="1">
                <a:solidFill>
                  <a:srgbClr val="FF0000"/>
                </a:solidFill>
                <a:effectLst>
                  <a:outerShdw blurRad="38100" dist="38100" dir="2700000">
                    <a:srgbClr val="C0C0C0"/>
                  </a:outerShdw>
                </a:effectLst>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的作用域是</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P(x</a:t>
            </a:r>
            <a:r>
              <a:rPr lang="en-US" altLang="zh-CN" sz="1800" b="1">
                <a:latin typeface="Times New Roman" panose="02020603050405020304" pitchFamily="18" charset="0"/>
                <a:ea typeface="微软雅黑" panose="020B0503020204020204" charset="-122"/>
                <a:cs typeface="Times New Roman" panose="02020603050405020304" pitchFamily="18" charset="0"/>
              </a:rPr>
              <a:t>) →</a:t>
            </a:r>
            <a:r>
              <a:rPr lang="en-US" altLang="zh-CN" sz="1800" b="1" kern="0" noProof="0" dirty="0">
                <a:ln>
                  <a:noFill/>
                </a:ln>
                <a:solidFill>
                  <a:srgbClr val="0000FF"/>
                </a:solidFill>
                <a:effectLst/>
                <a:uLnTx/>
                <a:uFillTx/>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yR(x,y</a:t>
            </a:r>
            <a:r>
              <a:rPr lang="en-US" altLang="zh-CN" sz="1800" b="1">
                <a:latin typeface="Times New Roman" panose="02020603050405020304" pitchFamily="18" charset="0"/>
                <a:ea typeface="微软雅黑" panose="020B0503020204020204" charset="-122"/>
                <a:cs typeface="Times New Roman" panose="02020603050405020304" pitchFamily="18" charset="0"/>
              </a:rPr>
              <a:t>)), </a:t>
            </a:r>
            <a:r>
              <a:rPr lang="en-US" altLang="zh-CN" sz="1800" b="1" kern="0" noProof="0" dirty="0">
                <a:ln>
                  <a:noFill/>
                </a:ln>
                <a:solidFill>
                  <a:srgbClr val="0000FF"/>
                </a:solidFill>
                <a:effectLst/>
                <a:uLnTx/>
                <a:uFillTx/>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1800" b="1">
                <a:latin typeface="Times New Roman" panose="02020603050405020304" pitchFamily="18" charset="0"/>
                <a:ea typeface="微软雅黑" panose="020B0503020204020204" charset="-122"/>
                <a:cs typeface="Times New Roman" panose="02020603050405020304" pitchFamily="18" charset="0"/>
              </a:rPr>
              <a:t>y</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的作用域是</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R(x,y</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x,y</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都是约束变元</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endParaRPr lang="en-US" altLang="zh-CN" sz="1800" b="1">
              <a:latin typeface="Times New Roman" panose="02020603050405020304" pitchFamily="18" charset="0"/>
              <a:ea typeface="微软雅黑" panose="020B0503020204020204" charset="-122"/>
              <a:cs typeface="Times New Roman" panose="02020603050405020304" pitchFamily="18" charset="0"/>
            </a:endParaRPr>
          </a:p>
          <a:p>
            <a:pPr>
              <a:lnSpc>
                <a:spcPct val="150000"/>
              </a:lnSpc>
              <a:buClr>
                <a:srgbClr val="0000FF"/>
              </a:buClr>
              <a:buFont typeface="+mj-lt"/>
              <a:buAutoNum type="alphaLcParenR"/>
            </a:pPr>
            <a:r>
              <a:rPr lang="en-US" altLang="zh-CN" sz="1800" b="1">
                <a:solidFill>
                  <a:srgbClr val="FF0000"/>
                </a:solidFill>
                <a:effectLst>
                  <a:outerShdw blurRad="38100" dist="38100" dir="2700000">
                    <a:srgbClr val="C0C0C0"/>
                  </a:outerShdw>
                </a:effectLst>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和</a:t>
            </a:r>
            <a:r>
              <a:rPr lang="en-US" altLang="zh-CN" sz="1800" b="1" dirty="0">
                <a:solidFill>
                  <a:srgbClr val="FF0000"/>
                </a:solidFill>
                <a:effectLst>
                  <a:outerShdw blurRad="38100" dist="38100" dir="2700000">
                    <a:srgbClr val="C0C0C0"/>
                  </a:outerShdw>
                </a:effectLst>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1800" b="1">
                <a:latin typeface="Times New Roman" panose="02020603050405020304" pitchFamily="18" charset="0"/>
                <a:ea typeface="微软雅黑" panose="020B0503020204020204" charset="-122"/>
                <a:cs typeface="Times New Roman" panose="02020603050405020304" pitchFamily="18" charset="0"/>
              </a:rPr>
              <a:t>y</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的作用域是</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P(x,y)∧Q(y,z</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，其中</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x,y</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是约束变元，</a:t>
            </a:r>
            <a:r>
              <a:rPr lang="en-US" altLang="zh-CN" sz="1800" b="1">
                <a:latin typeface="Times New Roman" panose="02020603050405020304" pitchFamily="18" charset="0"/>
                <a:ea typeface="微软雅黑" panose="020B0503020204020204" charset="-122"/>
                <a:cs typeface="Times New Roman" panose="02020603050405020304" pitchFamily="18" charset="0"/>
              </a:rPr>
              <a:t>z</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是自由变元。</a:t>
            </a:r>
            <a:r>
              <a:rPr lang="en-US" altLang="zh-CN" sz="1800" b="1" kern="0" noProof="0" dirty="0">
                <a:ln>
                  <a:noFill/>
                </a:ln>
                <a:solidFill>
                  <a:srgbClr val="0000FF"/>
                </a:solidFill>
                <a:effectLst/>
                <a:uLnTx/>
                <a:uFillTx/>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的作用域是</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P(x,y</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，其中</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是约束变元， </a:t>
            </a:r>
            <a:r>
              <a:rPr lang="en-US" altLang="zh-CN" sz="1800" b="1">
                <a:latin typeface="Times New Roman" panose="02020603050405020304" pitchFamily="18" charset="0"/>
                <a:ea typeface="微软雅黑" panose="020B0503020204020204" charset="-122"/>
                <a:cs typeface="Times New Roman" panose="02020603050405020304" pitchFamily="18" charset="0"/>
              </a:rPr>
              <a:t>y</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是自由变元。在整个公式中</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是约束出现，</a:t>
            </a:r>
            <a:r>
              <a:rPr lang="en-US" altLang="zh-CN" sz="1800" b="1">
                <a:latin typeface="Times New Roman" panose="02020603050405020304" pitchFamily="18" charset="0"/>
                <a:ea typeface="微软雅黑" panose="020B0503020204020204" charset="-122"/>
                <a:cs typeface="Times New Roman" panose="02020603050405020304" pitchFamily="18" charset="0"/>
              </a:rPr>
              <a:t>y</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既是约束出现又是自由出现，</a:t>
            </a:r>
            <a:r>
              <a:rPr lang="en-US" altLang="zh-CN" sz="1800" b="1">
                <a:latin typeface="Times New Roman" panose="02020603050405020304" pitchFamily="18" charset="0"/>
                <a:ea typeface="微软雅黑" panose="020B0503020204020204" charset="-122"/>
                <a:cs typeface="Times New Roman" panose="02020603050405020304" pitchFamily="18" charset="0"/>
              </a:rPr>
              <a:t>z</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是自由出现。</a:t>
            </a:r>
            <a:endParaRPr lang="zh-CN" altLang="en-US" sz="1800" b="1"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buClr>
                <a:srgbClr val="0000FF"/>
              </a:buClr>
              <a:buFont typeface="+mj-lt"/>
              <a:buAutoNum type="alphaLcParenR"/>
            </a:pPr>
            <a:r>
              <a:rPr lang="en-US" altLang="zh-CN" sz="1800" b="1">
                <a:solidFill>
                  <a:srgbClr val="FF0000"/>
                </a:solidFill>
                <a:effectLst>
                  <a:outerShdw blurRad="38100" dist="38100" dir="2700000">
                    <a:srgbClr val="C0C0C0"/>
                  </a:outerShdw>
                </a:effectLst>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1800" b="1">
                <a:solidFill>
                  <a:srgbClr val="FF000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的作用域是</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P(x</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r>
              <a:rPr lang="en-US" altLang="zh-CN" sz="1800" kern="0" noProof="0" dirty="0">
                <a:ln>
                  <a:noFill/>
                </a:ln>
                <a:effectLst/>
                <a:uLnTx/>
                <a:uFillTx/>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xQ(x,z</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r>
              <a:rPr lang="en-US" altLang="zh-CN" sz="1800" kern="0" noProof="0" dirty="0">
                <a:ln>
                  <a:noFill/>
                </a:ln>
                <a:effectLst/>
                <a:uLnTx/>
                <a:uFillTx/>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y)R(x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a:t>
            </a:r>
            <a:r>
              <a:rPr lang="en-US" altLang="zh-CN" sz="1800" b="1">
                <a:latin typeface="Times New Roman" panose="02020603050405020304" pitchFamily="18" charset="0"/>
                <a:ea typeface="微软雅黑" panose="020B0503020204020204" charset="-122"/>
                <a:cs typeface="Times New Roman" panose="02020603050405020304" pitchFamily="18" charset="0"/>
              </a:rPr>
              <a:t>y))</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和</a:t>
            </a:r>
            <a:r>
              <a:rPr lang="en-US" altLang="zh-CN" sz="1800" b="1">
                <a:latin typeface="Times New Roman" panose="02020603050405020304" pitchFamily="18" charset="0"/>
                <a:ea typeface="微软雅黑" panose="020B0503020204020204" charset="-122"/>
                <a:cs typeface="Times New Roman" panose="02020603050405020304" pitchFamily="18" charset="0"/>
              </a:rPr>
              <a:t>y</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都是约束变元，但</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Q(x,z</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中的</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是受</a:t>
            </a:r>
            <a:r>
              <a:rPr lang="en-US" altLang="zh-CN" sz="1800" b="1" kern="0" noProof="0" dirty="0">
                <a:ln>
                  <a:noFill/>
                </a:ln>
                <a:solidFill>
                  <a:srgbClr val="0000FF"/>
                </a:solidFill>
                <a:effectLst/>
                <a:uLnTx/>
                <a:uFillTx/>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的约束，而不是受 </a:t>
            </a:r>
            <a:r>
              <a:rPr lang="en-US" altLang="zh-CN" sz="1800" b="1" dirty="0">
                <a:solidFill>
                  <a:srgbClr val="FF0000"/>
                </a:solidFill>
                <a:effectLst>
                  <a:outerShdw blurRad="38100" dist="38100" dir="2700000">
                    <a:srgbClr val="C0C0C0"/>
                  </a:outerShdw>
                </a:effectLst>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1800" b="1" dirty="0">
                <a:latin typeface="Times New Roman" panose="02020603050405020304" pitchFamily="18" charset="0"/>
                <a:ea typeface="微软雅黑" panose="020B0503020204020204" charset="-122"/>
                <a:cs typeface="Times New Roman" panose="02020603050405020304" pitchFamily="18" charset="0"/>
              </a:rPr>
              <a:t> </a:t>
            </a:r>
            <a:r>
              <a:rPr lang="en-US" altLang="zh-CN" sz="1800" b="1">
                <a:latin typeface="Times New Roman" panose="02020603050405020304" pitchFamily="18" charset="0"/>
                <a:ea typeface="微软雅黑" panose="020B0503020204020204" charset="-122"/>
                <a:cs typeface="Times New Roman" panose="02020603050405020304" pitchFamily="18" charset="0"/>
              </a:rPr>
              <a:t>x</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的约束。</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Q(x,y</a:t>
            </a:r>
            <a:r>
              <a:rPr lang="en-US" altLang="zh-CN" sz="1800" b="1">
                <a:latin typeface="Times New Roman" panose="02020603050405020304" pitchFamily="18" charset="0"/>
                <a:ea typeface="微软雅黑" panose="020B0503020204020204" charset="-122"/>
                <a:cs typeface="Times New Roman" panose="02020603050405020304" pitchFamily="18" charset="0"/>
              </a:rPr>
              <a:t>)</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中的</a:t>
            </a:r>
            <a:r>
              <a:rPr lang="en-US" altLang="zh-CN" sz="1800" b="1" dirty="0" err="1">
                <a:latin typeface="Times New Roman" panose="02020603050405020304" pitchFamily="18" charset="0"/>
                <a:ea typeface="微软雅黑" panose="020B0503020204020204" charset="-122"/>
                <a:cs typeface="Times New Roman" panose="02020603050405020304" pitchFamily="18" charset="0"/>
              </a:rPr>
              <a:t>x,y</a:t>
            </a:r>
            <a:r>
              <a:rPr lang="zh-CN" altLang="en-US" sz="1800" b="1" dirty="0">
                <a:latin typeface="Times New Roman" panose="02020603050405020304" pitchFamily="18" charset="0"/>
                <a:ea typeface="微软雅黑" panose="020B0503020204020204" charset="-122"/>
                <a:cs typeface="Times New Roman" panose="02020603050405020304" pitchFamily="18" charset="0"/>
              </a:rPr>
              <a:t>是自由变元。</a:t>
            </a:r>
            <a:endParaRPr lang="zh-CN" altLang="en-US" sz="1800" b="1" dirty="0">
              <a:latin typeface="Times New Roman" panose="02020603050405020304" pitchFamily="18" charset="0"/>
              <a:ea typeface="微软雅黑" panose="020B0503020204020204" charset="-122"/>
              <a:cs typeface="Times New Roman" panose="02020603050405020304" pitchFamily="18" charset="0"/>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0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0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P spid="88067"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44033"/>
          <p:cNvSpPr>
            <a:spLocks noGrp="1"/>
          </p:cNvSpPr>
          <p:nvPr>
            <p:ph type="title"/>
          </p:nvPr>
        </p:nvSpPr>
        <p:spPr/>
        <p:txBody>
          <a:bodyPr anchor="ctr" anchorCtr="0"/>
          <a:lstStyle/>
          <a:p>
            <a:r>
              <a:rPr lang="zh-CN" altLang="en-US" sz="3200" b="1" dirty="0">
                <a:solidFill>
                  <a:srgbClr val="0000FF"/>
                </a:solidFill>
                <a:latin typeface="微软雅黑" panose="020B0503020204020204" charset="-122"/>
                <a:ea typeface="微软雅黑" panose="020B0503020204020204" charset="-122"/>
                <a:cs typeface="微软雅黑" panose="020B0503020204020204" charset="-122"/>
              </a:rPr>
              <a:t>约束变元的换名</a:t>
            </a:r>
            <a:br>
              <a:rPr lang="zh-CN" altLang="en-US" sz="3200" b="1" dirty="0">
                <a:solidFill>
                  <a:srgbClr val="002060"/>
                </a:solidFill>
                <a:latin typeface="微软雅黑" panose="020B0503020204020204" charset="-122"/>
                <a:ea typeface="微软雅黑" panose="020B0503020204020204" charset="-122"/>
                <a:cs typeface="微软雅黑" panose="020B0503020204020204" charset="-122"/>
              </a:rPr>
            </a:br>
            <a:endParaRPr lang="zh-CN" altLang="en-US" sz="3200" b="1" dirty="0">
              <a:solidFill>
                <a:srgbClr val="002060"/>
              </a:solidFill>
              <a:latin typeface="微软雅黑" panose="020B0503020204020204" charset="-122"/>
              <a:ea typeface="微软雅黑" panose="020B0503020204020204" charset="-122"/>
              <a:cs typeface="微软雅黑" panose="020B0503020204020204" charset="-122"/>
            </a:endParaRPr>
          </a:p>
        </p:txBody>
      </p:sp>
      <p:sp>
        <p:nvSpPr>
          <p:cNvPr id="44035" name="文本占位符 44034"/>
          <p:cNvSpPr>
            <a:spLocks noGrp="1"/>
          </p:cNvSpPr>
          <p:nvPr>
            <p:ph idx="1"/>
          </p:nvPr>
        </p:nvSpPr>
        <p:spPr>
          <a:xfrm>
            <a:off x="457200" y="970704"/>
            <a:ext cx="8229600" cy="1823720"/>
          </a:xfrm>
        </p:spPr>
        <p:txBody>
          <a:bodyPr/>
          <a:lstStyle/>
          <a:p>
            <a:pPr>
              <a:lnSpc>
                <a:spcPct val="150000"/>
              </a:lnSpc>
            </a:pPr>
            <a:r>
              <a:rPr lang="zh-CN" altLang="en-US" sz="2000" dirty="0">
                <a:latin typeface="微软雅黑" panose="020B0503020204020204" charset="-122"/>
                <a:ea typeface="微软雅黑" panose="020B0503020204020204" charset="-122"/>
                <a:cs typeface="微软雅黑" panose="020B0503020204020204" charset="-122"/>
              </a:rPr>
              <a:t>为了避免由于变元的约束与自由同时出现，引起概念上的混乱，故可</a:t>
            </a:r>
            <a:r>
              <a:rPr lang="zh-CN" altLang="en-US" sz="2000" dirty="0">
                <a:solidFill>
                  <a:srgbClr val="FF0000"/>
                </a:solidFill>
                <a:latin typeface="微软雅黑" panose="020B0503020204020204" charset="-122"/>
                <a:ea typeface="微软雅黑" panose="020B0503020204020204" charset="-122"/>
                <a:cs typeface="微软雅黑" panose="020B0503020204020204" charset="-122"/>
              </a:rPr>
              <a:t>对约束变元进行换名</a:t>
            </a:r>
            <a:r>
              <a:rPr lang="zh-CN" altLang="en-US" sz="2000" dirty="0">
                <a:latin typeface="微软雅黑" panose="020B0503020204020204" charset="-122"/>
                <a:ea typeface="微软雅黑" panose="020B0503020204020204" charset="-122"/>
                <a:cs typeface="微软雅黑" panose="020B0503020204020204" charset="-122"/>
              </a:rPr>
              <a:t>。使得一个变元在一个公式中只呈一种形式出现，即呈自由出现或呈约束出现。 </a:t>
            </a:r>
            <a:endParaRPr lang="zh-CN" altLang="en-US" sz="2000" dirty="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2000" b="1" dirty="0">
                <a:latin typeface="微软雅黑" panose="020B0503020204020204" charset="-122"/>
                <a:ea typeface="微软雅黑" panose="020B0503020204020204" charset="-122"/>
                <a:cs typeface="微软雅黑" panose="020B0503020204020204" charset="-122"/>
              </a:rPr>
              <a:t>可换名的理由： 一个公式的约束变元所使用的名称符号是无关紧要的。</a:t>
            </a:r>
            <a:endParaRPr lang="zh-CN" altLang="en-US" sz="2000" b="1" dirty="0">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latin typeface="微软雅黑" panose="020B0503020204020204" charset="-122"/>
                <a:ea typeface="微软雅黑" panose="020B0503020204020204" charset="-122"/>
                <a:cs typeface="微软雅黑" panose="020B0503020204020204" charset="-122"/>
              </a:rPr>
              <a:t>例： </a:t>
            </a:r>
            <a:r>
              <a:rPr lang="en-US" altLang="zh-CN" sz="2000" dirty="0">
                <a:solidFill>
                  <a:srgbClr val="680014"/>
                </a:solidFill>
                <a:effectLst>
                  <a:outerShdw blurRad="38100" dist="38100" dir="2700000">
                    <a:srgbClr val="C0C0C0"/>
                  </a:outerShdw>
                </a:effectLst>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000" dirty="0">
                <a:latin typeface="微软雅黑" panose="020B0503020204020204" charset="-122"/>
                <a:ea typeface="微软雅黑" panose="020B0503020204020204" charset="-122"/>
                <a:cs typeface="微软雅黑" panose="020B0503020204020204" charset="-122"/>
              </a:rPr>
              <a:t> </a:t>
            </a:r>
            <a:r>
              <a:rPr lang="en-US" altLang="zh-CN" sz="2000" dirty="0" err="1">
                <a:latin typeface="微软雅黑" panose="020B0503020204020204" charset="-122"/>
                <a:ea typeface="微软雅黑" panose="020B0503020204020204" charset="-122"/>
                <a:cs typeface="微软雅黑" panose="020B0503020204020204" charset="-122"/>
              </a:rPr>
              <a:t>xP</a:t>
            </a:r>
            <a:r>
              <a:rPr lang="en-US" altLang="zh-CN" sz="2000" dirty="0">
                <a:latin typeface="微软雅黑" panose="020B0503020204020204" charset="-122"/>
                <a:ea typeface="微软雅黑" panose="020B0503020204020204" charset="-122"/>
                <a:cs typeface="微软雅黑" panose="020B0503020204020204" charset="-122"/>
              </a:rPr>
              <a:t>(x)</a:t>
            </a:r>
            <a:r>
              <a:rPr lang="zh-CN" altLang="en-US" sz="2000" dirty="0">
                <a:latin typeface="微软雅黑" panose="020B0503020204020204" charset="-122"/>
                <a:ea typeface="微软雅黑" panose="020B0503020204020204" charset="-122"/>
                <a:cs typeface="微软雅黑" panose="020B0503020204020204" charset="-122"/>
              </a:rPr>
              <a:t>与</a:t>
            </a:r>
            <a:r>
              <a:rPr lang="en-US" altLang="zh-CN" sz="2000" dirty="0">
                <a:solidFill>
                  <a:srgbClr val="680014"/>
                </a:solidFill>
                <a:effectLst>
                  <a:outerShdw blurRad="38100" dist="38100" dir="2700000">
                    <a:srgbClr val="C0C0C0"/>
                  </a:outerShdw>
                </a:effectLst>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000" dirty="0">
                <a:latin typeface="微软雅黑" panose="020B0503020204020204" charset="-122"/>
                <a:ea typeface="微软雅黑" panose="020B0503020204020204" charset="-122"/>
                <a:cs typeface="微软雅黑" panose="020B0503020204020204" charset="-122"/>
              </a:rPr>
              <a:t> </a:t>
            </a:r>
            <a:r>
              <a:rPr lang="en-US" altLang="zh-CN" sz="2000" dirty="0" err="1">
                <a:latin typeface="微软雅黑" panose="020B0503020204020204" charset="-122"/>
                <a:ea typeface="微软雅黑" panose="020B0503020204020204" charset="-122"/>
                <a:cs typeface="微软雅黑" panose="020B0503020204020204" charset="-122"/>
              </a:rPr>
              <a:t>yP</a:t>
            </a:r>
            <a:r>
              <a:rPr lang="en-US" altLang="zh-CN" sz="2000" dirty="0">
                <a:latin typeface="微软雅黑" panose="020B0503020204020204" charset="-122"/>
                <a:ea typeface="微软雅黑" panose="020B0503020204020204" charset="-122"/>
                <a:cs typeface="微软雅黑" panose="020B0503020204020204" charset="-122"/>
              </a:rPr>
              <a:t>(y)</a:t>
            </a:r>
            <a:r>
              <a:rPr lang="zh-CN" altLang="en-US" sz="2000" dirty="0">
                <a:latin typeface="微软雅黑" panose="020B0503020204020204" charset="-122"/>
                <a:ea typeface="微软雅黑" panose="020B0503020204020204" charset="-122"/>
                <a:cs typeface="微软雅黑" panose="020B0503020204020204" charset="-122"/>
              </a:rPr>
              <a:t>具有相同的意义。</a:t>
            </a:r>
            <a:endParaRPr lang="zh-CN" altLang="en-US" sz="2000" dirty="0">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latin typeface="微软雅黑" panose="020B0503020204020204" charset="-122"/>
                <a:ea typeface="微软雅黑" panose="020B0503020204020204" charset="-122"/>
                <a:cs typeface="微软雅黑" panose="020B0503020204020204" charset="-122"/>
              </a:rPr>
              <a:t>        设</a:t>
            </a:r>
            <a:r>
              <a:rPr lang="en-US" altLang="zh-CN" sz="2000" dirty="0">
                <a:latin typeface="微软雅黑" panose="020B0503020204020204" charset="-122"/>
                <a:ea typeface="微软雅黑" panose="020B0503020204020204" charset="-122"/>
                <a:cs typeface="微软雅黑" panose="020B0503020204020204" charset="-122"/>
              </a:rPr>
              <a:t>A(x)</a:t>
            </a:r>
            <a:r>
              <a:rPr lang="zh-CN" altLang="en-US" sz="2000" dirty="0">
                <a:latin typeface="微软雅黑" panose="020B0503020204020204" charset="-122"/>
                <a:ea typeface="微软雅黑" panose="020B0503020204020204" charset="-122"/>
                <a:cs typeface="微软雅黑" panose="020B0503020204020204" charset="-122"/>
              </a:rPr>
              <a:t>表示</a:t>
            </a:r>
            <a:r>
              <a:rPr lang="en-US" altLang="zh-CN" sz="2000" dirty="0">
                <a:latin typeface="微软雅黑" panose="020B0503020204020204" charset="-122"/>
                <a:ea typeface="微软雅黑" panose="020B0503020204020204" charset="-122"/>
                <a:cs typeface="微软雅黑" panose="020B0503020204020204" charset="-122"/>
              </a:rPr>
              <a:t>x</a:t>
            </a:r>
            <a:r>
              <a:rPr lang="zh-CN" altLang="en-US" sz="2000" dirty="0">
                <a:latin typeface="微软雅黑" panose="020B0503020204020204" charset="-122"/>
                <a:ea typeface="微软雅黑" panose="020B0503020204020204" charset="-122"/>
                <a:cs typeface="微软雅黑" panose="020B0503020204020204" charset="-122"/>
              </a:rPr>
              <a:t>不小于</a:t>
            </a:r>
            <a:r>
              <a:rPr lang="en-US" altLang="zh-CN" sz="2000" dirty="0">
                <a:latin typeface="微软雅黑" panose="020B0503020204020204" charset="-122"/>
                <a:ea typeface="微软雅黑" panose="020B0503020204020204" charset="-122"/>
                <a:cs typeface="微软雅黑" panose="020B0503020204020204" charset="-122"/>
              </a:rPr>
              <a:t>0</a:t>
            </a:r>
            <a:r>
              <a:rPr lang="zh-CN" altLang="en-US" sz="2000" dirty="0">
                <a:latin typeface="微软雅黑" panose="020B0503020204020204" charset="-122"/>
                <a:ea typeface="微软雅黑" panose="020B0503020204020204" charset="-122"/>
                <a:cs typeface="微软雅黑" panose="020B0503020204020204" charset="-122"/>
              </a:rPr>
              <a:t>，那么</a:t>
            </a:r>
            <a:endParaRPr lang="zh-CN" altLang="en-US" sz="2000" dirty="0">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rgbClr val="680014"/>
                </a:solidFill>
                <a:effectLst>
                  <a:outerShdw blurRad="38100" dist="38100" dir="2700000">
                    <a:srgbClr val="C0C0C0"/>
                  </a:outerShdw>
                </a:effectLst>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en-US" altLang="zh-CN" sz="2000" dirty="0">
                <a:solidFill>
                  <a:srgbClr val="680014"/>
                </a:solidFill>
                <a:effectLst>
                  <a:outerShdw blurRad="38100" dist="38100" dir="2700000">
                    <a:srgbClr val="C0C0C0"/>
                  </a:outerShdw>
                </a:effectLst>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000" dirty="0">
                <a:latin typeface="微软雅黑" panose="020B0503020204020204" charset="-122"/>
                <a:ea typeface="微软雅黑" panose="020B0503020204020204" charset="-122"/>
                <a:cs typeface="微软雅黑" panose="020B0503020204020204" charset="-122"/>
              </a:rPr>
              <a:t> </a:t>
            </a:r>
            <a:r>
              <a:rPr lang="en-US" altLang="zh-CN" sz="2000" dirty="0" err="1">
                <a:latin typeface="微软雅黑" panose="020B0503020204020204" charset="-122"/>
                <a:ea typeface="微软雅黑" panose="020B0503020204020204" charset="-122"/>
                <a:cs typeface="微软雅黑" panose="020B0503020204020204" charset="-122"/>
              </a:rPr>
              <a:t>xA</a:t>
            </a:r>
            <a:r>
              <a:rPr lang="en-US" altLang="zh-CN" sz="2000" dirty="0">
                <a:latin typeface="微软雅黑" panose="020B0503020204020204" charset="-122"/>
                <a:ea typeface="微软雅黑" panose="020B0503020204020204" charset="-122"/>
                <a:cs typeface="微软雅黑" panose="020B0503020204020204" charset="-122"/>
              </a:rPr>
              <a:t>(x)</a:t>
            </a:r>
            <a:r>
              <a:rPr lang="zh-CN" altLang="en-US" sz="2000" dirty="0">
                <a:latin typeface="微软雅黑" panose="020B0503020204020204" charset="-122"/>
                <a:ea typeface="微软雅黑" panose="020B0503020204020204" charset="-122"/>
                <a:cs typeface="微软雅黑" panose="020B0503020204020204" charset="-122"/>
              </a:rPr>
              <a:t>表示一切</a:t>
            </a:r>
            <a:r>
              <a:rPr lang="en-US" altLang="zh-CN" sz="2000" dirty="0">
                <a:latin typeface="微软雅黑" panose="020B0503020204020204" charset="-122"/>
                <a:ea typeface="微软雅黑" panose="020B0503020204020204" charset="-122"/>
                <a:cs typeface="微软雅黑" panose="020B0503020204020204" charset="-122"/>
              </a:rPr>
              <a:t>x</a:t>
            </a:r>
            <a:r>
              <a:rPr lang="zh-CN" altLang="en-US" sz="2000" dirty="0">
                <a:latin typeface="微软雅黑" panose="020B0503020204020204" charset="-122"/>
                <a:ea typeface="微软雅黑" panose="020B0503020204020204" charset="-122"/>
                <a:cs typeface="微软雅黑" panose="020B0503020204020204" charset="-122"/>
              </a:rPr>
              <a:t>都使得</a:t>
            </a:r>
            <a:r>
              <a:rPr lang="en-US" altLang="zh-CN" sz="2000" dirty="0">
                <a:latin typeface="微软雅黑" panose="020B0503020204020204" charset="-122"/>
                <a:ea typeface="微软雅黑" panose="020B0503020204020204" charset="-122"/>
                <a:cs typeface="微软雅黑" panose="020B0503020204020204" charset="-122"/>
              </a:rPr>
              <a:t>x</a:t>
            </a:r>
            <a:r>
              <a:rPr lang="zh-CN" altLang="en-US" sz="2000" dirty="0">
                <a:latin typeface="微软雅黑" panose="020B0503020204020204" charset="-122"/>
                <a:ea typeface="微软雅黑" panose="020B0503020204020204" charset="-122"/>
                <a:cs typeface="微软雅黑" panose="020B0503020204020204" charset="-122"/>
              </a:rPr>
              <a:t>不小于</a:t>
            </a:r>
            <a:r>
              <a:rPr lang="en-US" altLang="zh-CN" sz="2000" dirty="0">
                <a:latin typeface="微软雅黑" panose="020B0503020204020204" charset="-122"/>
                <a:ea typeface="微软雅黑" panose="020B0503020204020204" charset="-122"/>
                <a:cs typeface="微软雅黑" panose="020B0503020204020204" charset="-122"/>
              </a:rPr>
              <a:t>0</a:t>
            </a:r>
            <a:r>
              <a:rPr lang="zh-CN" altLang="en-US" sz="2000" dirty="0">
                <a:latin typeface="微软雅黑" panose="020B0503020204020204" charset="-122"/>
                <a:ea typeface="微软雅黑" panose="020B0503020204020204" charset="-122"/>
                <a:cs typeface="微软雅黑" panose="020B0503020204020204" charset="-122"/>
              </a:rPr>
              <a:t>；</a:t>
            </a:r>
            <a:endParaRPr lang="zh-CN" altLang="en-US" sz="2000" dirty="0">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rgbClr val="680014"/>
                </a:solidFill>
                <a:effectLst>
                  <a:outerShdw blurRad="38100" dist="38100" dir="2700000">
                    <a:srgbClr val="C0C0C0"/>
                  </a:outerShdw>
                </a:effectLst>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en-US" altLang="zh-CN" sz="2000" dirty="0">
                <a:solidFill>
                  <a:srgbClr val="680014"/>
                </a:solidFill>
                <a:effectLst>
                  <a:outerShdw blurRad="38100" dist="38100" dir="2700000">
                    <a:srgbClr val="C0C0C0"/>
                  </a:outerShdw>
                </a:effectLst>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000" dirty="0">
                <a:latin typeface="微软雅黑" panose="020B0503020204020204" charset="-122"/>
                <a:ea typeface="微软雅黑" panose="020B0503020204020204" charset="-122"/>
                <a:cs typeface="微软雅黑" panose="020B0503020204020204" charset="-122"/>
              </a:rPr>
              <a:t> </a:t>
            </a:r>
            <a:r>
              <a:rPr lang="en-US" altLang="zh-CN" sz="2000" dirty="0" err="1">
                <a:latin typeface="微软雅黑" panose="020B0503020204020204" charset="-122"/>
                <a:ea typeface="微软雅黑" panose="020B0503020204020204" charset="-122"/>
                <a:cs typeface="微软雅黑" panose="020B0503020204020204" charset="-122"/>
              </a:rPr>
              <a:t>yA</a:t>
            </a:r>
            <a:r>
              <a:rPr lang="en-US" altLang="zh-CN" sz="2000" dirty="0">
                <a:latin typeface="微软雅黑" panose="020B0503020204020204" charset="-122"/>
                <a:ea typeface="微软雅黑" panose="020B0503020204020204" charset="-122"/>
                <a:cs typeface="微软雅黑" panose="020B0503020204020204" charset="-122"/>
              </a:rPr>
              <a:t>(y)</a:t>
            </a:r>
            <a:r>
              <a:rPr lang="zh-CN" altLang="en-US" sz="2000" dirty="0">
                <a:latin typeface="微软雅黑" panose="020B0503020204020204" charset="-122"/>
                <a:ea typeface="微软雅黑" panose="020B0503020204020204" charset="-122"/>
                <a:cs typeface="微软雅黑" panose="020B0503020204020204" charset="-122"/>
              </a:rPr>
              <a:t>表示一切</a:t>
            </a:r>
            <a:r>
              <a:rPr lang="en-US" altLang="zh-CN" sz="2000" dirty="0">
                <a:latin typeface="微软雅黑" panose="020B0503020204020204" charset="-122"/>
                <a:ea typeface="微软雅黑" panose="020B0503020204020204" charset="-122"/>
                <a:cs typeface="微软雅黑" panose="020B0503020204020204" charset="-122"/>
              </a:rPr>
              <a:t>y</a:t>
            </a:r>
            <a:r>
              <a:rPr lang="zh-CN" altLang="en-US" sz="2000" dirty="0">
                <a:latin typeface="微软雅黑" panose="020B0503020204020204" charset="-122"/>
                <a:ea typeface="微软雅黑" panose="020B0503020204020204" charset="-122"/>
                <a:cs typeface="微软雅黑" panose="020B0503020204020204" charset="-122"/>
              </a:rPr>
              <a:t>都使得</a:t>
            </a:r>
            <a:r>
              <a:rPr lang="en-US" altLang="zh-CN" sz="2000" dirty="0">
                <a:latin typeface="微软雅黑" panose="020B0503020204020204" charset="-122"/>
                <a:ea typeface="微软雅黑" panose="020B0503020204020204" charset="-122"/>
                <a:cs typeface="微软雅黑" panose="020B0503020204020204" charset="-122"/>
              </a:rPr>
              <a:t>y</a:t>
            </a:r>
            <a:r>
              <a:rPr lang="zh-CN" altLang="en-US" sz="2000" dirty="0">
                <a:latin typeface="微软雅黑" panose="020B0503020204020204" charset="-122"/>
                <a:ea typeface="微软雅黑" panose="020B0503020204020204" charset="-122"/>
                <a:cs typeface="微软雅黑" panose="020B0503020204020204" charset="-122"/>
              </a:rPr>
              <a:t>不小于</a:t>
            </a:r>
            <a:r>
              <a:rPr lang="en-US" altLang="zh-CN" sz="2000" dirty="0">
                <a:latin typeface="微软雅黑" panose="020B0503020204020204" charset="-122"/>
                <a:ea typeface="微软雅黑" panose="020B0503020204020204" charset="-122"/>
                <a:cs typeface="微软雅黑" panose="020B0503020204020204" charset="-122"/>
              </a:rPr>
              <a:t>0</a:t>
            </a:r>
            <a:r>
              <a:rPr lang="zh-CN" altLang="en-US" sz="2000" dirty="0">
                <a:latin typeface="微软雅黑" panose="020B0503020204020204" charset="-122"/>
                <a:ea typeface="微软雅黑" panose="020B0503020204020204" charset="-122"/>
                <a:cs typeface="微软雅黑" panose="020B0503020204020204" charset="-122"/>
              </a:rPr>
              <a:t>；</a:t>
            </a:r>
            <a:endParaRPr lang="zh-CN" altLang="en-US" sz="2000" dirty="0">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latin typeface="微软雅黑" panose="020B0503020204020204" charset="-122"/>
                <a:ea typeface="微软雅黑" panose="020B0503020204020204" charset="-122"/>
                <a:cs typeface="微软雅黑" panose="020B0503020204020204" charset="-122"/>
              </a:rPr>
              <a:t>    这二个命题在实数域中都表示假命题“一切实数均不小于</a:t>
            </a:r>
            <a:r>
              <a:rPr lang="en-US" altLang="zh-CN" sz="2000" dirty="0">
                <a:latin typeface="微软雅黑" panose="020B0503020204020204" charset="-122"/>
                <a:ea typeface="微软雅黑" panose="020B0503020204020204" charset="-122"/>
                <a:cs typeface="微软雅黑" panose="020B0503020204020204" charset="-122"/>
              </a:rPr>
              <a:t>0”</a:t>
            </a:r>
            <a:r>
              <a:rPr lang="zh-CN" altLang="en-US" sz="2000" dirty="0">
                <a:latin typeface="微软雅黑" panose="020B0503020204020204" charset="-122"/>
                <a:ea typeface="微软雅黑" panose="020B0503020204020204" charset="-122"/>
                <a:cs typeface="微软雅黑" panose="020B0503020204020204" charset="-122"/>
              </a:rPr>
              <a:t>。 同理</a:t>
            </a:r>
            <a:r>
              <a:rPr sz="2000" b="1" dirty="0">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000" dirty="0" err="1">
                <a:latin typeface="微软雅黑" panose="020B0503020204020204" charset="-122"/>
                <a:ea typeface="微软雅黑" panose="020B0503020204020204" charset="-122"/>
                <a:cs typeface="微软雅黑" panose="020B0503020204020204" charset="-122"/>
              </a:rPr>
              <a:t>xP</a:t>
            </a:r>
            <a:r>
              <a:rPr lang="en-US" altLang="zh-CN" sz="2000" dirty="0">
                <a:latin typeface="微软雅黑" panose="020B0503020204020204" charset="-122"/>
                <a:ea typeface="微软雅黑" panose="020B0503020204020204" charset="-122"/>
                <a:cs typeface="微软雅黑" panose="020B0503020204020204" charset="-122"/>
              </a:rPr>
              <a:t>(x) </a:t>
            </a:r>
            <a:r>
              <a:rPr lang="zh-CN" altLang="en-US" sz="2000" dirty="0">
                <a:latin typeface="微软雅黑" panose="020B0503020204020204" charset="-122"/>
                <a:ea typeface="微软雅黑" panose="020B0503020204020204" charset="-122"/>
                <a:cs typeface="微软雅黑" panose="020B0503020204020204" charset="-122"/>
              </a:rPr>
              <a:t>与</a:t>
            </a:r>
            <a:r>
              <a:rPr lang="en-US" altLang="zh-CN" sz="2000" dirty="0">
                <a:latin typeface="微软雅黑" panose="020B0503020204020204" charset="-122"/>
                <a:ea typeface="微软雅黑" panose="020B0503020204020204" charset="-122"/>
                <a:cs typeface="微软雅黑" panose="020B0503020204020204" charset="-122"/>
              </a:rPr>
              <a:t> </a:t>
            </a:r>
            <a:r>
              <a:rPr sz="2000" b="1" dirty="0">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000" dirty="0" err="1">
                <a:latin typeface="微软雅黑" panose="020B0503020204020204" charset="-122"/>
                <a:ea typeface="微软雅黑" panose="020B0503020204020204" charset="-122"/>
                <a:cs typeface="微软雅黑" panose="020B0503020204020204" charset="-122"/>
              </a:rPr>
              <a:t>yP</a:t>
            </a:r>
            <a:r>
              <a:rPr lang="en-US" altLang="zh-CN" sz="2000" dirty="0">
                <a:latin typeface="微软雅黑" panose="020B0503020204020204" charset="-122"/>
                <a:ea typeface="微软雅黑" panose="020B0503020204020204" charset="-122"/>
                <a:cs typeface="微软雅黑" panose="020B0503020204020204" charset="-122"/>
              </a:rPr>
              <a:t>(y)</a:t>
            </a:r>
            <a:r>
              <a:rPr lang="zh-CN" altLang="en-US" sz="2000" dirty="0">
                <a:latin typeface="微软雅黑" panose="020B0503020204020204" charset="-122"/>
                <a:ea typeface="微软雅黑" panose="020B0503020204020204" charset="-122"/>
                <a:cs typeface="微软雅黑" panose="020B0503020204020204" charset="-122"/>
              </a:rPr>
              <a:t>意义亦相同。</a:t>
            </a:r>
            <a:endParaRPr lang="zh-CN" altLang="en-US" sz="2000" dirty="0">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03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03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0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文本占位符 45058"/>
          <p:cNvSpPr>
            <a:spLocks noGrp="1"/>
          </p:cNvSpPr>
          <p:nvPr>
            <p:ph idx="1"/>
          </p:nvPr>
        </p:nvSpPr>
        <p:spPr>
          <a:xfrm>
            <a:off x="368618" y="574993"/>
            <a:ext cx="8229600" cy="4752975"/>
          </a:xfrm>
        </p:spPr>
        <p:txBody>
          <a:bodyPr/>
          <a:lstStyle/>
          <a:p>
            <a:pPr>
              <a:lnSpc>
                <a:spcPct val="130000"/>
              </a:lnSpc>
              <a:buNone/>
            </a:pPr>
            <a:r>
              <a:rPr lang="zh-CN" altLang="en-US" sz="2000" b="1" dirty="0">
                <a:latin typeface="微软雅黑" panose="020B0503020204020204" charset="-122"/>
                <a:ea typeface="微软雅黑" panose="020B0503020204020204" charset="-122"/>
                <a:cs typeface="微软雅黑" panose="020B0503020204020204" charset="-122"/>
              </a:rPr>
              <a:t>约束变元的换名规则为：</a:t>
            </a:r>
            <a:endParaRPr lang="zh-CN" altLang="en-US" sz="2000" b="1" dirty="0">
              <a:latin typeface="微软雅黑" panose="020B0503020204020204" charset="-122"/>
              <a:ea typeface="微软雅黑" panose="020B0503020204020204" charset="-122"/>
              <a:cs typeface="微软雅黑" panose="020B0503020204020204" charset="-122"/>
            </a:endParaRPr>
          </a:p>
          <a:p>
            <a:pPr>
              <a:lnSpc>
                <a:spcPct val="130000"/>
              </a:lnSpc>
              <a:buNone/>
            </a:pPr>
            <a:r>
              <a:rPr lang="en-US" altLang="zh-CN" sz="2000" b="1">
                <a:latin typeface="微软雅黑" panose="020B0503020204020204" charset="-122"/>
                <a:ea typeface="微软雅黑" panose="020B0503020204020204" charset="-122"/>
                <a:cs typeface="微软雅黑" panose="020B0503020204020204" charset="-122"/>
              </a:rPr>
              <a:t>(1) </a:t>
            </a:r>
            <a:r>
              <a:rPr lang="zh-CN" altLang="en-US" sz="2000" b="1" dirty="0">
                <a:latin typeface="微软雅黑" panose="020B0503020204020204" charset="-122"/>
                <a:ea typeface="微软雅黑" panose="020B0503020204020204" charset="-122"/>
                <a:cs typeface="微软雅黑" panose="020B0503020204020204" charset="-122"/>
              </a:rPr>
              <a:t>对于约束变元可以换名，</a:t>
            </a:r>
            <a:r>
              <a:rPr lang="zh-CN" altLang="en-US" sz="2000" b="1" dirty="0">
                <a:solidFill>
                  <a:srgbClr val="0000FA"/>
                </a:solidFill>
                <a:latin typeface="微软雅黑" panose="020B0503020204020204" charset="-122"/>
                <a:ea typeface="微软雅黑" panose="020B0503020204020204" charset="-122"/>
                <a:cs typeface="微软雅黑" panose="020B0503020204020204" charset="-122"/>
              </a:rPr>
              <a:t>其更改的变元名称范围是量词中的指导变元，以及该量词作用域中所出现的该变元，</a:t>
            </a:r>
            <a:r>
              <a:rPr lang="zh-CN" altLang="en-US" sz="2000" b="1" dirty="0">
                <a:latin typeface="微软雅黑" panose="020B0503020204020204" charset="-122"/>
                <a:ea typeface="微软雅黑" panose="020B0503020204020204" charset="-122"/>
                <a:cs typeface="微软雅黑" panose="020B0503020204020204" charset="-122"/>
              </a:rPr>
              <a:t>在公式的其余部分不变。</a:t>
            </a:r>
            <a:endParaRPr lang="zh-CN" altLang="en-US" sz="2000" b="1" dirty="0">
              <a:latin typeface="微软雅黑" panose="020B0503020204020204" charset="-122"/>
              <a:ea typeface="微软雅黑" panose="020B0503020204020204" charset="-122"/>
              <a:cs typeface="微软雅黑" panose="020B0503020204020204" charset="-122"/>
            </a:endParaRPr>
          </a:p>
          <a:p>
            <a:pPr>
              <a:lnSpc>
                <a:spcPct val="130000"/>
              </a:lnSpc>
              <a:buNone/>
            </a:pPr>
            <a:r>
              <a:rPr lang="en-US" altLang="zh-CN" sz="2000" b="1">
                <a:latin typeface="微软雅黑" panose="020B0503020204020204" charset="-122"/>
                <a:ea typeface="微软雅黑" panose="020B0503020204020204" charset="-122"/>
                <a:cs typeface="微软雅黑" panose="020B0503020204020204" charset="-122"/>
              </a:rPr>
              <a:t>(2) </a:t>
            </a:r>
            <a:r>
              <a:rPr lang="zh-CN" altLang="en-US" sz="2000" b="1" dirty="0">
                <a:solidFill>
                  <a:srgbClr val="0000FA"/>
                </a:solidFill>
                <a:latin typeface="微软雅黑" panose="020B0503020204020204" charset="-122"/>
                <a:ea typeface="微软雅黑" panose="020B0503020204020204" charset="-122"/>
                <a:cs typeface="微软雅黑" panose="020B0503020204020204" charset="-122"/>
              </a:rPr>
              <a:t>换名时一定要更改为作用域中没有出现的变元名称</a:t>
            </a:r>
            <a:r>
              <a:rPr lang="zh-CN" altLang="en-US" sz="2000" dirty="0">
                <a:latin typeface="微软雅黑" panose="020B0503020204020204" charset="-122"/>
                <a:ea typeface="微软雅黑" panose="020B0503020204020204" charset="-122"/>
                <a:cs typeface="微软雅黑" panose="020B0503020204020204" charset="-122"/>
              </a:rPr>
              <a:t>，最好是公式中未出现的符号。 </a:t>
            </a:r>
            <a:endParaRPr lang="zh-CN" altLang="en-US" sz="2000" b="1" dirty="0">
              <a:latin typeface="微软雅黑" panose="020B0503020204020204" charset="-122"/>
              <a:ea typeface="微软雅黑" panose="020B0503020204020204" charset="-122"/>
              <a:cs typeface="微软雅黑" panose="020B0503020204020204" charset="-122"/>
            </a:endParaRPr>
          </a:p>
          <a:p>
            <a:pPr>
              <a:buNone/>
            </a:pPr>
            <a:endParaRPr lang="zh-CN" altLang="en-US" sz="2000" b="1" dirty="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371475" y="5109210"/>
            <a:ext cx="8401685" cy="521970"/>
          </a:xfrm>
          <a:prstGeom prst="rect">
            <a:avLst/>
          </a:prstGeom>
          <a:noFill/>
        </p:spPr>
        <p:txBody>
          <a:bodyPr wrap="square" rtlCol="0" anchor="t">
            <a:spAutoFit/>
          </a:bodyPr>
          <a:lstStyle/>
          <a:p>
            <a:pPr marL="342900" indent="-342900" algn="l">
              <a:spcBef>
                <a:spcPct val="20000"/>
              </a:spcBef>
              <a:buClr>
                <a:schemeClr val="bg2"/>
              </a:buClr>
              <a:buSzPct val="75000"/>
              <a:buFont typeface="Wingdings" panose="05000000000000000000" pitchFamily="2" charset="2"/>
              <a:buNone/>
            </a:pPr>
            <a:r>
              <a:rPr lang="zh-CN" altLang="en-US" sz="2800" b="1" dirty="0">
                <a:latin typeface="+mn-lt"/>
                <a:ea typeface="+mn-ea"/>
                <a:sym typeface="+mn-ea"/>
              </a:rPr>
              <a:t>例</a:t>
            </a:r>
            <a:r>
              <a:rPr lang="en-US" altLang="zh-CN" sz="2800" b="1" dirty="0">
                <a:latin typeface="+mn-lt"/>
                <a:ea typeface="+mn-ea"/>
                <a:sym typeface="+mn-ea"/>
              </a:rPr>
              <a:t>	</a:t>
            </a:r>
            <a:r>
              <a:rPr lang="en-US" altLang="zh-CN" sz="2800" b="1">
                <a:latin typeface="+mn-lt"/>
                <a:ea typeface="+mn-ea"/>
                <a:sym typeface="+mn-ea"/>
              </a:rPr>
              <a:t>  </a:t>
            </a:r>
            <a:r>
              <a:rPr lang="zh-CN" altLang="en-US" sz="2800" b="1" dirty="0">
                <a:latin typeface="+mn-lt"/>
                <a:ea typeface="+mn-ea"/>
                <a:sym typeface="+mn-ea"/>
              </a:rPr>
              <a:t>对</a:t>
            </a:r>
            <a:r>
              <a:rPr lang="en-US" altLang="zh-CN" sz="2800" b="1" dirty="0">
                <a:solidFill>
                  <a:srgbClr val="680014"/>
                </a:solidFill>
                <a:effectLst>
                  <a:outerShdw blurRad="38100" dist="38100" dir="2700000">
                    <a:srgbClr val="C0C0C0"/>
                  </a:outerShdw>
                </a:effectLst>
                <a:latin typeface="华文中宋" panose="02010600040101010101" pitchFamily="2" charset="-122"/>
                <a:ea typeface="华文中宋" panose="02010600040101010101" pitchFamily="2" charset="-122"/>
                <a:sym typeface="Symbol" panose="05050102010706020507" pitchFamily="18" charset="2"/>
              </a:rPr>
              <a:t></a:t>
            </a:r>
            <a:r>
              <a:rPr lang="en-US" altLang="zh-CN" sz="2800" b="1" dirty="0" err="1">
                <a:latin typeface="+mn-lt"/>
                <a:ea typeface="+mn-ea"/>
                <a:sym typeface="+mn-ea"/>
              </a:rPr>
              <a:t>x(P(x)→R(x,y))∧Q(x,y</a:t>
            </a:r>
            <a:r>
              <a:rPr lang="en-US" altLang="zh-CN" sz="2800" b="1">
                <a:latin typeface="+mn-lt"/>
                <a:ea typeface="+mn-ea"/>
                <a:sym typeface="+mn-ea"/>
              </a:rPr>
              <a:t>)</a:t>
            </a:r>
            <a:r>
              <a:rPr lang="zh-CN" altLang="en-US" sz="2800" b="1" dirty="0">
                <a:latin typeface="+mn-lt"/>
                <a:ea typeface="+mn-ea"/>
                <a:sym typeface="+mn-ea"/>
              </a:rPr>
              <a:t>换名 </a:t>
            </a:r>
            <a:endParaRPr lang="zh-CN" altLang="en-US" sz="2800" b="1" dirty="0">
              <a:latin typeface="+mn-lt"/>
              <a:ea typeface="+mn-ea"/>
              <a:sym typeface="+mn-ea"/>
            </a:endParaRPr>
          </a:p>
        </p:txBody>
      </p:sp>
      <p:sp>
        <p:nvSpPr>
          <p:cNvPr id="3" name="文本框 2"/>
          <p:cNvSpPr txBox="1"/>
          <p:nvPr/>
        </p:nvSpPr>
        <p:spPr>
          <a:xfrm>
            <a:off x="1986280" y="5873750"/>
            <a:ext cx="4572000" cy="521970"/>
          </a:xfrm>
          <a:prstGeom prst="rect">
            <a:avLst/>
          </a:prstGeom>
          <a:noFill/>
        </p:spPr>
        <p:txBody>
          <a:bodyPr wrap="square" rtlCol="0" anchor="t">
            <a:spAutoFit/>
          </a:bodyPr>
          <a:lstStyle/>
          <a:p>
            <a:r>
              <a:rPr lang="en-US" altLang="zh-CN" sz="2800" b="1" dirty="0">
                <a:solidFill>
                  <a:srgbClr val="680014"/>
                </a:solidFill>
                <a:effectLst>
                  <a:outerShdw blurRad="38100" dist="38100" dir="2700000">
                    <a:srgbClr val="C0C0C0"/>
                  </a:outerShdw>
                </a:effectLst>
                <a:latin typeface="华文中宋" panose="02010600040101010101" pitchFamily="2" charset="-122"/>
                <a:ea typeface="华文中宋" panose="02010600040101010101" pitchFamily="2" charset="-122"/>
                <a:sym typeface="Symbol" panose="05050102010706020507" pitchFamily="18" charset="2"/>
              </a:rPr>
              <a:t></a:t>
            </a:r>
            <a:r>
              <a:rPr lang="en-US" altLang="zh-CN" sz="2800" b="1" dirty="0" err="1">
                <a:solidFill>
                  <a:srgbClr val="FF0000"/>
                </a:solidFill>
                <a:latin typeface="+mn-lt"/>
                <a:ea typeface="+mn-ea"/>
                <a:sym typeface="+mn-ea"/>
              </a:rPr>
              <a:t>z</a:t>
            </a:r>
            <a:r>
              <a:rPr lang="en-US" altLang="zh-CN" sz="2800" b="1" dirty="0" err="1">
                <a:latin typeface="+mn-lt"/>
                <a:ea typeface="+mn-ea"/>
                <a:sym typeface="+mn-ea"/>
              </a:rPr>
              <a:t>(P(</a:t>
            </a:r>
            <a:r>
              <a:rPr lang="en-US" altLang="zh-CN" sz="2800" b="1" dirty="0" err="1">
                <a:solidFill>
                  <a:srgbClr val="FF0000"/>
                </a:solidFill>
                <a:latin typeface="+mn-lt"/>
                <a:ea typeface="+mn-ea"/>
                <a:sym typeface="+mn-ea"/>
              </a:rPr>
              <a:t>z</a:t>
            </a:r>
            <a:r>
              <a:rPr lang="en-US" altLang="zh-CN" sz="2800" b="1" dirty="0" err="1">
                <a:latin typeface="+mn-lt"/>
                <a:ea typeface="+mn-ea"/>
                <a:sym typeface="+mn-ea"/>
              </a:rPr>
              <a:t>)→R(</a:t>
            </a:r>
            <a:r>
              <a:rPr lang="en-US" altLang="zh-CN" sz="2800" b="1" dirty="0" err="1">
                <a:solidFill>
                  <a:srgbClr val="FF0000"/>
                </a:solidFill>
                <a:latin typeface="+mn-lt"/>
                <a:ea typeface="+mn-ea"/>
                <a:sym typeface="+mn-ea"/>
              </a:rPr>
              <a:t>z</a:t>
            </a:r>
            <a:r>
              <a:rPr lang="en-US" altLang="zh-CN" sz="2800" b="1" dirty="0" err="1">
                <a:latin typeface="+mn-lt"/>
                <a:ea typeface="+mn-ea"/>
                <a:sym typeface="+mn-ea"/>
              </a:rPr>
              <a:t>,y))∧Q(x,y</a:t>
            </a:r>
            <a:r>
              <a:rPr lang="en-US" altLang="zh-CN" sz="2800" b="1">
                <a:latin typeface="+mn-lt"/>
                <a:ea typeface="+mn-ea"/>
                <a:sym typeface="+mn-ea"/>
              </a:rPr>
              <a:t>)</a:t>
            </a:r>
            <a:endParaRPr lang="en-US" altLang="zh-CN" sz="2800" b="1">
              <a:latin typeface="+mn-lt"/>
              <a:ea typeface="+mn-ea"/>
              <a:sym typeface="+mn-ea"/>
            </a:endParaRPr>
          </a:p>
        </p:txBody>
      </p:sp>
      <p:pic>
        <p:nvPicPr>
          <p:cNvPr id="4" name="图片 3"/>
          <p:cNvPicPr>
            <a:picLocks noChangeAspect="1"/>
          </p:cNvPicPr>
          <p:nvPr/>
        </p:nvPicPr>
        <p:blipFill>
          <a:blip r:embed="rId1"/>
          <a:stretch>
            <a:fillRect/>
          </a:stretch>
        </p:blipFill>
        <p:spPr>
          <a:xfrm>
            <a:off x="1401774" y="3652048"/>
            <a:ext cx="6163288" cy="962482"/>
          </a:xfrm>
          <a:prstGeom prst="rect">
            <a:avLst/>
          </a:prstGeom>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p:nvPr/>
        </p:nvSpPr>
        <p:spPr>
          <a:xfrm>
            <a:off x="7239000" y="6629400"/>
            <a:ext cx="1905000" cy="228600"/>
          </a:xfrm>
          <a:prstGeom prst="rect">
            <a:avLst/>
          </a:prstGeom>
          <a:noFill/>
          <a:ln w="9525">
            <a:noFill/>
          </a:ln>
        </p:spPr>
        <p:txBody>
          <a:bodyPr/>
          <a:lstStyle/>
          <a:p>
            <a:pPr algn="r">
              <a:buClr>
                <a:srgbClr val="000000"/>
              </a:buClr>
              <a:buSzPct val="100000"/>
            </a:pPr>
            <a:r>
              <a:rPr lang="en-US" altLang="zh-CN" sz="1400" b="1">
                <a:solidFill>
                  <a:srgbClr val="003366"/>
                </a:solidFill>
                <a:latin typeface="Eras Bold ITC" panose="020B0907030504020204" pitchFamily="34" charset="0"/>
              </a:rPr>
              <a:t>4/44</a:t>
            </a:r>
            <a:endParaRPr lang="en-US" altLang="zh-CN" sz="1400" b="1">
              <a:solidFill>
                <a:srgbClr val="003366"/>
              </a:solidFill>
              <a:latin typeface="Eras Bold ITC" panose="020B0907030504020204" pitchFamily="34" charset="0"/>
            </a:endParaRPr>
          </a:p>
        </p:txBody>
      </p:sp>
      <p:sp>
        <p:nvSpPr>
          <p:cNvPr id="3" name="文本框 2"/>
          <p:cNvSpPr txBox="1"/>
          <p:nvPr/>
        </p:nvSpPr>
        <p:spPr>
          <a:xfrm>
            <a:off x="294005" y="2158365"/>
            <a:ext cx="4082415" cy="700405"/>
          </a:xfrm>
          <a:prstGeom prst="rect">
            <a:avLst/>
          </a:prstGeom>
          <a:noFill/>
        </p:spPr>
        <p:txBody>
          <a:bodyPr wrap="square" rtlCol="0" anchor="t">
            <a:spAutoFit/>
          </a:bodyPr>
          <a:lstStyle/>
          <a:p>
            <a:pPr marL="342900" indent="-342900" eaLnBrk="0" hangingPunct="0">
              <a:spcBef>
                <a:spcPct val="20000"/>
              </a:spcBef>
              <a:buSzPct val="100000"/>
              <a:buChar char="•"/>
            </a:pPr>
            <a:endParaRPr lang="zh-CN" altLang="en-US" sz="1800" dirty="0">
              <a:latin typeface="微软雅黑" panose="020B0503020204020204" charset="-122"/>
              <a:ea typeface="微软雅黑" panose="020B0503020204020204" charset="-122"/>
              <a:sym typeface="+mn-ea"/>
            </a:endParaRPr>
          </a:p>
          <a:p>
            <a:pPr marL="342900" indent="-342900" eaLnBrk="0" hangingPunct="0">
              <a:spcBef>
                <a:spcPct val="20000"/>
              </a:spcBef>
              <a:buSzPct val="100000"/>
              <a:buChar char="•"/>
            </a:pPr>
            <a:endParaRPr lang="zh-CN" altLang="en-US" sz="1800" dirty="0">
              <a:latin typeface="微软雅黑" panose="020B0503020204020204" charset="-122"/>
              <a:ea typeface="微软雅黑" panose="020B0503020204020204" charset="-122"/>
              <a:sym typeface="+mn-ea"/>
            </a:endParaRPr>
          </a:p>
        </p:txBody>
      </p:sp>
      <p:sp>
        <p:nvSpPr>
          <p:cNvPr id="134146" name="Rectangle 2"/>
          <p:cNvSpPr>
            <a:spLocks noGrp="1" noChangeArrowheads="1"/>
          </p:cNvSpPr>
          <p:nvPr/>
        </p:nvSpPr>
        <p:spPr>
          <a:xfrm>
            <a:off x="329565" y="37465"/>
            <a:ext cx="7772400" cy="732155"/>
          </a:xfrm>
          <a:prstGeom prst="rect">
            <a:avLst/>
          </a:prstGeom>
        </p:spPr>
        <p:txBody>
          <a:bodyPr vert="horz" wrap="square" lIns="91440" tIns="45720" rIns="91440" bIns="45720" numCol="1" rtlCol="0" anchor="ctr" anchorCtr="0" compatLnSpc="1">
            <a:normAutofit fontScale="97500"/>
          </a:bodyPr>
          <a:lst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a:lstStyle>
          <a:p>
            <a:pPr marL="0" marR="0" lvl="0" indent="0" algn="l" defTabSz="914400" rtl="0" eaLnBrk="1" fontAlgn="base" latinLnBrk="1" hangingPunct="1">
              <a:lnSpc>
                <a:spcPct val="100000"/>
              </a:lnSpc>
              <a:spcBef>
                <a:spcPct val="0"/>
              </a:spcBef>
              <a:spcAft>
                <a:spcPct val="0"/>
              </a:spcAft>
              <a:buClrTx/>
              <a:buSzTx/>
              <a:buFontTx/>
              <a:buNone/>
              <a:defRPr/>
            </a:pPr>
            <a:r>
              <a:rPr lang="zh-CN" sz="3100">
                <a:solidFill>
                  <a:schemeClr val="lt1"/>
                </a:solidFill>
                <a:sym typeface="+mn-ea"/>
              </a:rPr>
              <a:t>一阶谓词逻辑（First-order Logic，</a:t>
            </a:r>
            <a:r>
              <a:rPr lang="en-US" altLang="zh-CN" sz="3100">
                <a:solidFill>
                  <a:schemeClr val="lt1"/>
                </a:solidFill>
                <a:sym typeface="+mn-ea"/>
              </a:rPr>
              <a:t>FOL</a:t>
            </a:r>
            <a:r>
              <a:rPr lang="zh-CN" sz="3100">
                <a:solidFill>
                  <a:schemeClr val="lt1"/>
                </a:solidFill>
                <a:sym typeface="+mn-ea"/>
              </a:rPr>
              <a:t>）</a:t>
            </a:r>
            <a:endParaRPr kumimoji="1" lang="zh-CN" altLang="en-US" sz="4000" b="1" i="0" u="none" strike="noStrike" kern="1200" cap="none" spc="0" normalizeH="0" baseline="0" noProof="0" dirty="0">
              <a:ln>
                <a:noFill/>
              </a:ln>
              <a:solidFill>
                <a:schemeClr val="bg1"/>
              </a:solidFill>
              <a:effectLst/>
              <a:uLnTx/>
              <a:uFillTx/>
              <a:latin typeface="微软雅黑" panose="020B0503020204020204" charset="-122"/>
              <a:cs typeface="微软雅黑" panose="020B0503020204020204" charset="-122"/>
              <a:sym typeface="+mn-ea"/>
            </a:endParaRPr>
          </a:p>
        </p:txBody>
      </p:sp>
      <p:sp>
        <p:nvSpPr>
          <p:cNvPr id="2" name="文本框 1"/>
          <p:cNvSpPr txBox="1"/>
          <p:nvPr/>
        </p:nvSpPr>
        <p:spPr>
          <a:xfrm>
            <a:off x="999490" y="1927860"/>
            <a:ext cx="7807960" cy="3002280"/>
          </a:xfrm>
          <a:prstGeom prst="rect">
            <a:avLst/>
          </a:prstGeom>
          <a:noFill/>
        </p:spPr>
        <p:txBody>
          <a:bodyPr wrap="square" rtlCol="0" anchor="t">
            <a:spAutoFit/>
          </a:bodyPr>
          <a:lstStyle/>
          <a:p>
            <a:pPr lvl="0" indent="457200" algn="l" fontAlgn="ctr">
              <a:lnSpc>
                <a:spcPct val="130000"/>
              </a:lnSpc>
              <a:spcBef>
                <a:spcPts val="1000"/>
              </a:spcBef>
              <a:spcAft>
                <a:spcPts val="0"/>
              </a:spcAft>
              <a:buSzPct val="100000"/>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7.2.1	谓词基本概念</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ClrTx/>
              <a:buSzTx/>
              <a:buFont typeface="Wingdings" panose="05000000000000000000" charset="0"/>
            </a:pPr>
            <a:r>
              <a:rPr lang="en-US" altLang="zh-CN" sz="24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rPr>
              <a:t>7.2.2	一阶谓词逻辑（一阶逻辑的语法和语义）</a:t>
            </a:r>
            <a:endParaRPr lang="en-US" altLang="zh-CN" sz="24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ClrTx/>
              <a:buSzTx/>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7.2.3	如何使用一阶逻辑语言</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SzPct val="100000"/>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7.2.4	谓词知识表示</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SzPct val="100000"/>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7.2.5	谓词逻辑归结原理</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9895" y="306070"/>
            <a:ext cx="3989070" cy="460375"/>
          </a:xfrm>
          <a:prstGeom prst="rect">
            <a:avLst/>
          </a:prstGeom>
          <a:noFill/>
        </p:spPr>
        <p:txBody>
          <a:bodyPr wrap="square" rtlCol="0">
            <a:spAutoFit/>
          </a:bodyPr>
          <a:lstStyle/>
          <a:p>
            <a:r>
              <a:rPr lang="zh-CN" altLang="en-US" sz="2400" b="1">
                <a:solidFill>
                  <a:schemeClr val="bg1"/>
                </a:solidFill>
                <a:latin typeface="微软雅黑" panose="020B0503020204020204" charset="-122"/>
                <a:ea typeface="微软雅黑" panose="020B0503020204020204" charset="-122"/>
              </a:rPr>
              <a:t>谓词逻辑语言的语法和语义</a:t>
            </a:r>
            <a:endParaRPr lang="zh-CN" altLang="en-US" sz="2400" b="1">
              <a:solidFill>
                <a:schemeClr val="bg1"/>
              </a:solidFill>
              <a:latin typeface="微软雅黑" panose="020B0503020204020204" charset="-122"/>
              <a:ea typeface="微软雅黑" panose="020B0503020204020204" charset="-122"/>
            </a:endParaRPr>
          </a:p>
        </p:txBody>
      </p:sp>
      <p:pic>
        <p:nvPicPr>
          <p:cNvPr id="3" name="图片 2"/>
          <p:cNvPicPr>
            <a:picLocks noChangeAspect="1"/>
          </p:cNvPicPr>
          <p:nvPr>
            <p:custDataLst>
              <p:tags r:id="rId1"/>
            </p:custDataLst>
          </p:nvPr>
        </p:nvPicPr>
        <p:blipFill>
          <a:blip r:embed="rId2"/>
          <a:stretch>
            <a:fillRect/>
          </a:stretch>
        </p:blipFill>
        <p:spPr>
          <a:xfrm>
            <a:off x="871220" y="1149985"/>
            <a:ext cx="7400925" cy="942975"/>
          </a:xfrm>
          <a:prstGeom prst="rect">
            <a:avLst/>
          </a:prstGeom>
        </p:spPr>
      </p:pic>
      <p:pic>
        <p:nvPicPr>
          <p:cNvPr id="4" name="图片 3"/>
          <p:cNvPicPr>
            <a:picLocks noChangeAspect="1"/>
          </p:cNvPicPr>
          <p:nvPr/>
        </p:nvPicPr>
        <p:blipFill>
          <a:blip r:embed="rId3"/>
          <a:stretch>
            <a:fillRect/>
          </a:stretch>
        </p:blipFill>
        <p:spPr>
          <a:xfrm>
            <a:off x="876300" y="2242820"/>
            <a:ext cx="7391400" cy="2371725"/>
          </a:xfrm>
          <a:prstGeom prst="rect">
            <a:avLst/>
          </a:prstGeom>
        </p:spPr>
      </p:pic>
      <p:pic>
        <p:nvPicPr>
          <p:cNvPr id="6" name="图片 5"/>
          <p:cNvPicPr>
            <a:picLocks noChangeAspect="1"/>
          </p:cNvPicPr>
          <p:nvPr/>
        </p:nvPicPr>
        <p:blipFill>
          <a:blip r:embed="rId4"/>
          <a:stretch>
            <a:fillRect/>
          </a:stretch>
        </p:blipFill>
        <p:spPr>
          <a:xfrm>
            <a:off x="1280795" y="4764405"/>
            <a:ext cx="6991350" cy="857250"/>
          </a:xfrm>
          <a:prstGeom prst="rect">
            <a:avLst/>
          </a:prstGeom>
        </p:spPr>
      </p:pic>
      <p:sp>
        <p:nvSpPr>
          <p:cNvPr id="7" name="矩形 6"/>
          <p:cNvSpPr/>
          <p:nvPr/>
        </p:nvSpPr>
        <p:spPr>
          <a:xfrm>
            <a:off x="4636770" y="2157730"/>
            <a:ext cx="1172210" cy="668020"/>
          </a:xfrm>
          <a:prstGeom prst="rect">
            <a:avLst/>
          </a:prstGeom>
          <a:noFill/>
          <a:ln w="34925"/>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6126480" y="2179320"/>
            <a:ext cx="285115" cy="70104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左大括号 8"/>
          <p:cNvSpPr/>
          <p:nvPr/>
        </p:nvSpPr>
        <p:spPr>
          <a:xfrm>
            <a:off x="876300" y="3362960"/>
            <a:ext cx="459105" cy="810260"/>
          </a:xfrm>
          <a:prstGeom prst="leftBrace">
            <a:avLst>
              <a:gd name="adj1" fmla="val 8333"/>
              <a:gd name="adj2" fmla="val 40517"/>
            </a:avLst>
          </a:prstGeom>
          <a:ln w="38100">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ustDataLst>
      <p:tags r:id="rId5"/>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8970" y="295275"/>
            <a:ext cx="5359400" cy="460375"/>
          </a:xfrm>
          <a:prstGeom prst="rect">
            <a:avLst/>
          </a:prstGeom>
          <a:noFill/>
        </p:spPr>
        <p:txBody>
          <a:bodyPr wrap="square" rtlCol="0">
            <a:spAutoFit/>
          </a:bodyPr>
          <a:lstStyle/>
          <a:p>
            <a:pPr lvl="0" algn="l">
              <a:buClrTx/>
              <a:buSzTx/>
              <a:buFontTx/>
            </a:pPr>
            <a:r>
              <a:rPr lang="zh-CN" altLang="en-US" sz="2400" b="1">
                <a:solidFill>
                  <a:schemeClr val="bg1"/>
                </a:solidFill>
                <a:latin typeface="微软雅黑" panose="020B0503020204020204" charset="-122"/>
                <a:ea typeface="微软雅黑" panose="020B0503020204020204" charset="-122"/>
                <a:sym typeface="+mn-ea"/>
              </a:rPr>
              <a:t>谓词公式</a:t>
            </a:r>
            <a:endParaRPr lang="zh-CN" altLang="en-US" sz="2400" b="1">
              <a:solidFill>
                <a:schemeClr val="bg1"/>
              </a:solidFill>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1"/>
          <a:stretch>
            <a:fillRect/>
          </a:stretch>
        </p:blipFill>
        <p:spPr>
          <a:xfrm>
            <a:off x="561975" y="1163320"/>
            <a:ext cx="8020050" cy="2362200"/>
          </a:xfrm>
          <a:prstGeom prst="rect">
            <a:avLst/>
          </a:prstGeom>
        </p:spPr>
      </p:pic>
      <p:pic>
        <p:nvPicPr>
          <p:cNvPr id="4" name="图片 3"/>
          <p:cNvPicPr>
            <a:picLocks noChangeAspect="1"/>
          </p:cNvPicPr>
          <p:nvPr/>
        </p:nvPicPr>
        <p:blipFill>
          <a:blip r:embed="rId2"/>
          <a:stretch>
            <a:fillRect/>
          </a:stretch>
        </p:blipFill>
        <p:spPr>
          <a:xfrm>
            <a:off x="561975" y="3745865"/>
            <a:ext cx="8020050" cy="1952625"/>
          </a:xfrm>
          <a:prstGeom prst="rect">
            <a:avLst/>
          </a:prstGeom>
        </p:spPr>
      </p:pic>
    </p:spTree>
    <p:custDataLst>
      <p:tags r:id="rId3"/>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44805" y="306705"/>
            <a:ext cx="2171700" cy="537210"/>
          </a:xfrm>
          <a:prstGeom prst="rect">
            <a:avLst/>
          </a:prstGeom>
          <a:noFill/>
        </p:spPr>
        <p:txBody>
          <a:bodyPr wrap="none" rtlCol="0" anchor="t">
            <a:spAutoFit/>
          </a:bodyPr>
          <a:lstStyle/>
          <a:p>
            <a:pPr algn="l">
              <a:spcBef>
                <a:spcPts val="0"/>
              </a:spcBef>
              <a:spcAft>
                <a:spcPts val="0"/>
              </a:spcAft>
              <a:buClrTx/>
              <a:buSzTx/>
              <a:buFontTx/>
            </a:pPr>
            <a:r>
              <a:rPr lang="zh-CN" altLang="en-US" sz="2900" b="1" dirty="0">
                <a:solidFill>
                  <a:schemeClr val="lt1"/>
                </a:solidFill>
                <a:latin typeface="微软雅黑" panose="020B0503020204020204" charset="-122"/>
                <a:ea typeface="微软雅黑" panose="020B0503020204020204" charset="-122"/>
                <a:cs typeface="微软雅黑" panose="020B0503020204020204" charset="-122"/>
                <a:sym typeface="+mn-ea"/>
              </a:rPr>
              <a:t>项（term）</a:t>
            </a:r>
            <a:endParaRPr lang="en-US" altLang="zh-CN" sz="2900" b="1" dirty="0">
              <a:solidFill>
                <a:schemeClr val="lt1"/>
              </a:solidFill>
              <a:latin typeface="微软雅黑" panose="020B0503020204020204" charset="-122"/>
              <a:ea typeface="微软雅黑" panose="020B0503020204020204" charset="-122"/>
              <a:cs typeface="微软雅黑" panose="020B0503020204020204" charset="-122"/>
              <a:sym typeface="+mn-ea"/>
            </a:endParaRPr>
          </a:p>
        </p:txBody>
      </p:sp>
      <p:sp>
        <p:nvSpPr>
          <p:cNvPr id="16389" name="矩形 16388"/>
          <p:cNvSpPr/>
          <p:nvPr/>
        </p:nvSpPr>
        <p:spPr>
          <a:xfrm>
            <a:off x="539750" y="1898650"/>
            <a:ext cx="8258810" cy="3043555"/>
          </a:xfrm>
          <a:prstGeom prst="rect">
            <a:avLst/>
          </a:prstGeom>
          <a:noFill/>
          <a:ln w="9525">
            <a:noFill/>
          </a:ln>
        </p:spPr>
        <p:txBody>
          <a:bodyPr wrap="none" anchor="ctr" anchorCtr="0"/>
          <a:lstStyle/>
          <a:p>
            <a:pPr eaLnBrk="0" hangingPunct="0">
              <a:spcBef>
                <a:spcPct val="50000"/>
              </a:spcBef>
            </a:pPr>
            <a:r>
              <a:rPr lang="zh-CN" altLang="en-US" sz="2400">
                <a:latin typeface="微软雅黑" panose="020B0503020204020204" charset="-122"/>
                <a:ea typeface="微软雅黑" panose="020B0503020204020204" charset="-122"/>
                <a:cs typeface="微软雅黑" panose="020B0503020204020204" charset="-122"/>
                <a:sym typeface="Wingdings" panose="05000000000000000000" pitchFamily="2" charset="2"/>
              </a:rPr>
              <a:t>（</a:t>
            </a:r>
            <a:r>
              <a:rPr lang="en-US" altLang="zh-CN" sz="2400">
                <a:latin typeface="微软雅黑" panose="020B0503020204020204" charset="-122"/>
                <a:ea typeface="微软雅黑" panose="020B0503020204020204" charset="-122"/>
                <a:cs typeface="微软雅黑" panose="020B0503020204020204" charset="-122"/>
                <a:sym typeface="Wingdings" panose="05000000000000000000" pitchFamily="2" charset="2"/>
              </a:rPr>
              <a:t>1</a:t>
            </a:r>
            <a:r>
              <a:rPr lang="zh-CN" altLang="en-US" sz="2400" dirty="0">
                <a:latin typeface="微软雅黑" panose="020B0503020204020204" charset="-122"/>
                <a:ea typeface="微软雅黑" panose="020B0503020204020204" charset="-122"/>
                <a:cs typeface="微软雅黑" panose="020B0503020204020204" charset="-122"/>
                <a:sym typeface="Wingdings" panose="05000000000000000000" pitchFamily="2" charset="2"/>
              </a:rPr>
              <a:t>）</a:t>
            </a:r>
            <a:r>
              <a:rPr lang="zh-CN" altLang="en-US" sz="2400" dirty="0">
                <a:latin typeface="微软雅黑" panose="020B0503020204020204" charset="-122"/>
                <a:ea typeface="微软雅黑" panose="020B0503020204020204" charset="-122"/>
                <a:cs typeface="微软雅黑" panose="020B0503020204020204" charset="-122"/>
              </a:rPr>
              <a:t>个体常元和变元都是项。</a:t>
            </a:r>
            <a:endParaRPr lang="zh-CN" altLang="en-US" sz="2400" dirty="0">
              <a:latin typeface="微软雅黑" panose="020B0503020204020204" charset="-122"/>
              <a:ea typeface="微软雅黑" panose="020B0503020204020204" charset="-122"/>
              <a:cs typeface="微软雅黑" panose="020B0503020204020204" charset="-122"/>
            </a:endParaRPr>
          </a:p>
          <a:p>
            <a:pPr eaLnBrk="0" hangingPunct="0">
              <a:spcBef>
                <a:spcPct val="50000"/>
              </a:spcBef>
            </a:pPr>
            <a:r>
              <a:rPr lang="zh-CN" altLang="en-US" sz="2400" dirty="0">
                <a:latin typeface="微软雅黑" panose="020B0503020204020204" charset="-122"/>
                <a:ea typeface="微软雅黑" panose="020B0503020204020204" charset="-122"/>
                <a:cs typeface="微软雅黑" panose="020B0503020204020204" charset="-122"/>
              </a:rPr>
              <a:t>（</a:t>
            </a:r>
            <a:r>
              <a:rPr lang="en-US" altLang="zh-CN" sz="2400">
                <a:latin typeface="微软雅黑" panose="020B0503020204020204" charset="-122"/>
                <a:ea typeface="微软雅黑" panose="020B0503020204020204" charset="-122"/>
                <a:cs typeface="微软雅黑" panose="020B0503020204020204" charset="-122"/>
              </a:rPr>
              <a:t>2</a:t>
            </a:r>
            <a:r>
              <a:rPr lang="zh-CN" altLang="en-US" sz="2400">
                <a:latin typeface="微软雅黑" panose="020B0503020204020204" charset="-122"/>
                <a:ea typeface="微软雅黑" panose="020B0503020204020204" charset="-122"/>
                <a:cs typeface="微软雅黑" panose="020B0503020204020204" charset="-122"/>
              </a:rPr>
              <a:t>）</a:t>
            </a:r>
            <a:r>
              <a:rPr lang="en-US" altLang="zh-CN" sz="2400">
                <a:latin typeface="微软雅黑" panose="020B0503020204020204" charset="-122"/>
                <a:ea typeface="微软雅黑" panose="020B0503020204020204" charset="-122"/>
                <a:cs typeface="微软雅黑" panose="020B0503020204020204" charset="-122"/>
              </a:rPr>
              <a:t>f</a:t>
            </a:r>
            <a:r>
              <a:rPr lang="zh-CN" altLang="en-US" sz="2400">
                <a:latin typeface="微软雅黑" panose="020B0503020204020204" charset="-122"/>
                <a:ea typeface="微软雅黑" panose="020B0503020204020204" charset="-122"/>
                <a:cs typeface="微软雅黑" panose="020B0503020204020204" charset="-122"/>
              </a:rPr>
              <a:t>是</a:t>
            </a:r>
            <a:r>
              <a:rPr lang="en-US" altLang="zh-CN" sz="2400">
                <a:latin typeface="微软雅黑" panose="020B0503020204020204" charset="-122"/>
                <a:ea typeface="微软雅黑" panose="020B0503020204020204" charset="-122"/>
                <a:cs typeface="微软雅黑" panose="020B0503020204020204" charset="-122"/>
              </a:rPr>
              <a:t>n</a:t>
            </a:r>
            <a:r>
              <a:rPr lang="zh-CN" altLang="en-US" sz="2400" dirty="0">
                <a:latin typeface="微软雅黑" panose="020B0503020204020204" charset="-122"/>
                <a:ea typeface="微软雅黑" panose="020B0503020204020204" charset="-122"/>
                <a:cs typeface="微软雅黑" panose="020B0503020204020204" charset="-122"/>
              </a:rPr>
              <a:t>元函数符号，若</a:t>
            </a:r>
            <a:r>
              <a:rPr lang="en-US" altLang="zh-CN" sz="2400">
                <a:latin typeface="微软雅黑" panose="020B0503020204020204" charset="-122"/>
                <a:ea typeface="微软雅黑" panose="020B0503020204020204" charset="-122"/>
                <a:cs typeface="微软雅黑" panose="020B0503020204020204" charset="-122"/>
              </a:rPr>
              <a:t>t</a:t>
            </a:r>
            <a:r>
              <a:rPr lang="en-US" altLang="zh-CN" sz="2400" baseline="-25000">
                <a:latin typeface="微软雅黑" panose="020B0503020204020204" charset="-122"/>
                <a:ea typeface="微软雅黑" panose="020B0503020204020204" charset="-122"/>
                <a:cs typeface="微软雅黑" panose="020B0503020204020204" charset="-122"/>
              </a:rPr>
              <a:t>1</a:t>
            </a:r>
            <a:r>
              <a:rPr lang="zh-CN" altLang="en-US" sz="2400">
                <a:latin typeface="微软雅黑" panose="020B0503020204020204" charset="-122"/>
                <a:ea typeface="微软雅黑" panose="020B0503020204020204" charset="-122"/>
                <a:cs typeface="微软雅黑" panose="020B0503020204020204" charset="-122"/>
              </a:rPr>
              <a:t>，</a:t>
            </a:r>
            <a:r>
              <a:rPr lang="en-US" altLang="zh-CN" sz="2400">
                <a:latin typeface="微软雅黑" panose="020B0503020204020204" charset="-122"/>
                <a:ea typeface="微软雅黑" panose="020B0503020204020204" charset="-122"/>
                <a:cs typeface="微软雅黑" panose="020B0503020204020204" charset="-122"/>
              </a:rPr>
              <a:t>t</a:t>
            </a:r>
            <a:r>
              <a:rPr lang="en-US" altLang="zh-CN" sz="2400" baseline="-25000">
                <a:latin typeface="微软雅黑" panose="020B0503020204020204" charset="-122"/>
                <a:ea typeface="微软雅黑" panose="020B0503020204020204" charset="-122"/>
                <a:cs typeface="微软雅黑" panose="020B0503020204020204" charset="-122"/>
              </a:rPr>
              <a:t>2</a:t>
            </a:r>
            <a:r>
              <a:rPr lang="zh-CN" altLang="en-US" sz="2400">
                <a:latin typeface="微软雅黑" panose="020B0503020204020204" charset="-122"/>
                <a:ea typeface="微软雅黑" panose="020B0503020204020204" charset="-122"/>
                <a:cs typeface="微软雅黑" panose="020B0503020204020204" charset="-122"/>
              </a:rPr>
              <a:t>，</a:t>
            </a:r>
            <a:r>
              <a:rPr lang="en-US" altLang="zh-CN" sz="2400">
                <a:latin typeface="微软雅黑" panose="020B0503020204020204" charset="-122"/>
                <a:ea typeface="微软雅黑" panose="020B0503020204020204" charset="-122"/>
                <a:cs typeface="微软雅黑" panose="020B0503020204020204" charset="-122"/>
              </a:rPr>
              <a:t>…</a:t>
            </a:r>
            <a:r>
              <a:rPr lang="zh-CN" altLang="en-US" sz="2400">
                <a:latin typeface="微软雅黑" panose="020B0503020204020204" charset="-122"/>
                <a:ea typeface="微软雅黑" panose="020B0503020204020204" charset="-122"/>
                <a:cs typeface="微软雅黑" panose="020B0503020204020204" charset="-122"/>
              </a:rPr>
              <a:t>，</a:t>
            </a:r>
            <a:r>
              <a:rPr lang="en-US" altLang="zh-CN" sz="2400">
                <a:latin typeface="微软雅黑" panose="020B0503020204020204" charset="-122"/>
                <a:ea typeface="微软雅黑" panose="020B0503020204020204" charset="-122"/>
                <a:cs typeface="微软雅黑" panose="020B0503020204020204" charset="-122"/>
              </a:rPr>
              <a:t>t</a:t>
            </a:r>
            <a:r>
              <a:rPr lang="en-US" altLang="zh-CN" sz="2400" baseline="-25000">
                <a:latin typeface="微软雅黑" panose="020B0503020204020204" charset="-122"/>
                <a:ea typeface="微软雅黑" panose="020B0503020204020204" charset="-122"/>
                <a:cs typeface="微软雅黑" panose="020B0503020204020204" charset="-122"/>
              </a:rPr>
              <a:t>n</a:t>
            </a:r>
            <a:r>
              <a:rPr lang="zh-CN" altLang="en-US" sz="2400" dirty="0">
                <a:latin typeface="微软雅黑" panose="020B0503020204020204" charset="-122"/>
                <a:ea typeface="微软雅黑" panose="020B0503020204020204" charset="-122"/>
                <a:cs typeface="微软雅黑" panose="020B0503020204020204" charset="-122"/>
              </a:rPr>
              <a:t>是项，则</a:t>
            </a:r>
            <a:endParaRPr lang="zh-CN" altLang="en-US" sz="2400" dirty="0">
              <a:latin typeface="微软雅黑" panose="020B0503020204020204" charset="-122"/>
              <a:ea typeface="微软雅黑" panose="020B0503020204020204" charset="-122"/>
              <a:cs typeface="微软雅黑" panose="020B0503020204020204" charset="-122"/>
            </a:endParaRPr>
          </a:p>
          <a:p>
            <a:pPr eaLnBrk="0" hangingPunct="0">
              <a:spcBef>
                <a:spcPct val="50000"/>
              </a:spcBef>
            </a:pPr>
            <a:r>
              <a:rPr lang="zh-CN" altLang="en-US" sz="2400">
                <a:latin typeface="微软雅黑" panose="020B0503020204020204" charset="-122"/>
                <a:ea typeface="微软雅黑" panose="020B0503020204020204" charset="-122"/>
                <a:cs typeface="微软雅黑" panose="020B0503020204020204" charset="-122"/>
              </a:rPr>
              <a:t>         </a:t>
            </a:r>
            <a:r>
              <a:rPr lang="en-US" altLang="zh-CN" sz="2400">
                <a:latin typeface="微软雅黑" panose="020B0503020204020204" charset="-122"/>
                <a:ea typeface="微软雅黑" panose="020B0503020204020204" charset="-122"/>
                <a:cs typeface="微软雅黑" panose="020B0503020204020204" charset="-122"/>
              </a:rPr>
              <a:t>f</a:t>
            </a:r>
            <a:r>
              <a:rPr lang="zh-CN" altLang="en-US" sz="2400">
                <a:latin typeface="微软雅黑" panose="020B0503020204020204" charset="-122"/>
                <a:ea typeface="微软雅黑" panose="020B0503020204020204" charset="-122"/>
                <a:cs typeface="微软雅黑" panose="020B0503020204020204" charset="-122"/>
              </a:rPr>
              <a:t>（ </a:t>
            </a:r>
            <a:r>
              <a:rPr lang="en-US" altLang="zh-CN" sz="2400">
                <a:latin typeface="微软雅黑" panose="020B0503020204020204" charset="-122"/>
                <a:ea typeface="微软雅黑" panose="020B0503020204020204" charset="-122"/>
                <a:cs typeface="微软雅黑" panose="020B0503020204020204" charset="-122"/>
              </a:rPr>
              <a:t>t</a:t>
            </a:r>
            <a:r>
              <a:rPr lang="en-US" altLang="zh-CN" sz="2400" baseline="-25000">
                <a:latin typeface="微软雅黑" panose="020B0503020204020204" charset="-122"/>
                <a:ea typeface="微软雅黑" panose="020B0503020204020204" charset="-122"/>
                <a:cs typeface="微软雅黑" panose="020B0503020204020204" charset="-122"/>
              </a:rPr>
              <a:t>1</a:t>
            </a:r>
            <a:r>
              <a:rPr lang="zh-CN" altLang="en-US" sz="2400">
                <a:latin typeface="微软雅黑" panose="020B0503020204020204" charset="-122"/>
                <a:ea typeface="微软雅黑" panose="020B0503020204020204" charset="-122"/>
                <a:cs typeface="微软雅黑" panose="020B0503020204020204" charset="-122"/>
              </a:rPr>
              <a:t>，</a:t>
            </a:r>
            <a:r>
              <a:rPr lang="en-US" altLang="zh-CN" sz="2400">
                <a:latin typeface="微软雅黑" panose="020B0503020204020204" charset="-122"/>
                <a:ea typeface="微软雅黑" panose="020B0503020204020204" charset="-122"/>
                <a:cs typeface="微软雅黑" panose="020B0503020204020204" charset="-122"/>
              </a:rPr>
              <a:t>t</a:t>
            </a:r>
            <a:r>
              <a:rPr lang="en-US" altLang="zh-CN" sz="2400" baseline="-25000">
                <a:latin typeface="微软雅黑" panose="020B0503020204020204" charset="-122"/>
                <a:ea typeface="微软雅黑" panose="020B0503020204020204" charset="-122"/>
                <a:cs typeface="微软雅黑" panose="020B0503020204020204" charset="-122"/>
              </a:rPr>
              <a:t>2</a:t>
            </a:r>
            <a:r>
              <a:rPr lang="zh-CN" altLang="en-US" sz="2400">
                <a:latin typeface="微软雅黑" panose="020B0503020204020204" charset="-122"/>
                <a:ea typeface="微软雅黑" panose="020B0503020204020204" charset="-122"/>
                <a:cs typeface="微软雅黑" panose="020B0503020204020204" charset="-122"/>
              </a:rPr>
              <a:t>，</a:t>
            </a:r>
            <a:r>
              <a:rPr lang="en-US" altLang="zh-CN" sz="2400">
                <a:latin typeface="微软雅黑" panose="020B0503020204020204" charset="-122"/>
                <a:ea typeface="微软雅黑" panose="020B0503020204020204" charset="-122"/>
                <a:cs typeface="微软雅黑" panose="020B0503020204020204" charset="-122"/>
              </a:rPr>
              <a:t>…</a:t>
            </a:r>
            <a:r>
              <a:rPr lang="zh-CN" altLang="en-US" sz="2400">
                <a:latin typeface="微软雅黑" panose="020B0503020204020204" charset="-122"/>
                <a:ea typeface="微软雅黑" panose="020B0503020204020204" charset="-122"/>
                <a:cs typeface="微软雅黑" panose="020B0503020204020204" charset="-122"/>
              </a:rPr>
              <a:t>， </a:t>
            </a:r>
            <a:r>
              <a:rPr lang="en-US" altLang="zh-CN" sz="2400">
                <a:latin typeface="微软雅黑" panose="020B0503020204020204" charset="-122"/>
                <a:ea typeface="微软雅黑" panose="020B0503020204020204" charset="-122"/>
                <a:cs typeface="微软雅黑" panose="020B0503020204020204" charset="-122"/>
              </a:rPr>
              <a:t>t</a:t>
            </a:r>
            <a:r>
              <a:rPr lang="en-US" altLang="zh-CN" sz="2400" baseline="-25000">
                <a:latin typeface="微软雅黑" panose="020B0503020204020204" charset="-122"/>
                <a:ea typeface="微软雅黑" panose="020B0503020204020204" charset="-122"/>
                <a:cs typeface="微软雅黑" panose="020B0503020204020204" charset="-122"/>
              </a:rPr>
              <a:t>n</a:t>
            </a:r>
            <a:r>
              <a:rPr lang="en-US" altLang="zh-CN" sz="2400">
                <a:latin typeface="微软雅黑" panose="020B0503020204020204" charset="-122"/>
                <a:ea typeface="微软雅黑" panose="020B0503020204020204" charset="-122"/>
                <a:cs typeface="微软雅黑" panose="020B0503020204020204" charset="-122"/>
              </a:rPr>
              <a:t> </a:t>
            </a:r>
            <a:r>
              <a:rPr lang="zh-CN" altLang="en-US" sz="2400">
                <a:latin typeface="微软雅黑" panose="020B0503020204020204" charset="-122"/>
                <a:ea typeface="微软雅黑" panose="020B0503020204020204" charset="-122"/>
                <a:cs typeface="微软雅黑" panose="020B0503020204020204" charset="-122"/>
              </a:rPr>
              <a:t>）</a:t>
            </a:r>
            <a:r>
              <a:rPr lang="zh-CN" altLang="en-US" sz="2400" dirty="0">
                <a:latin typeface="微软雅黑" panose="020B0503020204020204" charset="-122"/>
                <a:ea typeface="微软雅黑" panose="020B0503020204020204" charset="-122"/>
                <a:cs typeface="微软雅黑" panose="020B0503020204020204" charset="-122"/>
              </a:rPr>
              <a:t>是项。</a:t>
            </a:r>
            <a:endParaRPr lang="zh-CN" altLang="en-US" sz="2400" dirty="0">
              <a:latin typeface="微软雅黑" panose="020B0503020204020204" charset="-122"/>
              <a:ea typeface="微软雅黑" panose="020B0503020204020204" charset="-122"/>
              <a:cs typeface="微软雅黑" panose="020B0503020204020204" charset="-122"/>
            </a:endParaRPr>
          </a:p>
          <a:p>
            <a:pPr eaLnBrk="0" hangingPunct="0">
              <a:spcBef>
                <a:spcPct val="50000"/>
              </a:spcBef>
            </a:pPr>
            <a:r>
              <a:rPr lang="zh-CN" altLang="en-US" sz="2400" dirty="0">
                <a:latin typeface="微软雅黑" panose="020B0503020204020204" charset="-122"/>
                <a:ea typeface="微软雅黑" panose="020B0503020204020204" charset="-122"/>
                <a:cs typeface="微软雅黑" panose="020B0503020204020204" charset="-122"/>
              </a:rPr>
              <a:t>（</a:t>
            </a:r>
            <a:r>
              <a:rPr lang="en-US" altLang="zh-CN" sz="2400">
                <a:latin typeface="微软雅黑" panose="020B0503020204020204" charset="-122"/>
                <a:ea typeface="微软雅黑" panose="020B0503020204020204" charset="-122"/>
                <a:cs typeface="微软雅黑" panose="020B0503020204020204" charset="-122"/>
              </a:rPr>
              <a:t>3</a:t>
            </a:r>
            <a:r>
              <a:rPr lang="zh-CN" altLang="en-US" sz="2400" dirty="0">
                <a:latin typeface="微软雅黑" panose="020B0503020204020204" charset="-122"/>
                <a:ea typeface="微软雅黑" panose="020B0503020204020204" charset="-122"/>
                <a:cs typeface="微软雅黑" panose="020B0503020204020204" charset="-122"/>
              </a:rPr>
              <a:t>）只有有限次使用（</a:t>
            </a:r>
            <a:r>
              <a:rPr lang="en-US" altLang="zh-CN" sz="2400">
                <a:latin typeface="微软雅黑" panose="020B0503020204020204" charset="-122"/>
                <a:ea typeface="微软雅黑" panose="020B0503020204020204" charset="-122"/>
                <a:cs typeface="微软雅黑" panose="020B0503020204020204" charset="-122"/>
              </a:rPr>
              <a:t>1</a:t>
            </a:r>
            <a:r>
              <a:rPr lang="zh-CN" altLang="en-US" sz="2400" dirty="0">
                <a:latin typeface="微软雅黑" panose="020B0503020204020204" charset="-122"/>
                <a:ea typeface="微软雅黑" panose="020B0503020204020204" charset="-122"/>
                <a:cs typeface="微软雅黑" panose="020B0503020204020204" charset="-122"/>
              </a:rPr>
              <a:t>）、（</a:t>
            </a:r>
            <a:r>
              <a:rPr lang="en-US" altLang="zh-CN" sz="2400">
                <a:latin typeface="微软雅黑" panose="020B0503020204020204" charset="-122"/>
                <a:ea typeface="微软雅黑" panose="020B0503020204020204" charset="-122"/>
                <a:cs typeface="微软雅黑" panose="020B0503020204020204" charset="-122"/>
              </a:rPr>
              <a:t>2</a:t>
            </a:r>
            <a:r>
              <a:rPr lang="zh-CN" altLang="en-US" sz="2400" dirty="0">
                <a:latin typeface="微软雅黑" panose="020B0503020204020204" charset="-122"/>
                <a:ea typeface="微软雅黑" panose="020B0503020204020204" charset="-122"/>
                <a:cs typeface="微软雅黑" panose="020B0503020204020204" charset="-122"/>
              </a:rPr>
              <a:t>）得到的符号串才是项。</a:t>
            </a:r>
            <a:endParaRPr lang="zh-CN" altLang="en-US" sz="2400">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1010" y="1170940"/>
            <a:ext cx="8222615" cy="1863725"/>
          </a:xfrm>
          <a:prstGeom prst="rect">
            <a:avLst/>
          </a:prstGeom>
          <a:noFill/>
        </p:spPr>
        <p:txBody>
          <a:bodyPr wrap="square" rtlCol="0" anchor="t">
            <a:spAutoFit/>
          </a:bodyPr>
          <a:lstStyle/>
          <a:p>
            <a:pPr marL="342900" indent="-342900" algn="l">
              <a:lnSpc>
                <a:spcPct val="120000"/>
              </a:lnSpc>
              <a:spcBef>
                <a:spcPct val="20000"/>
              </a:spcBef>
              <a:buClr>
                <a:srgbClr val="00007D"/>
              </a:buClr>
              <a:buSzPct val="75000"/>
              <a:buFont typeface="Wingdings" panose="05000000000000000000" pitchFamily="2" charset="2"/>
              <a:buChar char="n"/>
            </a:pPr>
            <a:r>
              <a:rPr lang="zh-CN" altLang="en-US" sz="2400" dirty="0">
                <a:solidFill>
                  <a:srgbClr val="000000"/>
                </a:solidFill>
                <a:cs typeface="+mn-ea"/>
                <a:sym typeface="+mn-ea"/>
              </a:rPr>
              <a:t>我们把</a:t>
            </a:r>
            <a:r>
              <a:rPr lang="en-US" altLang="zh-CN" sz="2400">
                <a:solidFill>
                  <a:srgbClr val="000000"/>
                </a:solidFill>
                <a:cs typeface="+mn-ea"/>
                <a:sym typeface="+mn-ea"/>
              </a:rPr>
              <a:t>P(x</a:t>
            </a:r>
            <a:r>
              <a:rPr lang="en-US" altLang="zh-CN" sz="2400" baseline="-25000">
                <a:solidFill>
                  <a:srgbClr val="000000"/>
                </a:solidFill>
                <a:cs typeface="+mn-ea"/>
                <a:sym typeface="+mn-ea"/>
              </a:rPr>
              <a:t>1</a:t>
            </a:r>
            <a:r>
              <a:rPr lang="zh-CN" altLang="en-US" sz="2400" dirty="0">
                <a:solidFill>
                  <a:srgbClr val="000000"/>
                </a:solidFill>
                <a:cs typeface="+mn-ea"/>
                <a:sym typeface="+mn-ea"/>
              </a:rPr>
              <a:t>，</a:t>
            </a:r>
            <a:r>
              <a:rPr lang="en-US" altLang="zh-CN" sz="2400">
                <a:solidFill>
                  <a:srgbClr val="000000"/>
                </a:solidFill>
                <a:cs typeface="+mn-ea"/>
                <a:sym typeface="+mn-ea"/>
              </a:rPr>
              <a:t>x</a:t>
            </a:r>
            <a:r>
              <a:rPr lang="en-US" altLang="zh-CN" sz="2400" baseline="-25000">
                <a:solidFill>
                  <a:srgbClr val="000000"/>
                </a:solidFill>
                <a:cs typeface="+mn-ea"/>
                <a:sym typeface="+mn-ea"/>
              </a:rPr>
              <a:t>2</a:t>
            </a:r>
            <a:r>
              <a:rPr lang="zh-CN" altLang="en-US" sz="2400" dirty="0">
                <a:solidFill>
                  <a:srgbClr val="000000"/>
                </a:solidFill>
                <a:cs typeface="+mn-ea"/>
                <a:sym typeface="+mn-ea"/>
              </a:rPr>
              <a:t>，</a:t>
            </a:r>
            <a:r>
              <a:rPr lang="en-US" altLang="zh-CN" sz="2400">
                <a:solidFill>
                  <a:srgbClr val="000000"/>
                </a:solidFill>
                <a:cs typeface="+mn-ea"/>
                <a:sym typeface="+mn-ea"/>
              </a:rPr>
              <a:t>…</a:t>
            </a:r>
            <a:r>
              <a:rPr lang="zh-CN" altLang="en-US" sz="2400" dirty="0">
                <a:solidFill>
                  <a:srgbClr val="000000"/>
                </a:solidFill>
                <a:cs typeface="+mn-ea"/>
                <a:sym typeface="+mn-ea"/>
              </a:rPr>
              <a:t>，</a:t>
            </a:r>
            <a:r>
              <a:rPr lang="en-US" altLang="zh-CN" sz="2400" dirty="0" err="1">
                <a:solidFill>
                  <a:srgbClr val="000000"/>
                </a:solidFill>
                <a:cs typeface="+mn-ea"/>
                <a:sym typeface="+mn-ea"/>
              </a:rPr>
              <a:t>x</a:t>
            </a:r>
            <a:r>
              <a:rPr lang="en-US" altLang="zh-CN" sz="2400" baseline="-25000" dirty="0" err="1">
                <a:solidFill>
                  <a:srgbClr val="000000"/>
                </a:solidFill>
                <a:cs typeface="+mn-ea"/>
                <a:sym typeface="+mn-ea"/>
              </a:rPr>
              <a:t>n</a:t>
            </a:r>
            <a:r>
              <a:rPr lang="en-US" altLang="zh-CN" sz="2400">
                <a:solidFill>
                  <a:srgbClr val="000000"/>
                </a:solidFill>
                <a:cs typeface="+mn-ea"/>
                <a:sym typeface="+mn-ea"/>
              </a:rPr>
              <a:t>)</a:t>
            </a:r>
            <a:r>
              <a:rPr lang="zh-CN" altLang="en-US" sz="2400" dirty="0">
                <a:solidFill>
                  <a:srgbClr val="000000"/>
                </a:solidFill>
                <a:cs typeface="+mn-ea"/>
                <a:sym typeface="+mn-ea"/>
              </a:rPr>
              <a:t>称作</a:t>
            </a:r>
            <a:r>
              <a:rPr lang="zh-CN" altLang="en-US" sz="2400" b="1" dirty="0">
                <a:solidFill>
                  <a:srgbClr val="0000FA"/>
                </a:solidFill>
                <a:cs typeface="+mn-ea"/>
                <a:sym typeface="+mn-ea"/>
              </a:rPr>
              <a:t>谓词演算的原子公式</a:t>
            </a:r>
            <a:r>
              <a:rPr lang="zh-CN" altLang="en-US" sz="2400" dirty="0">
                <a:solidFill>
                  <a:srgbClr val="000000"/>
                </a:solidFill>
                <a:cs typeface="+mn-ea"/>
                <a:sym typeface="+mn-ea"/>
              </a:rPr>
              <a:t>，其中</a:t>
            </a:r>
            <a:r>
              <a:rPr lang="en-US" altLang="zh-CN" sz="2400">
                <a:solidFill>
                  <a:srgbClr val="000000"/>
                </a:solidFill>
                <a:cs typeface="+mn-ea"/>
                <a:sym typeface="+mn-ea"/>
              </a:rPr>
              <a:t>x</a:t>
            </a:r>
            <a:r>
              <a:rPr lang="en-US" altLang="zh-CN" sz="2400" baseline="-25000">
                <a:solidFill>
                  <a:srgbClr val="000000"/>
                </a:solidFill>
                <a:cs typeface="+mn-ea"/>
                <a:sym typeface="+mn-ea"/>
              </a:rPr>
              <a:t>1</a:t>
            </a:r>
            <a:r>
              <a:rPr lang="zh-CN" altLang="en-US" sz="2400" dirty="0">
                <a:solidFill>
                  <a:srgbClr val="000000"/>
                </a:solidFill>
                <a:cs typeface="+mn-ea"/>
                <a:sym typeface="+mn-ea"/>
              </a:rPr>
              <a:t>，</a:t>
            </a:r>
            <a:r>
              <a:rPr lang="en-US" altLang="zh-CN" sz="2400">
                <a:solidFill>
                  <a:srgbClr val="000000"/>
                </a:solidFill>
                <a:cs typeface="+mn-ea"/>
                <a:sym typeface="+mn-ea"/>
              </a:rPr>
              <a:t>x</a:t>
            </a:r>
            <a:r>
              <a:rPr lang="en-US" altLang="zh-CN" sz="2400" baseline="-25000">
                <a:solidFill>
                  <a:srgbClr val="000000"/>
                </a:solidFill>
                <a:cs typeface="+mn-ea"/>
                <a:sym typeface="+mn-ea"/>
              </a:rPr>
              <a:t>2</a:t>
            </a:r>
            <a:r>
              <a:rPr lang="zh-CN" altLang="en-US" sz="2400" dirty="0">
                <a:solidFill>
                  <a:srgbClr val="000000"/>
                </a:solidFill>
                <a:cs typeface="+mn-ea"/>
                <a:sym typeface="+mn-ea"/>
              </a:rPr>
              <a:t>，</a:t>
            </a:r>
            <a:r>
              <a:rPr lang="en-US" altLang="zh-CN" sz="2400">
                <a:solidFill>
                  <a:srgbClr val="000000"/>
                </a:solidFill>
                <a:cs typeface="+mn-ea"/>
                <a:sym typeface="+mn-ea"/>
              </a:rPr>
              <a:t>…</a:t>
            </a:r>
            <a:r>
              <a:rPr lang="zh-CN" altLang="en-US" sz="2400" dirty="0">
                <a:solidFill>
                  <a:srgbClr val="000000"/>
                </a:solidFill>
                <a:cs typeface="+mn-ea"/>
                <a:sym typeface="+mn-ea"/>
              </a:rPr>
              <a:t>，</a:t>
            </a:r>
            <a:r>
              <a:rPr lang="en-US" altLang="zh-CN" sz="2400" dirty="0" err="1">
                <a:solidFill>
                  <a:srgbClr val="000000"/>
                </a:solidFill>
                <a:cs typeface="+mn-ea"/>
                <a:sym typeface="+mn-ea"/>
              </a:rPr>
              <a:t>x</a:t>
            </a:r>
            <a:r>
              <a:rPr lang="en-US" altLang="zh-CN" sz="2400" baseline="-25000" dirty="0" err="1">
                <a:solidFill>
                  <a:srgbClr val="000000"/>
                </a:solidFill>
                <a:cs typeface="+mn-ea"/>
                <a:sym typeface="+mn-ea"/>
              </a:rPr>
              <a:t>n</a:t>
            </a:r>
            <a:r>
              <a:rPr lang="zh-CN" altLang="en-US" sz="2400" dirty="0">
                <a:solidFill>
                  <a:srgbClr val="000000"/>
                </a:solidFill>
                <a:cs typeface="+mn-ea"/>
                <a:sym typeface="+mn-ea"/>
              </a:rPr>
              <a:t>是客体变元，因此原子谓词公式包括下述形式的各种特例。如：</a:t>
            </a:r>
            <a:r>
              <a:rPr lang="en-US" altLang="zh-CN" sz="2400">
                <a:solidFill>
                  <a:srgbClr val="000000"/>
                </a:solidFill>
                <a:cs typeface="+mn-ea"/>
                <a:sym typeface="+mn-ea"/>
              </a:rPr>
              <a:t>Q , </a:t>
            </a:r>
            <a:r>
              <a:rPr lang="en-US" altLang="zh-CN" sz="2400" dirty="0" err="1">
                <a:solidFill>
                  <a:srgbClr val="000000"/>
                </a:solidFill>
                <a:cs typeface="+mn-ea"/>
                <a:sym typeface="+mn-ea"/>
              </a:rPr>
              <a:t>P(x</a:t>
            </a:r>
            <a:r>
              <a:rPr lang="en-US" altLang="zh-CN" sz="2400">
                <a:solidFill>
                  <a:srgbClr val="000000"/>
                </a:solidFill>
                <a:cs typeface="+mn-ea"/>
                <a:sym typeface="+mn-ea"/>
              </a:rPr>
              <a:t>) </a:t>
            </a:r>
            <a:r>
              <a:rPr lang="zh-CN" altLang="en-US" sz="2400" dirty="0">
                <a:solidFill>
                  <a:srgbClr val="000000"/>
                </a:solidFill>
                <a:cs typeface="+mn-ea"/>
                <a:sym typeface="+mn-ea"/>
              </a:rPr>
              <a:t>，</a:t>
            </a:r>
            <a:r>
              <a:rPr lang="en-US" altLang="zh-CN" sz="2400" dirty="0" err="1">
                <a:solidFill>
                  <a:srgbClr val="000000"/>
                </a:solidFill>
                <a:cs typeface="+mn-ea"/>
                <a:sym typeface="+mn-ea"/>
              </a:rPr>
              <a:t>P(x,y</a:t>
            </a:r>
            <a:r>
              <a:rPr lang="en-US" altLang="zh-CN" sz="2400">
                <a:solidFill>
                  <a:srgbClr val="000000"/>
                </a:solidFill>
                <a:cs typeface="+mn-ea"/>
                <a:sym typeface="+mn-ea"/>
              </a:rPr>
              <a:t>) </a:t>
            </a:r>
            <a:r>
              <a:rPr lang="zh-CN" altLang="en-US" sz="2400" dirty="0">
                <a:solidFill>
                  <a:srgbClr val="000000"/>
                </a:solidFill>
                <a:cs typeface="+mn-ea"/>
                <a:sym typeface="+mn-ea"/>
              </a:rPr>
              <a:t>，</a:t>
            </a:r>
            <a:r>
              <a:rPr lang="en-US" altLang="zh-CN" sz="2400" dirty="0" err="1">
                <a:solidFill>
                  <a:srgbClr val="000000"/>
                </a:solidFill>
                <a:cs typeface="+mn-ea"/>
                <a:sym typeface="+mn-ea"/>
              </a:rPr>
              <a:t>P(f(x</a:t>
            </a:r>
            <a:r>
              <a:rPr lang="en-US" altLang="zh-CN" sz="2400">
                <a:solidFill>
                  <a:srgbClr val="000000"/>
                </a:solidFill>
                <a:cs typeface="+mn-ea"/>
                <a:sym typeface="+mn-ea"/>
              </a:rPr>
              <a:t>)</a:t>
            </a:r>
            <a:r>
              <a:rPr lang="zh-CN" altLang="en-US" sz="2400" dirty="0">
                <a:solidFill>
                  <a:srgbClr val="000000"/>
                </a:solidFill>
                <a:cs typeface="+mn-ea"/>
                <a:sym typeface="+mn-ea"/>
              </a:rPr>
              <a:t>，</a:t>
            </a:r>
            <a:r>
              <a:rPr lang="en-US" altLang="zh-CN" sz="2400">
                <a:solidFill>
                  <a:srgbClr val="000000"/>
                </a:solidFill>
                <a:cs typeface="+mn-ea"/>
                <a:sym typeface="+mn-ea"/>
              </a:rPr>
              <a:t>y)</a:t>
            </a:r>
            <a:r>
              <a:rPr lang="zh-CN" altLang="en-US" sz="2400" dirty="0">
                <a:solidFill>
                  <a:srgbClr val="000000"/>
                </a:solidFill>
                <a:cs typeface="+mn-ea"/>
                <a:sym typeface="+mn-ea"/>
              </a:rPr>
              <a:t>，</a:t>
            </a:r>
            <a:r>
              <a:rPr lang="en-US" altLang="zh-CN" sz="2400" dirty="0" err="1">
                <a:solidFill>
                  <a:srgbClr val="000000"/>
                </a:solidFill>
                <a:cs typeface="+mn-ea"/>
                <a:sym typeface="+mn-ea"/>
              </a:rPr>
              <a:t>P(x,y,z</a:t>
            </a:r>
            <a:r>
              <a:rPr lang="en-US" altLang="zh-CN" sz="2400">
                <a:solidFill>
                  <a:srgbClr val="000000"/>
                </a:solidFill>
                <a:cs typeface="+mn-ea"/>
                <a:sym typeface="+mn-ea"/>
              </a:rPr>
              <a:t>)</a:t>
            </a:r>
            <a:r>
              <a:rPr lang="zh-CN" altLang="en-US" sz="2400" dirty="0">
                <a:solidFill>
                  <a:srgbClr val="000000"/>
                </a:solidFill>
                <a:cs typeface="+mn-ea"/>
                <a:sym typeface="+mn-ea"/>
              </a:rPr>
              <a:t>，</a:t>
            </a:r>
            <a:r>
              <a:rPr lang="en-US" altLang="zh-CN" sz="2400" dirty="0" err="1">
                <a:solidFill>
                  <a:srgbClr val="000000"/>
                </a:solidFill>
                <a:cs typeface="+mn-ea"/>
                <a:sym typeface="+mn-ea"/>
              </a:rPr>
              <a:t>P(a,y</a:t>
            </a:r>
            <a:r>
              <a:rPr lang="en-US" altLang="zh-CN" sz="2400">
                <a:solidFill>
                  <a:srgbClr val="000000"/>
                </a:solidFill>
                <a:cs typeface="+mn-ea"/>
                <a:sym typeface="+mn-ea"/>
              </a:rPr>
              <a:t>)</a:t>
            </a:r>
            <a:r>
              <a:rPr lang="zh-CN" altLang="en-US" sz="2400" dirty="0">
                <a:solidFill>
                  <a:srgbClr val="000000"/>
                </a:solidFill>
                <a:cs typeface="+mn-ea"/>
                <a:sym typeface="+mn-ea"/>
              </a:rPr>
              <a:t>等 </a:t>
            </a:r>
            <a:endParaRPr lang="zh-CN" altLang="en-US" sz="2400" dirty="0">
              <a:solidFill>
                <a:srgbClr val="000000"/>
              </a:solidFill>
              <a:cs typeface="+mn-ea"/>
              <a:sym typeface="+mn-ea"/>
            </a:endParaRPr>
          </a:p>
        </p:txBody>
      </p:sp>
      <p:sp>
        <p:nvSpPr>
          <p:cNvPr id="4" name="文本框 3"/>
          <p:cNvSpPr txBox="1"/>
          <p:nvPr/>
        </p:nvSpPr>
        <p:spPr>
          <a:xfrm>
            <a:off x="583565" y="250825"/>
            <a:ext cx="5183505" cy="829945"/>
          </a:xfrm>
          <a:prstGeom prst="rect">
            <a:avLst/>
          </a:prstGeom>
          <a:noFill/>
        </p:spPr>
        <p:txBody>
          <a:bodyPr wrap="square" rtlCol="0">
            <a:spAutoFit/>
          </a:bodyPr>
          <a:lstStyle/>
          <a:p>
            <a:pPr lvl="0" algn="l">
              <a:buClrTx/>
              <a:buSzTx/>
              <a:buFontTx/>
            </a:pPr>
            <a:r>
              <a:rPr lang="zh-CN" altLang="en-US" sz="2400" b="1">
                <a:solidFill>
                  <a:schemeClr val="bg1"/>
                </a:solidFill>
                <a:latin typeface="微软雅黑" panose="020B0503020204020204" charset="-122"/>
                <a:ea typeface="微软雅黑" panose="020B0503020204020204" charset="-122"/>
                <a:sym typeface="+mn-ea"/>
              </a:rPr>
              <a:t>原子公式</a:t>
            </a:r>
            <a:r>
              <a:rPr lang="zh-CN" altLang="en-US" sz="2400" b="1" dirty="0">
                <a:solidFill>
                  <a:schemeClr val="lt1"/>
                </a:solidFill>
                <a:latin typeface="微软雅黑" panose="020B0503020204020204" charset="-122"/>
                <a:ea typeface="微软雅黑" panose="020B0503020204020204" charset="-122"/>
                <a:cs typeface="微软雅黑" panose="020B0503020204020204" charset="-122"/>
                <a:sym typeface="+mn-ea"/>
              </a:rPr>
              <a:t>（atomic </a:t>
            </a:r>
            <a:r>
              <a:rPr lang="en-US" altLang="zh-CN" sz="2400" b="1" dirty="0">
                <a:solidFill>
                  <a:schemeClr val="lt1"/>
                </a:solidFill>
                <a:latin typeface="微软雅黑" panose="020B0503020204020204" charset="-122"/>
                <a:ea typeface="微软雅黑" panose="020B0503020204020204" charset="-122"/>
                <a:cs typeface="微软雅黑" panose="020B0503020204020204" charset="-122"/>
                <a:sym typeface="+mn-ea"/>
              </a:rPr>
              <a:t>formulas</a:t>
            </a:r>
            <a:r>
              <a:rPr lang="zh-CN" altLang="en-US" sz="2400" b="1" dirty="0">
                <a:solidFill>
                  <a:schemeClr val="lt1"/>
                </a:solidFill>
                <a:latin typeface="微软雅黑" panose="020B0503020204020204" charset="-122"/>
                <a:ea typeface="微软雅黑" panose="020B0503020204020204" charset="-122"/>
                <a:cs typeface="微软雅黑" panose="020B0503020204020204" charset="-122"/>
                <a:sym typeface="+mn-ea"/>
              </a:rPr>
              <a:t>）</a:t>
            </a:r>
            <a:endParaRPr lang="zh-CN" altLang="en-US" sz="2400" b="1">
              <a:solidFill>
                <a:schemeClr val="bg1"/>
              </a:solidFill>
              <a:latin typeface="微软雅黑" panose="020B0503020204020204" charset="-122"/>
              <a:ea typeface="微软雅黑" panose="020B0503020204020204" charset="-122"/>
              <a:sym typeface="+mn-ea"/>
            </a:endParaRPr>
          </a:p>
          <a:p>
            <a:pPr lvl="0" algn="l">
              <a:buClrTx/>
              <a:buSzTx/>
              <a:buFontTx/>
            </a:pPr>
            <a:endParaRPr lang="zh-CN" altLang="en-US" sz="2400" b="1">
              <a:solidFill>
                <a:schemeClr val="bg1"/>
              </a:solidFill>
              <a:latin typeface="微软雅黑" panose="020B0503020204020204" charset="-122"/>
              <a:ea typeface="微软雅黑" panose="020B0503020204020204" charset="-122"/>
              <a:sym typeface="+mn-ea"/>
            </a:endParaRPr>
          </a:p>
        </p:txBody>
      </p:sp>
      <p:sp>
        <p:nvSpPr>
          <p:cNvPr id="6" name="文本框 5"/>
          <p:cNvSpPr txBox="1"/>
          <p:nvPr/>
        </p:nvSpPr>
        <p:spPr>
          <a:xfrm>
            <a:off x="1078865" y="3249930"/>
            <a:ext cx="6987540" cy="3169285"/>
          </a:xfrm>
          <a:prstGeom prst="rect">
            <a:avLst/>
          </a:prstGeom>
          <a:noFill/>
        </p:spPr>
        <p:txBody>
          <a:bodyPr wrap="square" rtlCol="0" anchor="t">
            <a:spAutoFit/>
          </a:bodyPr>
          <a:lstStyle/>
          <a:p>
            <a:pPr marL="342900" indent="-342900">
              <a:lnSpc>
                <a:spcPct val="150000"/>
              </a:lnSpc>
              <a:buFont typeface="Wingdings" panose="05000000000000000000" charset="0"/>
              <a:buChar char="n"/>
            </a:pPr>
            <a:r>
              <a:rPr lang="zh-CN" altLang="en-US" sz="2000">
                <a:latin typeface="微软雅黑" panose="020B0503020204020204" charset="-122"/>
                <a:ea typeface="微软雅黑" panose="020B0503020204020204" charset="-122"/>
                <a:cs typeface="微软雅黑" panose="020B0503020204020204" charset="-122"/>
              </a:rPr>
              <a:t>“老张是一个教师”</a:t>
            </a:r>
            <a:endParaRPr lang="zh-CN" altLang="en-US" sz="2000">
              <a:latin typeface="微软雅黑" panose="020B0503020204020204" charset="-122"/>
              <a:ea typeface="微软雅黑" panose="020B0503020204020204" charset="-122"/>
              <a:cs typeface="微软雅黑" panose="020B0503020204020204" charset="-122"/>
            </a:endParaRPr>
          </a:p>
          <a:p>
            <a:pPr marL="457200" lvl="1" indent="457200">
              <a:lnSpc>
                <a:spcPct val="150000"/>
              </a:lnSpc>
            </a:pPr>
            <a:r>
              <a:rPr lang="zh-CN" altLang="en-US" sz="2000">
                <a:latin typeface="微软雅黑" panose="020B0503020204020204" charset="-122"/>
                <a:ea typeface="微软雅黑" panose="020B0503020204020204" charset="-122"/>
                <a:cs typeface="微软雅黑" panose="020B0503020204020204" charset="-122"/>
              </a:rPr>
              <a:t>一元谓词Teacher (Zhang)</a:t>
            </a:r>
            <a:endParaRPr lang="zh-CN" altLang="en-US" sz="2000">
              <a:latin typeface="微软雅黑" panose="020B0503020204020204" charset="-122"/>
              <a:ea typeface="微软雅黑" panose="020B0503020204020204" charset="-122"/>
              <a:cs typeface="微软雅黑" panose="020B0503020204020204" charset="-122"/>
            </a:endParaRPr>
          </a:p>
          <a:p>
            <a:pPr marL="342900" indent="-342900">
              <a:lnSpc>
                <a:spcPct val="150000"/>
              </a:lnSpc>
              <a:buFont typeface="Wingdings" panose="05000000000000000000" charset="0"/>
              <a:buChar char="n"/>
            </a:pPr>
            <a:r>
              <a:rPr lang="zh-CN" altLang="en-US" sz="2000">
                <a:latin typeface="微软雅黑" panose="020B0503020204020204" charset="-122"/>
                <a:ea typeface="微软雅黑" panose="020B0503020204020204" charset="-122"/>
                <a:cs typeface="微软雅黑" panose="020B0503020204020204" charset="-122"/>
              </a:rPr>
              <a:t>“机器人在1号房间中”</a:t>
            </a:r>
            <a:endParaRPr lang="zh-CN" altLang="en-US" sz="2000">
              <a:latin typeface="微软雅黑" panose="020B0503020204020204" charset="-122"/>
              <a:ea typeface="微软雅黑" panose="020B0503020204020204" charset="-122"/>
              <a:cs typeface="微软雅黑" panose="020B0503020204020204" charset="-122"/>
            </a:endParaRPr>
          </a:p>
          <a:p>
            <a:pPr marL="457200" lvl="1" indent="457200">
              <a:lnSpc>
                <a:spcPct val="150000"/>
              </a:lnSpc>
            </a:pPr>
            <a:r>
              <a:rPr lang="zh-CN" altLang="en-US" sz="2000">
                <a:latin typeface="微软雅黑" panose="020B0503020204020204" charset="-122"/>
                <a:ea typeface="微软雅黑" panose="020B0503020204020204" charset="-122"/>
                <a:cs typeface="微软雅黑" panose="020B0503020204020204" charset="-122"/>
              </a:rPr>
              <a:t>INRoom（Robot，r1）. </a:t>
            </a:r>
            <a:endParaRPr lang="zh-CN" altLang="en-US" sz="2000">
              <a:latin typeface="微软雅黑" panose="020B0503020204020204" charset="-122"/>
              <a:ea typeface="微软雅黑" panose="020B0503020204020204" charset="-122"/>
              <a:cs typeface="微软雅黑" panose="020B0503020204020204" charset="-122"/>
            </a:endParaRPr>
          </a:p>
          <a:p>
            <a:pPr marL="342900" indent="-342900">
              <a:lnSpc>
                <a:spcPct val="150000"/>
              </a:lnSpc>
              <a:buFont typeface="Wingdings" panose="05000000000000000000" charset="0"/>
              <a:buChar char="n"/>
            </a:pPr>
            <a:r>
              <a:rPr lang="zh-CN" altLang="en-US" sz="2000">
                <a:latin typeface="微软雅黑" panose="020B0503020204020204" charset="-122"/>
                <a:ea typeface="微软雅黑" panose="020B0503020204020204" charset="-122"/>
                <a:cs typeface="微软雅黑" panose="020B0503020204020204" charset="-122"/>
              </a:rPr>
              <a:t>“Smith作为一个工程师为IBM工作”</a:t>
            </a:r>
            <a:endParaRPr lang="zh-CN" altLang="en-US" sz="2000">
              <a:latin typeface="微软雅黑" panose="020B0503020204020204" charset="-122"/>
              <a:ea typeface="微软雅黑" panose="020B0503020204020204" charset="-122"/>
              <a:cs typeface="微软雅黑" panose="020B0503020204020204" charset="-122"/>
            </a:endParaRPr>
          </a:p>
          <a:p>
            <a:pPr marL="457200" lvl="1" indent="457200">
              <a:lnSpc>
                <a:spcPct val="150000"/>
              </a:lnSpc>
            </a:pPr>
            <a:r>
              <a:rPr lang="zh-CN" altLang="en-US" sz="2000">
                <a:latin typeface="微软雅黑" panose="020B0503020204020204" charset="-122"/>
                <a:ea typeface="微软雅黑" panose="020B0503020204020204" charset="-122"/>
                <a:cs typeface="微软雅黑" panose="020B0503020204020204" charset="-122"/>
              </a:rPr>
              <a:t>三元谓词Works（Smith，IBM，engineer）</a:t>
            </a:r>
            <a:endParaRPr lang="zh-CN" altLang="en-US" sz="2000">
              <a:latin typeface="微软雅黑" panose="020B0503020204020204" charset="-122"/>
              <a:ea typeface="微软雅黑" panose="020B0503020204020204" charset="-122"/>
              <a:cs typeface="微软雅黑" panose="020B0503020204020204" charset="-122"/>
            </a:endParaRPr>
          </a:p>
          <a:p>
            <a:endParaRPr lang="zh-CN" altLang="en-US" sz="2000">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5" uiExpand="1" build="p"/>
      <p:bldP spid="6"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952500" y="2238375"/>
            <a:ext cx="7239000" cy="4619625"/>
          </a:xfrm>
          <a:prstGeom prst="rect">
            <a:avLst/>
          </a:prstGeom>
        </p:spPr>
      </p:pic>
      <p:pic>
        <p:nvPicPr>
          <p:cNvPr id="2" name="图片 1"/>
          <p:cNvPicPr>
            <a:picLocks noChangeAspect="1"/>
          </p:cNvPicPr>
          <p:nvPr/>
        </p:nvPicPr>
        <p:blipFill>
          <a:blip r:embed="rId2"/>
          <a:stretch>
            <a:fillRect/>
          </a:stretch>
        </p:blipFill>
        <p:spPr>
          <a:xfrm>
            <a:off x="3117215" y="1060450"/>
            <a:ext cx="5800725" cy="847725"/>
          </a:xfrm>
          <a:prstGeom prst="rect">
            <a:avLst/>
          </a:prstGeom>
        </p:spPr>
      </p:pic>
      <p:sp>
        <p:nvSpPr>
          <p:cNvPr id="3" name="文本框 2"/>
          <p:cNvSpPr txBox="1"/>
          <p:nvPr/>
        </p:nvSpPr>
        <p:spPr>
          <a:xfrm>
            <a:off x="583565" y="250825"/>
            <a:ext cx="3048000" cy="460375"/>
          </a:xfrm>
          <a:prstGeom prst="rect">
            <a:avLst/>
          </a:prstGeom>
          <a:noFill/>
        </p:spPr>
        <p:txBody>
          <a:bodyPr wrap="square" rtlCol="0">
            <a:spAutoFit/>
          </a:bodyPr>
          <a:lstStyle/>
          <a:p>
            <a:pPr lvl="0" algn="l">
              <a:buClrTx/>
              <a:buSzTx/>
              <a:buFontTx/>
            </a:pPr>
            <a:r>
              <a:rPr lang="zh-CN" altLang="en-US" sz="2400" b="1">
                <a:solidFill>
                  <a:schemeClr val="bg1"/>
                </a:solidFill>
                <a:latin typeface="微软雅黑" panose="020B0503020204020204" charset="-122"/>
                <a:ea typeface="微软雅黑" panose="020B0503020204020204" charset="-122"/>
                <a:sym typeface="+mn-ea"/>
              </a:rPr>
              <a:t>原子公式举例</a:t>
            </a:r>
            <a:endParaRPr lang="zh-CN" altLang="en-US" sz="2400" b="1">
              <a:solidFill>
                <a:schemeClr val="bg1"/>
              </a:solidFill>
              <a:latin typeface="微软雅黑" panose="020B0503020204020204" charset="-122"/>
              <a:ea typeface="微软雅黑" panose="020B0503020204020204" charset="-122"/>
              <a:sym typeface="+mn-ea"/>
            </a:endParaRPr>
          </a:p>
        </p:txBody>
      </p:sp>
    </p:spTree>
    <p:custDataLst>
      <p:tags r:id="rId3"/>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80975" y="1642745"/>
            <a:ext cx="8782050" cy="3571875"/>
          </a:xfrm>
          <a:prstGeom prst="rect">
            <a:avLst/>
          </a:prstGeom>
        </p:spPr>
      </p:pic>
    </p:spTree>
    <p:custDataLst>
      <p:tags r:id="rId2"/>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23545" y="1718945"/>
            <a:ext cx="8296275" cy="3419475"/>
          </a:xfrm>
          <a:prstGeom prst="rect">
            <a:avLst/>
          </a:prstGeom>
        </p:spPr>
      </p:pic>
    </p:spTree>
    <p:custDataLst>
      <p:tags r:id="rId2"/>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28955" y="306705"/>
            <a:ext cx="3048000" cy="368300"/>
          </a:xfrm>
          <a:prstGeom prst="rect">
            <a:avLst/>
          </a:prstGeom>
          <a:noFill/>
        </p:spPr>
        <p:txBody>
          <a:bodyPr wrap="square" rtlCol="0">
            <a:spAutoFit/>
          </a:bodyPr>
          <a:lstStyle/>
          <a:p>
            <a:pPr lvl="0" algn="l">
              <a:buClrTx/>
              <a:buSzTx/>
              <a:buFontTx/>
            </a:pPr>
            <a:r>
              <a:rPr lang="zh-CN" altLang="en-US" sz="2400" b="1">
                <a:solidFill>
                  <a:schemeClr val="bg1"/>
                </a:solidFill>
                <a:latin typeface="微软雅黑" panose="020B0503020204020204" charset="-122"/>
                <a:ea typeface="微软雅黑" panose="020B0503020204020204" charset="-122"/>
                <a:sym typeface="+mn-ea"/>
              </a:rPr>
              <a:t>连词</a:t>
            </a:r>
            <a:endParaRPr lang="zh-CN" altLang="en-US" sz="2400" b="1">
              <a:solidFill>
                <a:schemeClr val="bg1"/>
              </a:solidFill>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1"/>
          <a:stretch>
            <a:fillRect/>
          </a:stretch>
        </p:blipFill>
        <p:spPr>
          <a:xfrm>
            <a:off x="600075" y="1271270"/>
            <a:ext cx="7943850" cy="4314825"/>
          </a:xfrm>
          <a:prstGeom prst="rect">
            <a:avLst/>
          </a:prstGeom>
        </p:spPr>
      </p:pic>
    </p:spTree>
    <p:custDataLst>
      <p:tags r:id="rId2"/>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1160" y="165100"/>
            <a:ext cx="7781925" cy="460375"/>
          </a:xfrm>
          <a:prstGeom prst="rect">
            <a:avLst/>
          </a:prstGeom>
          <a:noFill/>
        </p:spPr>
        <p:txBody>
          <a:bodyPr wrap="square" rtlCol="0" anchor="t">
            <a:spAutoFit/>
          </a:bodyPr>
          <a:lstStyle/>
          <a:p>
            <a:pPr lvl="0" algn="l">
              <a:buClrTx/>
              <a:buSzTx/>
              <a:buFontTx/>
            </a:pPr>
            <a:r>
              <a:rPr lang="zh-CN" altLang="en-US" sz="2400" b="1">
                <a:solidFill>
                  <a:schemeClr val="bg1"/>
                </a:solidFill>
                <a:latin typeface="微软雅黑" panose="020B0503020204020204" charset="-122"/>
                <a:ea typeface="微软雅黑" panose="020B0503020204020204" charset="-122"/>
                <a:sym typeface="Symbol" panose="05050102010706020507" pitchFamily="18" charset="2"/>
              </a:rPr>
              <a:t>合取范式（Conjunctive Normal Form）</a:t>
            </a:r>
            <a:endParaRPr lang="zh-CN" altLang="en-US" sz="2400" b="1">
              <a:solidFill>
                <a:schemeClr val="bg1"/>
              </a:solidFill>
              <a:latin typeface="微软雅黑" panose="020B0503020204020204" charset="-122"/>
              <a:ea typeface="微软雅黑" panose="020B0503020204020204" charset="-122"/>
              <a:sym typeface="Symbol" panose="05050102010706020507" pitchFamily="18" charset="2"/>
            </a:endParaRPr>
          </a:p>
        </p:txBody>
      </p:sp>
      <p:sp>
        <p:nvSpPr>
          <p:cNvPr id="19461" name="矩形 19460"/>
          <p:cNvSpPr/>
          <p:nvPr/>
        </p:nvSpPr>
        <p:spPr>
          <a:xfrm>
            <a:off x="1066800" y="1269365"/>
            <a:ext cx="7010400" cy="2835910"/>
          </a:xfrm>
          <a:prstGeom prst="rect">
            <a:avLst/>
          </a:prstGeom>
          <a:noFill/>
          <a:ln w="9525">
            <a:noFill/>
          </a:ln>
        </p:spPr>
        <p:txBody>
          <a:bodyPr wrap="none" anchor="ctr" anchorCtr="0"/>
          <a:lstStyle/>
          <a:p>
            <a:pPr eaLnBrk="0" hangingPunct="0">
              <a:spcBef>
                <a:spcPct val="50000"/>
              </a:spcBef>
            </a:pPr>
            <a:r>
              <a:rPr lang="en-US" altLang="zh-CN"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设</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为如下形式的谓词公式：</a:t>
            </a:r>
            <a:endParaRPr lang="zh-CN" altLang="en-US"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eaLnBrk="0" hangingPunct="0">
              <a:spcBef>
                <a:spcPct val="50000"/>
              </a:spcBef>
            </a:pP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B</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1 </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b="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B</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2 </a:t>
            </a:r>
            <a:r>
              <a:rPr lang="en-US" altLang="zh-CN" sz="2400" b="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b="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b="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B</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n</a:t>
            </a:r>
            <a:endPar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eaLnBrk="0" hangingPunct="0">
              <a:spcBef>
                <a:spcPct val="50000"/>
              </a:spcBef>
            </a:pP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其中</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B</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i</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i=1,2,…</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n</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形如</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L</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1</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b="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L</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2 </a:t>
            </a:r>
            <a:r>
              <a:rPr lang="en-US" altLang="zh-CN" sz="2400" b="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L</a:t>
            </a:r>
            <a:r>
              <a:rPr lang="en-US" altLang="zh-CN" sz="2400" baseline="-250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m</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endPar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eaLnBrk="0" hangingPunct="0">
              <a:spcBef>
                <a:spcPct val="50000"/>
              </a:spcBef>
            </a:pPr>
            <a:r>
              <a:rPr lang="en-US" altLang="zh-CN" sz="2400" err="1">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L</a:t>
            </a:r>
            <a:r>
              <a:rPr lang="en-US" altLang="zh-CN" sz="2400" baseline="-25000" err="1">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j</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j=1</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2,…</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m</a:t>
            </a:r>
            <a:r>
              <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为原子公式或其否定，</a:t>
            </a:r>
            <a:endPar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eaLnBrk="0" hangingPunct="0">
              <a:spcBef>
                <a:spcPct val="50000"/>
              </a:spcBef>
            </a:pP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则</a:t>
            </a:r>
            <a:r>
              <a:rPr lang="en-US" altLang="zh-CN"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称为合取范式。</a:t>
            </a:r>
            <a:endParaRPr lang="zh-CN" altLang="en-US" sz="240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
        <p:nvSpPr>
          <p:cNvPr id="19462" name="矩形 19461"/>
          <p:cNvSpPr/>
          <p:nvPr/>
        </p:nvSpPr>
        <p:spPr>
          <a:xfrm>
            <a:off x="299085" y="4749165"/>
            <a:ext cx="8378190" cy="1219200"/>
          </a:xfrm>
          <a:prstGeom prst="rect">
            <a:avLst/>
          </a:prstGeom>
          <a:solidFill>
            <a:schemeClr val="accent1">
              <a:lumMod val="20000"/>
              <a:lumOff val="80000"/>
              <a:alpha val="50000"/>
            </a:schemeClr>
          </a:solidFill>
          <a:ln w="9525">
            <a:noFill/>
          </a:ln>
        </p:spPr>
        <p:txBody>
          <a:bodyPr wrap="none" anchor="ctr" anchorCtr="0"/>
          <a:lstStyle/>
          <a:p>
            <a:pPr eaLnBrk="0" hangingPunct="0">
              <a:spcBef>
                <a:spcPct val="0"/>
              </a:spcBef>
            </a:pPr>
            <a:r>
              <a:rPr lang="zh-CN" altLang="en-US" sz="2400" b="1" dirty="0">
                <a:latin typeface="Arial" panose="020B0604020202020204" pitchFamily="34" charset="0"/>
              </a:rPr>
              <a:t>例  </a:t>
            </a:r>
            <a:r>
              <a:rPr lang="en-US" altLang="zh-CN" sz="2400" b="1">
                <a:latin typeface="Arial" panose="020B0604020202020204" pitchFamily="34" charset="0"/>
              </a:rPr>
              <a:t>(P(x) </a:t>
            </a:r>
            <a:r>
              <a:rPr lang="en-US" altLang="zh-CN" sz="2400" b="1">
                <a:latin typeface="Times New Roman" panose="02020603050405020304" pitchFamily="18" charset="0"/>
                <a:sym typeface="Symbol" panose="05050102010706020507" pitchFamily="18" charset="2"/>
              </a:rPr>
              <a:t></a:t>
            </a:r>
            <a:r>
              <a:rPr lang="en-US" altLang="zh-CN" sz="2400" b="1">
                <a:latin typeface="Arial" panose="020B0604020202020204" pitchFamily="34" charset="0"/>
              </a:rPr>
              <a:t> </a:t>
            </a:r>
            <a:r>
              <a:rPr lang="en-US" altLang="zh-CN" sz="2400" b="1">
                <a:latin typeface="Times New Roman" panose="02020603050405020304" pitchFamily="18" charset="0"/>
                <a:sym typeface="Symbol" panose="05050102010706020507" pitchFamily="18" charset="2"/>
              </a:rPr>
              <a:t>Q(y))</a:t>
            </a:r>
            <a:r>
              <a:rPr lang="en-US" altLang="zh-CN" sz="2400" b="1">
                <a:latin typeface="Arial" panose="020B0604020202020204" pitchFamily="34" charset="0"/>
              </a:rPr>
              <a:t> </a:t>
            </a:r>
            <a:r>
              <a:rPr lang="en-US" altLang="zh-CN" sz="2400" b="1">
                <a:solidFill>
                  <a:srgbClr val="FF0000"/>
                </a:solidFill>
                <a:latin typeface="Times New Roman" panose="02020603050405020304" pitchFamily="18" charset="0"/>
                <a:sym typeface="Symbol" panose="05050102010706020507" pitchFamily="18" charset="2"/>
              </a:rPr>
              <a:t></a:t>
            </a:r>
            <a:r>
              <a:rPr lang="en-US" altLang="zh-CN" sz="2400" b="1">
                <a:latin typeface="Arial" panose="020B0604020202020204" pitchFamily="34" charset="0"/>
              </a:rPr>
              <a:t>(</a:t>
            </a:r>
            <a:r>
              <a:rPr lang="en-US" altLang="zh-CN" sz="2400" b="1">
                <a:latin typeface="Times New Roman" panose="02020603050405020304" pitchFamily="18" charset="0"/>
                <a:sym typeface="Symbol" panose="05050102010706020507" pitchFamily="18" charset="2"/>
              </a:rPr>
              <a:t> ¬P(x) </a:t>
            </a:r>
            <a:r>
              <a:rPr lang="en-US" altLang="zh-CN" sz="2400" b="1">
                <a:latin typeface="Arial" panose="020B0604020202020204" pitchFamily="34" charset="0"/>
              </a:rPr>
              <a:t> Q(y) </a:t>
            </a:r>
            <a:r>
              <a:rPr lang="en-US" altLang="zh-CN" sz="2400" b="1">
                <a:latin typeface="Times New Roman" panose="02020603050405020304" pitchFamily="18" charset="0"/>
                <a:sym typeface="Symbol" panose="05050102010706020507" pitchFamily="18" charset="2"/>
              </a:rPr>
              <a:t>R(x,y)</a:t>
            </a:r>
            <a:r>
              <a:rPr lang="en-US" altLang="zh-CN" sz="2400" b="1">
                <a:latin typeface="Arial" panose="020B0604020202020204" pitchFamily="34" charset="0"/>
              </a:rPr>
              <a:t>) </a:t>
            </a:r>
            <a:r>
              <a:rPr lang="en-US" altLang="zh-CN" sz="2400" b="1">
                <a:solidFill>
                  <a:srgbClr val="FF0000"/>
                </a:solidFill>
                <a:latin typeface="Times New Roman" panose="02020603050405020304" pitchFamily="18" charset="0"/>
                <a:sym typeface="Symbol" panose="05050102010706020507" pitchFamily="18" charset="2"/>
              </a:rPr>
              <a:t></a:t>
            </a:r>
            <a:r>
              <a:rPr lang="en-US" altLang="zh-CN" sz="2400" b="1">
                <a:latin typeface="Arial" panose="020B0604020202020204" pitchFamily="34" charset="0"/>
              </a:rPr>
              <a:t> </a:t>
            </a:r>
            <a:r>
              <a:rPr lang="en-US" altLang="zh-CN" sz="2400" b="1">
                <a:latin typeface="Times New Roman" panose="02020603050405020304" pitchFamily="18" charset="0"/>
                <a:sym typeface="Symbol" panose="05050102010706020507" pitchFamily="18" charset="2"/>
              </a:rPr>
              <a:t>(¬ Q(x)  ¬ R(x,y) )</a:t>
            </a:r>
            <a:endParaRPr lang="en-US" altLang="zh-CN" sz="2400" b="1">
              <a:latin typeface="Times New Roman" panose="02020603050405020304" pitchFamily="18" charset="0"/>
              <a:sym typeface="Symbol" panose="05050102010706020507" pitchFamily="18" charset="2"/>
            </a:endParaRPr>
          </a:p>
          <a:p>
            <a:pPr eaLnBrk="0" hangingPunct="0">
              <a:spcBef>
                <a:spcPct val="0"/>
              </a:spcBef>
            </a:pPr>
            <a:endParaRPr lang="en-US" altLang="zh-CN" sz="2400" b="1">
              <a:latin typeface="Times New Roman" panose="02020603050405020304" pitchFamily="18" charset="0"/>
              <a:sym typeface="Symbol" panose="05050102010706020507" pitchFamily="18" charset="2"/>
            </a:endParaRPr>
          </a:p>
          <a:p>
            <a:pPr eaLnBrk="0" hangingPunct="0">
              <a:spcBef>
                <a:spcPct val="0"/>
              </a:spcBef>
            </a:pPr>
            <a:r>
              <a:rPr lang="en-US" altLang="zh-CN" sz="2400" b="1">
                <a:latin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sym typeface="Symbol" panose="05050102010706020507" pitchFamily="18" charset="2"/>
              </a:rPr>
              <a:t>就是一个合取范式</a:t>
            </a:r>
            <a:endParaRPr lang="zh-CN" altLang="en-US" sz="2400" b="1" dirty="0">
              <a:latin typeface="Times New Roman" panose="02020603050405020304" pitchFamily="18" charset="0"/>
              <a:sym typeface="Symbol" panose="05050102010706020507" pitchFamily="18" charset="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207645"/>
            <a:ext cx="5819775" cy="460375"/>
          </a:xfrm>
          <a:prstGeom prst="rect">
            <a:avLst/>
          </a:prstGeom>
          <a:noFill/>
        </p:spPr>
        <p:txBody>
          <a:bodyPr wrap="square" rtlCol="0" anchor="t">
            <a:spAutoFit/>
          </a:bodyPr>
          <a:lstStyle/>
          <a:p>
            <a:pPr lvl="0" algn="l">
              <a:buClrTx/>
              <a:buSzTx/>
              <a:buFontTx/>
            </a:pPr>
            <a:r>
              <a:rPr lang="zh-CN" altLang="en-US" sz="2400" b="1">
                <a:solidFill>
                  <a:schemeClr val="bg1"/>
                </a:solidFill>
                <a:latin typeface="微软雅黑" panose="020B0503020204020204" charset="-122"/>
                <a:ea typeface="微软雅黑" panose="020B0503020204020204" charset="-122"/>
                <a:sym typeface="Symbol" panose="05050102010706020507" pitchFamily="18" charset="2"/>
              </a:rPr>
              <a:t>析取范式（Disjunctive Normal Form）</a:t>
            </a:r>
            <a:endParaRPr lang="zh-CN" altLang="en-US" sz="2400" b="1">
              <a:solidFill>
                <a:schemeClr val="bg1"/>
              </a:solidFill>
              <a:latin typeface="微软雅黑" panose="020B0503020204020204" charset="-122"/>
              <a:ea typeface="微软雅黑" panose="020B0503020204020204" charset="-122"/>
              <a:sym typeface="Symbol" panose="05050102010706020507" pitchFamily="18" charset="2"/>
            </a:endParaRPr>
          </a:p>
        </p:txBody>
      </p:sp>
      <p:sp>
        <p:nvSpPr>
          <p:cNvPr id="20485" name="矩形 20484"/>
          <p:cNvSpPr/>
          <p:nvPr/>
        </p:nvSpPr>
        <p:spPr>
          <a:xfrm>
            <a:off x="952500" y="1236345"/>
            <a:ext cx="7010400" cy="2506980"/>
          </a:xfrm>
          <a:prstGeom prst="rect">
            <a:avLst/>
          </a:prstGeom>
          <a:noFill/>
          <a:ln w="9525">
            <a:noFill/>
          </a:ln>
        </p:spPr>
        <p:txBody>
          <a:bodyPr wrap="none" anchor="ctr" anchorCtr="0">
            <a:noAutofit/>
          </a:bodyPr>
          <a:lstStyle/>
          <a:p>
            <a:pPr lvl="0" algn="l" eaLnBrk="0" hangingPunct="0">
              <a:spcBef>
                <a:spcPct val="50000"/>
              </a:spcBef>
              <a:buClrTx/>
              <a:buSzTx/>
              <a:buFontTx/>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设A为如下形式的谓词公式： </a:t>
            </a:r>
            <a:endParaRPr lang="en-US" altLang="zh-CN"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lvl="0" algn="l" eaLnBrk="0" hangingPunct="0">
              <a:spcBef>
                <a:spcPct val="50000"/>
              </a:spcBef>
              <a:buClrTx/>
              <a:buSzTx/>
              <a:buFontTx/>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B1  B2 …  Bn</a:t>
            </a:r>
            <a:endParaRPr lang="en-US" altLang="zh-CN"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lvl="0" algn="l" eaLnBrk="0" hangingPunct="0">
              <a:spcBef>
                <a:spcPct val="50000"/>
              </a:spcBef>
              <a:buClrTx/>
              <a:buSzTx/>
              <a:buFontTx/>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其中Bi（i=1,2,…，n）形如L1  L2  …  Lm，</a:t>
            </a:r>
            <a:endParaRPr lang="en-US" altLang="zh-CN"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lvl="0" algn="l" eaLnBrk="0" hangingPunct="0">
              <a:spcBef>
                <a:spcPct val="50000"/>
              </a:spcBef>
              <a:buClrTx/>
              <a:buSzTx/>
              <a:buFontTx/>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Lj（j=1，2,…，m）为原子公式或其否定，</a:t>
            </a:r>
            <a:endParaRPr lang="en-US" altLang="zh-CN"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lvl="0" algn="l" eaLnBrk="0" hangingPunct="0">
              <a:spcBef>
                <a:spcPct val="50000"/>
              </a:spcBef>
              <a:buClrTx/>
              <a:buSzTx/>
              <a:buFontTx/>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则A称为析取范式。</a:t>
            </a:r>
            <a:endParaRPr lang="en-US" altLang="zh-CN" sz="2400" dirty="0">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
        <p:nvSpPr>
          <p:cNvPr id="20486" name="矩形 20485"/>
          <p:cNvSpPr/>
          <p:nvPr/>
        </p:nvSpPr>
        <p:spPr>
          <a:xfrm>
            <a:off x="569595" y="4498340"/>
            <a:ext cx="8004810" cy="1219200"/>
          </a:xfrm>
          <a:prstGeom prst="rect">
            <a:avLst/>
          </a:prstGeom>
          <a:solidFill>
            <a:schemeClr val="accent1">
              <a:lumMod val="20000"/>
              <a:lumOff val="80000"/>
              <a:alpha val="50000"/>
            </a:schemeClr>
          </a:solidFill>
          <a:ln w="9525">
            <a:noFill/>
          </a:ln>
        </p:spPr>
        <p:txBody>
          <a:bodyPr wrap="none" anchor="ctr" anchorCtr="0">
            <a:noAutofit/>
          </a:bodyPr>
          <a:lstStyle/>
          <a:p>
            <a:pPr lvl="0" algn="l" eaLnBrk="0" hangingPunct="0">
              <a:buClrTx/>
              <a:buSzTx/>
              <a:buFontTx/>
            </a:pPr>
            <a:r>
              <a:rPr lang="zh-CN" altLang="en-US" sz="2400" b="1" dirty="0">
                <a:sym typeface="+mn-ea"/>
              </a:rPr>
              <a:t>例  (P(x)</a:t>
            </a:r>
            <a:r>
              <a:rPr lang="zh-CN" altLang="en-US" sz="2400" b="1" dirty="0">
                <a:sym typeface="Symbol" panose="05050102010706020507" pitchFamily="18" charset="2"/>
              </a:rPr>
              <a:t>¬Q(y)</a:t>
            </a:r>
            <a:r>
              <a:rPr lang="zh-CN" altLang="en-US" sz="2400" b="1" dirty="0">
                <a:sym typeface="+mn-ea"/>
              </a:rPr>
              <a:t>R(x,y))</a:t>
            </a:r>
            <a:r>
              <a:rPr lang="zh-CN" altLang="en-US" sz="2400" b="1" dirty="0">
                <a:solidFill>
                  <a:srgbClr val="FF0000"/>
                </a:solidFill>
                <a:sym typeface="Symbol" panose="05050102010706020507" pitchFamily="18" charset="2"/>
              </a:rPr>
              <a:t></a:t>
            </a:r>
            <a:r>
              <a:rPr lang="zh-CN" altLang="en-US" sz="2400" b="1" dirty="0">
                <a:sym typeface="+mn-ea"/>
              </a:rPr>
              <a:t>(</a:t>
            </a:r>
            <a:r>
              <a:rPr lang="zh-CN" altLang="en-US" sz="2400" b="1" dirty="0">
                <a:sym typeface="Symbol" panose="05050102010706020507" pitchFamily="18" charset="2"/>
              </a:rPr>
              <a:t>¬P(x)</a:t>
            </a:r>
            <a:r>
              <a:rPr lang="zh-CN" altLang="en-US" sz="2400" b="1" dirty="0">
                <a:sym typeface="+mn-ea"/>
              </a:rPr>
              <a:t>Q(y))</a:t>
            </a:r>
            <a:r>
              <a:rPr lang="zh-CN" altLang="en-US" sz="2400" b="1" dirty="0">
                <a:solidFill>
                  <a:srgbClr val="FF0000"/>
                </a:solidFill>
                <a:sym typeface="Symbol" panose="05050102010706020507" pitchFamily="18" charset="2"/>
              </a:rPr>
              <a:t></a:t>
            </a:r>
            <a:r>
              <a:rPr lang="zh-CN" altLang="en-US" sz="2400" b="1" dirty="0">
                <a:sym typeface="Symbol" panose="05050102010706020507" pitchFamily="18" charset="2"/>
              </a:rPr>
              <a:t>(¬P(x)R(x,y) )</a:t>
            </a:r>
            <a:endParaRPr lang="zh-CN" altLang="en-US" sz="2400" b="1" dirty="0">
              <a:sym typeface="Symbol" panose="05050102010706020507" pitchFamily="18" charset="2"/>
            </a:endParaRPr>
          </a:p>
          <a:p>
            <a:pPr lvl="0" algn="l" eaLnBrk="0" hangingPunct="0">
              <a:buClrTx/>
              <a:buSzTx/>
              <a:buFontTx/>
            </a:pPr>
            <a:endParaRPr lang="zh-CN" altLang="en-US" sz="2400" b="1" dirty="0">
              <a:sym typeface="Symbol" panose="05050102010706020507" pitchFamily="18" charset="2"/>
            </a:endParaRPr>
          </a:p>
          <a:p>
            <a:pPr lvl="0" algn="l" eaLnBrk="0" hangingPunct="0">
              <a:buClrTx/>
              <a:buSzTx/>
              <a:buFontTx/>
            </a:pPr>
            <a:r>
              <a:rPr lang="zh-CN" altLang="en-US" sz="2400" b="1" dirty="0">
                <a:sym typeface="Symbol" panose="05050102010706020507" pitchFamily="18" charset="2"/>
              </a:rPr>
              <a:t>      就是一个析取范式</a:t>
            </a:r>
            <a:endParaRPr lang="zh-CN" altLang="en-US" sz="2400" b="1" dirty="0">
              <a:sym typeface="Symbol" panose="05050102010706020507" pitchFamily="18" charset="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68935" y="262255"/>
            <a:ext cx="8582025" cy="460375"/>
          </a:xfrm>
          <a:prstGeom prst="rect">
            <a:avLst/>
          </a:prstGeom>
          <a:noFill/>
        </p:spPr>
        <p:txBody>
          <a:bodyPr wrap="square" rtlCol="0">
            <a:spAutoFit/>
          </a:bodyPr>
          <a:lstStyle/>
          <a:p>
            <a:pPr lvl="0" algn="l">
              <a:buClrTx/>
              <a:buSzTx/>
              <a:buFontTx/>
            </a:pPr>
            <a:r>
              <a:rPr lang="zh-CN" altLang="en-US" sz="2400" b="1">
                <a:solidFill>
                  <a:schemeClr val="bg1"/>
                </a:solidFill>
                <a:latin typeface="微软雅黑" panose="020B0503020204020204" charset="-122"/>
                <a:ea typeface="微软雅黑" panose="020B0503020204020204" charset="-122"/>
                <a:sym typeface="+mn-ea"/>
              </a:rPr>
              <a:t>合适</a:t>
            </a:r>
            <a:r>
              <a:rPr lang="en-US" altLang="zh-CN" sz="2400" b="1">
                <a:solidFill>
                  <a:schemeClr val="bg1"/>
                </a:solidFill>
                <a:latin typeface="微软雅黑" panose="020B0503020204020204" charset="-122"/>
                <a:ea typeface="微软雅黑" panose="020B0503020204020204" charset="-122"/>
                <a:sym typeface="+mn-ea"/>
              </a:rPr>
              <a:t>(式)</a:t>
            </a:r>
            <a:r>
              <a:rPr lang="zh-CN" altLang="en-US" sz="2400" b="1">
                <a:solidFill>
                  <a:schemeClr val="bg1"/>
                </a:solidFill>
                <a:latin typeface="微软雅黑" panose="020B0503020204020204" charset="-122"/>
                <a:ea typeface="微软雅黑" panose="020B0503020204020204" charset="-122"/>
                <a:sym typeface="+mn-ea"/>
              </a:rPr>
              <a:t>公式（WFF</a:t>
            </a:r>
            <a:r>
              <a:rPr lang="en-US" altLang="zh-CN" sz="2400" b="1">
                <a:solidFill>
                  <a:schemeClr val="bg1"/>
                </a:solidFill>
                <a:latin typeface="微软雅黑" panose="020B0503020204020204" charset="-122"/>
                <a:ea typeface="微软雅黑" panose="020B0503020204020204" charset="-122"/>
                <a:sym typeface="+mn-ea"/>
              </a:rPr>
              <a:t>, </a:t>
            </a:r>
            <a:r>
              <a:rPr lang="zh-CN" altLang="en-US" sz="2400" b="1">
                <a:solidFill>
                  <a:schemeClr val="bg1"/>
                </a:solidFill>
                <a:latin typeface="微软雅黑" panose="020B0503020204020204" charset="-122"/>
                <a:ea typeface="微软雅黑" panose="020B0503020204020204" charset="-122"/>
                <a:sym typeface="+mn-ea"/>
              </a:rPr>
              <a:t>Well-Formed Formulas）</a:t>
            </a:r>
            <a:endParaRPr lang="zh-CN" altLang="en-US" sz="2400" b="1">
              <a:solidFill>
                <a:schemeClr val="bg1"/>
              </a:solidFill>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1"/>
          <a:stretch>
            <a:fillRect/>
          </a:stretch>
        </p:blipFill>
        <p:spPr>
          <a:xfrm>
            <a:off x="566420" y="1143000"/>
            <a:ext cx="8010525" cy="4572000"/>
          </a:xfrm>
          <a:prstGeom prst="rect">
            <a:avLst/>
          </a:prstGeom>
        </p:spPr>
      </p:pic>
    </p:spTree>
    <p:custDataLst>
      <p:tags r:id="rId2"/>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1"/>
          <a:stretch>
            <a:fillRect/>
          </a:stretch>
        </p:blipFill>
        <p:spPr>
          <a:xfrm>
            <a:off x="502285" y="290195"/>
            <a:ext cx="7867650" cy="1228725"/>
          </a:xfrm>
          <a:prstGeom prst="rect">
            <a:avLst/>
          </a:prstGeom>
        </p:spPr>
      </p:pic>
      <p:pic>
        <p:nvPicPr>
          <p:cNvPr id="5" name="图片 4"/>
          <p:cNvPicPr>
            <a:picLocks noChangeAspect="1"/>
          </p:cNvPicPr>
          <p:nvPr/>
        </p:nvPicPr>
        <p:blipFill>
          <a:blip r:embed="rId2"/>
          <a:stretch>
            <a:fillRect/>
          </a:stretch>
        </p:blipFill>
        <p:spPr>
          <a:xfrm>
            <a:off x="502285" y="1644650"/>
            <a:ext cx="6838950" cy="1533525"/>
          </a:xfrm>
          <a:prstGeom prst="rect">
            <a:avLst/>
          </a:prstGeom>
        </p:spPr>
      </p:pic>
      <p:pic>
        <p:nvPicPr>
          <p:cNvPr id="6" name="图片 5"/>
          <p:cNvPicPr>
            <a:picLocks noChangeAspect="1"/>
          </p:cNvPicPr>
          <p:nvPr/>
        </p:nvPicPr>
        <p:blipFill>
          <a:blip r:embed="rId3"/>
          <a:stretch>
            <a:fillRect/>
          </a:stretch>
        </p:blipFill>
        <p:spPr>
          <a:xfrm>
            <a:off x="502285" y="3261995"/>
            <a:ext cx="6172200" cy="1666875"/>
          </a:xfrm>
          <a:prstGeom prst="rect">
            <a:avLst/>
          </a:prstGeom>
        </p:spPr>
      </p:pic>
      <p:pic>
        <p:nvPicPr>
          <p:cNvPr id="7" name="图片 6"/>
          <p:cNvPicPr>
            <a:picLocks noChangeAspect="1"/>
          </p:cNvPicPr>
          <p:nvPr/>
        </p:nvPicPr>
        <p:blipFill>
          <a:blip r:embed="rId4"/>
          <a:stretch>
            <a:fillRect/>
          </a:stretch>
        </p:blipFill>
        <p:spPr>
          <a:xfrm>
            <a:off x="1010920" y="4921885"/>
            <a:ext cx="3095625" cy="1133475"/>
          </a:xfrm>
          <a:prstGeom prst="rect">
            <a:avLst/>
          </a:prstGeom>
        </p:spPr>
      </p:pic>
      <p:pic>
        <p:nvPicPr>
          <p:cNvPr id="8" name="图片 7"/>
          <p:cNvPicPr>
            <a:picLocks noChangeAspect="1"/>
          </p:cNvPicPr>
          <p:nvPr/>
        </p:nvPicPr>
        <p:blipFill>
          <a:blip r:embed="rId5"/>
          <a:stretch>
            <a:fillRect/>
          </a:stretch>
        </p:blipFill>
        <p:spPr>
          <a:xfrm>
            <a:off x="3981450" y="1644650"/>
            <a:ext cx="5086350" cy="457200"/>
          </a:xfrm>
          <a:prstGeom prst="rect">
            <a:avLst/>
          </a:prstGeom>
        </p:spPr>
      </p:pic>
      <p:pic>
        <p:nvPicPr>
          <p:cNvPr id="9" name="图片 8"/>
          <p:cNvPicPr>
            <a:picLocks noChangeAspect="1"/>
          </p:cNvPicPr>
          <p:nvPr/>
        </p:nvPicPr>
        <p:blipFill>
          <a:blip r:embed="rId6"/>
          <a:stretch>
            <a:fillRect/>
          </a:stretch>
        </p:blipFill>
        <p:spPr>
          <a:xfrm>
            <a:off x="3905250" y="4524375"/>
            <a:ext cx="5238750" cy="733425"/>
          </a:xfrm>
          <a:prstGeom prst="rect">
            <a:avLst/>
          </a:prstGeom>
        </p:spPr>
      </p:pic>
      <p:pic>
        <p:nvPicPr>
          <p:cNvPr id="10" name="图片 9"/>
          <p:cNvPicPr>
            <a:picLocks noChangeAspect="1"/>
          </p:cNvPicPr>
          <p:nvPr/>
        </p:nvPicPr>
        <p:blipFill>
          <a:blip r:embed="rId7"/>
          <a:stretch>
            <a:fillRect/>
          </a:stretch>
        </p:blipFill>
        <p:spPr>
          <a:xfrm>
            <a:off x="3959860" y="5690870"/>
            <a:ext cx="3381375" cy="485775"/>
          </a:xfrm>
          <a:prstGeom prst="rect">
            <a:avLst/>
          </a:prstGeom>
        </p:spPr>
      </p:pic>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1"/>
          <a:stretch>
            <a:fillRect/>
          </a:stretch>
        </p:blipFill>
        <p:spPr>
          <a:xfrm>
            <a:off x="462915" y="498475"/>
            <a:ext cx="5615305" cy="461010"/>
          </a:xfrm>
          <a:prstGeom prst="rect">
            <a:avLst/>
          </a:prstGeom>
        </p:spPr>
      </p:pic>
      <p:pic>
        <p:nvPicPr>
          <p:cNvPr id="101" name="图片 100"/>
          <p:cNvPicPr/>
          <p:nvPr/>
        </p:nvPicPr>
        <p:blipFill>
          <a:blip r:embed="rId2"/>
          <a:stretch>
            <a:fillRect/>
          </a:stretch>
        </p:blipFill>
        <p:spPr>
          <a:xfrm>
            <a:off x="6155055" y="-317"/>
            <a:ext cx="2895600" cy="2238375"/>
          </a:xfrm>
          <a:prstGeom prst="rect">
            <a:avLst/>
          </a:prstGeom>
          <a:noFill/>
          <a:ln w="9525">
            <a:noFill/>
          </a:ln>
        </p:spPr>
      </p:pic>
      <p:pic>
        <p:nvPicPr>
          <p:cNvPr id="5" name="图片 4"/>
          <p:cNvPicPr>
            <a:picLocks noChangeAspect="1"/>
          </p:cNvPicPr>
          <p:nvPr/>
        </p:nvPicPr>
        <p:blipFill>
          <a:blip r:embed="rId3"/>
          <a:stretch>
            <a:fillRect/>
          </a:stretch>
        </p:blipFill>
        <p:spPr>
          <a:xfrm>
            <a:off x="1038860" y="1221740"/>
            <a:ext cx="2114550" cy="514350"/>
          </a:xfrm>
          <a:prstGeom prst="rect">
            <a:avLst/>
          </a:prstGeom>
        </p:spPr>
      </p:pic>
      <p:pic>
        <p:nvPicPr>
          <p:cNvPr id="6" name="图片 5"/>
          <p:cNvPicPr>
            <a:picLocks noChangeAspect="1"/>
          </p:cNvPicPr>
          <p:nvPr/>
        </p:nvPicPr>
        <p:blipFill>
          <a:blip r:embed="rId4"/>
          <a:stretch>
            <a:fillRect/>
          </a:stretch>
        </p:blipFill>
        <p:spPr>
          <a:xfrm>
            <a:off x="1038860" y="2338705"/>
            <a:ext cx="5610225" cy="1676400"/>
          </a:xfrm>
          <a:prstGeom prst="rect">
            <a:avLst/>
          </a:prstGeom>
        </p:spPr>
      </p:pic>
      <p:pic>
        <p:nvPicPr>
          <p:cNvPr id="7" name="图片 6"/>
          <p:cNvPicPr>
            <a:picLocks noChangeAspect="1"/>
          </p:cNvPicPr>
          <p:nvPr/>
        </p:nvPicPr>
        <p:blipFill>
          <a:blip r:embed="rId5"/>
          <a:stretch>
            <a:fillRect/>
          </a:stretch>
        </p:blipFill>
        <p:spPr>
          <a:xfrm>
            <a:off x="1038860" y="4115435"/>
            <a:ext cx="6048375" cy="466725"/>
          </a:xfrm>
          <a:prstGeom prst="rect">
            <a:avLst/>
          </a:prstGeom>
        </p:spPr>
      </p:pic>
      <p:pic>
        <p:nvPicPr>
          <p:cNvPr id="8" name="图片 7"/>
          <p:cNvPicPr>
            <a:picLocks noChangeAspect="1"/>
          </p:cNvPicPr>
          <p:nvPr/>
        </p:nvPicPr>
        <p:blipFill>
          <a:blip r:embed="rId6"/>
          <a:stretch>
            <a:fillRect/>
          </a:stretch>
        </p:blipFill>
        <p:spPr>
          <a:xfrm>
            <a:off x="1038860" y="4682490"/>
            <a:ext cx="6943725" cy="914400"/>
          </a:xfrm>
          <a:prstGeom prst="rect">
            <a:avLst/>
          </a:prstGeom>
        </p:spPr>
      </p:pic>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0355" y="269875"/>
            <a:ext cx="3971925" cy="537210"/>
          </a:xfrm>
          <a:prstGeom prst="rect">
            <a:avLst/>
          </a:prstGeom>
          <a:noFill/>
        </p:spPr>
        <p:txBody>
          <a:bodyPr wrap="square" rtlCol="0" anchor="t">
            <a:spAutoFit/>
          </a:bodyPr>
          <a:lstStyle/>
          <a:p>
            <a:pPr algn="l">
              <a:spcBef>
                <a:spcPts val="0"/>
              </a:spcBef>
              <a:spcAft>
                <a:spcPts val="0"/>
              </a:spcAft>
              <a:buClrTx/>
              <a:buSzTx/>
              <a:buFontTx/>
            </a:pPr>
            <a:r>
              <a:rPr lang="zh-CN" altLang="en-US" sz="2900" b="1" dirty="0">
                <a:solidFill>
                  <a:schemeClr val="lt1"/>
                </a:solidFill>
                <a:latin typeface="微软雅黑" panose="020B0503020204020204" charset="-122"/>
                <a:ea typeface="微软雅黑" panose="020B0503020204020204" charset="-122"/>
                <a:cs typeface="微软雅黑" panose="020B0503020204020204" charset="-122"/>
              </a:rPr>
              <a:t>等词</a:t>
            </a:r>
            <a:endParaRPr lang="zh-CN" altLang="en-US" sz="2900" b="1" dirty="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300355" y="1061085"/>
            <a:ext cx="8352790" cy="3630930"/>
          </a:xfrm>
          <a:prstGeom prst="rect">
            <a:avLst/>
          </a:prstGeom>
          <a:noFill/>
        </p:spPr>
        <p:txBody>
          <a:bodyPr wrap="square" rtlCol="0" anchor="t">
            <a:spAutoFit/>
          </a:bodyPr>
          <a:lstStyle/>
          <a:p>
            <a:pPr marL="342900" indent="-342900" algn="l" eaLnBrk="0" hangingPunct="0">
              <a:lnSpc>
                <a:spcPct val="150000"/>
              </a:lnSpc>
              <a:spcBef>
                <a:spcPct val="20000"/>
              </a:spcBef>
              <a:buClr>
                <a:srgbClr val="FF6600"/>
              </a:buClr>
              <a:buSzTx/>
              <a:buFont typeface="Wingdings" panose="05000000000000000000" pitchFamily="2" charset="2"/>
              <a:buChar char="§"/>
            </a:pPr>
            <a:r>
              <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除了使用谓词和项产生原子语句之外，一阶逻辑还有另一种构造原子语句的方式。可以用</a:t>
            </a:r>
            <a:r>
              <a:rPr lang="zh-CN" altLang="en-US"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等词（等号</a:t>
            </a:r>
            <a:r>
              <a:rPr lang="en-US" altLang="zh-CN"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来表声明两个</a:t>
            </a:r>
            <a:r>
              <a:rPr lang="zh-CN" altLang="en-US" sz="2000" b="1" dirty="0">
                <a:solidFill>
                  <a:srgbClr val="0000FF"/>
                </a:solidFill>
                <a:latin typeface="Times New Roman" panose="02020603050405020304" pitchFamily="18" charset="0"/>
                <a:ea typeface="微软雅黑" panose="020B0503020204020204" charset="-122"/>
                <a:cs typeface="Times New Roman" panose="02020603050405020304" pitchFamily="18" charset="0"/>
                <a:sym typeface="+mn-ea"/>
              </a:rPr>
              <a:t>项</a:t>
            </a:r>
            <a:r>
              <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指代同一个对象。</a:t>
            </a:r>
            <a:endPar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endParaRPr>
          </a:p>
          <a:p>
            <a:pPr marL="742950" lvl="1" indent="-285750" algn="l" eaLnBrk="0" hangingPunct="0">
              <a:lnSpc>
                <a:spcPct val="150000"/>
              </a:lnSpc>
              <a:spcBef>
                <a:spcPct val="20000"/>
              </a:spcBef>
              <a:buClr>
                <a:srgbClr val="800080"/>
              </a:buClr>
              <a:buFontTx/>
              <a:buChar char="•"/>
            </a:pPr>
            <a:r>
              <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可用于表述关于一个给定函数的事实</a:t>
            </a:r>
            <a:endPar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endParaRPr>
          </a:p>
          <a:p>
            <a:pPr marL="1200150" lvl="2" indent="-285750" algn="l" eaLnBrk="0" hangingPunct="0">
              <a:lnSpc>
                <a:spcPct val="150000"/>
              </a:lnSpc>
              <a:spcBef>
                <a:spcPct val="20000"/>
              </a:spcBef>
              <a:buClr>
                <a:srgbClr val="800080"/>
              </a:buClr>
              <a:buFontTx/>
              <a:buChar char="•"/>
            </a:pP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father</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John</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Henry</a:t>
            </a:r>
            <a:endParaRPr lang="en-US" altLang="zh-CN" sz="2000" i="1" dirty="0">
              <a:latin typeface="Times New Roman" panose="02020603050405020304" pitchFamily="18" charset="0"/>
              <a:ea typeface="微软雅黑" panose="020B0503020204020204" charset="-122"/>
              <a:cs typeface="Times New Roman" panose="02020603050405020304" pitchFamily="18" charset="0"/>
            </a:endParaRPr>
          </a:p>
          <a:p>
            <a:pPr marL="742950" lvl="1" indent="-285750" algn="l" eaLnBrk="0" hangingPunct="0">
              <a:lnSpc>
                <a:spcPct val="150000"/>
              </a:lnSpc>
              <a:spcBef>
                <a:spcPct val="20000"/>
              </a:spcBef>
              <a:buClr>
                <a:srgbClr val="800080"/>
              </a:buClr>
              <a:buFontTx/>
              <a:buChar char="•"/>
            </a:pPr>
            <a:r>
              <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加</a:t>
            </a:r>
            <a:r>
              <a:rPr lang="zh-CN" altLang="en-US" sz="2000" dirty="0">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否定词</a:t>
            </a:r>
            <a:r>
              <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时表示两个项</a:t>
            </a:r>
            <a:r>
              <a:rPr lang="zh-CN" altLang="en-US" sz="2000" dirty="0">
                <a:solidFill>
                  <a:srgbClr val="0000FF"/>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不是</a:t>
            </a:r>
            <a:r>
              <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同一个对象。</a:t>
            </a:r>
            <a:endPar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marL="1200150" lvl="2" indent="-285750" algn="l" eaLnBrk="0" hangingPunct="0">
              <a:lnSpc>
                <a:spcPct val="150000"/>
              </a:lnSpc>
              <a:spcBef>
                <a:spcPct val="20000"/>
              </a:spcBef>
              <a:buClr>
                <a:srgbClr val="800080"/>
              </a:buClr>
              <a:buFontTx/>
              <a:buChar char="•"/>
            </a:pPr>
            <a:r>
              <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y</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Brother</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Richard</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Brother</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y</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Richard</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 </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y</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endPar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lvl="2" algn="l" eaLnBrk="0" hangingPunct="0">
              <a:lnSpc>
                <a:spcPct val="150000"/>
              </a:lnSpc>
              <a:spcBef>
                <a:spcPct val="20000"/>
              </a:spcBef>
              <a:buClr>
                <a:srgbClr val="800080"/>
              </a:buClr>
              <a:buFontTx/>
            </a:pPr>
            <a:r>
              <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表示</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Richard</a:t>
            </a:r>
            <a:r>
              <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至少有两个兄弟</a:t>
            </a:r>
            <a:endPar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
        <p:nvSpPr>
          <p:cNvPr id="4" name="文本框 3"/>
          <p:cNvSpPr txBox="1"/>
          <p:nvPr/>
        </p:nvSpPr>
        <p:spPr>
          <a:xfrm>
            <a:off x="5203190" y="4255770"/>
            <a:ext cx="2979420" cy="368300"/>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pPr algn="l"/>
            <a:r>
              <a:rPr lang="en-US" altLang="zh-CN" i="1">
                <a:latin typeface="Times New Roman" panose="02020603050405020304" pitchFamily="18" charset="0"/>
                <a:ea typeface="微软雅黑" panose="020B0503020204020204" charset="-122"/>
                <a:cs typeface="Times New Roman" panose="02020603050405020304" pitchFamily="18" charset="0"/>
              </a:rPr>
              <a:t>x≠y</a:t>
            </a: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可以</a:t>
            </a:r>
            <a:r>
              <a:rPr lang="zh-CN" altLang="en-US">
                <a:solidFill>
                  <a:schemeClr val="bg1"/>
                </a:solidFill>
                <a:latin typeface="Times New Roman" panose="02020603050405020304" pitchFamily="18" charset="0"/>
                <a:ea typeface="微软雅黑" panose="020B0503020204020204" charset="-122"/>
                <a:cs typeface="Times New Roman" panose="02020603050405020304" pitchFamily="18" charset="0"/>
              </a:rPr>
              <a:t>作为</a:t>
            </a:r>
            <a:r>
              <a:rPr lang="en-US" altLang="zh-CN">
                <a:solidFill>
                  <a:schemeClr val="bg1"/>
                </a:solidFill>
                <a:latin typeface="Times New Roman" panose="02020603050405020304" pitchFamily="18" charset="0"/>
                <a:ea typeface="微软雅黑" panose="020B0503020204020204" charset="-122"/>
                <a:cs typeface="Times New Roman" panose="02020603050405020304" pitchFamily="18" charset="0"/>
              </a:rPr>
              <a:t>  </a:t>
            </a:r>
            <a:r>
              <a:rPr lang="en-US" altLang="zh-CN" dirty="0">
                <a:solidFill>
                  <a:schemeClr val="bg1"/>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dirty="0">
                <a:solidFill>
                  <a:schemeClr val="bg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i="1" dirty="0">
                <a:solidFill>
                  <a:schemeClr val="bg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x</a:t>
            </a:r>
            <a:r>
              <a:rPr lang="en-US" altLang="zh-CN" dirty="0">
                <a:solidFill>
                  <a:schemeClr val="bg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i="1" dirty="0">
                <a:solidFill>
                  <a:schemeClr val="bg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y</a:t>
            </a:r>
            <a:r>
              <a:rPr lang="en-US" altLang="zh-CN" dirty="0">
                <a:solidFill>
                  <a:schemeClr val="bg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dirty="0">
                <a:solidFill>
                  <a:schemeClr val="bg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的缩写</a:t>
            </a:r>
            <a:endParaRPr lang="zh-CN" altLang="en-US" dirty="0">
              <a:solidFill>
                <a:schemeClr val="bg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9" name="矩形 7"/>
          <p:cNvSpPr/>
          <p:nvPr>
            <p:custDataLst>
              <p:tags r:id="rId1"/>
            </p:custDataLst>
          </p:nvPr>
        </p:nvSpPr>
        <p:spPr>
          <a:xfrm>
            <a:off x="0" y="0"/>
            <a:ext cx="9144000" cy="912114"/>
          </a:xfrm>
          <a:prstGeom prst="rect">
            <a:avLst/>
          </a:prstGeom>
          <a:solidFill>
            <a:schemeClr val="accent1"/>
          </a:solidFill>
          <a:ln w="12700">
            <a:miter lim="400000"/>
          </a:ln>
        </p:spPr>
        <p:txBody>
          <a:bodyPr lIns="0" tIns="0" rIns="0" bIns="0" anchor="ctr"/>
          <a:lstStyle/>
          <a:p>
            <a:pPr algn="ctr">
              <a:defRPr>
                <a:solidFill>
                  <a:srgbClr val="FFFFFF"/>
                </a:solidFill>
              </a:defRPr>
            </a:pPr>
            <a:endParaRPr sz="1015">
              <a:solidFill>
                <a:srgbClr val="FFFFFF"/>
              </a:solidFill>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altLang="en-US" sz="2900" dirty="0">
                <a:solidFill>
                  <a:schemeClr val="lt1"/>
                </a:solidFill>
                <a:sym typeface="+mn-ea"/>
              </a:rPr>
              <a:t>一阶逻辑的真值</a:t>
            </a:r>
            <a:endParaRPr lang="zh-CN" altLang="en-US" sz="2900" dirty="0">
              <a:solidFill>
                <a:schemeClr val="lt1"/>
              </a:solidFill>
              <a:sym typeface="+mn-ea"/>
            </a:endParaRPr>
          </a:p>
        </p:txBody>
      </p:sp>
      <p:sp>
        <p:nvSpPr>
          <p:cNvPr id="11" name="Title 6"/>
          <p:cNvSpPr txBox="1"/>
          <p:nvPr>
            <p:custDataLst>
              <p:tags r:id="rId3"/>
            </p:custDataLst>
          </p:nvPr>
        </p:nvSpPr>
        <p:spPr>
          <a:xfrm>
            <a:off x="254635" y="951865"/>
            <a:ext cx="8604885" cy="1442085"/>
          </a:xfrm>
          <a:prstGeom prst="rect">
            <a:avLst/>
          </a:prstGeom>
          <a:noFill/>
          <a:ln w="3175">
            <a:noFill/>
            <a:prstDash val="dash"/>
          </a:ln>
        </p:spPr>
        <p:txBody>
          <a:bodyPr wrap="square" lIns="47625" tIns="19050" rIns="47625" bIns="1905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语义必须把语句和模型结合起来以判定真值。为此，需要一个对分别被常量、谓词和函数符号指代的对象、关系和函数进行详细说明的解释。</a:t>
            </a:r>
            <a:endParaRPr lang="zh-CN" altLang="en-US"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语句的真值由一个模型和对句子符号的</a:t>
            </a:r>
            <a:r>
              <a:rPr lang="zh-CN" altLang="en-US" sz="1700"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rPr>
              <a:t>解释</a:t>
            </a:r>
            <a:r>
              <a:rPr lang="zh-CN" altLang="en-US"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来判定</a:t>
            </a:r>
            <a:endParaRPr lang="zh-CN" altLang="en-US"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zh-CN" altLang="en-US"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4"/>
          <a:stretch>
            <a:fillRect/>
          </a:stretch>
        </p:blipFill>
        <p:spPr>
          <a:xfrm>
            <a:off x="1311910" y="3617595"/>
            <a:ext cx="6197600" cy="2870200"/>
          </a:xfrm>
          <a:prstGeom prst="rect">
            <a:avLst/>
          </a:prstGeom>
        </p:spPr>
      </p:pic>
      <p:pic>
        <p:nvPicPr>
          <p:cNvPr id="5" name="图片 4"/>
          <p:cNvPicPr>
            <a:picLocks noChangeAspect="1"/>
          </p:cNvPicPr>
          <p:nvPr/>
        </p:nvPicPr>
        <p:blipFill>
          <a:blip r:embed="rId5"/>
          <a:stretch>
            <a:fillRect/>
          </a:stretch>
        </p:blipFill>
        <p:spPr>
          <a:xfrm>
            <a:off x="974725" y="2089150"/>
            <a:ext cx="6871335" cy="1383665"/>
          </a:xfrm>
          <a:prstGeom prst="rect">
            <a:avLst/>
          </a:prstGeom>
        </p:spPr>
      </p:pic>
    </p:spTree>
    <p:custDataLst>
      <p:tags r:id="rId6"/>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18160" y="295910"/>
            <a:ext cx="3048000" cy="460375"/>
          </a:xfrm>
          <a:prstGeom prst="rect">
            <a:avLst/>
          </a:prstGeom>
          <a:noFill/>
        </p:spPr>
        <p:txBody>
          <a:bodyPr wrap="square" rtlCol="0">
            <a:spAutoFit/>
          </a:bodyPr>
          <a:lstStyle/>
          <a:p>
            <a:pPr lvl="0" algn="l">
              <a:buClrTx/>
              <a:buSzTx/>
              <a:buFontTx/>
            </a:pPr>
            <a:r>
              <a:rPr lang="zh-CN" altLang="en-US" sz="2400" b="1">
                <a:solidFill>
                  <a:schemeClr val="bg1"/>
                </a:solidFill>
                <a:latin typeface="微软雅黑" panose="020B0503020204020204" charset="-122"/>
                <a:ea typeface="微软雅黑" panose="020B0503020204020204" charset="-122"/>
                <a:sym typeface="+mn-ea"/>
              </a:rPr>
              <a:t>谓词公式的解释</a:t>
            </a:r>
            <a:endParaRPr lang="en-US" altLang="zh-CN" sz="2400" b="1" dirty="0">
              <a:solidFill>
                <a:schemeClr val="accent6">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610235" y="1082675"/>
            <a:ext cx="8044815" cy="770890"/>
          </a:xfrm>
          <a:prstGeom prst="rect">
            <a:avLst/>
          </a:prstGeom>
          <a:noFill/>
        </p:spPr>
        <p:txBody>
          <a:bodyPr wrap="square" rtlCol="0" anchor="t">
            <a:spAutoFit/>
          </a:body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一阶逻辑的可能世界或模型包括通过对象集和解释,</a:t>
            </a:r>
            <a:r>
              <a:rPr lang="zh-CN" altLang="en-US" sz="17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rPr>
              <a:t>解释把常量符号映射到对象,谓词符号映射成对象之间的关系,函词映射成对象上的函数。</a:t>
            </a:r>
            <a:endParaRPr lang="zh-CN" altLang="en-US" sz="17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610235" y="1956435"/>
            <a:ext cx="8136890" cy="645160"/>
          </a:xfrm>
          <a:prstGeom prst="rect">
            <a:avLst/>
          </a:prstGeom>
        </p:spPr>
        <p:style>
          <a:lnRef idx="2">
            <a:schemeClr val="accent4"/>
          </a:lnRef>
          <a:fillRef idx="1">
            <a:schemeClr val="lt1"/>
          </a:fillRef>
          <a:effectRef idx="0">
            <a:schemeClr val="accent4"/>
          </a:effectRef>
          <a:fontRef idx="minor">
            <a:schemeClr val="dk1"/>
          </a:fontRef>
        </p:style>
        <p:txBody>
          <a:bodyPr wrap="square" rtlCol="0" anchor="t">
            <a:spAutoFit/>
          </a:bodyPr>
          <a:lstStyle/>
          <a:p>
            <a:r>
              <a:rPr lang="zh-CN" altLang="en-US"/>
              <a:t>谓词公式在个体域上的</a:t>
            </a:r>
            <a:r>
              <a:rPr lang="zh-CN" altLang="en-US" b="1">
                <a:solidFill>
                  <a:srgbClr val="0000FF"/>
                </a:solidFill>
              </a:rPr>
              <a:t>解释</a:t>
            </a:r>
            <a:r>
              <a:rPr lang="zh-CN" altLang="en-US"/>
              <a:t>∶个体域中的实体对谓词演算表</a:t>
            </a:r>
            <a:r>
              <a:rPr lang="zh-CN" altLang="en-US">
                <a:sym typeface="+mn-ea"/>
              </a:rPr>
              <a:t>达式的每个常量、</a:t>
            </a:r>
            <a:r>
              <a:rPr lang="zh-CN" altLang="en-US"/>
              <a:t>变量、谓词和函数符号的指派。</a:t>
            </a:r>
            <a:endParaRPr lang="zh-CN" altLang="en-US"/>
          </a:p>
        </p:txBody>
      </p:sp>
      <p:sp>
        <p:nvSpPr>
          <p:cNvPr id="9" name="文本框 8"/>
          <p:cNvSpPr txBox="1"/>
          <p:nvPr/>
        </p:nvSpPr>
        <p:spPr>
          <a:xfrm>
            <a:off x="610235" y="4881245"/>
            <a:ext cx="8044815" cy="431165"/>
          </a:xfrm>
          <a:prstGeom prst="rect">
            <a:avLst/>
          </a:prstGeom>
          <a:noFill/>
        </p:spPr>
        <p:txBody>
          <a:bodyPr wrap="square" rtlCol="0" anchor="t">
            <a:spAutoFit/>
          </a:body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对于每一个解释，谓词公式都可求出一个真值（</a:t>
            </a:r>
            <a:r>
              <a:rPr lang="en-US" altLang="zh-CN"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T </a:t>
            </a:r>
            <a:r>
              <a:rPr lang="zh-CN" altLang="en-US"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或</a:t>
            </a:r>
            <a:r>
              <a:rPr lang="en-US" altLang="zh-CN"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 F )</a:t>
            </a:r>
            <a:endParaRPr lang="en-US" altLang="zh-CN" sz="17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0" name="圆角矩形 9"/>
          <p:cNvSpPr/>
          <p:nvPr/>
        </p:nvSpPr>
        <p:spPr>
          <a:xfrm>
            <a:off x="2334260" y="2704465"/>
            <a:ext cx="4221480" cy="5441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t>Friends</a:t>
            </a:r>
            <a:r>
              <a:rPr lang="zh-CN" altLang="en-US" sz="2800"/>
              <a:t>（</a:t>
            </a:r>
            <a:r>
              <a:rPr lang="en-US" altLang="zh-CN" sz="2800"/>
              <a:t>George</a:t>
            </a:r>
            <a:r>
              <a:rPr lang="zh-CN" altLang="en-US" sz="2800"/>
              <a:t>，</a:t>
            </a:r>
            <a:r>
              <a:rPr lang="en-US" altLang="zh-CN" sz="2800"/>
              <a:t>x</a:t>
            </a:r>
            <a:r>
              <a:rPr lang="zh-CN" altLang="en-US" sz="2800"/>
              <a:t>）</a:t>
            </a:r>
            <a:endParaRPr lang="zh-CN" altLang="en-US" sz="2800"/>
          </a:p>
        </p:txBody>
      </p:sp>
      <p:sp>
        <p:nvSpPr>
          <p:cNvPr id="11" name="圆角矩形 10"/>
          <p:cNvSpPr/>
          <p:nvPr/>
        </p:nvSpPr>
        <p:spPr>
          <a:xfrm>
            <a:off x="2522220" y="3351530"/>
            <a:ext cx="4802505" cy="5441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t>Friends</a:t>
            </a:r>
            <a:r>
              <a:rPr lang="zh-CN" altLang="en-US" sz="2800"/>
              <a:t>（</a:t>
            </a:r>
            <a:r>
              <a:rPr lang="en-US" altLang="zh-CN" sz="2800"/>
              <a:t>George</a:t>
            </a:r>
            <a:r>
              <a:rPr lang="zh-CN" altLang="en-US" sz="2800"/>
              <a:t>，</a:t>
            </a:r>
            <a:r>
              <a:rPr lang="en-US" altLang="zh-CN" sz="2800"/>
              <a:t>Susie</a:t>
            </a:r>
            <a:r>
              <a:rPr lang="zh-CN" altLang="en-US" sz="2800"/>
              <a:t>）</a:t>
            </a:r>
            <a:endParaRPr lang="zh-CN" altLang="en-US" sz="2800"/>
          </a:p>
        </p:txBody>
      </p:sp>
      <p:sp>
        <p:nvSpPr>
          <p:cNvPr id="12" name="圆角矩形 11"/>
          <p:cNvSpPr/>
          <p:nvPr/>
        </p:nvSpPr>
        <p:spPr>
          <a:xfrm>
            <a:off x="2522220" y="3998595"/>
            <a:ext cx="4803140" cy="5441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t>Friends</a:t>
            </a:r>
            <a:r>
              <a:rPr lang="zh-CN" altLang="en-US" sz="2800"/>
              <a:t>（</a:t>
            </a:r>
            <a:r>
              <a:rPr lang="en-US" altLang="zh-CN" sz="2800"/>
              <a:t>George</a:t>
            </a:r>
            <a:r>
              <a:rPr lang="zh-CN" altLang="en-US" sz="2800"/>
              <a:t>，</a:t>
            </a:r>
            <a:r>
              <a:rPr lang="en-US" altLang="zh-CN" sz="2800"/>
              <a:t>Kate</a:t>
            </a:r>
            <a:r>
              <a:rPr lang="zh-CN" altLang="en-US" sz="2800"/>
              <a:t>）</a:t>
            </a:r>
            <a:endParaRPr lang="zh-CN" altLang="en-US" sz="2800"/>
          </a:p>
        </p:txBody>
      </p:sp>
      <p:sp>
        <p:nvSpPr>
          <p:cNvPr id="14" name="文本框 13"/>
          <p:cNvSpPr txBox="1"/>
          <p:nvPr/>
        </p:nvSpPr>
        <p:spPr>
          <a:xfrm>
            <a:off x="7442835" y="3439795"/>
            <a:ext cx="551180" cy="36830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CN" b="1"/>
              <a:t>T</a:t>
            </a:r>
            <a:endParaRPr lang="en-US" altLang="zh-CN" b="1"/>
          </a:p>
        </p:txBody>
      </p:sp>
      <p:sp>
        <p:nvSpPr>
          <p:cNvPr id="15" name="文本框 14"/>
          <p:cNvSpPr txBox="1"/>
          <p:nvPr/>
        </p:nvSpPr>
        <p:spPr>
          <a:xfrm>
            <a:off x="7442835" y="4086225"/>
            <a:ext cx="551180" cy="36830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CN" b="1"/>
              <a:t>F</a:t>
            </a:r>
            <a:endParaRPr lang="en-US" altLang="zh-CN" b="1"/>
          </a:p>
        </p:txBody>
      </p:sp>
      <p:sp>
        <p:nvSpPr>
          <p:cNvPr id="16" name="文本框 15"/>
          <p:cNvSpPr txBox="1"/>
          <p:nvPr/>
        </p:nvSpPr>
        <p:spPr>
          <a:xfrm>
            <a:off x="564515" y="5460365"/>
            <a:ext cx="8136255" cy="92202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t">
            <a:spAutoFit/>
          </a:bodyPr>
          <a:lstStyle/>
          <a:p>
            <a:pPr>
              <a:buNone/>
            </a:pPr>
            <a:r>
              <a:rPr lang="zh-CN" altLang="en-US" b="1" dirty="0">
                <a:sym typeface="+mn-ea"/>
              </a:rPr>
              <a:t>在谓词公式中常包含命题变元和客体变元，当客体变元由确定的客体所取代，命题变元用确定的命题所取代时，就称作对谓词公式的</a:t>
            </a:r>
            <a:r>
              <a:rPr lang="zh-CN" altLang="en-US" b="1" dirty="0">
                <a:solidFill>
                  <a:srgbClr val="0000FA"/>
                </a:solidFill>
                <a:sym typeface="+mn-ea"/>
              </a:rPr>
              <a:t>赋值</a:t>
            </a:r>
            <a:r>
              <a:rPr lang="zh-CN" altLang="en-US" b="1" dirty="0">
                <a:sym typeface="+mn-ea"/>
              </a:rPr>
              <a:t>。</a:t>
            </a:r>
            <a:endParaRPr lang="zh-CN" altLang="en-US" b="1" dirty="0"/>
          </a:p>
          <a:p>
            <a:pPr>
              <a:buNone/>
            </a:pPr>
            <a:r>
              <a:rPr lang="zh-CN" altLang="en-US" b="1" dirty="0">
                <a:sym typeface="+mn-ea"/>
              </a:rPr>
              <a:t>         一个谓词公式经过赋值以后，就成为具有确定真值</a:t>
            </a:r>
            <a:r>
              <a:rPr lang="en-US" altLang="zh-CN" b="1">
                <a:sym typeface="+mn-ea"/>
              </a:rPr>
              <a:t>T</a:t>
            </a:r>
            <a:r>
              <a:rPr lang="zh-CN" altLang="en-US" b="1" dirty="0">
                <a:sym typeface="+mn-ea"/>
              </a:rPr>
              <a:t>或</a:t>
            </a:r>
            <a:r>
              <a:rPr lang="en-US" altLang="zh-CN" b="1">
                <a:sym typeface="+mn-ea"/>
              </a:rPr>
              <a:t>F</a:t>
            </a:r>
            <a:r>
              <a:rPr lang="zh-CN" altLang="en-US" b="1" dirty="0">
                <a:sym typeface="+mn-ea"/>
              </a:rPr>
              <a:t>的</a:t>
            </a:r>
            <a:r>
              <a:rPr lang="zh-CN" altLang="en-US" b="1" dirty="0">
                <a:solidFill>
                  <a:srgbClr val="FF0000"/>
                </a:solidFill>
                <a:sym typeface="+mn-ea"/>
              </a:rPr>
              <a:t>命题</a:t>
            </a:r>
            <a:r>
              <a:rPr lang="zh-CN" altLang="en-US" b="1" dirty="0">
                <a:sym typeface="+mn-ea"/>
              </a:rPr>
              <a:t>。</a:t>
            </a:r>
            <a:endParaRPr lang="zh-CN" altLang="en-US" b="1" dirty="0">
              <a:sym typeface="+mn-ea"/>
            </a:endParaRPr>
          </a:p>
        </p:txBody>
      </p:sp>
      <p:sp>
        <p:nvSpPr>
          <p:cNvPr id="17" name="文本框 16"/>
          <p:cNvSpPr txBox="1"/>
          <p:nvPr/>
        </p:nvSpPr>
        <p:spPr>
          <a:xfrm>
            <a:off x="2943860" y="295910"/>
            <a:ext cx="1022350" cy="460375"/>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ctr">
              <a:buClrTx/>
              <a:buSzTx/>
              <a:buFontTx/>
            </a:pPr>
            <a:r>
              <a:rPr lang="zh-CN" altLang="en-US" sz="2400" b="1" dirty="0">
                <a:solidFill>
                  <a:srgbClr val="0000FF"/>
                </a:solidFill>
                <a:latin typeface="微软雅黑" panose="020B0503020204020204" charset="-122"/>
                <a:ea typeface="微软雅黑" panose="020B0503020204020204" charset="-122"/>
                <a:cs typeface="微软雅黑" panose="020B0503020204020204" charset="-122"/>
                <a:sym typeface="+mn-ea"/>
              </a:rPr>
              <a:t>赋值</a:t>
            </a:r>
            <a:endParaRPr lang="en-US" altLang="zh-CN" sz="2400" b="1" dirty="0">
              <a:solidFill>
                <a:srgbClr val="0000FF"/>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9" grpId="0"/>
      <p:bldP spid="9" grpId="1"/>
      <p:bldP spid="10" grpId="0" bldLvl="0" animBg="1"/>
      <p:bldP spid="10" grpId="1" animBg="1"/>
      <p:bldP spid="11" grpId="0" bldLvl="0" animBg="1"/>
      <p:bldP spid="11" grpId="1" animBg="1"/>
      <p:bldP spid="12" grpId="0" bldLvl="0" animBg="1"/>
      <p:bldP spid="12" grpId="1" animBg="1"/>
      <p:bldP spid="14" grpId="0" bldLvl="0" animBg="1"/>
      <p:bldP spid="14" grpId="1" animBg="1"/>
      <p:bldP spid="15" grpId="0" bldLvl="0" animBg="1"/>
      <p:bldP spid="15" grpId="1" animBg="1"/>
      <p:bldP spid="16" grpId="0" bldLvl="0" animBg="1"/>
      <p:bldP spid="16" grpId="1" animBg="1"/>
      <p:bldP spid="17" grpId="0" bldLvl="0" animBg="1"/>
      <p:bldP spid="17"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115" y="284480"/>
            <a:ext cx="3048000" cy="368300"/>
          </a:xfrm>
          <a:prstGeom prst="rect">
            <a:avLst/>
          </a:prstGeom>
          <a:noFill/>
        </p:spPr>
        <p:txBody>
          <a:bodyPr wrap="square" rtlCol="0">
            <a:spAutoFit/>
          </a:bodyPr>
          <a:lstStyle/>
          <a:p>
            <a:pPr>
              <a:buClrTx/>
              <a:buSzTx/>
              <a:buFontTx/>
            </a:pPr>
            <a:r>
              <a:rPr lang="zh-CN" altLang="en-US" sz="2400" b="1">
                <a:solidFill>
                  <a:schemeClr val="bg1"/>
                </a:solidFill>
                <a:latin typeface="微软雅黑" panose="020B0503020204020204" charset="-122"/>
                <a:ea typeface="微软雅黑" panose="020B0503020204020204" charset="-122"/>
                <a:sym typeface="+mn-ea"/>
              </a:rPr>
              <a:t>谓词逻辑真值表</a:t>
            </a:r>
            <a:endParaRPr lang="zh-CN" altLang="en-US" sz="2400" b="1">
              <a:solidFill>
                <a:schemeClr val="bg1"/>
              </a:solidFill>
              <a:latin typeface="微软雅黑" panose="020B0503020204020204" charset="-122"/>
              <a:ea typeface="微软雅黑" panose="020B0503020204020204" charset="-122"/>
              <a:sym typeface="+mn-ea"/>
            </a:endParaRPr>
          </a:p>
        </p:txBody>
      </p:sp>
      <p:pic>
        <p:nvPicPr>
          <p:cNvPr id="100" name="图片 99"/>
          <p:cNvPicPr/>
          <p:nvPr/>
        </p:nvPicPr>
        <p:blipFill>
          <a:blip r:embed="rId1"/>
          <a:stretch>
            <a:fillRect/>
          </a:stretch>
        </p:blipFill>
        <p:spPr>
          <a:xfrm>
            <a:off x="440690" y="1577975"/>
            <a:ext cx="8130540" cy="3043555"/>
          </a:xfrm>
          <a:prstGeom prst="rect">
            <a:avLst/>
          </a:prstGeom>
          <a:noFill/>
          <a:ln w="9525">
            <a:noFill/>
          </a:ln>
        </p:spPr>
      </p:pic>
    </p:spTree>
    <p:custDataLst>
      <p:tags r:id="rId2"/>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88620" y="145415"/>
            <a:ext cx="4572000" cy="537210"/>
          </a:xfrm>
          <a:prstGeom prst="rect">
            <a:avLst/>
          </a:prstGeom>
          <a:noFill/>
        </p:spPr>
        <p:txBody>
          <a:bodyPr wrap="square" rtlCol="0" anchor="t">
            <a:spAutoFit/>
          </a:bodyPr>
          <a:lstStyle/>
          <a:p>
            <a:pPr lvl="0" algn="l">
              <a:spcBef>
                <a:spcPts val="0"/>
              </a:spcBef>
              <a:spcAft>
                <a:spcPts val="0"/>
              </a:spcAft>
              <a:buClrTx/>
              <a:buSzTx/>
              <a:buFontTx/>
            </a:pPr>
            <a:r>
              <a:rPr lang="zh-CN" altLang="en-US" sz="2900" b="1" dirty="0">
                <a:solidFill>
                  <a:schemeClr val="lt1"/>
                </a:solidFill>
                <a:latin typeface="微软雅黑" panose="020B0503020204020204" charset="-122"/>
                <a:ea typeface="微软雅黑" panose="020B0503020204020204" charset="-122"/>
                <a:cs typeface="微软雅黑" panose="020B0503020204020204" charset="-122"/>
                <a:sym typeface="+mn-ea"/>
              </a:rPr>
              <a:t>谓词公式的性质</a:t>
            </a:r>
            <a:endParaRPr lang="zh-CN" altLang="en-US" sz="2900" b="1" dirty="0">
              <a:solidFill>
                <a:schemeClr val="lt1"/>
              </a:solidFill>
              <a:latin typeface="微软雅黑" panose="020B0503020204020204" charset="-122"/>
              <a:ea typeface="微软雅黑" panose="020B0503020204020204" charset="-122"/>
              <a:cs typeface="微软雅黑" panose="020B0503020204020204" charset="-122"/>
              <a:sym typeface="+mn-ea"/>
            </a:endParaRPr>
          </a:p>
        </p:txBody>
      </p:sp>
      <p:pic>
        <p:nvPicPr>
          <p:cNvPr id="4" name="图片 3"/>
          <p:cNvPicPr>
            <a:picLocks noChangeAspect="1"/>
          </p:cNvPicPr>
          <p:nvPr/>
        </p:nvPicPr>
        <p:blipFill>
          <a:blip r:embed="rId1"/>
          <a:stretch>
            <a:fillRect/>
          </a:stretch>
        </p:blipFill>
        <p:spPr>
          <a:xfrm>
            <a:off x="828675" y="1036955"/>
            <a:ext cx="7048500" cy="533400"/>
          </a:xfrm>
          <a:prstGeom prst="rect">
            <a:avLst/>
          </a:prstGeom>
        </p:spPr>
      </p:pic>
      <p:pic>
        <p:nvPicPr>
          <p:cNvPr id="5" name="图片 4"/>
          <p:cNvPicPr>
            <a:picLocks noChangeAspect="1"/>
          </p:cNvPicPr>
          <p:nvPr/>
        </p:nvPicPr>
        <p:blipFill>
          <a:blip r:embed="rId2"/>
          <a:srcRect t="4745"/>
          <a:stretch>
            <a:fillRect/>
          </a:stretch>
        </p:blipFill>
        <p:spPr>
          <a:xfrm>
            <a:off x="238125" y="1733550"/>
            <a:ext cx="8648700" cy="1542415"/>
          </a:xfrm>
          <a:prstGeom prst="rect">
            <a:avLst/>
          </a:prstGeom>
        </p:spPr>
      </p:pic>
      <p:pic>
        <p:nvPicPr>
          <p:cNvPr id="6" name="图片 5"/>
          <p:cNvPicPr>
            <a:picLocks noChangeAspect="1"/>
          </p:cNvPicPr>
          <p:nvPr/>
        </p:nvPicPr>
        <p:blipFill>
          <a:blip r:embed="rId3"/>
          <a:stretch>
            <a:fillRect/>
          </a:stretch>
        </p:blipFill>
        <p:spPr>
          <a:xfrm>
            <a:off x="238125" y="3449955"/>
            <a:ext cx="8658225" cy="1495425"/>
          </a:xfrm>
          <a:prstGeom prst="rect">
            <a:avLst/>
          </a:prstGeom>
        </p:spPr>
      </p:pic>
      <p:pic>
        <p:nvPicPr>
          <p:cNvPr id="7" name="图片 6"/>
          <p:cNvPicPr>
            <a:picLocks noChangeAspect="1"/>
          </p:cNvPicPr>
          <p:nvPr/>
        </p:nvPicPr>
        <p:blipFill>
          <a:blip r:embed="rId4"/>
          <a:stretch>
            <a:fillRect/>
          </a:stretch>
        </p:blipFill>
        <p:spPr>
          <a:xfrm>
            <a:off x="238125" y="5119370"/>
            <a:ext cx="8658225" cy="1524000"/>
          </a:xfrm>
          <a:prstGeom prst="rect">
            <a:avLst/>
          </a:prstGeom>
        </p:spPr>
      </p:pic>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598805" y="1038225"/>
                <a:ext cx="7945755" cy="1863090"/>
              </a:xfrm>
              <a:prstGeom prst="rect">
                <a:avLst/>
              </a:prstGeom>
              <a:noFill/>
            </p:spPr>
            <p:txBody>
              <a:bodyPr wrap="square" rtlCol="0" anchor="t">
                <a:spAutoFit/>
              </a:bodyPr>
              <a:lstStyle/>
              <a:p>
                <a:pPr>
                  <a:lnSpc>
                    <a:spcPct val="160000"/>
                  </a:lnSpc>
                </a:pPr>
                <a:r>
                  <a:rPr lang="zh-CN" altLang="en-US" sz="2400" b="1" dirty="0">
                    <a:solidFill>
                      <a:srgbClr val="000000"/>
                    </a:solidFill>
                    <a:cs typeface="+mn-ea"/>
                    <a:sym typeface="+mn-ea"/>
                  </a:rPr>
                  <a:t>给定任何两个谓词公式 </a:t>
                </a:r>
                <a:r>
                  <a:rPr lang="en-US" altLang="zh-CN" sz="2400" b="1">
                    <a:solidFill>
                      <a:srgbClr val="000000"/>
                    </a:solidFill>
                    <a:cs typeface="+mn-ea"/>
                    <a:sym typeface="+mn-ea"/>
                  </a:rPr>
                  <a:t>A </a:t>
                </a:r>
                <a:r>
                  <a:rPr lang="zh-CN" altLang="en-US" sz="2400" b="1" dirty="0">
                    <a:solidFill>
                      <a:srgbClr val="000000"/>
                    </a:solidFill>
                    <a:cs typeface="+mn-ea"/>
                    <a:sym typeface="+mn-ea"/>
                  </a:rPr>
                  <a:t>和 </a:t>
                </a:r>
                <a:r>
                  <a:rPr lang="en-US" altLang="zh-CN" sz="2400" b="1">
                    <a:solidFill>
                      <a:srgbClr val="000000"/>
                    </a:solidFill>
                    <a:cs typeface="+mn-ea"/>
                    <a:sym typeface="+mn-ea"/>
                  </a:rPr>
                  <a:t>B</a:t>
                </a:r>
                <a:r>
                  <a:rPr lang="zh-CN" altLang="en-US" sz="2400" b="1" dirty="0">
                    <a:solidFill>
                      <a:srgbClr val="000000"/>
                    </a:solidFill>
                    <a:cs typeface="+mn-ea"/>
                    <a:sym typeface="+mn-ea"/>
                  </a:rPr>
                  <a:t>，设它们有</a:t>
                </a:r>
                <a:r>
                  <a:rPr lang="zh-CN" altLang="en-US" sz="2400" b="1" dirty="0">
                    <a:solidFill>
                      <a:srgbClr val="FF0000"/>
                    </a:solidFill>
                    <a:cs typeface="+mn-ea"/>
                    <a:sym typeface="+mn-ea"/>
                  </a:rPr>
                  <a:t>共同的个体域</a:t>
                </a:r>
                <a:r>
                  <a:rPr lang="en-US" altLang="zh-CN" sz="2400" b="1">
                    <a:solidFill>
                      <a:srgbClr val="FF0000"/>
                    </a:solidFill>
                    <a:cs typeface="+mn-ea"/>
                    <a:sym typeface="+mn-ea"/>
                  </a:rPr>
                  <a:t>E</a:t>
                </a:r>
                <a:r>
                  <a:rPr lang="zh-CN" altLang="en-US" sz="2400" b="1" dirty="0">
                    <a:solidFill>
                      <a:srgbClr val="000000"/>
                    </a:solidFill>
                    <a:cs typeface="+mn-ea"/>
                    <a:sym typeface="+mn-ea"/>
                  </a:rPr>
                  <a:t>，若对</a:t>
                </a:r>
                <a:r>
                  <a:rPr lang="en-US" altLang="zh-CN" sz="2400" b="1">
                    <a:solidFill>
                      <a:srgbClr val="000000"/>
                    </a:solidFill>
                    <a:cs typeface="+mn-ea"/>
                    <a:sym typeface="+mn-ea"/>
                  </a:rPr>
                  <a:t>A</a:t>
                </a:r>
                <a:r>
                  <a:rPr lang="zh-CN" altLang="en-US" sz="2400" b="1" dirty="0">
                    <a:solidFill>
                      <a:srgbClr val="000000"/>
                    </a:solidFill>
                    <a:cs typeface="+mn-ea"/>
                    <a:sym typeface="+mn-ea"/>
                  </a:rPr>
                  <a:t>和</a:t>
                </a:r>
                <a:r>
                  <a:rPr lang="en-US" altLang="zh-CN" sz="2400" b="1">
                    <a:solidFill>
                      <a:srgbClr val="000000"/>
                    </a:solidFill>
                    <a:cs typeface="+mn-ea"/>
                    <a:sym typeface="+mn-ea"/>
                  </a:rPr>
                  <a:t>B</a:t>
                </a:r>
                <a:r>
                  <a:rPr lang="zh-CN" altLang="en-US" sz="2400" b="1" dirty="0">
                    <a:solidFill>
                      <a:srgbClr val="000000"/>
                    </a:solidFill>
                    <a:cs typeface="+mn-ea"/>
                    <a:sym typeface="+mn-ea"/>
                  </a:rPr>
                  <a:t>的任一组变元进行赋值，所得命题的真值相同，则称</a:t>
                </a:r>
                <a:r>
                  <a:rPr lang="zh-CN" altLang="en-US" sz="2400" b="1" dirty="0">
                    <a:solidFill>
                      <a:srgbClr val="0000FA"/>
                    </a:solidFill>
                    <a:cs typeface="+mn-ea"/>
                    <a:sym typeface="+mn-ea"/>
                  </a:rPr>
                  <a:t>谓词公式 </a:t>
                </a:r>
                <a:r>
                  <a:rPr lang="en-US" altLang="zh-CN" sz="2400" b="1">
                    <a:solidFill>
                      <a:srgbClr val="0000FA"/>
                    </a:solidFill>
                    <a:cs typeface="+mn-ea"/>
                    <a:sym typeface="+mn-ea"/>
                  </a:rPr>
                  <a:t>A </a:t>
                </a:r>
                <a:r>
                  <a:rPr lang="zh-CN" altLang="en-US" sz="2400" b="1" dirty="0">
                    <a:solidFill>
                      <a:srgbClr val="0000FA"/>
                    </a:solidFill>
                    <a:cs typeface="+mn-ea"/>
                    <a:sym typeface="+mn-ea"/>
                  </a:rPr>
                  <a:t>和 </a:t>
                </a:r>
                <a:r>
                  <a:rPr lang="en-US" altLang="zh-CN" sz="2400" b="1">
                    <a:solidFill>
                      <a:srgbClr val="0000FA"/>
                    </a:solidFill>
                    <a:cs typeface="+mn-ea"/>
                    <a:sym typeface="+mn-ea"/>
                  </a:rPr>
                  <a:t>B </a:t>
                </a:r>
                <a:r>
                  <a:rPr lang="zh-CN" altLang="en-US" sz="2400" b="1" dirty="0">
                    <a:solidFill>
                      <a:srgbClr val="0000FA"/>
                    </a:solidFill>
                    <a:cs typeface="+mn-ea"/>
                    <a:sym typeface="+mn-ea"/>
                  </a:rPr>
                  <a:t>在</a:t>
                </a:r>
                <a:r>
                  <a:rPr lang="en-US" altLang="zh-CN" sz="2400" b="1">
                    <a:solidFill>
                      <a:srgbClr val="0000FA"/>
                    </a:solidFill>
                    <a:cs typeface="+mn-ea"/>
                    <a:sym typeface="+mn-ea"/>
                  </a:rPr>
                  <a:t>E</a:t>
                </a:r>
                <a:r>
                  <a:rPr lang="zh-CN" altLang="en-US" sz="2400" b="1" dirty="0">
                    <a:solidFill>
                      <a:srgbClr val="0000FA"/>
                    </a:solidFill>
                    <a:cs typeface="+mn-ea"/>
                    <a:sym typeface="+mn-ea"/>
                  </a:rPr>
                  <a:t>上是等价的，</a:t>
                </a:r>
                <a:r>
                  <a:rPr lang="zh-CN" altLang="en-US" sz="2400" b="1" dirty="0">
                    <a:solidFill>
                      <a:srgbClr val="000000"/>
                    </a:solidFill>
                    <a:cs typeface="+mn-ea"/>
                    <a:sym typeface="+mn-ea"/>
                  </a:rPr>
                  <a:t>记作： </a:t>
                </a:r>
                <a:r>
                  <a:rPr lang="en-US" altLang="zh-CN" sz="2400" b="1">
                    <a:solidFill>
                      <a:srgbClr val="000000"/>
                    </a:solidFill>
                    <a:cs typeface="+mn-ea"/>
                    <a:sym typeface="+mn-ea"/>
                  </a:rPr>
                  <a:t>A</a:t>
                </a:r>
                <a14:m>
                  <m:oMath xmlns:m="http://schemas.openxmlformats.org/officeDocument/2006/math">
                    <m:r>
                      <a:rPr lang="en-US" altLang="zh-CN" sz="2400" b="1">
                        <a:solidFill>
                          <a:srgbClr val="000000"/>
                        </a:solidFill>
                        <a:latin typeface="Cambria Math" panose="02040503050406030204" charset="0"/>
                        <a:cs typeface="Cambria Math" panose="02040503050406030204" charset="0"/>
                        <a:sym typeface="+mn-ea"/>
                      </a:rPr>
                      <m:t>⇔</m:t>
                    </m:r>
                  </m:oMath>
                </a14:m>
                <a:r>
                  <a:rPr lang="en-US" altLang="zh-CN" sz="2400" b="1">
                    <a:solidFill>
                      <a:srgbClr val="000000"/>
                    </a:solidFill>
                    <a:cs typeface="+mn-ea"/>
                    <a:sym typeface="+mn-ea"/>
                  </a:rPr>
                  <a:t>B</a:t>
                </a:r>
                <a:endParaRPr lang="en-US" altLang="zh-CN" sz="2400" b="1">
                  <a:solidFill>
                    <a:srgbClr val="000000"/>
                  </a:solidFill>
                  <a:cs typeface="+mn-ea"/>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598805" y="1038225"/>
                <a:ext cx="7945755" cy="1863090"/>
              </a:xfrm>
              <a:prstGeom prst="rect">
                <a:avLst/>
              </a:prstGeom>
              <a:blipFill rotWithShape="1">
                <a:blip r:embed="rId1"/>
                <a:stretch>
                  <a:fillRect r="-895"/>
                </a:stretch>
              </a:blipFill>
            </p:spPr>
            <p:txBody>
              <a:bodyPr/>
              <a:lstStyle/>
              <a:p>
                <a:r>
                  <a:rPr lang="zh-CN" altLang="en-US">
                    <a:noFill/>
                  </a:rPr>
                  <a:t> </a:t>
                </a:r>
              </a:p>
            </p:txBody>
          </p:sp>
        </mc:Fallback>
      </mc:AlternateContent>
      <p:sp>
        <p:nvSpPr>
          <p:cNvPr id="2" name="文本框 1"/>
          <p:cNvSpPr txBox="1"/>
          <p:nvPr/>
        </p:nvSpPr>
        <p:spPr>
          <a:xfrm>
            <a:off x="379095" y="328295"/>
            <a:ext cx="4572000" cy="537210"/>
          </a:xfrm>
          <a:prstGeom prst="rect">
            <a:avLst/>
          </a:prstGeom>
          <a:noFill/>
        </p:spPr>
        <p:txBody>
          <a:bodyPr wrap="square" rtlCol="0" anchor="t">
            <a:spAutoFit/>
          </a:bodyPr>
          <a:lstStyle/>
          <a:p>
            <a:pPr lvl="0" algn="l">
              <a:spcBef>
                <a:spcPts val="0"/>
              </a:spcBef>
              <a:spcAft>
                <a:spcPts val="0"/>
              </a:spcAft>
              <a:buClrTx/>
              <a:buSzTx/>
              <a:buFontTx/>
            </a:pPr>
            <a:r>
              <a:rPr lang="zh-CN" altLang="en-US" sz="2900" b="1" dirty="0">
                <a:solidFill>
                  <a:schemeClr val="lt1"/>
                </a:solidFill>
                <a:latin typeface="微软雅黑" panose="020B0503020204020204" charset="-122"/>
                <a:ea typeface="微软雅黑" panose="020B0503020204020204" charset="-122"/>
                <a:cs typeface="微软雅黑" panose="020B0503020204020204" charset="-122"/>
                <a:sym typeface="+mn-ea"/>
              </a:rPr>
              <a:t>等价性</a:t>
            </a:r>
            <a:endParaRPr lang="zh-CN" altLang="en-US" sz="2900" b="1" dirty="0">
              <a:solidFill>
                <a:schemeClr val="lt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2483485" y="5019675"/>
            <a:ext cx="4572000" cy="553085"/>
          </a:xfrm>
          <a:prstGeom prst="rect">
            <a:avLst/>
          </a:prstGeom>
          <a:noFill/>
        </p:spPr>
        <p:txBody>
          <a:bodyPr wrap="square" rtlCol="0" anchor="t">
            <a:spAutoFit/>
          </a:bodyPr>
          <a:lstStyle/>
          <a:p>
            <a:pPr marL="1200150" lvl="2" indent="-285750" algn="l" eaLnBrk="0" hangingPunct="0">
              <a:lnSpc>
                <a:spcPct val="150000"/>
              </a:lnSpc>
              <a:spcBef>
                <a:spcPct val="20000"/>
              </a:spcBef>
              <a:buClr>
                <a:srgbClr val="800080"/>
              </a:buClr>
              <a:buFontTx/>
              <a:buChar char="•"/>
            </a:pP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father</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John</a:t>
            </a:r>
            <a:r>
              <a:rPr lang="en-US" altLang="zh-CN"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Henry</a:t>
            </a:r>
            <a:endParaRPr lang="en-US" altLang="zh-CN" sz="20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4" name="文本框 3"/>
          <p:cNvSpPr txBox="1"/>
          <p:nvPr/>
        </p:nvSpPr>
        <p:spPr>
          <a:xfrm>
            <a:off x="2192655" y="4042410"/>
            <a:ext cx="3048000" cy="368300"/>
          </a:xfrm>
          <a:prstGeom prst="rect">
            <a:avLst/>
          </a:prstGeom>
          <a:noFill/>
        </p:spPr>
        <p:txBody>
          <a:bodyPr wrap="square" rtlCol="0">
            <a:spAutoFit/>
          </a:bodyPr>
          <a:lstStyle/>
          <a:p>
            <a:r>
              <a:rPr lang="zh-CN" altLang="en-US"/>
              <a:t>注意跟</a:t>
            </a:r>
            <a:r>
              <a:rPr lang="en-US" altLang="zh-CN"/>
              <a:t>“</a:t>
            </a:r>
            <a:r>
              <a:rPr lang="zh-CN" altLang="en-US"/>
              <a:t>等词</a:t>
            </a:r>
            <a:r>
              <a:rPr lang="en-US" altLang="zh-CN"/>
              <a:t>” = </a:t>
            </a:r>
            <a:r>
              <a:rPr lang="zh-CN" altLang="en-US"/>
              <a:t>的区别</a:t>
            </a:r>
            <a:endParaRPr lang="zh-CN" altLang="en-US"/>
          </a:p>
        </p:txBody>
      </p:sp>
      <p:sp>
        <p:nvSpPr>
          <p:cNvPr id="6" name="文本框 5"/>
          <p:cNvSpPr txBox="1"/>
          <p:nvPr/>
        </p:nvSpPr>
        <p:spPr>
          <a:xfrm>
            <a:off x="2192655" y="4651375"/>
            <a:ext cx="6094730" cy="368300"/>
          </a:xfrm>
          <a:prstGeom prst="rect">
            <a:avLst/>
          </a:prstGeom>
          <a:noFill/>
        </p:spPr>
        <p:txBody>
          <a:bodyPr wrap="square" rtlCol="0" anchor="t">
            <a:spAutoFit/>
          </a:bodyPr>
          <a:lstStyle/>
          <a:p>
            <a:r>
              <a:rPr lang="zh-CN" altLang="en-US"/>
              <a:t>可以用等词（等号=）来表声明两个项指代同一个对象</a:t>
            </a:r>
            <a:endParaRPr lang="zh-CN" alt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6" grpId="0"/>
      <p:bldP spid="6"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spcBef>
                <a:spcPct val="0"/>
              </a:spcBef>
            </a:pPr>
            <a:fld id="{BB962C8B-B14F-4D97-AF65-F5344CB8AC3E}" type="datetime1">
              <a:rPr lang="zh-CN" altLang="en-US" dirty="0"/>
            </a:fld>
            <a:endParaRPr lang="zh-CN" altLang="en-US" dirty="0">
              <a:latin typeface="Arial" panose="020B0604020202020204" pitchFamily="34" charset="0"/>
            </a:endParaRPr>
          </a:p>
        </p:txBody>
      </p:sp>
      <p:sp>
        <p:nvSpPr>
          <p:cNvPr id="3" name="灯片编号占位符 2"/>
          <p:cNvSpPr>
            <a:spLocks noGrp="1"/>
          </p:cNvSpPr>
          <p:nvPr>
            <p:ph type="sldNum" sz="quarter" idx="12"/>
          </p:nvPr>
        </p:nvSpPr>
        <p:spPr/>
        <p:txBody>
          <a:bodyPr/>
          <a:lstStyle/>
          <a:p>
            <a:pPr lvl="0">
              <a:spcBef>
                <a:spcPct val="0"/>
              </a:spcBef>
            </a:pPr>
            <a:fld id="{9A0DB2DC-4C9A-4742-B13C-FB6460FD3503}" type="slidenum">
              <a:rPr lang="zh-CN" altLang="en-US" dirty="0"/>
            </a:fld>
            <a:endParaRPr lang="zh-CN" altLang="en-US" dirty="0">
              <a:latin typeface="Arial" panose="020B0604020202020204" pitchFamily="34" charset="0"/>
            </a:endParaRPr>
          </a:p>
        </p:txBody>
      </p:sp>
      <p:sp>
        <p:nvSpPr>
          <p:cNvPr id="135170" name="标题 135169"/>
          <p:cNvSpPr>
            <a:spLocks noGrp="1"/>
          </p:cNvSpPr>
          <p:nvPr>
            <p:ph type="title"/>
          </p:nvPr>
        </p:nvSpPr>
        <p:spPr/>
        <p:txBody>
          <a:bodyPr anchor="b" anchorCtr="0"/>
          <a:lstStyle/>
          <a:p>
            <a:r>
              <a:rPr lang="zh-CN" altLang="en-US" sz="3200" dirty="0">
                <a:solidFill>
                  <a:srgbClr val="003366"/>
                </a:solidFill>
                <a:latin typeface="宋体" panose="02010600030101010101" pitchFamily="2" charset="-122"/>
              </a:rPr>
              <a:t>常用逻辑等价式（</a:t>
            </a:r>
            <a:r>
              <a:rPr lang="en-US" altLang="zh-CN" sz="3200">
                <a:solidFill>
                  <a:srgbClr val="003366"/>
                </a:solidFill>
                <a:latin typeface="宋体" panose="02010600030101010101" pitchFamily="2" charset="-122"/>
              </a:rPr>
              <a:t>1</a:t>
            </a:r>
            <a:r>
              <a:rPr lang="zh-CN" altLang="en-US" sz="3200">
                <a:solidFill>
                  <a:srgbClr val="003366"/>
                </a:solidFill>
                <a:latin typeface="宋体" panose="02010600030101010101" pitchFamily="2" charset="-122"/>
              </a:rPr>
              <a:t>）</a:t>
            </a:r>
            <a:endParaRPr lang="zh-CN" altLang="en-US" sz="3200">
              <a:solidFill>
                <a:srgbClr val="003366"/>
              </a:solidFill>
              <a:latin typeface="宋体" panose="02010600030101010101" pitchFamily="2" charset="-122"/>
            </a:endParaRPr>
          </a:p>
        </p:txBody>
      </p:sp>
      <p:graphicFrame>
        <p:nvGraphicFramePr>
          <p:cNvPr id="135171" name="对象 135170"/>
          <p:cNvGraphicFramePr/>
          <p:nvPr/>
        </p:nvGraphicFramePr>
        <p:xfrm>
          <a:off x="0" y="1143000"/>
          <a:ext cx="9144000" cy="5334000"/>
        </p:xfrm>
        <a:graphic>
          <a:graphicData uri="http://schemas.openxmlformats.org/presentationml/2006/ole">
            <mc:AlternateContent xmlns:mc="http://schemas.openxmlformats.org/markup-compatibility/2006">
              <mc:Choice xmlns:v="urn:schemas-microsoft-com:vml" Requires="v">
                <p:oleObj spid="_x0000_s4111" name="" r:id="rId1" imgW="11031855" imgH="5614035" progId="Photoshop.Image.6">
                  <p:embed/>
                </p:oleObj>
              </mc:Choice>
              <mc:Fallback>
                <p:oleObj name="" r:id="rId1" imgW="11031855" imgH="5614035" progId="Photoshop.Image.6">
                  <p:embed/>
                  <p:pic>
                    <p:nvPicPr>
                      <p:cNvPr id="0" name="图片 3111"/>
                      <p:cNvPicPr/>
                      <p:nvPr/>
                    </p:nvPicPr>
                    <p:blipFill>
                      <a:blip r:embed="rId2"/>
                      <a:stretch>
                        <a:fillRect/>
                      </a:stretch>
                    </p:blipFill>
                    <p:spPr>
                      <a:xfrm>
                        <a:off x="0" y="1143000"/>
                        <a:ext cx="9144000" cy="5334000"/>
                      </a:xfrm>
                      <a:prstGeom prst="rect">
                        <a:avLst/>
                      </a:prstGeom>
                      <a:noFill/>
                      <a:ln w="38100">
                        <a:noFill/>
                        <a:miter/>
                      </a:ln>
                    </p:spPr>
                  </p:pic>
                </p:oleObj>
              </mc:Fallback>
            </mc:AlternateContent>
          </a:graphicData>
        </a:graphic>
      </p:graphicFrame>
      <p:sp>
        <p:nvSpPr>
          <p:cNvPr id="135172" name="矩形 135171"/>
          <p:cNvSpPr/>
          <p:nvPr/>
        </p:nvSpPr>
        <p:spPr>
          <a:xfrm>
            <a:off x="685800" y="1295400"/>
            <a:ext cx="12192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5173" name="矩形 135172"/>
          <p:cNvSpPr/>
          <p:nvPr/>
        </p:nvSpPr>
        <p:spPr>
          <a:xfrm>
            <a:off x="762000" y="3657600"/>
            <a:ext cx="23622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5174" name="矩形 135173"/>
          <p:cNvSpPr/>
          <p:nvPr/>
        </p:nvSpPr>
        <p:spPr>
          <a:xfrm>
            <a:off x="762000" y="4114800"/>
            <a:ext cx="23622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5175" name="矩形 135174"/>
          <p:cNvSpPr/>
          <p:nvPr/>
        </p:nvSpPr>
        <p:spPr>
          <a:xfrm>
            <a:off x="762000" y="4572000"/>
            <a:ext cx="29718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5176" name="矩形 135175"/>
          <p:cNvSpPr/>
          <p:nvPr/>
        </p:nvSpPr>
        <p:spPr>
          <a:xfrm>
            <a:off x="762000" y="5029200"/>
            <a:ext cx="29718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51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1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51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5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spcBef>
                <a:spcPct val="0"/>
              </a:spcBef>
            </a:pPr>
            <a:fld id="{BB962C8B-B14F-4D97-AF65-F5344CB8AC3E}" type="datetime1">
              <a:rPr lang="zh-CN" altLang="en-US" dirty="0"/>
            </a:fld>
            <a:endParaRPr lang="zh-CN" altLang="en-US" dirty="0">
              <a:latin typeface="Arial" panose="020B0604020202020204" pitchFamily="34" charset="0"/>
            </a:endParaRPr>
          </a:p>
        </p:txBody>
      </p:sp>
      <p:sp>
        <p:nvSpPr>
          <p:cNvPr id="3" name="灯片编号占位符 2"/>
          <p:cNvSpPr>
            <a:spLocks noGrp="1"/>
          </p:cNvSpPr>
          <p:nvPr>
            <p:ph type="sldNum" sz="quarter" idx="12"/>
          </p:nvPr>
        </p:nvSpPr>
        <p:spPr/>
        <p:txBody>
          <a:bodyPr/>
          <a:lstStyle/>
          <a:p>
            <a:pPr lvl="0">
              <a:spcBef>
                <a:spcPct val="0"/>
              </a:spcBef>
            </a:pPr>
            <a:fld id="{9A0DB2DC-4C9A-4742-B13C-FB6460FD3503}" type="slidenum">
              <a:rPr lang="zh-CN" altLang="en-US" dirty="0"/>
            </a:fld>
            <a:endParaRPr lang="zh-CN" altLang="en-US" dirty="0">
              <a:latin typeface="Arial" panose="020B0604020202020204" pitchFamily="34" charset="0"/>
            </a:endParaRPr>
          </a:p>
        </p:txBody>
      </p:sp>
      <p:sp>
        <p:nvSpPr>
          <p:cNvPr id="136194" name="标题 136193"/>
          <p:cNvSpPr>
            <a:spLocks noGrp="1"/>
          </p:cNvSpPr>
          <p:nvPr>
            <p:ph type="title"/>
          </p:nvPr>
        </p:nvSpPr>
        <p:spPr/>
        <p:txBody>
          <a:bodyPr vert="horz" lIns="101600" tIns="38100" rIns="76200" bIns="38100" rtlCol="0" anchor="b" anchorCtr="0">
            <a:noAutofit/>
          </a:bodyPr>
          <a:lstStyle/>
          <a:p>
            <a:pPr lvl="0" algn="l">
              <a:buClrTx/>
              <a:buSzTx/>
              <a:buFontTx/>
            </a:pPr>
            <a:r>
              <a:rPr sz="3200">
                <a:solidFill>
                  <a:srgbClr val="003366"/>
                </a:solidFill>
                <a:latin typeface="宋体" panose="02010600030101010101" pitchFamily="2" charset="-122"/>
                <a:sym typeface="+mn-ea"/>
              </a:rPr>
              <a:t>常用逻辑等价式（2）</a:t>
            </a:r>
            <a:endParaRPr sz="3200">
              <a:solidFill>
                <a:srgbClr val="003366"/>
              </a:solidFill>
              <a:latin typeface="宋体" panose="02010600030101010101" pitchFamily="2" charset="-122"/>
              <a:sym typeface="+mn-ea"/>
            </a:endParaRPr>
          </a:p>
        </p:txBody>
      </p:sp>
      <p:graphicFrame>
        <p:nvGraphicFramePr>
          <p:cNvPr id="136195" name="对象 136194"/>
          <p:cNvGraphicFramePr/>
          <p:nvPr/>
        </p:nvGraphicFramePr>
        <p:xfrm>
          <a:off x="0" y="1273175"/>
          <a:ext cx="9144000" cy="5203825"/>
        </p:xfrm>
        <a:graphic>
          <a:graphicData uri="http://schemas.openxmlformats.org/presentationml/2006/ole">
            <mc:AlternateContent xmlns:mc="http://schemas.openxmlformats.org/markup-compatibility/2006">
              <mc:Choice xmlns:v="urn:schemas-microsoft-com:vml" Requires="v">
                <p:oleObj spid="_x0000_s5135" name="" r:id="rId1" imgW="11090910" imgH="5525770" progId="Photoshop.Image.6">
                  <p:embed/>
                </p:oleObj>
              </mc:Choice>
              <mc:Fallback>
                <p:oleObj name="" r:id="rId1" imgW="11090910" imgH="5525770" progId="Photoshop.Image.6">
                  <p:embed/>
                  <p:pic>
                    <p:nvPicPr>
                      <p:cNvPr id="0" name="图片 3087"/>
                      <p:cNvPicPr/>
                      <p:nvPr/>
                    </p:nvPicPr>
                    <p:blipFill>
                      <a:blip r:embed="rId2"/>
                      <a:stretch>
                        <a:fillRect/>
                      </a:stretch>
                    </p:blipFill>
                    <p:spPr>
                      <a:xfrm>
                        <a:off x="0" y="1273175"/>
                        <a:ext cx="9144000" cy="5203825"/>
                      </a:xfrm>
                      <a:prstGeom prst="rect">
                        <a:avLst/>
                      </a:prstGeom>
                      <a:noFill/>
                      <a:ln w="38100">
                        <a:noFill/>
                        <a:miter/>
                      </a:ln>
                    </p:spPr>
                  </p:pic>
                </p:oleObj>
              </mc:Fallback>
            </mc:AlternateContent>
          </a:graphicData>
        </a:graphic>
      </p:graphicFrame>
      <p:sp>
        <p:nvSpPr>
          <p:cNvPr id="136196" name="矩形 136195"/>
          <p:cNvSpPr/>
          <p:nvPr/>
        </p:nvSpPr>
        <p:spPr>
          <a:xfrm>
            <a:off x="762000" y="1295400"/>
            <a:ext cx="23622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6197" name="矩形 136196"/>
          <p:cNvSpPr/>
          <p:nvPr/>
        </p:nvSpPr>
        <p:spPr>
          <a:xfrm>
            <a:off x="762000" y="1752600"/>
            <a:ext cx="23622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6198" name="矩形 136197"/>
          <p:cNvSpPr/>
          <p:nvPr/>
        </p:nvSpPr>
        <p:spPr>
          <a:xfrm>
            <a:off x="762000" y="2209800"/>
            <a:ext cx="16002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6199" name="矩形 136198"/>
          <p:cNvSpPr/>
          <p:nvPr/>
        </p:nvSpPr>
        <p:spPr>
          <a:xfrm>
            <a:off x="762000" y="2667000"/>
            <a:ext cx="24384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19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619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619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6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spcBef>
                <a:spcPct val="0"/>
              </a:spcBef>
            </a:pPr>
            <a:fld id="{BB962C8B-B14F-4D97-AF65-F5344CB8AC3E}" type="datetime1">
              <a:rPr lang="zh-CN" altLang="en-US" dirty="0"/>
            </a:fld>
            <a:endParaRPr lang="zh-CN" altLang="en-US" dirty="0">
              <a:latin typeface="Arial" panose="020B0604020202020204" pitchFamily="34" charset="0"/>
            </a:endParaRPr>
          </a:p>
        </p:txBody>
      </p:sp>
      <p:sp>
        <p:nvSpPr>
          <p:cNvPr id="3" name="灯片编号占位符 2"/>
          <p:cNvSpPr>
            <a:spLocks noGrp="1"/>
          </p:cNvSpPr>
          <p:nvPr>
            <p:ph type="sldNum" sz="quarter" idx="12"/>
          </p:nvPr>
        </p:nvSpPr>
        <p:spPr/>
        <p:txBody>
          <a:bodyPr/>
          <a:lstStyle/>
          <a:p>
            <a:pPr lvl="0">
              <a:spcBef>
                <a:spcPct val="0"/>
              </a:spcBef>
            </a:pPr>
            <a:fld id="{9A0DB2DC-4C9A-4742-B13C-FB6460FD3503}" type="slidenum">
              <a:rPr lang="zh-CN" altLang="en-US" dirty="0"/>
            </a:fld>
            <a:endParaRPr lang="zh-CN" altLang="en-US" dirty="0">
              <a:latin typeface="Arial" panose="020B0604020202020204" pitchFamily="34" charset="0"/>
            </a:endParaRPr>
          </a:p>
        </p:txBody>
      </p:sp>
      <p:sp>
        <p:nvSpPr>
          <p:cNvPr id="137218" name="标题 137217"/>
          <p:cNvSpPr>
            <a:spLocks noGrp="1"/>
          </p:cNvSpPr>
          <p:nvPr>
            <p:ph type="title"/>
          </p:nvPr>
        </p:nvSpPr>
        <p:spPr/>
        <p:txBody>
          <a:bodyPr vert="horz" lIns="101600" tIns="38100" rIns="76200" bIns="38100" rtlCol="0" anchor="b" anchorCtr="0">
            <a:noAutofit/>
          </a:bodyPr>
          <a:lstStyle/>
          <a:p>
            <a:pPr lvl="0" algn="l">
              <a:buClrTx/>
              <a:buSzTx/>
              <a:buFontTx/>
            </a:pPr>
            <a:r>
              <a:rPr sz="3200">
                <a:solidFill>
                  <a:srgbClr val="003366"/>
                </a:solidFill>
                <a:latin typeface="宋体" panose="02010600030101010101" pitchFamily="2" charset="-122"/>
                <a:sym typeface="+mn-ea"/>
              </a:rPr>
              <a:t>常用逻辑等价式（3）</a:t>
            </a:r>
            <a:endParaRPr sz="3200">
              <a:solidFill>
                <a:srgbClr val="003366"/>
              </a:solidFill>
              <a:latin typeface="宋体" panose="02010600030101010101" pitchFamily="2" charset="-122"/>
              <a:sym typeface="+mn-ea"/>
            </a:endParaRPr>
          </a:p>
        </p:txBody>
      </p:sp>
      <p:graphicFrame>
        <p:nvGraphicFramePr>
          <p:cNvPr id="137219" name="对象 137218"/>
          <p:cNvGraphicFramePr/>
          <p:nvPr/>
        </p:nvGraphicFramePr>
        <p:xfrm>
          <a:off x="0" y="1143000"/>
          <a:ext cx="9144000" cy="5410200"/>
        </p:xfrm>
        <a:graphic>
          <a:graphicData uri="http://schemas.openxmlformats.org/presentationml/2006/ole">
            <mc:AlternateContent xmlns:mc="http://schemas.openxmlformats.org/markup-compatibility/2006">
              <mc:Choice xmlns:v="urn:schemas-microsoft-com:vml" Requires="v">
                <p:oleObj spid="_x0000_s6159" name="" r:id="rId1" imgW="11061065" imgH="5113020" progId="Photoshop.Image.6">
                  <p:embed/>
                </p:oleObj>
              </mc:Choice>
              <mc:Fallback>
                <p:oleObj name="" r:id="rId1" imgW="11061065" imgH="5113020" progId="Photoshop.Image.6">
                  <p:embed/>
                  <p:pic>
                    <p:nvPicPr>
                      <p:cNvPr id="0" name="图片 3088"/>
                      <p:cNvPicPr/>
                      <p:nvPr/>
                    </p:nvPicPr>
                    <p:blipFill>
                      <a:blip r:embed="rId2"/>
                      <a:stretch>
                        <a:fillRect/>
                      </a:stretch>
                    </p:blipFill>
                    <p:spPr>
                      <a:xfrm>
                        <a:off x="0" y="1143000"/>
                        <a:ext cx="9144000" cy="5410200"/>
                      </a:xfrm>
                      <a:prstGeom prst="rect">
                        <a:avLst/>
                      </a:prstGeom>
                      <a:noFill/>
                      <a:ln w="38100">
                        <a:noFill/>
                        <a:miter/>
                      </a:ln>
                    </p:spPr>
                  </p:pic>
                </p:oleObj>
              </mc:Fallback>
            </mc:AlternateContent>
          </a:graphicData>
        </a:graphic>
      </p:graphicFrame>
      <p:sp>
        <p:nvSpPr>
          <p:cNvPr id="137220" name="矩形 137219"/>
          <p:cNvSpPr/>
          <p:nvPr/>
        </p:nvSpPr>
        <p:spPr>
          <a:xfrm>
            <a:off x="762000" y="3810000"/>
            <a:ext cx="37338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7221" name="矩形 137220"/>
          <p:cNvSpPr/>
          <p:nvPr/>
        </p:nvSpPr>
        <p:spPr>
          <a:xfrm>
            <a:off x="762000" y="3352800"/>
            <a:ext cx="37338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7222" name="矩形 137221"/>
          <p:cNvSpPr/>
          <p:nvPr/>
        </p:nvSpPr>
        <p:spPr>
          <a:xfrm>
            <a:off x="762000" y="4343400"/>
            <a:ext cx="22860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7223" name="矩形 137222"/>
          <p:cNvSpPr/>
          <p:nvPr/>
        </p:nvSpPr>
        <p:spPr>
          <a:xfrm>
            <a:off x="762000" y="4876800"/>
            <a:ext cx="22860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2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2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72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7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32740" y="303530"/>
            <a:ext cx="3764280" cy="537210"/>
          </a:xfrm>
          <a:prstGeom prst="rect">
            <a:avLst/>
          </a:prstGeom>
          <a:noFill/>
        </p:spPr>
        <p:txBody>
          <a:bodyPr wrap="square" rtlCol="0" anchor="t">
            <a:spAutoFit/>
          </a:bodyPr>
          <a:lstStyle/>
          <a:p>
            <a:pPr lvl="0" algn="l">
              <a:spcBef>
                <a:spcPts val="0"/>
              </a:spcBef>
              <a:spcAft>
                <a:spcPts val="0"/>
              </a:spcAft>
              <a:buClrTx/>
              <a:buSzTx/>
              <a:buFontTx/>
            </a:pPr>
            <a:r>
              <a:rPr lang="zh-CN" altLang="en-US" sz="2900" b="1" dirty="0">
                <a:solidFill>
                  <a:schemeClr val="lt1"/>
                </a:solidFill>
                <a:latin typeface="微软雅黑" panose="020B0503020204020204" charset="-122"/>
                <a:ea typeface="微软雅黑" panose="020B0503020204020204" charset="-122"/>
                <a:cs typeface="微软雅黑" panose="020B0503020204020204" charset="-122"/>
                <a:sym typeface="+mn-ea"/>
              </a:rPr>
              <a:t>谓词公式的永真蕴含</a:t>
            </a:r>
            <a:endParaRPr lang="zh-CN" altLang="en-US" sz="2900" b="1" dirty="0">
              <a:solidFill>
                <a:schemeClr val="lt1"/>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462280" y="1303655"/>
            <a:ext cx="8218805" cy="1568450"/>
          </a:xfrm>
          <a:prstGeom prst="rect">
            <a:avLst/>
          </a:prstGeom>
          <a:noFill/>
        </p:spPr>
        <p:txBody>
          <a:bodyPr wrap="square" rtlCol="0" anchor="t">
            <a:spAutoFit/>
          </a:bodyPr>
          <a:lstStyle/>
          <a:p>
            <a:r>
              <a:rPr lang="zh-CN" altLang="en-US" sz="2400" b="1">
                <a:latin typeface="微软雅黑" panose="020B0503020204020204" charset="-122"/>
                <a:ea typeface="微软雅黑" panose="020B0503020204020204" charset="-122"/>
                <a:cs typeface="微软雅黑" panose="020B0503020204020204" charset="-122"/>
              </a:rPr>
              <a:t>定义</a:t>
            </a:r>
            <a:endParaRPr lang="zh-CN" altLang="en-US" sz="2400" b="1">
              <a:latin typeface="微软雅黑" panose="020B0503020204020204" charset="-122"/>
              <a:ea typeface="微软雅黑" panose="020B0503020204020204" charset="-122"/>
              <a:cs typeface="微软雅黑" panose="020B0503020204020204" charset="-122"/>
            </a:endParaRPr>
          </a:p>
          <a:p>
            <a:pPr indent="457200"/>
            <a:r>
              <a:rPr lang="zh-CN" altLang="en-US" sz="2400" b="1">
                <a:latin typeface="微软雅黑" panose="020B0503020204020204" charset="-122"/>
                <a:ea typeface="微软雅黑" panose="020B0503020204020204" charset="-122"/>
                <a:cs typeface="微软雅黑" panose="020B0503020204020204" charset="-122"/>
              </a:rPr>
              <a:t>对于谓词公式</a:t>
            </a:r>
            <a:r>
              <a:rPr lang="en-US" altLang="zh-CN" sz="2400" b="1">
                <a:latin typeface="微软雅黑" panose="020B0503020204020204" charset="-122"/>
                <a:ea typeface="微软雅黑" panose="020B0503020204020204" charset="-122"/>
                <a:cs typeface="微软雅黑" panose="020B0503020204020204" charset="-122"/>
              </a:rPr>
              <a:t> </a:t>
            </a:r>
            <a:r>
              <a:rPr lang="zh-CN" altLang="en-US" sz="2400" b="1">
                <a:latin typeface="微软雅黑" panose="020B0503020204020204" charset="-122"/>
                <a:ea typeface="微软雅黑" panose="020B0503020204020204" charset="-122"/>
                <a:cs typeface="微软雅黑" panose="020B0503020204020204" charset="-122"/>
              </a:rPr>
              <a:t>P与</a:t>
            </a:r>
            <a:r>
              <a:rPr lang="en-US" altLang="zh-CN" sz="2400" b="1">
                <a:latin typeface="微软雅黑" panose="020B0503020204020204" charset="-122"/>
                <a:ea typeface="微软雅黑" panose="020B0503020204020204" charset="-122"/>
                <a:cs typeface="微软雅黑" panose="020B0503020204020204" charset="-122"/>
              </a:rPr>
              <a:t> </a:t>
            </a:r>
            <a:r>
              <a:rPr lang="zh-CN" altLang="en-US" sz="2400" b="1">
                <a:latin typeface="微软雅黑" panose="020B0503020204020204" charset="-122"/>
                <a:ea typeface="微软雅黑" panose="020B0503020204020204" charset="-122"/>
                <a:cs typeface="微软雅黑" panose="020B0503020204020204" charset="-122"/>
              </a:rPr>
              <a:t>Q，</a:t>
            </a:r>
            <a:endParaRPr lang="zh-CN" altLang="en-US" sz="2400" b="1">
              <a:latin typeface="微软雅黑" panose="020B0503020204020204" charset="-122"/>
              <a:ea typeface="微软雅黑" panose="020B0503020204020204" charset="-122"/>
              <a:cs typeface="微软雅黑" panose="020B0503020204020204" charset="-122"/>
            </a:endParaRPr>
          </a:p>
          <a:p>
            <a:pPr indent="457200"/>
            <a:r>
              <a:rPr lang="zh-CN" altLang="en-US" sz="2400" b="1">
                <a:latin typeface="微软雅黑" panose="020B0503020204020204" charset="-122"/>
                <a:ea typeface="微软雅黑" panose="020B0503020204020204" charset="-122"/>
                <a:cs typeface="微软雅黑" panose="020B0503020204020204" charset="-122"/>
              </a:rPr>
              <a:t>如果P→Q永真，则称公式P永真蕴含Q，</a:t>
            </a:r>
            <a:endParaRPr lang="zh-CN" altLang="en-US" sz="2400" b="1">
              <a:latin typeface="微软雅黑" panose="020B0503020204020204" charset="-122"/>
              <a:ea typeface="微软雅黑" panose="020B0503020204020204" charset="-122"/>
              <a:cs typeface="微软雅黑" panose="020B0503020204020204" charset="-122"/>
            </a:endParaRPr>
          </a:p>
          <a:p>
            <a:pPr indent="457200"/>
            <a:r>
              <a:rPr lang="zh-CN" altLang="en-US" sz="2400" b="1">
                <a:latin typeface="微软雅黑" panose="020B0503020204020204" charset="-122"/>
                <a:ea typeface="微软雅黑" panose="020B0503020204020204" charset="-122"/>
                <a:cs typeface="微软雅黑" panose="020B0503020204020204" charset="-122"/>
              </a:rPr>
              <a:t>且称Q为P的逻辑结论，称P为Q的前提，记为P⇒</a:t>
            </a:r>
            <a:r>
              <a:rPr lang="en-US" altLang="zh-CN" sz="2400" b="1">
                <a:latin typeface="微软雅黑" panose="020B0503020204020204" charset="-122"/>
                <a:ea typeface="微软雅黑" panose="020B0503020204020204" charset="-122"/>
                <a:cs typeface="微软雅黑" panose="020B0503020204020204" charset="-122"/>
              </a:rPr>
              <a:t>Q</a:t>
            </a:r>
            <a:r>
              <a:rPr lang="zh-CN" altLang="en-US" sz="2400" b="1">
                <a:latin typeface="微软雅黑" panose="020B0503020204020204" charset="-122"/>
                <a:ea typeface="微软雅黑" panose="020B0503020204020204" charset="-122"/>
                <a:cs typeface="微软雅黑" panose="020B0503020204020204" charset="-122"/>
              </a:rPr>
              <a:t>。</a:t>
            </a:r>
            <a:endParaRPr lang="zh-CN" altLang="en-US" sz="2400" b="1">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spcBef>
                <a:spcPct val="0"/>
              </a:spcBef>
            </a:pPr>
            <a:fld id="{BB962C8B-B14F-4D97-AF65-F5344CB8AC3E}" type="datetime1">
              <a:rPr lang="zh-CN" altLang="en-US" dirty="0"/>
            </a:fld>
            <a:endParaRPr lang="zh-CN" altLang="en-US" dirty="0">
              <a:latin typeface="Arial" panose="020B0604020202020204" pitchFamily="34" charset="0"/>
            </a:endParaRPr>
          </a:p>
        </p:txBody>
      </p:sp>
      <p:sp>
        <p:nvSpPr>
          <p:cNvPr id="3" name="灯片编号占位符 2"/>
          <p:cNvSpPr>
            <a:spLocks noGrp="1"/>
          </p:cNvSpPr>
          <p:nvPr>
            <p:ph type="sldNum" sz="quarter" idx="12"/>
          </p:nvPr>
        </p:nvSpPr>
        <p:spPr/>
        <p:txBody>
          <a:bodyPr/>
          <a:lstStyle/>
          <a:p>
            <a:pPr lvl="0">
              <a:spcBef>
                <a:spcPct val="0"/>
              </a:spcBef>
            </a:pPr>
            <a:fld id="{9A0DB2DC-4C9A-4742-B13C-FB6460FD3503}" type="slidenum">
              <a:rPr lang="zh-CN" altLang="en-US" dirty="0"/>
            </a:fld>
            <a:endParaRPr lang="zh-CN" altLang="en-US" dirty="0">
              <a:latin typeface="Arial" panose="020B0604020202020204" pitchFamily="34" charset="0"/>
            </a:endParaRPr>
          </a:p>
        </p:txBody>
      </p:sp>
      <p:sp>
        <p:nvSpPr>
          <p:cNvPr id="139266" name="标题 139265"/>
          <p:cNvSpPr>
            <a:spLocks noGrp="1"/>
          </p:cNvSpPr>
          <p:nvPr>
            <p:ph type="title"/>
          </p:nvPr>
        </p:nvSpPr>
        <p:spPr/>
        <p:txBody>
          <a:bodyPr vert="horz" lIns="101600" tIns="38100" rIns="76200" bIns="38100" rtlCol="0" anchor="b" anchorCtr="0">
            <a:noAutofit/>
          </a:bodyPr>
          <a:lstStyle/>
          <a:p>
            <a:pPr lvl="0" algn="l">
              <a:buClrTx/>
              <a:buSzTx/>
              <a:buFontTx/>
            </a:pPr>
            <a:r>
              <a:rPr sz="3200">
                <a:solidFill>
                  <a:srgbClr val="003366"/>
                </a:solidFill>
                <a:latin typeface="宋体" panose="02010600030101010101" pitchFamily="2" charset="-122"/>
                <a:sym typeface="+mn-ea"/>
              </a:rPr>
              <a:t>常用逻辑蕴含式（1)</a:t>
            </a:r>
            <a:endParaRPr sz="3200">
              <a:solidFill>
                <a:srgbClr val="003366"/>
              </a:solidFill>
              <a:latin typeface="宋体" panose="02010600030101010101" pitchFamily="2" charset="-122"/>
              <a:sym typeface="+mn-ea"/>
            </a:endParaRPr>
          </a:p>
        </p:txBody>
      </p:sp>
      <p:graphicFrame>
        <p:nvGraphicFramePr>
          <p:cNvPr id="139267" name="对象 139266"/>
          <p:cNvGraphicFramePr/>
          <p:nvPr/>
        </p:nvGraphicFramePr>
        <p:xfrm>
          <a:off x="0" y="1219200"/>
          <a:ext cx="9144000" cy="5334000"/>
        </p:xfrm>
        <a:graphic>
          <a:graphicData uri="http://schemas.openxmlformats.org/presentationml/2006/ole">
            <mc:AlternateContent xmlns:mc="http://schemas.openxmlformats.org/markup-compatibility/2006">
              <mc:Choice xmlns:v="urn:schemas-microsoft-com:vml" Requires="v">
                <p:oleObj spid="_x0000_s7183" name="" r:id="rId1" imgW="11395710" imgH="5506085" progId="Photoshop.Image.6">
                  <p:embed/>
                </p:oleObj>
              </mc:Choice>
              <mc:Fallback>
                <p:oleObj name="" r:id="rId1" imgW="11395710" imgH="5506085" progId="Photoshop.Image.6">
                  <p:embed/>
                  <p:pic>
                    <p:nvPicPr>
                      <p:cNvPr id="0" name="图片 3090"/>
                      <p:cNvPicPr/>
                      <p:nvPr/>
                    </p:nvPicPr>
                    <p:blipFill>
                      <a:blip r:embed="rId2"/>
                      <a:stretch>
                        <a:fillRect/>
                      </a:stretch>
                    </p:blipFill>
                    <p:spPr>
                      <a:xfrm>
                        <a:off x="0" y="1219200"/>
                        <a:ext cx="9144000" cy="5334000"/>
                      </a:xfrm>
                      <a:prstGeom prst="rect">
                        <a:avLst/>
                      </a:prstGeom>
                      <a:noFill/>
                      <a:ln w="38100">
                        <a:noFill/>
                        <a:miter/>
                      </a:ln>
                    </p:spPr>
                  </p:pic>
                </p:oleObj>
              </mc:Fallback>
            </mc:AlternateContent>
          </a:graphicData>
        </a:graphic>
      </p:graphicFrame>
      <p:sp>
        <p:nvSpPr>
          <p:cNvPr id="139268" name="矩形 139267"/>
          <p:cNvSpPr/>
          <p:nvPr/>
        </p:nvSpPr>
        <p:spPr>
          <a:xfrm>
            <a:off x="762000" y="2362200"/>
            <a:ext cx="15240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9269" name="矩形 139268"/>
          <p:cNvSpPr/>
          <p:nvPr/>
        </p:nvSpPr>
        <p:spPr>
          <a:xfrm>
            <a:off x="762000" y="2819400"/>
            <a:ext cx="19050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9270" name="矩形 139269"/>
          <p:cNvSpPr/>
          <p:nvPr/>
        </p:nvSpPr>
        <p:spPr>
          <a:xfrm>
            <a:off x="762000" y="3276600"/>
            <a:ext cx="16764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9271" name="矩形 139270"/>
          <p:cNvSpPr/>
          <p:nvPr/>
        </p:nvSpPr>
        <p:spPr>
          <a:xfrm>
            <a:off x="762000" y="4267200"/>
            <a:ext cx="22860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9272" name="矩形 139271"/>
          <p:cNvSpPr/>
          <p:nvPr/>
        </p:nvSpPr>
        <p:spPr>
          <a:xfrm>
            <a:off x="762000" y="3733800"/>
            <a:ext cx="22860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9273" name="矩形 139272"/>
          <p:cNvSpPr/>
          <p:nvPr/>
        </p:nvSpPr>
        <p:spPr>
          <a:xfrm>
            <a:off x="762000" y="4724400"/>
            <a:ext cx="29718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9274" name="矩形 139273"/>
          <p:cNvSpPr/>
          <p:nvPr/>
        </p:nvSpPr>
        <p:spPr>
          <a:xfrm>
            <a:off x="762000" y="5181600"/>
            <a:ext cx="29718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39275" name="矩形 139274"/>
          <p:cNvSpPr/>
          <p:nvPr/>
        </p:nvSpPr>
        <p:spPr>
          <a:xfrm>
            <a:off x="762000" y="6096000"/>
            <a:ext cx="15240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2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92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2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927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927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927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927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9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spcBef>
                <a:spcPct val="0"/>
              </a:spcBef>
            </a:pPr>
            <a:fld id="{BB962C8B-B14F-4D97-AF65-F5344CB8AC3E}" type="datetime1">
              <a:rPr lang="zh-CN" altLang="en-US" dirty="0"/>
            </a:fld>
            <a:endParaRPr lang="zh-CN" altLang="en-US" dirty="0">
              <a:latin typeface="Arial" panose="020B0604020202020204" pitchFamily="34" charset="0"/>
            </a:endParaRPr>
          </a:p>
        </p:txBody>
      </p:sp>
      <p:sp>
        <p:nvSpPr>
          <p:cNvPr id="3" name="灯片编号占位符 2"/>
          <p:cNvSpPr>
            <a:spLocks noGrp="1"/>
          </p:cNvSpPr>
          <p:nvPr>
            <p:ph type="sldNum" sz="quarter" idx="12"/>
          </p:nvPr>
        </p:nvSpPr>
        <p:spPr/>
        <p:txBody>
          <a:bodyPr/>
          <a:lstStyle/>
          <a:p>
            <a:pPr lvl="0">
              <a:spcBef>
                <a:spcPct val="0"/>
              </a:spcBef>
            </a:pPr>
            <a:fld id="{9A0DB2DC-4C9A-4742-B13C-FB6460FD3503}" type="slidenum">
              <a:rPr lang="zh-CN" altLang="en-US" dirty="0"/>
            </a:fld>
            <a:endParaRPr lang="zh-CN" altLang="en-US" dirty="0">
              <a:latin typeface="Arial" panose="020B0604020202020204" pitchFamily="34" charset="0"/>
            </a:endParaRPr>
          </a:p>
        </p:txBody>
      </p:sp>
      <p:sp>
        <p:nvSpPr>
          <p:cNvPr id="140290" name="标题 140289"/>
          <p:cNvSpPr>
            <a:spLocks noGrp="1"/>
          </p:cNvSpPr>
          <p:nvPr>
            <p:ph type="title"/>
          </p:nvPr>
        </p:nvSpPr>
        <p:spPr/>
        <p:txBody>
          <a:bodyPr vert="horz" lIns="101600" tIns="38100" rIns="76200" bIns="38100" rtlCol="0" anchor="b" anchorCtr="0">
            <a:noAutofit/>
          </a:bodyPr>
          <a:lstStyle/>
          <a:p>
            <a:pPr lvl="0" algn="l">
              <a:buClrTx/>
              <a:buSzTx/>
              <a:buFontTx/>
            </a:pPr>
            <a:r>
              <a:rPr sz="3200">
                <a:solidFill>
                  <a:srgbClr val="003366"/>
                </a:solidFill>
                <a:latin typeface="宋体" panose="02010600030101010101" pitchFamily="2" charset="-122"/>
                <a:sym typeface="+mn-ea"/>
              </a:rPr>
              <a:t>常用逻辑蕴含式(2)</a:t>
            </a:r>
            <a:endParaRPr sz="3200">
              <a:solidFill>
                <a:srgbClr val="003366"/>
              </a:solidFill>
              <a:latin typeface="宋体" panose="02010600030101010101" pitchFamily="2" charset="-122"/>
              <a:sym typeface="+mn-ea"/>
            </a:endParaRPr>
          </a:p>
        </p:txBody>
      </p:sp>
      <p:graphicFrame>
        <p:nvGraphicFramePr>
          <p:cNvPr id="140291" name="对象 140290"/>
          <p:cNvGraphicFramePr/>
          <p:nvPr/>
        </p:nvGraphicFramePr>
        <p:xfrm>
          <a:off x="0" y="1143000"/>
          <a:ext cx="9144000" cy="5715000"/>
        </p:xfrm>
        <a:graphic>
          <a:graphicData uri="http://schemas.openxmlformats.org/presentationml/2006/ole">
            <mc:AlternateContent xmlns:mc="http://schemas.openxmlformats.org/markup-compatibility/2006">
              <mc:Choice xmlns:v="urn:schemas-microsoft-com:vml" Requires="v">
                <p:oleObj spid="_x0000_s8207" name="" r:id="rId1" imgW="11513820" imgH="6696075" progId="Photoshop.Image.6">
                  <p:embed/>
                </p:oleObj>
              </mc:Choice>
              <mc:Fallback>
                <p:oleObj name="" r:id="rId1" imgW="11513820" imgH="6696075" progId="Photoshop.Image.6">
                  <p:embed/>
                  <p:pic>
                    <p:nvPicPr>
                      <p:cNvPr id="0" name="图片 3098"/>
                      <p:cNvPicPr/>
                      <p:nvPr/>
                    </p:nvPicPr>
                    <p:blipFill>
                      <a:blip r:embed="rId2"/>
                      <a:stretch>
                        <a:fillRect/>
                      </a:stretch>
                    </p:blipFill>
                    <p:spPr>
                      <a:xfrm>
                        <a:off x="0" y="1143000"/>
                        <a:ext cx="9144000" cy="5715000"/>
                      </a:xfrm>
                      <a:prstGeom prst="rect">
                        <a:avLst/>
                      </a:prstGeom>
                      <a:noFill/>
                      <a:ln w="38100">
                        <a:noFill/>
                        <a:miter/>
                      </a:ln>
                    </p:spPr>
                  </p:pic>
                </p:oleObj>
              </mc:Fallback>
            </mc:AlternateContent>
          </a:graphicData>
        </a:graphic>
      </p:graphicFrame>
      <p:sp>
        <p:nvSpPr>
          <p:cNvPr id="140292" name="矩形 140291"/>
          <p:cNvSpPr/>
          <p:nvPr/>
        </p:nvSpPr>
        <p:spPr>
          <a:xfrm>
            <a:off x="838200" y="1676400"/>
            <a:ext cx="15240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40293" name="矩形 140292"/>
          <p:cNvSpPr/>
          <p:nvPr/>
        </p:nvSpPr>
        <p:spPr>
          <a:xfrm>
            <a:off x="838200" y="3352800"/>
            <a:ext cx="15240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
        <p:nvSpPr>
          <p:cNvPr id="140294" name="矩形 140293"/>
          <p:cNvSpPr/>
          <p:nvPr/>
        </p:nvSpPr>
        <p:spPr>
          <a:xfrm>
            <a:off x="838200" y="2514600"/>
            <a:ext cx="1524000" cy="381000"/>
          </a:xfrm>
          <a:prstGeom prst="rect">
            <a:avLst/>
          </a:prstGeom>
          <a:noFill/>
          <a:ln w="25400" cap="flat" cmpd="sng">
            <a:solidFill>
              <a:schemeClr val="hlink"/>
            </a:solidFill>
            <a:prstDash val="solid"/>
            <a:miter/>
            <a:headEnd type="none" w="med" len="med"/>
            <a:tailEnd type="none" w="med" len="med"/>
          </a:ln>
        </p:spPr>
        <p:txBody>
          <a:bodyPr/>
          <a:lstStyle/>
          <a:p>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2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02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9" name="矩形 7"/>
          <p:cNvSpPr/>
          <p:nvPr>
            <p:custDataLst>
              <p:tags r:id="rId1"/>
            </p:custDataLst>
          </p:nvPr>
        </p:nvSpPr>
        <p:spPr>
          <a:xfrm>
            <a:off x="0" y="0"/>
            <a:ext cx="9144000" cy="912114"/>
          </a:xfrm>
          <a:prstGeom prst="rect">
            <a:avLst/>
          </a:prstGeom>
          <a:solidFill>
            <a:schemeClr val="accent1"/>
          </a:solidFill>
          <a:ln w="12700">
            <a:miter lim="400000"/>
          </a:ln>
        </p:spPr>
        <p:txBody>
          <a:bodyPr lIns="0" tIns="0" rIns="0" bIns="0" anchor="ctr"/>
          <a:lstStyle/>
          <a:p>
            <a:pPr algn="ctr">
              <a:defRPr>
                <a:solidFill>
                  <a:srgbClr val="FFFFFF"/>
                </a:solidFill>
              </a:defRPr>
            </a:pPr>
            <a:endParaRPr sz="1015">
              <a:solidFill>
                <a:srgbClr val="FFFFFF"/>
              </a:solidFill>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altLang="en-US" sz="2000" dirty="0">
                <a:solidFill>
                  <a:schemeClr val="lt1"/>
                </a:solidFill>
                <a:sym typeface="+mn-ea"/>
              </a:rPr>
              <a:t>小结：一阶逻辑</a:t>
            </a:r>
            <a:endParaRPr lang="zh-CN" altLang="en-US" sz="2000" dirty="0">
              <a:solidFill>
                <a:schemeClr val="lt1"/>
              </a:solidFill>
              <a:sym typeface="+mn-ea"/>
            </a:endParaRPr>
          </a:p>
        </p:txBody>
      </p:sp>
      <p:sp>
        <p:nvSpPr>
          <p:cNvPr id="4" name="文本框 3"/>
          <p:cNvSpPr txBox="1"/>
          <p:nvPr/>
        </p:nvSpPr>
        <p:spPr>
          <a:xfrm>
            <a:off x="342900" y="979170"/>
            <a:ext cx="4754880" cy="368300"/>
          </a:xfrm>
          <a:prstGeom prst="rect">
            <a:avLst/>
          </a:prstGeom>
          <a:noFill/>
        </p:spPr>
        <p:txBody>
          <a:bodyPr wrap="none" rtlCol="0">
            <a:spAutoFit/>
          </a:bodyPr>
          <a:lstStyle/>
          <a:p>
            <a:r>
              <a:rPr lang="zh-CN" altLang="en-US" b="1">
                <a:latin typeface="微软雅黑" panose="020B0503020204020204" charset="-122"/>
                <a:ea typeface="微软雅黑" panose="020B0503020204020204" charset="-122"/>
              </a:rPr>
              <a:t>一阶逻辑语言是围绕</a:t>
            </a:r>
            <a:r>
              <a:rPr lang="zh-CN" altLang="en-US" b="1">
                <a:solidFill>
                  <a:srgbClr val="0070C0"/>
                </a:solidFill>
                <a:latin typeface="微软雅黑" panose="020B0503020204020204" charset="-122"/>
                <a:ea typeface="微软雅黑" panose="020B0503020204020204" charset="-122"/>
              </a:rPr>
              <a:t>对象</a:t>
            </a:r>
            <a:r>
              <a:rPr lang="zh-CN" altLang="en-US" b="1">
                <a:latin typeface="微软雅黑" panose="020B0503020204020204" charset="-122"/>
                <a:ea typeface="微软雅黑" panose="020B0503020204020204" charset="-122"/>
              </a:rPr>
              <a:t>和</a:t>
            </a:r>
            <a:r>
              <a:rPr lang="zh-CN" altLang="en-US" b="1">
                <a:solidFill>
                  <a:srgbClr val="0070C0"/>
                </a:solidFill>
                <a:latin typeface="微软雅黑" panose="020B0503020204020204" charset="-122"/>
                <a:ea typeface="微软雅黑" panose="020B0503020204020204" charset="-122"/>
              </a:rPr>
              <a:t>关系</a:t>
            </a:r>
            <a:r>
              <a:rPr lang="zh-CN" altLang="en-US" b="1">
                <a:latin typeface="微软雅黑" panose="020B0503020204020204" charset="-122"/>
                <a:ea typeface="微软雅黑" panose="020B0503020204020204" charset="-122"/>
              </a:rPr>
              <a:t>建立起来的。</a:t>
            </a:r>
            <a:endParaRPr lang="zh-CN" altLang="en-US" b="1">
              <a:latin typeface="微软雅黑" panose="020B0503020204020204" charset="-122"/>
              <a:ea typeface="微软雅黑" panose="020B0503020204020204" charset="-122"/>
            </a:endParaRPr>
          </a:p>
        </p:txBody>
      </p:sp>
      <p:sp>
        <p:nvSpPr>
          <p:cNvPr id="6" name="文本框 5"/>
          <p:cNvSpPr txBox="1"/>
          <p:nvPr/>
        </p:nvSpPr>
        <p:spPr>
          <a:xfrm>
            <a:off x="697230" y="4351655"/>
            <a:ext cx="7625715" cy="1170305"/>
          </a:xfrm>
          <a:prstGeom prst="rect">
            <a:avLst/>
          </a:prstGeom>
          <a:noFill/>
        </p:spPr>
        <p:txBody>
          <a:bodyPr wrap="square" rtlCol="0" anchor="t">
            <a:spAutoFit/>
          </a:bodyPr>
          <a:lstStyle/>
          <a:p>
            <a:pPr marL="285750" indent="-285750">
              <a:lnSpc>
                <a:spcPct val="130000"/>
              </a:lnSpc>
              <a:buFont typeface="Arial" panose="020B0604020202020204" pitchFamily="34" charset="0"/>
              <a:buChar char="•"/>
            </a:pPr>
            <a:r>
              <a:rPr lang="zh-CN" altLang="en-US" sz="1800">
                <a:latin typeface="微软雅黑" panose="020B0503020204020204" charset="-122"/>
                <a:ea typeface="微软雅黑" panose="020B0503020204020204" charset="-122"/>
                <a:cs typeface="微软雅黑" panose="020B0503020204020204" charset="-122"/>
              </a:rPr>
              <a:t>命题逻辑：作为一种表示语言，足以阐述逻辑和基于知识的agent的基本概念。但一种表达能力很弱，无法以简洁的方式表示复杂环境的知识。</a:t>
            </a:r>
            <a:endParaRPr lang="zh-CN" altLang="en-US" sz="1800">
              <a:latin typeface="微软雅黑" panose="020B0503020204020204" charset="-122"/>
              <a:ea typeface="微软雅黑" panose="020B0503020204020204" charset="-122"/>
              <a:cs typeface="微软雅黑" panose="020B0503020204020204" charset="-122"/>
            </a:endParaRPr>
          </a:p>
          <a:p>
            <a:pPr marL="285750" indent="-285750">
              <a:lnSpc>
                <a:spcPct val="130000"/>
              </a:lnSpc>
              <a:buFont typeface="Arial" panose="020B0604020202020204" pitchFamily="34" charset="0"/>
              <a:buChar char="•"/>
            </a:pPr>
            <a:r>
              <a:rPr lang="zh-CN" altLang="en-US" sz="1800">
                <a:latin typeface="微软雅黑" panose="020B0503020204020204" charset="-122"/>
                <a:ea typeface="微软雅黑" panose="020B0503020204020204" charset="-122"/>
                <a:cs typeface="微软雅黑" panose="020B0503020204020204" charset="-122"/>
              </a:rPr>
              <a:t>一阶逻辑：具有丰富的表达能力，可以表示大量常识知识。</a:t>
            </a:r>
            <a:endParaRPr lang="zh-CN" altLang="en-US" sz="1800">
              <a:latin typeface="微软雅黑" panose="020B0503020204020204" charset="-122"/>
              <a:ea typeface="微软雅黑" panose="020B0503020204020204" charset="-122"/>
              <a:cs typeface="微软雅黑" panose="020B0503020204020204" charset="-122"/>
            </a:endParaRPr>
          </a:p>
        </p:txBody>
      </p:sp>
      <p:pic>
        <p:nvPicPr>
          <p:cNvPr id="7" name="内容占位符 3"/>
          <p:cNvPicPr>
            <a:picLocks noChangeAspect="1"/>
          </p:cNvPicPr>
          <p:nvPr>
            <p:custDataLst>
              <p:tags r:id="rId3"/>
            </p:custDataLst>
          </p:nvPr>
        </p:nvPicPr>
        <p:blipFill>
          <a:blip r:embed="rId4"/>
          <a:stretch>
            <a:fillRect/>
          </a:stretch>
        </p:blipFill>
        <p:spPr>
          <a:xfrm>
            <a:off x="342900" y="1414780"/>
            <a:ext cx="8345170" cy="2646045"/>
          </a:xfrm>
          <a:prstGeom prst="rect">
            <a:avLst/>
          </a:prstGeom>
        </p:spPr>
      </p:pic>
    </p:spTree>
    <p:custDataLst>
      <p:tags r:id="rId5"/>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p:nvPr/>
        </p:nvSpPr>
        <p:spPr>
          <a:xfrm>
            <a:off x="7239000" y="6629400"/>
            <a:ext cx="1905000" cy="228600"/>
          </a:xfrm>
          <a:prstGeom prst="rect">
            <a:avLst/>
          </a:prstGeom>
          <a:noFill/>
          <a:ln w="9525">
            <a:noFill/>
          </a:ln>
        </p:spPr>
        <p:txBody>
          <a:bodyPr/>
          <a:lstStyle/>
          <a:p>
            <a:pPr algn="r">
              <a:buClr>
                <a:srgbClr val="000000"/>
              </a:buClr>
              <a:buSzPct val="100000"/>
            </a:pPr>
            <a:r>
              <a:rPr lang="en-US" altLang="zh-CN" sz="1400" b="1">
                <a:solidFill>
                  <a:srgbClr val="003366"/>
                </a:solidFill>
                <a:latin typeface="Eras Bold ITC" panose="020B0907030504020204" pitchFamily="34" charset="0"/>
              </a:rPr>
              <a:t>4/44</a:t>
            </a:r>
            <a:endParaRPr lang="en-US" altLang="zh-CN" sz="1400" b="1">
              <a:solidFill>
                <a:srgbClr val="003366"/>
              </a:solidFill>
              <a:latin typeface="Eras Bold ITC" panose="020B0907030504020204" pitchFamily="34" charset="0"/>
            </a:endParaRPr>
          </a:p>
        </p:txBody>
      </p:sp>
      <p:sp>
        <p:nvSpPr>
          <p:cNvPr id="3" name="文本框 2"/>
          <p:cNvSpPr txBox="1"/>
          <p:nvPr/>
        </p:nvSpPr>
        <p:spPr>
          <a:xfrm>
            <a:off x="294005" y="2158365"/>
            <a:ext cx="4082415" cy="700405"/>
          </a:xfrm>
          <a:prstGeom prst="rect">
            <a:avLst/>
          </a:prstGeom>
          <a:noFill/>
        </p:spPr>
        <p:txBody>
          <a:bodyPr wrap="square" rtlCol="0" anchor="t">
            <a:spAutoFit/>
          </a:bodyPr>
          <a:lstStyle/>
          <a:p>
            <a:pPr marL="342900" indent="-342900" eaLnBrk="0" hangingPunct="0">
              <a:spcBef>
                <a:spcPct val="20000"/>
              </a:spcBef>
              <a:buSzPct val="100000"/>
              <a:buChar char="•"/>
            </a:pPr>
            <a:endParaRPr lang="zh-CN" altLang="en-US" sz="1800" dirty="0">
              <a:latin typeface="微软雅黑" panose="020B0503020204020204" charset="-122"/>
              <a:ea typeface="微软雅黑" panose="020B0503020204020204" charset="-122"/>
              <a:sym typeface="+mn-ea"/>
            </a:endParaRPr>
          </a:p>
          <a:p>
            <a:pPr marL="342900" indent="-342900" eaLnBrk="0" hangingPunct="0">
              <a:spcBef>
                <a:spcPct val="20000"/>
              </a:spcBef>
              <a:buSzPct val="100000"/>
              <a:buChar char="•"/>
            </a:pPr>
            <a:endParaRPr lang="zh-CN" altLang="en-US" sz="1800" dirty="0">
              <a:latin typeface="微软雅黑" panose="020B0503020204020204" charset="-122"/>
              <a:ea typeface="微软雅黑" panose="020B0503020204020204" charset="-122"/>
              <a:sym typeface="+mn-ea"/>
            </a:endParaRPr>
          </a:p>
        </p:txBody>
      </p:sp>
      <p:sp>
        <p:nvSpPr>
          <p:cNvPr id="134146" name="Rectangle 2"/>
          <p:cNvSpPr>
            <a:spLocks noGrp="1" noChangeArrowheads="1"/>
          </p:cNvSpPr>
          <p:nvPr/>
        </p:nvSpPr>
        <p:spPr>
          <a:xfrm>
            <a:off x="329565" y="37465"/>
            <a:ext cx="7772400" cy="732155"/>
          </a:xfrm>
          <a:prstGeom prst="rect">
            <a:avLst/>
          </a:prstGeom>
        </p:spPr>
        <p:txBody>
          <a:bodyPr vert="horz" wrap="square" lIns="91440" tIns="45720" rIns="91440" bIns="45720" numCol="1" rtlCol="0" anchor="ctr" anchorCtr="0" compatLnSpc="1">
            <a:normAutofit fontScale="97500"/>
          </a:bodyPr>
          <a:lst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a:lstStyle>
          <a:p>
            <a:pPr marL="0" marR="0" lvl="0" indent="0" algn="l" defTabSz="914400" rtl="0" eaLnBrk="1" fontAlgn="base" latinLnBrk="1" hangingPunct="1">
              <a:lnSpc>
                <a:spcPct val="100000"/>
              </a:lnSpc>
              <a:spcBef>
                <a:spcPct val="0"/>
              </a:spcBef>
              <a:spcAft>
                <a:spcPct val="0"/>
              </a:spcAft>
              <a:buClrTx/>
              <a:buSzTx/>
              <a:buFontTx/>
              <a:buNone/>
              <a:defRPr/>
            </a:pPr>
            <a:r>
              <a:rPr lang="zh-CN" sz="3100">
                <a:solidFill>
                  <a:schemeClr val="lt1"/>
                </a:solidFill>
                <a:sym typeface="+mn-ea"/>
              </a:rPr>
              <a:t>一阶谓词逻辑（First-order Logic，</a:t>
            </a:r>
            <a:r>
              <a:rPr lang="en-US" altLang="zh-CN" sz="3100">
                <a:solidFill>
                  <a:schemeClr val="lt1"/>
                </a:solidFill>
                <a:sym typeface="+mn-ea"/>
              </a:rPr>
              <a:t>FOL</a:t>
            </a:r>
            <a:r>
              <a:rPr lang="zh-CN" sz="3100">
                <a:solidFill>
                  <a:schemeClr val="lt1"/>
                </a:solidFill>
                <a:sym typeface="+mn-ea"/>
              </a:rPr>
              <a:t>）</a:t>
            </a:r>
            <a:endParaRPr kumimoji="1" lang="zh-CN" altLang="en-US" sz="4000" b="1" i="0" u="none" strike="noStrike" kern="1200" cap="none" spc="0" normalizeH="0" baseline="0" noProof="0" dirty="0">
              <a:ln>
                <a:noFill/>
              </a:ln>
              <a:solidFill>
                <a:schemeClr val="bg1"/>
              </a:solidFill>
              <a:effectLst/>
              <a:uLnTx/>
              <a:uFillTx/>
              <a:latin typeface="微软雅黑" panose="020B0503020204020204" charset="-122"/>
              <a:cs typeface="微软雅黑" panose="020B0503020204020204" charset="-122"/>
              <a:sym typeface="+mn-ea"/>
            </a:endParaRPr>
          </a:p>
        </p:txBody>
      </p:sp>
      <p:sp>
        <p:nvSpPr>
          <p:cNvPr id="2" name="文本框 1"/>
          <p:cNvSpPr txBox="1"/>
          <p:nvPr/>
        </p:nvSpPr>
        <p:spPr>
          <a:xfrm>
            <a:off x="1578610" y="2198370"/>
            <a:ext cx="5660390" cy="3002280"/>
          </a:xfrm>
          <a:prstGeom prst="rect">
            <a:avLst/>
          </a:prstGeom>
          <a:noFill/>
        </p:spPr>
        <p:txBody>
          <a:bodyPr wrap="square" rtlCol="0" anchor="t">
            <a:spAutoFit/>
          </a:bodyPr>
          <a:lstStyle/>
          <a:p>
            <a:pPr lvl="0" indent="457200" algn="l" fontAlgn="ctr">
              <a:lnSpc>
                <a:spcPct val="130000"/>
              </a:lnSpc>
              <a:spcBef>
                <a:spcPts val="1000"/>
              </a:spcBef>
              <a:spcAft>
                <a:spcPts val="0"/>
              </a:spcAft>
              <a:buSzPct val="100000"/>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7.2.1	谓词基本概念</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ClrTx/>
              <a:buSzTx/>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7.2.2	一阶谓词逻辑</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SzPct val="100000"/>
              <a:buFont typeface="Wingdings" panose="05000000000000000000" charset="0"/>
            </a:pPr>
            <a:r>
              <a:rPr lang="en-US" altLang="zh-CN" sz="24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rPr>
              <a:t>7.2.3	如何使用一阶逻辑语言</a:t>
            </a:r>
            <a:endParaRPr lang="en-US" altLang="zh-CN" sz="24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SzPct val="100000"/>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7.2.4	谓词知识表示</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SzPct val="100000"/>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7.2.5	谓词逻辑归结原理</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5905" y="108585"/>
            <a:ext cx="4572000" cy="537210"/>
          </a:xfrm>
          <a:prstGeom prst="rect">
            <a:avLst/>
          </a:prstGeom>
          <a:noFill/>
        </p:spPr>
        <p:txBody>
          <a:bodyPr wrap="square" rtlCol="0" anchor="t">
            <a:spAutoFit/>
          </a:bodyPr>
          <a:lstStyle/>
          <a:p>
            <a:pPr lvl="0" algn="l">
              <a:spcBef>
                <a:spcPts val="0"/>
              </a:spcBef>
              <a:spcAft>
                <a:spcPts val="0"/>
              </a:spcAft>
              <a:buClrTx/>
              <a:buSzTx/>
              <a:buFontTx/>
            </a:pPr>
            <a:r>
              <a:rPr lang="zh-CN" altLang="en-US" sz="2900" b="1" dirty="0">
                <a:solidFill>
                  <a:schemeClr val="lt1"/>
                </a:solidFill>
                <a:latin typeface="微软雅黑" panose="020B0503020204020204" charset="-122"/>
                <a:ea typeface="微软雅黑" panose="020B0503020204020204" charset="-122"/>
                <a:cs typeface="微软雅黑" panose="020B0503020204020204" charset="-122"/>
                <a:sym typeface="+mn-ea"/>
              </a:rPr>
              <a:t>翻译（符号化）</a:t>
            </a:r>
            <a:endParaRPr lang="zh-CN" altLang="en-US" sz="2900" b="1" dirty="0">
              <a:solidFill>
                <a:schemeClr val="lt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440055" y="1068070"/>
            <a:ext cx="8183880" cy="645160"/>
          </a:xfrm>
          <a:prstGeom prst="rect">
            <a:avLst/>
          </a:prstGeom>
          <a:noFill/>
        </p:spPr>
        <p:txBody>
          <a:bodyPr wrap="square" rtlCol="0" anchor="t">
            <a:spAutoFit/>
          </a:bodyPr>
          <a:lstStyle/>
          <a:p>
            <a:r>
              <a:rPr lang="zh-CN" altLang="en-US" b="1" dirty="0">
                <a:latin typeface="微软雅黑" panose="020B0503020204020204" charset="-122"/>
                <a:ea typeface="微软雅黑" panose="020B0503020204020204" charset="-122"/>
                <a:sym typeface="+mn-ea"/>
              </a:rPr>
              <a:t>把一个文字叙述的命题用谓词公式表示出来的过程称为谓词逻辑翻译或符号化</a:t>
            </a:r>
            <a:r>
              <a:rPr lang="en-US" altLang="zh-CN">
                <a:sym typeface="+mn-ea"/>
              </a:rPr>
              <a:t>,</a:t>
            </a:r>
            <a:r>
              <a:rPr lang="zh-CN" altLang="en-US" b="1" dirty="0">
                <a:solidFill>
                  <a:srgbClr val="0000FF"/>
                </a:solidFill>
                <a:sym typeface="+mn-ea"/>
              </a:rPr>
              <a:t>其一般步骤如下</a:t>
            </a:r>
            <a:r>
              <a:rPr lang="en-US" altLang="zh-CN" b="1">
                <a:solidFill>
                  <a:srgbClr val="0000FF"/>
                </a:solidFill>
                <a:sym typeface="+mn-ea"/>
              </a:rPr>
              <a:t>:</a:t>
            </a:r>
            <a:endParaRPr lang="en-US" altLang="zh-CN" b="1">
              <a:solidFill>
                <a:srgbClr val="0000FF"/>
              </a:solidFill>
              <a:sym typeface="+mn-ea"/>
            </a:endParaRPr>
          </a:p>
        </p:txBody>
      </p:sp>
      <p:sp>
        <p:nvSpPr>
          <p:cNvPr id="4" name="文本框 3"/>
          <p:cNvSpPr txBox="1"/>
          <p:nvPr/>
        </p:nvSpPr>
        <p:spPr>
          <a:xfrm>
            <a:off x="593725" y="4349115"/>
            <a:ext cx="7957185" cy="1508105"/>
          </a:xfrm>
          <a:prstGeom prst="rect">
            <a:avLst/>
          </a:prstGeom>
          <a:noFill/>
        </p:spPr>
        <p:txBody>
          <a:bodyPr wrap="square" rtlCol="0" anchor="t">
            <a:spAutoFit/>
          </a:bodyPr>
          <a:lstStyle/>
          <a:p>
            <a:pPr marL="342900" indent="-342900" algn="l">
              <a:spcBef>
                <a:spcPct val="20000"/>
              </a:spcBef>
              <a:buClr>
                <a:srgbClr val="00007D"/>
              </a:buClr>
              <a:buSzPct val="75000"/>
              <a:buFont typeface="Wingdings" panose="05000000000000000000" pitchFamily="2" charset="2"/>
              <a:buNone/>
            </a:pPr>
            <a:r>
              <a:rPr lang="zh-CN" altLang="en-US" sz="2000" b="1" dirty="0">
                <a:solidFill>
                  <a:srgbClr val="0000FA"/>
                </a:solidFill>
                <a:latin typeface="华文中宋" panose="02010600040101010101" pitchFamily="2" charset="-122"/>
                <a:ea typeface="华文中宋" panose="02010600040101010101" pitchFamily="2" charset="-122"/>
                <a:cs typeface="+mn-ea"/>
                <a:sym typeface="+mn-ea"/>
              </a:rPr>
              <a:t>例</a:t>
            </a:r>
            <a:r>
              <a:rPr lang="en-US" altLang="zh-CN" sz="2000" b="1" dirty="0">
                <a:solidFill>
                  <a:srgbClr val="0000FA"/>
                </a:solidFill>
                <a:latin typeface="华文中宋" panose="02010600040101010101" pitchFamily="2" charset="-122"/>
                <a:ea typeface="华文中宋" panose="02010600040101010101" pitchFamily="2" charset="-122"/>
                <a:cs typeface="+mn-ea"/>
                <a:sym typeface="+mn-ea"/>
              </a:rPr>
              <a:t> </a:t>
            </a:r>
            <a:r>
              <a:rPr lang="zh-CN" altLang="en-US" sz="2000" b="1" dirty="0">
                <a:solidFill>
                  <a:srgbClr val="0000FA"/>
                </a:solidFill>
                <a:latin typeface="华文中宋" panose="02010600040101010101" pitchFamily="2" charset="-122"/>
                <a:ea typeface="华文中宋" panose="02010600040101010101" pitchFamily="2" charset="-122"/>
                <a:cs typeface="+mn-ea"/>
                <a:sym typeface="+mn-ea"/>
              </a:rPr>
              <a:t>并非每个实数都是有理数。</a:t>
            </a:r>
            <a:r>
              <a:rPr lang="en-US" altLang="zh-CN" sz="2000" b="1" dirty="0">
                <a:solidFill>
                  <a:srgbClr val="0000FA"/>
                </a:solidFill>
                <a:latin typeface="华文中宋" panose="02010600040101010101" pitchFamily="2" charset="-122"/>
                <a:ea typeface="华文中宋" panose="02010600040101010101" pitchFamily="2" charset="-122"/>
                <a:cs typeface="+mn-ea"/>
                <a:sym typeface="+mn-ea"/>
              </a:rPr>
              <a:t>(R(x)</a:t>
            </a:r>
            <a:r>
              <a:rPr lang="zh-CN" altLang="en-US" sz="2000" b="1" dirty="0">
                <a:solidFill>
                  <a:srgbClr val="0000FA"/>
                </a:solidFill>
                <a:latin typeface="华文中宋" panose="02010600040101010101" pitchFamily="2" charset="-122"/>
                <a:ea typeface="华文中宋" panose="02010600040101010101" pitchFamily="2" charset="-122"/>
                <a:cs typeface="+mn-ea"/>
                <a:sym typeface="+mn-ea"/>
              </a:rPr>
              <a:t>，</a:t>
            </a:r>
            <a:r>
              <a:rPr lang="en-US" altLang="zh-CN" sz="2000" b="1" dirty="0">
                <a:solidFill>
                  <a:srgbClr val="0000FA"/>
                </a:solidFill>
                <a:latin typeface="华文中宋" panose="02010600040101010101" pitchFamily="2" charset="-122"/>
                <a:ea typeface="华文中宋" panose="02010600040101010101" pitchFamily="2" charset="-122"/>
                <a:cs typeface="+mn-ea"/>
                <a:sym typeface="+mn-ea"/>
              </a:rPr>
              <a:t>Q(x))</a:t>
            </a:r>
            <a:endParaRPr lang="en-US" altLang="zh-CN" sz="2000" b="1" dirty="0">
              <a:solidFill>
                <a:srgbClr val="0000FA"/>
              </a:solidFill>
              <a:latin typeface="华文中宋" panose="02010600040101010101" pitchFamily="2" charset="-122"/>
              <a:ea typeface="华文中宋" panose="02010600040101010101" pitchFamily="2" charset="-122"/>
            </a:endParaRPr>
          </a:p>
          <a:p>
            <a:pPr marL="342900" indent="-342900" algn="l">
              <a:spcBef>
                <a:spcPct val="20000"/>
              </a:spcBef>
              <a:buClr>
                <a:srgbClr val="00007D"/>
              </a:buClr>
              <a:buSzPct val="75000"/>
              <a:buFont typeface="Wingdings" panose="05000000000000000000" pitchFamily="2" charset="2"/>
              <a:buNone/>
            </a:pPr>
            <a:r>
              <a:rPr lang="zh-CN" altLang="en-US" sz="2000" b="1" dirty="0">
                <a:solidFill>
                  <a:srgbClr val="000000"/>
                </a:solidFill>
                <a:latin typeface="华文中宋" panose="02010600040101010101" pitchFamily="2" charset="-122"/>
                <a:ea typeface="华文中宋" panose="02010600040101010101" pitchFamily="2" charset="-122"/>
                <a:cs typeface="+mn-ea"/>
                <a:sym typeface="+mn-ea"/>
              </a:rPr>
              <a:t>解  </a:t>
            </a:r>
            <a:r>
              <a:rPr lang="zh-CN" altLang="en-US" sz="2000" dirty="0">
                <a:solidFill>
                  <a:srgbClr val="000000"/>
                </a:solidFill>
                <a:cs typeface="+mn-ea"/>
                <a:sym typeface="+mn-ea"/>
              </a:rPr>
              <a:t> </a:t>
            </a:r>
            <a:r>
              <a:rPr lang="en-US" altLang="zh-CN" sz="2000" b="1" dirty="0">
                <a:solidFill>
                  <a:srgbClr val="000000"/>
                </a:solidFill>
                <a:cs typeface="+mn-ea"/>
                <a:sym typeface="+mn-ea"/>
              </a:rPr>
              <a:t>¬</a:t>
            </a:r>
            <a:r>
              <a:rPr lang="zh-CN" altLang="en-US" sz="2000" b="1" dirty="0">
                <a:solidFill>
                  <a:srgbClr val="000000"/>
                </a:solidFill>
                <a:cs typeface="+mn-ea"/>
                <a:sym typeface="+mn-ea"/>
              </a:rPr>
              <a:t>（ </a:t>
            </a:r>
            <a:r>
              <a:rPr lang="en-US" altLang="zh-CN" sz="2000" b="1" dirty="0">
                <a:solidFill>
                  <a:srgbClr val="680014"/>
                </a:solidFill>
                <a:effectLst>
                  <a:outerShdw blurRad="38100" dist="38100" dir="2700000">
                    <a:srgbClr val="C0C0C0"/>
                  </a:outerShdw>
                </a:effectLst>
                <a:latin typeface="隶书" panose="02010509060101010101" pitchFamily="49" charset="-122"/>
                <a:ea typeface="隶书" panose="02010509060101010101" pitchFamily="49" charset="-122"/>
                <a:cs typeface="+mn-ea"/>
                <a:sym typeface="Symbol" panose="05050102010706020507" pitchFamily="18" charset="2"/>
              </a:rPr>
              <a:t></a:t>
            </a:r>
            <a:r>
              <a:rPr lang="en-US" altLang="zh-CN" sz="2000" b="1" dirty="0">
                <a:solidFill>
                  <a:srgbClr val="000000"/>
                </a:solidFill>
                <a:cs typeface="+mn-ea"/>
                <a:sym typeface="+mn-ea"/>
              </a:rPr>
              <a:t> x</a:t>
            </a:r>
            <a:r>
              <a:rPr lang="zh-CN" altLang="en-US" sz="2000" b="1" dirty="0">
                <a:solidFill>
                  <a:srgbClr val="000000"/>
                </a:solidFill>
                <a:cs typeface="+mn-ea"/>
                <a:sym typeface="+mn-ea"/>
              </a:rPr>
              <a:t>）</a:t>
            </a:r>
            <a:r>
              <a:rPr lang="en-US" altLang="zh-CN" sz="2000" b="1" dirty="0">
                <a:solidFill>
                  <a:srgbClr val="000000"/>
                </a:solidFill>
                <a:cs typeface="+mn-ea"/>
                <a:sym typeface="+mn-ea"/>
              </a:rPr>
              <a:t>(R(x)→Q(x))</a:t>
            </a:r>
            <a:r>
              <a:rPr lang="en-US" altLang="zh-CN" sz="2000" dirty="0">
                <a:solidFill>
                  <a:srgbClr val="000000"/>
                </a:solidFill>
                <a:cs typeface="+mn-ea"/>
                <a:sym typeface="+mn-ea"/>
              </a:rPr>
              <a:t> </a:t>
            </a:r>
            <a:endParaRPr lang="en-US" altLang="zh-CN" sz="2000" dirty="0">
              <a:solidFill>
                <a:srgbClr val="000000"/>
              </a:solidFill>
              <a:cs typeface="+mn-ea"/>
              <a:sym typeface="+mn-ea"/>
            </a:endParaRPr>
          </a:p>
          <a:p>
            <a:pPr marL="342900" indent="-342900" algn="l">
              <a:spcBef>
                <a:spcPct val="20000"/>
              </a:spcBef>
              <a:buClr>
                <a:srgbClr val="00007D"/>
              </a:buClr>
              <a:buSzPct val="75000"/>
              <a:buFont typeface="Wingdings" panose="05000000000000000000" pitchFamily="2" charset="2"/>
              <a:buNone/>
            </a:pPr>
            <a:r>
              <a:rPr lang="zh-CN" altLang="en-US" sz="2000" b="1" dirty="0">
                <a:solidFill>
                  <a:srgbClr val="0000FA"/>
                </a:solidFill>
                <a:latin typeface="华文中宋" panose="02010600040101010101" pitchFamily="2" charset="-122"/>
                <a:ea typeface="华文中宋" panose="02010600040101010101" pitchFamily="2" charset="-122"/>
                <a:cs typeface="+mn-ea"/>
                <a:sym typeface="+mn-ea"/>
              </a:rPr>
              <a:t>例</a:t>
            </a:r>
            <a:r>
              <a:rPr lang="en-US" altLang="zh-CN" sz="2000" b="1" dirty="0">
                <a:solidFill>
                  <a:srgbClr val="0000FA"/>
                </a:solidFill>
                <a:latin typeface="华文中宋" panose="02010600040101010101" pitchFamily="2" charset="-122"/>
                <a:ea typeface="华文中宋" panose="02010600040101010101" pitchFamily="2" charset="-122"/>
                <a:cs typeface="+mn-ea"/>
                <a:sym typeface="+mn-ea"/>
              </a:rPr>
              <a:t>  </a:t>
            </a:r>
            <a:r>
              <a:rPr lang="zh-CN" altLang="en-US" sz="2000" b="1" dirty="0">
                <a:solidFill>
                  <a:srgbClr val="0000FA"/>
                </a:solidFill>
                <a:latin typeface="华文中宋" panose="02010600040101010101" pitchFamily="2" charset="-122"/>
                <a:ea typeface="华文中宋" panose="02010600040101010101" pitchFamily="2" charset="-122"/>
                <a:cs typeface="+mn-ea"/>
                <a:sym typeface="+mn-ea"/>
              </a:rPr>
              <a:t>尽管有人聪明，但未必一切人都聪明。</a:t>
            </a:r>
            <a:r>
              <a:rPr lang="en-US" altLang="zh-CN" sz="2000" b="1" dirty="0">
                <a:solidFill>
                  <a:srgbClr val="000000"/>
                </a:solidFill>
                <a:latin typeface="华文中宋" panose="02010600040101010101" pitchFamily="2" charset="-122"/>
                <a:ea typeface="华文中宋" panose="02010600040101010101" pitchFamily="2" charset="-122"/>
                <a:cs typeface="+mn-ea"/>
                <a:sym typeface="+mn-ea"/>
              </a:rPr>
              <a:t>(P(x),M(x))</a:t>
            </a:r>
            <a:endParaRPr lang="en-US" altLang="zh-CN" sz="2000" b="1" dirty="0">
              <a:latin typeface="华文中宋" panose="02010600040101010101" pitchFamily="2" charset="-122"/>
              <a:ea typeface="华文中宋" panose="02010600040101010101" pitchFamily="2" charset="-122"/>
            </a:endParaRPr>
          </a:p>
          <a:p>
            <a:pPr marL="342900" indent="-342900" algn="l">
              <a:spcBef>
                <a:spcPct val="20000"/>
              </a:spcBef>
              <a:buClr>
                <a:srgbClr val="00007D"/>
              </a:buClr>
              <a:buSzPct val="75000"/>
              <a:buFont typeface="Wingdings" panose="05000000000000000000" pitchFamily="2" charset="2"/>
              <a:buNone/>
            </a:pPr>
            <a:r>
              <a:rPr lang="zh-CN" altLang="en-US" sz="2000" b="1" dirty="0">
                <a:solidFill>
                  <a:srgbClr val="000000"/>
                </a:solidFill>
                <a:latin typeface="华文中宋" panose="02010600040101010101" pitchFamily="2" charset="-122"/>
                <a:ea typeface="华文中宋" panose="02010600040101010101" pitchFamily="2" charset="-122"/>
                <a:cs typeface="+mn-ea"/>
                <a:sym typeface="+mn-ea"/>
              </a:rPr>
              <a:t>解 </a:t>
            </a:r>
            <a:r>
              <a:rPr lang="zh-CN" altLang="en-US" sz="2000" dirty="0">
                <a:solidFill>
                  <a:srgbClr val="000000"/>
                </a:solidFill>
                <a:cs typeface="+mn-ea"/>
                <a:sym typeface="+mn-ea"/>
              </a:rPr>
              <a:t> </a:t>
            </a:r>
            <a:r>
              <a:rPr lang="zh-CN" altLang="en-US" sz="2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000" b="1" dirty="0">
                <a:solidFill>
                  <a:srgbClr val="000000"/>
                </a:solidFill>
                <a:cs typeface="+mn-ea"/>
                <a:sym typeface="+mn-ea"/>
              </a:rPr>
              <a:t>x(M(x)∧P(x)) ∧ ¬</a:t>
            </a:r>
            <a:r>
              <a:rPr lang="zh-CN" altLang="en-US" sz="2000" b="1" dirty="0">
                <a:solidFill>
                  <a:srgbClr val="000000"/>
                </a:solidFill>
                <a:cs typeface="+mn-ea"/>
                <a:sym typeface="+mn-ea"/>
              </a:rPr>
              <a:t>（ </a:t>
            </a:r>
            <a:r>
              <a:rPr lang="en-US" altLang="zh-CN" sz="2000" b="1" dirty="0">
                <a:solidFill>
                  <a:srgbClr val="680014"/>
                </a:solidFill>
                <a:effectLst>
                  <a:outerShdw blurRad="38100" dist="38100" dir="2700000">
                    <a:srgbClr val="C0C0C0"/>
                  </a:outerShdw>
                </a:effectLst>
                <a:latin typeface="隶书" panose="02010509060101010101" pitchFamily="49" charset="-122"/>
                <a:ea typeface="隶书" panose="02010509060101010101" pitchFamily="49" charset="-122"/>
                <a:cs typeface="+mn-ea"/>
                <a:sym typeface="Symbol" panose="05050102010706020507" pitchFamily="18" charset="2"/>
              </a:rPr>
              <a:t></a:t>
            </a:r>
            <a:r>
              <a:rPr lang="en-US" altLang="zh-CN" sz="2000" b="1" dirty="0">
                <a:solidFill>
                  <a:srgbClr val="000000"/>
                </a:solidFill>
                <a:cs typeface="+mn-ea"/>
                <a:sym typeface="+mn-ea"/>
              </a:rPr>
              <a:t> x(M(x)→P(x)))</a:t>
            </a:r>
            <a:r>
              <a:rPr lang="zh-CN" altLang="en-US" sz="2000" b="1" dirty="0">
                <a:solidFill>
                  <a:srgbClr val="000000"/>
                </a:solidFill>
                <a:cs typeface="+mn-ea"/>
                <a:sym typeface="+mn-ea"/>
              </a:rPr>
              <a:t>。</a:t>
            </a:r>
            <a:r>
              <a:rPr lang="zh-CN" altLang="en-US" sz="2000" dirty="0">
                <a:solidFill>
                  <a:srgbClr val="000000"/>
                </a:solidFill>
                <a:cs typeface="+mn-ea"/>
                <a:sym typeface="+mn-ea"/>
              </a:rPr>
              <a:t> </a:t>
            </a:r>
            <a:endParaRPr lang="zh-CN" altLang="en-US" sz="2000" dirty="0">
              <a:solidFill>
                <a:srgbClr val="000000"/>
              </a:solidFill>
              <a:cs typeface="+mn-ea"/>
              <a:sym typeface="+mn-ea"/>
            </a:endParaRPr>
          </a:p>
        </p:txBody>
      </p:sp>
      <p:sp>
        <p:nvSpPr>
          <p:cNvPr id="5" name="文本框 4"/>
          <p:cNvSpPr txBox="1"/>
          <p:nvPr/>
        </p:nvSpPr>
        <p:spPr>
          <a:xfrm>
            <a:off x="429895" y="1756410"/>
            <a:ext cx="8121015" cy="2425065"/>
          </a:xfrm>
          <a:prstGeom prst="rect">
            <a:avLst/>
          </a:prstGeom>
          <a:noFill/>
        </p:spPr>
        <p:txBody>
          <a:bodyPr wrap="square" rtlCol="0" anchor="t">
            <a:spAutoFit/>
          </a:bodyPr>
          <a:lstStyle/>
          <a:p>
            <a:pPr marL="171450" indent="-171450" algn="l" fontAlgn="auto">
              <a:lnSpc>
                <a:spcPct val="150000"/>
              </a:lnSpc>
              <a:spcBef>
                <a:spcPts val="0"/>
              </a:spcBef>
              <a:spcAft>
                <a:spcPts val="1000"/>
              </a:spcAft>
              <a:buFont typeface="Arial" panose="020B0604020202020204" pitchFamily="34" charset="0"/>
              <a:buChar char="•"/>
            </a:pPr>
            <a:r>
              <a:rPr lang="en-US" altLang="zh-CN" sz="1800" spc="150" dirty="0">
                <a:solidFill>
                  <a:schemeClr val="tx1">
                    <a:lumMod val="75000"/>
                    <a:lumOff val="25000"/>
                  </a:schemeClr>
                </a:solidFill>
                <a:uFillTx/>
                <a:ea typeface="微软雅黑" panose="020B0503020204020204" charset="-122"/>
                <a:sym typeface="+mn-ea"/>
              </a:rPr>
              <a:t>① </a:t>
            </a:r>
            <a:r>
              <a:rPr lang="zh-CN" altLang="en-US" sz="1800" spc="150" dirty="0">
                <a:solidFill>
                  <a:schemeClr val="tx1">
                    <a:lumMod val="75000"/>
                    <a:lumOff val="25000"/>
                  </a:schemeClr>
                </a:solidFill>
                <a:uFillTx/>
                <a:ea typeface="微软雅黑" panose="020B0503020204020204" charset="-122"/>
                <a:sym typeface="+mn-ea"/>
              </a:rPr>
              <a:t>正确理解给定命题，必要时可适当加以改叙使其中的原子命题的关系更明显；</a:t>
            </a:r>
            <a:endParaRPr lang="zh-CN" altLang="en-US" sz="1800" dirty="0"/>
          </a:p>
          <a:p>
            <a:pPr marL="171450" indent="-171450" algn="l" fontAlgn="auto">
              <a:lnSpc>
                <a:spcPct val="150000"/>
              </a:lnSpc>
              <a:spcBef>
                <a:spcPts val="0"/>
              </a:spcBef>
              <a:spcAft>
                <a:spcPts val="1000"/>
              </a:spcAft>
              <a:buFont typeface="Arial" panose="020B0604020202020204" pitchFamily="34" charset="0"/>
              <a:buChar char="•"/>
            </a:pPr>
            <a:r>
              <a:rPr lang="en-US" altLang="zh-CN" sz="1800" spc="150" dirty="0">
                <a:solidFill>
                  <a:schemeClr val="tx1">
                    <a:lumMod val="75000"/>
                    <a:lumOff val="25000"/>
                  </a:schemeClr>
                </a:solidFill>
                <a:uFillTx/>
                <a:ea typeface="微软雅黑" panose="020B0503020204020204" charset="-122"/>
                <a:sym typeface="+mn-ea"/>
              </a:rPr>
              <a:t>② </a:t>
            </a:r>
            <a:r>
              <a:rPr lang="zh-CN" altLang="en-US" sz="1800" spc="150" dirty="0">
                <a:solidFill>
                  <a:schemeClr val="tx1">
                    <a:lumMod val="75000"/>
                    <a:lumOff val="25000"/>
                  </a:schemeClr>
                </a:solidFill>
                <a:uFillTx/>
                <a:ea typeface="微软雅黑" panose="020B0503020204020204" charset="-122"/>
                <a:sym typeface="+mn-ea"/>
              </a:rPr>
              <a:t>把</a:t>
            </a:r>
            <a:r>
              <a:rPr lang="zh-CN" altLang="en-US" sz="1800" b="1" spc="150" dirty="0">
                <a:solidFill>
                  <a:schemeClr val="tx1">
                    <a:lumMod val="75000"/>
                    <a:lumOff val="25000"/>
                  </a:schemeClr>
                </a:solidFill>
                <a:uFillTx/>
                <a:ea typeface="微软雅黑" panose="020B0503020204020204" charset="-122"/>
                <a:sym typeface="+mn-ea"/>
              </a:rPr>
              <a:t>每个原子命题分解成个体，谓词和量词</a:t>
            </a:r>
            <a:r>
              <a:rPr lang="zh-CN" altLang="en-US" sz="1800" spc="150" dirty="0">
                <a:solidFill>
                  <a:schemeClr val="tx1">
                    <a:lumMod val="75000"/>
                    <a:lumOff val="25000"/>
                  </a:schemeClr>
                </a:solidFill>
                <a:uFillTx/>
                <a:ea typeface="微软雅黑" panose="020B0503020204020204" charset="-122"/>
                <a:sym typeface="+mn-ea"/>
              </a:rPr>
              <a:t>，在全总个体域中讨论时要给出特性谓词；</a:t>
            </a:r>
            <a:endParaRPr lang="zh-CN" altLang="en-US" sz="1800" dirty="0"/>
          </a:p>
          <a:p>
            <a:pPr marL="171450" indent="-171450" algn="l" fontAlgn="auto">
              <a:lnSpc>
                <a:spcPct val="150000"/>
              </a:lnSpc>
              <a:spcBef>
                <a:spcPts val="0"/>
              </a:spcBef>
              <a:spcAft>
                <a:spcPts val="1000"/>
              </a:spcAft>
              <a:buFont typeface="Arial" panose="020B0604020202020204" pitchFamily="34" charset="0"/>
              <a:buChar char="•"/>
            </a:pPr>
            <a:r>
              <a:rPr lang="en-US" altLang="zh-CN" sz="1800" spc="150" dirty="0">
                <a:solidFill>
                  <a:schemeClr val="tx1">
                    <a:lumMod val="75000"/>
                    <a:lumOff val="25000"/>
                  </a:schemeClr>
                </a:solidFill>
                <a:uFillTx/>
                <a:ea typeface="微软雅黑" panose="020B0503020204020204" charset="-122"/>
                <a:sym typeface="+mn-ea"/>
              </a:rPr>
              <a:t>③ </a:t>
            </a:r>
            <a:r>
              <a:rPr lang="zh-CN" altLang="en-US" sz="1800" spc="150" dirty="0">
                <a:solidFill>
                  <a:schemeClr val="tx1">
                    <a:lumMod val="75000"/>
                    <a:lumOff val="25000"/>
                  </a:schemeClr>
                </a:solidFill>
                <a:uFillTx/>
                <a:ea typeface="微软雅黑" panose="020B0503020204020204" charset="-122"/>
                <a:sym typeface="+mn-ea"/>
              </a:rPr>
              <a:t>找出适当量词，注意</a:t>
            </a:r>
            <a:r>
              <a:rPr lang="en-US" altLang="zh-CN" sz="1800" b="1" spc="150" dirty="0">
                <a:solidFill>
                  <a:srgbClr val="C00000"/>
                </a:solidFill>
                <a:effectLst>
                  <a:outerShdw blurRad="38100" dist="38100" dir="2700000">
                    <a:srgbClr val="C0C0C0"/>
                  </a:outerShdw>
                </a:effectLst>
                <a:uFillTx/>
                <a:latin typeface="隶书" panose="02010509060101010101" pitchFamily="49" charset="-122"/>
                <a:ea typeface="隶书" panose="02010509060101010101" pitchFamily="49" charset="-122"/>
                <a:sym typeface="Symbol" panose="05050102010706020507" pitchFamily="18" charset="2"/>
              </a:rPr>
              <a:t></a:t>
            </a:r>
            <a:r>
              <a:rPr lang="zh-CN" altLang="en-US" sz="1800" b="1" spc="150" dirty="0">
                <a:solidFill>
                  <a:srgbClr val="C00000"/>
                </a:solidFill>
                <a:uFillTx/>
                <a:ea typeface="微软雅黑" panose="020B0503020204020204" charset="-122"/>
                <a:sym typeface="+mn-ea"/>
              </a:rPr>
              <a:t>后跟蕴涵式，</a:t>
            </a:r>
            <a:r>
              <a:rPr lang="zh-CN" altLang="en-US" sz="1800" b="1" spc="150" dirty="0">
                <a:solidFill>
                  <a:srgbClr val="C00000"/>
                </a:solidFill>
                <a:uFillTx/>
                <a:ea typeface="微软雅黑" panose="020B0503020204020204" charset="-122"/>
                <a:sym typeface="Symbol" panose="05050102010706020507" pitchFamily="18" charset="2"/>
              </a:rPr>
              <a:t></a:t>
            </a:r>
            <a:r>
              <a:rPr lang="zh-CN" altLang="en-US" sz="1800" b="1" spc="150" dirty="0">
                <a:solidFill>
                  <a:srgbClr val="C00000"/>
                </a:solidFill>
                <a:uFillTx/>
                <a:ea typeface="微软雅黑" panose="020B0503020204020204" charset="-122"/>
                <a:sym typeface="+mn-ea"/>
              </a:rPr>
              <a:t>后跟合取式</a:t>
            </a:r>
            <a:r>
              <a:rPr lang="zh-CN" altLang="en-US" sz="1800" spc="150" dirty="0">
                <a:solidFill>
                  <a:schemeClr val="tx1">
                    <a:lumMod val="75000"/>
                    <a:lumOff val="25000"/>
                  </a:schemeClr>
                </a:solidFill>
                <a:uFillTx/>
                <a:ea typeface="微软雅黑" panose="020B0503020204020204" charset="-122"/>
                <a:sym typeface="+mn-ea"/>
              </a:rPr>
              <a:t>。 </a:t>
            </a:r>
            <a:endParaRPr lang="zh-CN" altLang="en-US" sz="1800" spc="150" dirty="0">
              <a:solidFill>
                <a:schemeClr val="tx1">
                  <a:lumMod val="75000"/>
                  <a:lumOff val="25000"/>
                </a:schemeClr>
              </a:solidFill>
              <a:uFillTx/>
              <a:ea typeface="微软雅黑" panose="020B0503020204020204" charset="-122"/>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4"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3" name="文本框 2"/>
          <p:cNvSpPr txBox="1"/>
          <p:nvPr/>
        </p:nvSpPr>
        <p:spPr>
          <a:xfrm>
            <a:off x="138430" y="149225"/>
            <a:ext cx="8867140" cy="228790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nchor="t">
            <a:noAutofit/>
          </a:bodyPr>
          <a:lstStyle/>
          <a:p>
            <a:pPr marL="342900" indent="-342900" algn="l">
              <a:lnSpc>
                <a:spcPct val="90000"/>
              </a:lnSpc>
              <a:spcBef>
                <a:spcPct val="20000"/>
              </a:spcBef>
              <a:buClr>
                <a:srgbClr val="00007D"/>
              </a:buClr>
              <a:buSzPct val="75000"/>
              <a:buFont typeface="Wingdings" panose="05000000000000000000" pitchFamily="2" charset="2"/>
              <a:buChar char="n"/>
            </a:pPr>
            <a:r>
              <a:rPr lang="zh-CN" altLang="en-US" sz="2400" b="1" dirty="0">
                <a:solidFill>
                  <a:srgbClr val="000000"/>
                </a:solidFill>
                <a:cs typeface="+mn-ea"/>
                <a:sym typeface="+mn-ea"/>
              </a:rPr>
              <a:t>例   将下列命题符号化。</a:t>
            </a:r>
            <a:endParaRPr lang="zh-CN" altLang="en-US" sz="2400" b="1" dirty="0">
              <a:solidFill>
                <a:srgbClr val="000000"/>
              </a:solidFill>
            </a:endParaRPr>
          </a:p>
          <a:p>
            <a:pPr algn="l">
              <a:lnSpc>
                <a:spcPct val="90000"/>
              </a:lnSpc>
              <a:spcBef>
                <a:spcPct val="20000"/>
              </a:spcBef>
              <a:buClr>
                <a:srgbClr val="00007D"/>
              </a:buClr>
              <a:buSzPct val="75000"/>
            </a:pPr>
            <a:r>
              <a:rPr lang="zh-CN" altLang="en-US" sz="2400" b="1" dirty="0">
                <a:solidFill>
                  <a:srgbClr val="000000"/>
                </a:solidFill>
                <a:cs typeface="+mn-ea"/>
                <a:sym typeface="+mn-ea"/>
              </a:rPr>
              <a:t>（</a:t>
            </a:r>
            <a:r>
              <a:rPr lang="en-US" altLang="zh-CN" sz="2400" b="1">
                <a:solidFill>
                  <a:srgbClr val="000000"/>
                </a:solidFill>
                <a:cs typeface="+mn-ea"/>
                <a:sym typeface="+mn-ea"/>
              </a:rPr>
              <a:t>1</a:t>
            </a:r>
            <a:r>
              <a:rPr lang="zh-CN" altLang="en-US" sz="2400" b="1" dirty="0">
                <a:solidFill>
                  <a:srgbClr val="000000"/>
                </a:solidFill>
                <a:cs typeface="+mn-ea"/>
                <a:sym typeface="+mn-ea"/>
              </a:rPr>
              <a:t>）猫比老鼠跑得快。</a:t>
            </a:r>
            <a:endParaRPr lang="zh-CN" altLang="en-US" sz="2400" b="1" dirty="0">
              <a:solidFill>
                <a:srgbClr val="000000"/>
              </a:solidFill>
            </a:endParaRPr>
          </a:p>
          <a:p>
            <a:pPr algn="l">
              <a:lnSpc>
                <a:spcPct val="90000"/>
              </a:lnSpc>
              <a:spcBef>
                <a:spcPct val="20000"/>
              </a:spcBef>
              <a:buClr>
                <a:srgbClr val="00007D"/>
              </a:buClr>
              <a:buSzPct val="75000"/>
            </a:pPr>
            <a:r>
              <a:rPr lang="zh-CN" altLang="en-US" sz="2400" b="1" dirty="0">
                <a:solidFill>
                  <a:srgbClr val="000000"/>
                </a:solidFill>
                <a:cs typeface="+mn-ea"/>
                <a:sym typeface="+mn-ea"/>
              </a:rPr>
              <a:t>（</a:t>
            </a:r>
            <a:r>
              <a:rPr lang="en-US" altLang="zh-CN" sz="2400" b="1">
                <a:solidFill>
                  <a:srgbClr val="000000"/>
                </a:solidFill>
                <a:cs typeface="+mn-ea"/>
                <a:sym typeface="+mn-ea"/>
              </a:rPr>
              <a:t>2</a:t>
            </a:r>
            <a:r>
              <a:rPr lang="zh-CN" altLang="en-US" sz="2400" b="1" dirty="0">
                <a:solidFill>
                  <a:srgbClr val="000000"/>
                </a:solidFill>
                <a:cs typeface="+mn-ea"/>
                <a:sym typeface="+mn-ea"/>
              </a:rPr>
              <a:t>）有的猫比所有老鼠跑得快。</a:t>
            </a:r>
            <a:endParaRPr lang="zh-CN" altLang="en-US" sz="2400" b="1" dirty="0">
              <a:solidFill>
                <a:srgbClr val="000000"/>
              </a:solidFill>
            </a:endParaRPr>
          </a:p>
          <a:p>
            <a:pPr algn="l">
              <a:lnSpc>
                <a:spcPct val="90000"/>
              </a:lnSpc>
              <a:spcBef>
                <a:spcPct val="20000"/>
              </a:spcBef>
              <a:buClr>
                <a:srgbClr val="00007D"/>
              </a:buClr>
              <a:buSzPct val="75000"/>
            </a:pPr>
            <a:r>
              <a:rPr lang="zh-CN" altLang="en-US" sz="2400" b="1" dirty="0">
                <a:solidFill>
                  <a:srgbClr val="000000"/>
                </a:solidFill>
                <a:cs typeface="+mn-ea"/>
                <a:sym typeface="+mn-ea"/>
              </a:rPr>
              <a:t>（</a:t>
            </a:r>
            <a:r>
              <a:rPr lang="en-US" altLang="zh-CN" sz="2400" b="1">
                <a:solidFill>
                  <a:srgbClr val="000000"/>
                </a:solidFill>
                <a:cs typeface="+mn-ea"/>
                <a:sym typeface="+mn-ea"/>
              </a:rPr>
              <a:t>3</a:t>
            </a:r>
            <a:r>
              <a:rPr lang="zh-CN" altLang="en-US" sz="2400" b="1" dirty="0">
                <a:solidFill>
                  <a:srgbClr val="000000"/>
                </a:solidFill>
                <a:cs typeface="+mn-ea"/>
                <a:sym typeface="+mn-ea"/>
              </a:rPr>
              <a:t>）并不是所有的猫比老鼠跑得快。</a:t>
            </a:r>
            <a:endParaRPr lang="zh-CN" altLang="en-US" sz="2400" b="1" dirty="0">
              <a:solidFill>
                <a:srgbClr val="000000"/>
              </a:solidFill>
            </a:endParaRPr>
          </a:p>
          <a:p>
            <a:pPr algn="l">
              <a:lnSpc>
                <a:spcPct val="90000"/>
              </a:lnSpc>
              <a:spcBef>
                <a:spcPct val="20000"/>
              </a:spcBef>
              <a:buClr>
                <a:srgbClr val="00007D"/>
              </a:buClr>
              <a:buSzPct val="75000"/>
            </a:pPr>
            <a:r>
              <a:rPr lang="zh-CN" altLang="en-US" sz="2400" b="1" dirty="0">
                <a:solidFill>
                  <a:srgbClr val="000000"/>
                </a:solidFill>
                <a:cs typeface="+mn-ea"/>
                <a:sym typeface="+mn-ea"/>
              </a:rPr>
              <a:t>（</a:t>
            </a:r>
            <a:r>
              <a:rPr lang="en-US" altLang="zh-CN" sz="2400" b="1">
                <a:solidFill>
                  <a:srgbClr val="000000"/>
                </a:solidFill>
                <a:cs typeface="+mn-ea"/>
                <a:sym typeface="+mn-ea"/>
              </a:rPr>
              <a:t>4</a:t>
            </a:r>
            <a:r>
              <a:rPr lang="zh-CN" altLang="en-US" sz="2400" b="1" dirty="0">
                <a:solidFill>
                  <a:srgbClr val="000000"/>
                </a:solidFill>
                <a:cs typeface="+mn-ea"/>
                <a:sym typeface="+mn-ea"/>
              </a:rPr>
              <a:t>）不存在跑得同样快的两只猫。</a:t>
            </a:r>
            <a:endParaRPr lang="zh-CN" altLang="en-US" sz="2400" b="1" dirty="0">
              <a:solidFill>
                <a:srgbClr val="000000"/>
              </a:solidFill>
              <a:cs typeface="+mn-ea"/>
              <a:sym typeface="+mn-ea"/>
            </a:endParaRPr>
          </a:p>
        </p:txBody>
      </p:sp>
      <p:pic>
        <p:nvPicPr>
          <p:cNvPr id="102" name="图片 101"/>
          <p:cNvPicPr/>
          <p:nvPr/>
        </p:nvPicPr>
        <p:blipFill>
          <a:blip r:embed="rId1"/>
          <a:stretch>
            <a:fillRect/>
          </a:stretch>
        </p:blipFill>
        <p:spPr>
          <a:xfrm>
            <a:off x="5863590" y="229870"/>
            <a:ext cx="2911475" cy="2126615"/>
          </a:xfrm>
          <a:prstGeom prst="rect">
            <a:avLst/>
          </a:prstGeom>
          <a:noFill/>
          <a:ln w="9525">
            <a:noFill/>
          </a:ln>
        </p:spPr>
      </p:pic>
      <p:sp>
        <p:nvSpPr>
          <p:cNvPr id="5" name="文本框 4"/>
          <p:cNvSpPr txBox="1"/>
          <p:nvPr/>
        </p:nvSpPr>
        <p:spPr>
          <a:xfrm>
            <a:off x="391160" y="2656205"/>
            <a:ext cx="8383905" cy="3522980"/>
          </a:xfrm>
          <a:prstGeom prst="rect">
            <a:avLst/>
          </a:prstGeom>
          <a:noFill/>
        </p:spPr>
        <p:txBody>
          <a:bodyPr wrap="square" rtlCol="0" anchor="t">
            <a:spAutoFit/>
          </a:bodyPr>
          <a:lstStyle/>
          <a:p>
            <a:pPr marL="342900" indent="-342900" algn="l">
              <a:lnSpc>
                <a:spcPct val="90000"/>
              </a:lnSpc>
              <a:spcBef>
                <a:spcPct val="20000"/>
              </a:spcBef>
              <a:buClr>
                <a:srgbClr val="00007D"/>
              </a:buClr>
              <a:buSzPct val="75000"/>
              <a:buFont typeface="Wingdings" panose="05000000000000000000" pitchFamily="2" charset="2"/>
              <a:buChar char="n"/>
            </a:pPr>
            <a:r>
              <a:rPr lang="zh-CN" altLang="en-US" sz="2400" b="1" dirty="0">
                <a:solidFill>
                  <a:srgbClr val="000000"/>
                </a:solidFill>
                <a:latin typeface="Times New Roman" panose="02020603050405020304" pitchFamily="18" charset="0"/>
                <a:cs typeface="Times New Roman" panose="02020603050405020304" pitchFamily="18" charset="0"/>
                <a:sym typeface="+mn-ea"/>
              </a:rPr>
              <a:t>解  </a:t>
            </a:r>
            <a:r>
              <a:rPr lang="zh-CN" altLang="en-US" sz="2400" dirty="0">
                <a:latin typeface="Times New Roman" panose="02020603050405020304" pitchFamily="18" charset="0"/>
                <a:cs typeface="Times New Roman" panose="02020603050405020304" pitchFamily="18" charset="0"/>
                <a:sym typeface="+mn-ea"/>
              </a:rPr>
              <a:t>本题没有指明个体域，因而采用</a:t>
            </a:r>
            <a:r>
              <a:rPr lang="zh-CN" altLang="en-US" sz="2400" b="1" dirty="0">
                <a:solidFill>
                  <a:srgbClr val="000000"/>
                </a:solidFill>
                <a:latin typeface="Times New Roman" panose="02020603050405020304" pitchFamily="18" charset="0"/>
                <a:cs typeface="Times New Roman" panose="02020603050405020304" pitchFamily="18" charset="0"/>
                <a:sym typeface="+mn-ea"/>
              </a:rPr>
              <a:t>全总个体域。</a:t>
            </a:r>
            <a:r>
              <a:rPr lang="zh-CN" altLang="en-US" sz="2400" dirty="0">
                <a:latin typeface="Times New Roman" panose="02020603050405020304" pitchFamily="18" charset="0"/>
                <a:cs typeface="Times New Roman" panose="02020603050405020304" pitchFamily="18" charset="0"/>
                <a:sym typeface="+mn-ea"/>
              </a:rPr>
              <a:t>因为本例中出现二元谓词，因而引入两个个体变项</a:t>
            </a:r>
            <a:r>
              <a:rPr lang="en-US" altLang="zh-CN" sz="2400">
                <a:latin typeface="Times New Roman" panose="02020603050405020304" pitchFamily="18" charset="0"/>
                <a:cs typeface="Times New Roman" panose="02020603050405020304" pitchFamily="18" charset="0"/>
                <a:sym typeface="+mn-ea"/>
              </a:rPr>
              <a:t>x</a:t>
            </a:r>
            <a:r>
              <a:rPr lang="zh-CN" altLang="en-US" sz="2400" dirty="0">
                <a:latin typeface="Times New Roman" panose="02020603050405020304" pitchFamily="18" charset="0"/>
                <a:cs typeface="Times New Roman" panose="02020603050405020304" pitchFamily="18" charset="0"/>
                <a:sym typeface="+mn-ea"/>
              </a:rPr>
              <a:t>与</a:t>
            </a:r>
            <a:r>
              <a:rPr lang="en-US" altLang="zh-CN" sz="2400">
                <a:latin typeface="Times New Roman" panose="02020603050405020304" pitchFamily="18" charset="0"/>
                <a:cs typeface="Times New Roman" panose="02020603050405020304" pitchFamily="18" charset="0"/>
                <a:sym typeface="+mn-ea"/>
              </a:rPr>
              <a:t>y</a:t>
            </a:r>
            <a:r>
              <a:rPr lang="zh-CN" altLang="en-US" sz="2400" dirty="0">
                <a:latin typeface="Times New Roman" panose="02020603050405020304" pitchFamily="18" charset="0"/>
                <a:cs typeface="Times New Roman" panose="02020603050405020304" pitchFamily="18" charset="0"/>
                <a:sym typeface="+mn-ea"/>
              </a:rPr>
              <a:t>。</a:t>
            </a:r>
            <a:endParaRPr lang="zh-CN" altLang="en-US" sz="2400" dirty="0">
              <a:latin typeface="Times New Roman" panose="02020603050405020304" pitchFamily="18" charset="0"/>
              <a:cs typeface="Times New Roman" panose="02020603050405020304" pitchFamily="18" charset="0"/>
              <a:sym typeface="+mn-ea"/>
            </a:endParaRPr>
          </a:p>
          <a:p>
            <a:pPr marL="342900" indent="-342900" algn="l">
              <a:lnSpc>
                <a:spcPct val="90000"/>
              </a:lnSpc>
              <a:spcBef>
                <a:spcPct val="20000"/>
              </a:spcBef>
              <a:buClr>
                <a:srgbClr val="00007D"/>
              </a:buClr>
              <a:buSzPct val="75000"/>
              <a:buFont typeface="Wingdings" panose="05000000000000000000" pitchFamily="2" charset="2"/>
              <a:buChar char="n"/>
            </a:pPr>
            <a:r>
              <a:rPr lang="zh-CN" altLang="en-US" sz="2400" b="1" dirty="0">
                <a:solidFill>
                  <a:srgbClr val="000000"/>
                </a:solidFill>
                <a:latin typeface="Times New Roman" panose="02020603050405020304" pitchFamily="18" charset="0"/>
                <a:cs typeface="Times New Roman" panose="02020603050405020304" pitchFamily="18" charset="0"/>
                <a:sym typeface="+mn-ea"/>
              </a:rPr>
              <a:t>令</a:t>
            </a:r>
            <a:r>
              <a:rPr lang="en-US" altLang="zh-CN" sz="2400" b="1">
                <a:solidFill>
                  <a:srgbClr val="000000"/>
                </a:solidFill>
                <a:latin typeface="Times New Roman" panose="02020603050405020304" pitchFamily="18" charset="0"/>
                <a:cs typeface="Times New Roman" panose="02020603050405020304" pitchFamily="18" charset="0"/>
                <a:sym typeface="+mn-ea"/>
              </a:rPr>
              <a:t>C</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是猫；</a:t>
            </a:r>
            <a:r>
              <a:rPr lang="en-US" altLang="zh-CN" sz="2400" b="1">
                <a:solidFill>
                  <a:srgbClr val="000000"/>
                </a:solidFill>
                <a:latin typeface="Times New Roman" panose="02020603050405020304" pitchFamily="18" charset="0"/>
                <a:cs typeface="Times New Roman" panose="02020603050405020304" pitchFamily="18" charset="0"/>
                <a:sym typeface="+mn-ea"/>
              </a:rPr>
              <a:t>M</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是老鼠；</a:t>
            </a:r>
            <a:r>
              <a:rPr lang="en-US" altLang="zh-CN" sz="2400" b="1">
                <a:solidFill>
                  <a:srgbClr val="000000"/>
                </a:solidFill>
                <a:latin typeface="Times New Roman" panose="02020603050405020304" pitchFamily="18" charset="0"/>
                <a:cs typeface="Times New Roman" panose="02020603050405020304" pitchFamily="18" charset="0"/>
                <a:sym typeface="+mn-ea"/>
              </a:rPr>
              <a:t>Q</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比</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跑得快；</a:t>
            </a:r>
            <a:r>
              <a:rPr lang="en-US" altLang="zh-CN" sz="2400" b="1">
                <a:solidFill>
                  <a:srgbClr val="000000"/>
                </a:solidFill>
                <a:latin typeface="Times New Roman" panose="02020603050405020304" pitchFamily="18" charset="0"/>
                <a:cs typeface="Times New Roman" panose="02020603050405020304" pitchFamily="18" charset="0"/>
                <a:sym typeface="+mn-ea"/>
              </a:rPr>
              <a:t>L</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和</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跑得同样快。</a:t>
            </a:r>
            <a:endParaRPr lang="zh-CN" altLang="en-US" sz="2400" b="1" dirty="0">
              <a:solidFill>
                <a:srgbClr val="000000"/>
              </a:solidFill>
              <a:latin typeface="Times New Roman" panose="02020603050405020304" pitchFamily="18" charset="0"/>
              <a:cs typeface="Times New Roman" panose="02020603050405020304" pitchFamily="18" charset="0"/>
              <a:sym typeface="+mn-ea"/>
            </a:endParaRPr>
          </a:p>
          <a:p>
            <a:pPr marL="342900" indent="-342900">
              <a:lnSpc>
                <a:spcPct val="90000"/>
              </a:lnSpc>
              <a:spcBef>
                <a:spcPct val="20000"/>
              </a:spcBef>
              <a:buClr>
                <a:srgbClr val="00007D"/>
              </a:buClr>
              <a:buSzPct val="75000"/>
              <a:buFont typeface="Wingdings" panose="05000000000000000000" pitchFamily="2" charset="2"/>
              <a:buChar char="n"/>
            </a:pPr>
            <a:r>
              <a:rPr lang="zh-CN" altLang="en-US" sz="2400" b="1" dirty="0">
                <a:solidFill>
                  <a:srgbClr val="000000"/>
                </a:solidFill>
                <a:latin typeface="Times New Roman" panose="02020603050405020304" pitchFamily="18" charset="0"/>
                <a:cs typeface="Times New Roman" panose="02020603050405020304" pitchFamily="18" charset="0"/>
                <a:sym typeface="+mn-ea"/>
              </a:rPr>
              <a:t>这</a:t>
            </a:r>
            <a:r>
              <a:rPr lang="en-US" altLang="zh-CN" sz="2400" b="1">
                <a:solidFill>
                  <a:srgbClr val="000000"/>
                </a:solidFill>
                <a:latin typeface="Times New Roman" panose="02020603050405020304" pitchFamily="18" charset="0"/>
                <a:cs typeface="Times New Roman" panose="02020603050405020304" pitchFamily="18" charset="0"/>
                <a:sym typeface="+mn-ea"/>
              </a:rPr>
              <a:t>4</a:t>
            </a:r>
            <a:r>
              <a:rPr lang="zh-CN" altLang="en-US" sz="2400" b="1" dirty="0">
                <a:solidFill>
                  <a:srgbClr val="000000"/>
                </a:solidFill>
                <a:latin typeface="Times New Roman" panose="02020603050405020304" pitchFamily="18" charset="0"/>
                <a:cs typeface="Times New Roman" panose="02020603050405020304" pitchFamily="18" charset="0"/>
                <a:sym typeface="+mn-ea"/>
              </a:rPr>
              <a:t>个命题分别符号化为：</a:t>
            </a:r>
            <a:endParaRPr lang="zh-CN" altLang="en-US" sz="2400" b="1" dirty="0">
              <a:solidFill>
                <a:srgbClr val="000000"/>
              </a:solidFill>
              <a:latin typeface="Times New Roman" panose="02020603050405020304" pitchFamily="18" charset="0"/>
              <a:cs typeface="Times New Roman" panose="02020603050405020304" pitchFamily="18" charset="0"/>
            </a:endParaRPr>
          </a:p>
          <a:p>
            <a:pPr>
              <a:lnSpc>
                <a:spcPct val="90000"/>
              </a:lnSpc>
              <a:spcBef>
                <a:spcPct val="20000"/>
              </a:spcBef>
              <a:buClr>
                <a:srgbClr val="00007D"/>
              </a:buClr>
              <a:buSzPct val="75000"/>
            </a:pP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1</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cs typeface="Times New Roman" panose="02020603050405020304" pitchFamily="18" charset="0"/>
                <a:sym typeface="+mn-ea"/>
              </a:rPr>
              <a:t>x </a:t>
            </a:r>
            <a:r>
              <a:rPr lang="en-US" altLang="zh-CN" sz="2400" b="1">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C</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M</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cs typeface="Times New Roman" panose="02020603050405020304" pitchFamily="18" charset="0"/>
                <a:sym typeface="+mn-ea"/>
              </a:rPr>
              <a:t>Q</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endParaRPr lang="zh-CN" altLang="en-US" sz="2400" b="1" dirty="0">
              <a:solidFill>
                <a:srgbClr val="000000"/>
              </a:solidFill>
              <a:latin typeface="Times New Roman" panose="02020603050405020304" pitchFamily="18" charset="0"/>
              <a:cs typeface="Times New Roman" panose="02020603050405020304" pitchFamily="18" charset="0"/>
            </a:endParaRPr>
          </a:p>
          <a:p>
            <a:pPr>
              <a:lnSpc>
                <a:spcPct val="90000"/>
              </a:lnSpc>
              <a:spcBef>
                <a:spcPct val="20000"/>
              </a:spcBef>
              <a:buClr>
                <a:srgbClr val="00007D"/>
              </a:buClr>
              <a:buSzPct val="75000"/>
            </a:pP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2</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C</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M</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cs typeface="Times New Roman" panose="02020603050405020304" pitchFamily="18" charset="0"/>
                <a:sym typeface="+mn-ea"/>
              </a:rPr>
              <a:t>Q</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endParaRPr lang="zh-CN" altLang="en-US" sz="2400" b="1" dirty="0">
              <a:solidFill>
                <a:srgbClr val="000000"/>
              </a:solidFill>
              <a:latin typeface="Times New Roman" panose="02020603050405020304" pitchFamily="18" charset="0"/>
              <a:cs typeface="Times New Roman" panose="02020603050405020304" pitchFamily="18" charset="0"/>
            </a:endParaRPr>
          </a:p>
          <a:p>
            <a:pPr>
              <a:lnSpc>
                <a:spcPct val="90000"/>
              </a:lnSpc>
              <a:spcBef>
                <a:spcPct val="20000"/>
              </a:spcBef>
              <a:buClr>
                <a:srgbClr val="00007D"/>
              </a:buClr>
              <a:buSzPct val="75000"/>
            </a:pP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3</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cs typeface="Times New Roman" panose="02020603050405020304" pitchFamily="18" charset="0"/>
                <a:sym typeface="+mn-ea"/>
              </a:rPr>
              <a:t>x </a:t>
            </a:r>
            <a:r>
              <a:rPr lang="en-US" altLang="zh-CN" sz="2400" b="1">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C</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M</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cs typeface="Times New Roman" panose="02020603050405020304" pitchFamily="18" charset="0"/>
                <a:sym typeface="+mn-ea"/>
              </a:rPr>
              <a:t>Q</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endParaRPr lang="zh-CN" altLang="en-US" sz="2400" b="1" dirty="0">
              <a:solidFill>
                <a:srgbClr val="000000"/>
              </a:solidFill>
              <a:latin typeface="Times New Roman" panose="02020603050405020304" pitchFamily="18" charset="0"/>
              <a:cs typeface="Times New Roman" panose="02020603050405020304" pitchFamily="18" charset="0"/>
            </a:endParaRPr>
          </a:p>
          <a:p>
            <a:pPr>
              <a:lnSpc>
                <a:spcPct val="90000"/>
              </a:lnSpc>
              <a:spcBef>
                <a:spcPct val="20000"/>
              </a:spcBef>
              <a:buClr>
                <a:srgbClr val="00007D"/>
              </a:buClr>
              <a:buSzPct val="75000"/>
            </a:pP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4</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en-US" altLang="zh-CN" sz="2400" b="1">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cs typeface="Times New Roman" panose="02020603050405020304" pitchFamily="18" charset="0"/>
                <a:sym typeface="+mn-ea"/>
              </a:rPr>
              <a:t> 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C</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C</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L</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x</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r>
              <a:rPr lang="en-US" altLang="zh-CN" sz="2400" b="1">
                <a:solidFill>
                  <a:srgbClr val="000000"/>
                </a:solidFill>
                <a:latin typeface="Times New Roman" panose="02020603050405020304" pitchFamily="18" charset="0"/>
                <a:cs typeface="Times New Roman" panose="02020603050405020304" pitchFamily="18" charset="0"/>
                <a:sym typeface="+mn-ea"/>
              </a:rPr>
              <a:t>y</a:t>
            </a:r>
            <a:r>
              <a:rPr lang="zh-CN" altLang="en-US" sz="2400" b="1" dirty="0">
                <a:solidFill>
                  <a:srgbClr val="000000"/>
                </a:solidFill>
                <a:latin typeface="Times New Roman" panose="02020603050405020304" pitchFamily="18" charset="0"/>
                <a:cs typeface="Times New Roman" panose="02020603050405020304" pitchFamily="18" charset="0"/>
                <a:sym typeface="+mn-ea"/>
              </a:rPr>
              <a:t>）））。</a:t>
            </a:r>
            <a:endParaRPr lang="zh-CN" altLang="en-US" sz="2400" b="1" dirty="0">
              <a:solidFill>
                <a:srgbClr val="000000"/>
              </a:solidFill>
              <a:latin typeface="Times New Roman" panose="02020603050405020304" pitchFamily="18" charset="0"/>
              <a:cs typeface="Times New Roman" panose="02020603050405020304" pitchFamily="18" charset="0"/>
              <a:sym typeface="+mn-ea"/>
            </a:endParaRPr>
          </a:p>
        </p:txBody>
      </p:sp>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9" name="矩形 7"/>
          <p:cNvSpPr/>
          <p:nvPr>
            <p:custDataLst>
              <p:tags r:id="rId1"/>
            </p:custDataLst>
          </p:nvPr>
        </p:nvSpPr>
        <p:spPr>
          <a:xfrm>
            <a:off x="0" y="0"/>
            <a:ext cx="9144000" cy="912114"/>
          </a:xfrm>
          <a:prstGeom prst="rect">
            <a:avLst/>
          </a:prstGeom>
          <a:solidFill>
            <a:schemeClr val="accent1"/>
          </a:solidFill>
          <a:ln w="12700">
            <a:miter lim="400000"/>
          </a:ln>
        </p:spPr>
        <p:txBody>
          <a:bodyPr lIns="0" tIns="0" rIns="0" bIns="0" anchor="ctr"/>
          <a:lstStyle/>
          <a:p>
            <a:pPr algn="ctr">
              <a:defRPr>
                <a:solidFill>
                  <a:srgbClr val="FFFFFF"/>
                </a:solidFill>
              </a:defRPr>
            </a:pPr>
            <a:endParaRPr sz="1015">
              <a:solidFill>
                <a:srgbClr val="FFFFFF"/>
              </a:solidFill>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altLang="en-US" sz="2900" dirty="0">
                <a:solidFill>
                  <a:schemeClr val="lt1"/>
                </a:solidFill>
                <a:sym typeface="+mn-ea"/>
              </a:rPr>
              <a:t>FOL的断言</a:t>
            </a:r>
            <a:r>
              <a:rPr lang="en-US" altLang="zh-CN" sz="2900" dirty="0">
                <a:solidFill>
                  <a:schemeClr val="lt1"/>
                </a:solidFill>
                <a:sym typeface="+mn-ea"/>
              </a:rPr>
              <a:t>(Assertion)</a:t>
            </a:r>
            <a:r>
              <a:rPr lang="zh-CN" altLang="en-US" sz="2900" dirty="0">
                <a:solidFill>
                  <a:schemeClr val="lt1"/>
                </a:solidFill>
                <a:sym typeface="+mn-ea"/>
              </a:rPr>
              <a:t>和查询</a:t>
            </a:r>
            <a:r>
              <a:rPr lang="en-US" altLang="zh-CN" sz="2900" dirty="0">
                <a:solidFill>
                  <a:schemeClr val="lt1"/>
                </a:solidFill>
                <a:sym typeface="+mn-ea"/>
              </a:rPr>
              <a:t>(Query)</a:t>
            </a:r>
            <a:endParaRPr lang="en-US" altLang="zh-CN" sz="2900" dirty="0">
              <a:solidFill>
                <a:schemeClr val="lt1"/>
              </a:solidFill>
              <a:sym typeface="+mn-ea"/>
            </a:endParaRPr>
          </a:p>
        </p:txBody>
      </p:sp>
      <mc:AlternateContent xmlns:mc="http://schemas.openxmlformats.org/markup-compatibility/2006">
        <mc:Choice xmlns:a14="http://schemas.microsoft.com/office/drawing/2010/main" Requires="a14">
          <p:sp>
            <p:nvSpPr>
              <p:cNvPr id="2" name="文本框 1"/>
              <p:cNvSpPr txBox="1"/>
              <p:nvPr/>
            </p:nvSpPr>
            <p:spPr>
              <a:xfrm>
                <a:off x="342900" y="1085215"/>
                <a:ext cx="8366125" cy="5573395"/>
              </a:xfrm>
              <a:prstGeom prst="rect">
                <a:avLst/>
              </a:prstGeom>
              <a:noFill/>
            </p:spPr>
            <p:txBody>
              <a:bodyPr wrap="square" rtlCol="0" anchor="t">
                <a:spAutoFit/>
              </a:bodyPr>
              <a:lstStyle/>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b="1">
                    <a:solidFill>
                      <a:srgbClr val="C00000"/>
                    </a:solidFill>
                    <a:latin typeface="Times New Roman" panose="02020603050405020304" pitchFamily="18" charset="0"/>
                    <a:ea typeface="微软雅黑" panose="020B0503020204020204" charset="-122"/>
                    <a:cs typeface="Times New Roman" panose="02020603050405020304" pitchFamily="18" charset="0"/>
                  </a:rPr>
                  <a:t>TELL</a:t>
                </a:r>
                <a:r>
                  <a:rPr lang="zh-CN" altLang="en-US" b="1">
                    <a:latin typeface="Times New Roman" panose="02020603050405020304" pitchFamily="18" charset="0"/>
                    <a:ea typeface="微软雅黑" panose="020B0503020204020204" charset="-122"/>
                    <a:cs typeface="Times New Roman" panose="02020603050405020304" pitchFamily="18" charset="0"/>
                  </a:rPr>
                  <a:t>将语句添加到知识库。这样的语句叫</a:t>
                </a:r>
                <a:r>
                  <a:rPr lang="zh-CN" altLang="en-US" b="1">
                    <a:solidFill>
                      <a:srgbClr val="C00000"/>
                    </a:solidFill>
                    <a:latin typeface="Times New Roman" panose="02020603050405020304" pitchFamily="18" charset="0"/>
                    <a:ea typeface="微软雅黑" panose="020B0503020204020204" charset="-122"/>
                    <a:cs typeface="Times New Roman" panose="02020603050405020304" pitchFamily="18" charset="0"/>
                  </a:rPr>
                  <a:t>断言</a:t>
                </a:r>
                <a:r>
                  <a:rPr lang="zh-CN" altLang="en-US">
                    <a:latin typeface="Times New Roman" panose="02020603050405020304" pitchFamily="18" charset="0"/>
                    <a:ea typeface="微软雅黑" panose="020B0503020204020204" charset="-122"/>
                    <a:cs typeface="Times New Roman" panose="02020603050405020304" pitchFamily="18" charset="0"/>
                  </a:rPr>
                  <a:t>。</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例如,</a:t>
                </a: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断言</a:t>
                </a:r>
                <a:r>
                  <a:rPr lang="en-US" altLang="zh-CN" i="1">
                    <a:latin typeface="Times New Roman" panose="02020603050405020304" pitchFamily="18" charset="0"/>
                    <a:ea typeface="微软雅黑" panose="020B0503020204020204" charset="-122"/>
                    <a:cs typeface="Times New Roman" panose="02020603050405020304" pitchFamily="18" charset="0"/>
                  </a:rPr>
                  <a:t>John</a:t>
                </a:r>
                <a:r>
                  <a:rPr lang="zh-CN" altLang="en-US">
                    <a:latin typeface="Times New Roman" panose="02020603050405020304" pitchFamily="18" charset="0"/>
                    <a:ea typeface="微软雅黑" panose="020B0503020204020204" charset="-122"/>
                    <a:cs typeface="Times New Roman" panose="02020603050405020304" pitchFamily="18" charset="0"/>
                  </a:rPr>
                  <a:t>是国王</a:t>
                </a: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TELL(</a:t>
                </a:r>
                <a:r>
                  <a:rPr lang="zh-CN" altLang="en-US" i="1">
                    <a:latin typeface="Times New Roman" panose="02020603050405020304" pitchFamily="18" charset="0"/>
                    <a:ea typeface="微软雅黑" panose="020B0503020204020204" charset="-122"/>
                    <a:cs typeface="Times New Roman" panose="02020603050405020304" pitchFamily="18" charset="0"/>
                  </a:rPr>
                  <a:t>KB, King(John)</a:t>
                </a:r>
                <a:r>
                  <a:rPr lang="zh-CN" altLang="en-US">
                    <a:latin typeface="Times New Roman" panose="02020603050405020304" pitchFamily="18" charset="0"/>
                    <a:ea typeface="微软雅黑" panose="020B0503020204020204" charset="-122"/>
                    <a:cs typeface="Times New Roman" panose="02020603050405020304" pitchFamily="18" charset="0"/>
                  </a:rPr>
                  <a:t>)</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断言</a:t>
                </a:r>
                <a:r>
                  <a:rPr lang="en-US" altLang="zh-CN" i="1">
                    <a:latin typeface="Times New Roman" panose="02020603050405020304" pitchFamily="18" charset="0"/>
                    <a:ea typeface="微软雅黑" panose="020B0503020204020204" charset="-122"/>
                    <a:cs typeface="Times New Roman" panose="02020603050405020304" pitchFamily="18" charset="0"/>
                  </a:rPr>
                  <a:t>Richard</a:t>
                </a:r>
                <a:r>
                  <a:rPr lang="zh-CN" altLang="en-US">
                    <a:latin typeface="Times New Roman" panose="02020603050405020304" pitchFamily="18" charset="0"/>
                    <a:ea typeface="微软雅黑" panose="020B0503020204020204" charset="-122"/>
                    <a:cs typeface="Times New Roman" panose="02020603050405020304" pitchFamily="18" charset="0"/>
                  </a:rPr>
                  <a:t>是人</a:t>
                </a:r>
                <a:r>
                  <a:rPr lang="en-US" altLang="zh-CN">
                    <a:latin typeface="Times New Roman" panose="02020603050405020304" pitchFamily="18" charset="0"/>
                    <a:ea typeface="微软雅黑" panose="020B0503020204020204" charset="-122"/>
                    <a:cs typeface="Times New Roman" panose="02020603050405020304" pitchFamily="18" charset="0"/>
                  </a:rPr>
                  <a:t>	TELL(</a:t>
                </a:r>
                <a:r>
                  <a:rPr lang="en-US" altLang="zh-CN" i="1">
                    <a:latin typeface="Times New Roman" panose="02020603050405020304" pitchFamily="18" charset="0"/>
                    <a:ea typeface="微软雅黑" panose="020B0503020204020204" charset="-122"/>
                    <a:cs typeface="Times New Roman" panose="02020603050405020304" pitchFamily="18" charset="0"/>
                  </a:rPr>
                  <a:t>KB, Person(Richard)</a:t>
                </a:r>
                <a:r>
                  <a:rPr lang="en-US" altLang="zh-CN">
                    <a:latin typeface="Times New Roman" panose="02020603050405020304" pitchFamily="18" charset="0"/>
                    <a:ea typeface="微软雅黑" panose="020B0503020204020204" charset="-122"/>
                    <a:cs typeface="Times New Roman" panose="02020603050405020304" pitchFamily="18" charset="0"/>
                  </a:rPr>
                  <a:t>)</a:t>
                </a:r>
                <a:endParaRPr lang="en-US" altLang="zh-CN">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断言国王是人</a:t>
                </a:r>
                <a:r>
                  <a:rPr lang="en-US" altLang="zh-CN">
                    <a:latin typeface="Times New Roman" panose="02020603050405020304" pitchFamily="18" charset="0"/>
                    <a:ea typeface="微软雅黑" panose="020B0503020204020204" charset="-122"/>
                    <a:cs typeface="Times New Roman" panose="02020603050405020304" pitchFamily="18" charset="0"/>
                  </a:rPr>
                  <a:t>	TELL(</a:t>
                </a:r>
                <a:r>
                  <a:rPr lang="en-US" altLang="zh-CN" i="1">
                    <a:latin typeface="Times New Roman" panose="02020603050405020304" pitchFamily="18" charset="0"/>
                    <a:ea typeface="微软雅黑" panose="020B0503020204020204" charset="-122"/>
                    <a:cs typeface="Times New Roman" panose="02020603050405020304" pitchFamily="18" charset="0"/>
                  </a:rPr>
                  <a:t>KB, </a:t>
                </a:r>
                <a14:m>
                  <m:oMath xmlns:m="http://schemas.openxmlformats.org/officeDocument/2006/math">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𝑥</m:t>
                    </m:r>
                    <m:r>
                      <a:rPr lang="en-US" altLang="zh-CN" i="1">
                        <a:latin typeface="Cambria Math" panose="02040503050406030204" charset="0"/>
                        <a:ea typeface="MS Mincho" charset="0"/>
                        <a:cs typeface="Cambria Math" panose="02040503050406030204" charset="0"/>
                      </a:rPr>
                      <m:t> </m:t>
                    </m:r>
                    <m:r>
                      <a:rPr lang="en-US" altLang="zh-CN" i="1">
                        <a:latin typeface="Cambria Math" panose="02040503050406030204" charset="0"/>
                        <a:ea typeface="微软雅黑" panose="020B0503020204020204" charset="-122"/>
                        <a:cs typeface="Cambria Math" panose="02040503050406030204" charset="0"/>
                      </a:rPr>
                      <m:t>𝐾𝑖𝑛𝑔</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𝑥</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𝑃𝑒𝑟𝑠𝑜𝑛</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𝑥</m:t>
                    </m:r>
                    <m:r>
                      <a:rPr lang="en-US" altLang="zh-CN" i="1">
                        <a:latin typeface="Cambria Math" panose="02040503050406030204" charset="0"/>
                        <a:ea typeface="MS Mincho" charset="0"/>
                        <a:cs typeface="Cambria Math" panose="02040503050406030204" charset="0"/>
                      </a:rPr>
                      <m:t>)</m:t>
                    </m:r>
                  </m:oMath>
                </a14:m>
                <a:r>
                  <a:rPr lang="en-US" altLang="zh-CN">
                    <a:latin typeface="Times New Roman" panose="02020603050405020304" pitchFamily="18" charset="0"/>
                    <a:ea typeface="微软雅黑" panose="020B0503020204020204" charset="-122"/>
                    <a:cs typeface="Times New Roman" panose="02020603050405020304" pitchFamily="18" charset="0"/>
                  </a:rPr>
                  <a:t>)</a:t>
                </a:r>
                <a:endParaRPr lang="en-US" altLang="zh-CN">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b="1">
                    <a:solidFill>
                      <a:srgbClr val="C00000"/>
                    </a:solidFill>
                    <a:latin typeface="Times New Roman" panose="02020603050405020304" pitchFamily="18" charset="0"/>
                    <a:ea typeface="微软雅黑" panose="020B0503020204020204" charset="-122"/>
                    <a:cs typeface="Times New Roman" panose="02020603050405020304" pitchFamily="18" charset="0"/>
                  </a:rPr>
                  <a:t>ASK</a:t>
                </a:r>
                <a:r>
                  <a:rPr lang="zh-CN" altLang="en-US" b="1">
                    <a:latin typeface="Times New Roman" panose="02020603050405020304" pitchFamily="18" charset="0"/>
                    <a:ea typeface="微软雅黑" panose="020B0503020204020204" charset="-122"/>
                    <a:cs typeface="Times New Roman" panose="02020603050405020304" pitchFamily="18" charset="0"/>
                  </a:rPr>
                  <a:t>向知识库询问问题。用ASK提出的问题被称为</a:t>
                </a:r>
                <a:r>
                  <a:rPr lang="zh-CN" altLang="en-US" b="1">
                    <a:solidFill>
                      <a:srgbClr val="C00000"/>
                    </a:solidFill>
                    <a:latin typeface="Times New Roman" panose="02020603050405020304" pitchFamily="18" charset="0"/>
                    <a:ea typeface="微软雅黑" panose="020B0503020204020204" charset="-122"/>
                    <a:cs typeface="Times New Roman" panose="02020603050405020304" pitchFamily="18" charset="0"/>
                  </a:rPr>
                  <a:t>查询</a:t>
                </a:r>
                <a:r>
                  <a:rPr lang="zh-CN" altLang="en-US" b="1">
                    <a:latin typeface="Times New Roman" panose="02020603050405020304" pitchFamily="18" charset="0"/>
                    <a:ea typeface="微软雅黑" panose="020B0503020204020204" charset="-122"/>
                    <a:cs typeface="Times New Roman" panose="02020603050405020304" pitchFamily="18" charset="0"/>
                  </a:rPr>
                  <a:t>或目标。</a:t>
                </a:r>
                <a:endParaRPr lang="zh-CN" altLang="en-US" b="1">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例如，</a:t>
                </a:r>
                <a:r>
                  <a:rPr lang="en-US" altLang="zh-CN">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a:latin typeface="Times New Roman" panose="02020603050405020304" pitchFamily="18" charset="0"/>
                    <a:ea typeface="微软雅黑" panose="020B0503020204020204" charset="-122"/>
                    <a:cs typeface="Times New Roman" panose="02020603050405020304" pitchFamily="18" charset="0"/>
                    <a:sym typeface="+mn-ea"/>
                  </a:rPr>
                  <a:t>ASK(</a:t>
                </a:r>
                <a:r>
                  <a:rPr lang="zh-CN" altLang="en-US" i="1">
                    <a:latin typeface="Times New Roman" panose="02020603050405020304" pitchFamily="18" charset="0"/>
                    <a:ea typeface="微软雅黑" panose="020B0503020204020204" charset="-122"/>
                    <a:cs typeface="Times New Roman" panose="02020603050405020304" pitchFamily="18" charset="0"/>
                    <a:sym typeface="+mn-ea"/>
                  </a:rPr>
                  <a:t>KB, King(John)</a:t>
                </a:r>
                <a:r>
                  <a:rPr lang="zh-CN" altLang="en-US">
                    <a:latin typeface="Times New Roman" panose="02020603050405020304" pitchFamily="18" charset="0"/>
                    <a:ea typeface="微软雅黑" panose="020B0503020204020204" charset="-122"/>
                    <a:cs typeface="Times New Roman" panose="02020603050405020304" pitchFamily="18" charset="0"/>
                    <a:sym typeface="+mn-ea"/>
                  </a:rPr>
                  <a:t>)</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返回</a:t>
                </a:r>
                <a:r>
                  <a:rPr lang="en-US" altLang="zh-CN" i="1">
                    <a:latin typeface="Times New Roman" panose="02020603050405020304" pitchFamily="18" charset="0"/>
                    <a:ea typeface="微软雅黑" panose="020B0503020204020204" charset="-122"/>
                    <a:cs typeface="Times New Roman" panose="02020603050405020304" pitchFamily="18" charset="0"/>
                  </a:rPr>
                  <a:t>True</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一般而言，被知识库逻辑蕴涵的任何查询都肯定可以得到回答。</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例如,</a:t>
                </a: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已知上述断言，查询</a:t>
                </a:r>
                <a:r>
                  <a:rPr lang="en-US" altLang="zh-CN">
                    <a:latin typeface="Times New Roman" panose="02020603050405020304" pitchFamily="18" charset="0"/>
                    <a:ea typeface="微软雅黑" panose="020B0503020204020204" charset="-122"/>
                    <a:cs typeface="Times New Roman" panose="02020603050405020304" pitchFamily="18" charset="0"/>
                  </a:rPr>
                  <a:t>	ASK(</a:t>
                </a:r>
                <a:r>
                  <a:rPr lang="en-US" altLang="zh-CN" i="1">
                    <a:latin typeface="Times New Roman" panose="02020603050405020304" pitchFamily="18" charset="0"/>
                    <a:ea typeface="微软雅黑" panose="020B0503020204020204" charset="-122"/>
                    <a:cs typeface="Times New Roman" panose="02020603050405020304" pitchFamily="18" charset="0"/>
                  </a:rPr>
                  <a:t>KB, Person(John)</a:t>
                </a:r>
                <a:r>
                  <a:rPr lang="en-US" altLang="zh-CN">
                    <a:latin typeface="Times New Roman" panose="02020603050405020304" pitchFamily="18" charset="0"/>
                    <a:ea typeface="微软雅黑" panose="020B0503020204020204" charset="-122"/>
                    <a:cs typeface="Times New Roman" panose="02020603050405020304" pitchFamily="18" charset="0"/>
                  </a:rPr>
                  <a:t>)</a:t>
                </a:r>
                <a:endParaRPr lang="en-US" altLang="zh-CN">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也应该返回</a:t>
                </a:r>
                <a:r>
                  <a:rPr lang="en-US" altLang="zh-CN" i="1">
                    <a:latin typeface="Times New Roman" panose="02020603050405020304" pitchFamily="18" charset="0"/>
                    <a:ea typeface="微软雅黑" panose="020B0503020204020204" charset="-122"/>
                    <a:cs typeface="Times New Roman" panose="02020603050405020304" pitchFamily="18" charset="0"/>
                  </a:rPr>
                  <a:t>True</a:t>
                </a:r>
                <a:endParaRPr lang="en-US" altLang="zh-CN">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可以提出量化查询，如</a:t>
                </a:r>
                <a:r>
                  <a:rPr lang="en-US" altLang="zh-CN">
                    <a:latin typeface="Times New Roman" panose="02020603050405020304" pitchFamily="18" charset="0"/>
                    <a:ea typeface="微软雅黑" panose="020B0503020204020204" charset="-122"/>
                    <a:cs typeface="Times New Roman" panose="02020603050405020304" pitchFamily="18" charset="0"/>
                  </a:rPr>
                  <a:t>		ASK(</a:t>
                </a:r>
                <a:r>
                  <a:rPr lang="en-US" altLang="zh-CN" i="1">
                    <a:latin typeface="Times New Roman" panose="02020603050405020304" pitchFamily="18" charset="0"/>
                    <a:ea typeface="微软雅黑" panose="020B0503020204020204" charset="-122"/>
                    <a:cs typeface="Times New Roman" panose="02020603050405020304" pitchFamily="18" charset="0"/>
                  </a:rPr>
                  <a:t>KB, </a:t>
                </a:r>
                <a14:m>
                  <m:oMath xmlns:m="http://schemas.openxmlformats.org/officeDocument/2006/math">
                    <m:r>
                      <a:rPr lang="en-US" altLang="zh-CN">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𝑥</m:t>
                    </m:r>
                    <m:r>
                      <a:rPr lang="en-US" altLang="zh-CN" i="1">
                        <a:latin typeface="Cambria Math" panose="02040503050406030204" charset="0"/>
                        <a:ea typeface="MS Mincho" charset="0"/>
                        <a:cs typeface="Cambria Math" panose="02040503050406030204" charset="0"/>
                      </a:rPr>
                      <m:t> </m:t>
                    </m:r>
                    <m:r>
                      <a:rPr lang="en-US" altLang="zh-CN" i="1">
                        <a:latin typeface="Cambria Math" panose="02040503050406030204" charset="0"/>
                        <a:ea typeface="微软雅黑" panose="020B0503020204020204" charset="-122"/>
                        <a:cs typeface="Cambria Math" panose="02040503050406030204" charset="0"/>
                      </a:rPr>
                      <m:t>𝑃𝑒𝑟𝑠𝑜𝑛</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𝑥</m:t>
                    </m:r>
                    <m:r>
                      <a:rPr lang="en-US" altLang="zh-CN" i="1">
                        <a:latin typeface="Cambria Math" panose="02040503050406030204" charset="0"/>
                        <a:ea typeface="MS Mincho" charset="0"/>
                        <a:cs typeface="Cambria Math" panose="02040503050406030204" charset="0"/>
                      </a:rPr>
                      <m:t>)</m:t>
                    </m:r>
                  </m:oMath>
                </a14:m>
                <a:r>
                  <a:rPr lang="en-US" altLang="zh-CN">
                    <a:latin typeface="Times New Roman" panose="02020603050405020304" pitchFamily="18" charset="0"/>
                    <a:ea typeface="微软雅黑" panose="020B0503020204020204" charset="-122"/>
                    <a:cs typeface="Times New Roman" panose="02020603050405020304" pitchFamily="18" charset="0"/>
                  </a:rPr>
                  <a:t>)</a:t>
                </a:r>
                <a:endParaRPr lang="en-US" altLang="zh-CN">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返回</a:t>
                </a:r>
                <a:r>
                  <a:rPr lang="en-US" altLang="zh-CN" i="1">
                    <a:latin typeface="Times New Roman" panose="02020603050405020304" pitchFamily="18" charset="0"/>
                    <a:ea typeface="微软雅黑" panose="020B0503020204020204" charset="-122"/>
                    <a:cs typeface="Times New Roman" panose="02020603050405020304" pitchFamily="18" charset="0"/>
                  </a:rPr>
                  <a:t>True</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b="1">
                    <a:solidFill>
                      <a:srgbClr val="C00000"/>
                    </a:solidFill>
                    <a:latin typeface="Times New Roman" panose="02020603050405020304" pitchFamily="18" charset="0"/>
                    <a:ea typeface="微软雅黑" panose="020B0503020204020204" charset="-122"/>
                    <a:cs typeface="Times New Roman" panose="02020603050405020304" pitchFamily="18" charset="0"/>
                  </a:rPr>
                  <a:t>ASKVARS</a:t>
                </a:r>
                <a:r>
                  <a:rPr lang="zh-CN" altLang="en-US" b="1">
                    <a:latin typeface="Times New Roman" panose="02020603050405020304" pitchFamily="18" charset="0"/>
                    <a:ea typeface="微软雅黑" panose="020B0503020204020204" charset="-122"/>
                    <a:cs typeface="Times New Roman" panose="02020603050405020304" pitchFamily="18" charset="0"/>
                  </a:rPr>
                  <a:t>询问什么样的</a:t>
                </a:r>
                <a:r>
                  <a:rPr lang="zh-CN" altLang="en-US" b="1" i="1">
                    <a:latin typeface="Times New Roman" panose="02020603050405020304" pitchFamily="18" charset="0"/>
                    <a:ea typeface="微软雅黑" panose="020B0503020204020204" charset="-122"/>
                    <a:cs typeface="Times New Roman" panose="02020603050405020304" pitchFamily="18" charset="0"/>
                  </a:rPr>
                  <a:t>x</a:t>
                </a:r>
                <a:r>
                  <a:rPr lang="zh-CN" altLang="en-US" b="1">
                    <a:latin typeface="Times New Roman" panose="02020603050405020304" pitchFamily="18" charset="0"/>
                    <a:ea typeface="微软雅黑" panose="020B0503020204020204" charset="-122"/>
                    <a:cs typeface="Times New Roman" panose="02020603050405020304" pitchFamily="18" charset="0"/>
                  </a:rPr>
                  <a:t>使得语句为真</a:t>
                </a:r>
                <a:endParaRPr lang="zh-CN" altLang="en-US" b="1">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例如,</a:t>
                </a: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ASKVARS(</a:t>
                </a:r>
                <a:r>
                  <a:rPr lang="zh-CN" altLang="en-US" i="1">
                    <a:latin typeface="Times New Roman" panose="02020603050405020304" pitchFamily="18" charset="0"/>
                    <a:ea typeface="微软雅黑" panose="020B0503020204020204" charset="-122"/>
                    <a:cs typeface="Times New Roman" panose="02020603050405020304" pitchFamily="18" charset="0"/>
                  </a:rPr>
                  <a:t>KB, Person(x)</a:t>
                </a:r>
                <a:r>
                  <a:rPr lang="zh-CN" altLang="en-US">
                    <a:latin typeface="Times New Roman" panose="02020603050405020304" pitchFamily="18" charset="0"/>
                    <a:ea typeface="微软雅黑" panose="020B0503020204020204" charset="-122"/>
                    <a:cs typeface="Times New Roman" panose="02020603050405020304" pitchFamily="18" charset="0"/>
                  </a:rPr>
                  <a:t>)</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返回</a:t>
                </a:r>
                <a:r>
                  <a:rPr lang="zh-CN" altLang="en-US" b="1">
                    <a:solidFill>
                      <a:srgbClr val="FF0000"/>
                    </a:solidFill>
                    <a:latin typeface="Times New Roman" panose="02020603050405020304" pitchFamily="18" charset="0"/>
                    <a:ea typeface="微软雅黑" panose="020B0503020204020204" charset="-122"/>
                    <a:cs typeface="Times New Roman" panose="02020603050405020304" pitchFamily="18" charset="0"/>
                  </a:rPr>
                  <a:t>答案流</a:t>
                </a:r>
                <a:r>
                  <a:rPr lang="zh-CN" altLang="en-US">
                    <a:latin typeface="Times New Roman" panose="02020603050405020304" pitchFamily="18" charset="0"/>
                    <a:ea typeface="微软雅黑" panose="020B0503020204020204" charset="-122"/>
                    <a:cs typeface="Times New Roman" panose="02020603050405020304" pitchFamily="18" charset="0"/>
                  </a:rPr>
                  <a:t>，如</a:t>
                </a:r>
                <a14:m>
                  <m:oMath xmlns:m="http://schemas.openxmlformats.org/officeDocument/2006/math">
                    <m:d>
                      <m:dPr>
                        <m:begChr m:val="{"/>
                        <m:endChr m:val="}"/>
                        <m:ctrlPr>
                          <a:rPr lang="en-US" altLang="zh-CN" i="1">
                            <a:latin typeface="Cambria Math" panose="02040503050406030204" charset="0"/>
                            <a:ea typeface="微软雅黑" panose="020B0503020204020204" charset="-122"/>
                            <a:cs typeface="Cambria Math" panose="02040503050406030204" charset="0"/>
                          </a:rPr>
                        </m:ctrlPr>
                      </m:dPr>
                      <m:e>
                        <m:r>
                          <a:rPr lang="en-US" altLang="zh-CN" i="1">
                            <a:latin typeface="Cambria Math" panose="02040503050406030204" charset="0"/>
                            <a:ea typeface="微软雅黑" panose="020B0503020204020204" charset="-122"/>
                            <a:cs typeface="Cambria Math" panose="02040503050406030204" charset="0"/>
                          </a:rPr>
                          <m:t>𝑥</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𝐽𝑜ℎ𝑛</m:t>
                        </m:r>
                      </m:e>
                    </m:d>
                  </m:oMath>
                </a14:m>
                <a:r>
                  <a:rPr lang="zh-CN" altLang="en-US">
                    <a:latin typeface="Times New Roman" panose="02020603050405020304" pitchFamily="18" charset="0"/>
                    <a:ea typeface="微软雅黑" panose="020B0503020204020204" charset="-122"/>
                    <a:cs typeface="Times New Roman" panose="02020603050405020304" pitchFamily="18" charset="0"/>
                  </a:rPr>
                  <a:t>和</a:t>
                </a:r>
                <a14:m>
                  <m:oMath xmlns:m="http://schemas.openxmlformats.org/officeDocument/2006/math">
                    <m:d>
                      <m:dPr>
                        <m:begChr m:val="{"/>
                        <m:endChr m:val="}"/>
                        <m:ctrlPr>
                          <a:rPr lang="en-US" altLang="zh-CN" i="1">
                            <a:latin typeface="Cambria Math" panose="02040503050406030204" charset="0"/>
                            <a:ea typeface="微软雅黑" panose="020B0503020204020204" charset="-122"/>
                            <a:cs typeface="Cambria Math" panose="02040503050406030204" charset="0"/>
                          </a:rPr>
                        </m:ctrlPr>
                      </m:dPr>
                      <m:e>
                        <m:r>
                          <a:rPr lang="en-US" altLang="zh-CN" i="1">
                            <a:latin typeface="Cambria Math" panose="02040503050406030204" charset="0"/>
                            <a:ea typeface="微软雅黑" panose="020B0503020204020204" charset="-122"/>
                            <a:cs typeface="Cambria Math" panose="02040503050406030204" charset="0"/>
                          </a:rPr>
                          <m:t>𝑥</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𝑅𝑖𝑐ℎ𝑎𝑟𝑑</m:t>
                        </m:r>
                      </m:e>
                    </m:d>
                  </m:oMath>
                </a14:m>
                <a:endParaRPr lang="en-US" altLang="zh-CN" i="1">
                  <a:latin typeface="Times New Roman" panose="02020603050405020304" pitchFamily="18" charset="0"/>
                  <a:ea typeface="微软雅黑" panose="020B0503020204020204" charset="-122"/>
                  <a:cs typeface="Times New Roman" panose="02020603050405020304" pitchFamily="18" charset="0"/>
                </a:endParaRPr>
              </a:p>
              <a:p>
                <a:pPr>
                  <a:lnSpc>
                    <a:spcPct val="110000"/>
                  </a:lnSpc>
                </a:pP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这样的答案被称为</a:t>
                </a:r>
                <a:r>
                  <a:rPr lang="zh-CN" altLang="en-US" b="1">
                    <a:solidFill>
                      <a:srgbClr val="FF0000"/>
                    </a:solidFill>
                    <a:latin typeface="Times New Roman" panose="02020603050405020304" pitchFamily="18" charset="0"/>
                    <a:ea typeface="微软雅黑" panose="020B0503020204020204" charset="-122"/>
                    <a:cs typeface="Times New Roman" panose="02020603050405020304" pitchFamily="18" charset="0"/>
                  </a:rPr>
                  <a:t>置换</a:t>
                </a:r>
                <a:r>
                  <a:rPr lang="zh-CN" altLang="en-US">
                    <a:latin typeface="Times New Roman" panose="02020603050405020304" pitchFamily="18" charset="0"/>
                    <a:ea typeface="微软雅黑" panose="020B0503020204020204" charset="-122"/>
                    <a:cs typeface="Times New Roman" panose="02020603050405020304" pitchFamily="18" charset="0"/>
                  </a:rPr>
                  <a:t>或</a:t>
                </a:r>
                <a:r>
                  <a:rPr lang="zh-CN" altLang="en-US" b="1">
                    <a:solidFill>
                      <a:srgbClr val="FF0000"/>
                    </a:solidFill>
                    <a:latin typeface="Times New Roman" panose="02020603050405020304" pitchFamily="18" charset="0"/>
                    <a:ea typeface="微软雅黑" panose="020B0503020204020204" charset="-122"/>
                    <a:cs typeface="Times New Roman" panose="02020603050405020304" pitchFamily="18" charset="0"/>
                  </a:rPr>
                  <a:t>绑定表</a:t>
                </a:r>
                <a:r>
                  <a:rPr lang="zh-CN" altLang="en-US">
                    <a:latin typeface="Times New Roman" panose="02020603050405020304" pitchFamily="18" charset="0"/>
                    <a:ea typeface="微软雅黑" panose="020B0503020204020204" charset="-122"/>
                    <a:cs typeface="Times New Roman" panose="02020603050405020304" pitchFamily="18" charset="0"/>
                  </a:rPr>
                  <a:t>。</a:t>
                </a:r>
                <a:endParaRPr lang="zh-CN" altLang="en-US">
                  <a:latin typeface="Times New Roman" panose="02020603050405020304" pitchFamily="18" charset="0"/>
                  <a:ea typeface="微软雅黑" panose="020B0503020204020204"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342900" y="1085215"/>
                <a:ext cx="8366125" cy="5573395"/>
              </a:xfrm>
              <a:prstGeom prst="rect">
                <a:avLst/>
              </a:prstGeom>
              <a:blipFill rotWithShape="1">
                <a:blip r:embed="rId3"/>
                <a:stretch>
                  <a:fillRect/>
                </a:stretch>
              </a:blipFill>
            </p:spPr>
            <p:txBody>
              <a:bodyPr/>
              <a:lstStyle/>
              <a:p>
                <a:r>
                  <a:rPr lang="zh-CN" altLang="en-US">
                    <a:noFill/>
                  </a:rPr>
                  <a:t> </a:t>
                </a:r>
              </a:p>
            </p:txBody>
          </p:sp>
        </mc:Fallback>
      </mc:AlternateContent>
    </p:spTree>
    <p:custDataLst>
      <p:tags r:id="rId4"/>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9" name="矩形 7"/>
          <p:cNvSpPr/>
          <p:nvPr>
            <p:custDataLst>
              <p:tags r:id="rId1"/>
            </p:custDataLst>
          </p:nvPr>
        </p:nvSpPr>
        <p:spPr>
          <a:xfrm>
            <a:off x="0" y="0"/>
            <a:ext cx="9144000" cy="912114"/>
          </a:xfrm>
          <a:prstGeom prst="rect">
            <a:avLst/>
          </a:prstGeom>
          <a:solidFill>
            <a:schemeClr val="accent1"/>
          </a:solidFill>
          <a:ln w="12700">
            <a:miter lim="400000"/>
          </a:ln>
        </p:spPr>
        <p:txBody>
          <a:bodyPr lIns="0" tIns="0" rIns="0" bIns="0" anchor="ctr"/>
          <a:lstStyle/>
          <a:p>
            <a:pPr algn="ctr">
              <a:defRPr>
                <a:solidFill>
                  <a:srgbClr val="FFFFFF"/>
                </a:solidFill>
              </a:defRPr>
            </a:pPr>
            <a:endParaRPr sz="1015">
              <a:solidFill>
                <a:srgbClr val="FFFFFF"/>
              </a:solidFill>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altLang="en-US" sz="2000" dirty="0">
                <a:solidFill>
                  <a:schemeClr val="lt1"/>
                </a:solidFill>
                <a:sym typeface="+mn-ea"/>
              </a:rPr>
              <a:t>数、集合和表</a:t>
            </a:r>
            <a:endParaRPr lang="zh-CN" altLang="en-US" sz="2000" dirty="0">
              <a:solidFill>
                <a:schemeClr val="lt1"/>
              </a:solidFill>
              <a:sym typeface="+mn-ea"/>
            </a:endParaRPr>
          </a:p>
        </p:txBody>
      </p:sp>
      <p:sp>
        <p:nvSpPr>
          <p:cNvPr id="5" name="灯片编号占位符 3"/>
          <p:cNvSpPr txBox="1">
            <a:spLocks noGrp="1"/>
          </p:cNvSpPr>
          <p:nvPr>
            <p:ph type="sldNum" sz="quarter" idx="12"/>
            <p:custDataLst>
              <p:tags r:id="rId3"/>
            </p:custDataLst>
          </p:nvPr>
        </p:nvSpPr>
        <p:spPr>
          <a:xfrm>
            <a:off x="7465880" y="6285230"/>
            <a:ext cx="1335352" cy="277813"/>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charset="-122"/>
                <a:ea typeface="微软雅黑" panose="020B0503020204020204" charset="-122"/>
                <a:sym typeface="+mn-ea"/>
              </a:rPr>
            </a:fld>
            <a:endParaRPr lang="zh-CN" altLang="en-US" sz="1400" dirty="0">
              <a:solidFill>
                <a:schemeClr val="dk1"/>
              </a:solidFill>
              <a:latin typeface="微软雅黑" panose="020B0503020204020204" charset="-122"/>
              <a:ea typeface="微软雅黑" panose="020B0503020204020204" charset="-122"/>
              <a:sym typeface="+mn-ea"/>
            </a:endParaRPr>
          </a:p>
        </p:txBody>
      </p:sp>
      <mc:AlternateContent xmlns:mc="http://schemas.openxmlformats.org/markup-compatibility/2006">
        <mc:Choice xmlns:a14="http://schemas.microsoft.com/office/drawing/2010/main" Requires="a14">
          <p:sp>
            <p:nvSpPr>
              <p:cNvPr id="2" name="文本框 1"/>
              <p:cNvSpPr txBox="1"/>
              <p:nvPr/>
            </p:nvSpPr>
            <p:spPr>
              <a:xfrm>
                <a:off x="683260" y="911860"/>
                <a:ext cx="7777480" cy="5737860"/>
              </a:xfrm>
              <a:prstGeom prst="rect">
                <a:avLst/>
              </a:prstGeom>
              <a:noFill/>
            </p:spPr>
            <p:txBody>
              <a:bodyPr wrap="none" rtlCol="0">
                <a:spAutoFit/>
              </a:bodyPr>
              <a:lstStyle/>
              <a:p>
                <a:pPr algn="l">
                  <a:lnSpc>
                    <a:spcPct val="120000"/>
                  </a:lnSpc>
                </a:pPr>
                <a:r>
                  <a:rPr lang="zh-CN" altLang="en-US">
                    <a:latin typeface="Times New Roman" panose="02020603050405020304" pitchFamily="18" charset="0"/>
                    <a:ea typeface="微软雅黑" panose="020B0503020204020204" charset="-122"/>
                    <a:cs typeface="Times New Roman" panose="02020603050405020304" pitchFamily="18" charset="0"/>
                  </a:rPr>
                  <a:t>以</a:t>
                </a:r>
                <a:r>
                  <a:rPr lang="zh-CN" altLang="en-US" b="1">
                    <a:solidFill>
                      <a:srgbClr val="0070C0"/>
                    </a:solidFill>
                    <a:latin typeface="Times New Roman" panose="02020603050405020304" pitchFamily="18" charset="0"/>
                    <a:ea typeface="微软雅黑" panose="020B0503020204020204" charset="-122"/>
                    <a:cs typeface="Times New Roman" panose="02020603050405020304" pitchFamily="18" charset="0"/>
                  </a:rPr>
                  <a:t>自然数</a:t>
                </a:r>
                <a:r>
                  <a:rPr lang="zh-CN" altLang="en-US">
                    <a:latin typeface="Times New Roman" panose="02020603050405020304" pitchFamily="18" charset="0"/>
                    <a:ea typeface="微软雅黑" panose="020B0503020204020204" charset="-122"/>
                    <a:cs typeface="Times New Roman" panose="02020603050405020304" pitchFamily="18" charset="0"/>
                  </a:rPr>
                  <a:t>为例：谓词</a:t>
                </a:r>
                <a:r>
                  <a:rPr lang="en-US" altLang="zh-CN">
                    <a:latin typeface="Times New Roman" panose="02020603050405020304" pitchFamily="18" charset="0"/>
                    <a:ea typeface="微软雅黑" panose="020B0503020204020204" charset="-122"/>
                    <a:cs typeface="Times New Roman" panose="02020603050405020304" pitchFamily="18" charset="0"/>
                  </a:rPr>
                  <a:t> </a:t>
                </a:r>
                <a:r>
                  <a:rPr lang="en-US" altLang="zh-CN" i="1">
                    <a:latin typeface="Times New Roman" panose="02020603050405020304" pitchFamily="18" charset="0"/>
                    <a:ea typeface="微软雅黑" panose="020B0503020204020204" charset="-122"/>
                    <a:cs typeface="Times New Roman" panose="02020603050405020304" pitchFamily="18" charset="0"/>
                  </a:rPr>
                  <a:t>NatNum </a:t>
                </a:r>
                <a:r>
                  <a:rPr lang="zh-CN" altLang="en-US">
                    <a:latin typeface="Times New Roman" panose="02020603050405020304" pitchFamily="18" charset="0"/>
                    <a:ea typeface="微软雅黑" panose="020B0503020204020204" charset="-122"/>
                    <a:cs typeface="Times New Roman" panose="02020603050405020304" pitchFamily="18" charset="0"/>
                  </a:rPr>
                  <a:t>表示是否自然数</a:t>
                </a:r>
                <a:r>
                  <a:rPr lang="en-US" altLang="zh-CN">
                    <a:latin typeface="Times New Roman" panose="02020603050405020304" pitchFamily="18" charset="0"/>
                    <a:ea typeface="微软雅黑" panose="020B0503020204020204" charset="-122"/>
                    <a:cs typeface="Times New Roman" panose="02020603050405020304" pitchFamily="18" charset="0"/>
                  </a:rPr>
                  <a:t>; </a:t>
                </a:r>
                <a:r>
                  <a:rPr lang="zh-CN" altLang="en-US">
                    <a:latin typeface="Times New Roman" panose="02020603050405020304" pitchFamily="18" charset="0"/>
                    <a:ea typeface="微软雅黑" panose="020B0503020204020204" charset="-122"/>
                    <a:cs typeface="Times New Roman" panose="02020603050405020304" pitchFamily="18" charset="0"/>
                  </a:rPr>
                  <a:t>常数符号</a:t>
                </a:r>
                <a:r>
                  <a:rPr lang="en-US" altLang="zh-CN">
                    <a:latin typeface="Times New Roman" panose="02020603050405020304" pitchFamily="18" charset="0"/>
                    <a:ea typeface="微软雅黑" panose="020B0503020204020204" charset="-122"/>
                    <a:cs typeface="Times New Roman" panose="02020603050405020304" pitchFamily="18" charset="0"/>
                  </a:rPr>
                  <a:t>0; </a:t>
                </a:r>
                <a:r>
                  <a:rPr lang="zh-CN" altLang="en-US">
                    <a:latin typeface="Times New Roman" panose="02020603050405020304" pitchFamily="18" charset="0"/>
                    <a:ea typeface="微软雅黑" panose="020B0503020204020204" charset="-122"/>
                    <a:cs typeface="Times New Roman" panose="02020603050405020304" pitchFamily="18" charset="0"/>
                  </a:rPr>
                  <a:t>函词</a:t>
                </a:r>
                <a:r>
                  <a:rPr lang="en-US" altLang="zh-CN">
                    <a:latin typeface="Times New Roman" panose="02020603050405020304" pitchFamily="18" charset="0"/>
                    <a:ea typeface="微软雅黑" panose="020B0503020204020204" charset="-122"/>
                    <a:cs typeface="Times New Roman" panose="02020603050405020304" pitchFamily="18" charset="0"/>
                  </a:rPr>
                  <a:t>S</a:t>
                </a:r>
                <a:r>
                  <a:rPr lang="zh-CN" altLang="en-US">
                    <a:latin typeface="Times New Roman" panose="02020603050405020304" pitchFamily="18" charset="0"/>
                    <a:ea typeface="微软雅黑" panose="020B0503020204020204" charset="-122"/>
                    <a:cs typeface="Times New Roman" panose="02020603050405020304" pitchFamily="18" charset="0"/>
                  </a:rPr>
                  <a:t>（后继）</a:t>
                </a:r>
                <a:r>
                  <a:rPr lang="en-US" altLang="zh-CN">
                    <a:latin typeface="Times New Roman" panose="02020603050405020304" pitchFamily="18" charset="0"/>
                    <a:ea typeface="微软雅黑" panose="020B0503020204020204" charset="-122"/>
                    <a:cs typeface="Times New Roman" panose="02020603050405020304" pitchFamily="18" charset="0"/>
                  </a:rPr>
                  <a:t> </a:t>
                </a:r>
                <a:endParaRPr lang="en-US" altLang="zh-CN">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r>
                  <a:rPr lang="zh-CN" altLang="en-US" b="1">
                    <a:solidFill>
                      <a:srgbClr val="0070C0"/>
                    </a:solidFill>
                    <a:latin typeface="Times New Roman" panose="02020603050405020304" pitchFamily="18" charset="0"/>
                    <a:ea typeface="微软雅黑" panose="020B0503020204020204" charset="-122"/>
                    <a:cs typeface="Times New Roman" panose="02020603050405020304" pitchFamily="18" charset="0"/>
                  </a:rPr>
                  <a:t>自然数的递归定义</a:t>
                </a:r>
                <a:endParaRPr lang="zh-CN" altLang="en-US" b="1">
                  <a:solidFill>
                    <a:srgbClr val="0070C0"/>
                  </a:solidFill>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𝑁𝑎𝑡𝑁𝑢𝑚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oMath>
                  </m:oMathPara>
                </a14:m>
                <a:endParaRPr lang="en-US" altLang="zh-CN" i="1">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 </m:t>
                      </m:r>
                      <m:r>
                        <a:rPr lang="en-US" altLang="zh-CN" i="1">
                          <a:latin typeface="Cambria Math" panose="02040503050406030204" charset="0"/>
                          <a:ea typeface="微软雅黑" panose="020B0503020204020204" charset="-122"/>
                          <a:cs typeface="Cambria Math" panose="02040503050406030204" charset="0"/>
                        </a:rPr>
                        <m:t>𝑁𝑎𝑡𝑁𝑢𝑚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𝑁𝑎𝑡𝑁𝑢𝑚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𝑆</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oMath>
                  </m:oMathPara>
                </a14:m>
                <a:endParaRPr lang="en-US" altLang="zh-CN" i="1">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r>
                  <a:rPr lang="zh-CN" altLang="en-US">
                    <a:latin typeface="Times New Roman" panose="02020603050405020304" pitchFamily="18" charset="0"/>
                    <a:ea typeface="微软雅黑" panose="020B0503020204020204" charset="-122"/>
                    <a:cs typeface="Times New Roman" panose="02020603050405020304" pitchFamily="18" charset="0"/>
                  </a:rPr>
                  <a:t>即：</a:t>
                </a:r>
                <a:r>
                  <a:rPr lang="en-US" altLang="zh-CN">
                    <a:latin typeface="Times New Roman" panose="02020603050405020304" pitchFamily="18" charset="0"/>
                    <a:ea typeface="微软雅黑" panose="020B0503020204020204" charset="-122"/>
                    <a:cs typeface="Times New Roman" panose="02020603050405020304" pitchFamily="18" charset="0"/>
                  </a:rPr>
                  <a:t>0</a:t>
                </a:r>
                <a:r>
                  <a:rPr lang="zh-CN" altLang="en-US">
                    <a:latin typeface="Times New Roman" panose="02020603050405020304" pitchFamily="18" charset="0"/>
                    <a:ea typeface="微软雅黑" panose="020B0503020204020204" charset="-122"/>
                    <a:cs typeface="Times New Roman" panose="02020603050405020304" pitchFamily="18" charset="0"/>
                  </a:rPr>
                  <a:t>是自然数，而且对于每个对象</a:t>
                </a:r>
                <a:r>
                  <a:rPr lang="en-US" altLang="zh-CN">
                    <a:latin typeface="Times New Roman" panose="02020603050405020304" pitchFamily="18" charset="0"/>
                    <a:ea typeface="微软雅黑" panose="020B0503020204020204" charset="-122"/>
                    <a:cs typeface="Times New Roman" panose="02020603050405020304" pitchFamily="18" charset="0"/>
                  </a:rPr>
                  <a:t>n</a:t>
                </a:r>
                <a:r>
                  <a:rPr lang="zh-CN" altLang="en-US">
                    <a:latin typeface="Times New Roman" panose="02020603050405020304" pitchFamily="18" charset="0"/>
                    <a:ea typeface="微软雅黑" panose="020B0503020204020204" charset="-122"/>
                    <a:cs typeface="Times New Roman" panose="02020603050405020304" pitchFamily="18" charset="0"/>
                  </a:rPr>
                  <a:t>，如果</a:t>
                </a:r>
                <a:r>
                  <a:rPr lang="en-US" altLang="zh-CN">
                    <a:latin typeface="Times New Roman" panose="02020603050405020304" pitchFamily="18" charset="0"/>
                    <a:ea typeface="微软雅黑" panose="020B0503020204020204" charset="-122"/>
                    <a:cs typeface="Times New Roman" panose="02020603050405020304" pitchFamily="18" charset="0"/>
                  </a:rPr>
                  <a:t>n</a:t>
                </a:r>
                <a:r>
                  <a:rPr lang="zh-CN" altLang="en-US">
                    <a:latin typeface="Times New Roman" panose="02020603050405020304" pitchFamily="18" charset="0"/>
                    <a:ea typeface="微软雅黑" panose="020B0503020204020204" charset="-122"/>
                    <a:cs typeface="Times New Roman" panose="02020603050405020304" pitchFamily="18" charset="0"/>
                  </a:rPr>
                  <a:t>是自然数，那么</a:t>
                </a:r>
                <a:r>
                  <a:rPr lang="en-US" altLang="zh-CN">
                    <a:latin typeface="Times New Roman" panose="02020603050405020304" pitchFamily="18" charset="0"/>
                    <a:ea typeface="微软雅黑" panose="020B0503020204020204" charset="-122"/>
                    <a:cs typeface="Times New Roman" panose="02020603050405020304" pitchFamily="18" charset="0"/>
                  </a:rPr>
                  <a:t>S(n)</a:t>
                </a:r>
                <a:r>
                  <a:rPr lang="zh-CN" altLang="en-US">
                    <a:latin typeface="Times New Roman" panose="02020603050405020304" pitchFamily="18" charset="0"/>
                    <a:ea typeface="微软雅黑" panose="020B0503020204020204" charset="-122"/>
                    <a:cs typeface="Times New Roman" panose="02020603050405020304" pitchFamily="18" charset="0"/>
                  </a:rPr>
                  <a:t>是自然数。</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endParaRPr lang="zh-CN" altLang="en-US" b="1">
                  <a:solidFill>
                    <a:srgbClr val="0070C0"/>
                  </a:solidFill>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r>
                  <a:rPr lang="zh-CN" altLang="en-US" b="1">
                    <a:solidFill>
                      <a:srgbClr val="0070C0"/>
                    </a:solidFill>
                    <a:latin typeface="Times New Roman" panose="02020603050405020304" pitchFamily="18" charset="0"/>
                    <a:ea typeface="微软雅黑" panose="020B0503020204020204" charset="-122"/>
                    <a:cs typeface="Times New Roman" panose="02020603050405020304" pitchFamily="18" charset="0"/>
                  </a:rPr>
                  <a:t>对后继函数的约束</a:t>
                </a:r>
                <a:endParaRPr lang="zh-CN" altLang="en-US" b="1">
                  <a:solidFill>
                    <a:srgbClr val="0070C0"/>
                  </a:solidFill>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 </m:t>
                      </m:r>
                      <m:r>
                        <a:rPr lang="en-US" altLang="zh-CN" i="1">
                          <a:latin typeface="Cambria Math" panose="02040503050406030204" charset="0"/>
                          <a:ea typeface="MS Mincho" charset="0"/>
                          <a:cs typeface="Cambria Math" panose="02040503050406030204" charset="0"/>
                        </a:rPr>
                        <m:t>0</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𝑆</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oMath>
                  </m:oMathPara>
                </a14:m>
                <a:endParaRPr lang="en-US" altLang="zh-CN" i="1">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 </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 ⇒</m:t>
                      </m:r>
                      <m:r>
                        <a:rPr lang="en-US" altLang="zh-CN" i="1">
                          <a:latin typeface="Cambria Math" panose="02040503050406030204" charset="0"/>
                          <a:ea typeface="微软雅黑" panose="020B0503020204020204" charset="-122"/>
                          <a:cs typeface="Cambria Math" panose="02040503050406030204" charset="0"/>
                        </a:rPr>
                        <m:t>𝑆</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𝑆</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oMath>
                  </m:oMathPara>
                </a14:m>
                <a:endParaRPr lang="en-US" altLang="zh-CN" i="1">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endParaRPr lang="zh-CN" altLang="en-US" b="1">
                  <a:solidFill>
                    <a:srgbClr val="0070C0"/>
                  </a:solidFill>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r>
                  <a:rPr lang="zh-CN" altLang="en-US" b="1">
                    <a:solidFill>
                      <a:srgbClr val="0070C0"/>
                    </a:solidFill>
                    <a:latin typeface="Times New Roman" panose="02020603050405020304" pitchFamily="18" charset="0"/>
                    <a:ea typeface="微软雅黑" panose="020B0503020204020204" charset="-122"/>
                    <a:cs typeface="Times New Roman" panose="02020603050405020304" pitchFamily="18" charset="0"/>
                  </a:rPr>
                  <a:t>用后继函数来定义加法</a:t>
                </a:r>
                <a:endParaRPr lang="en-US" altLang="zh-CN" b="1">
                  <a:solidFill>
                    <a:srgbClr val="0070C0"/>
                  </a:solidFill>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 </m:t>
                      </m:r>
                      <m:r>
                        <a:rPr lang="en-US" altLang="zh-CN" i="1">
                          <a:latin typeface="Cambria Math" panose="02040503050406030204" charset="0"/>
                          <a:ea typeface="微软雅黑" panose="020B0503020204020204" charset="-122"/>
                          <a:cs typeface="Cambria Math" panose="02040503050406030204" charset="0"/>
                        </a:rPr>
                        <m:t>𝑁𝑎𝑡𝑛𝑢𝑚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0</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oMath>
                  </m:oMathPara>
                </a14:m>
                <a:endParaRPr lang="en-US" altLang="zh-CN" i="1">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 </m:t>
                      </m:r>
                      <m:r>
                        <a:rPr lang="en-US" altLang="zh-CN" i="1">
                          <a:latin typeface="Cambria Math" panose="02040503050406030204" charset="0"/>
                          <a:ea typeface="微软雅黑" panose="020B0503020204020204" charset="-122"/>
                          <a:cs typeface="Cambria Math" panose="02040503050406030204" charset="0"/>
                        </a:rPr>
                        <m:t>𝑁𝑎𝑡𝑛𝑢𝑚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𝑁𝑎𝑡𝑛𝑢𝑚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 ⇒+(</m:t>
                      </m:r>
                      <m:r>
                        <a:rPr lang="en-US" altLang="zh-CN" i="1">
                          <a:latin typeface="Cambria Math" panose="02040503050406030204" charset="0"/>
                          <a:ea typeface="微软雅黑" panose="020B0503020204020204" charset="-122"/>
                          <a:cs typeface="Cambria Math" panose="02040503050406030204" charset="0"/>
                        </a:rPr>
                        <m:t>𝑆</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𝑆</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oMath>
                  </m:oMathPara>
                </a14:m>
                <a:endParaRPr lang="en-US" altLang="zh-CN" i="1">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r>
                  <a:rPr lang="zh-CN" altLang="en-US">
                    <a:latin typeface="Times New Roman" panose="02020603050405020304" pitchFamily="18" charset="0"/>
                    <a:ea typeface="微软雅黑" panose="020B0503020204020204" charset="-122"/>
                    <a:cs typeface="Times New Roman" panose="02020603050405020304" pitchFamily="18" charset="0"/>
                  </a:rPr>
                  <a:t>第一条：</a:t>
                </a:r>
                <a:r>
                  <a:rPr lang="en-US" altLang="zh-CN">
                    <a:latin typeface="Times New Roman" panose="02020603050405020304" pitchFamily="18" charset="0"/>
                    <a:ea typeface="微软雅黑" panose="020B0503020204020204" charset="-122"/>
                    <a:cs typeface="Times New Roman" panose="02020603050405020304" pitchFamily="18" charset="0"/>
                  </a:rPr>
                  <a:t>0</a:t>
                </a:r>
                <a:r>
                  <a:rPr lang="zh-CN" altLang="en-US">
                    <a:latin typeface="Times New Roman" panose="02020603050405020304" pitchFamily="18" charset="0"/>
                    <a:ea typeface="微软雅黑" panose="020B0503020204020204" charset="-122"/>
                    <a:cs typeface="Times New Roman" panose="02020603050405020304" pitchFamily="18" charset="0"/>
                  </a:rPr>
                  <a:t>加上任何自然数</a:t>
                </a:r>
                <a:r>
                  <a:rPr lang="en-US" altLang="zh-CN">
                    <a:latin typeface="Times New Roman" panose="02020603050405020304" pitchFamily="18" charset="0"/>
                    <a:ea typeface="微软雅黑" panose="020B0503020204020204" charset="-122"/>
                    <a:cs typeface="Times New Roman" panose="02020603050405020304" pitchFamily="18" charset="0"/>
                  </a:rPr>
                  <a:t>m</a:t>
                </a:r>
                <a:r>
                  <a:rPr lang="zh-CN" altLang="en-US">
                    <a:latin typeface="Times New Roman" panose="02020603050405020304" pitchFamily="18" charset="0"/>
                    <a:ea typeface="微软雅黑" panose="020B0503020204020204" charset="-122"/>
                    <a:cs typeface="Times New Roman" panose="02020603050405020304" pitchFamily="18" charset="0"/>
                  </a:rPr>
                  <a:t>得到</a:t>
                </a:r>
                <a:r>
                  <a:rPr lang="en-US" altLang="zh-CN">
                    <a:latin typeface="Times New Roman" panose="02020603050405020304" pitchFamily="18" charset="0"/>
                    <a:ea typeface="微软雅黑" panose="020B0503020204020204" charset="-122"/>
                    <a:cs typeface="Times New Roman" panose="02020603050405020304" pitchFamily="18" charset="0"/>
                  </a:rPr>
                  <a:t>m</a:t>
                </a:r>
                <a:r>
                  <a:rPr lang="zh-CN" altLang="en-US">
                    <a:latin typeface="Times New Roman" panose="02020603050405020304" pitchFamily="18" charset="0"/>
                    <a:ea typeface="微软雅黑" panose="020B0503020204020204" charset="-122"/>
                    <a:cs typeface="Times New Roman" panose="02020603050405020304" pitchFamily="18" charset="0"/>
                  </a:rPr>
                  <a:t>本身</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algn="l">
                  <a:lnSpc>
                    <a:spcPct val="120000"/>
                  </a:lnSpc>
                </a:pPr>
                <a:r>
                  <a:rPr lang="zh-CN" altLang="en-US">
                    <a:latin typeface="Times New Roman" panose="02020603050405020304" pitchFamily="18" charset="0"/>
                    <a:ea typeface="微软雅黑" panose="020B0503020204020204" charset="-122"/>
                    <a:cs typeface="Times New Roman" panose="02020603050405020304" pitchFamily="18" charset="0"/>
                    <a:sym typeface="+mn-ea"/>
                  </a:rPr>
                  <a:t>第二条：</a:t>
                </a:r>
                <a:r>
                  <a:rPr lang="en-US" altLang="zh-CN">
                    <a:latin typeface="Times New Roman" panose="02020603050405020304" pitchFamily="18" charset="0"/>
                    <a:ea typeface="微软雅黑" panose="020B0503020204020204" charset="-122"/>
                    <a:cs typeface="Times New Roman" panose="02020603050405020304" pitchFamily="18" charset="0"/>
                    <a:sym typeface="+mn-ea"/>
                  </a:rPr>
                  <a:t>+(m,0)</a:t>
                </a:r>
                <a:r>
                  <a:rPr lang="zh-CN" altLang="en-US">
                    <a:latin typeface="Times New Roman" panose="02020603050405020304" pitchFamily="18" charset="0"/>
                    <a:ea typeface="微软雅黑" panose="020B0503020204020204" charset="-122"/>
                    <a:cs typeface="Times New Roman" panose="02020603050405020304" pitchFamily="18" charset="0"/>
                    <a:sym typeface="+mn-ea"/>
                  </a:rPr>
                  <a:t>可以写成</a:t>
                </a:r>
                <a:r>
                  <a:rPr lang="en-US" altLang="zh-CN">
                    <a:latin typeface="Times New Roman" panose="02020603050405020304" pitchFamily="18" charset="0"/>
                    <a:ea typeface="微软雅黑" panose="020B0503020204020204" charset="-122"/>
                    <a:cs typeface="Times New Roman" panose="02020603050405020304" pitchFamily="18" charset="0"/>
                    <a:sym typeface="+mn-ea"/>
                  </a:rPr>
                  <a:t>m+0</a:t>
                </a:r>
                <a:r>
                  <a:rPr lang="zh-CN" altLang="en-US">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a:latin typeface="Times New Roman" panose="02020603050405020304" pitchFamily="18" charset="0"/>
                    <a:ea typeface="微软雅黑" panose="020B0503020204020204" charset="-122"/>
                    <a:cs typeface="Times New Roman" panose="02020603050405020304" pitchFamily="18" charset="0"/>
                    <a:sym typeface="+mn-ea"/>
                  </a:rPr>
                  <a:t>S(n)</a:t>
                </a:r>
                <a:r>
                  <a:rPr lang="zh-CN" altLang="en-US">
                    <a:latin typeface="Times New Roman" panose="02020603050405020304" pitchFamily="18" charset="0"/>
                    <a:ea typeface="微软雅黑" panose="020B0503020204020204" charset="-122"/>
                    <a:cs typeface="Times New Roman" panose="02020603050405020304" pitchFamily="18" charset="0"/>
                    <a:sym typeface="+mn-ea"/>
                  </a:rPr>
                  <a:t>可以写成</a:t>
                </a:r>
                <a:r>
                  <a:rPr lang="en-US" altLang="zh-CN">
                    <a:latin typeface="Times New Roman" panose="02020603050405020304" pitchFamily="18" charset="0"/>
                    <a:ea typeface="微软雅黑" panose="020B0503020204020204" charset="-122"/>
                    <a:cs typeface="Times New Roman" panose="02020603050405020304" pitchFamily="18" charset="0"/>
                    <a:sym typeface="+mn-ea"/>
                  </a:rPr>
                  <a:t>n+1</a:t>
                </a:r>
                <a:endParaRPr lang="en-US" altLang="zh-CN">
                  <a:latin typeface="Times New Roman" panose="02020603050405020304" pitchFamily="18" charset="0"/>
                  <a:ea typeface="微软雅黑" panose="020B0503020204020204" charset="-122"/>
                  <a:cs typeface="Times New Roman" panose="02020603050405020304" pitchFamily="18" charset="0"/>
                  <a:sym typeface="+mn-ea"/>
                </a:endParaRPr>
              </a:p>
              <a:p>
                <a:pPr algn="l">
                  <a:lnSpc>
                    <a:spcPct val="12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 </m:t>
                      </m:r>
                      <m:r>
                        <a:rPr lang="en-US" altLang="zh-CN" i="1">
                          <a:latin typeface="Cambria Math" panose="02040503050406030204" charset="0"/>
                          <a:ea typeface="微软雅黑" panose="020B0503020204020204" charset="-122"/>
                          <a:cs typeface="Cambria Math" panose="02040503050406030204" charset="0"/>
                        </a:rPr>
                        <m:t>𝑁𝑎𝑡𝑛𝑢𝑚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𝑁𝑎𝑡𝑛𝑢𝑚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 ⇒(</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oMath>
                  </m:oMathPara>
                </a14:m>
                <a:endParaRPr lang="zh-CN" altLang="en-US">
                  <a:latin typeface="Times New Roman" panose="02020603050405020304" pitchFamily="18" charset="0"/>
                  <a:ea typeface="微软雅黑" panose="020B0503020204020204"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683260" y="911860"/>
                <a:ext cx="7777480" cy="5737860"/>
              </a:xfrm>
              <a:prstGeom prst="rect">
                <a:avLst/>
              </a:prstGeom>
              <a:blipFill rotWithShape="1">
                <a:blip r:embed="rId4"/>
                <a:stretch>
                  <a:fillRect/>
                </a:stretch>
              </a:blipFill>
            </p:spPr>
            <p:txBody>
              <a:bodyPr/>
              <a:lstStyle/>
              <a:p>
                <a:r>
                  <a:rPr lang="zh-CN" altLang="en-US">
                    <a:noFill/>
                  </a:rPr>
                  <a:t> </a:t>
                </a:r>
              </a:p>
            </p:txBody>
          </p:sp>
        </mc:Fallback>
      </mc:AlternateContent>
    </p:spTree>
    <p:custDataLst>
      <p:tags r:id="rId5"/>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a:solidFill>
                  <a:srgbClr val="0070C0"/>
                </a:solidFill>
                <a:latin typeface="微软雅黑" panose="020B0503020204020204" charset="-122"/>
                <a:sym typeface="+mn-ea"/>
              </a:rPr>
              <a:t>集合</a:t>
            </a:r>
            <a:br>
              <a:rPr lang="zh-CN" altLang="en-US" b="1" dirty="0">
                <a:solidFill>
                  <a:srgbClr val="0070C0"/>
                </a:solidFill>
                <a:latin typeface="微软雅黑" panose="020B0503020204020204" charset="-122"/>
                <a:ea typeface="微软雅黑" panose="020B0503020204020204" charset="-122"/>
                <a:sym typeface="+mn-ea"/>
              </a:rPr>
            </a:br>
            <a:endParaRPr lang="zh-CN" altLang="en-US"/>
          </a:p>
        </p:txBody>
      </p:sp>
      <p:sp>
        <p:nvSpPr>
          <p:cNvPr id="4" name="Rectangle 3"/>
          <p:cNvSpPr>
            <a:spLocks noGrp="1"/>
          </p:cNvSpPr>
          <p:nvPr>
            <p:custDataLst>
              <p:tags r:id="rId1"/>
            </p:custDataLst>
          </p:nvPr>
        </p:nvSpPr>
        <p:spPr>
          <a:xfrm>
            <a:off x="831850" y="1706880"/>
            <a:ext cx="7213600" cy="4217670"/>
          </a:xfrm>
          <a:prstGeom prst="rect">
            <a:avLst/>
          </a:prstGeom>
          <a:noFill/>
          <a:ln w="9525">
            <a:noFill/>
          </a:ln>
        </p:spPr>
        <p:txBody>
          <a:bodyPr vert="horz" wrap="square" lIns="91440" tIns="45720" rIns="91440" bIns="45720" rtlCol="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marL="0" lvl="0" indent="0" algn="l" defTabSz="914400">
              <a:lnSpc>
                <a:spcPct val="120000"/>
              </a:lnSpc>
              <a:buSzTx/>
              <a:buNone/>
            </a:pPr>
            <a:r>
              <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(1)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集合是空集或通过将一些元素添加到集合中而构成</a:t>
            </a:r>
            <a:endPar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endParaRPr>
          </a:p>
          <a:p>
            <a:pPr marL="0" lvl="0" indent="0" algn="l" defTabSz="914400">
              <a:lnSpc>
                <a:spcPct val="120000"/>
              </a:lnSpc>
              <a:buSzTx/>
              <a:buNone/>
            </a:pPr>
            <a:r>
              <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 Set(s)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(s = {} )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x,s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Set(s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s = {x|s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a:t>
            </a:r>
            <a:endPar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endParaRPr>
          </a:p>
          <a:p>
            <a:pPr marL="0" lvl="0" indent="0" algn="l" defTabSz="914400">
              <a:lnSpc>
                <a:spcPct val="120000"/>
              </a:lnSpc>
              <a:buSzTx/>
              <a:buNone/>
            </a:pPr>
            <a:r>
              <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(2) </a:t>
            </a:r>
            <a:r>
              <a:rPr lang="en-US" altLang="zh-CN"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空集没有任何元素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x, s {x|s} = {}</a:t>
            </a:r>
            <a:endPar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endParaRPr>
          </a:p>
          <a:p>
            <a:pPr marL="0" lvl="1" indent="0" algn="l" defTabSz="914400">
              <a:lnSpc>
                <a:spcPct val="120000"/>
              </a:lnSpc>
              <a:buSzTx/>
              <a:buNone/>
            </a:pPr>
            <a:r>
              <a:rPr lang="en-US" altLang="zh-CN"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(3) 将已经存在于集合的元素添加到集合</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中，该集合无任何变化</a:t>
            </a:r>
            <a:endPar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endParaRPr>
          </a:p>
          <a:p>
            <a:pPr marL="0" lvl="0" indent="0" algn="l" defTabSz="914400">
              <a:lnSpc>
                <a:spcPct val="120000"/>
              </a:lnSpc>
              <a:buSzTx/>
              <a:buNone/>
            </a:pPr>
            <a:r>
              <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x, s   x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s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s = {x|s}</a:t>
            </a:r>
            <a:endPar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endParaRPr>
          </a:p>
          <a:p>
            <a:pPr marL="0" lvl="1" indent="0" algn="l" defTabSz="914400">
              <a:lnSpc>
                <a:spcPct val="120000"/>
              </a:lnSpc>
              <a:buSzTx/>
              <a:buNone/>
            </a:pPr>
            <a:r>
              <a:rPr 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(4)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集合的元素是那些被添加到集合中的元素。</a:t>
            </a:r>
            <a:r>
              <a:rPr lang="en-US" altLang="zh-CN"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（递归的表示方式）</a:t>
            </a:r>
            <a:endPar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endParaRPr>
          </a:p>
          <a:p>
            <a:pPr marL="0" lvl="0" indent="0" algn="l" defTabSz="914400">
              <a:lnSpc>
                <a:spcPct val="120000"/>
              </a:lnSpc>
              <a:buSzTx/>
              <a:buNone/>
            </a:pPr>
            <a:r>
              <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x, s x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s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y,s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(s = {y|s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(x = y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x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a:t>
            </a:r>
            <a:endPar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endParaRPr>
          </a:p>
          <a:p>
            <a:pPr marL="0" lvl="0" indent="0" algn="l" defTabSz="914400">
              <a:lnSpc>
                <a:spcPct val="120000"/>
              </a:lnSpc>
              <a:buSzTx/>
              <a:buNone/>
            </a:pPr>
            <a:r>
              <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(5)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x x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x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子集</a:t>
            </a:r>
            <a:endPar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endParaRPr>
          </a:p>
          <a:p>
            <a:pPr marL="0" lvl="0" indent="0" algn="l" defTabSz="914400">
              <a:lnSpc>
                <a:spcPct val="120000"/>
              </a:lnSpc>
              <a:buSzTx/>
              <a:buNone/>
            </a:pPr>
            <a:r>
              <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(6)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(s1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集合相等</a:t>
            </a:r>
            <a:endPar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endParaRPr>
          </a:p>
          <a:p>
            <a:pPr marL="0" lvl="0" indent="0" algn="l" defTabSz="914400">
              <a:lnSpc>
                <a:spcPct val="120000"/>
              </a:lnSpc>
              <a:buSzTx/>
              <a:buNone/>
            </a:pPr>
            <a:r>
              <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(7)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x,s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x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(x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x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交集</a:t>
            </a:r>
            <a:endPar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endParaRPr>
          </a:p>
          <a:p>
            <a:pPr marL="0" lvl="0" indent="0" algn="l" defTabSz="914400">
              <a:lnSpc>
                <a:spcPct val="120000"/>
              </a:lnSpc>
              <a:buSzTx/>
              <a:buNone/>
            </a:pPr>
            <a:r>
              <a:rPr lang="en-US" altLang="zh-CN"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(8)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x,s</a:t>
            </a:r>
            <a:r>
              <a:rPr lang="zh-CN" altLang="en-US" sz="1800" kern="12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x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(x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x </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18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1800" baseline="-250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rPr>
              <a:t>)  并集</a:t>
            </a:r>
            <a:endParaRPr lang="zh-CN" altLang="en-US" sz="1800" kern="1200" dirty="0">
              <a:solidFill>
                <a:schemeClr val="dk1"/>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3" name="文本框 2"/>
          <p:cNvSpPr txBox="1"/>
          <p:nvPr/>
        </p:nvSpPr>
        <p:spPr>
          <a:xfrm>
            <a:off x="1474470" y="498475"/>
            <a:ext cx="4947920" cy="92202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l"/>
            <a:r>
              <a:rPr lang="zh-CN" altLang="en-US" b="1">
                <a:solidFill>
                  <a:schemeClr val="tx1"/>
                </a:solidFill>
                <a:latin typeface="Times New Roman" panose="02020603050405020304" pitchFamily="18" charset="0"/>
                <a:ea typeface="微软雅黑" panose="020B0503020204020204" charset="-122"/>
                <a:cs typeface="Times New Roman" panose="02020603050405020304" pitchFamily="18" charset="0"/>
              </a:rPr>
              <a:t>一元谓词</a:t>
            </a:r>
            <a:r>
              <a:rPr lang="en-US" altLang="zh-CN" b="1">
                <a:solidFill>
                  <a:schemeClr val="tx1"/>
                </a:solidFill>
                <a:latin typeface="Times New Roman" panose="02020603050405020304" pitchFamily="18" charset="0"/>
                <a:ea typeface="微软雅黑" panose="020B0503020204020204" charset="-122"/>
                <a:cs typeface="Times New Roman" panose="02020603050405020304" pitchFamily="18" charset="0"/>
              </a:rPr>
              <a:t>	Set</a:t>
            </a:r>
            <a:endParaRPr lang="en-US" altLang="zh-CN" b="1">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algn="l"/>
            <a:r>
              <a:rPr lang="zh-CN" altLang="en-US" b="1">
                <a:solidFill>
                  <a:schemeClr val="tx1"/>
                </a:solidFill>
                <a:latin typeface="Times New Roman" panose="02020603050405020304" pitchFamily="18" charset="0"/>
                <a:ea typeface="微软雅黑" panose="020B0503020204020204" charset="-122"/>
                <a:cs typeface="Times New Roman" panose="02020603050405020304" pitchFamily="18" charset="0"/>
              </a:rPr>
              <a:t>二元谓词</a:t>
            </a:r>
            <a:r>
              <a:rPr lang="en-US" altLang="zh-CN" b="1">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x </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 s</a:t>
            </a:r>
            <a:r>
              <a:rPr lang="en-US" altLang="zh-CN"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s1 </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 s2</a:t>
            </a:r>
            <a:endPar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endParaRPr>
          </a:p>
          <a:p>
            <a:pPr algn="l"/>
            <a:r>
              <a:rPr lang="zh-CN" altLang="en-US" b="1">
                <a:solidFill>
                  <a:schemeClr val="tx1"/>
                </a:solidFill>
                <a:latin typeface="Times New Roman" panose="02020603050405020304" pitchFamily="18" charset="0"/>
                <a:ea typeface="微软雅黑" panose="020B0503020204020204" charset="-122"/>
                <a:cs typeface="Times New Roman" panose="02020603050405020304" pitchFamily="18" charset="0"/>
              </a:rPr>
              <a:t>二元函词</a:t>
            </a:r>
            <a:r>
              <a:rPr lang="en-US" altLang="zh-CN" b="1">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{x|s}</a:t>
            </a:r>
            <a:r>
              <a:rPr lang="en-US" altLang="zh-CN"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b="1"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 </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b="1"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b="1"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b="1"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b="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 s</a:t>
            </a:r>
            <a:r>
              <a:rPr lang="zh-CN" altLang="en-US" b="1"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2</a:t>
            </a:r>
            <a:endParaRPr lang="zh-CN" altLang="en-US" b="1"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spTree>
    <p:custDataLst>
      <p:tags r:id="rId2"/>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p:nvPr/>
        </p:nvSpPr>
        <p:spPr>
          <a:xfrm>
            <a:off x="7239000" y="6629400"/>
            <a:ext cx="1905000" cy="228600"/>
          </a:xfrm>
          <a:prstGeom prst="rect">
            <a:avLst/>
          </a:prstGeom>
          <a:noFill/>
          <a:ln w="9525">
            <a:noFill/>
          </a:ln>
        </p:spPr>
        <p:txBody>
          <a:bodyPr/>
          <a:lstStyle/>
          <a:p>
            <a:pPr algn="r">
              <a:buClr>
                <a:srgbClr val="000000"/>
              </a:buClr>
              <a:buSzPct val="100000"/>
            </a:pPr>
            <a:r>
              <a:rPr lang="en-US" altLang="zh-CN" sz="1400" b="1">
                <a:solidFill>
                  <a:srgbClr val="003366"/>
                </a:solidFill>
                <a:latin typeface="Eras Bold ITC" panose="020B0907030504020204" pitchFamily="34" charset="0"/>
              </a:rPr>
              <a:t>4/44</a:t>
            </a:r>
            <a:endParaRPr lang="en-US" altLang="zh-CN" sz="1400" b="1">
              <a:solidFill>
                <a:srgbClr val="003366"/>
              </a:solidFill>
              <a:latin typeface="Eras Bold ITC" panose="020B0907030504020204" pitchFamily="34" charset="0"/>
            </a:endParaRPr>
          </a:p>
        </p:txBody>
      </p:sp>
      <p:sp>
        <p:nvSpPr>
          <p:cNvPr id="3" name="文本框 2"/>
          <p:cNvSpPr txBox="1"/>
          <p:nvPr/>
        </p:nvSpPr>
        <p:spPr>
          <a:xfrm>
            <a:off x="294005" y="2158365"/>
            <a:ext cx="4082415" cy="700405"/>
          </a:xfrm>
          <a:prstGeom prst="rect">
            <a:avLst/>
          </a:prstGeom>
          <a:noFill/>
        </p:spPr>
        <p:txBody>
          <a:bodyPr wrap="square" rtlCol="0" anchor="t">
            <a:spAutoFit/>
          </a:bodyPr>
          <a:lstStyle/>
          <a:p>
            <a:pPr marL="342900" indent="-342900" eaLnBrk="0" hangingPunct="0">
              <a:spcBef>
                <a:spcPct val="20000"/>
              </a:spcBef>
              <a:buSzPct val="100000"/>
              <a:buChar char="•"/>
            </a:pPr>
            <a:endParaRPr lang="zh-CN" altLang="en-US" sz="1800" dirty="0">
              <a:latin typeface="微软雅黑" panose="020B0503020204020204" charset="-122"/>
              <a:ea typeface="微软雅黑" panose="020B0503020204020204" charset="-122"/>
              <a:sym typeface="+mn-ea"/>
            </a:endParaRPr>
          </a:p>
          <a:p>
            <a:pPr marL="342900" indent="-342900" eaLnBrk="0" hangingPunct="0">
              <a:spcBef>
                <a:spcPct val="20000"/>
              </a:spcBef>
              <a:buSzPct val="100000"/>
              <a:buChar char="•"/>
            </a:pPr>
            <a:endParaRPr lang="zh-CN" altLang="en-US" sz="1800" dirty="0">
              <a:latin typeface="微软雅黑" panose="020B0503020204020204" charset="-122"/>
              <a:ea typeface="微软雅黑" panose="020B0503020204020204" charset="-122"/>
              <a:sym typeface="+mn-ea"/>
            </a:endParaRPr>
          </a:p>
        </p:txBody>
      </p:sp>
      <p:sp>
        <p:nvSpPr>
          <p:cNvPr id="134146" name="Rectangle 2"/>
          <p:cNvSpPr>
            <a:spLocks noGrp="1" noChangeArrowheads="1"/>
          </p:cNvSpPr>
          <p:nvPr/>
        </p:nvSpPr>
        <p:spPr>
          <a:xfrm>
            <a:off x="329565" y="37465"/>
            <a:ext cx="7772400" cy="732155"/>
          </a:xfrm>
          <a:prstGeom prst="rect">
            <a:avLst/>
          </a:prstGeom>
        </p:spPr>
        <p:txBody>
          <a:bodyPr vert="horz" wrap="square" lIns="91440" tIns="45720" rIns="91440" bIns="45720" numCol="1" rtlCol="0" anchor="ctr" anchorCtr="0" compatLnSpc="1">
            <a:normAutofit fontScale="97500"/>
          </a:bodyPr>
          <a:lst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a:lstStyle>
          <a:p>
            <a:pPr marL="0" marR="0" lvl="0" indent="0" algn="l" defTabSz="914400" rtl="0" eaLnBrk="1" fontAlgn="base" latinLnBrk="1" hangingPunct="1">
              <a:lnSpc>
                <a:spcPct val="100000"/>
              </a:lnSpc>
              <a:spcBef>
                <a:spcPct val="0"/>
              </a:spcBef>
              <a:spcAft>
                <a:spcPct val="0"/>
              </a:spcAft>
              <a:buClrTx/>
              <a:buSzTx/>
              <a:buFontTx/>
              <a:buNone/>
              <a:defRPr/>
            </a:pPr>
            <a:r>
              <a:rPr lang="zh-CN" sz="3100">
                <a:solidFill>
                  <a:schemeClr val="lt1"/>
                </a:solidFill>
                <a:sym typeface="+mn-ea"/>
              </a:rPr>
              <a:t>一阶谓词逻辑（First-order Logic，</a:t>
            </a:r>
            <a:r>
              <a:rPr lang="en-US" altLang="zh-CN" sz="3100">
                <a:solidFill>
                  <a:schemeClr val="lt1"/>
                </a:solidFill>
                <a:sym typeface="+mn-ea"/>
              </a:rPr>
              <a:t>FOL</a:t>
            </a:r>
            <a:r>
              <a:rPr lang="zh-CN" sz="3100">
                <a:solidFill>
                  <a:schemeClr val="lt1"/>
                </a:solidFill>
                <a:sym typeface="+mn-ea"/>
              </a:rPr>
              <a:t>）</a:t>
            </a:r>
            <a:endParaRPr kumimoji="1" lang="zh-CN" altLang="en-US" sz="4000" b="1" i="0" u="none" strike="noStrike" kern="1200" cap="none" spc="0" normalizeH="0" baseline="0" noProof="0" dirty="0">
              <a:ln>
                <a:noFill/>
              </a:ln>
              <a:solidFill>
                <a:schemeClr val="bg1"/>
              </a:solidFill>
              <a:effectLst/>
              <a:uLnTx/>
              <a:uFillTx/>
              <a:latin typeface="微软雅黑" panose="020B0503020204020204" charset="-122"/>
              <a:cs typeface="微软雅黑" panose="020B0503020204020204" charset="-122"/>
              <a:sym typeface="+mn-ea"/>
            </a:endParaRPr>
          </a:p>
        </p:txBody>
      </p:sp>
      <p:sp>
        <p:nvSpPr>
          <p:cNvPr id="2" name="文本框 1"/>
          <p:cNvSpPr txBox="1"/>
          <p:nvPr/>
        </p:nvSpPr>
        <p:spPr>
          <a:xfrm>
            <a:off x="756285" y="2681605"/>
            <a:ext cx="7588250" cy="3002280"/>
          </a:xfrm>
          <a:prstGeom prst="rect">
            <a:avLst/>
          </a:prstGeom>
          <a:noFill/>
        </p:spPr>
        <p:txBody>
          <a:bodyPr wrap="square" rtlCol="0" anchor="t">
            <a:spAutoFit/>
          </a:bodyPr>
          <a:lstStyle/>
          <a:p>
            <a:pPr lvl="0" indent="457200" algn="l" fontAlgn="ctr">
              <a:lnSpc>
                <a:spcPct val="130000"/>
              </a:lnSpc>
              <a:spcBef>
                <a:spcPts val="1000"/>
              </a:spcBef>
              <a:spcAft>
                <a:spcPts val="0"/>
              </a:spcAft>
              <a:buSzPct val="100000"/>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7.2.1	谓词基本概念</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ClrTx/>
              <a:buSzTx/>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7.2.2	一阶谓词逻辑</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ClrTx/>
              <a:buSzTx/>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7.2.3	如何使用一阶逻辑语言</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ClrTx/>
              <a:buSzTx/>
              <a:buFont typeface="Wingdings" panose="05000000000000000000" charset="0"/>
            </a:pPr>
            <a:r>
              <a:rPr lang="en-US" altLang="zh-CN" sz="24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rPr>
              <a:t>7.2.4	谓词知识表示（一阶逻辑的知识工程）</a:t>
            </a:r>
            <a:endParaRPr lang="en-US" altLang="zh-CN" sz="24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SzPct val="100000"/>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7.2.5	谓词逻辑归结原理</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nvSpPr>
        <p:spPr>
          <a:xfrm>
            <a:off x="501015" y="1292860"/>
            <a:ext cx="7842885" cy="865505"/>
          </a:xfrm>
          <a:prstGeom prst="rect">
            <a:avLst/>
          </a:prstGeom>
          <a:noFill/>
        </p:spPr>
        <p:txBody>
          <a:bodyPr wrap="square" rtlCol="0" anchor="t">
            <a:spAutoFit/>
          </a:bodyPr>
          <a:lstStyle/>
          <a:p>
            <a:pPr algn="ctr">
              <a:lnSpc>
                <a:spcPct val="140000"/>
              </a:lnSpc>
            </a:pPr>
            <a:r>
              <a:rPr lang="zh-CN" altLang="en-US" b="1">
                <a:solidFill>
                  <a:srgbClr val="C00000"/>
                </a:solidFill>
                <a:latin typeface="微软雅黑" panose="020B0503020204020204" charset="-122"/>
                <a:ea typeface="微软雅黑" panose="020B0503020204020204" charset="-122"/>
                <a:cs typeface="微软雅黑" panose="020B0503020204020204" charset="-122"/>
                <a:sym typeface="+mn-ea"/>
              </a:rPr>
              <a:t>结合形式语言和自然语言的优势：</a:t>
            </a:r>
            <a:r>
              <a:rPr lang="zh-CN" altLang="en-US" b="1">
                <a:latin typeface="微软雅黑" panose="020B0503020204020204" charset="-122"/>
                <a:ea typeface="微软雅黑" panose="020B0503020204020204" charset="-122"/>
                <a:cs typeface="微软雅黑" panose="020B0503020204020204" charset="-122"/>
                <a:sym typeface="+mn-ea"/>
              </a:rPr>
              <a:t>采用命题逻辑的基础—陈述式、上下文无关、无歧义和合成语义，并借用自然语言的思想，构造更具表达能力的逻辑。</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文本占位符 16386"/>
          <p:cNvSpPr>
            <a:spLocks noGrp="1" noRot="1"/>
          </p:cNvSpPr>
          <p:nvPr>
            <p:ph type="body" idx="1"/>
          </p:nvPr>
        </p:nvSpPr>
        <p:spPr>
          <a:xfrm>
            <a:off x="213360" y="4267200"/>
            <a:ext cx="8820150" cy="5365115"/>
          </a:xfrm>
        </p:spPr>
        <p:txBody>
          <a:bodyPr/>
          <a:lstStyle/>
          <a:p>
            <a:pPr>
              <a:lnSpc>
                <a:spcPct val="80000"/>
              </a:lnSpc>
              <a:buNone/>
            </a:pPr>
            <a:r>
              <a:rPr lang="zh-CN" altLang="en-US" sz="2000" b="1">
                <a:latin typeface="微软雅黑" panose="020B0503020204020204" charset="-122"/>
                <a:cs typeface="微软雅黑" panose="020B0503020204020204" charset="-122"/>
              </a:rPr>
              <a:t>前提：</a:t>
            </a:r>
            <a:endParaRPr lang="zh-CN" altLang="en-US" sz="2000" b="1">
              <a:latin typeface="微软雅黑" panose="020B0503020204020204" charset="-122"/>
              <a:cs typeface="微软雅黑" panose="020B0503020204020204" charset="-122"/>
            </a:endParaRPr>
          </a:p>
          <a:p>
            <a:pPr>
              <a:lnSpc>
                <a:spcPct val="80000"/>
              </a:lnSpc>
              <a:buNone/>
            </a:pPr>
            <a:endParaRPr lang="zh-CN" altLang="en-US" sz="2000" b="1">
              <a:latin typeface="微软雅黑" panose="020B0503020204020204" charset="-122"/>
              <a:cs typeface="微软雅黑" panose="020B0503020204020204" charset="-122"/>
            </a:endParaRPr>
          </a:p>
          <a:p>
            <a:pPr>
              <a:lnSpc>
                <a:spcPct val="80000"/>
              </a:lnSpc>
              <a:buNone/>
            </a:pPr>
            <a:endParaRPr lang="zh-CN" altLang="en-US" sz="2000" b="1">
              <a:latin typeface="微软雅黑" panose="020B0503020204020204" charset="-122"/>
              <a:cs typeface="微软雅黑" panose="020B0503020204020204" charset="-122"/>
            </a:endParaRPr>
          </a:p>
          <a:p>
            <a:pPr>
              <a:lnSpc>
                <a:spcPct val="80000"/>
              </a:lnSpc>
              <a:buNone/>
            </a:pPr>
            <a:endParaRPr lang="zh-CN" altLang="en-US" sz="2000" b="1">
              <a:latin typeface="微软雅黑" panose="020B0503020204020204" charset="-122"/>
              <a:cs typeface="微软雅黑" panose="020B0503020204020204" charset="-122"/>
            </a:endParaRPr>
          </a:p>
          <a:p>
            <a:pPr>
              <a:lnSpc>
                <a:spcPct val="80000"/>
              </a:lnSpc>
              <a:buNone/>
            </a:pPr>
            <a:r>
              <a:rPr lang="en-US" altLang="zh-CN" sz="2000" b="1">
                <a:latin typeface="微软雅黑" panose="020B0503020204020204" charset="-122"/>
                <a:cs typeface="微软雅黑" panose="020B0503020204020204" charset="-122"/>
              </a:rPr>
              <a:t> </a:t>
            </a:r>
            <a:endParaRPr lang="en-US" altLang="zh-CN" sz="2000" b="1">
              <a:latin typeface="微软雅黑" panose="020B0503020204020204" charset="-122"/>
              <a:cs typeface="微软雅黑" panose="020B0503020204020204" charset="-122"/>
            </a:endParaRPr>
          </a:p>
        </p:txBody>
      </p:sp>
      <p:graphicFrame>
        <p:nvGraphicFramePr>
          <p:cNvPr id="16388" name="对象 16387"/>
          <p:cNvGraphicFramePr>
            <a:graphicFrameLocks noChangeAspect="1"/>
          </p:cNvGraphicFramePr>
          <p:nvPr/>
        </p:nvGraphicFramePr>
        <p:xfrm>
          <a:off x="1254760" y="4478020"/>
          <a:ext cx="7596187" cy="420688"/>
        </p:xfrm>
        <a:graphic>
          <a:graphicData uri="http://schemas.openxmlformats.org/presentationml/2006/ole">
            <mc:AlternateContent xmlns:mc="http://schemas.openxmlformats.org/markup-compatibility/2006">
              <mc:Choice xmlns:v="urn:schemas-microsoft-com:vml" Requires="v">
                <p:oleObj spid="_x0000_s12349" name="" r:id="rId1" imgW="3893820" imgH="215900" progId="Equation.DSMT4">
                  <p:embed/>
                </p:oleObj>
              </mc:Choice>
              <mc:Fallback>
                <p:oleObj name="" r:id="rId1" imgW="3893820" imgH="215900" progId="Equation.DSMT4">
                  <p:embed/>
                  <p:pic>
                    <p:nvPicPr>
                      <p:cNvPr id="0" name="图片 3149"/>
                      <p:cNvPicPr/>
                      <p:nvPr/>
                    </p:nvPicPr>
                    <p:blipFill>
                      <a:blip r:embed="rId2"/>
                      <a:stretch>
                        <a:fillRect/>
                      </a:stretch>
                    </p:blipFill>
                    <p:spPr>
                      <a:xfrm>
                        <a:off x="1254760" y="4478020"/>
                        <a:ext cx="7596187" cy="420688"/>
                      </a:xfrm>
                      <a:prstGeom prst="rect">
                        <a:avLst/>
                      </a:prstGeom>
                      <a:noFill/>
                      <a:ln w="38100">
                        <a:noFill/>
                        <a:miter/>
                      </a:ln>
                    </p:spPr>
                  </p:pic>
                </p:oleObj>
              </mc:Fallback>
            </mc:AlternateContent>
          </a:graphicData>
        </a:graphic>
      </p:graphicFrame>
      <p:graphicFrame>
        <p:nvGraphicFramePr>
          <p:cNvPr id="16389" name="对象 16388"/>
          <p:cNvGraphicFramePr>
            <a:graphicFrameLocks noChangeAspect="1"/>
          </p:cNvGraphicFramePr>
          <p:nvPr/>
        </p:nvGraphicFramePr>
        <p:xfrm>
          <a:off x="1254760" y="4911408"/>
          <a:ext cx="6553200" cy="419100"/>
        </p:xfrm>
        <a:graphic>
          <a:graphicData uri="http://schemas.openxmlformats.org/presentationml/2006/ole">
            <mc:AlternateContent xmlns:mc="http://schemas.openxmlformats.org/markup-compatibility/2006">
              <mc:Choice xmlns:v="urn:schemas-microsoft-com:vml" Requires="v">
                <p:oleObj spid="_x0000_s12350" name="" r:id="rId3" imgW="3361055" imgH="215900" progId="Equation.DSMT4">
                  <p:embed/>
                </p:oleObj>
              </mc:Choice>
              <mc:Fallback>
                <p:oleObj name="" r:id="rId3" imgW="3361055" imgH="215900" progId="Equation.DSMT4">
                  <p:embed/>
                  <p:pic>
                    <p:nvPicPr>
                      <p:cNvPr id="0" name="图片 3150"/>
                      <p:cNvPicPr/>
                      <p:nvPr/>
                    </p:nvPicPr>
                    <p:blipFill>
                      <a:blip r:embed="rId4"/>
                      <a:stretch>
                        <a:fillRect/>
                      </a:stretch>
                    </p:blipFill>
                    <p:spPr>
                      <a:xfrm>
                        <a:off x="1254760" y="4911408"/>
                        <a:ext cx="6553200" cy="419100"/>
                      </a:xfrm>
                      <a:prstGeom prst="rect">
                        <a:avLst/>
                      </a:prstGeom>
                      <a:noFill/>
                      <a:ln w="38100">
                        <a:noFill/>
                        <a:miter/>
                      </a:ln>
                    </p:spPr>
                  </p:pic>
                </p:oleObj>
              </mc:Fallback>
            </mc:AlternateContent>
          </a:graphicData>
        </a:graphic>
      </p:graphicFrame>
      <p:graphicFrame>
        <p:nvGraphicFramePr>
          <p:cNvPr id="16390" name="对象 16389"/>
          <p:cNvGraphicFramePr>
            <a:graphicFrameLocks noChangeAspect="1"/>
          </p:cNvGraphicFramePr>
          <p:nvPr/>
        </p:nvGraphicFramePr>
        <p:xfrm>
          <a:off x="1254760" y="5630545"/>
          <a:ext cx="4972050" cy="419100"/>
        </p:xfrm>
        <a:graphic>
          <a:graphicData uri="http://schemas.openxmlformats.org/presentationml/2006/ole">
            <mc:AlternateContent xmlns:mc="http://schemas.openxmlformats.org/markup-compatibility/2006">
              <mc:Choice xmlns:v="urn:schemas-microsoft-com:vml" Requires="v">
                <p:oleObj spid="_x0000_s12351" name="" r:id="rId5" imgW="2549525" imgH="215900" progId="Equation.DSMT4">
                  <p:embed/>
                </p:oleObj>
              </mc:Choice>
              <mc:Fallback>
                <p:oleObj name="" r:id="rId5" imgW="2549525" imgH="215900" progId="Equation.DSMT4">
                  <p:embed/>
                  <p:pic>
                    <p:nvPicPr>
                      <p:cNvPr id="0" name="图片 3151"/>
                      <p:cNvPicPr/>
                      <p:nvPr/>
                    </p:nvPicPr>
                    <p:blipFill>
                      <a:blip r:embed="rId6"/>
                      <a:stretch>
                        <a:fillRect/>
                      </a:stretch>
                    </p:blipFill>
                    <p:spPr>
                      <a:xfrm>
                        <a:off x="1254760" y="5630545"/>
                        <a:ext cx="4972050" cy="419100"/>
                      </a:xfrm>
                      <a:prstGeom prst="rect">
                        <a:avLst/>
                      </a:prstGeom>
                      <a:noFill/>
                      <a:ln w="38100">
                        <a:noFill/>
                        <a:miter/>
                      </a:ln>
                    </p:spPr>
                  </p:pic>
                </p:oleObj>
              </mc:Fallback>
            </mc:AlternateContent>
          </a:graphicData>
        </a:graphic>
      </p:graphicFrame>
      <p:graphicFrame>
        <p:nvGraphicFramePr>
          <p:cNvPr id="16391" name="对象 16390"/>
          <p:cNvGraphicFramePr>
            <a:graphicFrameLocks noChangeAspect="1"/>
          </p:cNvGraphicFramePr>
          <p:nvPr/>
        </p:nvGraphicFramePr>
        <p:xfrm>
          <a:off x="1254760" y="5270183"/>
          <a:ext cx="4822825" cy="419100"/>
        </p:xfrm>
        <a:graphic>
          <a:graphicData uri="http://schemas.openxmlformats.org/presentationml/2006/ole">
            <mc:AlternateContent xmlns:mc="http://schemas.openxmlformats.org/markup-compatibility/2006">
              <mc:Choice xmlns:v="urn:schemas-microsoft-com:vml" Requires="v">
                <p:oleObj spid="_x0000_s12352" name="" r:id="rId7" imgW="2473325" imgH="215900" progId="Equation.DSMT4">
                  <p:embed/>
                </p:oleObj>
              </mc:Choice>
              <mc:Fallback>
                <p:oleObj name="" r:id="rId7" imgW="2473325" imgH="215900" progId="Equation.DSMT4">
                  <p:embed/>
                  <p:pic>
                    <p:nvPicPr>
                      <p:cNvPr id="0" name="图片 3152"/>
                      <p:cNvPicPr/>
                      <p:nvPr/>
                    </p:nvPicPr>
                    <p:blipFill>
                      <a:blip r:embed="rId8"/>
                      <a:stretch>
                        <a:fillRect/>
                      </a:stretch>
                    </p:blipFill>
                    <p:spPr>
                      <a:xfrm>
                        <a:off x="1254760" y="5270183"/>
                        <a:ext cx="4822825" cy="419100"/>
                      </a:xfrm>
                      <a:prstGeom prst="rect">
                        <a:avLst/>
                      </a:prstGeom>
                      <a:noFill/>
                      <a:ln w="38100">
                        <a:noFill/>
                        <a:miter/>
                      </a:ln>
                    </p:spPr>
                  </p:pic>
                </p:oleObj>
              </mc:Fallback>
            </mc:AlternateContent>
          </a:graphicData>
        </a:graphic>
      </p:graphicFrame>
      <p:sp>
        <p:nvSpPr>
          <p:cNvPr id="2" name="文本框 1"/>
          <p:cNvSpPr txBox="1"/>
          <p:nvPr/>
        </p:nvSpPr>
        <p:spPr>
          <a:xfrm>
            <a:off x="324485" y="408940"/>
            <a:ext cx="8597900" cy="1106805"/>
          </a:xfrm>
          <a:prstGeom prst="rect">
            <a:avLst/>
          </a:prstGeom>
          <a:noFill/>
        </p:spPr>
        <p:txBody>
          <a:bodyPr wrap="square" rtlCol="0" anchor="t">
            <a:spAutoFit/>
          </a:bodyPr>
          <a:lstStyle/>
          <a:p>
            <a:pPr marL="171450" indent="-171450" algn="l" fontAlgn="auto">
              <a:lnSpc>
                <a:spcPct val="110000"/>
              </a:lnSpc>
              <a:spcBef>
                <a:spcPts val="0"/>
              </a:spcBef>
              <a:spcAft>
                <a:spcPts val="1000"/>
              </a:spcAft>
              <a:buFont typeface="Arial" panose="020B0604020202020204" pitchFamily="34" charset="0"/>
              <a:buChar char="•"/>
            </a:pPr>
            <a:r>
              <a:rPr lang="zh-CN" altLang="en-US" sz="2000" b="1" spc="150" dirty="0">
                <a:solidFill>
                  <a:srgbClr val="0000FF"/>
                </a:solidFill>
                <a:uFillTx/>
                <a:latin typeface="微软雅黑" panose="020B0503020204020204" charset="-122"/>
                <a:ea typeface="微软雅黑" panose="020B0503020204020204" charset="-122"/>
                <a:cs typeface="微软雅黑" panose="020B0503020204020204" charset="-122"/>
                <a:sym typeface="+mn-ea"/>
              </a:rPr>
              <a:t>例：</a:t>
            </a:r>
            <a:r>
              <a:rPr lang="zh-CN" altLang="en-US" sz="2000"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设任何通过计算机考试并获奖的人都是快乐的；任何肯学习或幸运的人都能通过所有的考试；张不肯学习但他是幸运的；任何幸运的人都能获奖。</a:t>
            </a:r>
            <a:r>
              <a:rPr lang="zh-CN" altLang="en-US" sz="2000" b="1" spc="150" dirty="0">
                <a:solidFill>
                  <a:srgbClr val="C00000"/>
                </a:solidFill>
                <a:uFillTx/>
                <a:latin typeface="微软雅黑" panose="020B0503020204020204" charset="-122"/>
                <a:ea typeface="微软雅黑" panose="020B0503020204020204" charset="-122"/>
                <a:cs typeface="微软雅黑" panose="020B0503020204020204" charset="-122"/>
                <a:sym typeface="+mn-ea"/>
              </a:rPr>
              <a:t>求证：</a:t>
            </a:r>
            <a:r>
              <a:rPr lang="zh-CN" altLang="en-US" sz="2000"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张是快乐的</a:t>
            </a:r>
            <a:endParaRPr lang="zh-CN" altLang="en-US" sz="2000"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436880" y="1687195"/>
            <a:ext cx="8596630" cy="1460500"/>
          </a:xfrm>
          <a:prstGeom prst="rect">
            <a:avLst/>
          </a:prstGeom>
          <a:noFill/>
        </p:spPr>
        <p:txBody>
          <a:bodyPr wrap="square" rtlCol="0" anchor="t">
            <a:spAutoFit/>
          </a:bodyPr>
          <a:lstStyle/>
          <a:p>
            <a:pPr marL="171450" indent="-171450" algn="l" fontAlgn="auto">
              <a:lnSpc>
                <a:spcPct val="80000"/>
              </a:lnSpc>
              <a:spcBef>
                <a:spcPts val="0"/>
              </a:spcBef>
              <a:spcAft>
                <a:spcPts val="1000"/>
              </a:spcAft>
              <a:buFont typeface="Arial" panose="020B0604020202020204" pitchFamily="34" charset="0"/>
              <a:buNone/>
            </a:pP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定义谓词：</a:t>
            </a:r>
            <a:endParaRPr lang="zh-CN" altLang="en-US" sz="2000" b="1">
              <a:latin typeface="微软雅黑" panose="020B0503020204020204" charset="-122"/>
              <a:cs typeface="微软雅黑" panose="020B0503020204020204" charset="-122"/>
            </a:endParaRPr>
          </a:p>
          <a:p>
            <a:pPr marL="171450" indent="-171450" algn="l" fontAlgn="auto">
              <a:lnSpc>
                <a:spcPct val="80000"/>
              </a:lnSpc>
              <a:spcBef>
                <a:spcPts val="0"/>
              </a:spcBef>
              <a:spcAft>
                <a:spcPts val="1000"/>
              </a:spcAft>
              <a:buFont typeface="Arial" panose="020B0604020202020204" pitchFamily="34" charset="0"/>
              <a:buNone/>
            </a:pP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Pass</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x,y</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表示</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x</a:t>
            </a: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通过</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y</a:t>
            </a: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考试 ； </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Win</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x,prize</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表示</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x</a:t>
            </a: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能获奖</a:t>
            </a:r>
            <a:endParaRPr lang="zh-CN" altLang="en-US" sz="2000" b="1">
              <a:latin typeface="微软雅黑" panose="020B0503020204020204" charset="-122"/>
              <a:cs typeface="微软雅黑" panose="020B0503020204020204" charset="-122"/>
            </a:endParaRPr>
          </a:p>
          <a:p>
            <a:pPr marL="171450" indent="-171450" algn="l" fontAlgn="auto">
              <a:lnSpc>
                <a:spcPct val="80000"/>
              </a:lnSpc>
              <a:spcBef>
                <a:spcPts val="0"/>
              </a:spcBef>
              <a:spcAft>
                <a:spcPts val="1000"/>
              </a:spcAft>
              <a:buFont typeface="Arial" panose="020B0604020202020204" pitchFamily="34" charset="0"/>
              <a:buNone/>
            </a:pP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Lucky</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x</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表示</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x</a:t>
            </a: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是幸运的；   </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Study</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x</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表示</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x</a:t>
            </a: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肯学习</a:t>
            </a:r>
            <a:endParaRPr lang="zh-CN" altLang="en-US" sz="2000" b="1">
              <a:latin typeface="微软雅黑" panose="020B0503020204020204" charset="-122"/>
              <a:cs typeface="微软雅黑" panose="020B0503020204020204" charset="-122"/>
            </a:endParaRPr>
          </a:p>
          <a:p>
            <a:pPr marL="171450" indent="-171450" algn="l" fontAlgn="auto">
              <a:lnSpc>
                <a:spcPct val="80000"/>
              </a:lnSpc>
              <a:spcBef>
                <a:spcPts val="0"/>
              </a:spcBef>
              <a:spcAft>
                <a:spcPts val="1000"/>
              </a:spcAft>
              <a:buFont typeface="Arial" panose="020B0604020202020204" pitchFamily="34" charset="0"/>
              <a:buNone/>
            </a:pP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Happy</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x</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表示</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x</a:t>
            </a: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是快乐的</a:t>
            </a:r>
            <a:endPar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nvSpPr>
        <p:spPr>
          <a:xfrm>
            <a:off x="324485" y="6061075"/>
            <a:ext cx="4572000" cy="337185"/>
          </a:xfrm>
          <a:prstGeom prst="rect">
            <a:avLst/>
          </a:prstGeom>
          <a:noFill/>
        </p:spPr>
        <p:txBody>
          <a:bodyPr wrap="square" rtlCol="0" anchor="t">
            <a:spAutoFit/>
          </a:bodyPr>
          <a:lstStyle/>
          <a:p>
            <a:pPr marL="171450" indent="-171450" algn="l" fontAlgn="auto">
              <a:lnSpc>
                <a:spcPct val="80000"/>
              </a:lnSpc>
              <a:spcBef>
                <a:spcPts val="0"/>
              </a:spcBef>
              <a:spcAft>
                <a:spcPts val="1000"/>
              </a:spcAft>
              <a:buFont typeface="Arial" panose="020B0604020202020204" pitchFamily="34" charset="0"/>
              <a:buNone/>
            </a:pPr>
            <a:r>
              <a:rPr lang="zh-CN" altLang="en-US"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结论：</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Happy</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a:t>
            </a:r>
            <a:r>
              <a:rPr lang="en-US" altLang="zh-CN" sz="2000" b="1" i="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zhang</a:t>
            </a:r>
            <a:r>
              <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endParaRPr lang="en-US" altLang="zh-CN" sz="2000" b="1" spc="15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979805" y="3322955"/>
            <a:ext cx="7102475" cy="768350"/>
          </a:xfrm>
          <a:prstGeom prst="rect">
            <a:avLst/>
          </a:prstGeom>
        </p:spPr>
        <p:style>
          <a:lnRef idx="2">
            <a:schemeClr val="accent5"/>
          </a:lnRef>
          <a:fillRef idx="1">
            <a:schemeClr val="lt1"/>
          </a:fillRef>
          <a:effectRef idx="0">
            <a:schemeClr val="accent5"/>
          </a:effectRef>
          <a:fontRef idx="minor">
            <a:schemeClr val="dk1"/>
          </a:fontRef>
        </p:style>
        <p:txBody>
          <a:bodyPr wrap="square" rtlCol="0" anchor="t">
            <a:spAutoFit/>
          </a:bodyPr>
          <a:lstStyle/>
          <a:p>
            <a:pPr marL="171450" indent="-171450" algn="l" fontAlgn="auto">
              <a:lnSpc>
                <a:spcPct val="110000"/>
              </a:lnSpc>
              <a:spcBef>
                <a:spcPts val="0"/>
              </a:spcBef>
              <a:spcAft>
                <a:spcPts val="1000"/>
              </a:spcAft>
              <a:buFont typeface="Arial" panose="020B0604020202020204" pitchFamily="34" charset="0"/>
              <a:buNone/>
            </a:pPr>
            <a:r>
              <a:rPr lang="zh-CN" altLang="en-US" sz="2000" b="1" spc="150" dirty="0">
                <a:solidFill>
                  <a:srgbClr val="0000FF"/>
                </a:solidFill>
                <a:uFillTx/>
                <a:latin typeface="微软雅黑" panose="020B0503020204020204" charset="-122"/>
                <a:ea typeface="微软雅黑" panose="020B0503020204020204" charset="-122"/>
                <a:cs typeface="微软雅黑" panose="020B0503020204020204" charset="-122"/>
                <a:sym typeface="+mn-ea"/>
              </a:rPr>
              <a:t>写出谓词公式：</a:t>
            </a:r>
            <a:r>
              <a:rPr lang="zh-CN" altLang="en-US" sz="2000" b="1" spc="150" dirty="0">
                <a:solidFill>
                  <a:srgbClr val="FF0000"/>
                </a:solidFill>
                <a:uFillTx/>
                <a:latin typeface="微软雅黑" panose="020B0503020204020204" charset="-122"/>
                <a:ea typeface="微软雅黑" panose="020B0503020204020204" charset="-122"/>
                <a:cs typeface="微软雅黑" panose="020B0503020204020204" charset="-122"/>
                <a:sym typeface="+mn-ea"/>
              </a:rPr>
              <a:t>将个体代入谓词中，根据语义用逻辑连词将它们连接起来，就得到了表述知识的谓词公式</a:t>
            </a:r>
            <a:endParaRPr lang="zh-CN" altLang="en-US" sz="2000" b="1" spc="150" dirty="0">
              <a:solidFill>
                <a:srgbClr val="FF0000"/>
              </a:solidFill>
              <a:uFillTx/>
              <a:latin typeface="微软雅黑" panose="020B0503020204020204" charset="-122"/>
              <a:ea typeface="微软雅黑" panose="020B0503020204020204" charset="-122"/>
              <a:cs typeface="微软雅黑" panose="020B0503020204020204" charset="-122"/>
              <a:sym typeface="+mn-ea"/>
            </a:endParaRPr>
          </a:p>
        </p:txBody>
      </p:sp>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388"/>
                                        </p:tgtEl>
                                        <p:attrNameLst>
                                          <p:attrName>style.visibility</p:attrName>
                                        </p:attrNameLst>
                                      </p:cBhvr>
                                      <p:to>
                                        <p:strVal val="visible"/>
                                      </p:to>
                                    </p:set>
                                    <p:anim calcmode="lin" valueType="num">
                                      <p:cBhvr additive="base">
                                        <p:cTn id="19" dur="500" fill="hold"/>
                                        <p:tgtEl>
                                          <p:spTgt spid="16388"/>
                                        </p:tgtEl>
                                        <p:attrNameLst>
                                          <p:attrName>ppt_x</p:attrName>
                                        </p:attrNameLst>
                                      </p:cBhvr>
                                      <p:tavLst>
                                        <p:tav tm="0">
                                          <p:val>
                                            <p:strVal val="#ppt_x"/>
                                          </p:val>
                                        </p:tav>
                                        <p:tav tm="100000">
                                          <p:val>
                                            <p:strVal val="#ppt_x"/>
                                          </p:val>
                                        </p:tav>
                                      </p:tavLst>
                                    </p:anim>
                                    <p:anim calcmode="lin" valueType="num">
                                      <p:cBhvr additive="base">
                                        <p:cTn id="20" dur="500" fill="hold"/>
                                        <p:tgtEl>
                                          <p:spTgt spid="1638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389"/>
                                        </p:tgtEl>
                                        <p:attrNameLst>
                                          <p:attrName>style.visibility</p:attrName>
                                        </p:attrNameLst>
                                      </p:cBhvr>
                                      <p:to>
                                        <p:strVal val="visible"/>
                                      </p:to>
                                    </p:set>
                                    <p:anim calcmode="lin" valueType="num">
                                      <p:cBhvr additive="base">
                                        <p:cTn id="25" dur="500" fill="hold"/>
                                        <p:tgtEl>
                                          <p:spTgt spid="16389"/>
                                        </p:tgtEl>
                                        <p:attrNameLst>
                                          <p:attrName>ppt_x</p:attrName>
                                        </p:attrNameLst>
                                      </p:cBhvr>
                                      <p:tavLst>
                                        <p:tav tm="0">
                                          <p:val>
                                            <p:strVal val="#ppt_x"/>
                                          </p:val>
                                        </p:tav>
                                        <p:tav tm="100000">
                                          <p:val>
                                            <p:strVal val="#ppt_x"/>
                                          </p:val>
                                        </p:tav>
                                      </p:tavLst>
                                    </p:anim>
                                    <p:anim calcmode="lin" valueType="num">
                                      <p:cBhvr additive="base">
                                        <p:cTn id="26" dur="500" fill="hold"/>
                                        <p:tgtEl>
                                          <p:spTgt spid="1638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391"/>
                                        </p:tgtEl>
                                        <p:attrNameLst>
                                          <p:attrName>style.visibility</p:attrName>
                                        </p:attrNameLst>
                                      </p:cBhvr>
                                      <p:to>
                                        <p:strVal val="visible"/>
                                      </p:to>
                                    </p:set>
                                    <p:anim calcmode="lin" valueType="num">
                                      <p:cBhvr additive="base">
                                        <p:cTn id="31" dur="500" fill="hold"/>
                                        <p:tgtEl>
                                          <p:spTgt spid="16391"/>
                                        </p:tgtEl>
                                        <p:attrNameLst>
                                          <p:attrName>ppt_x</p:attrName>
                                        </p:attrNameLst>
                                      </p:cBhvr>
                                      <p:tavLst>
                                        <p:tav tm="0">
                                          <p:val>
                                            <p:strVal val="#ppt_x"/>
                                          </p:val>
                                        </p:tav>
                                        <p:tav tm="100000">
                                          <p:val>
                                            <p:strVal val="#ppt_x"/>
                                          </p:val>
                                        </p:tav>
                                      </p:tavLst>
                                    </p:anim>
                                    <p:anim calcmode="lin" valueType="num">
                                      <p:cBhvr additive="base">
                                        <p:cTn id="32" dur="500" fill="hold"/>
                                        <p:tgtEl>
                                          <p:spTgt spid="1639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390"/>
                                        </p:tgtEl>
                                        <p:attrNameLst>
                                          <p:attrName>style.visibility</p:attrName>
                                        </p:attrNameLst>
                                      </p:cBhvr>
                                      <p:to>
                                        <p:strVal val="visible"/>
                                      </p:to>
                                    </p:set>
                                    <p:anim calcmode="lin" valueType="num">
                                      <p:cBhvr additive="base">
                                        <p:cTn id="37" dur="500" fill="hold"/>
                                        <p:tgtEl>
                                          <p:spTgt spid="16390"/>
                                        </p:tgtEl>
                                        <p:attrNameLst>
                                          <p:attrName>ppt_x</p:attrName>
                                        </p:attrNameLst>
                                      </p:cBhvr>
                                      <p:tavLst>
                                        <p:tav tm="0">
                                          <p:val>
                                            <p:strVal val="#ppt_x"/>
                                          </p:val>
                                        </p:tav>
                                        <p:tav tm="100000">
                                          <p:val>
                                            <p:strVal val="#ppt_x"/>
                                          </p:val>
                                        </p:tav>
                                      </p:tavLst>
                                    </p:anim>
                                    <p:anim calcmode="lin" valueType="num">
                                      <p:cBhvr additive="base">
                                        <p:cTn id="38" dur="500" fill="hold"/>
                                        <p:tgtEl>
                                          <p:spTgt spid="1639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6" grpId="0" bldLvl="0" animBg="1"/>
      <p:bldP spid="6"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p:nvPr/>
        </p:nvSpPr>
        <p:spPr>
          <a:xfrm>
            <a:off x="7239000" y="6629400"/>
            <a:ext cx="1905000" cy="228600"/>
          </a:xfrm>
          <a:prstGeom prst="rect">
            <a:avLst/>
          </a:prstGeom>
          <a:noFill/>
          <a:ln w="9525">
            <a:noFill/>
          </a:ln>
        </p:spPr>
        <p:txBody>
          <a:bodyPr/>
          <a:lstStyle/>
          <a:p>
            <a:pPr algn="r">
              <a:buClr>
                <a:srgbClr val="000000"/>
              </a:buClr>
              <a:buSzPct val="100000"/>
            </a:pPr>
            <a:r>
              <a:rPr lang="en-US" altLang="zh-CN" sz="1400" b="1">
                <a:solidFill>
                  <a:srgbClr val="003366"/>
                </a:solidFill>
                <a:latin typeface="Eras Bold ITC" panose="020B0907030504020204" pitchFamily="34" charset="0"/>
              </a:rPr>
              <a:t>4/44</a:t>
            </a:r>
            <a:endParaRPr lang="en-US" altLang="zh-CN" sz="1400" b="1">
              <a:solidFill>
                <a:srgbClr val="003366"/>
              </a:solidFill>
              <a:latin typeface="Eras Bold ITC" panose="020B0907030504020204" pitchFamily="34" charset="0"/>
            </a:endParaRPr>
          </a:p>
        </p:txBody>
      </p:sp>
      <p:sp>
        <p:nvSpPr>
          <p:cNvPr id="3" name="文本框 2"/>
          <p:cNvSpPr txBox="1"/>
          <p:nvPr/>
        </p:nvSpPr>
        <p:spPr>
          <a:xfrm>
            <a:off x="294005" y="2158365"/>
            <a:ext cx="4082415" cy="700405"/>
          </a:xfrm>
          <a:prstGeom prst="rect">
            <a:avLst/>
          </a:prstGeom>
          <a:noFill/>
        </p:spPr>
        <p:txBody>
          <a:bodyPr wrap="square" rtlCol="0" anchor="t">
            <a:spAutoFit/>
          </a:bodyPr>
          <a:lstStyle/>
          <a:p>
            <a:pPr marL="342900" indent="-342900" eaLnBrk="0" hangingPunct="0">
              <a:spcBef>
                <a:spcPct val="20000"/>
              </a:spcBef>
              <a:buSzPct val="100000"/>
              <a:buChar char="•"/>
            </a:pPr>
            <a:endParaRPr lang="zh-CN" altLang="en-US" sz="1800" dirty="0">
              <a:latin typeface="微软雅黑" panose="020B0503020204020204" charset="-122"/>
              <a:ea typeface="微软雅黑" panose="020B0503020204020204" charset="-122"/>
              <a:sym typeface="+mn-ea"/>
            </a:endParaRPr>
          </a:p>
          <a:p>
            <a:pPr marL="342900" indent="-342900" eaLnBrk="0" hangingPunct="0">
              <a:spcBef>
                <a:spcPct val="20000"/>
              </a:spcBef>
              <a:buSzPct val="100000"/>
              <a:buChar char="•"/>
            </a:pPr>
            <a:endParaRPr lang="zh-CN" altLang="en-US" sz="1800" dirty="0">
              <a:latin typeface="微软雅黑" panose="020B0503020204020204" charset="-122"/>
              <a:ea typeface="微软雅黑" panose="020B0503020204020204" charset="-122"/>
              <a:sym typeface="+mn-ea"/>
            </a:endParaRPr>
          </a:p>
        </p:txBody>
      </p:sp>
      <p:sp>
        <p:nvSpPr>
          <p:cNvPr id="134146" name="Rectangle 2"/>
          <p:cNvSpPr>
            <a:spLocks noGrp="1" noChangeArrowheads="1"/>
          </p:cNvSpPr>
          <p:nvPr/>
        </p:nvSpPr>
        <p:spPr>
          <a:xfrm>
            <a:off x="329565" y="37465"/>
            <a:ext cx="7772400" cy="732155"/>
          </a:xfrm>
          <a:prstGeom prst="rect">
            <a:avLst/>
          </a:prstGeom>
        </p:spPr>
        <p:txBody>
          <a:bodyPr vert="horz" wrap="square" lIns="91440" tIns="45720" rIns="91440" bIns="45720" numCol="1" rtlCol="0" anchor="ctr" anchorCtr="0" compatLnSpc="1">
            <a:normAutofit fontScale="97500"/>
          </a:bodyPr>
          <a:lst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a:lstStyle>
          <a:p>
            <a:pPr marL="0" marR="0" lvl="0" indent="0" algn="l" defTabSz="914400" rtl="0" eaLnBrk="1" fontAlgn="base" latinLnBrk="1" hangingPunct="1">
              <a:lnSpc>
                <a:spcPct val="100000"/>
              </a:lnSpc>
              <a:spcBef>
                <a:spcPct val="0"/>
              </a:spcBef>
              <a:spcAft>
                <a:spcPct val="0"/>
              </a:spcAft>
              <a:buClrTx/>
              <a:buSzTx/>
              <a:buFontTx/>
              <a:buNone/>
              <a:defRPr/>
            </a:pPr>
            <a:r>
              <a:rPr lang="zh-CN" sz="3100">
                <a:solidFill>
                  <a:schemeClr val="lt1"/>
                </a:solidFill>
                <a:sym typeface="+mn-ea"/>
              </a:rPr>
              <a:t>一阶谓词逻辑（First-order Logic，</a:t>
            </a:r>
            <a:r>
              <a:rPr lang="en-US" altLang="zh-CN" sz="3100">
                <a:solidFill>
                  <a:schemeClr val="lt1"/>
                </a:solidFill>
                <a:sym typeface="+mn-ea"/>
              </a:rPr>
              <a:t>FOL</a:t>
            </a:r>
            <a:r>
              <a:rPr lang="zh-CN" sz="3100">
                <a:solidFill>
                  <a:schemeClr val="lt1"/>
                </a:solidFill>
                <a:sym typeface="+mn-ea"/>
              </a:rPr>
              <a:t>）</a:t>
            </a:r>
            <a:endParaRPr kumimoji="1" lang="zh-CN" altLang="en-US" sz="4000" b="1" i="0" u="none" strike="noStrike" kern="1200" cap="none" spc="0" normalizeH="0" baseline="0" noProof="0" dirty="0">
              <a:ln>
                <a:noFill/>
              </a:ln>
              <a:solidFill>
                <a:schemeClr val="bg1"/>
              </a:solidFill>
              <a:effectLst/>
              <a:uLnTx/>
              <a:uFillTx/>
              <a:latin typeface="微软雅黑" panose="020B0503020204020204" charset="-122"/>
              <a:cs typeface="微软雅黑" panose="020B0503020204020204" charset="-122"/>
              <a:sym typeface="+mn-ea"/>
            </a:endParaRPr>
          </a:p>
        </p:txBody>
      </p:sp>
      <p:sp>
        <p:nvSpPr>
          <p:cNvPr id="2" name="文本框 1"/>
          <p:cNvSpPr txBox="1"/>
          <p:nvPr/>
        </p:nvSpPr>
        <p:spPr>
          <a:xfrm>
            <a:off x="756285" y="2681605"/>
            <a:ext cx="7588250" cy="3002280"/>
          </a:xfrm>
          <a:prstGeom prst="rect">
            <a:avLst/>
          </a:prstGeom>
          <a:noFill/>
        </p:spPr>
        <p:txBody>
          <a:bodyPr wrap="square" rtlCol="0" anchor="t">
            <a:spAutoFit/>
          </a:bodyPr>
          <a:lstStyle/>
          <a:p>
            <a:pPr lvl="0" indent="457200" algn="l" fontAlgn="ctr">
              <a:lnSpc>
                <a:spcPct val="130000"/>
              </a:lnSpc>
              <a:spcBef>
                <a:spcPts val="1000"/>
              </a:spcBef>
              <a:spcAft>
                <a:spcPts val="0"/>
              </a:spcAft>
              <a:buSzPct val="100000"/>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7.2.1	谓词基本概念</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ClrTx/>
              <a:buSzTx/>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7.2.2	一阶谓词逻辑</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ClrTx/>
              <a:buSzTx/>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7.2.3	如何使用一阶逻辑语言</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ClrTx/>
              <a:buSzTx/>
              <a:buFont typeface="Wingdings" panose="05000000000000000000" charset="0"/>
            </a:pPr>
            <a:r>
              <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7.2.4	谓词知识表示（一阶逻辑的知识工程）</a:t>
            </a:r>
            <a:endParaRPr lang="en-US" altLang="zh-CN"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457200" algn="l" fontAlgn="ctr">
              <a:lnSpc>
                <a:spcPct val="130000"/>
              </a:lnSpc>
              <a:spcBef>
                <a:spcPts val="1000"/>
              </a:spcBef>
              <a:spcAft>
                <a:spcPts val="0"/>
              </a:spcAft>
              <a:buClrTx/>
              <a:buSzTx/>
              <a:buFont typeface="Wingdings" panose="05000000000000000000" charset="0"/>
            </a:pPr>
            <a:r>
              <a:rPr lang="en-US" altLang="zh-CN" sz="24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rPr>
              <a:t>7.2.5	谓词逻辑归结原理（一阶逻辑的推理）</a:t>
            </a:r>
            <a:endParaRPr lang="en-US" altLang="zh-CN" sz="2400" b="1" spc="100" dirty="0">
              <a:ln w="3175">
                <a:noFill/>
                <a:prstDash val="dash"/>
              </a:ln>
              <a:solidFill>
                <a:srgbClr val="0000FF"/>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nvSpPr>
        <p:spPr>
          <a:xfrm>
            <a:off x="501015" y="1292860"/>
            <a:ext cx="7842885" cy="865505"/>
          </a:xfrm>
          <a:prstGeom prst="rect">
            <a:avLst/>
          </a:prstGeom>
          <a:noFill/>
        </p:spPr>
        <p:txBody>
          <a:bodyPr wrap="square" rtlCol="0" anchor="t">
            <a:spAutoFit/>
          </a:bodyPr>
          <a:lstStyle/>
          <a:p>
            <a:pPr algn="ctr">
              <a:lnSpc>
                <a:spcPct val="140000"/>
              </a:lnSpc>
            </a:pPr>
            <a:r>
              <a:rPr lang="zh-CN" altLang="en-US" b="1">
                <a:solidFill>
                  <a:srgbClr val="C00000"/>
                </a:solidFill>
                <a:latin typeface="微软雅黑" panose="020B0503020204020204" charset="-122"/>
                <a:ea typeface="微软雅黑" panose="020B0503020204020204" charset="-122"/>
                <a:cs typeface="微软雅黑" panose="020B0503020204020204" charset="-122"/>
                <a:sym typeface="+mn-ea"/>
              </a:rPr>
              <a:t>结合形式语言和自然语言的优势：</a:t>
            </a:r>
            <a:r>
              <a:rPr lang="zh-CN" altLang="en-US" b="1">
                <a:latin typeface="微软雅黑" panose="020B0503020204020204" charset="-122"/>
                <a:ea typeface="微软雅黑" panose="020B0503020204020204" charset="-122"/>
                <a:cs typeface="微软雅黑" panose="020B0503020204020204" charset="-122"/>
                <a:sym typeface="+mn-ea"/>
              </a:rPr>
              <a:t>采用命题逻辑的基础—陈述式、上下文无关、无歧义和合成语义，并借用自然语言的思想，构造更具表达能力的逻辑。</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890270" y="1049020"/>
                <a:ext cx="6268720" cy="2802255"/>
              </a:xfrm>
              <a:prstGeom prst="rect">
                <a:avLst/>
              </a:prstGeom>
              <a:noFill/>
            </p:spPr>
            <p:txBody>
              <a:bodyPr wrap="square" rtlCol="0">
                <a:spAutoFit/>
              </a:bodyPr>
              <a:lstStyle/>
              <a:p>
                <a:pPr algn="l">
                  <a:lnSpc>
                    <a:spcPct val="120000"/>
                  </a:lnSpc>
                </a:pPr>
                <a:r>
                  <a:rPr lang="zh-CN" altLang="en-US" sz="1800" b="1">
                    <a:solidFill>
                      <a:srgbClr val="0000FF"/>
                    </a:solidFill>
                    <a:latin typeface="微软雅黑" panose="020B0503020204020204" charset="-122"/>
                    <a:ea typeface="微软雅黑" panose="020B0503020204020204" charset="-122"/>
                    <a:cs typeface="微软雅黑" panose="020B0503020204020204" charset="-122"/>
                  </a:rPr>
                  <a:t>假言推理规则</a:t>
                </a:r>
                <a:r>
                  <a:rPr lang="zh-CN" altLang="en-US" sz="1600">
                    <a:latin typeface="微软雅黑" panose="020B0503020204020204" charset="-122"/>
                    <a:ea typeface="微软雅黑" panose="020B0503020204020204" charset="-122"/>
                    <a:cs typeface="微软雅黑" panose="020B0503020204020204" charset="-122"/>
                  </a:rPr>
                  <a:t>（Modus Ponens，拉丁文）</a:t>
                </a:r>
                <a:endParaRPr lang="zh-CN" altLang="en-US" sz="1600">
                  <a:latin typeface="微软雅黑" panose="020B0503020204020204" charset="-122"/>
                  <a:ea typeface="微软雅黑" panose="020B0503020204020204" charset="-122"/>
                  <a:cs typeface="微软雅黑" panose="020B0503020204020204" charset="-122"/>
                </a:endParaRPr>
              </a:p>
              <a:p>
                <a:pPr algn="l">
                  <a:lnSpc>
                    <a:spcPct val="120000"/>
                  </a:lnSpc>
                </a:pPr>
                <a14:m>
                  <m:oMathPara xmlns:m="http://schemas.openxmlformats.org/officeDocument/2006/math">
                    <m:oMathParaPr>
                      <m:jc m:val="centerGroup"/>
                    </m:oMathParaPr>
                    <m:oMath xmlns:m="http://schemas.openxmlformats.org/officeDocument/2006/math">
                      <m:f>
                        <m:fPr>
                          <m:ctrlPr>
                            <a:rPr lang="en-US" altLang="zh-CN" sz="1600" i="1">
                              <a:latin typeface="Cambria Math" panose="02040503050406030204" charset="0"/>
                              <a:ea typeface="微软雅黑" panose="020B0503020204020204" charset="-122"/>
                              <a:cs typeface="Cambria Math" panose="02040503050406030204" charset="0"/>
                            </a:rPr>
                          </m:ctrlPr>
                        </m:fPr>
                        <m:num>
                          <m:r>
                            <a:rPr lang="en-US" altLang="zh-CN" sz="1600" i="1">
                              <a:latin typeface="Cambria Math" panose="02040503050406030204" charset="0"/>
                              <a:ea typeface="微软雅黑" panose="020B0503020204020204" charset="-122"/>
                              <a:cs typeface="Cambria Math" panose="02040503050406030204" charset="0"/>
                            </a:rPr>
                            <m:t>𝛼</m:t>
                          </m:r>
                          <m:r>
                            <a:rPr lang="en-US" altLang="zh-CN" sz="1600" i="1">
                              <a:latin typeface="Cambria Math" panose="02040503050406030204" charset="0"/>
                              <a:ea typeface="微软雅黑" panose="020B0503020204020204" charset="-122"/>
                              <a:cs typeface="Cambria Math" panose="02040503050406030204" charset="0"/>
                            </a:rPr>
                            <m:t>⇒</m:t>
                          </m:r>
                          <m:r>
                            <a:rPr lang="en-US" altLang="zh-CN" sz="1600" i="1">
                              <a:latin typeface="Cambria Math" panose="02040503050406030204" charset="0"/>
                              <a:ea typeface="微软雅黑" panose="020B0503020204020204" charset="-122"/>
                              <a:cs typeface="Cambria Math" panose="02040503050406030204" charset="0"/>
                            </a:rPr>
                            <m:t>𝛽</m:t>
                          </m:r>
                          <m:r>
                            <a:rPr lang="en-US" altLang="zh-CN" sz="1600" i="1">
                              <a:latin typeface="Cambria Math" panose="02040503050406030204" charset="0"/>
                              <a:ea typeface="微软雅黑" panose="020B0503020204020204" charset="-122"/>
                              <a:cs typeface="Cambria Math" panose="02040503050406030204" charset="0"/>
                            </a:rPr>
                            <m:t>，</m:t>
                          </m:r>
                          <m:r>
                            <a:rPr lang="en-US" altLang="zh-CN" sz="1600" i="1">
                              <a:latin typeface="Cambria Math" panose="02040503050406030204" charset="0"/>
                              <a:ea typeface="微软雅黑" panose="020B0503020204020204" charset="-122"/>
                              <a:cs typeface="Cambria Math" panose="02040503050406030204" charset="0"/>
                            </a:rPr>
                            <m:t>𝛼</m:t>
                          </m:r>
                        </m:num>
                        <m:den>
                          <m:r>
                            <a:rPr lang="en-US" altLang="zh-CN" sz="1600" i="1">
                              <a:latin typeface="Cambria Math" panose="02040503050406030204" charset="0"/>
                              <a:ea typeface="微软雅黑" panose="020B0503020204020204" charset="-122"/>
                              <a:cs typeface="Cambria Math" panose="02040503050406030204" charset="0"/>
                            </a:rPr>
                            <m:t>𝛽</m:t>
                          </m:r>
                        </m:den>
                      </m:f>
                    </m:oMath>
                  </m:oMathPara>
                </a14:m>
                <a:endParaRPr lang="zh-CN" altLang="en-US" sz="1600">
                  <a:latin typeface="微软雅黑" panose="020B0503020204020204" charset="-122"/>
                  <a:ea typeface="微软雅黑" panose="020B0503020204020204" charset="-122"/>
                  <a:cs typeface="微软雅黑" panose="020B0503020204020204" charset="-122"/>
                </a:endParaRPr>
              </a:p>
              <a:p>
                <a:pPr algn="l">
                  <a:lnSpc>
                    <a:spcPct val="120000"/>
                  </a:lnSpc>
                </a:pPr>
                <a:r>
                  <a:rPr lang="zh-CN" altLang="en-US" sz="1600">
                    <a:latin typeface="微软雅黑" panose="020B0503020204020204" charset="-122"/>
                    <a:ea typeface="微软雅黑" panose="020B0503020204020204" charset="-122"/>
                    <a:cs typeface="微软雅黑" panose="020B0503020204020204" charset="-122"/>
                  </a:rPr>
                  <a:t>只要给定任何形式为</a:t>
                </a:r>
                <a14:m>
                  <m:oMath xmlns:m="http://schemas.openxmlformats.org/officeDocument/2006/math">
                    <m:r>
                      <a:rPr lang="en-US" altLang="zh-CN" sz="1600" i="1">
                        <a:latin typeface="Cambria Math" panose="02040503050406030204" charset="0"/>
                        <a:ea typeface="微软雅黑" panose="020B0503020204020204" charset="-122"/>
                        <a:cs typeface="Cambria Math" panose="02040503050406030204" charset="0"/>
                      </a:rPr>
                      <m:t>𝛼</m:t>
                    </m:r>
                    <m:r>
                      <a:rPr lang="en-US" altLang="zh-CN" sz="1600" i="1">
                        <a:latin typeface="Cambria Math" panose="02040503050406030204" charset="0"/>
                        <a:ea typeface="微软雅黑" panose="020B0503020204020204" charset="-122"/>
                        <a:cs typeface="Cambria Math" panose="02040503050406030204" charset="0"/>
                      </a:rPr>
                      <m:t>⇒</m:t>
                    </m:r>
                    <m:r>
                      <a:rPr lang="en-US" altLang="zh-CN" sz="1600" i="1">
                        <a:latin typeface="Cambria Math" panose="02040503050406030204" charset="0"/>
                        <a:ea typeface="微软雅黑" panose="020B0503020204020204" charset="-122"/>
                        <a:cs typeface="Cambria Math" panose="02040503050406030204" charset="0"/>
                      </a:rPr>
                      <m:t>𝛽</m:t>
                    </m:r>
                  </m:oMath>
                </a14:m>
                <a:r>
                  <a:rPr lang="zh-CN" altLang="en-US" sz="1600">
                    <a:latin typeface="Cambria Math" panose="02040503050406030204" charset="0"/>
                    <a:ea typeface="微软雅黑" panose="020B0503020204020204" charset="-122"/>
                    <a:cs typeface="Cambria Math" panose="02040503050406030204" charset="0"/>
                  </a:rPr>
                  <a:t>和</a:t>
                </a:r>
                <a14:m>
                  <m:oMath xmlns:m="http://schemas.openxmlformats.org/officeDocument/2006/math">
                    <m:r>
                      <a:rPr lang="en-US" altLang="zh-CN" sz="1600" i="1">
                        <a:latin typeface="Cambria Math" panose="02040503050406030204" charset="0"/>
                        <a:ea typeface="微软雅黑" panose="020B0503020204020204" charset="-122"/>
                        <a:cs typeface="Cambria Math" panose="02040503050406030204" charset="0"/>
                      </a:rPr>
                      <m:t>𝛼</m:t>
                    </m:r>
                  </m:oMath>
                </a14:m>
                <a:r>
                  <a:rPr lang="zh-CN" altLang="en-US" sz="1600">
                    <a:latin typeface="Cambria Math" panose="02040503050406030204" charset="0"/>
                    <a:ea typeface="微软雅黑" panose="020B0503020204020204" charset="-122"/>
                    <a:cs typeface="Cambria Math" panose="02040503050406030204" charset="0"/>
                  </a:rPr>
                  <a:t>的语句，就可以推导出语句</a:t>
                </a:r>
                <a14:m>
                  <m:oMath xmlns:m="http://schemas.openxmlformats.org/officeDocument/2006/math">
                    <m:r>
                      <a:rPr lang="en-US" altLang="zh-CN" sz="1600" i="1">
                        <a:latin typeface="Cambria Math" panose="02040503050406030204" charset="0"/>
                        <a:ea typeface="微软雅黑" panose="020B0503020204020204" charset="-122"/>
                        <a:cs typeface="Cambria Math" panose="02040503050406030204" charset="0"/>
                      </a:rPr>
                      <m:t>𝛽</m:t>
                    </m:r>
                  </m:oMath>
                </a14:m>
                <a:endParaRPr lang="en-US" altLang="zh-CN" sz="1600" i="1">
                  <a:latin typeface="Cambria Math" panose="02040503050406030204" charset="0"/>
                  <a:ea typeface="微软雅黑" panose="020B0503020204020204" charset="-122"/>
                  <a:cs typeface="Cambria Math" panose="02040503050406030204" charset="0"/>
                </a:endParaRPr>
              </a:p>
              <a:p>
                <a:pPr algn="l">
                  <a:lnSpc>
                    <a:spcPct val="120000"/>
                  </a:lnSpc>
                </a:pPr>
                <a:endParaRPr lang="zh-CN" altLang="en-US" sz="1600" b="1">
                  <a:latin typeface="微软雅黑" panose="020B0503020204020204" charset="-122"/>
                  <a:ea typeface="微软雅黑" panose="020B0503020204020204" charset="-122"/>
                  <a:cs typeface="微软雅黑" panose="020B0503020204020204" charset="-122"/>
                  <a:sym typeface="+mn-ea"/>
                </a:endParaRPr>
              </a:p>
              <a:p>
                <a:pPr algn="l">
                  <a:lnSpc>
                    <a:spcPct val="120000"/>
                  </a:lnSpc>
                </a:pPr>
                <a:r>
                  <a:rPr lang="zh-CN" altLang="en-US" sz="1800" b="1">
                    <a:solidFill>
                      <a:srgbClr val="0000FF"/>
                    </a:solidFill>
                    <a:latin typeface="微软雅黑" panose="020B0503020204020204" charset="-122"/>
                    <a:ea typeface="微软雅黑" panose="020B0503020204020204" charset="-122"/>
                    <a:cs typeface="微软雅黑" panose="020B0503020204020204" charset="-122"/>
                  </a:rPr>
                  <a:t>消去合取词</a:t>
                </a:r>
                <a:endParaRPr lang="zh-CN" altLang="en-US" sz="1800" b="1">
                  <a:solidFill>
                    <a:srgbClr val="0000FF"/>
                  </a:solidFill>
                  <a:latin typeface="微软雅黑" panose="020B0503020204020204" charset="-122"/>
                  <a:ea typeface="微软雅黑" panose="020B0503020204020204" charset="-122"/>
                  <a:cs typeface="微软雅黑" panose="020B0503020204020204" charset="-122"/>
                </a:endParaRPr>
              </a:p>
              <a:p>
                <a:pPr algn="l">
                  <a:lnSpc>
                    <a:spcPct val="120000"/>
                  </a:lnSpc>
                </a:pPr>
                <a14:m>
                  <m:oMathPara xmlns:m="http://schemas.openxmlformats.org/officeDocument/2006/math">
                    <m:oMathParaPr>
                      <m:jc m:val="centerGroup"/>
                    </m:oMathParaPr>
                    <m:oMath xmlns:m="http://schemas.openxmlformats.org/officeDocument/2006/math">
                      <m:f>
                        <m:fPr>
                          <m:ctrlPr>
                            <a:rPr lang="en-US" altLang="zh-CN" sz="1600" i="1">
                              <a:latin typeface="Cambria Math" panose="02040503050406030204" charset="0"/>
                              <a:ea typeface="微软雅黑" panose="020B0503020204020204" charset="-122"/>
                              <a:cs typeface="Cambria Math" panose="02040503050406030204" charset="0"/>
                            </a:rPr>
                          </m:ctrlPr>
                        </m:fPr>
                        <m:num>
                          <m:r>
                            <a:rPr lang="en-US" altLang="zh-CN" sz="1600" i="1">
                              <a:latin typeface="Cambria Math" panose="02040503050406030204" charset="0"/>
                              <a:ea typeface="微软雅黑" panose="020B0503020204020204" charset="-122"/>
                              <a:cs typeface="Cambria Math" panose="02040503050406030204" charset="0"/>
                            </a:rPr>
                            <m:t>𝛼</m:t>
                          </m:r>
                          <m:r>
                            <a:rPr lang="en-US" altLang="zh-CN" sz="1600" i="1">
                              <a:latin typeface="Cambria Math" panose="02040503050406030204" charset="0"/>
                              <a:ea typeface="微软雅黑" panose="020B0503020204020204" charset="-122"/>
                              <a:cs typeface="Cambria Math" panose="02040503050406030204" charset="0"/>
                            </a:rPr>
                            <m:t>∧</m:t>
                          </m:r>
                          <m:r>
                            <a:rPr lang="en-US" altLang="zh-CN" sz="1600" i="1">
                              <a:latin typeface="Cambria Math" panose="02040503050406030204" charset="0"/>
                              <a:ea typeface="微软雅黑" panose="020B0503020204020204" charset="-122"/>
                              <a:cs typeface="Cambria Math" panose="02040503050406030204" charset="0"/>
                            </a:rPr>
                            <m:t>𝛽</m:t>
                          </m:r>
                        </m:num>
                        <m:den>
                          <m:r>
                            <a:rPr lang="en-US" altLang="zh-CN" sz="1600" i="1">
                              <a:latin typeface="Cambria Math" panose="02040503050406030204" charset="0"/>
                              <a:ea typeface="微软雅黑" panose="020B0503020204020204" charset="-122"/>
                              <a:cs typeface="Cambria Math" panose="02040503050406030204" charset="0"/>
                            </a:rPr>
                            <m:t>𝛼</m:t>
                          </m:r>
                        </m:den>
                      </m:f>
                    </m:oMath>
                  </m:oMathPara>
                </a14:m>
                <a:endParaRPr lang="zh-CN" altLang="en-US" sz="1600">
                  <a:latin typeface="微软雅黑" panose="020B0503020204020204" charset="-122"/>
                  <a:ea typeface="微软雅黑" panose="020B0503020204020204" charset="-122"/>
                  <a:cs typeface="微软雅黑" panose="020B0503020204020204" charset="-122"/>
                </a:endParaRPr>
              </a:p>
              <a:p>
                <a:pPr algn="l">
                  <a:lnSpc>
                    <a:spcPct val="120000"/>
                  </a:lnSpc>
                </a:pPr>
                <a:r>
                  <a:rPr lang="zh-CN" altLang="en-US" sz="1600">
                    <a:latin typeface="微软雅黑" panose="020B0503020204020204" charset="-122"/>
                    <a:ea typeface="微软雅黑" panose="020B0503020204020204" charset="-122"/>
                    <a:cs typeface="微软雅黑" panose="020B0503020204020204" charset="-122"/>
                  </a:rPr>
                  <a:t>可以从合取式推导出任何合取子式。</a:t>
                </a:r>
                <a:endParaRPr lang="zh-CN" altLang="en-US" sz="1600">
                  <a:latin typeface="微软雅黑" panose="020B0503020204020204" charset="-122"/>
                  <a:ea typeface="微软雅黑" panose="020B0503020204020204" charset="-122"/>
                  <a:cs typeface="微软雅黑" panose="020B0503020204020204" charset="-122"/>
                  <a:sym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890270" y="1049020"/>
                <a:ext cx="6268720" cy="2802255"/>
              </a:xfrm>
              <a:prstGeom prst="rect">
                <a:avLst/>
              </a:prstGeom>
              <a:blipFill rotWithShape="1">
                <a:blip r:embed="rId1"/>
                <a:stretch>
                  <a:fillRect/>
                </a:stretch>
              </a:blipFill>
            </p:spPr>
            <p:txBody>
              <a:bodyPr/>
              <a:lstStyle/>
              <a:p>
                <a:r>
                  <a:rPr lang="zh-CN" altLang="en-US">
                    <a:noFill/>
                  </a:rPr>
                  <a:t> </a:t>
                </a:r>
              </a:p>
            </p:txBody>
          </p:sp>
        </mc:Fallback>
      </mc:AlternateContent>
      <p:sp>
        <p:nvSpPr>
          <p:cNvPr id="209" name="矩形 7"/>
          <p:cNvSpPr/>
          <p:nvPr>
            <p:custDataLst>
              <p:tags r:id="rId2"/>
            </p:custDataLst>
          </p:nvPr>
        </p:nvSpPr>
        <p:spPr>
          <a:xfrm>
            <a:off x="0" y="0"/>
            <a:ext cx="9144000" cy="912114"/>
          </a:xfrm>
          <a:prstGeom prst="rect">
            <a:avLst/>
          </a:prstGeom>
          <a:solidFill>
            <a:schemeClr val="accent1"/>
          </a:solidFill>
          <a:ln w="12700">
            <a:miter lim="400000"/>
          </a:ln>
        </p:spPr>
        <p:txBody>
          <a:bodyPr lIns="0" tIns="0" rIns="0" bIns="0" anchor="ctr"/>
          <a:lstStyle/>
          <a:p>
            <a:pPr algn="ctr">
              <a:defRPr>
                <a:solidFill>
                  <a:srgbClr val="FFFFFF"/>
                </a:solidFill>
              </a:defRPr>
            </a:pPr>
            <a:endParaRPr sz="1015">
              <a:solidFill>
                <a:srgbClr val="FFFFFF"/>
              </a:solidFill>
            </a:endParaRPr>
          </a:p>
        </p:txBody>
      </p:sp>
      <p:sp>
        <p:nvSpPr>
          <p:cNvPr id="256" name="文本框 6"/>
          <p:cNvSpPr txBox="1"/>
          <p:nvPr>
            <p:custDataLst>
              <p:tags r:id="rId3"/>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sz="2000">
                <a:solidFill>
                  <a:schemeClr val="lt1"/>
                </a:solidFill>
              </a:rPr>
              <a:t>回顾：命题逻辑的</a:t>
            </a:r>
            <a:r>
              <a:rPr lang="zh-CN" sz="2000">
                <a:solidFill>
                  <a:schemeClr val="lt1"/>
                </a:solidFill>
              </a:rPr>
              <a:t>推理规则</a:t>
            </a:r>
            <a:endParaRPr lang="zh-CN" sz="2000">
              <a:solidFill>
                <a:schemeClr val="lt1"/>
              </a:solidFill>
            </a:endParaRPr>
          </a:p>
        </p:txBody>
      </p:sp>
      <p:grpSp>
        <p:nvGrpSpPr>
          <p:cNvPr id="13" name="组合 12"/>
          <p:cNvGrpSpPr/>
          <p:nvPr/>
        </p:nvGrpSpPr>
        <p:grpSpPr>
          <a:xfrm>
            <a:off x="890270" y="3988435"/>
            <a:ext cx="6667500" cy="2454275"/>
            <a:chOff x="884" y="3809"/>
            <a:chExt cx="10500" cy="3865"/>
          </a:xfrm>
        </p:grpSpPr>
        <p:sp>
          <p:nvSpPr>
            <p:cNvPr id="5" name="文本框 4"/>
            <p:cNvSpPr txBox="1"/>
            <p:nvPr/>
          </p:nvSpPr>
          <p:spPr>
            <a:xfrm>
              <a:off x="884" y="3823"/>
              <a:ext cx="6131" cy="580"/>
            </a:xfrm>
            <a:prstGeom prst="rect">
              <a:avLst/>
            </a:prstGeom>
            <a:noFill/>
          </p:spPr>
          <p:txBody>
            <a:bodyPr wrap="none" rtlCol="0">
              <a:spAutoFit/>
            </a:bodyPr>
            <a:lstStyle/>
            <a:p>
              <a:r>
                <a:rPr lang="zh-CN" altLang="en-US" sz="1800" b="1">
                  <a:solidFill>
                    <a:srgbClr val="0000FF"/>
                  </a:solidFill>
                  <a:latin typeface="Times New Roman" panose="02020603050405020304" pitchFamily="18" charset="0"/>
                  <a:ea typeface="微软雅黑" panose="020B0503020204020204" charset="-122"/>
                  <a:cs typeface="Times New Roman" panose="02020603050405020304" pitchFamily="18" charset="0"/>
                </a:rPr>
                <a:t>单元归结（</a:t>
              </a:r>
              <a:r>
                <a:rPr lang="en-US" altLang="zh-CN" sz="1800" b="1">
                  <a:solidFill>
                    <a:srgbClr val="0000FF"/>
                  </a:solidFill>
                  <a:latin typeface="Times New Roman" panose="02020603050405020304" pitchFamily="18" charset="0"/>
                  <a:ea typeface="微软雅黑" panose="020B0503020204020204" charset="-122"/>
                  <a:cs typeface="Times New Roman" panose="02020603050405020304" pitchFamily="18" charset="0"/>
                </a:rPr>
                <a:t>unit resolution</a:t>
              </a:r>
              <a:r>
                <a:rPr lang="zh-CN" altLang="en-US" sz="1800" b="1">
                  <a:solidFill>
                    <a:srgbClr val="0000FF"/>
                  </a:solidFill>
                  <a:latin typeface="Times New Roman" panose="02020603050405020304" pitchFamily="18" charset="0"/>
                  <a:ea typeface="微软雅黑" panose="020B0503020204020204" charset="-122"/>
                  <a:cs typeface="Times New Roman" panose="02020603050405020304" pitchFamily="18" charset="0"/>
                </a:rPr>
                <a:t>）推理规则</a:t>
              </a:r>
              <a:endParaRPr lang="zh-CN" altLang="en-US" sz="1800" b="1">
                <a:solidFill>
                  <a:srgbClr val="0000FF"/>
                </a:solidFill>
                <a:latin typeface="Times New Roman" panose="02020603050405020304" pitchFamily="18" charset="0"/>
                <a:ea typeface="微软雅黑" panose="020B050302020402020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文本框 5"/>
                <p:cNvSpPr txBox="1"/>
                <p:nvPr/>
              </p:nvSpPr>
              <p:spPr>
                <a:xfrm>
                  <a:off x="3737" y="4614"/>
                  <a:ext cx="4165" cy="938"/>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f>
                          <m:fPr>
                            <m:ctrlPr>
                              <a:rPr lang="en-US" altLang="zh-CN" sz="1600" i="1">
                                <a:latin typeface="Cambria Math" panose="02040503050406030204" charset="0"/>
                                <a:ea typeface="微软雅黑" panose="020B0503020204020204" charset="-122"/>
                                <a:cs typeface="Cambria Math" panose="02040503050406030204" charset="0"/>
                              </a:rPr>
                            </m:ctrlPr>
                          </m:fPr>
                          <m:num>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MS Mincho" charset="0"/>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微软雅黑" panose="020B0503020204020204" charset="-122"/>
                                    <a:cs typeface="Cambria Math" panose="02040503050406030204" charset="0"/>
                                  </a:rPr>
                                  <m:t>𝑘</m:t>
                                </m:r>
                              </m:sub>
                            </m:sSub>
                            <m:r>
                              <a:rPr lang="en-US" altLang="zh-CN" sz="1600" i="1">
                                <a:latin typeface="Cambria Math" panose="02040503050406030204" charset="0"/>
                                <a:ea typeface="MS Mincho" charset="0"/>
                                <a:cs typeface="Cambria Math" panose="02040503050406030204" charset="0"/>
                              </a:rPr>
                              <m:t>,        </m:t>
                            </m:r>
                            <m:r>
                              <a:rPr lang="en-US" altLang="zh-CN" sz="1600" i="1">
                                <a:latin typeface="Cambria Math" panose="02040503050406030204" charset="0"/>
                                <a:ea typeface="微软雅黑" panose="020B0503020204020204" charset="-122"/>
                                <a:cs typeface="Cambria Math" panose="02040503050406030204" charset="0"/>
                              </a:rPr>
                              <m:t>𝑚</m:t>
                            </m:r>
                          </m:num>
                          <m:den>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MS Mincho" charset="0"/>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微软雅黑" panose="020B0503020204020204" charset="-122"/>
                                    <a:cs typeface="Cambria Math" panose="02040503050406030204" charset="0"/>
                                  </a:rPr>
                                  <m:t>𝑖</m:t>
                                </m:r>
                                <m:r>
                                  <a:rPr lang="en-US" altLang="zh-CN" sz="1600" i="1">
                                    <a:latin typeface="Cambria Math" panose="02040503050406030204" charset="0"/>
                                    <a:ea typeface="微软雅黑" panose="020B0503020204020204" charset="-122"/>
                                    <a:cs typeface="Cambria Math" panose="02040503050406030204" charset="0"/>
                                  </a:rPr>
                                  <m:t>−</m:t>
                                </m:r>
                                <m:r>
                                  <a:rPr lang="en-US" altLang="zh-CN" sz="1600" i="1">
                                    <a:latin typeface="Cambria Math" panose="02040503050406030204" charset="0"/>
                                    <a:ea typeface="微软雅黑" panose="020B0503020204020204" charset="-122"/>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微软雅黑" panose="020B0503020204020204" charset="-122"/>
                                    <a:cs typeface="Cambria Math" panose="02040503050406030204" charset="0"/>
                                  </a:rPr>
                                  <m:t>𝑖</m:t>
                                </m:r>
                                <m:r>
                                  <a:rPr lang="en-US" altLang="zh-CN" sz="1600" i="1">
                                    <a:latin typeface="Cambria Math" panose="02040503050406030204" charset="0"/>
                                    <a:ea typeface="MS Mincho" charset="0"/>
                                    <a:cs typeface="Cambria Math" panose="02040503050406030204" charset="0"/>
                                  </a:rPr>
                                  <m:t>+</m:t>
                                </m:r>
                                <m:r>
                                  <a:rPr lang="en-US" altLang="zh-CN" sz="1600" i="1">
                                    <a:latin typeface="Cambria Math" panose="02040503050406030204" charset="0"/>
                                    <a:ea typeface="MS Mincho" charset="0"/>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微软雅黑" panose="020B0503020204020204" charset="-122"/>
                                    <a:cs typeface="Cambria Math" panose="02040503050406030204" charset="0"/>
                                  </a:rPr>
                                  <m:t>𝑘</m:t>
                                </m:r>
                              </m:sub>
                            </m:sSub>
                          </m:den>
                        </m:f>
                      </m:oMath>
                    </m:oMathPara>
                  </a14:m>
                  <a:endParaRPr lang="en-US" altLang="zh-CN" sz="1600" i="1">
                    <a:latin typeface="Cambria Math" panose="02040503050406030204" charset="0"/>
                    <a:ea typeface="微软雅黑" panose="020B0503020204020204" charset="-122"/>
                    <a:cs typeface="Cambria Math" panose="020405030504060302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3737" y="4614"/>
                  <a:ext cx="4165" cy="938"/>
                </a:xfrm>
                <a:prstGeom prst="rect">
                  <a:avLst/>
                </a:prstGeom>
                <a:blipFill rotWithShape="1">
                  <a:blip r:embed="rId4"/>
                </a:blipFill>
              </p:spPr>
              <p:txBody>
                <a:bodyPr/>
                <a:lstStyle/>
                <a:p>
                  <a:r>
                    <a:rPr lang="zh-CN" altLang="en-US">
                      <a:noFill/>
                    </a:rPr>
                    <a:t> </a:t>
                  </a:r>
                </a:p>
              </p:txBody>
            </p:sp>
          </mc:Fallback>
        </mc:AlternateContent>
        <p:sp>
          <p:nvSpPr>
            <p:cNvPr id="7" name="文本框 6"/>
            <p:cNvSpPr txBox="1"/>
            <p:nvPr/>
          </p:nvSpPr>
          <p:spPr>
            <a:xfrm>
              <a:off x="884" y="5857"/>
              <a:ext cx="5671" cy="580"/>
            </a:xfrm>
            <a:prstGeom prst="rect">
              <a:avLst/>
            </a:prstGeom>
            <a:noFill/>
          </p:spPr>
          <p:txBody>
            <a:bodyPr wrap="none" rtlCol="0" anchor="t">
              <a:spAutoFit/>
            </a:bodyPr>
            <a:lstStyle/>
            <a:p>
              <a:pPr algn="l">
                <a:buClrTx/>
                <a:buSzTx/>
                <a:buFontTx/>
              </a:pPr>
              <a:r>
                <a:rPr lang="en-US" altLang="zh-CN" sz="1800" b="1">
                  <a:solidFill>
                    <a:srgbClr val="0000FF"/>
                  </a:solidFill>
                  <a:latin typeface="Times New Roman" panose="02020603050405020304" pitchFamily="18" charset="0"/>
                  <a:ea typeface="微软雅黑" panose="020B0503020204020204" charset="-122"/>
                  <a:cs typeface="Times New Roman" panose="02020603050405020304" pitchFamily="18" charset="0"/>
                  <a:sym typeface="+mn-ea"/>
                </a:rPr>
                <a:t>全归结（full resolution）推理规则</a:t>
              </a:r>
              <a:endParaRPr lang="en-US" altLang="zh-CN" sz="1800" b="1">
                <a:solidFill>
                  <a:srgbClr val="0000FF"/>
                </a:solidFill>
                <a:latin typeface="Times New Roman" panose="02020603050405020304" pitchFamily="18" charset="0"/>
                <a:ea typeface="微软雅黑" panose="020B0503020204020204" charset="-122"/>
                <a:cs typeface="Times New Roman" panose="02020603050405020304" pitchFamily="18" charset="0"/>
                <a:sym typeface="+mn-ea"/>
              </a:endParaRPr>
            </a:p>
          </p:txBody>
        </p:sp>
        <mc:AlternateContent xmlns:mc="http://schemas.openxmlformats.org/markup-compatibility/2006">
          <mc:Choice xmlns:a14="http://schemas.microsoft.com/office/drawing/2010/main" Requires="a14">
            <p:sp>
              <p:nvSpPr>
                <p:cNvPr id="8" name="文本框 7"/>
                <p:cNvSpPr txBox="1"/>
                <p:nvPr/>
              </p:nvSpPr>
              <p:spPr>
                <a:xfrm>
                  <a:off x="1980" y="6693"/>
                  <a:ext cx="9404" cy="981"/>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f>
                          <m:fPr>
                            <m:ctrlPr>
                              <a:rPr lang="en-US" altLang="zh-CN" sz="1600" i="1">
                                <a:latin typeface="Cambria Math" panose="02040503050406030204" charset="0"/>
                                <a:ea typeface="微软雅黑" panose="020B0503020204020204" charset="-122"/>
                                <a:cs typeface="Cambria Math" panose="02040503050406030204" charset="0"/>
                              </a:rPr>
                            </m:ctrlPr>
                          </m:fPr>
                          <m:num>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MS Mincho" charset="0"/>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微软雅黑" panose="020B0503020204020204" charset="-122"/>
                                    <a:cs typeface="Cambria Math" panose="02040503050406030204" charset="0"/>
                                  </a:rPr>
                                  <m:t>𝑘</m:t>
                                </m:r>
                              </m:sub>
                            </m:sSub>
                            <m:r>
                              <a:rPr lang="en-US" altLang="zh-CN" sz="1600" i="1">
                                <a:latin typeface="Cambria Math" panose="02040503050406030204" charset="0"/>
                                <a:ea typeface="MS Mincho" charset="0"/>
                                <a:cs typeface="Cambria Math" panose="02040503050406030204" charset="0"/>
                              </a:rPr>
                              <m:t>,        </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𝑚</m:t>
                                </m:r>
                              </m:e>
                              <m:sub>
                                <m:r>
                                  <a:rPr lang="en-US" altLang="zh-CN" sz="1600" i="1">
                                    <a:latin typeface="Cambria Math" panose="02040503050406030204" charset="0"/>
                                    <a:ea typeface="MS Mincho" charset="0"/>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𝑚</m:t>
                                </m:r>
                              </m:e>
                              <m:sub>
                                <m:r>
                                  <a:rPr lang="en-US" altLang="zh-CN" sz="1600" i="1">
                                    <a:latin typeface="Cambria Math" panose="02040503050406030204" charset="0"/>
                                    <a:ea typeface="微软雅黑" panose="020B0503020204020204" charset="-122"/>
                                    <a:cs typeface="Cambria Math" panose="02040503050406030204" charset="0"/>
                                  </a:rPr>
                                  <m:t>𝑛</m:t>
                                </m:r>
                              </m:sub>
                            </m:sSub>
                          </m:num>
                          <m:den>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MS Mincho" charset="0"/>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微软雅黑" panose="020B0503020204020204" charset="-122"/>
                                    <a:cs typeface="Cambria Math" panose="02040503050406030204" charset="0"/>
                                  </a:rPr>
                                  <m:t>𝑖</m:t>
                                </m:r>
                                <m:r>
                                  <a:rPr lang="en-US" altLang="zh-CN" sz="1600" i="1">
                                    <a:latin typeface="Cambria Math" panose="02040503050406030204" charset="0"/>
                                    <a:ea typeface="微软雅黑" panose="020B0503020204020204" charset="-122"/>
                                    <a:cs typeface="Cambria Math" panose="02040503050406030204" charset="0"/>
                                  </a:rPr>
                                  <m:t>−</m:t>
                                </m:r>
                                <m:r>
                                  <a:rPr lang="en-US" altLang="zh-CN" sz="1600" i="1">
                                    <a:latin typeface="Cambria Math" panose="02040503050406030204" charset="0"/>
                                    <a:ea typeface="微软雅黑" panose="020B0503020204020204" charset="-122"/>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微软雅黑" panose="020B0503020204020204" charset="-122"/>
                                    <a:cs typeface="Cambria Math" panose="02040503050406030204" charset="0"/>
                                  </a:rPr>
                                  <m:t>𝑖</m:t>
                                </m:r>
                                <m:r>
                                  <a:rPr lang="en-US" altLang="zh-CN" sz="1600" i="1">
                                    <a:latin typeface="Cambria Math" panose="02040503050406030204" charset="0"/>
                                    <a:ea typeface="MS Mincho" charset="0"/>
                                    <a:cs typeface="Cambria Math" panose="02040503050406030204" charset="0"/>
                                  </a:rPr>
                                  <m:t>+</m:t>
                                </m:r>
                                <m:r>
                                  <a:rPr lang="en-US" altLang="zh-CN" sz="1600" i="1">
                                    <a:latin typeface="Cambria Math" panose="02040503050406030204" charset="0"/>
                                    <a:ea typeface="MS Mincho" charset="0"/>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𝑙</m:t>
                                </m:r>
                              </m:e>
                              <m:sub>
                                <m:r>
                                  <a:rPr lang="en-US" altLang="zh-CN" sz="1600" i="1">
                                    <a:latin typeface="Cambria Math" panose="02040503050406030204" charset="0"/>
                                    <a:ea typeface="微软雅黑" panose="020B0503020204020204" charset="-122"/>
                                    <a:cs typeface="Cambria Math" panose="02040503050406030204" charset="0"/>
                                  </a:rPr>
                                  <m:t>𝑘</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𝑚</m:t>
                                </m:r>
                              </m:e>
                              <m:sub>
                                <m:r>
                                  <a:rPr lang="en-US" altLang="zh-CN" sz="1600" i="1">
                                    <a:latin typeface="Cambria Math" panose="02040503050406030204" charset="0"/>
                                    <a:ea typeface="微软雅黑" panose="020B0503020204020204" charset="-122"/>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𝑚</m:t>
                                </m:r>
                              </m:e>
                              <m:sub>
                                <m:r>
                                  <a:rPr lang="en-US" altLang="zh-CN" sz="1600" i="1">
                                    <a:latin typeface="Cambria Math" panose="02040503050406030204" charset="0"/>
                                    <a:ea typeface="微软雅黑" panose="020B0503020204020204" charset="-122"/>
                                    <a:cs typeface="Cambria Math" panose="02040503050406030204" charset="0"/>
                                  </a:rPr>
                                  <m:t>𝑗</m:t>
                                </m:r>
                                <m:r>
                                  <a:rPr lang="en-US" altLang="zh-CN" sz="1600" i="1">
                                    <a:latin typeface="Cambria Math" panose="02040503050406030204" charset="0"/>
                                    <a:ea typeface="微软雅黑" panose="020B0503020204020204" charset="-122"/>
                                    <a:cs typeface="Cambria Math" panose="02040503050406030204" charset="0"/>
                                  </a:rPr>
                                  <m:t>−</m:t>
                                </m:r>
                                <m:r>
                                  <a:rPr lang="en-US" altLang="zh-CN" sz="1600" i="1">
                                    <a:latin typeface="Cambria Math" panose="02040503050406030204" charset="0"/>
                                    <a:ea typeface="微软雅黑" panose="020B0503020204020204" charset="-122"/>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𝑚</m:t>
                                </m:r>
                              </m:e>
                              <m:sub>
                                <m:r>
                                  <a:rPr lang="en-US" altLang="zh-CN" sz="1600" i="1">
                                    <a:latin typeface="Cambria Math" panose="02040503050406030204" charset="0"/>
                                    <a:ea typeface="微软雅黑" panose="020B0503020204020204" charset="-122"/>
                                    <a:cs typeface="Cambria Math" panose="02040503050406030204" charset="0"/>
                                  </a:rPr>
                                  <m:t>𝑗</m:t>
                                </m:r>
                                <m:r>
                                  <a:rPr lang="en-US" altLang="zh-CN" sz="1600" i="1">
                                    <a:latin typeface="Cambria Math" panose="02040503050406030204" charset="0"/>
                                    <a:ea typeface="微软雅黑" panose="020B0503020204020204" charset="-122"/>
                                    <a:cs typeface="Cambria Math" panose="02040503050406030204" charset="0"/>
                                  </a:rPr>
                                  <m:t>+</m:t>
                                </m:r>
                                <m:r>
                                  <a:rPr lang="en-US" altLang="zh-CN" sz="1600" i="1">
                                    <a:latin typeface="Cambria Math" panose="02040503050406030204" charset="0"/>
                                    <a:ea typeface="微软雅黑" panose="020B0503020204020204" charset="-122"/>
                                    <a:cs typeface="Cambria Math" panose="02040503050406030204" charset="0"/>
                                  </a:rPr>
                                  <m:t>1</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latin typeface="Cambria Math" panose="02040503050406030204" charset="0"/>
                                    <a:ea typeface="微软雅黑" panose="020B0503020204020204" charset="-122"/>
                                    <a:cs typeface="Cambria Math" panose="02040503050406030204" charset="0"/>
                                  </a:rPr>
                                </m:ctrlPr>
                              </m:sSubPr>
                              <m:e>
                                <m:r>
                                  <a:rPr lang="en-US" altLang="zh-CN" sz="1600" i="1">
                                    <a:latin typeface="Cambria Math" panose="02040503050406030204" charset="0"/>
                                    <a:ea typeface="微软雅黑" panose="020B0503020204020204" charset="-122"/>
                                    <a:cs typeface="Cambria Math" panose="02040503050406030204" charset="0"/>
                                  </a:rPr>
                                  <m:t>𝑚</m:t>
                                </m:r>
                              </m:e>
                              <m:sub>
                                <m:r>
                                  <a:rPr lang="en-US" altLang="zh-CN" sz="1600" i="1">
                                    <a:latin typeface="Cambria Math" panose="02040503050406030204" charset="0"/>
                                    <a:ea typeface="微软雅黑" panose="020B0503020204020204" charset="-122"/>
                                    <a:cs typeface="Cambria Math" panose="02040503050406030204" charset="0"/>
                                  </a:rPr>
                                  <m:t>𝑛</m:t>
                                </m:r>
                              </m:sub>
                            </m:sSub>
                          </m:den>
                        </m:f>
                      </m:oMath>
                    </m:oMathPara>
                  </a14:m>
                  <a:endParaRPr lang="en-US" altLang="zh-CN" sz="1600" i="1">
                    <a:latin typeface="Cambria Math" panose="02040503050406030204" charset="0"/>
                    <a:ea typeface="微软雅黑" panose="020B0503020204020204" charset="-122"/>
                    <a:cs typeface="Cambria Math" panose="02040503050406030204"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1980" y="6693"/>
                  <a:ext cx="9404" cy="981"/>
                </a:xfrm>
                <a:prstGeom prst="rect">
                  <a:avLst/>
                </a:prstGeom>
                <a:blipFill rotWithShape="1">
                  <a:blip r:embed="rId5"/>
                </a:blipFill>
              </p:spPr>
              <p:txBody>
                <a:bodyPr/>
                <a:lstStyle/>
                <a:p>
                  <a:r>
                    <a:rPr lang="zh-CN" altLang="en-US">
                      <a:noFill/>
                    </a:rPr>
                    <a:t> </a:t>
                  </a:r>
                </a:p>
              </p:txBody>
            </p:sp>
          </mc:Fallback>
        </mc:AlternateContent>
        <p:sp>
          <p:nvSpPr>
            <p:cNvPr id="11" name="文本框 10"/>
            <p:cNvSpPr txBox="1"/>
            <p:nvPr/>
          </p:nvSpPr>
          <p:spPr>
            <a:xfrm>
              <a:off x="7466" y="3809"/>
              <a:ext cx="2586" cy="531"/>
            </a:xfrm>
            <a:prstGeom prst="rect">
              <a:avLst/>
            </a:prstGeom>
            <a:noFill/>
          </p:spPr>
          <p:txBody>
            <a:bodyPr wrap="none" rtlCol="0">
              <a:spAutoFit/>
            </a:bodyPr>
            <a:lstStyle/>
            <a:p>
              <a:r>
                <a:rPr lang="en-US" altLang="zh-CN" sz="1600" i="1">
                  <a:latin typeface="Times New Roman" panose="02020603050405020304" pitchFamily="18" charset="0"/>
                  <a:cs typeface="Times New Roman" panose="02020603050405020304" pitchFamily="18" charset="0"/>
                </a:rPr>
                <a:t>l</a:t>
              </a:r>
              <a:r>
                <a:rPr lang="en-US" altLang="zh-CN" sz="1600" i="1" baseline="-25000">
                  <a:latin typeface="Times New Roman" panose="02020603050405020304" pitchFamily="18" charset="0"/>
                  <a:cs typeface="Times New Roman" panose="02020603050405020304" pitchFamily="18" charset="0"/>
                </a:rPr>
                <a:t>i</a:t>
              </a:r>
              <a:r>
                <a:rPr lang="zh-CN" altLang="en-US" sz="1600">
                  <a:latin typeface="Times New Roman" panose="02020603050405020304" pitchFamily="18" charset="0"/>
                  <a:cs typeface="Times New Roman" panose="02020603050405020304" pitchFamily="18" charset="0"/>
                </a:rPr>
                <a:t>和</a:t>
              </a:r>
              <a:r>
                <a:rPr lang="en-US" altLang="zh-CN" sz="1600" i="1">
                  <a:latin typeface="Times New Roman" panose="02020603050405020304" pitchFamily="18" charset="0"/>
                  <a:cs typeface="Times New Roman" panose="02020603050405020304" pitchFamily="18" charset="0"/>
                </a:rPr>
                <a:t>m</a:t>
              </a:r>
              <a:r>
                <a:rPr lang="zh-CN" altLang="en-US" sz="1600"/>
                <a:t>是互补文字</a:t>
              </a:r>
              <a:endParaRPr lang="zh-CN" altLang="en-US" sz="1600"/>
            </a:p>
          </p:txBody>
        </p:sp>
        <p:sp>
          <p:nvSpPr>
            <p:cNvPr id="12" name="文本框 11"/>
            <p:cNvSpPr txBox="1"/>
            <p:nvPr/>
          </p:nvSpPr>
          <p:spPr>
            <a:xfrm>
              <a:off x="7466" y="5857"/>
              <a:ext cx="2644" cy="531"/>
            </a:xfrm>
            <a:prstGeom prst="rect">
              <a:avLst/>
            </a:prstGeom>
            <a:noFill/>
          </p:spPr>
          <p:txBody>
            <a:bodyPr wrap="none" rtlCol="0">
              <a:spAutoFit/>
            </a:bodyPr>
            <a:lstStyle/>
            <a:p>
              <a:r>
                <a:rPr lang="en-US" altLang="zh-CN" sz="1600" i="1">
                  <a:latin typeface="Times New Roman" panose="02020603050405020304" pitchFamily="18" charset="0"/>
                  <a:cs typeface="Times New Roman" panose="02020603050405020304" pitchFamily="18" charset="0"/>
                </a:rPr>
                <a:t>l</a:t>
              </a:r>
              <a:r>
                <a:rPr lang="en-US" altLang="zh-CN" sz="1600" i="1" baseline="-25000">
                  <a:latin typeface="Times New Roman" panose="02020603050405020304" pitchFamily="18" charset="0"/>
                  <a:cs typeface="Times New Roman" panose="02020603050405020304" pitchFamily="18" charset="0"/>
                </a:rPr>
                <a:t>i</a:t>
              </a:r>
              <a:r>
                <a:rPr lang="zh-CN" altLang="en-US" sz="1600">
                  <a:latin typeface="Times New Roman" panose="02020603050405020304" pitchFamily="18" charset="0"/>
                  <a:cs typeface="Times New Roman" panose="02020603050405020304" pitchFamily="18" charset="0"/>
                </a:rPr>
                <a:t>和</a:t>
              </a:r>
              <a:r>
                <a:rPr lang="en-US" altLang="zh-CN" sz="1600" i="1">
                  <a:latin typeface="Times New Roman" panose="02020603050405020304" pitchFamily="18" charset="0"/>
                  <a:cs typeface="Times New Roman" panose="02020603050405020304" pitchFamily="18" charset="0"/>
                </a:rPr>
                <a:t>m</a:t>
              </a:r>
              <a:r>
                <a:rPr lang="en-US" altLang="zh-CN" sz="1600" i="1" baseline="-25000">
                  <a:latin typeface="Times New Roman" panose="02020603050405020304" pitchFamily="18" charset="0"/>
                  <a:cs typeface="Times New Roman" panose="02020603050405020304" pitchFamily="18" charset="0"/>
                </a:rPr>
                <a:t>j</a:t>
              </a:r>
              <a:r>
                <a:rPr lang="zh-CN" altLang="en-US" sz="1600"/>
                <a:t>是互补文字</a:t>
              </a:r>
              <a:endParaRPr lang="zh-CN" altLang="en-US" sz="1600"/>
            </a:p>
          </p:txBody>
        </p:sp>
      </p:grpSp>
    </p:spTree>
    <p:custDataLst>
      <p:tags r:id="rId6"/>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spcBef>
                <a:spcPct val="0"/>
              </a:spcBef>
            </a:pPr>
            <a:fld id="{9A0DB2DC-4C9A-4742-B13C-FB6460FD3503}" type="slidenum">
              <a:rPr lang="zh-CN" altLang="en-US" dirty="0"/>
            </a:fld>
            <a:endParaRPr lang="zh-CN" altLang="en-US" dirty="0">
              <a:latin typeface="Arial" panose="020B0604020202020204" pitchFamily="34" charset="0"/>
            </a:endParaRPr>
          </a:p>
        </p:txBody>
      </p:sp>
      <p:sp>
        <p:nvSpPr>
          <p:cNvPr id="40962" name="标题 40961"/>
          <p:cNvSpPr>
            <a:spLocks noGrp="1"/>
          </p:cNvSpPr>
          <p:nvPr>
            <p:ph type="title"/>
          </p:nvPr>
        </p:nvSpPr>
        <p:spPr/>
        <p:txBody>
          <a:bodyPr anchor="b" anchorCtr="0"/>
          <a:lstStyle/>
          <a:p>
            <a:r>
              <a:rPr lang="zh-CN" altLang="en-US" sz="4000" dirty="0">
                <a:latin typeface="宋体" panose="02010600030101010101" pitchFamily="2" charset="-122"/>
              </a:rPr>
              <a:t>归结原理</a:t>
            </a:r>
            <a:endParaRPr lang="en-US" altLang="zh-CN" sz="4000">
              <a:latin typeface="宋体" panose="02010600030101010101" pitchFamily="2" charset="-122"/>
            </a:endParaRPr>
          </a:p>
        </p:txBody>
      </p:sp>
      <p:sp>
        <p:nvSpPr>
          <p:cNvPr id="40963" name="文本占位符 40962"/>
          <p:cNvSpPr>
            <a:spLocks noGrp="1"/>
          </p:cNvSpPr>
          <p:nvPr>
            <p:ph type="body" idx="1"/>
          </p:nvPr>
        </p:nvSpPr>
        <p:spPr>
          <a:xfrm>
            <a:off x="502285" y="1103630"/>
            <a:ext cx="8139430" cy="3768090"/>
          </a:xfrm>
        </p:spPr>
        <p:txBody>
          <a:bodyPr/>
          <a:lstStyle/>
          <a:p>
            <a:pPr>
              <a:buClrTx/>
              <a:buSzTx/>
              <a:buFontTx/>
              <a:buNone/>
            </a:pPr>
            <a:r>
              <a:rPr lang="zh-CN" altLang="en-US" sz="2400" dirty="0">
                <a:latin typeface="宋体" panose="02010600030101010101" pitchFamily="2" charset="-122"/>
              </a:rPr>
              <a:t>又称消解原理</a:t>
            </a:r>
            <a:r>
              <a:rPr lang="en-US" altLang="zh-CN" sz="2400">
                <a:latin typeface="宋体" panose="02010600030101010101" pitchFamily="2" charset="-122"/>
              </a:rPr>
              <a:t>,1965</a:t>
            </a:r>
            <a:r>
              <a:rPr lang="zh-CN" altLang="en-US" sz="2400" dirty="0">
                <a:latin typeface="宋体" panose="02010600030101010101" pitchFamily="2" charset="-122"/>
              </a:rPr>
              <a:t>年鲁滨逊（</a:t>
            </a:r>
            <a:r>
              <a:rPr lang="en-US" altLang="zh-CN" sz="2400">
                <a:latin typeface="宋体" panose="02010600030101010101" pitchFamily="2" charset="-122"/>
              </a:rPr>
              <a:t>J.A.Robinson</a:t>
            </a:r>
            <a:r>
              <a:rPr lang="zh-CN" altLang="en-US" sz="2400">
                <a:latin typeface="宋体" panose="02010600030101010101" pitchFamily="2" charset="-122"/>
              </a:rPr>
              <a:t>）</a:t>
            </a:r>
            <a:r>
              <a:rPr lang="zh-CN" altLang="en-US" sz="2400" dirty="0">
                <a:latin typeface="宋体" panose="02010600030101010101" pitchFamily="2" charset="-122"/>
              </a:rPr>
              <a:t>提出，从理论上解决了定理证明问题。归结原理提出的是一种证明子句集不可满足性，从而实现定理证明的一种理论及方法。</a:t>
            </a:r>
            <a:endParaRPr lang="zh-CN" altLang="en-US" sz="2400" dirty="0">
              <a:solidFill>
                <a:schemeClr val="folHlink"/>
              </a:solidFill>
              <a:latin typeface="宋体" panose="02010600030101010101" pitchFamily="2" charset="-122"/>
            </a:endParaRPr>
          </a:p>
        </p:txBody>
      </p:sp>
      <p:pic>
        <p:nvPicPr>
          <p:cNvPr id="101" name="图片 100"/>
          <p:cNvPicPr/>
          <p:nvPr/>
        </p:nvPicPr>
        <p:blipFill>
          <a:blip r:embed="rId1"/>
          <a:srcRect l="5563" t="26531" r="80818" b="23798"/>
          <a:stretch>
            <a:fillRect/>
          </a:stretch>
        </p:blipFill>
        <p:spPr>
          <a:xfrm>
            <a:off x="3501190" y="3102241"/>
            <a:ext cx="1726330" cy="948391"/>
          </a:xfrm>
          <a:prstGeom prst="rect">
            <a:avLst/>
          </a:prstGeom>
          <a:noFill/>
          <a:ln w="9525">
            <a:noFill/>
          </a:ln>
        </p:spPr>
      </p:pic>
      <p:pic>
        <p:nvPicPr>
          <p:cNvPr id="4" name="图片 3"/>
          <p:cNvPicPr/>
          <p:nvPr/>
        </p:nvPicPr>
        <p:blipFill>
          <a:blip r:embed="rId1"/>
          <a:srcRect l="33583" t="41890" r="32737" b="29402"/>
          <a:stretch>
            <a:fillRect/>
          </a:stretch>
        </p:blipFill>
        <p:spPr>
          <a:xfrm>
            <a:off x="2430379" y="4400885"/>
            <a:ext cx="4455394" cy="648368"/>
          </a:xfrm>
          <a:prstGeom prst="rect">
            <a:avLst/>
          </a:prstGeom>
          <a:noFill/>
          <a:ln w="9525">
            <a:noFill/>
          </a:ln>
        </p:spPr>
      </p:pic>
    </p:spTree>
    <p:custDataLst>
      <p:tags r:id="rId2"/>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9575" y="163830"/>
            <a:ext cx="5786755" cy="521970"/>
          </a:xfrm>
          <a:prstGeom prst="rect">
            <a:avLst/>
          </a:prstGeom>
          <a:noFill/>
        </p:spPr>
        <p:txBody>
          <a:bodyPr wrap="square" rtlCol="0">
            <a:spAutoFit/>
          </a:bodyPr>
          <a:lstStyle/>
          <a:p>
            <a:pPr lvl="0" algn="l">
              <a:buClrTx/>
              <a:buSzTx/>
              <a:buFontTx/>
            </a:pPr>
            <a:r>
              <a:rPr lang="zh-CN" altLang="en-US" sz="28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 </a:t>
            </a:r>
            <a:r>
              <a:rPr lang="zh-CN" altLang="en-US" sz="2800" b="1" dirty="0">
                <a:solidFill>
                  <a:schemeClr val="lt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消去存在量词 (Skolem化）</a:t>
            </a:r>
            <a:endParaRPr lang="zh-CN" altLang="en-US" sz="2800" b="1" dirty="0">
              <a:solidFill>
                <a:schemeClr val="lt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408940" y="996950"/>
            <a:ext cx="8300085" cy="1701165"/>
          </a:xfrm>
          <a:prstGeom prst="rect">
            <a:avLst/>
          </a:prstGeom>
          <a:noFill/>
        </p:spPr>
        <p:txBody>
          <a:bodyPr wrap="square" rtlCol="0" anchor="t">
            <a:noAutofit/>
          </a:bodyPr>
          <a:lstStyle/>
          <a:p>
            <a:pPr algn="l">
              <a:lnSpc>
                <a:spcPct val="110000"/>
              </a:lnSpc>
            </a:pPr>
            <a:r>
              <a:rPr lang="en-US" altLang="zh-CN" sz="1800" dirty="0">
                <a:solidFill>
                  <a:srgbClr val="00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①</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若该存在量词</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不在任何</a:t>
            </a:r>
            <a:r>
              <a:rPr lang="zh-CN" altLang="zh-CN" sz="1800"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全称量词</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的辖域内，</a:t>
            </a:r>
            <a:r>
              <a:rPr lang="zh-CN" altLang="zh-CN" sz="1800" dirty="0">
                <a:solidFill>
                  <a:srgbClr val="00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则</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用一个</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常量符号</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代替该存在量词辖域内的相应约束变元，</a:t>
            </a:r>
            <a:r>
              <a:rPr lang="zh-CN" altLang="zh-CN" sz="1800" dirty="0">
                <a:solidFill>
                  <a:srgbClr val="00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这个常量叫</a:t>
            </a:r>
            <a:r>
              <a:rPr lang="zh-CN" altLang="zh-CN" sz="1800" dirty="0">
                <a:solidFill>
                  <a:srgbClr val="3333CC"/>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Skolem常量</a:t>
            </a:r>
            <a:r>
              <a:rPr lang="zh-CN" altLang="en-US" sz="1800" dirty="0">
                <a:solidFill>
                  <a:srgbClr val="3333CC"/>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endParaRPr lang="zh-CN" altLang="en-US" sz="1800" dirty="0">
              <a:solidFill>
                <a:srgbClr val="3333CC"/>
              </a:solidFill>
              <a:latin typeface="微软雅黑" panose="020B0503020204020204" charset="-122"/>
              <a:ea typeface="微软雅黑" panose="020B0503020204020204" charset="-122"/>
              <a:cs typeface="微软雅黑" panose="020B0503020204020204" charset="-122"/>
              <a:sym typeface="Symbol" panose="05050102010706020507" pitchFamily="18" charset="2"/>
            </a:endParaRPr>
          </a:p>
          <a:p>
            <a:pPr algn="l">
              <a:spcBef>
                <a:spcPct val="20000"/>
              </a:spcBef>
              <a:buClr>
                <a:srgbClr val="3333CC"/>
              </a:buClr>
              <a:buSzPct val="60000"/>
              <a:buFont typeface="Wingdings" panose="05000000000000000000" pitchFamily="2" charset="2"/>
            </a:pPr>
            <a:r>
              <a:rPr lang="en-US" altLang="zh-CN" sz="1800" dirty="0">
                <a:solidFill>
                  <a:srgbClr val="00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②</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若该存在量词</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在</a:t>
            </a:r>
            <a:r>
              <a:rPr lang="zh-CN" altLang="zh-CN" sz="1800"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全称量词</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的辖域内，</a:t>
            </a:r>
            <a:r>
              <a:rPr lang="zh-CN" altLang="zh-CN" sz="1800" dirty="0">
                <a:solidFill>
                  <a:srgbClr val="00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则</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用这些全称量词指导变元的一个</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函数</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代替该存在量词辖域内的相应约束变元，这样的函数称为</a:t>
            </a:r>
            <a:r>
              <a:rPr lang="en-US" altLang="zh-CN" sz="1800" err="1">
                <a:solidFill>
                  <a:srgbClr val="3333CC"/>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Skolem</a:t>
            </a:r>
            <a:r>
              <a:rPr lang="zh-CN" altLang="en-US" sz="1800" dirty="0">
                <a:solidFill>
                  <a:srgbClr val="3333CC"/>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函数</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endPar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endParaRPr>
          </a:p>
        </p:txBody>
      </p:sp>
      <p:sp>
        <p:nvSpPr>
          <p:cNvPr id="201733" name="圆角矩形 201732"/>
          <p:cNvSpPr/>
          <p:nvPr/>
        </p:nvSpPr>
        <p:spPr>
          <a:xfrm>
            <a:off x="1130300" y="2339340"/>
            <a:ext cx="7345363" cy="1347788"/>
          </a:xfrm>
          <a:prstGeom prst="roundRect">
            <a:avLst>
              <a:gd name="adj" fmla="val 16667"/>
            </a:avLst>
          </a:prstGeom>
          <a:noFill/>
          <a:ln w="9525">
            <a:solidFill>
              <a:schemeClr val="accent1"/>
            </a:solidFill>
          </a:ln>
        </p:spPr>
        <p:txBody>
          <a:bodyPr wrap="none" anchor="ctr" anchorCtr="0"/>
          <a:lstStyle/>
          <a:p>
            <a:pPr marL="609600" indent="-609600">
              <a:buClr>
                <a:schemeClr val="folHlink"/>
              </a:buClr>
              <a:buSzPct val="60000"/>
              <a:buFont typeface="Wingdings" panose="05000000000000000000" pitchFamily="2" charset="2"/>
            </a:pPr>
            <a:r>
              <a:rPr lang="zh-CN" altLang="en-US" sz="2400" b="1" dirty="0">
                <a:latin typeface="微软雅黑" panose="020B0503020204020204" charset="-122"/>
                <a:ea typeface="微软雅黑" panose="020B0503020204020204" charset="-122"/>
                <a:cs typeface="微软雅黑" panose="020B0503020204020204" charset="-122"/>
                <a:sym typeface="Symbol" panose="05050102010706020507" pitchFamily="18" charset="2"/>
              </a:rPr>
              <a:t>理论依据：</a:t>
            </a:r>
            <a:endParaRPr lang="zh-CN" altLang="en-US" sz="2400" b="1" dirty="0">
              <a:latin typeface="微软雅黑" panose="020B0503020204020204" charset="-122"/>
              <a:ea typeface="微软雅黑" panose="020B0503020204020204" charset="-122"/>
              <a:cs typeface="微软雅黑" panose="020B0503020204020204" charset="-122"/>
              <a:sym typeface="Symbol" panose="05050102010706020507" pitchFamily="18" charset="2"/>
            </a:endParaRPr>
          </a:p>
          <a:p>
            <a:pPr marL="609600" indent="-609600">
              <a:buClr>
                <a:schemeClr val="folHlink"/>
              </a:buClr>
              <a:buSzPct val="60000"/>
              <a:buFont typeface="Wingdings" panose="05000000000000000000" pitchFamily="2" charset="2"/>
            </a:pPr>
            <a:r>
              <a:rPr lang="zh-CN" altLang="en-US" sz="2400" b="1" dirty="0">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en-US" altLang="zh-CN" b="1" dirty="0">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en-US" altLang="zh-CN" b="1" dirty="0" err="1">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xA</a:t>
            </a:r>
            <a:r>
              <a:rPr lang="zh-CN" altLang="en-US" b="1" dirty="0">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b="1" dirty="0">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x</a:t>
            </a:r>
            <a:r>
              <a:rPr lang="zh-CN" altLang="en-US" b="1" dirty="0">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b="1" dirty="0">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a:t>
            </a:r>
            <a:r>
              <a:rPr lang="zh-CN" altLang="en-US" b="1" dirty="0">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b="1" dirty="0">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y</a:t>
            </a:r>
            <a:r>
              <a:rPr lang="zh-CN" altLang="en-US" b="1" dirty="0">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b="1" dirty="0">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y</a:t>
            </a:r>
            <a:r>
              <a:rPr lang="zh-CN" altLang="en-US" b="1" dirty="0">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是个体域中某一确定的元素。</a:t>
            </a:r>
            <a:endParaRPr lang="zh-CN" altLang="en-US" b="1" dirty="0">
              <a:solidFill>
                <a:srgbClr val="0000FF"/>
              </a:solidFill>
              <a:latin typeface="微软雅黑" panose="020B0503020204020204" charset="-122"/>
              <a:ea typeface="微软雅黑" panose="020B0503020204020204" charset="-122"/>
              <a:cs typeface="微软雅黑" panose="020B0503020204020204" charset="-122"/>
              <a:sym typeface="Symbol" panose="05050102010706020507" pitchFamily="18" charset="2"/>
            </a:endParaRPr>
          </a:p>
        </p:txBody>
      </p:sp>
      <p:sp>
        <p:nvSpPr>
          <p:cNvPr id="201734" name="矩形 201733"/>
          <p:cNvSpPr/>
          <p:nvPr/>
        </p:nvSpPr>
        <p:spPr>
          <a:xfrm>
            <a:off x="1489075" y="3009265"/>
            <a:ext cx="2519363" cy="450850"/>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nchorCtr="0"/>
          <a:lstStyle/>
          <a:p>
            <a:pPr marL="609600" indent="-609600" algn="ctr">
              <a:buClr>
                <a:schemeClr val="folHlink"/>
              </a:buClr>
              <a:buSzPct val="60000"/>
              <a:buFont typeface="Wingdings" panose="05000000000000000000" pitchFamily="2" charset="2"/>
            </a:pPr>
            <a:r>
              <a:rPr lang="en-US" altLang="zh-CN" b="1" dirty="0">
                <a:latin typeface="微软雅黑" panose="020B0503020204020204" charset="-122"/>
                <a:ea typeface="微软雅黑" panose="020B0503020204020204" charset="-122"/>
              </a:rPr>
              <a:t>   </a:t>
            </a:r>
            <a:endParaRPr lang="en-US" altLang="zh-CN" b="1" dirty="0">
              <a:latin typeface="微软雅黑" panose="020B0503020204020204" charset="-122"/>
              <a:ea typeface="微软雅黑" panose="020B0503020204020204" charset="-122"/>
            </a:endParaRPr>
          </a:p>
        </p:txBody>
      </p:sp>
      <p:sp>
        <p:nvSpPr>
          <p:cNvPr id="201735" name="圆角矩形标注 201734"/>
          <p:cNvSpPr/>
          <p:nvPr/>
        </p:nvSpPr>
        <p:spPr>
          <a:xfrm>
            <a:off x="4644708" y="2346325"/>
            <a:ext cx="1911350" cy="541338"/>
          </a:xfrm>
          <a:prstGeom prst="wedgeRoundRectCallout">
            <a:avLst>
              <a:gd name="adj1" fmla="val -85996"/>
              <a:gd name="adj2" fmla="val 74340"/>
              <a:gd name="adj3" fmla="val 16667"/>
            </a:avLst>
          </a:prstGeom>
        </p:spPr>
        <p:style>
          <a:lnRef idx="2">
            <a:schemeClr val="accent1"/>
          </a:lnRef>
          <a:fillRef idx="1">
            <a:schemeClr val="lt1"/>
          </a:fillRef>
          <a:effectRef idx="0">
            <a:schemeClr val="accent1"/>
          </a:effectRef>
          <a:fontRef idx="minor">
            <a:schemeClr val="dk1"/>
          </a:fontRef>
        </p:style>
        <p:txBody>
          <a:bodyPr/>
          <a:lstStyle/>
          <a:p>
            <a:pPr marL="609600" indent="-609600" algn="ctr">
              <a:buClr>
                <a:schemeClr val="folHlink"/>
              </a:buClr>
              <a:buSzPct val="60000"/>
              <a:buFont typeface="Wingdings" panose="05000000000000000000" pitchFamily="2" charset="2"/>
            </a:pPr>
            <a:r>
              <a:rPr lang="zh-CN" altLang="en-US" b="1" dirty="0">
                <a:solidFill>
                  <a:schemeClr val="accent2"/>
                </a:solidFill>
                <a:latin typeface="微软雅黑" panose="020B0503020204020204" charset="-122"/>
                <a:ea typeface="微软雅黑" panose="020B0503020204020204" charset="-122"/>
                <a:cs typeface="微软雅黑" panose="020B0503020204020204" charset="-122"/>
              </a:rPr>
              <a:t>存在指定规则   </a:t>
            </a:r>
            <a:endParaRPr lang="zh-CN" altLang="en-US" b="1"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02756" name="圆角矩形 202755"/>
          <p:cNvSpPr/>
          <p:nvPr/>
        </p:nvSpPr>
        <p:spPr>
          <a:xfrm>
            <a:off x="408940" y="3771265"/>
            <a:ext cx="8629015" cy="546100"/>
          </a:xfrm>
          <a:prstGeom prst="roundRect">
            <a:avLst>
              <a:gd name="adj" fmla="val 16667"/>
            </a:avLst>
          </a:prstGeom>
          <a:solidFill>
            <a:srgbClr val="FFFF00"/>
          </a:solidFill>
          <a:ln w="9525">
            <a:noFill/>
          </a:ln>
        </p:spPr>
        <p:txBody>
          <a:bodyPr wrap="none" anchor="ctr" anchorCtr="0"/>
          <a:lstStyle/>
          <a:p>
            <a:pPr marL="609600" indent="-609600">
              <a:buClr>
                <a:schemeClr val="folHlink"/>
              </a:buClr>
              <a:buSzPct val="60000"/>
              <a:buFont typeface="Wingdings" panose="05000000000000000000" pitchFamily="2" charset="2"/>
            </a:pPr>
            <a:r>
              <a:rPr lang="zh-CN" altLang="en-US" sz="2000" dirty="0">
                <a:latin typeface="微软雅黑" panose="020B0503020204020204" charset="-122"/>
                <a:ea typeface="微软雅黑" panose="020B0503020204020204" charset="-122"/>
                <a:cs typeface="微软雅黑" panose="020B0503020204020204" charset="-122"/>
              </a:rPr>
              <a:t>问题</a:t>
            </a:r>
            <a:r>
              <a:rPr lang="en-US" altLang="zh-CN" sz="2000">
                <a:latin typeface="微软雅黑" panose="020B0503020204020204" charset="-122"/>
                <a:ea typeface="微软雅黑" panose="020B0503020204020204" charset="-122"/>
                <a:cs typeface="微软雅黑" panose="020B0503020204020204" charset="-122"/>
              </a:rPr>
              <a:t>:</a:t>
            </a:r>
            <a:r>
              <a:rPr lang="zh-CN" altLang="en-US" sz="2000" dirty="0">
                <a:latin typeface="微软雅黑" panose="020B0503020204020204" charset="-122"/>
                <a:ea typeface="微软雅黑" panose="020B0503020204020204" charset="-122"/>
                <a:cs typeface="微软雅黑" panose="020B0503020204020204" charset="-122"/>
              </a:rPr>
              <a:t>为什么受全称量词约束的要用</a:t>
            </a:r>
            <a:r>
              <a:rPr lang="en-US" altLang="zh-CN" sz="2000" err="1">
                <a:latin typeface="微软雅黑" panose="020B0503020204020204" charset="-122"/>
                <a:ea typeface="微软雅黑" panose="020B0503020204020204" charset="-122"/>
                <a:cs typeface="微软雅黑" panose="020B0503020204020204" charset="-122"/>
              </a:rPr>
              <a:t>Skolem</a:t>
            </a:r>
            <a:r>
              <a:rPr lang="zh-CN" altLang="en-US" sz="2000" dirty="0">
                <a:latin typeface="微软雅黑" panose="020B0503020204020204" charset="-122"/>
                <a:ea typeface="微软雅黑" panose="020B0503020204020204" charset="-122"/>
                <a:cs typeface="微软雅黑" panose="020B0503020204020204" charset="-122"/>
              </a:rPr>
              <a:t>函数替换</a:t>
            </a: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dirty="0">
                <a:latin typeface="微软雅黑" panose="020B0503020204020204" charset="-122"/>
                <a:ea typeface="微软雅黑" panose="020B0503020204020204" charset="-122"/>
                <a:cs typeface="微软雅黑" panose="020B0503020204020204" charset="-122"/>
              </a:rPr>
              <a:t>而不能用常量替换？</a:t>
            </a:r>
            <a:endParaRPr lang="zh-CN" altLang="en-US" sz="2000" dirty="0">
              <a:latin typeface="微软雅黑" panose="020B0503020204020204" charset="-122"/>
              <a:ea typeface="微软雅黑" panose="020B0503020204020204" charset="-122"/>
              <a:cs typeface="微软雅黑" panose="020B0503020204020204" charset="-122"/>
              <a:sym typeface="Symbol" panose="05050102010706020507" pitchFamily="18" charset="2"/>
            </a:endParaRPr>
          </a:p>
        </p:txBody>
      </p:sp>
      <p:sp>
        <p:nvSpPr>
          <p:cNvPr id="202757" name="矩形 202756"/>
          <p:cNvSpPr/>
          <p:nvPr/>
        </p:nvSpPr>
        <p:spPr>
          <a:xfrm>
            <a:off x="1129983" y="4450715"/>
            <a:ext cx="7416800" cy="1771650"/>
          </a:xfrm>
          <a:prstGeom prst="rect">
            <a:avLst/>
          </a:prstGeom>
          <a:solidFill>
            <a:srgbClr val="00E4A8">
              <a:alpha val="50000"/>
            </a:srgbClr>
          </a:solidFill>
          <a:ln w="9525">
            <a:noFill/>
          </a:ln>
        </p:spPr>
        <p:txBody>
          <a:bodyPr>
            <a:spAutoFit/>
          </a:bodyPr>
          <a:lstStyle/>
          <a:p>
            <a:pPr lvl="1">
              <a:spcBef>
                <a:spcPct val="20000"/>
              </a:spcBef>
            </a:pPr>
            <a:r>
              <a:rPr lang="en-US" altLang="zh-CN" sz="2400" b="1" dirty="0">
                <a:latin typeface="仿宋_GB2312" panose="02010609030101010101" pitchFamily="49" charset="-122"/>
                <a:ea typeface="仿宋_GB2312" panose="02010609030101010101" pitchFamily="49" charset="-122"/>
                <a:sym typeface="Symbol" panose="05050102010706020507" pitchFamily="18" charset="2"/>
              </a:rPr>
              <a:t></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x  </a:t>
            </a:r>
            <a:r>
              <a:rPr lang="en-US" altLang="zh-CN" sz="2400" b="1" err="1">
                <a:latin typeface="仿宋_GB2312" panose="02010609030101010101" pitchFamily="49" charset="-122"/>
                <a:ea typeface="仿宋_GB2312" panose="02010609030101010101" pitchFamily="49" charset="-122"/>
                <a:sym typeface="Symbol" panose="05050102010706020507" pitchFamily="18" charset="2"/>
              </a:rPr>
              <a:t>yM</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y</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x</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a:t>
            </a:r>
            <a:endParaRPr lang="zh-CN" altLang="en-US" sz="2400" b="1" dirty="0">
              <a:latin typeface="仿宋_GB2312" panose="02010609030101010101" pitchFamily="49" charset="-122"/>
              <a:ea typeface="仿宋_GB2312" panose="02010609030101010101" pitchFamily="49" charset="-122"/>
              <a:sym typeface="Symbol" panose="05050102010706020507" pitchFamily="18" charset="2"/>
            </a:endParaRPr>
          </a:p>
          <a:p>
            <a:pPr lvl="1">
              <a:spcBef>
                <a:spcPct val="20000"/>
              </a:spcBef>
            </a:pP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对任意一个人</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x</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，都存在一个</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y</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y</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是</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x</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的妈妈。</a:t>
            </a:r>
            <a:endParaRPr lang="zh-CN" altLang="en-US" sz="2400" b="1" dirty="0">
              <a:latin typeface="仿宋_GB2312" panose="02010609030101010101" pitchFamily="49" charset="-122"/>
              <a:ea typeface="仿宋_GB2312" panose="02010609030101010101" pitchFamily="49" charset="-122"/>
              <a:sym typeface="Symbol" panose="05050102010706020507" pitchFamily="18" charset="2"/>
            </a:endParaRPr>
          </a:p>
          <a:p>
            <a:pPr lvl="1">
              <a:spcBef>
                <a:spcPct val="20000"/>
              </a:spcBef>
            </a:pP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若去掉存在量词用常量</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a</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代替</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y</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，则变为：</a:t>
            </a:r>
            <a:endParaRPr lang="zh-CN" altLang="en-US" sz="2400" b="1" dirty="0">
              <a:latin typeface="仿宋_GB2312" panose="02010609030101010101" pitchFamily="49" charset="-122"/>
              <a:ea typeface="仿宋_GB2312" panose="02010609030101010101" pitchFamily="49" charset="-122"/>
              <a:sym typeface="Symbol" panose="05050102010706020507" pitchFamily="18" charset="2"/>
            </a:endParaRPr>
          </a:p>
          <a:p>
            <a:pPr lvl="1">
              <a:spcBef>
                <a:spcPct val="20000"/>
              </a:spcBef>
            </a:pPr>
            <a:r>
              <a:rPr lang="en-US" altLang="zh-CN" sz="2400" b="1" dirty="0">
                <a:latin typeface="仿宋_GB2312" panose="02010609030101010101" pitchFamily="49" charset="-122"/>
                <a:ea typeface="仿宋_GB2312" panose="02010609030101010101" pitchFamily="49" charset="-122"/>
                <a:sym typeface="Symbol" panose="05050102010706020507" pitchFamily="18" charset="2"/>
              </a:rPr>
              <a:t></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x M</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a</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x</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a:t>
            </a:r>
            <a:r>
              <a:rPr lang="en-US" altLang="zh-CN" sz="2400" b="1">
                <a:latin typeface="仿宋_GB2312" panose="02010609030101010101" pitchFamily="49" charset="-122"/>
                <a:ea typeface="仿宋_GB2312" panose="02010609030101010101" pitchFamily="49" charset="-122"/>
                <a:sym typeface="Symbol" panose="05050102010706020507" pitchFamily="18" charset="2"/>
              </a:rPr>
              <a:t>a</a:t>
            </a:r>
            <a:r>
              <a:rPr lang="zh-CN" altLang="en-US" sz="2400" b="1" dirty="0">
                <a:latin typeface="仿宋_GB2312" panose="02010609030101010101" pitchFamily="49" charset="-122"/>
                <a:ea typeface="仿宋_GB2312" panose="02010609030101010101" pitchFamily="49" charset="-122"/>
                <a:sym typeface="Symbol" panose="05050102010706020507" pitchFamily="18" charset="2"/>
              </a:rPr>
              <a:t>是所有人的妈妈。</a:t>
            </a:r>
            <a:endParaRPr lang="zh-CN" altLang="en-US" sz="2000" b="1" dirty="0">
              <a:solidFill>
                <a:srgbClr val="0000FF"/>
              </a:solidFill>
              <a:latin typeface="Tahoma" panose="020B0604030504040204" pitchFamily="34" charset="0"/>
              <a:sym typeface="Symbol" panose="05050102010706020507" pitchFamily="18" charset="2"/>
            </a:endParaRPr>
          </a:p>
        </p:txBody>
      </p:sp>
      <p:sp>
        <p:nvSpPr>
          <p:cNvPr id="202759" name="直接连接符 202758"/>
          <p:cNvSpPr/>
          <p:nvPr/>
        </p:nvSpPr>
        <p:spPr>
          <a:xfrm>
            <a:off x="2105660" y="5924233"/>
            <a:ext cx="4537075" cy="144462"/>
          </a:xfrm>
          <a:prstGeom prst="line">
            <a:avLst/>
          </a:prstGeom>
          <a:ln w="15875" cap="flat" cmpd="sng">
            <a:solidFill>
              <a:schemeClr val="hlink"/>
            </a:solidFill>
            <a:prstDash val="solid"/>
            <a:headEnd type="none" w="med" len="med"/>
            <a:tailEnd type="none" w="med" len="med"/>
          </a:ln>
        </p:spPr>
      </p:sp>
      <p:sp>
        <p:nvSpPr>
          <p:cNvPr id="202758" name="直接连接符 202757"/>
          <p:cNvSpPr/>
          <p:nvPr/>
        </p:nvSpPr>
        <p:spPr>
          <a:xfrm flipH="1">
            <a:off x="1849755" y="5862638"/>
            <a:ext cx="4537075" cy="288925"/>
          </a:xfrm>
          <a:prstGeom prst="line">
            <a:avLst/>
          </a:prstGeom>
          <a:ln w="15875" cap="flat" cmpd="sng">
            <a:solidFill>
              <a:schemeClr val="hlink"/>
            </a:solidFill>
            <a:prstDash val="solid"/>
            <a:headEnd type="none" w="med" len="med"/>
            <a:tailEnd type="none" w="med" len="med"/>
          </a:ln>
        </p:spPr>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017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17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17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17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2027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275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2757">
                                            <p:bg/>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2757">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2757">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2757">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2757">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275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27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3" grpId="0" bldLvl="0" animBg="1"/>
      <p:bldP spid="201733" grpId="1" bldLvl="0" animBg="1"/>
      <p:bldP spid="201734" grpId="0" bldLvl="0" animBg="1"/>
      <p:bldP spid="201735" grpId="0" bldLvl="0" animBg="1"/>
      <p:bldP spid="202756" grpId="0" bldLvl="0" animBg="1"/>
      <p:bldP spid="202756" grpId="1" bldLvl="0" animBg="1"/>
      <p:bldP spid="202757" grpId="0" animBg="1" build="allAtOnce"/>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spcBef>
                <a:spcPct val="0"/>
              </a:spcBef>
            </a:pPr>
            <a:fld id="{9A0DB2DC-4C9A-4742-B13C-FB6460FD3503}" type="slidenum">
              <a:rPr lang="zh-CN" altLang="en-US" dirty="0"/>
            </a:fld>
            <a:endParaRPr lang="zh-CN" altLang="en-US" dirty="0">
              <a:latin typeface="Arial" panose="020B0604020202020204" pitchFamily="34" charset="0"/>
            </a:endParaRPr>
          </a:p>
        </p:txBody>
      </p:sp>
      <p:sp>
        <p:nvSpPr>
          <p:cNvPr id="211970" name="标题 211969"/>
          <p:cNvSpPr txBox="1">
            <a:spLocks noGrp="1"/>
          </p:cNvSpPr>
          <p:nvPr>
            <p:ph type="title"/>
          </p:nvPr>
        </p:nvSpPr>
        <p:spPr>
          <a:xfrm>
            <a:off x="502411" y="180979"/>
            <a:ext cx="8139178" cy="691515"/>
          </a:xfrm>
          <a:noFill/>
        </p:spPr>
        <p:txBody>
          <a:bodyPr wrap="square" rtlCol="0" anchor="t" anchorCtr="0">
            <a:spAutoFit/>
          </a:bodyPr>
          <a:lstStyle/>
          <a:p>
            <a:pPr lvl="0" algn="l">
              <a:buClrTx/>
              <a:buSzTx/>
              <a:buFontTx/>
            </a:pPr>
            <a:r>
              <a:rPr lang="en-US" altLang="zh-CN" sz="4000">
                <a:latin typeface="仿宋_GB2312" panose="02010609030101010101" pitchFamily="49" charset="-122"/>
                <a:sym typeface="Symbol" panose="05050102010706020507" pitchFamily="18" charset="2"/>
              </a:rPr>
              <a:t>Skolem标准型</a:t>
            </a:r>
            <a:endParaRPr lang="en-US" altLang="zh-CN" sz="4000">
              <a:latin typeface="仿宋_GB2312" panose="02010609030101010101" pitchFamily="49" charset="-122"/>
              <a:sym typeface="Symbol" panose="05050102010706020507" pitchFamily="18" charset="2"/>
            </a:endParaRPr>
          </a:p>
        </p:txBody>
      </p:sp>
      <p:sp useBgFill="1">
        <p:nvSpPr>
          <p:cNvPr id="211971" name="矩形 211970"/>
          <p:cNvSpPr/>
          <p:nvPr/>
        </p:nvSpPr>
        <p:spPr>
          <a:xfrm>
            <a:off x="502285" y="991235"/>
            <a:ext cx="8139430" cy="1568450"/>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square" anchor="ctr" anchorCtr="0">
            <a:spAutoFit/>
          </a:bodyPr>
          <a:lstStyle/>
          <a:p>
            <a:r>
              <a:rPr lang="zh-CN" altLang="en-US" sz="2400" dirty="0">
                <a:latin typeface="微软雅黑" panose="020B0503020204020204" charset="-122"/>
                <a:ea typeface="微软雅黑" panose="020B0503020204020204" charset="-122"/>
                <a:cs typeface="微软雅黑" panose="020B0503020204020204" charset="-122"/>
                <a:sym typeface="Symbol" panose="05050102010706020507" pitchFamily="18" charset="2"/>
              </a:rPr>
              <a:t>在求子句集的过程中，消去存在量词之后，把所有</a:t>
            </a:r>
            <a:r>
              <a:rPr lang="zh-CN" altLang="en-US" sz="2400" dirty="0">
                <a:solidFill>
                  <a:schemeClr val="hlink"/>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全称量词</a:t>
            </a:r>
            <a:r>
              <a:rPr lang="zh-CN" altLang="en-US" sz="2400" dirty="0">
                <a:latin typeface="微软雅黑" panose="020B0503020204020204" charset="-122"/>
                <a:ea typeface="微软雅黑" panose="020B0503020204020204" charset="-122"/>
                <a:cs typeface="微软雅黑" panose="020B0503020204020204" charset="-122"/>
                <a:sym typeface="Symbol" panose="05050102010706020507" pitchFamily="18" charset="2"/>
              </a:rPr>
              <a:t>都依次移到式子的最左边（或者把所有的量词都依次移到式子最左边，再消去存在量词），再将右部的式子化为合取范式，这样得到的式子就是</a:t>
            </a:r>
            <a:r>
              <a:rPr lang="en-US" altLang="zh-CN" sz="2400">
                <a:latin typeface="微软雅黑" panose="020B0503020204020204" charset="-122"/>
                <a:ea typeface="微软雅黑" panose="020B0503020204020204" charset="-122"/>
                <a:cs typeface="微软雅黑" panose="020B0503020204020204" charset="-122"/>
                <a:sym typeface="Symbol" panose="05050102010706020507" pitchFamily="18" charset="2"/>
              </a:rPr>
              <a:t>Skolem</a:t>
            </a:r>
            <a:r>
              <a:rPr lang="zh-CN" altLang="en-US" sz="2400" dirty="0">
                <a:latin typeface="微软雅黑" panose="020B0503020204020204" charset="-122"/>
                <a:ea typeface="微软雅黑" panose="020B0503020204020204" charset="-122"/>
                <a:cs typeface="微软雅黑" panose="020B0503020204020204" charset="-122"/>
                <a:sym typeface="Symbol" panose="05050102010706020507" pitchFamily="18" charset="2"/>
              </a:rPr>
              <a:t>标准型。</a:t>
            </a:r>
            <a:endParaRPr lang="zh-CN" altLang="en-US" sz="2400" dirty="0">
              <a:latin typeface="微软雅黑" panose="020B0503020204020204" charset="-122"/>
              <a:ea typeface="微软雅黑" panose="020B0503020204020204" charset="-122"/>
              <a:cs typeface="微软雅黑" panose="020B0503020204020204" charset="-122"/>
              <a:sym typeface="Symbol" panose="05050102010706020507" pitchFamily="18" charset="2"/>
            </a:endParaRPr>
          </a:p>
        </p:txBody>
      </p:sp>
      <p:sp>
        <p:nvSpPr>
          <p:cNvPr id="211972" name="矩形 211971"/>
          <p:cNvSpPr/>
          <p:nvPr/>
        </p:nvSpPr>
        <p:spPr>
          <a:xfrm>
            <a:off x="838200" y="2743200"/>
            <a:ext cx="7467600" cy="1371600"/>
          </a:xfrm>
          <a:prstGeom prst="rect">
            <a:avLst/>
          </a:prstGeom>
          <a:noFill/>
          <a:ln w="9525">
            <a:noFill/>
          </a:ln>
        </p:spPr>
        <p:txBody>
          <a:bodyPr wrap="none" anchor="ctr" anchorCtr="0"/>
          <a:lstStyle/>
          <a:p>
            <a:pPr algn="ctr"/>
            <a:r>
              <a:rPr lang="en-US" altLang="zh-CN" sz="2400">
                <a:solidFill>
                  <a:srgbClr val="0000FF"/>
                </a:solidFill>
                <a:latin typeface="Times New Roman" panose="02020603050405020304" pitchFamily="18" charset="0"/>
                <a:sym typeface="Symbol" panose="05050102010706020507" pitchFamily="18" charset="2"/>
              </a:rPr>
              <a:t>x { y ¬ P(x</a:t>
            </a:r>
            <a:r>
              <a:rPr lang="zh-CN" altLang="en-US" sz="2400">
                <a:solidFill>
                  <a:srgbClr val="0000FF"/>
                </a:solidFill>
                <a:latin typeface="Times New Roman" panose="02020603050405020304" pitchFamily="18" charset="0"/>
                <a:sym typeface="Symbol" panose="05050102010706020507" pitchFamily="18" charset="2"/>
              </a:rPr>
              <a:t>，</a:t>
            </a:r>
            <a:r>
              <a:rPr lang="en-US" altLang="zh-CN" sz="2400">
                <a:solidFill>
                  <a:srgbClr val="0000FF"/>
                </a:solidFill>
                <a:latin typeface="Times New Roman" panose="02020603050405020304" pitchFamily="18" charset="0"/>
                <a:sym typeface="Symbol" panose="05050102010706020507" pitchFamily="18" charset="2"/>
              </a:rPr>
              <a:t>y)   z[Q(x,z)  ¬ R(x,z)]}=&gt; </a:t>
            </a:r>
            <a:endParaRPr lang="en-US" altLang="zh-CN" sz="2400">
              <a:solidFill>
                <a:srgbClr val="0000FF"/>
              </a:solidFill>
              <a:latin typeface="Times New Roman" panose="02020603050405020304" pitchFamily="18" charset="0"/>
              <a:sym typeface="Symbol" panose="05050102010706020507" pitchFamily="18" charset="2"/>
            </a:endParaRPr>
          </a:p>
          <a:p>
            <a:pPr algn="ctr"/>
            <a:r>
              <a:rPr lang="en-US" altLang="zh-CN" sz="2400">
                <a:solidFill>
                  <a:srgbClr val="0000FF"/>
                </a:solidFill>
                <a:latin typeface="Times New Roman" panose="02020603050405020304" pitchFamily="18" charset="0"/>
                <a:sym typeface="Symbol" panose="05050102010706020507" pitchFamily="18" charset="2"/>
              </a:rPr>
              <a:t>x {¬ P(x</a:t>
            </a:r>
            <a:r>
              <a:rPr lang="zh-CN" altLang="en-US" sz="2400">
                <a:solidFill>
                  <a:srgbClr val="0000FF"/>
                </a:solidFill>
                <a:latin typeface="Times New Roman" panose="02020603050405020304" pitchFamily="18" charset="0"/>
                <a:sym typeface="Symbol" panose="05050102010706020507" pitchFamily="18" charset="2"/>
              </a:rPr>
              <a:t>，</a:t>
            </a:r>
            <a:r>
              <a:rPr lang="en-US" altLang="zh-CN" sz="2400">
                <a:solidFill>
                  <a:srgbClr val="0000FF"/>
                </a:solidFill>
                <a:latin typeface="Times New Roman" panose="02020603050405020304" pitchFamily="18" charset="0"/>
                <a:sym typeface="Symbol" panose="05050102010706020507" pitchFamily="18" charset="2"/>
              </a:rPr>
              <a:t>f(x))  [Q(x,g(x))  ¬ R(x,g(x))]} </a:t>
            </a:r>
            <a:r>
              <a:rPr lang="en-US" altLang="zh-CN" sz="2400">
                <a:solidFill>
                  <a:schemeClr val="hlink"/>
                </a:solidFill>
                <a:latin typeface="Times New Roman" panose="02020603050405020304" pitchFamily="18" charset="0"/>
                <a:sym typeface="Symbol" panose="05050102010706020507" pitchFamily="18" charset="2"/>
              </a:rPr>
              <a:t>=&gt; </a:t>
            </a:r>
            <a:endParaRPr lang="en-US" altLang="zh-CN" sz="2400">
              <a:solidFill>
                <a:schemeClr val="hlink"/>
              </a:solidFill>
              <a:latin typeface="Times New Roman" panose="02020603050405020304" pitchFamily="18" charset="0"/>
              <a:sym typeface="Symbol" panose="05050102010706020507" pitchFamily="18" charset="2"/>
            </a:endParaRPr>
          </a:p>
          <a:p>
            <a:pPr algn="ctr">
              <a:spcBef>
                <a:spcPct val="0"/>
              </a:spcBef>
            </a:pPr>
            <a:r>
              <a:rPr lang="en-US" altLang="zh-CN" sz="2400">
                <a:solidFill>
                  <a:schemeClr val="hlink"/>
                </a:solidFill>
                <a:latin typeface="Times New Roman" panose="02020603050405020304" pitchFamily="18" charset="0"/>
                <a:sym typeface="Symbol" panose="05050102010706020507" pitchFamily="18" charset="2"/>
              </a:rPr>
              <a:t>x {[ ¬ P(x</a:t>
            </a:r>
            <a:r>
              <a:rPr lang="zh-CN" altLang="en-US" sz="2400">
                <a:solidFill>
                  <a:schemeClr val="hlink"/>
                </a:solidFill>
                <a:latin typeface="Times New Roman" panose="02020603050405020304" pitchFamily="18" charset="0"/>
                <a:sym typeface="Symbol" panose="05050102010706020507" pitchFamily="18" charset="2"/>
              </a:rPr>
              <a:t>，</a:t>
            </a:r>
            <a:r>
              <a:rPr lang="en-US" altLang="zh-CN" sz="2400">
                <a:solidFill>
                  <a:schemeClr val="hlink"/>
                </a:solidFill>
                <a:latin typeface="Times New Roman" panose="02020603050405020304" pitchFamily="18" charset="0"/>
                <a:sym typeface="Symbol" panose="05050102010706020507" pitchFamily="18" charset="2"/>
              </a:rPr>
              <a:t>f(x))  Q(x,g(x)) ]  [ ¬ P(x</a:t>
            </a:r>
            <a:r>
              <a:rPr lang="zh-CN" altLang="en-US" sz="2400">
                <a:solidFill>
                  <a:schemeClr val="hlink"/>
                </a:solidFill>
                <a:latin typeface="Times New Roman" panose="02020603050405020304" pitchFamily="18" charset="0"/>
                <a:sym typeface="Symbol" panose="05050102010706020507" pitchFamily="18" charset="2"/>
              </a:rPr>
              <a:t>，</a:t>
            </a:r>
            <a:r>
              <a:rPr lang="en-US" altLang="zh-CN" sz="2400">
                <a:solidFill>
                  <a:schemeClr val="hlink"/>
                </a:solidFill>
                <a:latin typeface="Times New Roman" panose="02020603050405020304" pitchFamily="18" charset="0"/>
                <a:sym typeface="Symbol" panose="05050102010706020507" pitchFamily="18" charset="2"/>
              </a:rPr>
              <a:t>f(x))  ¬ R(x,g(x)) ] }</a:t>
            </a:r>
            <a:endParaRPr lang="en-US" altLang="zh-CN" sz="2400">
              <a:solidFill>
                <a:schemeClr val="hlink"/>
              </a:solidFill>
              <a:latin typeface="Times New Roman" panose="02020603050405020304" pitchFamily="18" charset="0"/>
              <a:sym typeface="Symbol" panose="05050102010706020507" pitchFamily="18" charset="2"/>
            </a:endParaRPr>
          </a:p>
        </p:txBody>
      </p:sp>
      <p:sp>
        <p:nvSpPr>
          <p:cNvPr id="211973" name="矩形 211972"/>
          <p:cNvSpPr/>
          <p:nvPr/>
        </p:nvSpPr>
        <p:spPr>
          <a:xfrm>
            <a:off x="838200" y="5109845"/>
            <a:ext cx="7467600" cy="457200"/>
          </a:xfrm>
          <a:prstGeom prst="rect">
            <a:avLst/>
          </a:prstGeom>
          <a:noFill/>
          <a:ln w="9525">
            <a:noFill/>
          </a:ln>
        </p:spPr>
        <p:txBody>
          <a:bodyPr wrap="none" anchor="ctr" anchorCtr="0"/>
          <a:lstStyle/>
          <a:p>
            <a:pPr algn="ctr"/>
            <a:r>
              <a:rPr lang="en-US" altLang="zh-CN" sz="2400">
                <a:solidFill>
                  <a:srgbClr val="0000FF"/>
                </a:solidFill>
                <a:latin typeface="Times New Roman" panose="02020603050405020304" pitchFamily="18" charset="0"/>
                <a:sym typeface="Symbol" panose="05050102010706020507" pitchFamily="18" charset="2"/>
              </a:rPr>
              <a:t>{¬ P(x</a:t>
            </a:r>
            <a:r>
              <a:rPr lang="zh-CN" altLang="en-US" sz="2400">
                <a:solidFill>
                  <a:srgbClr val="0000FF"/>
                </a:solidFill>
                <a:latin typeface="Times New Roman" panose="02020603050405020304" pitchFamily="18" charset="0"/>
                <a:sym typeface="Symbol" panose="05050102010706020507" pitchFamily="18" charset="2"/>
              </a:rPr>
              <a:t>，</a:t>
            </a:r>
            <a:r>
              <a:rPr lang="en-US" altLang="zh-CN" sz="2400">
                <a:solidFill>
                  <a:srgbClr val="0000FF"/>
                </a:solidFill>
                <a:latin typeface="Times New Roman" panose="02020603050405020304" pitchFamily="18" charset="0"/>
                <a:sym typeface="Symbol" panose="05050102010706020507" pitchFamily="18" charset="2"/>
              </a:rPr>
              <a:t>f(x))  Q(x,g(x)) , ¬ P(y</a:t>
            </a:r>
            <a:r>
              <a:rPr lang="zh-CN" altLang="en-US" sz="2400">
                <a:solidFill>
                  <a:srgbClr val="0000FF"/>
                </a:solidFill>
                <a:latin typeface="Times New Roman" panose="02020603050405020304" pitchFamily="18" charset="0"/>
                <a:sym typeface="Symbol" panose="05050102010706020507" pitchFamily="18" charset="2"/>
              </a:rPr>
              <a:t>，</a:t>
            </a:r>
            <a:r>
              <a:rPr lang="en-US" altLang="zh-CN" sz="2400">
                <a:solidFill>
                  <a:srgbClr val="0000FF"/>
                </a:solidFill>
                <a:latin typeface="Times New Roman" panose="02020603050405020304" pitchFamily="18" charset="0"/>
                <a:sym typeface="Symbol" panose="05050102010706020507" pitchFamily="18" charset="2"/>
              </a:rPr>
              <a:t>f(y))  ¬ R(y,g(y))}</a:t>
            </a:r>
            <a:endParaRPr lang="en-US" altLang="zh-CN" sz="2400">
              <a:solidFill>
                <a:srgbClr val="0000FF"/>
              </a:solidFill>
              <a:latin typeface="Times New Roman" panose="02020603050405020304" pitchFamily="18" charset="0"/>
              <a:sym typeface="Symbol" panose="05050102010706020507" pitchFamily="18" charset="2"/>
            </a:endParaRPr>
          </a:p>
        </p:txBody>
      </p:sp>
      <p:sp>
        <p:nvSpPr>
          <p:cNvPr id="211974" name="矩形 211973"/>
          <p:cNvSpPr/>
          <p:nvPr/>
        </p:nvSpPr>
        <p:spPr>
          <a:xfrm>
            <a:off x="838200" y="4298315"/>
            <a:ext cx="7467600" cy="457200"/>
          </a:xfrm>
          <a:prstGeom prst="rect">
            <a:avLst/>
          </a:prstGeom>
          <a:solidFill>
            <a:schemeClr val="accent2">
              <a:alpha val="50000"/>
            </a:schemeClr>
          </a:solidFill>
          <a:ln w="9525" cap="flat" cmpd="sng">
            <a:solidFill>
              <a:srgbClr val="FFFFFF"/>
            </a:solidFill>
            <a:prstDash val="solid"/>
            <a:miter/>
            <a:headEnd type="none" w="med" len="med"/>
            <a:tailEnd type="none" w="med" len="med"/>
          </a:ln>
        </p:spPr>
        <p:txBody>
          <a:bodyPr wrap="none" anchor="ctr" anchorCtr="0"/>
          <a:lstStyle/>
          <a:p>
            <a:r>
              <a:rPr lang="zh-CN" altLang="en-US" sz="2400" dirty="0">
                <a:latin typeface="微软雅黑" panose="020B0503020204020204" charset="-122"/>
                <a:ea typeface="微软雅黑" panose="020B0503020204020204" charset="-122"/>
                <a:sym typeface="Symbol" panose="05050102010706020507" pitchFamily="18" charset="2"/>
              </a:rPr>
              <a:t>消去合取词和全称量词，就得到了原公式的子句集</a:t>
            </a:r>
            <a:endParaRPr lang="zh-CN" altLang="en-US" sz="2400" b="0" dirty="0">
              <a:latin typeface="微软雅黑" panose="020B0503020204020204" charset="-122"/>
              <a:ea typeface="微软雅黑" panose="020B0503020204020204" charset="-122"/>
              <a:sym typeface="Symbol" panose="05050102010706020507" pitchFamily="18" charset="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19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1197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197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1197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119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119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bldLvl="0" animBg="1"/>
      <p:bldP spid="211972" grpId="0" build="p"/>
      <p:bldP spid="211973" grpId="0"/>
      <p:bldP spid="211974"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spcBef>
                <a:spcPct val="0"/>
              </a:spcBef>
            </a:pPr>
            <a:fld id="{9A0DB2DC-4C9A-4742-B13C-FB6460FD3503}" type="slidenum">
              <a:rPr lang="zh-CN" altLang="en-US" dirty="0"/>
            </a:fld>
            <a:endParaRPr lang="zh-CN" altLang="en-US" dirty="0">
              <a:latin typeface="Arial" panose="020B0604020202020204" pitchFamily="34" charset="0"/>
            </a:endParaRPr>
          </a:p>
        </p:txBody>
      </p:sp>
      <p:sp>
        <p:nvSpPr>
          <p:cNvPr id="212995" name="矩形 212994"/>
          <p:cNvSpPr/>
          <p:nvPr/>
        </p:nvSpPr>
        <p:spPr>
          <a:xfrm>
            <a:off x="916305" y="724535"/>
            <a:ext cx="7543800" cy="609600"/>
          </a:xfrm>
          <a:prstGeom prst="rect">
            <a:avLst/>
          </a:prstGeom>
          <a:solidFill>
            <a:schemeClr val="accent1">
              <a:alpha val="50000"/>
            </a:schemeClr>
          </a:solidFill>
          <a:ln w="9525" cap="flat" cmpd="sng">
            <a:solidFill>
              <a:srgbClr val="FFFFFF"/>
            </a:solidFill>
            <a:prstDash val="solid"/>
            <a:miter/>
            <a:headEnd type="none" w="med" len="med"/>
            <a:tailEnd type="none" w="med" len="med"/>
          </a:ln>
        </p:spPr>
        <p:txBody>
          <a:bodyPr wrap="none" anchor="ctr" anchorCtr="0"/>
          <a:lstStyle/>
          <a:p>
            <a:pPr eaLnBrk="0" hangingPunct="0">
              <a:spcBef>
                <a:spcPct val="50000"/>
              </a:spcBef>
            </a:pPr>
            <a:r>
              <a:rPr lang="zh-CN" altLang="en-US" sz="2400" dirty="0">
                <a:latin typeface="Times New Roman" panose="02020603050405020304" pitchFamily="18" charset="0"/>
                <a:sym typeface="Symbol" panose="05050102010706020507" pitchFamily="18" charset="2"/>
              </a:rPr>
              <a:t>例</a:t>
            </a:r>
            <a:r>
              <a:rPr lang="zh-CN" altLang="en-US" sz="2400">
                <a:latin typeface="Times New Roman" panose="02020603050405020304" pitchFamily="18" charset="0"/>
                <a:sym typeface="Symbol" panose="05050102010706020507" pitchFamily="18" charset="2"/>
              </a:rPr>
              <a:t>设</a:t>
            </a:r>
            <a:endParaRPr lang="zh-CN" altLang="en-US" sz="2400">
              <a:latin typeface="Times New Roman" panose="02020603050405020304" pitchFamily="18" charset="0"/>
              <a:sym typeface="Symbol" panose="05050102010706020507" pitchFamily="18" charset="2"/>
            </a:endParaRPr>
          </a:p>
        </p:txBody>
      </p:sp>
      <p:graphicFrame>
        <p:nvGraphicFramePr>
          <p:cNvPr id="212996" name="对象 212995"/>
          <p:cNvGraphicFramePr/>
          <p:nvPr/>
        </p:nvGraphicFramePr>
        <p:xfrm>
          <a:off x="1728470" y="817563"/>
          <a:ext cx="6119813" cy="422275"/>
        </p:xfrm>
        <a:graphic>
          <a:graphicData uri="http://schemas.openxmlformats.org/presentationml/2006/ole">
            <mc:AlternateContent xmlns:mc="http://schemas.openxmlformats.org/markup-compatibility/2006">
              <mc:Choice xmlns:v="urn:schemas-microsoft-com:vml" Requires="v">
                <p:oleObj spid="_x0000_s13355" name="" r:id="rId1" imgW="2943860" imgH="203200" progId="Equation.3">
                  <p:embed/>
                </p:oleObj>
              </mc:Choice>
              <mc:Fallback>
                <p:oleObj name="" r:id="rId1" imgW="2943860" imgH="203200" progId="Equation.3">
                  <p:embed/>
                  <p:pic>
                    <p:nvPicPr>
                      <p:cNvPr id="0" name="图片 3112"/>
                      <p:cNvPicPr/>
                      <p:nvPr/>
                    </p:nvPicPr>
                    <p:blipFill>
                      <a:blip r:embed="rId2"/>
                      <a:stretch>
                        <a:fillRect/>
                      </a:stretch>
                    </p:blipFill>
                    <p:spPr>
                      <a:xfrm>
                        <a:off x="1728470" y="817563"/>
                        <a:ext cx="6119813" cy="422275"/>
                      </a:xfrm>
                      <a:prstGeom prst="rect">
                        <a:avLst/>
                      </a:prstGeom>
                      <a:noFill/>
                      <a:ln w="38100">
                        <a:noFill/>
                        <a:miter/>
                      </a:ln>
                    </p:spPr>
                  </p:pic>
                </p:oleObj>
              </mc:Fallback>
            </mc:AlternateContent>
          </a:graphicData>
        </a:graphic>
      </p:graphicFrame>
      <p:sp>
        <p:nvSpPr>
          <p:cNvPr id="212997" name="矩形 212996"/>
          <p:cNvSpPr/>
          <p:nvPr/>
        </p:nvSpPr>
        <p:spPr>
          <a:xfrm>
            <a:off x="1158875" y="1524000"/>
            <a:ext cx="6553200" cy="1905000"/>
          </a:xfrm>
          <a:prstGeom prst="rect">
            <a:avLst/>
          </a:prstGeom>
          <a:noFill/>
          <a:ln w="9525" cap="flat" cmpd="sng">
            <a:solidFill>
              <a:srgbClr val="FFFFFF"/>
            </a:solidFill>
            <a:prstDash val="solid"/>
            <a:miter/>
            <a:headEnd type="none" w="med" len="med"/>
            <a:tailEnd type="none" w="med" len="med"/>
          </a:ln>
        </p:spPr>
        <p:txBody>
          <a:bodyPr wrap="none" anchor="ctr" anchorCtr="0"/>
          <a:lstStyle/>
          <a:p>
            <a:pPr>
              <a:spcBef>
                <a:spcPct val="0"/>
              </a:spcBef>
            </a:pPr>
            <a:r>
              <a:rPr lang="zh-CN" altLang="en-US" sz="2400" dirty="0">
                <a:latin typeface="仿宋_GB2312" panose="02010609030101010101" pitchFamily="49" charset="-122"/>
                <a:ea typeface="仿宋_GB2312" panose="02010609030101010101" pitchFamily="49" charset="-122"/>
                <a:sym typeface="Symbol" panose="05050102010706020507" pitchFamily="18" charset="2"/>
              </a:rPr>
              <a:t>消去存在量词</a:t>
            </a:r>
            <a:endParaRPr lang="zh-CN" altLang="en-US" sz="2400" dirty="0">
              <a:latin typeface="仿宋_GB2312" panose="02010609030101010101" pitchFamily="49" charset="-122"/>
              <a:ea typeface="仿宋_GB2312" panose="02010609030101010101" pitchFamily="49" charset="-122"/>
              <a:sym typeface="Symbol" panose="05050102010706020507" pitchFamily="18" charset="2"/>
            </a:endParaRPr>
          </a:p>
          <a:p>
            <a:pPr>
              <a:spcBef>
                <a:spcPct val="0"/>
              </a:spcBef>
            </a:pPr>
            <a:r>
              <a:rPr lang="zh-CN" altLang="en-US" sz="2400" dirty="0">
                <a:latin typeface="仿宋_GB2312" panose="02010609030101010101" pitchFamily="49" charset="-122"/>
                <a:ea typeface="仿宋_GB2312" panose="02010609030101010101" pitchFamily="49" charset="-122"/>
                <a:sym typeface="Symbol" panose="05050102010706020507" pitchFamily="18" charset="2"/>
              </a:rPr>
              <a:t>            用</a:t>
            </a:r>
            <a:r>
              <a:rPr lang="en-US" altLang="zh-CN"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a</a:t>
            </a:r>
            <a:r>
              <a:rPr lang="zh-CN" altLang="en-US" sz="2400" dirty="0">
                <a:latin typeface="仿宋_GB2312" panose="02010609030101010101" pitchFamily="49" charset="-122"/>
                <a:ea typeface="仿宋_GB2312" panose="02010609030101010101" pitchFamily="49" charset="-122"/>
                <a:sym typeface="Symbol" panose="05050102010706020507" pitchFamily="18" charset="2"/>
              </a:rPr>
              <a:t>代替</a:t>
            </a:r>
            <a:r>
              <a:rPr lang="en-US" altLang="zh-CN" sz="2400">
                <a:latin typeface="仿宋_GB2312" panose="02010609030101010101" pitchFamily="49" charset="-122"/>
                <a:ea typeface="仿宋_GB2312" panose="02010609030101010101" pitchFamily="49" charset="-122"/>
                <a:sym typeface="Symbol" panose="05050102010706020507" pitchFamily="18" charset="2"/>
              </a:rPr>
              <a:t>x</a:t>
            </a:r>
            <a:endParaRPr lang="en-US" altLang="zh-CN" sz="2400">
              <a:latin typeface="仿宋_GB2312" panose="02010609030101010101" pitchFamily="49" charset="-122"/>
              <a:ea typeface="仿宋_GB2312" panose="02010609030101010101" pitchFamily="49" charset="-122"/>
              <a:sym typeface="Symbol" panose="05050102010706020507" pitchFamily="18" charset="2"/>
            </a:endParaRPr>
          </a:p>
          <a:p>
            <a:pPr>
              <a:spcBef>
                <a:spcPct val="0"/>
              </a:spcBef>
            </a:pPr>
            <a:r>
              <a:rPr lang="en-US" altLang="zh-CN" sz="2400">
                <a:latin typeface="仿宋_GB2312" panose="02010609030101010101" pitchFamily="49" charset="-122"/>
                <a:ea typeface="仿宋_GB2312" panose="02010609030101010101" pitchFamily="49" charset="-122"/>
                <a:sym typeface="Symbol" panose="05050102010706020507" pitchFamily="18" charset="2"/>
              </a:rPr>
              <a:t>            </a:t>
            </a:r>
            <a:r>
              <a:rPr lang="zh-CN" altLang="en-US" sz="2400" dirty="0">
                <a:latin typeface="仿宋_GB2312" panose="02010609030101010101" pitchFamily="49" charset="-122"/>
                <a:ea typeface="仿宋_GB2312" panose="02010609030101010101" pitchFamily="49" charset="-122"/>
                <a:sym typeface="Symbol" panose="05050102010706020507" pitchFamily="18" charset="2"/>
              </a:rPr>
              <a:t>用</a:t>
            </a:r>
            <a:r>
              <a:rPr lang="en-US" altLang="zh-CN"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f</a:t>
            </a:r>
            <a:r>
              <a:rPr lang="zh-CN" altLang="en-US"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a:t>
            </a:r>
            <a:r>
              <a:rPr lang="en-US" altLang="zh-CN"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y</a:t>
            </a:r>
            <a:r>
              <a:rPr lang="zh-CN" altLang="en-US"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a:t>
            </a:r>
            <a:r>
              <a:rPr lang="en-US" altLang="zh-CN"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z</a:t>
            </a:r>
            <a:r>
              <a:rPr lang="zh-CN" altLang="en-US"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a:t>
            </a:r>
            <a:r>
              <a:rPr lang="zh-CN" altLang="en-US" sz="2400" dirty="0">
                <a:latin typeface="仿宋_GB2312" panose="02010609030101010101" pitchFamily="49" charset="-122"/>
                <a:ea typeface="仿宋_GB2312" panose="02010609030101010101" pitchFamily="49" charset="-122"/>
                <a:sym typeface="Symbol" panose="05050102010706020507" pitchFamily="18" charset="2"/>
              </a:rPr>
              <a:t>代替</a:t>
            </a:r>
            <a:r>
              <a:rPr lang="en-US" altLang="zh-CN" sz="2400">
                <a:latin typeface="仿宋_GB2312" panose="02010609030101010101" pitchFamily="49" charset="-122"/>
                <a:ea typeface="仿宋_GB2312" panose="02010609030101010101" pitchFamily="49" charset="-122"/>
                <a:sym typeface="Symbol" panose="05050102010706020507" pitchFamily="18" charset="2"/>
              </a:rPr>
              <a:t>u</a:t>
            </a:r>
            <a:endParaRPr lang="en-US" altLang="zh-CN" sz="2400">
              <a:latin typeface="仿宋_GB2312" panose="02010609030101010101" pitchFamily="49" charset="-122"/>
              <a:ea typeface="仿宋_GB2312" panose="02010609030101010101" pitchFamily="49" charset="-122"/>
              <a:sym typeface="Symbol" panose="05050102010706020507" pitchFamily="18" charset="2"/>
            </a:endParaRPr>
          </a:p>
          <a:p>
            <a:pPr>
              <a:spcBef>
                <a:spcPct val="0"/>
              </a:spcBef>
            </a:pPr>
            <a:r>
              <a:rPr lang="en-US" altLang="zh-CN" sz="2400">
                <a:latin typeface="仿宋_GB2312" panose="02010609030101010101" pitchFamily="49" charset="-122"/>
                <a:ea typeface="仿宋_GB2312" panose="02010609030101010101" pitchFamily="49" charset="-122"/>
                <a:sym typeface="Symbol" panose="05050102010706020507" pitchFamily="18" charset="2"/>
              </a:rPr>
              <a:t>            </a:t>
            </a:r>
            <a:r>
              <a:rPr lang="zh-CN" altLang="en-US" sz="2400" dirty="0">
                <a:latin typeface="仿宋_GB2312" panose="02010609030101010101" pitchFamily="49" charset="-122"/>
                <a:ea typeface="仿宋_GB2312" panose="02010609030101010101" pitchFamily="49" charset="-122"/>
                <a:sym typeface="Symbol" panose="05050102010706020507" pitchFamily="18" charset="2"/>
              </a:rPr>
              <a:t>用</a:t>
            </a:r>
            <a:r>
              <a:rPr lang="en-US" altLang="zh-CN"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g</a:t>
            </a:r>
            <a:r>
              <a:rPr lang="zh-CN" altLang="en-US"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a:t>
            </a:r>
            <a:r>
              <a:rPr lang="en-US" altLang="zh-CN"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y</a:t>
            </a:r>
            <a:r>
              <a:rPr lang="zh-CN" altLang="en-US"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a:t>
            </a:r>
            <a:r>
              <a:rPr lang="en-US" altLang="zh-CN"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z</a:t>
            </a:r>
            <a:r>
              <a:rPr lang="zh-CN" altLang="en-US"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a:t>
            </a:r>
            <a:r>
              <a:rPr lang="en-US" altLang="zh-CN"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v</a:t>
            </a:r>
            <a:r>
              <a:rPr lang="zh-CN" altLang="en-US" sz="2400">
                <a:solidFill>
                  <a:schemeClr val="folHlink"/>
                </a:solidFill>
                <a:latin typeface="仿宋_GB2312" panose="02010609030101010101" pitchFamily="49" charset="-122"/>
                <a:ea typeface="仿宋_GB2312" panose="02010609030101010101" pitchFamily="49" charset="-122"/>
                <a:sym typeface="Symbol" panose="05050102010706020507" pitchFamily="18" charset="2"/>
              </a:rPr>
              <a:t>）</a:t>
            </a:r>
            <a:r>
              <a:rPr lang="zh-CN" altLang="en-US" sz="2400" dirty="0">
                <a:latin typeface="仿宋_GB2312" panose="02010609030101010101" pitchFamily="49" charset="-122"/>
                <a:ea typeface="仿宋_GB2312" panose="02010609030101010101" pitchFamily="49" charset="-122"/>
                <a:sym typeface="Symbol" panose="05050102010706020507" pitchFamily="18" charset="2"/>
              </a:rPr>
              <a:t>代替</a:t>
            </a:r>
            <a:r>
              <a:rPr lang="en-US" altLang="zh-CN" sz="2400">
                <a:latin typeface="仿宋_GB2312" panose="02010609030101010101" pitchFamily="49" charset="-122"/>
                <a:ea typeface="仿宋_GB2312" panose="02010609030101010101" pitchFamily="49" charset="-122"/>
                <a:sym typeface="Symbol" panose="05050102010706020507" pitchFamily="18" charset="2"/>
              </a:rPr>
              <a:t>w</a:t>
            </a:r>
            <a:endParaRPr lang="en-US" altLang="zh-CN" sz="2400">
              <a:latin typeface="仿宋_GB2312" panose="02010609030101010101" pitchFamily="49" charset="-122"/>
              <a:ea typeface="仿宋_GB2312" panose="02010609030101010101" pitchFamily="49" charset="-122"/>
              <a:sym typeface="Symbol" panose="05050102010706020507" pitchFamily="18" charset="2"/>
            </a:endParaRPr>
          </a:p>
          <a:p>
            <a:pPr>
              <a:spcBef>
                <a:spcPct val="0"/>
              </a:spcBef>
            </a:pPr>
            <a:r>
              <a:rPr lang="zh-CN" altLang="en-US" sz="2400" dirty="0">
                <a:latin typeface="仿宋_GB2312" panose="02010609030101010101" pitchFamily="49" charset="-122"/>
                <a:ea typeface="仿宋_GB2312" panose="02010609030101010101" pitchFamily="49" charset="-122"/>
                <a:sym typeface="Symbol" panose="05050102010706020507" pitchFamily="18" charset="2"/>
              </a:rPr>
              <a:t>得到</a:t>
            </a:r>
            <a:r>
              <a:rPr lang="en-US" altLang="zh-CN" sz="2400">
                <a:latin typeface="仿宋_GB2312" panose="02010609030101010101" pitchFamily="49" charset="-122"/>
                <a:ea typeface="仿宋_GB2312" panose="02010609030101010101" pitchFamily="49" charset="-122"/>
                <a:sym typeface="Symbol" panose="05050102010706020507" pitchFamily="18" charset="2"/>
              </a:rPr>
              <a:t>G</a:t>
            </a:r>
            <a:r>
              <a:rPr lang="zh-CN" altLang="en-US" sz="2400">
                <a:latin typeface="仿宋_GB2312" panose="02010609030101010101" pitchFamily="49" charset="-122"/>
                <a:ea typeface="仿宋_GB2312" panose="02010609030101010101" pitchFamily="49" charset="-122"/>
                <a:sym typeface="Symbol" panose="05050102010706020507" pitchFamily="18" charset="2"/>
              </a:rPr>
              <a:t>的</a:t>
            </a:r>
            <a:r>
              <a:rPr lang="en-US" altLang="zh-CN" sz="2400">
                <a:latin typeface="仿宋_GB2312" panose="02010609030101010101" pitchFamily="49" charset="-122"/>
                <a:ea typeface="仿宋_GB2312" panose="02010609030101010101" pitchFamily="49" charset="-122"/>
                <a:sym typeface="Symbol" panose="05050102010706020507" pitchFamily="18" charset="2"/>
              </a:rPr>
              <a:t>Skolem</a:t>
            </a:r>
            <a:r>
              <a:rPr lang="zh-CN" altLang="en-US" sz="2400" dirty="0">
                <a:latin typeface="仿宋_GB2312" panose="02010609030101010101" pitchFamily="49" charset="-122"/>
                <a:ea typeface="仿宋_GB2312" panose="02010609030101010101" pitchFamily="49" charset="-122"/>
                <a:sym typeface="Symbol" panose="05050102010706020507" pitchFamily="18" charset="2"/>
              </a:rPr>
              <a:t>标准型</a:t>
            </a:r>
            <a:endParaRPr lang="zh-CN" altLang="en-US" sz="2400" dirty="0">
              <a:latin typeface="仿宋_GB2312" panose="02010609030101010101" pitchFamily="49" charset="-122"/>
              <a:ea typeface="仿宋_GB2312" panose="02010609030101010101" pitchFamily="49" charset="-122"/>
              <a:sym typeface="Symbol" panose="05050102010706020507" pitchFamily="18" charset="2"/>
            </a:endParaRPr>
          </a:p>
        </p:txBody>
      </p:sp>
      <p:sp>
        <p:nvSpPr>
          <p:cNvPr id="212999" name="矩形 212998"/>
          <p:cNvSpPr/>
          <p:nvPr/>
        </p:nvSpPr>
        <p:spPr>
          <a:xfrm>
            <a:off x="1295400" y="4629150"/>
            <a:ext cx="6553200" cy="381000"/>
          </a:xfrm>
          <a:prstGeom prst="rect">
            <a:avLst/>
          </a:prstGeom>
          <a:noFill/>
          <a:ln w="9525" cap="flat" cmpd="sng">
            <a:solidFill>
              <a:srgbClr val="FFFFFF"/>
            </a:solidFill>
            <a:prstDash val="solid"/>
            <a:miter/>
            <a:headEnd type="none" w="med" len="med"/>
            <a:tailEnd type="none" w="med" len="med"/>
          </a:ln>
        </p:spPr>
        <p:txBody>
          <a:bodyPr wrap="none" anchor="ctr" anchorCtr="0"/>
          <a:lstStyle/>
          <a:p>
            <a:pPr>
              <a:spcBef>
                <a:spcPct val="0"/>
              </a:spcBef>
            </a:pPr>
            <a:r>
              <a:rPr lang="zh-CN" altLang="en-US" sz="2400" dirty="0">
                <a:latin typeface="仿宋_GB2312" panose="02010609030101010101" pitchFamily="49" charset="-122"/>
                <a:ea typeface="仿宋_GB2312" panose="02010609030101010101" pitchFamily="49" charset="-122"/>
                <a:sym typeface="Symbol" panose="05050102010706020507" pitchFamily="18" charset="2"/>
              </a:rPr>
              <a:t>进而得</a:t>
            </a:r>
            <a:r>
              <a:rPr lang="en-US" altLang="zh-CN" sz="2400">
                <a:latin typeface="仿宋_GB2312" panose="02010609030101010101" pitchFamily="49" charset="-122"/>
                <a:ea typeface="仿宋_GB2312" panose="02010609030101010101" pitchFamily="49" charset="-122"/>
                <a:sym typeface="Symbol" panose="05050102010706020507" pitchFamily="18" charset="2"/>
              </a:rPr>
              <a:t>G</a:t>
            </a:r>
            <a:r>
              <a:rPr lang="zh-CN" altLang="en-US" sz="2400" dirty="0">
                <a:latin typeface="仿宋_GB2312" panose="02010609030101010101" pitchFamily="49" charset="-122"/>
                <a:ea typeface="仿宋_GB2312" panose="02010609030101010101" pitchFamily="49" charset="-122"/>
                <a:sym typeface="Symbol" panose="05050102010706020507" pitchFamily="18" charset="2"/>
              </a:rPr>
              <a:t>的子句集为：</a:t>
            </a:r>
            <a:r>
              <a:rPr lang="zh-CN" altLang="en-US" dirty="0">
                <a:latin typeface="仿宋_GB2312" panose="02010609030101010101" pitchFamily="49" charset="-122"/>
                <a:ea typeface="仿宋_GB2312" panose="02010609030101010101" pitchFamily="49" charset="-122"/>
                <a:sym typeface="Symbol" panose="05050102010706020507" pitchFamily="18" charset="2"/>
              </a:rPr>
              <a:t>                       </a:t>
            </a:r>
            <a:endParaRPr lang="zh-CN" altLang="en-US" dirty="0">
              <a:latin typeface="仿宋_GB2312" panose="02010609030101010101" pitchFamily="49" charset="-122"/>
              <a:ea typeface="仿宋_GB2312" panose="02010609030101010101" pitchFamily="49" charset="-122"/>
              <a:sym typeface="Symbol" panose="05050102010706020507" pitchFamily="18" charset="2"/>
            </a:endParaRPr>
          </a:p>
        </p:txBody>
      </p:sp>
      <p:graphicFrame>
        <p:nvGraphicFramePr>
          <p:cNvPr id="5" name="对象 4"/>
          <p:cNvGraphicFramePr/>
          <p:nvPr/>
        </p:nvGraphicFramePr>
        <p:xfrm>
          <a:off x="1728311" y="3935730"/>
          <a:ext cx="5524500" cy="400050"/>
        </p:xfrm>
        <a:graphic>
          <a:graphicData uri="http://schemas.openxmlformats.org/presentationml/2006/ole">
            <mc:AlternateContent xmlns:mc="http://schemas.openxmlformats.org/markup-compatibility/2006">
              <mc:Choice xmlns:v="urn:schemas-microsoft-com:vml" Requires="v">
                <p:oleObj spid="_x0000_s13356" name="" r:id="rId3" imgW="2806700" imgH="203200" progId="Equation.3">
                  <p:embed/>
                </p:oleObj>
              </mc:Choice>
              <mc:Fallback>
                <p:oleObj name="" r:id="rId3" imgW="2806700" imgH="203200" progId="Equation.3">
                  <p:embed/>
                  <p:pic>
                    <p:nvPicPr>
                      <p:cNvPr id="0" name="图片 3078"/>
                      <p:cNvPicPr/>
                      <p:nvPr/>
                    </p:nvPicPr>
                    <p:blipFill>
                      <a:blip r:embed="rId4"/>
                      <a:stretch>
                        <a:fillRect/>
                      </a:stretch>
                    </p:blipFill>
                    <p:spPr>
                      <a:xfrm>
                        <a:off x="1728311" y="3935730"/>
                        <a:ext cx="5524500" cy="400050"/>
                      </a:xfrm>
                      <a:prstGeom prst="rect">
                        <a:avLst/>
                      </a:prstGeom>
                      <a:noFill/>
                      <a:ln w="38100">
                        <a:noFill/>
                        <a:miter/>
                      </a:ln>
                    </p:spPr>
                  </p:pic>
                </p:oleObj>
              </mc:Fallback>
            </mc:AlternateContent>
          </a:graphicData>
        </a:graphic>
      </p:graphicFrame>
      <p:graphicFrame>
        <p:nvGraphicFramePr>
          <p:cNvPr id="7" name="对象 6"/>
          <p:cNvGraphicFramePr/>
          <p:nvPr/>
        </p:nvGraphicFramePr>
        <p:xfrm>
          <a:off x="2714943" y="5162550"/>
          <a:ext cx="4476115" cy="400050"/>
        </p:xfrm>
        <a:graphic>
          <a:graphicData uri="http://schemas.openxmlformats.org/presentationml/2006/ole">
            <mc:AlternateContent xmlns:mc="http://schemas.openxmlformats.org/markup-compatibility/2006">
              <mc:Choice xmlns:v="urn:schemas-microsoft-com:vml" Requires="v">
                <p:oleObj spid="_x0000_s13357" name="" r:id="rId5" imgW="2273300" imgH="203200" progId="Equation.3">
                  <p:embed/>
                </p:oleObj>
              </mc:Choice>
              <mc:Fallback>
                <p:oleObj name="" r:id="rId5" imgW="2273300" imgH="203200" progId="Equation.3">
                  <p:embed/>
                  <p:pic>
                    <p:nvPicPr>
                      <p:cNvPr id="0" name="图片 3077"/>
                      <p:cNvPicPr/>
                      <p:nvPr/>
                    </p:nvPicPr>
                    <p:blipFill>
                      <a:blip r:embed="rId6"/>
                      <a:stretch>
                        <a:fillRect/>
                      </a:stretch>
                    </p:blipFill>
                    <p:spPr>
                      <a:xfrm>
                        <a:off x="2714943" y="5162550"/>
                        <a:ext cx="4476115" cy="400050"/>
                      </a:xfrm>
                      <a:prstGeom prst="rect">
                        <a:avLst/>
                      </a:prstGeom>
                      <a:noFill/>
                      <a:ln w="38100">
                        <a:noFill/>
                        <a:miter/>
                      </a:ln>
                    </p:spPr>
                  </p:pic>
                </p:oleObj>
              </mc:Fallback>
            </mc:AlternateContent>
          </a:graphicData>
        </a:graphic>
      </p:graphicFrame>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29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129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29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129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1299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1299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7" grpId="0" build="p"/>
      <p:bldP spid="212999"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 name="图片 108"/>
          <p:cNvPicPr/>
          <p:nvPr/>
        </p:nvPicPr>
        <p:blipFill>
          <a:blip r:embed="rId1"/>
          <a:stretch>
            <a:fillRect/>
          </a:stretch>
        </p:blipFill>
        <p:spPr>
          <a:xfrm>
            <a:off x="721360" y="894080"/>
            <a:ext cx="7701915" cy="5682615"/>
          </a:xfrm>
          <a:prstGeom prst="rect">
            <a:avLst/>
          </a:prstGeom>
          <a:noFill/>
          <a:ln w="9525">
            <a:noFill/>
          </a:ln>
        </p:spPr>
      </p:pic>
      <p:sp>
        <p:nvSpPr>
          <p:cNvPr id="2" name="文本框 1"/>
          <p:cNvSpPr txBox="1"/>
          <p:nvPr/>
        </p:nvSpPr>
        <p:spPr>
          <a:xfrm>
            <a:off x="476885" y="255905"/>
            <a:ext cx="4733925" cy="537210"/>
          </a:xfrm>
          <a:prstGeom prst="rect">
            <a:avLst/>
          </a:prstGeom>
          <a:noFill/>
        </p:spPr>
        <p:txBody>
          <a:bodyPr wrap="square" rtlCol="0">
            <a:spAutoFit/>
          </a:bodyPr>
          <a:lstStyle/>
          <a:p>
            <a:pPr algn="l">
              <a:buClrTx/>
              <a:buSzTx/>
              <a:buFontTx/>
            </a:pPr>
            <a:r>
              <a:rPr lang="zh-CN" altLang="en-US" sz="2900" b="1" dirty="0">
                <a:solidFill>
                  <a:schemeClr val="lt1"/>
                </a:solidFill>
                <a:latin typeface="微软雅黑" panose="020B0503020204020204" charset="-122"/>
                <a:ea typeface="微软雅黑" panose="020B0503020204020204" charset="-122"/>
                <a:cs typeface="微软雅黑" panose="020B0503020204020204" charset="-122"/>
              </a:rPr>
              <a:t>简化到命题推理</a:t>
            </a:r>
            <a:r>
              <a:rPr lang="en-US" altLang="zh-CN" sz="2900" b="1" dirty="0">
                <a:solidFill>
                  <a:schemeClr val="lt1"/>
                </a:solidFill>
                <a:latin typeface="微软雅黑" panose="020B0503020204020204" charset="-122"/>
                <a:ea typeface="微软雅黑" panose="020B0503020204020204" charset="-122"/>
                <a:cs typeface="微软雅黑" panose="020B0503020204020204" charset="-122"/>
              </a:rPr>
              <a:t>Reduction</a:t>
            </a:r>
            <a:endParaRPr lang="en-US" altLang="zh-CN" sz="2900" b="1" dirty="0">
              <a:solidFill>
                <a:schemeClr val="lt1"/>
              </a:solidFill>
              <a:latin typeface="微软雅黑" panose="020B0503020204020204" charset="-122"/>
              <a:ea typeface="微软雅黑" panose="020B0503020204020204" charset="-122"/>
              <a:cs typeface="微软雅黑" panose="020B0503020204020204" charset="-122"/>
            </a:endParaRPr>
          </a:p>
        </p:txBody>
      </p:sp>
    </p:spTree>
    <p:custDataLst>
      <p:tags r:id="rId2"/>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图片 111"/>
          <p:cNvPicPr/>
          <p:nvPr/>
        </p:nvPicPr>
        <p:blipFill>
          <a:blip r:embed="rId1">
            <a:clrChange>
              <a:clrFrom>
                <a:srgbClr val="FFFFFF">
                  <a:alpha val="100000"/>
                </a:srgbClr>
              </a:clrFrom>
              <a:clrTo>
                <a:srgbClr val="FFFFFF">
                  <a:alpha val="100000"/>
                  <a:alpha val="0"/>
                </a:srgbClr>
              </a:clrTo>
            </a:clrChange>
          </a:blip>
          <a:srcRect t="19738"/>
          <a:stretch>
            <a:fillRect/>
          </a:stretch>
        </p:blipFill>
        <p:spPr>
          <a:xfrm>
            <a:off x="238125" y="1068070"/>
            <a:ext cx="8667750" cy="4867910"/>
          </a:xfrm>
          <a:prstGeom prst="rect">
            <a:avLst/>
          </a:prstGeom>
          <a:noFill/>
          <a:ln w="9525">
            <a:noFill/>
          </a:ln>
        </p:spPr>
      </p:pic>
      <p:sp>
        <p:nvSpPr>
          <p:cNvPr id="2" name="文本框 1"/>
          <p:cNvSpPr txBox="1"/>
          <p:nvPr/>
        </p:nvSpPr>
        <p:spPr>
          <a:xfrm>
            <a:off x="476885" y="255905"/>
            <a:ext cx="6395085" cy="537210"/>
          </a:xfrm>
          <a:prstGeom prst="rect">
            <a:avLst/>
          </a:prstGeom>
          <a:noFill/>
        </p:spPr>
        <p:txBody>
          <a:bodyPr wrap="square" rtlCol="0">
            <a:spAutoFit/>
          </a:bodyPr>
          <a:lstStyle/>
          <a:p>
            <a:pPr algn="l">
              <a:buClrTx/>
              <a:buSzTx/>
              <a:buFontTx/>
            </a:pPr>
            <a:r>
              <a:rPr lang="zh-CN" altLang="en-US" sz="2900" b="1" dirty="0">
                <a:solidFill>
                  <a:schemeClr val="lt1"/>
                </a:solidFill>
                <a:latin typeface="微软雅黑" panose="020B0503020204020204" charset="-122"/>
                <a:ea typeface="微软雅黑" panose="020B0503020204020204" charset="-122"/>
                <a:cs typeface="微软雅黑" panose="020B0503020204020204" charset="-122"/>
              </a:rPr>
              <a:t>直接在</a:t>
            </a:r>
            <a:r>
              <a:rPr lang="en-US" altLang="zh-CN" sz="2900" b="1" dirty="0">
                <a:solidFill>
                  <a:schemeClr val="lt1"/>
                </a:solidFill>
                <a:latin typeface="微软雅黑" panose="020B0503020204020204" charset="-122"/>
                <a:ea typeface="微软雅黑" panose="020B0503020204020204" charset="-122"/>
                <a:cs typeface="微软雅黑" panose="020B0503020204020204" charset="-122"/>
              </a:rPr>
              <a:t>FOL</a:t>
            </a:r>
            <a:r>
              <a:rPr lang="zh-CN" altLang="en-US" sz="2900" b="1" dirty="0">
                <a:solidFill>
                  <a:schemeClr val="lt1"/>
                </a:solidFill>
                <a:latin typeface="微软雅黑" panose="020B0503020204020204" charset="-122"/>
                <a:ea typeface="微软雅黑" panose="020B0503020204020204" charset="-122"/>
                <a:cs typeface="微软雅黑" panose="020B0503020204020204" charset="-122"/>
              </a:rPr>
              <a:t>中推理</a:t>
            </a:r>
            <a:endParaRPr lang="zh-CN" altLang="en-US" sz="2900" b="1" dirty="0">
              <a:solidFill>
                <a:schemeClr val="lt1"/>
              </a:solidFill>
              <a:latin typeface="微软雅黑" panose="020B0503020204020204" charset="-122"/>
              <a:ea typeface="微软雅黑" panose="020B0503020204020204" charset="-122"/>
              <a:cs typeface="微软雅黑" panose="020B0503020204020204" charset="-122"/>
            </a:endParaRPr>
          </a:p>
        </p:txBody>
      </p:sp>
      <p:pic>
        <p:nvPicPr>
          <p:cNvPr id="4" name="图片 3" descr="templates\docerresourceshop\icons\\32313535353135383b32313535353136373bb6d4b9b4b6d4bac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71970" y="4242435"/>
            <a:ext cx="914400" cy="914400"/>
          </a:xfrm>
          <a:prstGeom prst="rect">
            <a:avLst/>
          </a:prstGeom>
        </p:spPr>
      </p:pic>
      <p:pic>
        <p:nvPicPr>
          <p:cNvPr id="5" name="图片 4" descr="templates\docerresourceshop\icons\\32313535353135383b32313535353136373bb6d4b9b4b6d4bac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71970" y="5021580"/>
            <a:ext cx="914400" cy="914400"/>
          </a:xfrm>
          <a:prstGeom prst="rect">
            <a:avLst/>
          </a:prstGeom>
        </p:spPr>
      </p:pic>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7_1*i*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9fa92157b43b40c7a9efcf8b0c2fdd6a"/>
  <p:tag name="KSO_WM_UNIT_DECORATE_INFO" val="{&quot;ReferentInfo&quot;:{&quot;Id&quot;:&quot;443f8045f8564536b28e1ce40fe340db&quot;,&quot;X&quot;:{&quot;Pos&quot;:1},&quot;Y&quot;:{&quot;Pos&quot;:1}},&quot;DecorateInfoX&quot;:{&quot;Pos&quot;:1,&quot;IsAbs&quot;:true},&quot;DecorateInfoY&quot;:{&quot;Pos&quot;:1,&quot;IsAbs&quot;:true},&quot;DecorateInfoW&quot;:{&quot;IsAbs&quot;:true},&quot;DecorateInfoH&quot;:{&quot;IsAbs&quot;:true},&quot;whChangeMode&quot;:0}"/>
  <p:tag name="KSO_WM_UNIT_SUBTYPE" val="h"/>
  <p:tag name="KSO_WM_UNIT_FILL_FORE_SCHEMECOLOR_INDEX_BRIGHTNESS" val="0"/>
  <p:tag name="KSO_WM_UNIT_FILL_FORE_SCHEMECOLOR_INDEX" val="5"/>
  <p:tag name="KSO_WM_UNIT_FILL_TYPE" val="1"/>
</p:tagLst>
</file>

<file path=ppt/tags/tag33.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3.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44.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Lst>
</file>

<file path=ppt/tags/tag45.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46.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 name="KSO_WM_SPECIAL_SOURCE" val="bdnull"/>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7_1*i*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9fa92157b43b40c7a9efcf8b0c2fdd6a"/>
  <p:tag name="KSO_WM_UNIT_DECORATE_INFO" val="{&quot;ReferentInfo&quot;:{&quot;Id&quot;:&quot;443f8045f8564536b28e1ce40fe340db&quot;,&quot;X&quot;:{&quot;Pos&quot;:1},&quot;Y&quot;:{&quot;Pos&quot;:1}},&quot;DecorateInfoX&quot;:{&quot;Pos&quot;:1,&quot;IsAbs&quot;:true},&quot;DecorateInfoY&quot;:{&quot;Pos&quot;:1,&quot;IsAbs&quot;:true},&quot;DecorateInfoW&quot;:{&quot;IsAbs&quot;:true},&quot;DecorateInfoH&quot;:{&quot;IsAbs&quot;:true},&quot;whChangeMode&quot;:0}"/>
  <p:tag name="KSO_WM_UNIT_SUBTYPE" val="h"/>
  <p:tag name="KSO_WM_UNIT_FILL_FORE_SCHEMECOLOR_INDEX_BRIGHTNESS" val="0"/>
  <p:tag name="KSO_WM_UNIT_FILL_FORE_SCHEMECOLOR_INDEX" val="5"/>
  <p:tag name="KSO_WM_UNIT_FILL_TYPE" val="1"/>
</p:tagLst>
</file>

<file path=ppt/tags/tag48.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50.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10-04T10:12:54&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10-04T10:12:54&quot;,&quot;margin&quot;:{&quot;bottom&quot;:0.21199998259544373,&quot;left&quot;:0.9524999856948853,&quot;right&quot;:0.9524999856948853,&quot;top&quot;:0.21199998259544373},&quot;type&quot;:0},{&quot;id&quot;:&quot;2021-10-04T10:12:54&quot;,&quot;margin&quot;:{&quot;bottom&quot;:0.847000002861023,&quot;left&quot;:0.9524999856948853,&quot;right&quot;:0.952499985694885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PECIAL_SOURCE" val="bdnull"/>
</p:tagLst>
</file>

<file path=ppt/tags/tag51.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52.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53.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54.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55.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56.xml><?xml version="1.0" encoding="utf-8"?>
<p:tagLst xmlns:p="http://schemas.openxmlformats.org/presentationml/2006/main">
  <p:tag name="KSO_WM_TEMPLATE_CATEGORY" val="diagram"/>
  <p:tag name="KSO_WM_TEMPLATE_INDEX" val="20186005"/>
  <p:tag name="KSO_WM_TAG_VERSION" val="1.0"/>
  <p:tag name="KSO_WM_UNIT_TYPE" val="l_h_f"/>
  <p:tag name="KSO_WM_UNIT_INDEX" val="1_1_1"/>
  <p:tag name="KSO_WM_UNIT_ID" val="diagram20186005_1*l_h_f*1_1_1"/>
  <p:tag name="KSO_WM_UNIT_LAYERLEVEL" val="1_1_1"/>
  <p:tag name="KSO_WM_UNIT_VALUE" val="152"/>
  <p:tag name="KSO_WM_UNIT_HIGHLIGHT" val="0"/>
  <p:tag name="KSO_WM_UNIT_COMPATIBLE" val="0"/>
  <p:tag name="KSO_WM_UNIT_CLEAR" val="0"/>
  <p:tag name="KSO_WM_BEAUTIFY_FLAG" val="#wm#"/>
  <p:tag name="KSO_WM_DIAGRAM_GROUP_CODE" val="l1-1"/>
  <p:tag name="KSO_WM_UNIT_PRESET_TEXT" val="1.单击要填充的形状；2.在“格式”选项卡上的“形状样式”组中，单击“形状填充”旁边的箭头，然后单击「图片或纹理填充」； 3.找到包含需要使用的图片的文件夹，单击该图片，然后单击“插入”；4.使用图片工具“裁剪”下拉菜单中的「填充」可对图片进行调整"/>
  <p:tag name="KSO_WM_UNIT_TEXT_FILL_FORE_SCHEMECOLOR_INDEX" val="13"/>
  <p:tag name="KSO_WM_UNIT_TEXT_FILL_TYPE" val="1"/>
  <p:tag name="KSO_WM_UNIT_USESOURCEFORMAT_APPLY" val="0"/>
</p:tagLst>
</file>

<file path=ppt/tags/tag57.xml><?xml version="1.0" encoding="utf-8"?>
<p:tagLst xmlns:p="http://schemas.openxmlformats.org/presentationml/2006/main">
  <p:tag name="KSO_WM_TEMPLATE_CATEGORY" val="diagram"/>
  <p:tag name="KSO_WM_TEMPLATE_INDEX" val="20186005"/>
  <p:tag name="KSO_WM_TAG_VERSION" val="1.0"/>
  <p:tag name="KSO_WM_UNIT_TYPE" val="l_h_a"/>
  <p:tag name="KSO_WM_UNIT_INDEX" val="1_1_1"/>
  <p:tag name="KSO_WM_UNIT_ID" val="diagram20186005_1*l_h_a*1_1_1"/>
  <p:tag name="KSO_WM_UNIT_LAYERLEVEL" val="1_1_1"/>
  <p:tag name="KSO_WM_UNIT_VALUE" val="27"/>
  <p:tag name="KSO_WM_UNIT_HIGHLIGHT" val="0"/>
  <p:tag name="KSO_WM_UNIT_COMPATIBLE" val="0"/>
  <p:tag name="KSO_WM_UNIT_CLEAR" val="0"/>
  <p:tag name="KSO_WM_BEAUTIFY_FLAG" val="#wm#"/>
  <p:tag name="KSO_WM_DIAGRAM_GROUP_CODE" val="l1-1"/>
  <p:tag name="KSO_WM_UNIT_PRESET_TEXT" val="请在形状中填充图片"/>
  <p:tag name="KSO_WM_UNIT_TEXT_FILL_FORE_SCHEMECOLOR_INDEX" val="5"/>
  <p:tag name="KSO_WM_UNIT_TEXT_FILL_TYPE" val="1"/>
  <p:tag name="KSO_WM_UNIT_USESOURCEFORMAT_APPLY" val="0"/>
</p:tagLst>
</file>

<file path=ppt/tags/tag58.xml><?xml version="1.0" encoding="utf-8"?>
<p:tagLst xmlns:p="http://schemas.openxmlformats.org/presentationml/2006/main">
  <p:tag name="KSO_WM_TEMPLATE_CATEGORY" val="diagram"/>
  <p:tag name="KSO_WM_TEMPLATE_INDEX" val="20186005"/>
  <p:tag name="KSO_WM_TAG_VERSION" val="1.0"/>
  <p:tag name="KSO_WM_UNIT_TYPE" val="l_h_i"/>
  <p:tag name="KSO_WM_UNIT_INDEX" val="1_1_1"/>
  <p:tag name="KSO_WM_UNIT_ID" val="diagram20186005_1*l_h_i*1_1_1"/>
  <p:tag name="KSO_WM_UNIT_LAYERLEVEL" val="1_1_1"/>
  <p:tag name="KSO_WM_BEAUTIFY_FLAG" val="#wm#"/>
  <p:tag name="KSO_WM_DIAGRAM_GROUP_CODE" val="l1-1"/>
  <p:tag name="KSO_WM_UNIT_FILL_FORE_SCHEMECOLOR_INDEX" val="5"/>
  <p:tag name="KSO_WM_UNIT_FILL_TYPE" val="1"/>
  <p:tag name="KSO_WM_UNIT_TEXT_FILL_FORE_SCHEMECOLOR_INDEX" val="13"/>
  <p:tag name="KSO_WM_UNIT_TEXT_FILL_TYPE" val="1"/>
  <p:tag name="KSO_WM_UNIT_USESOURCEFORMAT_APPLY" val="0"/>
</p:tagLst>
</file>

<file path=ppt/tags/tag59.xml><?xml version="1.0" encoding="utf-8"?>
<p:tagLst xmlns:p="http://schemas.openxmlformats.org/presentationml/2006/main">
  <p:tag name="KSO_WM_TEMPLATE_CATEGORY" val="diagram"/>
  <p:tag name="KSO_WM_TEMPLATE_INDEX" val="20186005"/>
  <p:tag name="KSO_WM_TAG_VERSION" val="1.0"/>
  <p:tag name="KSO_WM_UNIT_TYPE" val="l_h_i"/>
  <p:tag name="KSO_WM_UNIT_INDEX" val="1_2_1"/>
  <p:tag name="KSO_WM_UNIT_ID" val="diagram20186005_1*l_h_i*1_2_1"/>
  <p:tag name="KSO_WM_UNIT_LAYERLEVEL" val="1_1_1"/>
  <p:tag name="KSO_WM_BEAUTIFY_FLAG" val="#wm#"/>
  <p:tag name="KSO_WM_DIAGRAM_GROUP_CODE" val="l1-1"/>
  <p:tag name="KSO_WM_UNIT_FILL_FORE_SCHEMECOLOR_INDEX" val="5"/>
  <p:tag name="KSO_WM_UNIT_FILL_TYPE" val="1"/>
  <p:tag name="KSO_WM_UNIT_TEXT_FILL_FORE_SCHEMECOLOR_INDEX" val="13"/>
  <p:tag name="KSO_WM_UNIT_TEXT_FILL_TYPE" val="1"/>
  <p:tag name="KSO_WM_UNIT_USESOURCEFORMAT_APPLY" val="0"/>
</p:tagLst>
</file>

<file path=ppt/tags/tag60.xml><?xml version="1.0" encoding="utf-8"?>
<p:tagLst xmlns:p="http://schemas.openxmlformats.org/presentationml/2006/main">
  <p:tag name="KSO_WM_TEMPLATE_CATEGORY" val="diagram"/>
  <p:tag name="KSO_WM_TEMPLATE_INDEX" val="20186005"/>
  <p:tag name="KSO_WM_TAG_VERSION" val="1.0"/>
  <p:tag name="KSO_WM_UNIT_TYPE" val="l_i"/>
  <p:tag name="KSO_WM_UNIT_INDEX" val="1_3"/>
  <p:tag name="KSO_WM_UNIT_ID" val="diagram20186005_1*l_i*1_3"/>
  <p:tag name="KSO_WM_UNIT_LAYERLEVEL" val="1_1"/>
  <p:tag name="KSO_WM_BEAUTIFY_FLAG" val="#wm#"/>
  <p:tag name="KSO_WM_DIAGRAM_GROUP_CODE" val="l1-1"/>
  <p:tag name="KSO_WM_UNIT_LINE_FORE_SCHEMECOLOR_INDEX" val="14"/>
  <p:tag name="KSO_WM_UNIT_LINE_FILL_TYPE" val="2"/>
  <p:tag name="KSO_WM_UNIT_USESOURCEFORMAT_APPLY" val="0"/>
</p:tagLst>
</file>

<file path=ppt/tags/tag61.xml><?xml version="1.0" encoding="utf-8"?>
<p:tagLst xmlns:p="http://schemas.openxmlformats.org/presentationml/2006/main">
  <p:tag name="KSO_WM_TEMPLATE_CATEGORY" val="diagram"/>
  <p:tag name="KSO_WM_TEMPLATE_INDEX" val="20186005"/>
  <p:tag name="KSO_WM_TAG_VERSION" val="1.0"/>
  <p:tag name="KSO_WM_UNIT_TYPE" val="l_h_f"/>
  <p:tag name="KSO_WM_UNIT_INDEX" val="1_2_1"/>
  <p:tag name="KSO_WM_UNIT_ID" val="diagram20186005_1*l_h_f*1_2_1"/>
  <p:tag name="KSO_WM_UNIT_LAYERLEVEL" val="1_1_1"/>
  <p:tag name="KSO_WM_UNIT_VALUE" val="102"/>
  <p:tag name="KSO_WM_UNIT_HIGHLIGHT" val="0"/>
  <p:tag name="KSO_WM_UNIT_COMPATIBLE" val="0"/>
  <p:tag name="KSO_WM_UNIT_CLEAR" val="0"/>
  <p:tag name="KSO_WM_BEAUTIFY_FLAG" val="#wm#"/>
  <p:tag name="KSO_WM_DIAGRAM_GROUP_CODE" val="l1-1"/>
  <p:tag name="KSO_WM_UNIT_PRESET_TEXT" val="1.选中PPT页面中图示里的图标（可按住shift键多选）；2.在iSlide菜单面板打开“图标库”，单击左键即可进行替换操作；可以将PPT中绘制的任何形状替换为iSlide图标库中的图标；所有使用iSlide插入的图标均为矢量格式；所有单独的图标或图形（非组合）均可以使用iSlide图标库功能一键替换为图标"/>
  <p:tag name="KSO_WM_UNIT_TEXT_FILL_FORE_SCHEMECOLOR_INDEX" val="13"/>
  <p:tag name="KSO_WM_UNIT_TEXT_FILL_TYPE" val="1"/>
  <p:tag name="KSO_WM_UNIT_USESOURCEFORMAT_APPLY" val="0"/>
</p:tagLst>
</file>

<file path=ppt/tags/tag62.xml><?xml version="1.0" encoding="utf-8"?>
<p:tagLst xmlns:p="http://schemas.openxmlformats.org/presentationml/2006/main">
  <p:tag name="KSO_WM_TEMPLATE_CATEGORY" val="diagram"/>
  <p:tag name="KSO_WM_TEMPLATE_INDEX" val="20186005"/>
  <p:tag name="KSO_WM_TAG_VERSION" val="1.0"/>
  <p:tag name="KSO_WM_UNIT_TYPE" val="l_h_a"/>
  <p:tag name="KSO_WM_UNIT_INDEX" val="1_2_1"/>
  <p:tag name="KSO_WM_UNIT_ID" val="diagram20186005_1*l_h_a*1_2_1"/>
  <p:tag name="KSO_WM_UNIT_LAYERLEVEL" val="1_1_1"/>
  <p:tag name="KSO_WM_UNIT_VALUE" val="27"/>
  <p:tag name="KSO_WM_UNIT_HIGHLIGHT" val="0"/>
  <p:tag name="KSO_WM_UNIT_COMPATIBLE" val="0"/>
  <p:tag name="KSO_WM_UNIT_CLEAR" val="0"/>
  <p:tag name="KSO_WM_BEAUTIFY_FLAG" val="#wm#"/>
  <p:tag name="KSO_WM_DIAGRAM_GROUP_CODE" val="l1-1"/>
  <p:tag name="KSO_WM_UNIT_PRESET_TEXT" val="替换图示中的图标"/>
  <p:tag name="KSO_WM_UNIT_TEXT_FILL_FORE_SCHEMECOLOR_INDEX" val="5"/>
  <p:tag name="KSO_WM_UNIT_TEXT_FILL_TYPE" val="1"/>
  <p:tag name="KSO_WM_UNIT_USESOURCEFORMAT_APPLY" val="0"/>
</p:tagLst>
</file>

<file path=ppt/tags/tag63.xml><?xml version="1.0" encoding="utf-8"?>
<p:tagLst xmlns:p="http://schemas.openxmlformats.org/presentationml/2006/main">
  <p:tag name="KSO_WM_BEAUTIFY_FLAG" val="#wm#"/>
  <p:tag name="KSO_WM_TEMPLATE_CATEGORY" val="diagram"/>
  <p:tag name="KSO_WM_TEMPLATE_INDEX" val="20220057"/>
  <p:tag name="KSO_WM_SLIDE_ITEM_CNT" val="2"/>
  <p:tag name="KSO_WM_SPECIAL_SOURCE" val="bdnull"/>
</p:tagLst>
</file>

<file path=ppt/tags/tag64.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65.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66.xml><?xml version="1.0" encoding="utf-8"?>
<p:tagLst xmlns:p="http://schemas.openxmlformats.org/presentationml/2006/main">
  <p:tag name="KSO_WM_UNIT_PLACING_PICTURE_USER_VIEWPORT" val="{&quot;height&quot;:6753,&quot;width&quot;:12989}"/>
</p:tagLst>
</file>

<file path=ppt/tags/tag67.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7_1*i*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9fa92157b43b40c7a9efcf8b0c2fdd6a"/>
  <p:tag name="KSO_WM_UNIT_DECORATE_INFO" val="{&quot;ReferentInfo&quot;:{&quot;Id&quot;:&quot;443f8045f8564536b28e1ce40fe340db&quot;,&quot;X&quot;:{&quot;Pos&quot;:1},&quot;Y&quot;:{&quot;Pos&quot;:1}},&quot;DecorateInfoX&quot;:{&quot;Pos&quot;:1,&quot;IsAbs&quot;:true},&quot;DecorateInfoY&quot;:{&quot;Pos&quot;:1,&quot;IsAbs&quot;:true},&quot;DecorateInfoW&quot;:{&quot;IsAbs&quot;:true},&quot;DecorateInfoH&quot;:{&quot;IsAbs&quot;:true},&quot;whChangeMode&quot;:0}"/>
  <p:tag name="KSO_WM_UNIT_SUBTYPE" val="h"/>
  <p:tag name="KSO_WM_UNIT_FILL_FORE_SCHEMECOLOR_INDEX_BRIGHTNESS" val="0"/>
  <p:tag name="KSO_WM_UNIT_FILL_FORE_SCHEMECOLOR_INDEX" val="5"/>
  <p:tag name="KSO_WM_UNIT_FILL_TYPE" val="1"/>
</p:tagLst>
</file>

<file path=ppt/tags/tag69.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70.xml><?xml version="1.0" encoding="utf-8"?>
<p:tagLst xmlns:p="http://schemas.openxmlformats.org/presentationml/2006/main">
  <p:tag name="KSO_WM_UNIT_TABLE_BEAUTIFY" val="smartTable{725f8749-31f3-48e5-8af4-1765b6fa32c6}"/>
  <p:tag name="TABLE_RECT" val="17*75.3484*686*446.95"/>
  <p:tag name="TABLE_EMPHASIZE_COLOR" val="6579300"/>
  <p:tag name="TABLE_ONEKEY_SKIN_IDX" val="0"/>
  <p:tag name="TABLE_SKINIDX" val="-1"/>
  <p:tag name="TABLE_COLORIDX" val="l"/>
</p:tagLst>
</file>

<file path=ppt/tags/tag71.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7_1*i*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9fa92157b43b40c7a9efcf8b0c2fdd6a"/>
  <p:tag name="KSO_WM_UNIT_DECORATE_INFO" val="{&quot;ReferentInfo&quot;:{&quot;Id&quot;:&quot;443f8045f8564536b28e1ce40fe340db&quot;,&quot;X&quot;:{&quot;Pos&quot;:1},&quot;Y&quot;:{&quot;Pos&quot;:1}},&quot;DecorateInfoX&quot;:{&quot;Pos&quot;:1,&quot;IsAbs&quot;:true},&quot;DecorateInfoY&quot;:{&quot;Pos&quot;:1,&quot;IsAbs&quot;:true},&quot;DecorateInfoW&quot;:{&quot;IsAbs&quot;:true},&quot;DecorateInfoH&quot;:{&quot;IsAbs&quot;:true},&quot;whChangeMode&quot;:0}"/>
  <p:tag name="KSO_WM_UNIT_SUBTYPE" val="h"/>
  <p:tag name="KSO_WM_UNIT_FILL_FORE_SCHEMECOLOR_INDEX_BRIGHTNESS" val="0"/>
  <p:tag name="KSO_WM_UNIT_FILL_FORE_SCHEMECOLOR_INDEX" val="5"/>
  <p:tag name="KSO_WM_UNIT_FILL_TYPE" val="1"/>
</p:tagLst>
</file>

<file path=ppt/tags/tag73.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75.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10-04T10:12:54&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10-04T10:12:54&quot;,&quot;margin&quot;:{&quot;bottom&quot;:0.21199998259544373,&quot;left&quot;:0.9524999856948853,&quot;right&quot;:0.9524999856948853,&quot;top&quot;:0.21199998259544373},&quot;type&quot;:0},{&quot;id&quot;:&quot;2021-10-04T10:12:54&quot;,&quot;margin&quot;:{&quot;bottom&quot;:0.847000002861023,&quot;left&quot;:0.9524999856948853,&quot;right&quot;:0.952499985694885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PECIAL_SOURCE" val="bdnull"/>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7_1*i*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9fa92157b43b40c7a9efcf8b0c2fdd6a"/>
  <p:tag name="KSO_WM_UNIT_DECORATE_INFO" val="{&quot;ReferentInfo&quot;:{&quot;Id&quot;:&quot;443f8045f8564536b28e1ce40fe340db&quot;,&quot;X&quot;:{&quot;Pos&quot;:1},&quot;Y&quot;:{&quot;Pos&quot;:1}},&quot;DecorateInfoX&quot;:{&quot;Pos&quot;:1,&quot;IsAbs&quot;:true},&quot;DecorateInfoY&quot;:{&quot;Pos&quot;:1,&quot;IsAbs&quot;:true},&quot;DecorateInfoW&quot;:{&quot;IsAbs&quot;:true},&quot;DecorateInfoH&quot;:{&quot;IsAbs&quot;:true},&quot;whChangeMode&quot;:0}"/>
  <p:tag name="KSO_WM_UNIT_SUBTYPE" val="h"/>
  <p:tag name="KSO_WM_UNIT_FILL_FORE_SCHEMECOLOR_INDEX_BRIGHTNESS" val="0"/>
  <p:tag name="KSO_WM_UNIT_FILL_FORE_SCHEMECOLOR_INDEX" val="5"/>
  <p:tag name="KSO_WM_UNIT_FILL_TYPE" val="1"/>
</p:tagLst>
</file>

<file path=ppt/tags/tag77.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78.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10-04T10:12:54&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10-04T10:12:54&quot;,&quot;margin&quot;:{&quot;bottom&quot;:0.21199998259544373,&quot;left&quot;:0.7143750190734863,&quot;right&quot;:0.7143750190734863,&quot;top&quot;:0.21199998259544373},&quot;type&quot;:0},{&quot;id&quot;:&quot;2021-10-04T10:12:54&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PECIAL_SOURCE" val="bdnull"/>
</p:tagLst>
</file>

<file path=ppt/tags/tag79.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80.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81.xml><?xml version="1.0" encoding="utf-8"?>
<p:tagLst xmlns:p="http://schemas.openxmlformats.org/presentationml/2006/main">
  <p:tag name="KSO_WM_SPECIAL_SOURCE" val="bdnull"/>
</p:tagLst>
</file>

<file path=ppt/tags/tag82.xml><?xml version="1.0" encoding="utf-8"?>
<p:tagLst xmlns:p="http://schemas.openxmlformats.org/presentationml/2006/main">
  <p:tag name="KSO_WM_SPECIAL_SOURCE" val="bdnull"/>
</p:tagLst>
</file>

<file path=ppt/tags/tag83.xml><?xml version="1.0" encoding="utf-8"?>
<p:tagLst xmlns:p="http://schemas.openxmlformats.org/presentationml/2006/main">
  <p:tag name="KSO_WM_SPECIAL_SOURCE" val="bdnull"/>
</p:tagLst>
</file>

<file path=ppt/tags/tag84.xml><?xml version="1.0" encoding="utf-8"?>
<p:tagLst xmlns:p="http://schemas.openxmlformats.org/presentationml/2006/main">
  <p:tag name="KSO_WM_SPECIAL_SOURCE" val="bdnull"/>
</p:tagLst>
</file>

<file path=ppt/tags/tag85.xml><?xml version="1.0" encoding="utf-8"?>
<p:tagLst xmlns:p="http://schemas.openxmlformats.org/presentationml/2006/main">
  <p:tag name="KSO_WM_SPECIAL_SOURCE" val="bdnull"/>
</p:tagLst>
</file>

<file path=ppt/tags/tag86.xml><?xml version="1.0" encoding="utf-8"?>
<p:tagLst xmlns:p="http://schemas.openxmlformats.org/presentationml/2006/main">
  <p:tag name="KSO_WM_SPECIAL_SOURCE" val="bdnull"/>
</p:tagLst>
</file>

<file path=ppt/tags/tag87.xml><?xml version="1.0" encoding="utf-8"?>
<p:tagLst xmlns:p="http://schemas.openxmlformats.org/presentationml/2006/main">
  <p:tag name="KSO_WM_SPECIAL_SOURCE" val="bdnull"/>
</p:tagLst>
</file>

<file path=ppt/tags/tag88.xml><?xml version="1.0" encoding="utf-8"?>
<p:tagLst xmlns:p="http://schemas.openxmlformats.org/presentationml/2006/main">
  <p:tag name="KSO_WM_SPECIAL_SOURCE" val="bdnull"/>
</p:tagLst>
</file>

<file path=ppt/tags/tag89.xml><?xml version="1.0" encoding="utf-8"?>
<p:tagLst xmlns:p="http://schemas.openxmlformats.org/presentationml/2006/main">
  <p:tag name="KSO_WM_SPECIAL_SOURCE" val="bdnull"/>
</p:tagLst>
</file>

<file path=ppt/tags/tag90.xml><?xml version="1.0" encoding="utf-8"?>
<p:tagLst xmlns:p="http://schemas.openxmlformats.org/presentationml/2006/main">
  <p:tag name="KSO_WM_SPECIAL_SOURCE" val="bdnull"/>
</p:tagLst>
</file>

<file path=ppt/tags/tag91.xml><?xml version="1.0" encoding="utf-8"?>
<p:tagLst xmlns:p="http://schemas.openxmlformats.org/presentationml/2006/main">
  <p:tag name="KSO_WM_SPECIAL_SOURCE" val="bdnull"/>
</p:tagLst>
</file>

<file path=ppt/tags/tag92.xml><?xml version="1.0" encoding="utf-8"?>
<p:tagLst xmlns:p="http://schemas.openxmlformats.org/presentationml/2006/main">
  <p:tag name="KSO_WM_SPECIAL_SOURCE" val="bdnull"/>
</p:tagLst>
</file>

<file path=ppt/tags/tag93.xml><?xml version="1.0" encoding="utf-8"?>
<p:tagLst xmlns:p="http://schemas.openxmlformats.org/presentationml/2006/main">
  <p:tag name="KSO_WM_SPECIAL_SOURCE" val="bdnull"/>
</p:tagLst>
</file>

<file path=ppt/tags/tag94.xml><?xml version="1.0" encoding="utf-8"?>
<p:tagLst xmlns:p="http://schemas.openxmlformats.org/presentationml/2006/main">
  <p:tag name="KSO_WM_SPECIAL_SOURCE" val="bdnull"/>
</p:tagLst>
</file>

<file path=ppt/tags/tag95.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96.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97.xml><?xml version="1.0" encoding="utf-8"?>
<p:tagLst xmlns:p="http://schemas.openxmlformats.org/presentationml/2006/main">
  <p:tag name="KSO_WM_SPECIAL_SOURCE" val="bdnull"/>
</p:tagLst>
</file>

<file path=ppt/tags/tag98.xml><?xml version="1.0" encoding="utf-8"?>
<p:tagLst xmlns:p="http://schemas.openxmlformats.org/presentationml/2006/main">
  <p:tag name="KSO_WM_SPECIAL_SOURCE" val="bdnull"/>
</p:tagLst>
</file>

<file path=ppt/tags/tag99.xml><?xml version="1.0" encoding="utf-8"?>
<p:tagLst xmlns:p="http://schemas.openxmlformats.org/presentationml/2006/main">
  <p:tag name="KSO_WM_SPECIAL_SOURCE" val="bdnull"/>
</p:tagLst>
</file>

<file path=ppt/tags/tag100.xml><?xml version="1.0" encoding="utf-8"?>
<p:tagLst xmlns:p="http://schemas.openxmlformats.org/presentationml/2006/main">
  <p:tag name="KSO_WM_SPECIAL_SOURCE" val="bdnull"/>
</p:tagLst>
</file>

<file path=ppt/tags/tag101.xml><?xml version="1.0" encoding="utf-8"?>
<p:tagLst xmlns:p="http://schemas.openxmlformats.org/presentationml/2006/main">
  <p:tag name="KSO_WM_SPECIAL_SOURCE" val="bdnull"/>
</p:tagLst>
</file>

<file path=ppt/tags/tag102.xml><?xml version="1.0" encoding="utf-8"?>
<p:tagLst xmlns:p="http://schemas.openxmlformats.org/presentationml/2006/main">
  <p:tag name="KSO_WM_SPECIAL_SOURCE" val="bdnull"/>
</p:tagLst>
</file>

<file path=ppt/tags/tag103.xml><?xml version="1.0" encoding="utf-8"?>
<p:tagLst xmlns:p="http://schemas.openxmlformats.org/presentationml/2006/main">
  <p:tag name="KSO_WM_UNIT_PLACING_PICTURE_USER_VIEWPORT" val="{&quot;height&quot;:1485,&quot;width&quot;:11655}"/>
</p:tagLst>
</file>

<file path=ppt/tags/tag104.xml><?xml version="1.0" encoding="utf-8"?>
<p:tagLst xmlns:p="http://schemas.openxmlformats.org/presentationml/2006/main">
  <p:tag name="KSO_WM_SPECIAL_SOURCE" val="bdnull"/>
</p:tagLst>
</file>

<file path=ppt/tags/tag105.xml><?xml version="1.0" encoding="utf-8"?>
<p:tagLst xmlns:p="http://schemas.openxmlformats.org/presentationml/2006/main">
  <p:tag name="KSO_WM_SPECIAL_SOURCE" val="bdnull"/>
</p:tagLst>
</file>

<file path=ppt/tags/tag106.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07.xml><?xml version="1.0" encoding="utf-8"?>
<p:tagLst xmlns:p="http://schemas.openxmlformats.org/presentationml/2006/main">
  <p:tag name="KSO_WM_SPECIAL_SOURCE" val="bdnull"/>
</p:tagLst>
</file>

<file path=ppt/tags/tag108.xml><?xml version="1.0" encoding="utf-8"?>
<p:tagLst xmlns:p="http://schemas.openxmlformats.org/presentationml/2006/main">
  <p:tag name="KSO_WM_SPECIAL_SOURCE" val="bdnull"/>
</p:tagLst>
</file>

<file path=ppt/tags/tag109.xml><?xml version="1.0" encoding="utf-8"?>
<p:tagLst xmlns:p="http://schemas.openxmlformats.org/presentationml/2006/main">
  <p:tag name="KSO_WM_SPECIAL_SOURCE" val="bdnull"/>
</p:tagLst>
</file>

<file path=ppt/tags/tag110.xml><?xml version="1.0" encoding="utf-8"?>
<p:tagLst xmlns:p="http://schemas.openxmlformats.org/presentationml/2006/main">
  <p:tag name="KSO_WM_SPECIAL_SOURCE" val="bdnull"/>
</p:tagLst>
</file>

<file path=ppt/tags/tag111.xml><?xml version="1.0" encoding="utf-8"?>
<p:tagLst xmlns:p="http://schemas.openxmlformats.org/presentationml/2006/main">
  <p:tag name="KSO_WM_SPECIAL_SOURCE" val="bdnull"/>
</p:tagLst>
</file>

<file path=ppt/tags/tag112.xml><?xml version="1.0" encoding="utf-8"?>
<p:tagLst xmlns:p="http://schemas.openxmlformats.org/presentationml/2006/main">
  <p:tag name="KSO_WM_SPECIAL_SOURCE" val="bdnull"/>
</p:tagLst>
</file>

<file path=ppt/tags/tag113.xml><?xml version="1.0" encoding="utf-8"?>
<p:tagLst xmlns:p="http://schemas.openxmlformats.org/presentationml/2006/main">
  <p:tag name="KSO_WM_SPECIAL_SOURCE" val="bdnull"/>
</p:tagLst>
</file>

<file path=ppt/tags/tag114.xml><?xml version="1.0" encoding="utf-8"?>
<p:tagLst xmlns:p="http://schemas.openxmlformats.org/presentationml/2006/main">
  <p:tag name="KSO_WM_SPECIAL_SOURCE" val="bdnull"/>
</p:tagLst>
</file>

<file path=ppt/tags/tag115.xml><?xml version="1.0" encoding="utf-8"?>
<p:tagLst xmlns:p="http://schemas.openxmlformats.org/presentationml/2006/main">
  <p:tag name="KSO_WM_SPECIAL_SOURCE" val="bdnull"/>
</p:tagLst>
</file>

<file path=ppt/tags/tag116.xml><?xml version="1.0" encoding="utf-8"?>
<p:tagLst xmlns:p="http://schemas.openxmlformats.org/presentationml/2006/main">
  <p:tag name="KSO_WM_SPECIAL_SOURCE" val="bdnull"/>
</p:tagLst>
</file>

<file path=ppt/tags/tag117.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7_1*i*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9fa92157b43b40c7a9efcf8b0c2fdd6a"/>
  <p:tag name="KSO_WM_UNIT_DECORATE_INFO" val="{&quot;ReferentInfo&quot;:{&quot;Id&quot;:&quot;443f8045f8564536b28e1ce40fe340db&quot;,&quot;X&quot;:{&quot;Pos&quot;:1},&quot;Y&quot;:{&quot;Pos&quot;:1}},&quot;DecorateInfoX&quot;:{&quot;Pos&quot;:1,&quot;IsAbs&quot;:true},&quot;DecorateInfoY&quot;:{&quot;Pos&quot;:1,&quot;IsAbs&quot;:true},&quot;DecorateInfoW&quot;:{&quot;IsAbs&quot;:true},&quot;DecorateInfoH&quot;:{&quot;IsAbs&quot;:true},&quot;whChangeMode&quot;:0}"/>
  <p:tag name="KSO_WM_UNIT_SUBTYPE" val="h"/>
  <p:tag name="KSO_WM_UNIT_FILL_FORE_SCHEMECOLOR_INDEX_BRIGHTNESS" val="0"/>
  <p:tag name="KSO_WM_UNIT_FILL_FORE_SCHEMECOLOR_INDEX" val="5"/>
  <p:tag name="KSO_WM_UNIT_FILL_TYPE" val="1"/>
</p:tagLst>
</file>

<file path=ppt/tags/tag119.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21.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10-04T10:12:54&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10-04T10:12:54&quot;,&quot;margin&quot;:{&quot;bottom&quot;:0.21199998259544373,&quot;left&quot;:0.7143750190734863,&quot;right&quot;:0.7143750190734863,&quot;top&quot;:0.21199998259544373},&quot;type&quot;:0},{&quot;id&quot;:&quot;2021-10-04T10:12:54&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PECIAL_SOURCE" val="bdnull"/>
</p:tagLst>
</file>

<file path=ppt/tags/tag122.xml><?xml version="1.0" encoding="utf-8"?>
<p:tagLst xmlns:p="http://schemas.openxmlformats.org/presentationml/2006/main">
  <p:tag name="KSO_WM_SPECIAL_SOURCE" val="bdnull"/>
</p:tagLst>
</file>

<file path=ppt/tags/tag123.xml><?xml version="1.0" encoding="utf-8"?>
<p:tagLst xmlns:p="http://schemas.openxmlformats.org/presentationml/2006/main">
  <p:tag name="KSO_WM_SPECIAL_SOURCE" val="bdnull"/>
</p:tagLst>
</file>

<file path=ppt/tags/tag124.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5.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6.xml><?xml version="1.0" encoding="utf-8"?>
<p:tagLst xmlns:p="http://schemas.openxmlformats.org/presentationml/2006/main">
  <p:tag name="KSO_WM_SPECIAL_SOURCE" val="bdnull"/>
</p:tagLst>
</file>

<file path=ppt/tags/tag127.xml><?xml version="1.0" encoding="utf-8"?>
<p:tagLst xmlns:p="http://schemas.openxmlformats.org/presentationml/2006/main">
  <p:tag name="KSO_WM_SPECIAL_SOURCE" val="bdnull"/>
</p:tagLst>
</file>

<file path=ppt/tags/tag128.xml><?xml version="1.0" encoding="utf-8"?>
<p:tagLst xmlns:p="http://schemas.openxmlformats.org/presentationml/2006/main">
  <p:tag name="KSO_WM_SPECIAL_SOURCE" val="bdnull"/>
</p:tagLst>
</file>

<file path=ppt/tags/tag129.xml><?xml version="1.0" encoding="utf-8"?>
<p:tagLst xmlns:p="http://schemas.openxmlformats.org/presentationml/2006/main">
  <p:tag name="KSO_WM_SPECIAL_SOURCE" val="bdnull"/>
</p:tagLst>
</file>

<file path=ppt/tags/tag130.xml><?xml version="1.0" encoding="utf-8"?>
<p:tagLst xmlns:p="http://schemas.openxmlformats.org/presentationml/2006/main">
  <p:tag name="KSO_WM_SPECIAL_SOURCE" val="bdnull"/>
</p:tagLst>
</file>

<file path=ppt/tags/tag131.xml><?xml version="1.0" encoding="utf-8"?>
<p:tagLst xmlns:p="http://schemas.openxmlformats.org/presentationml/2006/main">
  <p:tag name="KSO_WM_SPECIAL_SOURCE" val="bdnull"/>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7_1*i*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9fa92157b43b40c7a9efcf8b0c2fdd6a"/>
  <p:tag name="KSO_WM_UNIT_DECORATE_INFO" val="{&quot;ReferentInfo&quot;:{&quot;Id&quot;:&quot;443f8045f8564536b28e1ce40fe340db&quot;,&quot;X&quot;:{&quot;Pos&quot;:1},&quot;Y&quot;:{&quot;Pos&quot;:1}},&quot;DecorateInfoX&quot;:{&quot;Pos&quot;:1,&quot;IsAbs&quot;:true},&quot;DecorateInfoY&quot;:{&quot;Pos&quot;:1,&quot;IsAbs&quot;:true},&quot;DecorateInfoW&quot;:{&quot;IsAbs&quot;:true},&quot;DecorateInfoH&quot;:{&quot;IsAbs&quot;:true},&quot;whChangeMode&quot;:0}"/>
  <p:tag name="KSO_WM_UNIT_SUBTYPE" val="h"/>
  <p:tag name="KSO_WM_UNIT_FILL_FORE_SCHEMECOLOR_INDEX_BRIGHTNESS" val="0"/>
  <p:tag name="KSO_WM_UNIT_FILL_FORE_SCHEMECOLOR_INDEX" val="5"/>
  <p:tag name="KSO_WM_UNIT_FILL_TYPE" val="1"/>
</p:tagLst>
</file>

<file path=ppt/tags/tag133.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4.xml><?xml version="1.0" encoding="utf-8"?>
<p:tagLst xmlns:p="http://schemas.openxmlformats.org/presentationml/2006/main">
  <p:tag name="KSO_WM_UNIT_PLACING_PICTURE_USER_VIEWPORT" val="{&quot;height&quot;:3605,&quot;width&quot;:11370}"/>
</p:tagLst>
</file>

<file path=ppt/tags/tag135.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10-04T10:12:54&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10-04T10:12:54&quot;,&quot;margin&quot;:{&quot;bottom&quot;:0.21199998259544373,&quot;left&quot;:0.7143750190734863,&quot;right&quot;:0.7143750190734863,&quot;top&quot;:0.21199998259544373},&quot;type&quot;:0},{&quot;id&quot;:&quot;2021-10-04T10:12:54&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PECIAL_SOURCE" val="bdnull"/>
</p:tagLst>
</file>

<file path=ppt/tags/tag136.xml><?xml version="1.0" encoding="utf-8"?>
<p:tagLst xmlns:p="http://schemas.openxmlformats.org/presentationml/2006/main">
  <p:tag name="KSO_WM_SPECIAL_SOURCE" val="bdnull"/>
</p:tagLst>
</file>

<file path=ppt/tags/tag137.xml><?xml version="1.0" encoding="utf-8"?>
<p:tagLst xmlns:p="http://schemas.openxmlformats.org/presentationml/2006/main">
  <p:tag name="KSO_WM_SPECIAL_SOURCE" val="bdnull"/>
</p:tagLst>
</file>

<file path=ppt/tags/tag138.xml><?xml version="1.0" encoding="utf-8"?>
<p:tagLst xmlns:p="http://schemas.openxmlformats.org/presentationml/2006/main">
  <p:tag name="KSO_WM_SPECIAL_SOURCE" val="bdnull"/>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7_1*i*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9fa92157b43b40c7a9efcf8b0c2fdd6a"/>
  <p:tag name="KSO_WM_UNIT_DECORATE_INFO" val="{&quot;ReferentInfo&quot;:{&quot;Id&quot;:&quot;443f8045f8564536b28e1ce40fe340db&quot;,&quot;X&quot;:{&quot;Pos&quot;:1},&quot;Y&quot;:{&quot;Pos&quot;:1}},&quot;DecorateInfoX&quot;:{&quot;Pos&quot;:1,&quot;IsAbs&quot;:true},&quot;DecorateInfoY&quot;:{&quot;Pos&quot;:1,&quot;IsAbs&quot;:true},&quot;DecorateInfoW&quot;:{&quot;IsAbs&quot;:true},&quot;DecorateInfoH&quot;:{&quot;IsAbs&quot;:true},&quot;whChangeMode&quot;:0}"/>
  <p:tag name="KSO_WM_UNIT_SUBTYPE" val="h"/>
  <p:tag name="KSO_WM_UNIT_FILL_FORE_SCHEMECOLOR_INDEX_BRIGHTNESS" val="0"/>
  <p:tag name="KSO_WM_UNIT_FILL_FORE_SCHEMECOLOR_INDEX" val="5"/>
  <p:tag name="KSO_WM_UNIT_FILL_TYPE" val="1"/>
</p:tagLst>
</file>

<file path=ppt/tags/tag140.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1.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10-04T10:12:54&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10-04T10:12:54&quot;,&quot;margin&quot;:{&quot;bottom&quot;:0.21199998259544373,&quot;left&quot;:0.7143750190734863,&quot;right&quot;:0.7143750190734863,&quot;top&quot;:0.21199998259544373},&quot;type&quot;:0},{&quot;id&quot;:&quot;2021-10-04T10:12:54&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PECIAL_SOURCE" val="bdnull"/>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7_1*i*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9fa92157b43b40c7a9efcf8b0c2fdd6a"/>
  <p:tag name="KSO_WM_UNIT_DECORATE_INFO" val="{&quot;ReferentInfo&quot;:{&quot;Id&quot;:&quot;443f8045f8564536b28e1ce40fe340db&quot;,&quot;X&quot;:{&quot;Pos&quot;:1},&quot;Y&quot;:{&quot;Pos&quot;:1}},&quot;DecorateInfoX&quot;:{&quot;Pos&quot;:1,&quot;IsAbs&quot;:true},&quot;DecorateInfoY&quot;:{&quot;Pos&quot;:1,&quot;IsAbs&quot;:true},&quot;DecorateInfoW&quot;:{&quot;IsAbs&quot;:true},&quot;DecorateInfoH&quot;:{&quot;IsAbs&quot;:true},&quot;whChangeMode&quot;:0}"/>
  <p:tag name="KSO_WM_UNIT_SUBTYPE" val="h"/>
  <p:tag name="KSO_WM_UNIT_FILL_FORE_SCHEMECOLOR_INDEX_BRIGHTNESS" val="0"/>
  <p:tag name="KSO_WM_UNIT_FILL_FORE_SCHEMECOLOR_INDEX" val="5"/>
  <p:tag name="KSO_WM_UNIT_FILL_TYPE" val="1"/>
</p:tagLst>
</file>

<file path=ppt/tags/tag143.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45.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10-04T10:12:54&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10-04T10:12:54&quot;,&quot;margin&quot;:{&quot;bottom&quot;:0.21199998259544373,&quot;left&quot;:0.7143750190734863,&quot;right&quot;:0.7143750190734863,&quot;top&quot;:0.21199998259544373},&quot;type&quot;:0},{&quot;id&quot;:&quot;2021-10-04T10:12:54&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PECIAL_SOURCE" val="bdnull"/>
</p:tagLst>
</file>

<file path=ppt/tags/tag1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47.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48.xml><?xml version="1.0" encoding="utf-8"?>
<p:tagLst xmlns:p="http://schemas.openxmlformats.org/presentationml/2006/main">
  <p:tag name="KSO_WM_SPECIAL_SOURCE" val="bdnull"/>
</p:tagLst>
</file>

<file path=ppt/tags/tag149.xml><?xml version="1.0" encoding="utf-8"?>
<p:tagLst xmlns:p="http://schemas.openxmlformats.org/presentationml/2006/main">
  <p:tag name="KSO_WM_SPECIAL_SOURCE" val="bdnull"/>
</p:tagLst>
</file>

<file path=ppt/tags/tag150.xml><?xml version="1.0" encoding="utf-8"?>
<p:tagLst xmlns:p="http://schemas.openxmlformats.org/presentationml/2006/main">
  <p:tag name="KSO_WM_SPECIAL_SOURCE" val="bdnull"/>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7_1*i*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9fa92157b43b40c7a9efcf8b0c2fdd6a"/>
  <p:tag name="KSO_WM_UNIT_DECORATE_INFO" val="{&quot;ReferentInfo&quot;:{&quot;Id&quot;:&quot;443f8045f8564536b28e1ce40fe340db&quot;,&quot;X&quot;:{&quot;Pos&quot;:1},&quot;Y&quot;:{&quot;Pos&quot;:1}},&quot;DecorateInfoX&quot;:{&quot;Pos&quot;:1,&quot;IsAbs&quot;:true},&quot;DecorateInfoY&quot;:{&quot;Pos&quot;:1,&quot;IsAbs&quot;:true},&quot;DecorateInfoW&quot;:{&quot;IsAbs&quot;:true},&quot;DecorateInfoH&quot;:{&quot;IsAbs&quot;:true},&quot;whChangeMode&quot;:0}"/>
  <p:tag name="KSO_WM_UNIT_SUBTYPE" val="h"/>
  <p:tag name="KSO_WM_UNIT_FILL_FORE_SCHEMECOLOR_INDEX_BRIGHTNESS" val="0"/>
  <p:tag name="KSO_WM_UNIT_FILL_FORE_SCHEMECOLOR_INDEX" val="5"/>
  <p:tag name="KSO_WM_UNIT_FILL_TYPE" val="1"/>
</p:tagLst>
</file>

<file path=ppt/tags/tag152.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53.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54.xml><?xml version="1.0" encoding="utf-8"?>
<p:tagLst xmlns:p="http://schemas.openxmlformats.org/presentationml/2006/main">
  <p:tag name="KSO_WM_SPECIAL_SOURCE" val="bdnull"/>
</p:tagLst>
</file>

<file path=ppt/tags/tag155.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56.xml><?xml version="1.0" encoding="utf-8"?>
<p:tagLst xmlns:p="http://schemas.openxmlformats.org/presentationml/2006/main">
  <p:tag name="KSO_WM_SPECIAL_SOURCE" val="bdnull"/>
</p:tagLst>
</file>

<file path=ppt/tags/tag157.xml><?xml version="1.0" encoding="utf-8"?>
<p:tagLst xmlns:p="http://schemas.openxmlformats.org/presentationml/2006/main">
  <p:tag name="KSO_WM_SPECIAL_SOURCE" val="bdnull"/>
</p:tagLst>
</file>

<file path=ppt/tags/tag158.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59.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60.xml><?xml version="1.0" encoding="utf-8"?>
<p:tagLst xmlns:p="http://schemas.openxmlformats.org/presentationml/2006/main">
  <p:tag name="KSO_WPP_MARK_KEY" val="61b47662-a255-45cd-a46f-88aa6c16a403"/>
  <p:tag name="COMMONDATA" val="eyJoZGlkIjoiYmNlMDliOTMzY2JmZThiMzlkZmQwZjVlNzJmOThjNmYifQ=="/>
  <p:tag name="commondata" val="eyJoZGlkIjoiNGZlOTEyN2FjOTYyM2RkZDFhMzc2OGZlNDc3OTZmYzMifQ=="/>
</p:tagLst>
</file>

<file path=ppt/theme/theme1.xml><?xml version="1.0" encoding="utf-8"?>
<a:theme xmlns:a="http://schemas.openxmlformats.org/drawingml/2006/main" name="3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12356</Words>
  <Application>WPS 演示</Application>
  <PresentationFormat>全屏显示(4:3)</PresentationFormat>
  <Paragraphs>815</Paragraphs>
  <Slides>77</Slides>
  <Notes>27</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13</vt:i4>
      </vt:variant>
      <vt:variant>
        <vt:lpstr>幻灯片标题</vt:lpstr>
      </vt:variant>
      <vt:variant>
        <vt:i4>77</vt:i4>
      </vt:variant>
    </vt:vector>
  </HeadingPairs>
  <TitlesOfParts>
    <vt:vector size="113" baseType="lpstr">
      <vt:lpstr>Arial</vt:lpstr>
      <vt:lpstr>宋体</vt:lpstr>
      <vt:lpstr>Wingdings</vt:lpstr>
      <vt:lpstr>微软雅黑</vt:lpstr>
      <vt:lpstr>Times New Roman</vt:lpstr>
      <vt:lpstr>Segoe UI</vt:lpstr>
      <vt:lpstr>Wingdings</vt:lpstr>
      <vt:lpstr>Arial Unicode MS</vt:lpstr>
      <vt:lpstr>Symbol</vt:lpstr>
      <vt:lpstr>隶书</vt:lpstr>
      <vt:lpstr>Gulim</vt:lpstr>
      <vt:lpstr>黑体</vt:lpstr>
      <vt:lpstr>楷体_GB2312</vt:lpstr>
      <vt:lpstr>新宋体</vt:lpstr>
      <vt:lpstr>华文中宋</vt:lpstr>
      <vt:lpstr>Eras Bold ITC</vt:lpstr>
      <vt:lpstr>Cambria Math</vt:lpstr>
      <vt:lpstr>MS Mincho</vt:lpstr>
      <vt:lpstr>AMGDT</vt:lpstr>
      <vt:lpstr>仿宋_GB2312</vt:lpstr>
      <vt:lpstr>Tahoma</vt:lpstr>
      <vt:lpstr>Malgun Gothic</vt:lpstr>
      <vt:lpstr>3_Office 主题​​</vt:lpstr>
      <vt:lpstr>Equation.DSMT4</vt:lpstr>
      <vt:lpstr>Equation.DSMT4</vt:lpstr>
      <vt:lpstr>Equation.3</vt:lpstr>
      <vt:lpstr>Equation.3</vt:lpstr>
      <vt:lpstr>Equation.3</vt:lpstr>
      <vt:lpstr>Photoshop.Image.6</vt:lpstr>
      <vt:lpstr>Photoshop.Image.6</vt:lpstr>
      <vt:lpstr>Photoshop.Image.6</vt:lpstr>
      <vt:lpstr>Photoshop.Image.6</vt:lpstr>
      <vt:lpstr>Photoshop.Image.6</vt:lpstr>
      <vt:lpstr>Equation.DSMT4</vt:lpstr>
      <vt:lpstr>Equation.DSMT4</vt:lpstr>
      <vt:lpstr>Equation.DSMT4</vt:lpstr>
      <vt:lpstr>人工智能与机器学习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一阶谓词的结构</vt:lpstr>
      <vt:lpstr>PowerPoint 演示文稿</vt:lpstr>
      <vt:lpstr>基本概念2：谓词</vt:lpstr>
      <vt:lpstr>PowerPoint 演示文稿</vt:lpstr>
      <vt:lpstr>基本概念3：变量/常量</vt:lpstr>
      <vt:lpstr>基本概念4：函数</vt:lpstr>
      <vt:lpstr>PowerPoint 演示文稿</vt:lpstr>
      <vt:lpstr>函数与谓词的区别</vt:lpstr>
      <vt:lpstr>符号约定</vt:lpstr>
      <vt:lpstr>一阶谓词</vt:lpstr>
      <vt:lpstr>练习：定义谓词 </vt:lpstr>
      <vt:lpstr>PowerPoint 演示文稿</vt:lpstr>
      <vt:lpstr> </vt:lpstr>
      <vt:lpstr>基本概念5：量词</vt:lpstr>
      <vt:lpstr>PowerPoint 演示文稿</vt:lpstr>
      <vt:lpstr>PowerPoint 演示文稿</vt:lpstr>
      <vt:lpstr>约束变量（约束变元）和自由变量（自由变元）</vt:lpstr>
      <vt:lpstr>PowerPoint 演示文稿</vt:lpstr>
      <vt:lpstr>PowerPoint 演示文稿</vt:lpstr>
      <vt:lpstr>约束变元的换名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常用逻辑等价式（1）</vt:lpstr>
      <vt:lpstr>常用逻辑等价式（2）</vt:lpstr>
      <vt:lpstr>常用逻辑等价式（3）</vt:lpstr>
      <vt:lpstr>PowerPoint 演示文稿</vt:lpstr>
      <vt:lpstr>常用逻辑蕴含式（1)</vt:lpstr>
      <vt:lpstr>常用逻辑蕴含式(2)</vt:lpstr>
      <vt:lpstr>PowerPoint 演示文稿</vt:lpstr>
      <vt:lpstr>PowerPoint 演示文稿</vt:lpstr>
      <vt:lpstr>PowerPoint 演示文稿</vt:lpstr>
      <vt:lpstr>PowerPoint 演示文稿</vt:lpstr>
      <vt:lpstr>PowerPoint 演示文稿</vt:lpstr>
      <vt:lpstr>PowerPoint 演示文稿</vt:lpstr>
      <vt:lpstr>集合 </vt:lpstr>
      <vt:lpstr>PowerPoint 演示文稿</vt:lpstr>
      <vt:lpstr>PowerPoint 演示文稿</vt:lpstr>
      <vt:lpstr>PowerPoint 演示文稿</vt:lpstr>
      <vt:lpstr>PowerPoint 演示文稿</vt:lpstr>
      <vt:lpstr>归结原理</vt:lpstr>
      <vt:lpstr>PowerPoint 演示文稿</vt:lpstr>
      <vt:lpstr>Skolem标准型</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jianming zhang</dc:creator>
  <cp:lastModifiedBy>周意尧</cp:lastModifiedBy>
  <cp:revision>375</cp:revision>
  <dcterms:created xsi:type="dcterms:W3CDTF">2021-10-04T01:37:00Z</dcterms:created>
  <dcterms:modified xsi:type="dcterms:W3CDTF">2024-12-20T14:36:47Z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359A76C911204686B6801D245EBF442D</vt:lpwstr>
  </property>
  <property fmtid="{D5CDD505-2E9C-101B-9397-08002B2CF9AE}" pid="3" name="KSOProductBuildVer">
    <vt:lpwstr>2052-12.1.0.18276</vt:lpwstr>
  </property>
</Properties>
</file>