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80" r:id="rId4"/>
  </p:sldMasterIdLst>
  <p:notesMasterIdLst>
    <p:notesMasterId r:id="rId6"/>
  </p:notesMasterIdLst>
  <p:handoutMasterIdLst>
    <p:handoutMasterId r:id="rId47"/>
  </p:handoutMasterIdLst>
  <p:sldIdLst>
    <p:sldId id="733" r:id="rId5"/>
    <p:sldId id="765" r:id="rId7"/>
    <p:sldId id="769" r:id="rId8"/>
    <p:sldId id="734" r:id="rId9"/>
    <p:sldId id="777" r:id="rId10"/>
    <p:sldId id="778" r:id="rId11"/>
    <p:sldId id="738" r:id="rId12"/>
    <p:sldId id="776" r:id="rId13"/>
    <p:sldId id="775" r:id="rId14"/>
    <p:sldId id="780" r:id="rId15"/>
    <p:sldId id="779" r:id="rId16"/>
    <p:sldId id="783" r:id="rId17"/>
    <p:sldId id="742" r:id="rId18"/>
    <p:sldId id="784" r:id="rId19"/>
    <p:sldId id="786" r:id="rId20"/>
    <p:sldId id="741" r:id="rId21"/>
    <p:sldId id="743" r:id="rId22"/>
    <p:sldId id="787" r:id="rId23"/>
    <p:sldId id="788" r:id="rId24"/>
    <p:sldId id="774" r:id="rId25"/>
    <p:sldId id="744" r:id="rId26"/>
    <p:sldId id="745" r:id="rId27"/>
    <p:sldId id="746" r:id="rId28"/>
    <p:sldId id="773" r:id="rId29"/>
    <p:sldId id="747" r:id="rId30"/>
    <p:sldId id="790" r:id="rId31"/>
    <p:sldId id="789" r:id="rId32"/>
    <p:sldId id="748" r:id="rId33"/>
    <p:sldId id="750" r:id="rId34"/>
    <p:sldId id="752" r:id="rId35"/>
    <p:sldId id="754" r:id="rId36"/>
    <p:sldId id="756" r:id="rId37"/>
    <p:sldId id="810" r:id="rId38"/>
    <p:sldId id="811" r:id="rId39"/>
    <p:sldId id="815" r:id="rId40"/>
    <p:sldId id="814" r:id="rId41"/>
    <p:sldId id="758" r:id="rId42"/>
    <p:sldId id="760" r:id="rId43"/>
    <p:sldId id="761" r:id="rId44"/>
    <p:sldId id="762" r:id="rId45"/>
    <p:sldId id="763" r:id="rId46"/>
  </p:sldIdLst>
  <p:sldSz cx="12192000" cy="6858000"/>
  <p:notesSz cx="7099300" cy="10234295"/>
  <p:custDataLst>
    <p:tags r:id="rId51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6" userDrawn="1">
          <p15:clr>
            <a:srgbClr val="A4A3A4"/>
          </p15:clr>
        </p15:guide>
        <p15:guide id="2" pos="37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3366"/>
    <a:srgbClr val="FF3300"/>
    <a:srgbClr val="FF0066"/>
    <a:srgbClr val="FF00FF"/>
    <a:srgbClr val="0099CC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18" autoAdjust="0"/>
    <p:restoredTop sz="83145" autoAdjust="0"/>
  </p:normalViewPr>
  <p:slideViewPr>
    <p:cSldViewPr snapToGrid="0" showGuides="1">
      <p:cViewPr varScale="1">
        <p:scale>
          <a:sx n="78" d="100"/>
          <a:sy n="78" d="100"/>
        </p:scale>
        <p:origin x="524" y="64"/>
      </p:cViewPr>
      <p:guideLst>
        <p:guide orient="horz" pos="2086"/>
        <p:guide pos="373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1" Type="http://schemas.openxmlformats.org/officeDocument/2006/relationships/tags" Target="tags/tag367.xml"/><Relationship Id="rId50" Type="http://schemas.openxmlformats.org/officeDocument/2006/relationships/tableStyles" Target="tableStyles.xml"/><Relationship Id="rId5" Type="http://schemas.openxmlformats.org/officeDocument/2006/relationships/slide" Target="slides/slide1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handoutMaster" Target="handoutMasters/handoutMaster1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C16A6D-FBE4-4D7D-8924-1A868E3E39A5}" type="doc">
      <dgm:prSet loTypeId="urn:microsoft.com/office/officeart/2005/8/layout/equation1" loCatId="relationship" qsTypeId="urn:microsoft.com/office/officeart/2005/8/quickstyle/simple1#1" qsCatId="simple" csTypeId="urn:microsoft.com/office/officeart/2005/8/colors/accent1_2#1" csCatId="accent1" phldr="0"/>
      <dgm:spPr/>
    </dgm:pt>
    <dgm:pt modelId="{581580C3-2AD7-4027-A070-853644A6AD63}">
      <dgm:prSet phldrT="[文本]"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程序</a:t>
          </a:r>
        </a:p>
      </dgm:t>
    </dgm:pt>
    <dgm:pt modelId="{DB71C421-2C04-4A27-A16A-8A2D4CEF38D7}" cxnId="{454EAE63-DB96-4406-98F8-FFC1F4D416E3}" type="parTrans">
      <dgm:prSet/>
      <dgm:spPr/>
    </dgm:pt>
    <dgm:pt modelId="{C6CA7FBF-0A96-4697-A004-AF5EA54741E9}" cxnId="{454EAE63-DB96-4406-98F8-FFC1F4D416E3}" type="sibTrans">
      <dgm:prSet/>
      <dgm:spPr/>
      <dgm:t>
        <a:bodyPr/>
        <a:lstStyle/>
        <a:p>
          <a:endParaRPr lang="zh-CN" altLang="en-US"/>
        </a:p>
      </dgm:t>
    </dgm:pt>
    <dgm:pt modelId="{CE5E2533-9287-424E-9BBB-99100BB555BE}">
      <dgm:prSet phldrT="[文本]"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体系结构</a:t>
          </a:r>
        </a:p>
      </dgm:t>
    </dgm:pt>
    <dgm:pt modelId="{DF2F75AC-DBBC-41CA-9907-37CAD7ACE6FD}" cxnId="{868D9516-FCB9-49D3-AB1A-34C9C7A4598D}" type="parTrans">
      <dgm:prSet/>
      <dgm:spPr/>
    </dgm:pt>
    <dgm:pt modelId="{50EA5145-449C-4B3D-AF43-7C8E897ECF58}" cxnId="{868D9516-FCB9-49D3-AB1A-34C9C7A4598D}" type="sibTrans">
      <dgm:prSet/>
      <dgm:spPr/>
      <dgm:t>
        <a:bodyPr/>
        <a:lstStyle/>
        <a:p>
          <a:endParaRPr lang="zh-CN" altLang="en-US"/>
        </a:p>
      </dgm:t>
    </dgm:pt>
    <dgm:pt modelId="{4A9495EA-F159-42B0-8FBA-37EA03112423}">
      <dgm:prSet phldrT="[文本]"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智能体</a:t>
          </a:r>
        </a:p>
      </dgm:t>
    </dgm:pt>
    <dgm:pt modelId="{6C1C5DA7-2DF7-401C-8FD1-C92A83243071}" cxnId="{B74A027B-8D94-4CCA-9C7E-9C6FE274C7E6}" type="parTrans">
      <dgm:prSet/>
      <dgm:spPr/>
    </dgm:pt>
    <dgm:pt modelId="{5C750A99-5016-4522-ABB3-8CBA84A2CE1F}" cxnId="{B74A027B-8D94-4CCA-9C7E-9C6FE274C7E6}" type="sibTrans">
      <dgm:prSet/>
      <dgm:spPr/>
    </dgm:pt>
    <dgm:pt modelId="{1FCEDCE4-88CC-4712-BBBC-6B84BD66B74B}" type="pres">
      <dgm:prSet presAssocID="{4CC16A6D-FBE4-4D7D-8924-1A868E3E39A5}" presName="linearFlow" presStyleCnt="0">
        <dgm:presLayoutVars>
          <dgm:dir val="rev"/>
          <dgm:resizeHandles val="exact"/>
        </dgm:presLayoutVars>
      </dgm:prSet>
      <dgm:spPr/>
    </dgm:pt>
    <dgm:pt modelId="{9E2ED5AF-ED0B-42AC-8931-92524B23DC6C}" type="pres">
      <dgm:prSet presAssocID="{581580C3-2AD7-4027-A070-853644A6AD63}" presName="node" presStyleLbl="node1" presStyleIdx="0" presStyleCnt="3">
        <dgm:presLayoutVars>
          <dgm:bulletEnabled val="1"/>
        </dgm:presLayoutVars>
      </dgm:prSet>
      <dgm:spPr/>
    </dgm:pt>
    <dgm:pt modelId="{9CA9B672-4493-46EB-991F-452E90CF40BD}" type="pres">
      <dgm:prSet presAssocID="{C6CA7FBF-0A96-4697-A004-AF5EA54741E9}" presName="spacerL" presStyleCnt="0"/>
      <dgm:spPr/>
    </dgm:pt>
    <dgm:pt modelId="{9D0A0829-D75B-4023-B25E-249C847BBB02}" type="pres">
      <dgm:prSet presAssocID="{C6CA7FBF-0A96-4697-A004-AF5EA54741E9}" presName="sibTrans" presStyleLbl="sibTrans2D1" presStyleIdx="0" presStyleCnt="2"/>
      <dgm:spPr/>
    </dgm:pt>
    <dgm:pt modelId="{60BDDED0-C980-40A3-963C-4E7332F3BF20}" type="pres">
      <dgm:prSet presAssocID="{C6CA7FBF-0A96-4697-A004-AF5EA54741E9}" presName="spacerR" presStyleCnt="0"/>
      <dgm:spPr/>
    </dgm:pt>
    <dgm:pt modelId="{7D35403D-EAAE-44AC-83DF-5EA15CDF3026}" type="pres">
      <dgm:prSet presAssocID="{CE5E2533-9287-424E-9BBB-99100BB555BE}" presName="node" presStyleLbl="node1" presStyleIdx="1" presStyleCnt="3">
        <dgm:presLayoutVars>
          <dgm:bulletEnabled val="1"/>
        </dgm:presLayoutVars>
      </dgm:prSet>
      <dgm:spPr/>
    </dgm:pt>
    <dgm:pt modelId="{8B93EFF9-4E14-4E33-B012-0C11DB3D7742}" type="pres">
      <dgm:prSet presAssocID="{50EA5145-449C-4B3D-AF43-7C8E897ECF58}" presName="spacerL" presStyleCnt="0"/>
      <dgm:spPr/>
    </dgm:pt>
    <dgm:pt modelId="{0EEA513F-368F-429D-B181-8D03EF33D12E}" type="pres">
      <dgm:prSet presAssocID="{50EA5145-449C-4B3D-AF43-7C8E897ECF58}" presName="sibTrans" presStyleLbl="sibTrans2D1" presStyleIdx="1" presStyleCnt="2"/>
      <dgm:spPr/>
    </dgm:pt>
    <dgm:pt modelId="{8CF65313-C216-417D-87C5-1F985DC8C3E6}" type="pres">
      <dgm:prSet presAssocID="{50EA5145-449C-4B3D-AF43-7C8E897ECF58}" presName="spacerR" presStyleCnt="0"/>
      <dgm:spPr/>
    </dgm:pt>
    <dgm:pt modelId="{B586FDC3-05D8-4C83-99A7-65CA5D80A3D8}" type="pres">
      <dgm:prSet presAssocID="{4A9495EA-F159-42B0-8FBA-37EA03112423}" presName="node" presStyleLbl="node1" presStyleIdx="2" presStyleCnt="3">
        <dgm:presLayoutVars>
          <dgm:bulletEnabled val="1"/>
        </dgm:presLayoutVars>
      </dgm:prSet>
      <dgm:spPr/>
    </dgm:pt>
  </dgm:ptLst>
  <dgm:cxnLst>
    <dgm:cxn modelId="{31C68C15-E216-498B-9472-1C5500B4D902}" type="presOf" srcId="{4A9495EA-F159-42B0-8FBA-37EA03112423}" destId="{B586FDC3-05D8-4C83-99A7-65CA5D80A3D8}" srcOrd="0" destOrd="0" presId="urn:microsoft.com/office/officeart/2005/8/layout/equation1"/>
    <dgm:cxn modelId="{868D9516-FCB9-49D3-AB1A-34C9C7A4598D}" srcId="{4CC16A6D-FBE4-4D7D-8924-1A868E3E39A5}" destId="{CE5E2533-9287-424E-9BBB-99100BB555BE}" srcOrd="1" destOrd="0" parTransId="{DF2F75AC-DBBC-41CA-9907-37CAD7ACE6FD}" sibTransId="{50EA5145-449C-4B3D-AF43-7C8E897ECF58}"/>
    <dgm:cxn modelId="{272C6429-0605-4500-82CF-1DB40A863A5F}" type="presOf" srcId="{CE5E2533-9287-424E-9BBB-99100BB555BE}" destId="{7D35403D-EAAE-44AC-83DF-5EA15CDF3026}" srcOrd="0" destOrd="0" presId="urn:microsoft.com/office/officeart/2005/8/layout/equation1"/>
    <dgm:cxn modelId="{454EAE63-DB96-4406-98F8-FFC1F4D416E3}" srcId="{4CC16A6D-FBE4-4D7D-8924-1A868E3E39A5}" destId="{581580C3-2AD7-4027-A070-853644A6AD63}" srcOrd="0" destOrd="0" parTransId="{DB71C421-2C04-4A27-A16A-8A2D4CEF38D7}" sibTransId="{C6CA7FBF-0A96-4697-A004-AF5EA54741E9}"/>
    <dgm:cxn modelId="{94162C66-19C3-4D84-BF35-46E5D677C37F}" type="presOf" srcId="{50EA5145-449C-4B3D-AF43-7C8E897ECF58}" destId="{0EEA513F-368F-429D-B181-8D03EF33D12E}" srcOrd="0" destOrd="0" presId="urn:microsoft.com/office/officeart/2005/8/layout/equation1"/>
    <dgm:cxn modelId="{8580A347-A412-46F5-ADB7-2E9A313C42E6}" type="presOf" srcId="{581580C3-2AD7-4027-A070-853644A6AD63}" destId="{9E2ED5AF-ED0B-42AC-8931-92524B23DC6C}" srcOrd="0" destOrd="0" presId="urn:microsoft.com/office/officeart/2005/8/layout/equation1"/>
    <dgm:cxn modelId="{B74A027B-8D94-4CCA-9C7E-9C6FE274C7E6}" srcId="{4CC16A6D-FBE4-4D7D-8924-1A868E3E39A5}" destId="{4A9495EA-F159-42B0-8FBA-37EA03112423}" srcOrd="2" destOrd="0" parTransId="{6C1C5DA7-2DF7-401C-8FD1-C92A83243071}" sibTransId="{5C750A99-5016-4522-ABB3-8CBA84A2CE1F}"/>
    <dgm:cxn modelId="{0A23797D-292A-4007-BE37-3B6EAD7E3E72}" type="presOf" srcId="{4CC16A6D-FBE4-4D7D-8924-1A868E3E39A5}" destId="{1FCEDCE4-88CC-4712-BBBC-6B84BD66B74B}" srcOrd="0" destOrd="0" presId="urn:microsoft.com/office/officeart/2005/8/layout/equation1"/>
    <dgm:cxn modelId="{4004E2BD-E9F8-42F5-93C7-E1F8047BADEC}" type="presOf" srcId="{C6CA7FBF-0A96-4697-A004-AF5EA54741E9}" destId="{9D0A0829-D75B-4023-B25E-249C847BBB02}" srcOrd="0" destOrd="0" presId="urn:microsoft.com/office/officeart/2005/8/layout/equation1"/>
    <dgm:cxn modelId="{A0F2C33A-6D5A-461F-8973-255DF36E1361}" type="presParOf" srcId="{1FCEDCE4-88CC-4712-BBBC-6B84BD66B74B}" destId="{9E2ED5AF-ED0B-42AC-8931-92524B23DC6C}" srcOrd="0" destOrd="0" presId="urn:microsoft.com/office/officeart/2005/8/layout/equation1"/>
    <dgm:cxn modelId="{D7171EC5-0499-44F0-904B-F0EA37A16533}" type="presParOf" srcId="{1FCEDCE4-88CC-4712-BBBC-6B84BD66B74B}" destId="{9CA9B672-4493-46EB-991F-452E90CF40BD}" srcOrd="1" destOrd="0" presId="urn:microsoft.com/office/officeart/2005/8/layout/equation1"/>
    <dgm:cxn modelId="{22404738-3506-474D-A44A-21FC4066DE92}" type="presParOf" srcId="{1FCEDCE4-88CC-4712-BBBC-6B84BD66B74B}" destId="{9D0A0829-D75B-4023-B25E-249C847BBB02}" srcOrd="2" destOrd="0" presId="urn:microsoft.com/office/officeart/2005/8/layout/equation1"/>
    <dgm:cxn modelId="{A5D125C2-FA77-4B92-9436-BEC475B42B26}" type="presParOf" srcId="{1FCEDCE4-88CC-4712-BBBC-6B84BD66B74B}" destId="{60BDDED0-C980-40A3-963C-4E7332F3BF20}" srcOrd="3" destOrd="0" presId="urn:microsoft.com/office/officeart/2005/8/layout/equation1"/>
    <dgm:cxn modelId="{2420F3C5-5FC5-4BDC-86B0-A7554314D111}" type="presParOf" srcId="{1FCEDCE4-88CC-4712-BBBC-6B84BD66B74B}" destId="{7D35403D-EAAE-44AC-83DF-5EA15CDF3026}" srcOrd="4" destOrd="0" presId="urn:microsoft.com/office/officeart/2005/8/layout/equation1"/>
    <dgm:cxn modelId="{DC647E69-877D-43CA-9C48-9D059E6C72F9}" type="presParOf" srcId="{1FCEDCE4-88CC-4712-BBBC-6B84BD66B74B}" destId="{8B93EFF9-4E14-4E33-B012-0C11DB3D7742}" srcOrd="5" destOrd="0" presId="urn:microsoft.com/office/officeart/2005/8/layout/equation1"/>
    <dgm:cxn modelId="{755F94DB-5801-48E4-8D4A-2D5A7515B570}" type="presParOf" srcId="{1FCEDCE4-88CC-4712-BBBC-6B84BD66B74B}" destId="{0EEA513F-368F-429D-B181-8D03EF33D12E}" srcOrd="6" destOrd="0" presId="urn:microsoft.com/office/officeart/2005/8/layout/equation1"/>
    <dgm:cxn modelId="{753E6758-04D6-4479-B3F6-52D7F00DBC52}" type="presParOf" srcId="{1FCEDCE4-88CC-4712-BBBC-6B84BD66B74B}" destId="{8CF65313-C216-417D-87C5-1F985DC8C3E6}" srcOrd="7" destOrd="0" presId="urn:microsoft.com/office/officeart/2005/8/layout/equation1"/>
    <dgm:cxn modelId="{298D7545-E448-4042-9FCE-FFDBF21F0D29}" type="presParOf" srcId="{1FCEDCE4-88CC-4712-BBBC-6B84BD66B74B}" destId="{B586FDC3-05D8-4C83-99A7-65CA5D80A3D8}" srcOrd="8" destOrd="0" presId="urn:microsoft.com/office/officeart/2005/8/layout/equati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5363210" cy="2037080"/>
        <a:chOff x="0" y="0"/>
        <a:chExt cx="5363210" cy="2037080"/>
      </a:xfrm>
    </dsp:grpSpPr>
    <dsp:sp modelId="{9E2ED5AF-ED0B-42AC-8931-92524B23DC6C}">
      <dsp:nvSpPr>
        <dsp:cNvPr id="3" name="椭圆 2"/>
        <dsp:cNvSpPr/>
      </dsp:nvSpPr>
      <dsp:spPr bwMode="white">
        <a:xfrm>
          <a:off x="4167346" y="420608"/>
          <a:ext cx="1195864" cy="1195864"/>
        </a:xfrm>
        <a:prstGeom prst="ellipse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30480" tIns="30480" rIns="30480" bIns="30480" anchor="ctr"/>
        <a:lstStyle>
          <a:lvl1pPr algn="ctr">
            <a:defRPr sz="2400"/>
          </a:lvl1pPr>
          <a:lvl2pPr marL="171450" indent="-171450" algn="ctr">
            <a:defRPr sz="1800"/>
          </a:lvl2pPr>
          <a:lvl3pPr marL="342900" indent="-171450" algn="ctr">
            <a:defRPr sz="1800"/>
          </a:lvl3pPr>
          <a:lvl4pPr marL="514350" indent="-171450" algn="ctr">
            <a:defRPr sz="1800"/>
          </a:lvl4pPr>
          <a:lvl5pPr marL="685800" indent="-171450" algn="ctr">
            <a:defRPr sz="1800"/>
          </a:lvl5pPr>
          <a:lvl6pPr marL="857250" indent="-171450" algn="ctr">
            <a:defRPr sz="1800"/>
          </a:lvl6pPr>
          <a:lvl7pPr marL="1028700" indent="-171450" algn="ctr">
            <a:defRPr sz="1800"/>
          </a:lvl7pPr>
          <a:lvl8pPr marL="1200150" indent="-171450" algn="ctr">
            <a:defRPr sz="1800"/>
          </a:lvl8pPr>
          <a:lvl9pPr marL="1371600" indent="-171450" algn="ctr">
            <a:defRPr sz="1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程序</a:t>
          </a:r>
        </a:p>
      </dsp:txBody>
      <dsp:txXfrm>
        <a:off x="4167346" y="420608"/>
        <a:ext cx="1195864" cy="1195864"/>
      </dsp:txXfrm>
    </dsp:sp>
    <dsp:sp modelId="{9D0A0829-D75B-4023-B25E-249C847BBB02}">
      <dsp:nvSpPr>
        <dsp:cNvPr id="4" name="加号 3"/>
        <dsp:cNvSpPr/>
      </dsp:nvSpPr>
      <dsp:spPr bwMode="white">
        <a:xfrm>
          <a:off x="3376641" y="671739"/>
          <a:ext cx="693601" cy="693601"/>
        </a:xfrm>
        <a:prstGeom prst="mathPlus">
          <a:avLst/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1000"/>
          </a:lvl1pPr>
          <a:lvl2pPr marL="57150" indent="-57150" algn="ctr">
            <a:defRPr sz="800"/>
          </a:lvl2pPr>
          <a:lvl3pPr marL="114300" indent="-57150" algn="ctr">
            <a:defRPr sz="800"/>
          </a:lvl3pPr>
          <a:lvl4pPr marL="171450" indent="-57150" algn="ctr">
            <a:defRPr sz="800"/>
          </a:lvl4pPr>
          <a:lvl5pPr marL="228600" indent="-57150" algn="ctr">
            <a:defRPr sz="800"/>
          </a:lvl5pPr>
          <a:lvl6pPr marL="285750" indent="-57150" algn="ctr">
            <a:defRPr sz="800"/>
          </a:lvl6pPr>
          <a:lvl7pPr marL="342900" indent="-57150" algn="ctr">
            <a:defRPr sz="800"/>
          </a:lvl7pPr>
          <a:lvl8pPr marL="400050" indent="-57150" algn="ctr">
            <a:defRPr sz="800"/>
          </a:lvl8pPr>
          <a:lvl9pPr marL="457200" indent="-57150" algn="ctr">
            <a:defRPr sz="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>
        <a:off x="3376641" y="671739"/>
        <a:ext cx="693601" cy="693601"/>
      </dsp:txXfrm>
    </dsp:sp>
    <dsp:sp modelId="{7D35403D-EAAE-44AC-83DF-5EA15CDF3026}">
      <dsp:nvSpPr>
        <dsp:cNvPr id="5" name="椭圆 4"/>
        <dsp:cNvSpPr/>
      </dsp:nvSpPr>
      <dsp:spPr bwMode="white">
        <a:xfrm>
          <a:off x="2083673" y="420608"/>
          <a:ext cx="1195864" cy="1195864"/>
        </a:xfrm>
        <a:prstGeom prst="ellipse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30480" tIns="30480" rIns="30480" bIns="30480" anchor="ctr"/>
        <a:lstStyle>
          <a:lvl1pPr algn="ctr">
            <a:defRPr sz="2400"/>
          </a:lvl1pPr>
          <a:lvl2pPr marL="171450" indent="-171450" algn="ctr">
            <a:defRPr sz="1800"/>
          </a:lvl2pPr>
          <a:lvl3pPr marL="342900" indent="-171450" algn="ctr">
            <a:defRPr sz="1800"/>
          </a:lvl3pPr>
          <a:lvl4pPr marL="514350" indent="-171450" algn="ctr">
            <a:defRPr sz="1800"/>
          </a:lvl4pPr>
          <a:lvl5pPr marL="685800" indent="-171450" algn="ctr">
            <a:defRPr sz="1800"/>
          </a:lvl5pPr>
          <a:lvl6pPr marL="857250" indent="-171450" algn="ctr">
            <a:defRPr sz="1800"/>
          </a:lvl6pPr>
          <a:lvl7pPr marL="1028700" indent="-171450" algn="ctr">
            <a:defRPr sz="1800"/>
          </a:lvl7pPr>
          <a:lvl8pPr marL="1200150" indent="-171450" algn="ctr">
            <a:defRPr sz="1800"/>
          </a:lvl8pPr>
          <a:lvl9pPr marL="1371600" indent="-171450" algn="ctr">
            <a:defRPr sz="1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体系结构</a:t>
          </a:r>
        </a:p>
      </dsp:txBody>
      <dsp:txXfrm>
        <a:off x="2083673" y="420608"/>
        <a:ext cx="1195864" cy="1195864"/>
      </dsp:txXfrm>
    </dsp:sp>
    <dsp:sp modelId="{0EEA513F-368F-429D-B181-8D03EF33D12E}">
      <dsp:nvSpPr>
        <dsp:cNvPr id="6" name="等于号 5"/>
        <dsp:cNvSpPr/>
      </dsp:nvSpPr>
      <dsp:spPr bwMode="white">
        <a:xfrm>
          <a:off x="1292968" y="671739"/>
          <a:ext cx="693601" cy="693601"/>
        </a:xfrm>
        <a:prstGeom prst="mathEqual">
          <a:avLst/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2600"/>
          </a:lvl1pPr>
          <a:lvl2pPr marL="228600" indent="-228600" algn="ctr">
            <a:defRPr sz="2000"/>
          </a:lvl2pPr>
          <a:lvl3pPr marL="457200" indent="-228600" algn="ctr">
            <a:defRPr sz="2000"/>
          </a:lvl3pPr>
          <a:lvl4pPr marL="685800" indent="-228600" algn="ctr">
            <a:defRPr sz="2000"/>
          </a:lvl4pPr>
          <a:lvl5pPr marL="914400" indent="-228600" algn="ctr">
            <a:defRPr sz="2000"/>
          </a:lvl5pPr>
          <a:lvl6pPr marL="1143000" indent="-228600" algn="ctr">
            <a:defRPr sz="2000"/>
          </a:lvl6pPr>
          <a:lvl7pPr marL="1371600" indent="-228600" algn="ctr">
            <a:defRPr sz="2000"/>
          </a:lvl7pPr>
          <a:lvl8pPr marL="1600200" indent="-228600" algn="ctr">
            <a:defRPr sz="2000"/>
          </a:lvl8pPr>
          <a:lvl9pPr marL="1828800" indent="-228600" algn="ctr">
            <a:defRPr sz="2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>
        <a:off x="1292968" y="671739"/>
        <a:ext cx="693601" cy="693601"/>
      </dsp:txXfrm>
    </dsp:sp>
    <dsp:sp modelId="{B586FDC3-05D8-4C83-99A7-65CA5D80A3D8}">
      <dsp:nvSpPr>
        <dsp:cNvPr id="7" name="椭圆 6"/>
        <dsp:cNvSpPr/>
      </dsp:nvSpPr>
      <dsp:spPr bwMode="white">
        <a:xfrm>
          <a:off x="0" y="420608"/>
          <a:ext cx="1195864" cy="1195864"/>
        </a:xfrm>
        <a:prstGeom prst="ellipse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30480" tIns="30480" rIns="30480" bIns="30480" anchor="ctr"/>
        <a:lstStyle>
          <a:lvl1pPr algn="ctr">
            <a:defRPr sz="2400"/>
          </a:lvl1pPr>
          <a:lvl2pPr marL="171450" indent="-171450" algn="ctr">
            <a:defRPr sz="1800"/>
          </a:lvl2pPr>
          <a:lvl3pPr marL="342900" indent="-171450" algn="ctr">
            <a:defRPr sz="1800"/>
          </a:lvl3pPr>
          <a:lvl4pPr marL="514350" indent="-171450" algn="ctr">
            <a:defRPr sz="1800"/>
          </a:lvl4pPr>
          <a:lvl5pPr marL="685800" indent="-171450" algn="ctr">
            <a:defRPr sz="1800"/>
          </a:lvl5pPr>
          <a:lvl6pPr marL="857250" indent="-171450" algn="ctr">
            <a:defRPr sz="1800"/>
          </a:lvl6pPr>
          <a:lvl7pPr marL="1028700" indent="-171450" algn="ctr">
            <a:defRPr sz="1800"/>
          </a:lvl7pPr>
          <a:lvl8pPr marL="1200150" indent="-171450" algn="ctr">
            <a:defRPr sz="1800"/>
          </a:lvl8pPr>
          <a:lvl9pPr marL="1371600" indent="-171450" algn="ctr">
            <a:defRPr sz="1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智能体</a:t>
          </a:r>
        </a:p>
      </dsp:txBody>
      <dsp:txXfrm>
        <a:off x="0" y="420608"/>
        <a:ext cx="1195864" cy="11958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equation1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choose name="Name0">
      <dgm:if name="Name1" func="var" arg="dir" op="equ" val="norm">
        <dgm:alg type="lin">
          <dgm:param type="fallback" val="2D"/>
        </dgm:alg>
      </dgm:if>
      <dgm:else name="Name2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fact="0.58"/>
      <dgm:constr type="primFontSz" for="ch" ptType="node" op="equ" val="65"/>
      <dgm:constr type="primFontSz" for="ch" ptType="sibTrans" op="equ" val="55"/>
      <dgm:constr type="primFontSz" for="ch" ptType="sibTrans" refType="primFontSz" refFor="ch" refPtType="node" op="lte" fact="0.8"/>
      <dgm:constr type="w" for="ch" forName="spacerL" refType="w" refFor="ch" refPtType="sibTrans" fact="0.14"/>
      <dgm:constr type="w" for="ch" forName="spacerR" refType="w" refFor="ch" refPtType="sibTrans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pacerL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ibTrans">
          <dgm:alg type="tx"/>
          <dgm:choose name="Name3">
            <dgm:if name="Name4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5">
              <dgm:shape xmlns:r="http://schemas.openxmlformats.org/officeDocument/2006/relationships" type="mathPlus" r:blip="">
                <dgm:adjLst/>
              </dgm:shape>
            </dgm:else>
          </dgm:choose>
          <dgm:presOf axis="self"/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spacer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eaLnBrk="1" hangingPunct="1">
              <a:defRPr sz="13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3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r" eaLnBrk="1" hangingPunct="1">
              <a:defRPr sz="13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3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eaLnBrk="1" hangingPunct="1">
              <a:defRPr sz="13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3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algn="r" eaLnBrk="1" hangingPunct="1">
              <a:defRPr sz="13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1F1AEF5-2645-4E6D-8B98-80FA55BAEDB2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eaLnBrk="1" hangingPunct="1">
              <a:defRPr sz="13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42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r" eaLnBrk="1" hangingPunct="1">
              <a:defRPr sz="13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8995" y="768350"/>
            <a:ext cx="6821312" cy="383698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242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42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eaLnBrk="1" hangingPunct="1">
              <a:defRPr sz="13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42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algn="r" eaLnBrk="1" hangingPunct="1">
              <a:defRPr sz="13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052761B-9AE3-4669-949D-73447411B8AE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48" tIns="49524" rIns="99048" bIns="49524" anchor="b" anchorCtr="0"/>
          <a:lstStyle/>
          <a:p>
            <a:pPr lvl="0" algn="r" eaLnBrk="1" hangingPunct="1"/>
            <a:fld id="{9A0DB2DC-4C9A-4742-B13C-FB6460FD3503}" type="slidenum">
              <a:rPr lang="zh-CN" altLang="en-US" sz="1300" dirty="0"/>
            </a:fld>
            <a:endParaRPr lang="zh-CN" altLang="en-US" sz="1300" dirty="0"/>
          </a:p>
        </p:txBody>
      </p:sp>
      <p:sp>
        <p:nvSpPr>
          <p:cNvPr id="6147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614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9048" tIns="49524" rIns="99048" bIns="49524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本章我们希望能解释</a:t>
            </a:r>
            <a:r>
              <a:rPr lang="en-US" altLang="zh-CN"/>
              <a:t> </a:t>
            </a:r>
            <a:r>
              <a:rPr lang="zh-CN" altLang="en-US"/>
              <a:t>为什么我们认为人工智能是一个最值得研究的学科，并希望能准确地界定什么是人工智能。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本章我们希望能解释</a:t>
            </a:r>
            <a:r>
              <a:rPr lang="en-US" altLang="zh-CN"/>
              <a:t> </a:t>
            </a:r>
            <a:r>
              <a:rPr lang="zh-CN" altLang="en-US"/>
              <a:t>为什么我们认为人工智能是一个最值得研究的学科，并希望能准确地界定什么是人工智能。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本章我们希望能解释</a:t>
            </a:r>
            <a:r>
              <a:rPr lang="en-US" altLang="zh-CN"/>
              <a:t> </a:t>
            </a:r>
            <a:r>
              <a:rPr lang="zh-CN" altLang="en-US"/>
              <a:t>为什么我们认为人工智能是一个最值得研究的学科，并希望能准确地界定什么是人工智能。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5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9048" tIns="49524" rIns="99048" bIns="49524" anchor="t" anchorCtr="0"/>
          <a:lstStyle/>
          <a:p>
            <a:pPr lvl="0"/>
            <a:r>
              <a:rPr lang="zh-CN" altLang="en-US" dirty="0">
                <a:latin typeface="Arial" panose="020B0604020202020204" pitchFamily="34" charset="0"/>
              </a:rPr>
              <a:t>表格？理性主体：做正确的事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48" tIns="49524" rIns="99048" bIns="49524" anchor="b" anchorCtr="0"/>
          <a:lstStyle/>
          <a:p>
            <a:pPr lvl="0" algn="r" eaLnBrk="1" hangingPunct="1"/>
            <a:fld id="{9A0DB2DC-4C9A-4742-B13C-FB6460FD3503}" type="slidenum">
              <a:rPr lang="en-US" altLang="zh-CN" sz="1300" dirty="0"/>
            </a:fld>
            <a:endParaRPr lang="en-US" altLang="zh-CN" sz="1300" dirty="0"/>
          </a:p>
        </p:txBody>
      </p:sp>
      <p:sp>
        <p:nvSpPr>
          <p:cNvPr id="21507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2150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9048" tIns="49524" rIns="99048" bIns="49524" anchor="t" anchorCtr="0"/>
          <a:lstStyle/>
          <a:p>
            <a:pPr lvl="0"/>
            <a:r>
              <a:rPr lang="zh-CN" altLang="en-US" dirty="0"/>
              <a:t>期望与意外；自主与增强学习，</a:t>
            </a:r>
            <a:r>
              <a:rPr lang="en-US" altLang="zh-CN" dirty="0"/>
              <a:t>checker program;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本章我们希望能解释</a:t>
            </a:r>
            <a:r>
              <a:rPr lang="en-US" altLang="zh-CN"/>
              <a:t> </a:t>
            </a:r>
            <a:r>
              <a:rPr lang="zh-CN" altLang="en-US"/>
              <a:t>为什么我们认为人工智能是一个最值得研究的学科，并希望能准确地界定什么是人工智能。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2457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48" tIns="49524" rIns="99048" bIns="49524" anchor="t" anchorCtr="0"/>
          <a:lstStyle/>
          <a:p>
            <a:pPr lvl="0"/>
            <a:endParaRPr lang="zh-CN" altLang="en-US" dirty="0"/>
          </a:p>
        </p:txBody>
      </p:sp>
      <p:sp>
        <p:nvSpPr>
          <p:cNvPr id="2458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48" tIns="49524" rIns="99048" bIns="49524" anchor="b" anchorCtr="0"/>
          <a:lstStyle/>
          <a:p>
            <a:pPr lvl="0" algn="r" eaLnBrk="1" hangingPunct="1"/>
            <a:fld id="{9A0DB2DC-4C9A-4742-B13C-FB6460FD3503}" type="slidenum">
              <a:rPr lang="zh-CN" altLang="en-US" sz="1300" dirty="0"/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本章我们希望能解释</a:t>
            </a:r>
            <a:r>
              <a:rPr lang="en-US" altLang="zh-CN"/>
              <a:t> </a:t>
            </a:r>
            <a:r>
              <a:rPr lang="zh-CN" altLang="en-US"/>
              <a:t>为什么我们认为人工智能是一个最值得研究的学科，并希望能准确地界定什么是人工智能。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纯比例控制器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状态空间控制器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带设定值跟踪的</a:t>
            </a:r>
            <a:r>
              <a:rPr lang="en-US" altLang="zh-CN" dirty="0"/>
              <a:t>ss</a:t>
            </a:r>
            <a:r>
              <a:rPr lang="zh-CN" altLang="en-US"/>
              <a:t>控制器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https://www.guayunfan.com/lilun/560715.html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https://www.guayunfan.com/lilun/560716.html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前面讨论的四类都可以归为learning agent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原子表示法（Atomic representation）：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在这种情况下，状态存储为黑箱，即没有任何内部结构。例如，对于Roomba（机器人真空吸尘器），内部状态是已经进行了真空的补丁，您不必了解任何其他内容。这种表示适用于基于模型和目标的智能体，并用于各种AI算法，例如搜索问题和对抗游戏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因素化表示法（Factored Representation）：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在这种表示中，状态不再是黑箱。它现在具有属性值对，也称为可以包含值的变量。例如，在找到一条路线时，你有GPS位置以及油箱中的油量值。这为问题增加了一个约束。这种表示适用于基于目标的智能体，并用于各种AI算法，如约束满足（constraint satisfaction）和贝叶斯网络（bayesian networks）。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结构化表示法（Structured Representation）：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在这种表示中，我们在变量/因子状态之间有关系，这在AI算法中引发逻辑。例如，在自然语言处理中，陈述是否在语句中包含对某人的引用，以及该语句中的形容词是否形容该人。这些陈述关系将决定这个陈述是否是讽刺的（sarcastic）。这是高级别的人工智能，用于一阶逻辑、基于知识的学习和自然语言理解的算法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0" Type="http://schemas.openxmlformats.org/officeDocument/2006/relationships/tags" Target="../tags/tag90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0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07.xml"/><Relationship Id="rId8" Type="http://schemas.openxmlformats.org/officeDocument/2006/relationships/tags" Target="../tags/tag106.xml"/><Relationship Id="rId7" Type="http://schemas.openxmlformats.org/officeDocument/2006/relationships/tags" Target="../tags/tag105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115.xml"/><Relationship Id="rId8" Type="http://schemas.openxmlformats.org/officeDocument/2006/relationships/tags" Target="../tags/tag114.xml"/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0" Type="http://schemas.openxmlformats.org/officeDocument/2006/relationships/tags" Target="../tags/tag116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136.xml"/><Relationship Id="rId8" Type="http://schemas.openxmlformats.org/officeDocument/2006/relationships/tags" Target="../tags/tag135.xml"/><Relationship Id="rId7" Type="http://schemas.openxmlformats.org/officeDocument/2006/relationships/tags" Target="../tags/tag134.xml"/><Relationship Id="rId6" Type="http://schemas.openxmlformats.org/officeDocument/2006/relationships/tags" Target="../tags/tag133.xml"/><Relationship Id="rId5" Type="http://schemas.openxmlformats.org/officeDocument/2006/relationships/tags" Target="../tags/tag132.xml"/><Relationship Id="rId4" Type="http://schemas.openxmlformats.org/officeDocument/2006/relationships/tags" Target="../tags/tag131.xml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4" Type="http://schemas.openxmlformats.org/officeDocument/2006/relationships/tags" Target="../tags/tag141.xml"/><Relationship Id="rId13" Type="http://schemas.openxmlformats.org/officeDocument/2006/relationships/tags" Target="../tags/tag140.xml"/><Relationship Id="rId12" Type="http://schemas.openxmlformats.org/officeDocument/2006/relationships/tags" Target="../tags/tag139.xml"/><Relationship Id="rId11" Type="http://schemas.openxmlformats.org/officeDocument/2006/relationships/tags" Target="../tags/tag138.xml"/><Relationship Id="rId10" Type="http://schemas.openxmlformats.org/officeDocument/2006/relationships/tags" Target="../tags/tag137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7" Type="http://schemas.openxmlformats.org/officeDocument/2006/relationships/tags" Target="../tags/tag152.xml"/><Relationship Id="rId6" Type="http://schemas.openxmlformats.org/officeDocument/2006/relationships/tags" Target="../tags/tag151.xml"/><Relationship Id="rId5" Type="http://schemas.openxmlformats.org/officeDocument/2006/relationships/tags" Target="../tags/tag150.xml"/><Relationship Id="rId4" Type="http://schemas.openxmlformats.org/officeDocument/2006/relationships/tags" Target="../tags/tag149.xml"/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7" Type="http://schemas.openxmlformats.org/officeDocument/2006/relationships/tags" Target="../tags/tag158.xml"/><Relationship Id="rId6" Type="http://schemas.openxmlformats.org/officeDocument/2006/relationships/tags" Target="../tags/tag157.xml"/><Relationship Id="rId5" Type="http://schemas.openxmlformats.org/officeDocument/2006/relationships/tags" Target="../tags/tag156.xml"/><Relationship Id="rId4" Type="http://schemas.openxmlformats.org/officeDocument/2006/relationships/tags" Target="../tags/tag155.xml"/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166.xml"/><Relationship Id="rId8" Type="http://schemas.openxmlformats.org/officeDocument/2006/relationships/tags" Target="../tags/tag165.xml"/><Relationship Id="rId7" Type="http://schemas.openxmlformats.org/officeDocument/2006/relationships/tags" Target="../tags/tag164.xml"/><Relationship Id="rId6" Type="http://schemas.openxmlformats.org/officeDocument/2006/relationships/tags" Target="../tags/tag163.xml"/><Relationship Id="rId5" Type="http://schemas.openxmlformats.org/officeDocument/2006/relationships/tags" Target="../tags/tag162.xml"/><Relationship Id="rId4" Type="http://schemas.openxmlformats.org/officeDocument/2006/relationships/tags" Target="../tags/tag161.xml"/><Relationship Id="rId3" Type="http://schemas.openxmlformats.org/officeDocument/2006/relationships/tags" Target="../tags/tag160.xml"/><Relationship Id="rId2" Type="http://schemas.openxmlformats.org/officeDocument/2006/relationships/tags" Target="../tags/tag159.xml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5" Type="http://schemas.openxmlformats.org/officeDocument/2006/relationships/tags" Target="../tags/tag170.xml"/><Relationship Id="rId4" Type="http://schemas.openxmlformats.org/officeDocument/2006/relationships/tags" Target="../tags/tag169.xml"/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4" Type="http://schemas.openxmlformats.org/officeDocument/2006/relationships/tags" Target="../tags/tag173.xml"/><Relationship Id="rId3" Type="http://schemas.openxmlformats.org/officeDocument/2006/relationships/tags" Target="../tags/tag172.xml"/><Relationship Id="rId2" Type="http://schemas.openxmlformats.org/officeDocument/2006/relationships/tags" Target="../tags/tag171.xml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7" Type="http://schemas.openxmlformats.org/officeDocument/2006/relationships/tags" Target="../tags/tag179.xml"/><Relationship Id="rId6" Type="http://schemas.openxmlformats.org/officeDocument/2006/relationships/tags" Target="../tags/tag178.xml"/><Relationship Id="rId5" Type="http://schemas.openxmlformats.org/officeDocument/2006/relationships/tags" Target="../tags/tag177.xml"/><Relationship Id="rId4" Type="http://schemas.openxmlformats.org/officeDocument/2006/relationships/tags" Target="../tags/tag176.xml"/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6" Type="http://schemas.openxmlformats.org/officeDocument/2006/relationships/tags" Target="../tags/tag184.xml"/><Relationship Id="rId5" Type="http://schemas.openxmlformats.org/officeDocument/2006/relationships/tags" Target="../tags/tag183.xml"/><Relationship Id="rId4" Type="http://schemas.openxmlformats.org/officeDocument/2006/relationships/tags" Target="../tags/tag182.xml"/><Relationship Id="rId3" Type="http://schemas.openxmlformats.org/officeDocument/2006/relationships/tags" Target="../tags/tag181.xml"/><Relationship Id="rId2" Type="http://schemas.openxmlformats.org/officeDocument/2006/relationships/tags" Target="../tags/tag180.xml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5" Type="http://schemas.openxmlformats.org/officeDocument/2006/relationships/tags" Target="../tags/tag188.xml"/><Relationship Id="rId4" Type="http://schemas.openxmlformats.org/officeDocument/2006/relationships/tags" Target="../tags/tag187.xml"/><Relationship Id="rId3" Type="http://schemas.openxmlformats.org/officeDocument/2006/relationships/tags" Target="../tags/tag186.xml"/><Relationship Id="rId2" Type="http://schemas.openxmlformats.org/officeDocument/2006/relationships/tags" Target="../tags/tag185.xml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9" Type="http://schemas.openxmlformats.org/officeDocument/2006/relationships/tags" Target="../tags/tag196.xml"/><Relationship Id="rId8" Type="http://schemas.openxmlformats.org/officeDocument/2006/relationships/tags" Target="../tags/tag195.xml"/><Relationship Id="rId7" Type="http://schemas.openxmlformats.org/officeDocument/2006/relationships/tags" Target="../tags/tag194.xml"/><Relationship Id="rId6" Type="http://schemas.openxmlformats.org/officeDocument/2006/relationships/tags" Target="../tags/tag193.xml"/><Relationship Id="rId5" Type="http://schemas.openxmlformats.org/officeDocument/2006/relationships/tags" Target="../tags/tag192.xml"/><Relationship Id="rId4" Type="http://schemas.openxmlformats.org/officeDocument/2006/relationships/tags" Target="../tags/tag191.xml"/><Relationship Id="rId3" Type="http://schemas.openxmlformats.org/officeDocument/2006/relationships/tags" Target="../tags/tag190.xml"/><Relationship Id="rId2" Type="http://schemas.openxmlformats.org/officeDocument/2006/relationships/tags" Target="../tags/tag189.xml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7" Type="http://schemas.openxmlformats.org/officeDocument/2006/relationships/tags" Target="../tags/tag202.xml"/><Relationship Id="rId6" Type="http://schemas.openxmlformats.org/officeDocument/2006/relationships/tags" Target="../tags/tag201.xml"/><Relationship Id="rId5" Type="http://schemas.openxmlformats.org/officeDocument/2006/relationships/tags" Target="../tags/tag200.xml"/><Relationship Id="rId4" Type="http://schemas.openxmlformats.org/officeDocument/2006/relationships/tags" Target="../tags/tag199.xml"/><Relationship Id="rId3" Type="http://schemas.openxmlformats.org/officeDocument/2006/relationships/tags" Target="../tags/tag198.xml"/><Relationship Id="rId2" Type="http://schemas.openxmlformats.org/officeDocument/2006/relationships/tags" Target="../tags/tag197.xml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tags" Target="../tags/tag209.xml"/><Relationship Id="rId7" Type="http://schemas.openxmlformats.org/officeDocument/2006/relationships/tags" Target="../tags/tag208.xml"/><Relationship Id="rId6" Type="http://schemas.openxmlformats.org/officeDocument/2006/relationships/tags" Target="../tags/tag207.xml"/><Relationship Id="rId5" Type="http://schemas.openxmlformats.org/officeDocument/2006/relationships/tags" Target="../tags/tag206.xml"/><Relationship Id="rId4" Type="http://schemas.openxmlformats.org/officeDocument/2006/relationships/tags" Target="../tags/tag205.xml"/><Relationship Id="rId3" Type="http://schemas.openxmlformats.org/officeDocument/2006/relationships/tags" Target="../tags/tag204.xml"/><Relationship Id="rId2" Type="http://schemas.openxmlformats.org/officeDocument/2006/relationships/tags" Target="../tags/tag203.xml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9" Type="http://schemas.openxmlformats.org/officeDocument/2006/relationships/tags" Target="../tags/tag217.xml"/><Relationship Id="rId8" Type="http://schemas.openxmlformats.org/officeDocument/2006/relationships/tags" Target="../tags/tag216.xml"/><Relationship Id="rId7" Type="http://schemas.openxmlformats.org/officeDocument/2006/relationships/tags" Target="../tags/tag215.xml"/><Relationship Id="rId6" Type="http://schemas.openxmlformats.org/officeDocument/2006/relationships/tags" Target="../tags/tag214.xml"/><Relationship Id="rId5" Type="http://schemas.openxmlformats.org/officeDocument/2006/relationships/tags" Target="../tags/tag213.xml"/><Relationship Id="rId4" Type="http://schemas.openxmlformats.org/officeDocument/2006/relationships/tags" Target="../tags/tag212.xml"/><Relationship Id="rId3" Type="http://schemas.openxmlformats.org/officeDocument/2006/relationships/tags" Target="../tags/tag211.xml"/><Relationship Id="rId2" Type="http://schemas.openxmlformats.org/officeDocument/2006/relationships/tags" Target="../tags/tag210.xml"/><Relationship Id="rId10" Type="http://schemas.openxmlformats.org/officeDocument/2006/relationships/tags" Target="../tags/tag218.xml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9" Type="http://schemas.openxmlformats.org/officeDocument/2006/relationships/tags" Target="../tags/tag226.xml"/><Relationship Id="rId8" Type="http://schemas.openxmlformats.org/officeDocument/2006/relationships/tags" Target="../tags/tag225.xml"/><Relationship Id="rId7" Type="http://schemas.openxmlformats.org/officeDocument/2006/relationships/tags" Target="../tags/tag224.xml"/><Relationship Id="rId6" Type="http://schemas.openxmlformats.org/officeDocument/2006/relationships/tags" Target="../tags/tag223.xml"/><Relationship Id="rId5" Type="http://schemas.openxmlformats.org/officeDocument/2006/relationships/tags" Target="../tags/tag222.xml"/><Relationship Id="rId4" Type="http://schemas.openxmlformats.org/officeDocument/2006/relationships/tags" Target="../tags/tag221.xml"/><Relationship Id="rId3" Type="http://schemas.openxmlformats.org/officeDocument/2006/relationships/tags" Target="../tags/tag220.xml"/><Relationship Id="rId2" Type="http://schemas.openxmlformats.org/officeDocument/2006/relationships/tags" Target="../tags/tag219.xml"/><Relationship Id="rId10" Type="http://schemas.openxmlformats.org/officeDocument/2006/relationships/tags" Target="../tags/tag227.xml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9" Type="http://schemas.openxmlformats.org/officeDocument/2006/relationships/tags" Target="../tags/tag235.xml"/><Relationship Id="rId8" Type="http://schemas.openxmlformats.org/officeDocument/2006/relationships/tags" Target="../tags/tag234.xml"/><Relationship Id="rId7" Type="http://schemas.openxmlformats.org/officeDocument/2006/relationships/tags" Target="../tags/tag233.xml"/><Relationship Id="rId6" Type="http://schemas.openxmlformats.org/officeDocument/2006/relationships/tags" Target="../tags/tag232.xml"/><Relationship Id="rId5" Type="http://schemas.openxmlformats.org/officeDocument/2006/relationships/tags" Target="../tags/tag231.xml"/><Relationship Id="rId4" Type="http://schemas.openxmlformats.org/officeDocument/2006/relationships/tags" Target="../tags/tag230.xml"/><Relationship Id="rId3" Type="http://schemas.openxmlformats.org/officeDocument/2006/relationships/tags" Target="../tags/tag229.xml"/><Relationship Id="rId2" Type="http://schemas.openxmlformats.org/officeDocument/2006/relationships/tags" Target="../tags/tag228.xml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9" Type="http://schemas.openxmlformats.org/officeDocument/2006/relationships/tags" Target="../tags/tag243.xml"/><Relationship Id="rId8" Type="http://schemas.openxmlformats.org/officeDocument/2006/relationships/tags" Target="../tags/tag242.xml"/><Relationship Id="rId7" Type="http://schemas.openxmlformats.org/officeDocument/2006/relationships/tags" Target="../tags/tag241.xml"/><Relationship Id="rId6" Type="http://schemas.openxmlformats.org/officeDocument/2006/relationships/tags" Target="../tags/tag240.xml"/><Relationship Id="rId5" Type="http://schemas.openxmlformats.org/officeDocument/2006/relationships/tags" Target="../tags/tag239.xml"/><Relationship Id="rId4" Type="http://schemas.openxmlformats.org/officeDocument/2006/relationships/tags" Target="../tags/tag238.xml"/><Relationship Id="rId3" Type="http://schemas.openxmlformats.org/officeDocument/2006/relationships/tags" Target="../tags/tag237.xml"/><Relationship Id="rId2" Type="http://schemas.openxmlformats.org/officeDocument/2006/relationships/tags" Target="../tags/tag236.xml"/><Relationship Id="rId10" Type="http://schemas.openxmlformats.org/officeDocument/2006/relationships/tags" Target="../tags/tag244.xml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7" Type="http://schemas.openxmlformats.org/officeDocument/2006/relationships/tags" Target="../tags/tag250.xml"/><Relationship Id="rId6" Type="http://schemas.openxmlformats.org/officeDocument/2006/relationships/tags" Target="../tags/tag249.xml"/><Relationship Id="rId5" Type="http://schemas.openxmlformats.org/officeDocument/2006/relationships/tags" Target="../tags/tag248.xml"/><Relationship Id="rId4" Type="http://schemas.openxmlformats.org/officeDocument/2006/relationships/tags" Target="../tags/tag247.xml"/><Relationship Id="rId3" Type="http://schemas.openxmlformats.org/officeDocument/2006/relationships/tags" Target="../tags/tag246.xml"/><Relationship Id="rId2" Type="http://schemas.openxmlformats.org/officeDocument/2006/relationships/tags" Target="../tags/tag245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6803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02167" y="6245225"/>
            <a:ext cx="305223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305223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0CA9D75-F0E5-412C-98E7-AF2F77B1B7F2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FAE48CB-1D52-475D-A40D-E4113AD9FBF4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FAE48CB-1D52-475D-A40D-E4113AD9FBF4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02167" y="1752600"/>
            <a:ext cx="5592233" cy="4270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752600"/>
            <a:ext cx="5592233" cy="4270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FAE48CB-1D52-475D-A40D-E4113AD9FBF4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FAE48CB-1D52-475D-A40D-E4113AD9FBF4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FAE48CB-1D52-475D-A40D-E4113AD9FBF4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FAE48CB-1D52-475D-A40D-E4113AD9FBF4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FAE48CB-1D52-475D-A40D-E4113AD9FBF4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FAE48CB-1D52-475D-A40D-E4113AD9FBF4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FAE48CB-1D52-475D-A40D-E4113AD9FBF4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42917" y="381000"/>
            <a:ext cx="2846916" cy="5641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02167" y="381000"/>
            <a:ext cx="8337551" cy="5641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FAE48CB-1D52-475D-A40D-E4113AD9FBF4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2167" y="381000"/>
            <a:ext cx="1138766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02167" y="1752600"/>
            <a:ext cx="5592233" cy="4270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752600"/>
            <a:ext cx="5592233" cy="4270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FAE48CB-1D52-475D-A40D-E4113AD9FBF4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274320" y="812576"/>
            <a:ext cx="11683455" cy="294789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" dirty="0">
              <a:solidFill>
                <a:schemeClr val="lt1"/>
              </a:solidFill>
              <a:highlight>
                <a:srgbClr val="1171F1"/>
              </a:highlight>
            </a:endParaRPr>
          </a:p>
        </p:txBody>
      </p:sp>
      <p:sp>
        <p:nvSpPr>
          <p:cNvPr id="8" name="任意形状 8"/>
          <p:cNvSpPr/>
          <p:nvPr userDrawn="1">
            <p:custDataLst>
              <p:tags r:id="rId3"/>
            </p:custDataLst>
          </p:nvPr>
        </p:nvSpPr>
        <p:spPr>
          <a:xfrm>
            <a:off x="9490237" y="621663"/>
            <a:ext cx="2464999" cy="1802423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99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solidFill>
                <a:schemeClr val="lt1"/>
              </a:solidFill>
              <a:highlight>
                <a:srgbClr val="1171F1"/>
              </a:highlight>
            </a:endParaRPr>
          </a:p>
        </p:txBody>
      </p:sp>
      <p:sp>
        <p:nvSpPr>
          <p:cNvPr id="9" name="任意形状 9"/>
          <p:cNvSpPr/>
          <p:nvPr userDrawn="1">
            <p:custDataLst>
              <p:tags r:id="rId4"/>
            </p:custDataLst>
          </p:nvPr>
        </p:nvSpPr>
        <p:spPr>
          <a:xfrm rot="10800000">
            <a:off x="261015" y="2641685"/>
            <a:ext cx="1887415" cy="138009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solidFill>
                <a:schemeClr val="lt1"/>
              </a:solidFill>
              <a:highlight>
                <a:srgbClr val="1171F1"/>
              </a:highlight>
            </a:endParaRPr>
          </a:p>
        </p:txBody>
      </p:sp>
      <p:sp>
        <p:nvSpPr>
          <p:cNvPr id="10" name="矩形 9"/>
          <p:cNvSpPr/>
          <p:nvPr userDrawn="1">
            <p:custDataLst>
              <p:tags r:id="rId5"/>
            </p:custDataLst>
          </p:nvPr>
        </p:nvSpPr>
        <p:spPr>
          <a:xfrm>
            <a:off x="9471025" y="6264275"/>
            <a:ext cx="1800225" cy="57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>
              <a:solidFill>
                <a:schemeClr val="lt1"/>
              </a:solidFill>
            </a:endParaRPr>
          </a:p>
        </p:txBody>
      </p:sp>
      <p:sp>
        <p:nvSpPr>
          <p:cNvPr id="11" name="矩形 10"/>
          <p:cNvSpPr/>
          <p:nvPr userDrawn="1">
            <p:custDataLst>
              <p:tags r:id="rId6"/>
            </p:custDataLst>
          </p:nvPr>
        </p:nvSpPr>
        <p:spPr>
          <a:xfrm flipV="1">
            <a:off x="750571" y="6315075"/>
            <a:ext cx="715645" cy="57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>
              <a:solidFill>
                <a:schemeClr val="lt1"/>
              </a:solidFill>
            </a:endParaRPr>
          </a:p>
        </p:txBody>
      </p:sp>
      <p:sp>
        <p:nvSpPr>
          <p:cNvPr id="12" name="矩形 11"/>
          <p:cNvSpPr/>
          <p:nvPr userDrawn="1">
            <p:custDataLst>
              <p:tags r:id="rId7"/>
            </p:custDataLst>
          </p:nvPr>
        </p:nvSpPr>
        <p:spPr>
          <a:xfrm>
            <a:off x="1555115" y="6316345"/>
            <a:ext cx="88900" cy="57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>
              <a:solidFill>
                <a:schemeClr val="lt1"/>
              </a:solidFill>
            </a:endParaRPr>
          </a:p>
        </p:txBody>
      </p:sp>
      <p:sp>
        <p:nvSpPr>
          <p:cNvPr id="13" name="矩形 12"/>
          <p:cNvSpPr/>
          <p:nvPr userDrawn="1">
            <p:custDataLst>
              <p:tags r:id="rId8"/>
            </p:custDataLst>
          </p:nvPr>
        </p:nvSpPr>
        <p:spPr>
          <a:xfrm>
            <a:off x="1731011" y="6316345"/>
            <a:ext cx="253365" cy="57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>
              <a:solidFill>
                <a:schemeClr val="lt1"/>
              </a:solidFill>
            </a:endParaRP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2"/>
            </p:custDataLst>
          </p:nvPr>
        </p:nvSpPr>
        <p:spPr>
          <a:xfrm>
            <a:off x="883644" y="1046220"/>
            <a:ext cx="9144000" cy="1422559"/>
          </a:xfrm>
        </p:spPr>
        <p:txBody>
          <a:bodyPr lIns="91440" tIns="45720" rIns="91440" bIns="0" anchor="b" anchorCtr="0">
            <a:normAutofit/>
          </a:bodyPr>
          <a:lstStyle>
            <a:lvl1pPr algn="l">
              <a:defRPr sz="4950" b="1" spc="600" baseline="0">
                <a:latin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3"/>
            </p:custDataLst>
          </p:nvPr>
        </p:nvSpPr>
        <p:spPr>
          <a:xfrm>
            <a:off x="883643" y="3128804"/>
            <a:ext cx="9144000" cy="667703"/>
          </a:xfrm>
        </p:spPr>
        <p:txBody>
          <a:bodyPr lIns="91440" tIns="0" rIns="91440" bIns="4572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180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4"/>
            </p:custDataLst>
          </p:nvPr>
        </p:nvSpPr>
        <p:spPr>
          <a:xfrm>
            <a:off x="883644" y="5122890"/>
            <a:ext cx="3365431" cy="434743"/>
          </a:xfrm>
        </p:spPr>
        <p:txBody>
          <a:bodyPr lIns="91440" tIns="45720" rIns="91440" bIns="45720">
            <a:normAutofit/>
          </a:bodyPr>
          <a:lstStyle>
            <a:lvl1pPr marL="0" indent="0">
              <a:buNone/>
              <a:defRPr sz="180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1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1" y="1626121"/>
            <a:ext cx="10852237" cy="404168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6474460"/>
            <a:ext cx="12249151" cy="3835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676775" y="2175010"/>
            <a:ext cx="6243775" cy="691516"/>
          </a:xfrm>
        </p:spPr>
        <p:txBody>
          <a:bodyPr lIns="91440" tIns="45720" rIns="91440" bIns="0" anchor="b" anchorCtr="0">
            <a:normAutofit/>
          </a:bodyPr>
          <a:lstStyle>
            <a:lvl1pPr>
              <a:defRPr sz="4050" u="none" strike="noStrike" kern="1200" cap="none" spc="3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4676775" y="3277722"/>
            <a:ext cx="6243775" cy="1050755"/>
          </a:xfrm>
        </p:spPr>
        <p:txBody>
          <a:bodyPr lIns="91440" tIns="0" rIns="91440" bIns="45720">
            <a:normAutofit/>
          </a:bodyPr>
          <a:lstStyle>
            <a:lvl1pPr marL="0" indent="0" eaLnBrk="1" fontAlgn="auto" latinLnBrk="0" hangingPunct="1">
              <a:buNone/>
              <a:defRPr kumimoji="0" lang="zh-CN" altLang="en-US" sz="1350" b="0" i="0" u="none" strike="noStrike" kern="1200" cap="none" spc="15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1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76280" y="1626121"/>
            <a:ext cx="5283243" cy="404168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45227" y="1626121"/>
            <a:ext cx="5283243" cy="4041680"/>
          </a:xfrm>
        </p:spPr>
        <p:txBody>
          <a:bodyPr>
            <a:noAutofit/>
          </a:bodyPr>
          <a:lstStyle>
            <a:lvl1pP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1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29" y="1000133"/>
            <a:ext cx="5283243" cy="285752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2023369"/>
            <a:ext cx="5283200" cy="370106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49" y="1000133"/>
            <a:ext cx="5283243" cy="285752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49" y="2023369"/>
            <a:ext cx="5283243" cy="370106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1" y="498476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29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29" y="1626121"/>
            <a:ext cx="5283243" cy="404168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1626121"/>
            <a:ext cx="5283243" cy="4041680"/>
          </a:xfrm>
        </p:spPr>
        <p:txBody>
          <a:bodyPr vert="horz" lIns="101600" tIns="0" rIns="82550" bIns="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1626121"/>
            <a:ext cx="950984" cy="4041680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1626113"/>
            <a:ext cx="9828101" cy="4041680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29" y="1626121"/>
            <a:ext cx="10852237" cy="404168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2"/>
            </p:custDataLst>
          </p:nvPr>
        </p:nvSpPr>
        <p:spPr>
          <a:xfrm>
            <a:off x="266065" y="1018064"/>
            <a:ext cx="11683365" cy="4226243"/>
          </a:xfrm>
          <a:prstGeom prst="rect">
            <a:avLst/>
          </a:prstGeom>
          <a:solidFill>
            <a:schemeClr val="tx2"/>
          </a:solidFill>
          <a:ln w="28575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9" name="矩形 8"/>
          <p:cNvSpPr/>
          <p:nvPr userDrawn="1">
            <p:custDataLst>
              <p:tags r:id="rId3"/>
            </p:custDataLst>
          </p:nvPr>
        </p:nvSpPr>
        <p:spPr>
          <a:xfrm>
            <a:off x="1422400" y="4065588"/>
            <a:ext cx="5283200" cy="9525"/>
          </a:xfrm>
          <a:prstGeom prst="rect">
            <a:avLst/>
          </a:prstGeom>
          <a:solidFill>
            <a:schemeClr val="accent1">
              <a:lumMod val="50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7" name="任意形状 8"/>
          <p:cNvSpPr/>
          <p:nvPr userDrawn="1">
            <p:custDataLst>
              <p:tags r:id="rId4"/>
            </p:custDataLst>
          </p:nvPr>
        </p:nvSpPr>
        <p:spPr>
          <a:xfrm>
            <a:off x="9480712" y="613408"/>
            <a:ext cx="2464999" cy="1802423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8" name="任意形状 9"/>
          <p:cNvSpPr/>
          <p:nvPr userDrawn="1">
            <p:custDataLst>
              <p:tags r:id="rId5"/>
            </p:custDataLst>
          </p:nvPr>
        </p:nvSpPr>
        <p:spPr>
          <a:xfrm rot="10800000">
            <a:off x="261015" y="4343043"/>
            <a:ext cx="1887415" cy="138009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99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1320799" y="2577631"/>
            <a:ext cx="6653601" cy="1205503"/>
          </a:xfrm>
        </p:spPr>
        <p:txBody>
          <a:bodyPr vert="horz" lIns="91440" tIns="45720" rIns="9144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72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2"/>
            </p:custDataLst>
          </p:nvPr>
        </p:nvSpPr>
        <p:spPr>
          <a:xfrm>
            <a:off x="9727092" y="-51"/>
            <a:ext cx="2464999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6" name="任意形状 8"/>
          <p:cNvSpPr/>
          <p:nvPr userDrawn="1">
            <p:custDataLst>
              <p:tags r:id="rId3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69881" y="498476"/>
            <a:ext cx="10852237" cy="331473"/>
          </a:xfrm>
        </p:spPr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63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600" y="1339650"/>
            <a:ext cx="9626400" cy="542700"/>
          </a:xfrm>
        </p:spPr>
        <p:txBody>
          <a:bodyPr anchor="ctr">
            <a:normAutofit/>
          </a:bodyPr>
          <a:lstStyle>
            <a:lvl1pPr>
              <a:defRPr sz="24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113" y="2594250"/>
            <a:ext cx="9626600" cy="25839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" dirty="0">
              <a:sym typeface="+mn-ea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3"/>
            </p:custDataLst>
          </p:nvPr>
        </p:nvSpPr>
        <p:spPr>
          <a:xfrm rot="16200000">
            <a:off x="-1" y="4183"/>
            <a:ext cx="2322407" cy="1273969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10" name="任意形状 9"/>
          <p:cNvSpPr/>
          <p:nvPr userDrawn="1">
            <p:custDataLst>
              <p:tags r:id="rId4"/>
            </p:custDataLst>
          </p:nvPr>
        </p:nvSpPr>
        <p:spPr>
          <a:xfrm rot="10800000">
            <a:off x="0" y="5913755"/>
            <a:ext cx="976631" cy="95250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3200" y="880650"/>
            <a:ext cx="3960000" cy="661500"/>
          </a:xfrm>
        </p:spPr>
        <p:txBody>
          <a:bodyPr anchor="ctr">
            <a:normAutofit/>
          </a:bodyPr>
          <a:lstStyle>
            <a:lvl1pPr>
              <a:defRPr sz="27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586800" y="2275650"/>
            <a:ext cx="3956400" cy="30699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5101200" y="1405930"/>
            <a:ext cx="6480000" cy="3815953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3825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">
              <a:sym typeface="+mn-ea"/>
            </a:endParaRPr>
          </a:p>
        </p:txBody>
      </p:sp>
      <p:sp>
        <p:nvSpPr>
          <p:cNvPr id="8" name="任意形状 9"/>
          <p:cNvSpPr/>
          <p:nvPr userDrawn="1">
            <p:custDataLst>
              <p:tags r:id="rId3"/>
            </p:custDataLst>
          </p:nvPr>
        </p:nvSpPr>
        <p:spPr>
          <a:xfrm rot="16200000">
            <a:off x="-3143" y="0"/>
            <a:ext cx="1658620" cy="910114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6" name="任意形状 8"/>
          <p:cNvSpPr/>
          <p:nvPr userDrawn="1">
            <p:custDataLst>
              <p:tags r:id="rId4"/>
            </p:custDataLst>
          </p:nvPr>
        </p:nvSpPr>
        <p:spPr>
          <a:xfrm>
            <a:off x="10344785" y="0"/>
            <a:ext cx="1847215" cy="1801495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12000" y="859500"/>
            <a:ext cx="10976400" cy="469800"/>
          </a:xfrm>
        </p:spPr>
        <p:txBody>
          <a:bodyPr anchor="ctr">
            <a:normAutofit/>
          </a:bodyPr>
          <a:lstStyle>
            <a:lvl1pPr algn="ctr">
              <a:defRPr sz="27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612000" y="1763100"/>
            <a:ext cx="10975975" cy="621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12775" y="3236850"/>
            <a:ext cx="10965600" cy="25731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3811" y="5029201"/>
            <a:ext cx="12192000" cy="1828799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">
              <a:sym typeface="+mn-ea"/>
            </a:endParaRPr>
          </a:p>
        </p:txBody>
      </p:sp>
      <p:sp>
        <p:nvSpPr>
          <p:cNvPr id="10" name="任意形状 9"/>
          <p:cNvSpPr/>
          <p:nvPr userDrawn="1">
            <p:custDataLst>
              <p:tags r:id="rId3"/>
            </p:custDataLst>
          </p:nvPr>
        </p:nvSpPr>
        <p:spPr>
          <a:xfrm rot="10800000">
            <a:off x="3809" y="5905500"/>
            <a:ext cx="976631" cy="95250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4800" y="740250"/>
            <a:ext cx="10976400" cy="423900"/>
          </a:xfrm>
        </p:spPr>
        <p:txBody>
          <a:bodyPr anchor="ctr">
            <a:normAutofit/>
          </a:bodyPr>
          <a:lstStyle>
            <a:lvl1pPr algn="ctr">
              <a:defRPr sz="24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04837" y="2082600"/>
            <a:ext cx="10990800" cy="24084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594000" y="5306850"/>
            <a:ext cx="11001600" cy="7587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-3492"/>
            <a:ext cx="12192000" cy="914400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79755" y="258207"/>
            <a:ext cx="11037571" cy="391001"/>
          </a:xfrm>
        </p:spPr>
        <p:txBody>
          <a:bodyPr>
            <a:noAutofit/>
          </a:bodyPr>
          <a:lstStyle>
            <a:lvl1pPr>
              <a:defRPr sz="21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579600" y="2025000"/>
            <a:ext cx="5342400" cy="21708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2400" y="2025000"/>
            <a:ext cx="5367600" cy="21708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400" y="4914450"/>
            <a:ext cx="5342400" cy="5859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3200" y="4910850"/>
            <a:ext cx="5367600" cy="5859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1576668"/>
            <a:ext cx="12192000" cy="3704665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22800" y="1637550"/>
            <a:ext cx="9144000" cy="1790100"/>
          </a:xfrm>
        </p:spPr>
        <p:txBody>
          <a:bodyPr anchor="b">
            <a:normAutofit/>
          </a:bodyPr>
          <a:lstStyle>
            <a:lvl1pPr algn="ctr">
              <a:defRPr sz="45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1522413" y="4069800"/>
            <a:ext cx="9144000" cy="1242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274320" y="812576"/>
            <a:ext cx="11683455" cy="294789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8" name="任意形状 8"/>
          <p:cNvSpPr/>
          <p:nvPr userDrawn="1">
            <p:custDataLst>
              <p:tags r:id="rId3"/>
            </p:custDataLst>
          </p:nvPr>
        </p:nvSpPr>
        <p:spPr>
          <a:xfrm>
            <a:off x="9490237" y="621663"/>
            <a:ext cx="2464999" cy="1802423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99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9" name="任意形状 9"/>
          <p:cNvSpPr/>
          <p:nvPr userDrawn="1">
            <p:custDataLst>
              <p:tags r:id="rId4"/>
            </p:custDataLst>
          </p:nvPr>
        </p:nvSpPr>
        <p:spPr>
          <a:xfrm rot="10800000">
            <a:off x="261015" y="2641685"/>
            <a:ext cx="1887415" cy="138009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10" name="矩形 9"/>
          <p:cNvSpPr/>
          <p:nvPr userDrawn="1">
            <p:custDataLst>
              <p:tags r:id="rId5"/>
            </p:custDataLst>
          </p:nvPr>
        </p:nvSpPr>
        <p:spPr>
          <a:xfrm>
            <a:off x="9471025" y="6264275"/>
            <a:ext cx="1800225" cy="57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11" name="矩形 10"/>
          <p:cNvSpPr/>
          <p:nvPr userDrawn="1">
            <p:custDataLst>
              <p:tags r:id="rId6"/>
            </p:custDataLst>
          </p:nvPr>
        </p:nvSpPr>
        <p:spPr>
          <a:xfrm flipV="1">
            <a:off x="750571" y="6315075"/>
            <a:ext cx="715645" cy="57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12" name="矩形 11"/>
          <p:cNvSpPr/>
          <p:nvPr userDrawn="1">
            <p:custDataLst>
              <p:tags r:id="rId7"/>
            </p:custDataLst>
          </p:nvPr>
        </p:nvSpPr>
        <p:spPr>
          <a:xfrm>
            <a:off x="1555115" y="6316345"/>
            <a:ext cx="88900" cy="57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13" name="矩形 12"/>
          <p:cNvSpPr/>
          <p:nvPr userDrawn="1">
            <p:custDataLst>
              <p:tags r:id="rId8"/>
            </p:custDataLst>
          </p:nvPr>
        </p:nvSpPr>
        <p:spPr>
          <a:xfrm>
            <a:off x="1731011" y="6316345"/>
            <a:ext cx="253365" cy="57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2"/>
            </p:custDataLst>
          </p:nvPr>
        </p:nvSpPr>
        <p:spPr>
          <a:xfrm>
            <a:off x="883644" y="1046220"/>
            <a:ext cx="9144000" cy="1422559"/>
          </a:xfrm>
        </p:spPr>
        <p:txBody>
          <a:bodyPr lIns="91440" tIns="45720" rIns="91440" bIns="0" anchor="b" anchorCtr="0">
            <a:normAutofit/>
          </a:bodyPr>
          <a:lstStyle>
            <a:lvl1pPr algn="l">
              <a:defRPr sz="4950" b="1" spc="600" baseline="0">
                <a:latin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3"/>
            </p:custDataLst>
          </p:nvPr>
        </p:nvSpPr>
        <p:spPr>
          <a:xfrm>
            <a:off x="883643" y="3128804"/>
            <a:ext cx="9144000" cy="667703"/>
          </a:xfrm>
        </p:spPr>
        <p:txBody>
          <a:bodyPr lIns="91440" tIns="0" rIns="91440" bIns="4572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180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4"/>
            </p:custDataLst>
          </p:nvPr>
        </p:nvSpPr>
        <p:spPr>
          <a:xfrm>
            <a:off x="883644" y="5122890"/>
            <a:ext cx="3365431" cy="434743"/>
          </a:xfrm>
        </p:spPr>
        <p:txBody>
          <a:bodyPr lIns="91440" tIns="45720" rIns="91440" bIns="45720">
            <a:normAutofit/>
          </a:bodyPr>
          <a:lstStyle>
            <a:lvl1pPr marL="0" indent="0">
              <a:buNone/>
              <a:defRPr sz="180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1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1" y="1626121"/>
            <a:ext cx="10852237" cy="404168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6474460"/>
            <a:ext cx="12249151" cy="3835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676775" y="2175010"/>
            <a:ext cx="6243775" cy="691516"/>
          </a:xfrm>
        </p:spPr>
        <p:txBody>
          <a:bodyPr lIns="91440" tIns="45720" rIns="91440" bIns="0" anchor="b" anchorCtr="0">
            <a:normAutofit/>
          </a:bodyPr>
          <a:lstStyle>
            <a:lvl1pPr>
              <a:defRPr sz="4050" u="none" strike="noStrike" kern="1200" cap="none" spc="3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4676775" y="3277722"/>
            <a:ext cx="6243775" cy="1050755"/>
          </a:xfrm>
        </p:spPr>
        <p:txBody>
          <a:bodyPr lIns="91440" tIns="0" rIns="91440" bIns="45720">
            <a:normAutofit/>
          </a:bodyPr>
          <a:lstStyle>
            <a:lvl1pPr marL="0" indent="0" eaLnBrk="1" fontAlgn="auto" latinLnBrk="0" hangingPunct="1">
              <a:buNone/>
              <a:defRPr kumimoji="0" lang="zh-CN" altLang="en-US" sz="1350" b="0" i="0" u="none" strike="noStrike" kern="1200" cap="none" spc="15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1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76280" y="1626121"/>
            <a:ext cx="5283243" cy="404168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45227" y="1626121"/>
            <a:ext cx="5283243" cy="4041680"/>
          </a:xfrm>
        </p:spPr>
        <p:txBody>
          <a:bodyPr>
            <a:noAutofit/>
          </a:bodyPr>
          <a:lstStyle>
            <a:lvl1pP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1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29" y="1000133"/>
            <a:ext cx="5283243" cy="285752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2023369"/>
            <a:ext cx="5283200" cy="370106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49" y="1000133"/>
            <a:ext cx="5283243" cy="285752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49" y="2023369"/>
            <a:ext cx="5283243" cy="370106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1" y="498476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29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29" y="1626121"/>
            <a:ext cx="5283243" cy="404168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1626121"/>
            <a:ext cx="5283243" cy="4041680"/>
          </a:xfrm>
        </p:spPr>
        <p:txBody>
          <a:bodyPr vert="horz" lIns="101600" tIns="0" rIns="82550" bIns="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1626121"/>
            <a:ext cx="950984" cy="4041680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1626113"/>
            <a:ext cx="9828101" cy="4041680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29" y="1626121"/>
            <a:ext cx="10852237" cy="404168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2"/>
            </p:custDataLst>
          </p:nvPr>
        </p:nvSpPr>
        <p:spPr>
          <a:xfrm>
            <a:off x="266065" y="1018064"/>
            <a:ext cx="11683365" cy="4226243"/>
          </a:xfrm>
          <a:prstGeom prst="rect">
            <a:avLst/>
          </a:prstGeom>
          <a:solidFill>
            <a:schemeClr val="tx2"/>
          </a:solidFill>
          <a:ln w="28575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9" name="矩形 8"/>
          <p:cNvSpPr/>
          <p:nvPr userDrawn="1">
            <p:custDataLst>
              <p:tags r:id="rId3"/>
            </p:custDataLst>
          </p:nvPr>
        </p:nvSpPr>
        <p:spPr>
          <a:xfrm>
            <a:off x="1422400" y="4065588"/>
            <a:ext cx="5283200" cy="9525"/>
          </a:xfrm>
          <a:prstGeom prst="rect">
            <a:avLst/>
          </a:prstGeom>
          <a:solidFill>
            <a:schemeClr val="accent1">
              <a:lumMod val="50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7" name="任意形状 8"/>
          <p:cNvSpPr/>
          <p:nvPr userDrawn="1">
            <p:custDataLst>
              <p:tags r:id="rId4"/>
            </p:custDataLst>
          </p:nvPr>
        </p:nvSpPr>
        <p:spPr>
          <a:xfrm>
            <a:off x="9480712" y="613408"/>
            <a:ext cx="2464999" cy="1802423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8" name="任意形状 9"/>
          <p:cNvSpPr/>
          <p:nvPr userDrawn="1">
            <p:custDataLst>
              <p:tags r:id="rId5"/>
            </p:custDataLst>
          </p:nvPr>
        </p:nvSpPr>
        <p:spPr>
          <a:xfrm rot="10800000">
            <a:off x="261015" y="4343043"/>
            <a:ext cx="1887415" cy="138009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99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1320799" y="2577631"/>
            <a:ext cx="6653601" cy="1205503"/>
          </a:xfrm>
        </p:spPr>
        <p:txBody>
          <a:bodyPr vert="horz" lIns="91440" tIns="45720" rIns="9144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72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2"/>
            </p:custDataLst>
          </p:nvPr>
        </p:nvSpPr>
        <p:spPr>
          <a:xfrm>
            <a:off x="9727092" y="-51"/>
            <a:ext cx="2464999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6" name="任意形状 8"/>
          <p:cNvSpPr/>
          <p:nvPr userDrawn="1">
            <p:custDataLst>
              <p:tags r:id="rId3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69881" y="498476"/>
            <a:ext cx="10852237" cy="331473"/>
          </a:xfrm>
        </p:spPr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63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600" y="1339650"/>
            <a:ext cx="9626400" cy="542700"/>
          </a:xfrm>
        </p:spPr>
        <p:txBody>
          <a:bodyPr anchor="ctr">
            <a:normAutofit/>
          </a:bodyPr>
          <a:lstStyle>
            <a:lvl1pPr>
              <a:defRPr sz="24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113" y="2594250"/>
            <a:ext cx="9626600" cy="25839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" dirty="0">
              <a:sym typeface="+mn-ea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3"/>
            </p:custDataLst>
          </p:nvPr>
        </p:nvSpPr>
        <p:spPr>
          <a:xfrm rot="16200000">
            <a:off x="-1" y="4183"/>
            <a:ext cx="2322407" cy="1273969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10" name="任意形状 9"/>
          <p:cNvSpPr/>
          <p:nvPr userDrawn="1">
            <p:custDataLst>
              <p:tags r:id="rId4"/>
            </p:custDataLst>
          </p:nvPr>
        </p:nvSpPr>
        <p:spPr>
          <a:xfrm rot="10800000">
            <a:off x="0" y="5913755"/>
            <a:ext cx="976631" cy="95250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3200" y="880650"/>
            <a:ext cx="3960000" cy="661500"/>
          </a:xfrm>
        </p:spPr>
        <p:txBody>
          <a:bodyPr anchor="ctr">
            <a:normAutofit/>
          </a:bodyPr>
          <a:lstStyle>
            <a:lvl1pPr>
              <a:defRPr sz="27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586800" y="2275650"/>
            <a:ext cx="3956400" cy="30699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5101200" y="1405930"/>
            <a:ext cx="6480000" cy="3815953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3825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">
              <a:sym typeface="+mn-ea"/>
            </a:endParaRPr>
          </a:p>
        </p:txBody>
      </p:sp>
      <p:sp>
        <p:nvSpPr>
          <p:cNvPr id="8" name="任意形状 9"/>
          <p:cNvSpPr/>
          <p:nvPr userDrawn="1">
            <p:custDataLst>
              <p:tags r:id="rId3"/>
            </p:custDataLst>
          </p:nvPr>
        </p:nvSpPr>
        <p:spPr>
          <a:xfrm rot="16200000">
            <a:off x="-3143" y="0"/>
            <a:ext cx="1658620" cy="910114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6" name="任意形状 8"/>
          <p:cNvSpPr/>
          <p:nvPr userDrawn="1">
            <p:custDataLst>
              <p:tags r:id="rId4"/>
            </p:custDataLst>
          </p:nvPr>
        </p:nvSpPr>
        <p:spPr>
          <a:xfrm>
            <a:off x="10344785" y="0"/>
            <a:ext cx="1847215" cy="1801495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12000" y="859500"/>
            <a:ext cx="10976400" cy="469800"/>
          </a:xfrm>
        </p:spPr>
        <p:txBody>
          <a:bodyPr anchor="ctr">
            <a:normAutofit/>
          </a:bodyPr>
          <a:lstStyle>
            <a:lvl1pPr algn="ctr">
              <a:defRPr sz="27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612000" y="1763100"/>
            <a:ext cx="10975975" cy="621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12775" y="3236850"/>
            <a:ext cx="10965600" cy="25731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3811" y="5029201"/>
            <a:ext cx="12192000" cy="1828799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">
              <a:sym typeface="+mn-ea"/>
            </a:endParaRPr>
          </a:p>
        </p:txBody>
      </p:sp>
      <p:sp>
        <p:nvSpPr>
          <p:cNvPr id="10" name="任意形状 9"/>
          <p:cNvSpPr/>
          <p:nvPr userDrawn="1">
            <p:custDataLst>
              <p:tags r:id="rId3"/>
            </p:custDataLst>
          </p:nvPr>
        </p:nvSpPr>
        <p:spPr>
          <a:xfrm rot="10800000">
            <a:off x="3809" y="5905500"/>
            <a:ext cx="976631" cy="95250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4800" y="740250"/>
            <a:ext cx="10976400" cy="423900"/>
          </a:xfrm>
        </p:spPr>
        <p:txBody>
          <a:bodyPr anchor="ctr">
            <a:normAutofit/>
          </a:bodyPr>
          <a:lstStyle>
            <a:lvl1pPr algn="ctr">
              <a:defRPr sz="24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04837" y="2082600"/>
            <a:ext cx="10990800" cy="24084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594000" y="5306850"/>
            <a:ext cx="11001600" cy="7587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-3492"/>
            <a:ext cx="12192000" cy="914400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79755" y="258207"/>
            <a:ext cx="11037571" cy="391001"/>
          </a:xfrm>
        </p:spPr>
        <p:txBody>
          <a:bodyPr>
            <a:noAutofit/>
          </a:bodyPr>
          <a:lstStyle>
            <a:lvl1pPr>
              <a:defRPr sz="21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579600" y="2025000"/>
            <a:ext cx="5342400" cy="21708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2400" y="2025000"/>
            <a:ext cx="5367600" cy="21708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400" y="4914450"/>
            <a:ext cx="5342400" cy="5859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3200" y="4910850"/>
            <a:ext cx="5367600" cy="5859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1576668"/>
            <a:ext cx="12192000" cy="3704665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22800" y="1637550"/>
            <a:ext cx="9144000" cy="1790100"/>
          </a:xfrm>
        </p:spPr>
        <p:txBody>
          <a:bodyPr anchor="b">
            <a:normAutofit/>
          </a:bodyPr>
          <a:lstStyle>
            <a:lvl1pPr algn="ctr">
              <a:defRPr sz="45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1522413" y="4069800"/>
            <a:ext cx="9144000" cy="1242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5" Type="http://schemas.openxmlformats.org/officeDocument/2006/relationships/theme" Target="../theme/theme2.xml"/><Relationship Id="rId24" Type="http://schemas.openxmlformats.org/officeDocument/2006/relationships/tags" Target="../tags/tag128.xml"/><Relationship Id="rId23" Type="http://schemas.openxmlformats.org/officeDocument/2006/relationships/tags" Target="../tags/tag127.xml"/><Relationship Id="rId22" Type="http://schemas.openxmlformats.org/officeDocument/2006/relationships/tags" Target="../tags/tag126.xml"/><Relationship Id="rId21" Type="http://schemas.openxmlformats.org/officeDocument/2006/relationships/tags" Target="../tags/tag125.xml"/><Relationship Id="rId20" Type="http://schemas.openxmlformats.org/officeDocument/2006/relationships/tags" Target="../tags/tag124.xml"/><Relationship Id="rId2" Type="http://schemas.openxmlformats.org/officeDocument/2006/relationships/slideLayout" Target="../slideLayouts/slideLayout14.xml"/><Relationship Id="rId19" Type="http://schemas.openxmlformats.org/officeDocument/2006/relationships/tags" Target="../tags/tag123.xml"/><Relationship Id="rId18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.xml"/><Relationship Id="rId8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3.xml"/><Relationship Id="rId25" Type="http://schemas.openxmlformats.org/officeDocument/2006/relationships/theme" Target="../theme/theme3.xml"/><Relationship Id="rId24" Type="http://schemas.openxmlformats.org/officeDocument/2006/relationships/tags" Target="../tags/tag256.xml"/><Relationship Id="rId23" Type="http://schemas.openxmlformats.org/officeDocument/2006/relationships/tags" Target="../tags/tag255.xml"/><Relationship Id="rId22" Type="http://schemas.openxmlformats.org/officeDocument/2006/relationships/tags" Target="../tags/tag254.xml"/><Relationship Id="rId21" Type="http://schemas.openxmlformats.org/officeDocument/2006/relationships/tags" Target="../tags/tag253.xml"/><Relationship Id="rId20" Type="http://schemas.openxmlformats.org/officeDocument/2006/relationships/tags" Target="../tags/tag252.xml"/><Relationship Id="rId2" Type="http://schemas.openxmlformats.org/officeDocument/2006/relationships/slideLayout" Target="../slideLayouts/slideLayout32.xml"/><Relationship Id="rId19" Type="http://schemas.openxmlformats.org/officeDocument/2006/relationships/tags" Target="../tags/tag251.xml"/><Relationship Id="rId18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Rot="1"/>
          </p:cNvSpPr>
          <p:nvPr>
            <p:ph type="title"/>
          </p:nvPr>
        </p:nvSpPr>
        <p:spPr>
          <a:xfrm>
            <a:off x="402167" y="381000"/>
            <a:ext cx="11387667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 noRot="1"/>
          </p:cNvSpPr>
          <p:nvPr>
            <p:ph type="body" idx="1"/>
          </p:nvPr>
        </p:nvSpPr>
        <p:spPr>
          <a:xfrm>
            <a:off x="402167" y="1752600"/>
            <a:ext cx="11387667" cy="42703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57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02167" y="6172200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7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172200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78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172200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FAE48CB-1D52-475D-A40D-E4113AD9FBF4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Line 7"/>
          <p:cNvSpPr/>
          <p:nvPr userDrawn="1"/>
        </p:nvSpPr>
        <p:spPr>
          <a:xfrm>
            <a:off x="406400" y="1371600"/>
            <a:ext cx="11379200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500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3" y="1189673"/>
            <a:ext cx="10852237" cy="331473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3" y="1571631"/>
            <a:ext cx="10852237" cy="404168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3" y="5619625"/>
            <a:ext cx="270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5619625"/>
            <a:ext cx="396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5619625"/>
            <a:ext cx="270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1800" b="1" u="none" strike="noStrike" kern="1200" cap="none" spc="200" normalizeH="0" baseline="0">
          <a:solidFill>
            <a:schemeClr val="accent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3" y="1189673"/>
            <a:ext cx="10852237" cy="331473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3" y="1571631"/>
            <a:ext cx="10852237" cy="404168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3" y="5619625"/>
            <a:ext cx="270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5619625"/>
            <a:ext cx="396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5619625"/>
            <a:ext cx="270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1800" b="1" u="none" strike="noStrike" kern="1200" cap="none" spc="200" normalizeH="0" baseline="0">
          <a:solidFill>
            <a:schemeClr val="accent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59.xml"/><Relationship Id="rId2" Type="http://schemas.openxmlformats.org/officeDocument/2006/relationships/tags" Target="../tags/tag258.xml"/><Relationship Id="rId1" Type="http://schemas.openxmlformats.org/officeDocument/2006/relationships/tags" Target="../tags/tag257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9.xml"/><Relationship Id="rId2" Type="http://schemas.openxmlformats.org/officeDocument/2006/relationships/tags" Target="../tags/tag260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9.xml"/><Relationship Id="rId2" Type="http://schemas.openxmlformats.org/officeDocument/2006/relationships/tags" Target="../tags/tag26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37.xml"/><Relationship Id="rId4" Type="http://schemas.openxmlformats.org/officeDocument/2006/relationships/tags" Target="../tags/tag264.xml"/><Relationship Id="rId3" Type="http://schemas.openxmlformats.org/officeDocument/2006/relationships/image" Target="../media/image3.png"/><Relationship Id="rId2" Type="http://schemas.openxmlformats.org/officeDocument/2006/relationships/tags" Target="../tags/tag263.xml"/><Relationship Id="rId1" Type="http://schemas.openxmlformats.org/officeDocument/2006/relationships/tags" Target="../tags/tag26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37.xml"/><Relationship Id="rId3" Type="http://schemas.openxmlformats.org/officeDocument/2006/relationships/image" Target="../media/image5.jpeg"/><Relationship Id="rId2" Type="http://schemas.openxmlformats.org/officeDocument/2006/relationships/image" Target="../media/image4.wmf"/><Relationship Id="rId1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7.xml"/><Relationship Id="rId1" Type="http://schemas.openxmlformats.org/officeDocument/2006/relationships/tags" Target="../tags/tag265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7.xml"/><Relationship Id="rId3" Type="http://schemas.openxmlformats.org/officeDocument/2006/relationships/tags" Target="../tags/tag267.xml"/><Relationship Id="rId2" Type="http://schemas.openxmlformats.org/officeDocument/2006/relationships/tags" Target="../tags/tag266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7.xml"/><Relationship Id="rId4" Type="http://schemas.openxmlformats.org/officeDocument/2006/relationships/tags" Target="../tags/tag269.xml"/><Relationship Id="rId3" Type="http://schemas.openxmlformats.org/officeDocument/2006/relationships/image" Target="../media/image7.png"/><Relationship Id="rId2" Type="http://schemas.openxmlformats.org/officeDocument/2006/relationships/tags" Target="../tags/tag268.xml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9.xml"/><Relationship Id="rId2" Type="http://schemas.openxmlformats.org/officeDocument/2006/relationships/tags" Target="../tags/tag270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27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27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273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37.xml"/><Relationship Id="rId4" Type="http://schemas.openxmlformats.org/officeDocument/2006/relationships/tags" Target="../tags/tag276.xml"/><Relationship Id="rId3" Type="http://schemas.openxmlformats.org/officeDocument/2006/relationships/image" Target="../media/image6.jpeg"/><Relationship Id="rId2" Type="http://schemas.openxmlformats.org/officeDocument/2006/relationships/tags" Target="../tags/tag275.xml"/><Relationship Id="rId1" Type="http://schemas.openxmlformats.org/officeDocument/2006/relationships/tags" Target="../tags/tag27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7.xml"/><Relationship Id="rId1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85.xml"/><Relationship Id="rId8" Type="http://schemas.openxmlformats.org/officeDocument/2006/relationships/tags" Target="../tags/tag284.xml"/><Relationship Id="rId7" Type="http://schemas.openxmlformats.org/officeDocument/2006/relationships/tags" Target="../tags/tag283.xml"/><Relationship Id="rId6" Type="http://schemas.openxmlformats.org/officeDocument/2006/relationships/tags" Target="../tags/tag282.xml"/><Relationship Id="rId5" Type="http://schemas.openxmlformats.org/officeDocument/2006/relationships/tags" Target="../tags/tag281.xml"/><Relationship Id="rId4" Type="http://schemas.openxmlformats.org/officeDocument/2006/relationships/tags" Target="../tags/tag280.xml"/><Relationship Id="rId3" Type="http://schemas.openxmlformats.org/officeDocument/2006/relationships/tags" Target="../tags/tag279.xml"/><Relationship Id="rId2" Type="http://schemas.openxmlformats.org/officeDocument/2006/relationships/tags" Target="../tags/tag278.xml"/><Relationship Id="rId19" Type="http://schemas.openxmlformats.org/officeDocument/2006/relationships/slideLayout" Target="../slideLayouts/slideLayout37.xml"/><Relationship Id="rId18" Type="http://schemas.openxmlformats.org/officeDocument/2006/relationships/tags" Target="../tags/tag294.xml"/><Relationship Id="rId17" Type="http://schemas.openxmlformats.org/officeDocument/2006/relationships/tags" Target="../tags/tag293.xml"/><Relationship Id="rId16" Type="http://schemas.openxmlformats.org/officeDocument/2006/relationships/tags" Target="../tags/tag292.xml"/><Relationship Id="rId15" Type="http://schemas.openxmlformats.org/officeDocument/2006/relationships/tags" Target="../tags/tag291.xml"/><Relationship Id="rId14" Type="http://schemas.openxmlformats.org/officeDocument/2006/relationships/tags" Target="../tags/tag290.xml"/><Relationship Id="rId13" Type="http://schemas.openxmlformats.org/officeDocument/2006/relationships/tags" Target="../tags/tag289.xml"/><Relationship Id="rId12" Type="http://schemas.openxmlformats.org/officeDocument/2006/relationships/tags" Target="../tags/tag288.xml"/><Relationship Id="rId11" Type="http://schemas.openxmlformats.org/officeDocument/2006/relationships/tags" Target="../tags/tag287.xml"/><Relationship Id="rId10" Type="http://schemas.openxmlformats.org/officeDocument/2006/relationships/tags" Target="../tags/tag286.xml"/><Relationship Id="rId1" Type="http://schemas.openxmlformats.org/officeDocument/2006/relationships/tags" Target="../tags/tag277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37.xml"/><Relationship Id="rId2" Type="http://schemas.openxmlformats.org/officeDocument/2006/relationships/tags" Target="../tags/tag296.xml"/><Relationship Id="rId1" Type="http://schemas.openxmlformats.org/officeDocument/2006/relationships/tags" Target="../tags/tag29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9.xml"/><Relationship Id="rId2" Type="http://schemas.openxmlformats.org/officeDocument/2006/relationships/tags" Target="../tags/tag297.xml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.xml"/><Relationship Id="rId8" Type="http://schemas.openxmlformats.org/officeDocument/2006/relationships/tags" Target="../tags/tag304.xml"/><Relationship Id="rId7" Type="http://schemas.openxmlformats.org/officeDocument/2006/relationships/image" Target="../media/image9.png"/><Relationship Id="rId6" Type="http://schemas.openxmlformats.org/officeDocument/2006/relationships/tags" Target="../tags/tag303.xml"/><Relationship Id="rId5" Type="http://schemas.openxmlformats.org/officeDocument/2006/relationships/tags" Target="../tags/tag302.xml"/><Relationship Id="rId4" Type="http://schemas.openxmlformats.org/officeDocument/2006/relationships/tags" Target="../tags/tag301.xml"/><Relationship Id="rId3" Type="http://schemas.openxmlformats.org/officeDocument/2006/relationships/tags" Target="../tags/tag300.xml"/><Relationship Id="rId2" Type="http://schemas.openxmlformats.org/officeDocument/2006/relationships/tags" Target="../tags/tag299.xml"/><Relationship Id="rId1" Type="http://schemas.openxmlformats.org/officeDocument/2006/relationships/tags" Target="../tags/tag298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37.xml"/><Relationship Id="rId2" Type="http://schemas.openxmlformats.org/officeDocument/2006/relationships/tags" Target="../tags/tag306.xml"/><Relationship Id="rId1" Type="http://schemas.openxmlformats.org/officeDocument/2006/relationships/tags" Target="../tags/tag305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7.xml"/><Relationship Id="rId3" Type="http://schemas.openxmlformats.org/officeDocument/2006/relationships/tags" Target="../tags/tag308.xml"/><Relationship Id="rId2" Type="http://schemas.openxmlformats.org/officeDocument/2006/relationships/image" Target="../media/image10.png"/><Relationship Id="rId1" Type="http://schemas.openxmlformats.org/officeDocument/2006/relationships/tags" Target="../tags/tag307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9.xml"/><Relationship Id="rId2" Type="http://schemas.openxmlformats.org/officeDocument/2006/relationships/tags" Target="../tags/tag309.xml"/><Relationship Id="rId1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.xml"/><Relationship Id="rId8" Type="http://schemas.openxmlformats.org/officeDocument/2006/relationships/tags" Target="../tags/tag311.xml"/><Relationship Id="rId7" Type="http://schemas.openxmlformats.org/officeDocument/2006/relationships/image" Target="../media/image3.png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tags" Target="../tags/tag3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7.xml"/><Relationship Id="rId6" Type="http://schemas.openxmlformats.org/officeDocument/2006/relationships/tags" Target="../tags/tag317.xml"/><Relationship Id="rId5" Type="http://schemas.openxmlformats.org/officeDocument/2006/relationships/tags" Target="../tags/tag316.xml"/><Relationship Id="rId4" Type="http://schemas.openxmlformats.org/officeDocument/2006/relationships/tags" Target="../tags/tag315.xml"/><Relationship Id="rId3" Type="http://schemas.openxmlformats.org/officeDocument/2006/relationships/tags" Target="../tags/tag314.xml"/><Relationship Id="rId2" Type="http://schemas.openxmlformats.org/officeDocument/2006/relationships/tags" Target="../tags/tag313.xml"/><Relationship Id="rId1" Type="http://schemas.openxmlformats.org/officeDocument/2006/relationships/tags" Target="../tags/tag312.xml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37.xml"/><Relationship Id="rId5" Type="http://schemas.openxmlformats.org/officeDocument/2006/relationships/tags" Target="../tags/tag320.xml"/><Relationship Id="rId4" Type="http://schemas.openxmlformats.org/officeDocument/2006/relationships/image" Target="../media/image12.png"/><Relationship Id="rId3" Type="http://schemas.openxmlformats.org/officeDocument/2006/relationships/tags" Target="../tags/tag319.xml"/><Relationship Id="rId2" Type="http://schemas.openxmlformats.org/officeDocument/2006/relationships/image" Target="../media/image11.png"/><Relationship Id="rId1" Type="http://schemas.openxmlformats.org/officeDocument/2006/relationships/tags" Target="../tags/tag318.xml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37.xml"/><Relationship Id="rId4" Type="http://schemas.openxmlformats.org/officeDocument/2006/relationships/tags" Target="../tags/tag32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tags" Target="../tags/tag321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37.xml"/><Relationship Id="rId3" Type="http://schemas.openxmlformats.org/officeDocument/2006/relationships/tags" Target="../tags/tag324.xml"/><Relationship Id="rId2" Type="http://schemas.openxmlformats.org/officeDocument/2006/relationships/image" Target="../media/image15.png"/><Relationship Id="rId1" Type="http://schemas.openxmlformats.org/officeDocument/2006/relationships/tags" Target="../tags/tag323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37.xml"/><Relationship Id="rId3" Type="http://schemas.openxmlformats.org/officeDocument/2006/relationships/tags" Target="../tags/tag326.xml"/><Relationship Id="rId2" Type="http://schemas.openxmlformats.org/officeDocument/2006/relationships/tags" Target="../tags/tag325.xml"/><Relationship Id="rId1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37.xml"/><Relationship Id="rId3" Type="http://schemas.openxmlformats.org/officeDocument/2006/relationships/tags" Target="../tags/tag328.xml"/><Relationship Id="rId2" Type="http://schemas.openxmlformats.org/officeDocument/2006/relationships/tags" Target="../tags/tag327.xml"/><Relationship Id="rId1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37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tags" Target="../tags/tag337.xml"/><Relationship Id="rId8" Type="http://schemas.openxmlformats.org/officeDocument/2006/relationships/tags" Target="../tags/tag336.xml"/><Relationship Id="rId7" Type="http://schemas.openxmlformats.org/officeDocument/2006/relationships/tags" Target="../tags/tag335.xml"/><Relationship Id="rId6" Type="http://schemas.openxmlformats.org/officeDocument/2006/relationships/tags" Target="../tags/tag334.xml"/><Relationship Id="rId5" Type="http://schemas.openxmlformats.org/officeDocument/2006/relationships/tags" Target="../tags/tag333.xml"/><Relationship Id="rId4" Type="http://schemas.openxmlformats.org/officeDocument/2006/relationships/tags" Target="../tags/tag332.xml"/><Relationship Id="rId3" Type="http://schemas.openxmlformats.org/officeDocument/2006/relationships/tags" Target="../tags/tag331.xml"/><Relationship Id="rId2" Type="http://schemas.openxmlformats.org/officeDocument/2006/relationships/tags" Target="../tags/tag330.xml"/><Relationship Id="rId19" Type="http://schemas.openxmlformats.org/officeDocument/2006/relationships/notesSlide" Target="../notesSlides/notesSlide17.xml"/><Relationship Id="rId18" Type="http://schemas.openxmlformats.org/officeDocument/2006/relationships/slideLayout" Target="../slideLayouts/slideLayout37.xml"/><Relationship Id="rId17" Type="http://schemas.openxmlformats.org/officeDocument/2006/relationships/tags" Target="../tags/tag345.xml"/><Relationship Id="rId16" Type="http://schemas.openxmlformats.org/officeDocument/2006/relationships/tags" Target="../tags/tag344.xml"/><Relationship Id="rId15" Type="http://schemas.openxmlformats.org/officeDocument/2006/relationships/tags" Target="../tags/tag343.xml"/><Relationship Id="rId14" Type="http://schemas.openxmlformats.org/officeDocument/2006/relationships/tags" Target="../tags/tag342.xml"/><Relationship Id="rId13" Type="http://schemas.openxmlformats.org/officeDocument/2006/relationships/tags" Target="../tags/tag341.xml"/><Relationship Id="rId12" Type="http://schemas.openxmlformats.org/officeDocument/2006/relationships/tags" Target="../tags/tag340.xml"/><Relationship Id="rId11" Type="http://schemas.openxmlformats.org/officeDocument/2006/relationships/tags" Target="../tags/tag339.xml"/><Relationship Id="rId10" Type="http://schemas.openxmlformats.org/officeDocument/2006/relationships/tags" Target="../tags/tag338.xml"/><Relationship Id="rId1" Type="http://schemas.openxmlformats.org/officeDocument/2006/relationships/tags" Target="../tags/tag32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37.xml"/><Relationship Id="rId1" Type="http://schemas.openxmlformats.org/officeDocument/2006/relationships/image" Target="../media/image20.png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tags" Target="../tags/tag354.xml"/><Relationship Id="rId8" Type="http://schemas.openxmlformats.org/officeDocument/2006/relationships/tags" Target="../tags/tag353.xml"/><Relationship Id="rId7" Type="http://schemas.openxmlformats.org/officeDocument/2006/relationships/tags" Target="../tags/tag352.xml"/><Relationship Id="rId6" Type="http://schemas.openxmlformats.org/officeDocument/2006/relationships/tags" Target="../tags/tag351.xml"/><Relationship Id="rId5" Type="http://schemas.openxmlformats.org/officeDocument/2006/relationships/tags" Target="../tags/tag350.xml"/><Relationship Id="rId4" Type="http://schemas.openxmlformats.org/officeDocument/2006/relationships/tags" Target="../tags/tag349.xml"/><Relationship Id="rId3" Type="http://schemas.openxmlformats.org/officeDocument/2006/relationships/tags" Target="../tags/tag348.xml"/><Relationship Id="rId2" Type="http://schemas.openxmlformats.org/officeDocument/2006/relationships/tags" Target="../tags/tag347.xml"/><Relationship Id="rId14" Type="http://schemas.openxmlformats.org/officeDocument/2006/relationships/notesSlide" Target="../notesSlides/notesSlide19.xml"/><Relationship Id="rId13" Type="http://schemas.openxmlformats.org/officeDocument/2006/relationships/slideLayout" Target="../slideLayouts/slideLayout37.xml"/><Relationship Id="rId12" Type="http://schemas.openxmlformats.org/officeDocument/2006/relationships/tags" Target="../tags/tag356.xml"/><Relationship Id="rId11" Type="http://schemas.openxmlformats.org/officeDocument/2006/relationships/image" Target="../media/image21.png"/><Relationship Id="rId10" Type="http://schemas.openxmlformats.org/officeDocument/2006/relationships/tags" Target="../tags/tag355.xml"/><Relationship Id="rId1" Type="http://schemas.openxmlformats.org/officeDocument/2006/relationships/tags" Target="../tags/tag346.xm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37.xml"/><Relationship Id="rId2" Type="http://schemas.openxmlformats.org/officeDocument/2006/relationships/tags" Target="../tags/tag358.xml"/><Relationship Id="rId1" Type="http://schemas.openxmlformats.org/officeDocument/2006/relationships/tags" Target="../tags/tag357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37.xml"/><Relationship Id="rId2" Type="http://schemas.openxmlformats.org/officeDocument/2006/relationships/tags" Target="../tags/tag360.xml"/><Relationship Id="rId1" Type="http://schemas.openxmlformats.org/officeDocument/2006/relationships/tags" Target="../tags/tag359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7.xml"/><Relationship Id="rId3" Type="http://schemas.openxmlformats.org/officeDocument/2006/relationships/tags" Target="../tags/tag363.xml"/><Relationship Id="rId2" Type="http://schemas.openxmlformats.org/officeDocument/2006/relationships/tags" Target="../tags/tag362.xml"/><Relationship Id="rId1" Type="http://schemas.openxmlformats.org/officeDocument/2006/relationships/tags" Target="../tags/tag36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37.xml"/><Relationship Id="rId1" Type="http://schemas.openxmlformats.org/officeDocument/2006/relationships/tags" Target="../tags/tag364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37.xml"/><Relationship Id="rId3" Type="http://schemas.openxmlformats.org/officeDocument/2006/relationships/tags" Target="../tags/tag366.xml"/><Relationship Id="rId2" Type="http://schemas.openxmlformats.org/officeDocument/2006/relationships/tags" Target="../tags/tag365.xml"/><Relationship Id="rId1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756410" y="1497330"/>
            <a:ext cx="8678545" cy="1422400"/>
          </a:xfrm>
        </p:spPr>
        <p:txBody>
          <a:bodyPr>
            <a:noAutofit/>
          </a:bodyPr>
          <a:lstStyle/>
          <a:p>
            <a:pPr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6000" u="none" strike="noStrike" spc="0" baseline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j-ea"/>
                <a:ea typeface="+mj-ea"/>
                <a:cs typeface="+mn-cs"/>
              </a:rPr>
              <a:t>人工智能与机器学习</a:t>
            </a:r>
            <a:endParaRPr lang="zh-CN" altLang="en-US" sz="6000" u="none" strike="noStrike" spc="0" baseline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4292600" y="5564505"/>
            <a:ext cx="3606800" cy="558800"/>
          </a:xfrm>
        </p:spPr>
        <p:txBody>
          <a:bodyPr>
            <a:normAutofit/>
          </a:bodyPr>
          <a:lstStyle/>
          <a:p>
            <a:pPr marL="0" lvl="0" indent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ct val="100000"/>
              <a:buNone/>
            </a:pPr>
            <a:r>
              <a:rPr lang="zh-CN" altLang="en-US" sz="1800" b="1" dirty="0">
                <a:solidFill>
                  <a:srgbClr val="0070C0"/>
                </a:solidFill>
              </a:rPr>
              <a:t>杭州 • 浙江大学</a:t>
            </a:r>
            <a:endParaRPr lang="zh-CN" altLang="en-US" sz="1800" b="1" dirty="0">
              <a:solidFill>
                <a:srgbClr val="0070C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/>
          </p:cNvSpPr>
          <p:nvPr>
            <p:ph type="title"/>
          </p:nvPr>
        </p:nvSpPr>
        <p:spPr>
          <a:xfrm>
            <a:off x="730250" y="575945"/>
            <a:ext cx="10852150" cy="833755"/>
          </a:xfrm>
        </p:spPr>
        <p:txBody>
          <a:bodyPr vert="horz" wrap="square" lIns="121920" tIns="60960" rIns="121920" bIns="60960" anchor="ctr" anchorCtr="0">
            <a:noAutofit/>
          </a:bodyPr>
          <a:lstStyle/>
          <a:p>
            <a:pPr algn="ctr" defTabSz="685800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4800" b="1" spc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  <a:cs typeface="+mn-cs"/>
              </a:rPr>
              <a:t>第二章</a:t>
            </a:r>
            <a:r>
              <a:rPr lang="en-US" altLang="zh-CN" sz="4800" b="1" spc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  <a:cs typeface="+mn-cs"/>
              </a:rPr>
              <a:t>    </a:t>
            </a:r>
            <a:r>
              <a:rPr lang="zh-CN" altLang="en-US" sz="4800" b="1" spc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  <a:cs typeface="+mn-cs"/>
              </a:rPr>
              <a:t>智能AGENT（智能体）</a:t>
            </a:r>
            <a:endParaRPr lang="zh-CN" altLang="en-US" sz="4800" b="1" spc="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latin typeface="+mj-ea"/>
              <a:ea typeface="+mj-ea"/>
              <a:cs typeface="+mn-cs"/>
            </a:endParaRPr>
          </a:p>
        </p:txBody>
      </p:sp>
      <p:sp>
        <p:nvSpPr>
          <p:cNvPr id="44035" name="Rectangle 3"/>
          <p:cNvSpPr>
            <a:spLocks noGrp="1"/>
          </p:cNvSpPr>
          <p:nvPr>
            <p:ph idx="1"/>
          </p:nvPr>
        </p:nvSpPr>
        <p:spPr>
          <a:xfrm>
            <a:off x="730250" y="2567940"/>
            <a:ext cx="6596380" cy="3126740"/>
          </a:xfr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121920" tIns="60960" rIns="121920" bIns="60960" anchor="t" anchorCtr="0">
            <a:normAutofit/>
          </a:bodyPr>
          <a:lstStyle/>
          <a:p>
            <a:pPr eaLnBrk="1" hangingPunct="1"/>
            <a:r>
              <a:rPr lang="zh-CN" altLang="en-US" sz="3200" b="1" dirty="0">
                <a:latin typeface="微软雅黑" panose="020B0503020204020204" pitchFamily="34" charset="-122"/>
              </a:rPr>
              <a:t>Agent基本定义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</a:rPr>
              <a:t>Agent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</a:rPr>
              <a:t>的本质）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  <a:p>
            <a:pPr eaLnBrk="1" hangingPunct="1"/>
            <a:r>
              <a:rPr lang="zh-CN" altLang="en-US" sz="3200" b="1" dirty="0">
                <a:latin typeface="微软雅黑" panose="020B0503020204020204" pitchFamily="34" charset="-122"/>
              </a:rPr>
              <a:t>评价Agent行为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</a:rPr>
              <a:t>Agent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</a:rPr>
              <a:t>是否完美）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  <a:p>
            <a:pPr eaLnBrk="1" hangingPunct="1"/>
            <a:r>
              <a:rPr lang="zh-CN" altLang="en-US" sz="3200" b="1" dirty="0">
                <a:latin typeface="微软雅黑" panose="020B0503020204020204" pitchFamily="34" charset="-122"/>
              </a:rPr>
              <a:t>任务环境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</a:rPr>
              <a:t>（环境的多样性）</a:t>
            </a:r>
            <a:endParaRPr lang="zh-CN" altLang="en-US" sz="3200" b="1" dirty="0">
              <a:latin typeface="微软雅黑" panose="020B0503020204020204" pitchFamily="34" charset="-122"/>
            </a:endParaRPr>
          </a:p>
          <a:p>
            <a:pPr eaLnBrk="1" hangingPunct="1"/>
            <a:r>
              <a:rPr lang="zh-CN" altLang="en-US" sz="3200" b="1" dirty="0">
                <a:latin typeface="微软雅黑" panose="020B0503020204020204" pitchFamily="34" charset="-122"/>
              </a:rPr>
              <a:t>Agent的结构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</a:rPr>
              <a:t>Agent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</a:rPr>
              <a:t>分类）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270" y="2856230"/>
            <a:ext cx="4762500" cy="26790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/>
          </p:cNvSpPr>
          <p:nvPr>
            <p:ph type="title"/>
          </p:nvPr>
        </p:nvSpPr>
        <p:spPr>
          <a:xfrm>
            <a:off x="730250" y="575945"/>
            <a:ext cx="10852150" cy="833755"/>
          </a:xfrm>
        </p:spPr>
        <p:txBody>
          <a:bodyPr vert="horz" wrap="square" lIns="121920" tIns="60960" rIns="121920" bIns="60960" anchor="ctr" anchorCtr="0">
            <a:noAutofit/>
          </a:bodyPr>
          <a:lstStyle/>
          <a:p>
            <a:pPr algn="ctr" defTabSz="685800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4800" b="1" spc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  <a:cs typeface="+mn-cs"/>
              </a:rPr>
              <a:t>第二章</a:t>
            </a:r>
            <a:r>
              <a:rPr lang="en-US" altLang="zh-CN" sz="4800" b="1" spc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  <a:cs typeface="+mn-cs"/>
              </a:rPr>
              <a:t>    </a:t>
            </a:r>
            <a:r>
              <a:rPr lang="zh-CN" altLang="en-US" sz="4800" b="1" spc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  <a:cs typeface="+mn-cs"/>
              </a:rPr>
              <a:t>智能AGENT（智能体）</a:t>
            </a:r>
            <a:endParaRPr lang="zh-CN" altLang="en-US" sz="4800" b="1" spc="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latin typeface="+mj-ea"/>
              <a:ea typeface="+mj-ea"/>
              <a:cs typeface="+mn-cs"/>
            </a:endParaRPr>
          </a:p>
        </p:txBody>
      </p:sp>
      <p:sp>
        <p:nvSpPr>
          <p:cNvPr id="44035" name="Rectangle 3"/>
          <p:cNvSpPr>
            <a:spLocks noGrp="1"/>
          </p:cNvSpPr>
          <p:nvPr>
            <p:ph idx="1"/>
          </p:nvPr>
        </p:nvSpPr>
        <p:spPr>
          <a:xfrm>
            <a:off x="730250" y="2567940"/>
            <a:ext cx="6596380" cy="3126740"/>
          </a:xfr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121920" tIns="60960" rIns="121920" bIns="60960" anchor="t" anchorCtr="0">
            <a:normAutofit/>
          </a:bodyPr>
          <a:lstStyle/>
          <a:p>
            <a:pPr eaLnBrk="1" hangingPunct="1"/>
            <a:r>
              <a:rPr lang="zh-CN" altLang="en-US" sz="3200" b="1" dirty="0">
                <a:latin typeface="微软雅黑" panose="020B0503020204020204" pitchFamily="34" charset="-122"/>
              </a:rPr>
              <a:t>Agent基本定义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</a:rPr>
              <a:t>Agent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</a:rPr>
              <a:t>的本质）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  <a:p>
            <a:pPr eaLnBrk="1" hangingPunct="1"/>
            <a:r>
              <a:rPr lang="zh-CN" altLang="en-US" sz="32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评价Agent行为</a:t>
            </a: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Agent</a:t>
            </a: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是否完美）</a:t>
            </a:r>
            <a:endParaRPr lang="zh-CN" altLang="en-US" sz="24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</a:endParaRPr>
          </a:p>
          <a:p>
            <a:pPr eaLnBrk="1" hangingPunct="1"/>
            <a:r>
              <a:rPr lang="zh-CN" altLang="en-US" sz="32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任务环境</a:t>
            </a: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（环境的多样性）</a:t>
            </a:r>
            <a:endParaRPr lang="zh-CN" altLang="en-US" sz="32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</a:endParaRPr>
          </a:p>
          <a:p>
            <a:pPr eaLnBrk="1" hangingPunct="1"/>
            <a:r>
              <a:rPr lang="zh-CN" altLang="en-US" sz="32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Agent的结构</a:t>
            </a: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Agent</a:t>
            </a: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分类）</a:t>
            </a:r>
            <a:endParaRPr lang="zh-CN" altLang="en-US" sz="24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270" y="2856230"/>
            <a:ext cx="4762500" cy="26790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1"/>
            </p:custDataLst>
          </p:nvPr>
        </p:nvSpPr>
        <p:spPr>
          <a:xfrm>
            <a:off x="8819319" y="-51"/>
            <a:ext cx="1848749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10000"/>
                </a:srgbClr>
              </a:gs>
              <a:gs pos="100000">
                <a:srgbClr val="D8D8E4">
                  <a:lumMod val="90000"/>
                  <a:alpha val="24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1524000" y="5480050"/>
            <a:ext cx="1059656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10000"/>
                </a:srgbClr>
              </a:gs>
              <a:gs pos="100000">
                <a:srgbClr val="D8D8E4">
                  <a:lumMod val="90000"/>
                  <a:alpha val="24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70" name="Rectangle 2"/>
          <p:cNvSpPr>
            <a:spLocks noGrp="1"/>
          </p:cNvSpPr>
          <p:nvPr>
            <p:ph type="title" idx="4294967295"/>
          </p:nvPr>
        </p:nvSpPr>
        <p:spPr>
          <a:xfrm>
            <a:off x="1825625" y="381000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6858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3600" kern="1200" spc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cs typeface="+mn-cs"/>
                <a:sym typeface="+mn-ea"/>
              </a:rPr>
              <a:t>智能体（Agent）基本定义</a:t>
            </a:r>
            <a:endParaRPr lang="en-US" altLang="zh-CN" sz="3600" kern="1200" spc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j-ea"/>
              <a:cs typeface="+mn-cs"/>
              <a:sym typeface="+mn-ea"/>
            </a:endParaRPr>
          </a:p>
        </p:txBody>
      </p:sp>
      <p:sp>
        <p:nvSpPr>
          <p:cNvPr id="36966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746760" y="1524000"/>
            <a:ext cx="10557510" cy="1645920"/>
          </a:xfr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 defTabSz="914400" eaLnBrk="1" hangingPunct="1">
              <a:lnSpc>
                <a:spcPct val="150000"/>
              </a:lnSpc>
              <a:buClr>
                <a:srgbClr val="0070C0"/>
              </a:buClr>
              <a:buSzTx/>
              <a:defRPr/>
            </a:pPr>
            <a:r>
              <a:rPr lang="zh-CN" altLang="en-US" sz="2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智能体（</a:t>
            </a:r>
            <a:r>
              <a:rPr lang="en-US" altLang="zh-CN" sz="2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</a:t>
            </a:r>
            <a:r>
              <a:rPr lang="zh-CN" altLang="en-US" sz="2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gent）：能够</a:t>
            </a:r>
            <a:r>
              <a:rPr lang="zh-CN" altLang="en-US" sz="200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感知</a:t>
            </a:r>
            <a:r>
              <a:rPr lang="zh-CN" altLang="en-US" sz="2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zh-CN" altLang="en-US" sz="200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动作</a:t>
            </a:r>
            <a:r>
              <a:rPr lang="zh-CN" altLang="en-US" sz="2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的实体</a:t>
            </a:r>
            <a:endParaRPr lang="zh-CN" altLang="en-US" sz="2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 defTabSz="914400" eaLnBrk="1" hangingPunct="1">
              <a:lnSpc>
                <a:spcPct val="150000"/>
              </a:lnSpc>
              <a:buSzTx/>
              <a:buFontTx/>
              <a:buNone/>
              <a:defRPr/>
            </a:pPr>
            <a:r>
              <a:rPr lang="zh-CN" altLang="en-US" sz="2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（任何独立的能够“思想”并可以同环境交互的实体都可以抽象为智能体）</a:t>
            </a:r>
            <a:endParaRPr lang="zh-CN" altLang="en-US" sz="2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505710" y="3169920"/>
            <a:ext cx="1840230" cy="1753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人类智能体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机器人智能体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软件智能体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……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0565" y="2894330"/>
            <a:ext cx="5798185" cy="32613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62000" y="3060700"/>
            <a:ext cx="111696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 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通过传感器感知环境，并通过执行器对所处环境产生影响。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问号（？）表示从感知到动作的映射函数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945515" y="1327150"/>
            <a:ext cx="5499100" cy="1620520"/>
            <a:chOff x="1275" y="4771"/>
            <a:chExt cx="8660" cy="2552"/>
          </a:xfrm>
        </p:grpSpPr>
        <p:grpSp>
          <p:nvGrpSpPr>
            <p:cNvPr id="34" name="组合 33"/>
            <p:cNvGrpSpPr/>
            <p:nvPr/>
          </p:nvGrpSpPr>
          <p:grpSpPr>
            <a:xfrm>
              <a:off x="1275" y="4771"/>
              <a:ext cx="8660" cy="2552"/>
              <a:chOff x="1645920" y="831006"/>
              <a:chExt cx="8480102" cy="3948170"/>
            </a:xfrm>
          </p:grpSpPr>
          <p:sp>
            <p:nvSpPr>
              <p:cNvPr id="5" name="流程图: 可选过程 4"/>
              <p:cNvSpPr/>
              <p:nvPr/>
            </p:nvSpPr>
            <p:spPr>
              <a:xfrm>
                <a:off x="1645920" y="832553"/>
                <a:ext cx="4033434" cy="3946623"/>
              </a:xfrm>
              <a:prstGeom prst="flowChartAlternateProcess">
                <a:avLst/>
              </a:prstGeom>
              <a:noFill/>
              <a:ln w="25400">
                <a:solidFill>
                  <a:sysClr val="windowText" lastClr="000000"/>
                </a:solidFill>
              </a:ln>
            </p:spPr>
            <p:style>
              <a:lnRef idx="2">
                <a:srgbClr val="5B9BD5">
                  <a:shade val="50000"/>
                </a:srgbClr>
              </a:lnRef>
              <a:fillRef idx="1">
                <a:srgbClr val="5B9BD5"/>
              </a:fillRef>
              <a:effectRef idx="0">
                <a:srgbClr val="5B9BD5"/>
              </a:effectRef>
              <a:fontRef idx="minor">
                <a:sysClr val="window" lastClr="FFFFFF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流程图: 可选过程 7"/>
              <p:cNvSpPr/>
              <p:nvPr/>
            </p:nvSpPr>
            <p:spPr>
              <a:xfrm>
                <a:off x="8995015" y="831006"/>
                <a:ext cx="1131007" cy="3946623"/>
              </a:xfrm>
              <a:prstGeom prst="flowChartAlternateProcess">
                <a:avLst/>
              </a:prstGeom>
              <a:noFill/>
              <a:ln w="25400">
                <a:solidFill>
                  <a:sysClr val="windowText" lastClr="000000"/>
                </a:solidFill>
              </a:ln>
            </p:spPr>
            <p:style>
              <a:lnRef idx="2">
                <a:srgbClr val="5B9BD5">
                  <a:shade val="50000"/>
                </a:srgbClr>
              </a:lnRef>
              <a:fillRef idx="1">
                <a:srgbClr val="5B9BD5"/>
              </a:fillRef>
              <a:effectRef idx="0">
                <a:srgbClr val="5B9BD5"/>
              </a:effectRef>
              <a:fontRef idx="minor">
                <a:sysClr val="window" lastClr="FFFFFF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3290272" y="2304300"/>
                <a:ext cx="1084521" cy="1137684"/>
              </a:xfrm>
              <a:prstGeom prst="rect">
                <a:avLst/>
              </a:prstGeom>
              <a:noFill/>
              <a:ln w="25400">
                <a:solidFill>
                  <a:sysClr val="windowText" lastClr="000000"/>
                </a:solidFill>
              </a:ln>
            </p:spPr>
            <p:style>
              <a:lnRef idx="2">
                <a:srgbClr val="5B9BD5">
                  <a:shade val="50000"/>
                </a:srgbClr>
              </a:lnRef>
              <a:fillRef idx="1">
                <a:srgbClr val="5B9BD5"/>
              </a:fillRef>
              <a:effectRef idx="0">
                <a:srgbClr val="5B9BD5"/>
              </a:effectRef>
              <a:fontRef idx="minor">
                <a:sysClr val="window" lastClr="FFFFFF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8" name="直接箭头连接符 17"/>
              <p:cNvCxnSpPr>
                <a:endCxn id="9" idx="0"/>
              </p:cNvCxnSpPr>
              <p:nvPr/>
            </p:nvCxnSpPr>
            <p:spPr>
              <a:xfrm>
                <a:off x="3832532" y="1718396"/>
                <a:ext cx="1" cy="585904"/>
              </a:xfrm>
              <a:prstGeom prst="straightConnector1">
                <a:avLst/>
              </a:prstGeom>
              <a:ln w="25400">
                <a:solidFill>
                  <a:sysClr val="windowText" lastClr="000000"/>
                </a:solidFill>
                <a:tailEnd type="triangle"/>
              </a:ln>
            </p:spPr>
            <p:style>
              <a:lnRef idx="1">
                <a:srgbClr val="5B9BD5"/>
              </a:lnRef>
              <a:fillRef idx="0">
                <a:srgbClr val="5B9BD5"/>
              </a:fillRef>
              <a:effectRef idx="0">
                <a:srgbClr val="5B9BD5"/>
              </a:effectRef>
              <a:fontRef idx="minor">
                <a:sysClr val="windowText" lastClr="000000"/>
              </a:fontRef>
            </p:style>
          </p:cxnSp>
          <p:cxnSp>
            <p:nvCxnSpPr>
              <p:cNvPr id="22" name="直接箭头连接符 21"/>
              <p:cNvCxnSpPr/>
              <p:nvPr/>
            </p:nvCxnSpPr>
            <p:spPr>
              <a:xfrm>
                <a:off x="3832532" y="3456264"/>
                <a:ext cx="1" cy="585904"/>
              </a:xfrm>
              <a:prstGeom prst="straightConnector1">
                <a:avLst/>
              </a:prstGeom>
              <a:ln w="25400">
                <a:solidFill>
                  <a:sysClr val="windowText" lastClr="000000"/>
                </a:solidFill>
                <a:tailEnd type="triangle"/>
              </a:ln>
            </p:spPr>
            <p:style>
              <a:lnRef idx="1">
                <a:srgbClr val="5B9BD5"/>
              </a:lnRef>
              <a:fillRef idx="0">
                <a:srgbClr val="5B9BD5"/>
              </a:fillRef>
              <a:effectRef idx="0">
                <a:srgbClr val="5B9BD5"/>
              </a:effectRef>
              <a:fontRef idx="minor">
                <a:sysClr val="windowText" lastClr="000000"/>
              </a:fontRef>
            </p:style>
          </p:cxnSp>
          <p:grpSp>
            <p:nvGrpSpPr>
              <p:cNvPr id="33" name="组合 32"/>
              <p:cNvGrpSpPr/>
              <p:nvPr/>
            </p:nvGrpSpPr>
            <p:grpSpPr>
              <a:xfrm>
                <a:off x="1645920" y="1110566"/>
                <a:ext cx="8214730" cy="3667415"/>
                <a:chOff x="1645920" y="1110566"/>
                <a:chExt cx="8214730" cy="3667415"/>
              </a:xfrm>
            </p:grpSpPr>
            <p:sp>
              <p:nvSpPr>
                <p:cNvPr id="10" name="文本框 9"/>
                <p:cNvSpPr txBox="1"/>
                <p:nvPr/>
              </p:nvSpPr>
              <p:spPr>
                <a:xfrm>
                  <a:off x="1645920" y="1265275"/>
                  <a:ext cx="1403498" cy="97157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Agent</a:t>
                  </a:r>
                  <a:endParaRPr lang="zh-CN" alt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" name="文本框 10"/>
                <p:cNvSpPr txBox="1"/>
                <p:nvPr/>
              </p:nvSpPr>
              <p:spPr>
                <a:xfrm>
                  <a:off x="9298574" y="1932070"/>
                  <a:ext cx="562076" cy="172190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2000" b="1" dirty="0"/>
                    <a:t>环境</a:t>
                  </a:r>
                  <a:endParaRPr lang="zh-CN" altLang="en-US" sz="2000" b="1" dirty="0"/>
                </a:p>
              </p:txBody>
            </p:sp>
            <p:sp>
              <p:nvSpPr>
                <p:cNvPr id="12" name="文本框 11"/>
                <p:cNvSpPr txBox="1"/>
                <p:nvPr/>
              </p:nvSpPr>
              <p:spPr>
                <a:xfrm>
                  <a:off x="3289062" y="2394649"/>
                  <a:ext cx="1085962" cy="97157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2000" b="1" dirty="0"/>
                    <a:t>？</a:t>
                  </a:r>
                  <a:endParaRPr lang="zh-CN" altLang="en-US" sz="2000" b="1" dirty="0"/>
                </a:p>
              </p:txBody>
            </p:sp>
            <p:sp>
              <p:nvSpPr>
                <p:cNvPr id="14" name="文本框 13"/>
                <p:cNvSpPr txBox="1"/>
                <p:nvPr/>
              </p:nvSpPr>
              <p:spPr>
                <a:xfrm>
                  <a:off x="3064106" y="1110566"/>
                  <a:ext cx="1403498" cy="8215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600" b="1" dirty="0"/>
                    <a:t>传感器</a:t>
                  </a:r>
                  <a:endParaRPr lang="zh-CN" altLang="en-US" sz="1600" b="1" dirty="0"/>
                </a:p>
              </p:txBody>
            </p:sp>
            <p:sp>
              <p:nvSpPr>
                <p:cNvPr id="15" name="文本框 14"/>
                <p:cNvSpPr txBox="1"/>
                <p:nvPr/>
              </p:nvSpPr>
              <p:spPr>
                <a:xfrm>
                  <a:off x="3130783" y="3956477"/>
                  <a:ext cx="1403498" cy="8215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600" b="1" dirty="0"/>
                    <a:t>执行器</a:t>
                  </a:r>
                  <a:endParaRPr lang="zh-CN" altLang="en-US" sz="1600" b="1" dirty="0"/>
                </a:p>
              </p:txBody>
            </p:sp>
            <p:sp>
              <p:nvSpPr>
                <p:cNvPr id="31" name="文本框 30"/>
                <p:cNvSpPr txBox="1"/>
                <p:nvPr/>
              </p:nvSpPr>
              <p:spPr>
                <a:xfrm>
                  <a:off x="6446745" y="1712536"/>
                  <a:ext cx="1403498" cy="8215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600" b="1" dirty="0"/>
                    <a:t>感知</a:t>
                  </a:r>
                  <a:endParaRPr lang="zh-CN" altLang="en-US" sz="1600" b="1" dirty="0"/>
                </a:p>
              </p:txBody>
            </p:sp>
            <p:sp>
              <p:nvSpPr>
                <p:cNvPr id="32" name="文本框 31"/>
                <p:cNvSpPr txBox="1"/>
                <p:nvPr/>
              </p:nvSpPr>
              <p:spPr>
                <a:xfrm>
                  <a:off x="6447023" y="3316465"/>
                  <a:ext cx="1403498" cy="8215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600" b="1" dirty="0"/>
                    <a:t>动作</a:t>
                  </a:r>
                  <a:endParaRPr lang="zh-CN" altLang="en-US" sz="1600" b="1" dirty="0"/>
                </a:p>
              </p:txBody>
            </p:sp>
          </p:grpSp>
        </p:grpSp>
        <p:cxnSp>
          <p:nvCxnSpPr>
            <p:cNvPr id="19" name="直接箭头连接符 18"/>
            <p:cNvCxnSpPr>
              <a:stCxn id="15" idx="3"/>
            </p:cNvCxnSpPr>
            <p:nvPr/>
          </p:nvCxnSpPr>
          <p:spPr>
            <a:xfrm>
              <a:off x="4224" y="7057"/>
              <a:ext cx="4861" cy="0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prstDash val="solid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/>
            <p:nvPr/>
          </p:nvCxnSpPr>
          <p:spPr>
            <a:xfrm flipH="1">
              <a:off x="4229" y="5202"/>
              <a:ext cx="4861" cy="0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prstDash val="solid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文本框 24"/>
          <p:cNvSpPr txBox="1"/>
          <p:nvPr/>
        </p:nvSpPr>
        <p:spPr>
          <a:xfrm>
            <a:off x="1864995" y="3707765"/>
            <a:ext cx="6402705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简单说，一个智能体就是从</a:t>
            </a:r>
            <a:r>
              <a:rPr lang="zh-CN" altLang="en-US" sz="1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感知序列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到</a:t>
            </a:r>
            <a:r>
              <a:rPr lang="zh-CN" altLang="en-US" sz="1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动作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的一个</a:t>
            </a:r>
            <a:r>
              <a:rPr lang="zh-CN" altLang="en-US" sz="1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26" name="Object 4"/>
          <p:cNvGraphicFramePr>
            <a:graphicFrameLocks noChangeAspect="1"/>
          </p:cNvGraphicFramePr>
          <p:nvPr/>
        </p:nvGraphicFramePr>
        <p:xfrm>
          <a:off x="7957503" y="3707448"/>
          <a:ext cx="1589087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" name="" r:id="rId1" imgW="736600" imgH="228600" progId="Equation.DSMT4">
                  <p:embed/>
                </p:oleObj>
              </mc:Choice>
              <mc:Fallback>
                <p:oleObj name="" r:id="rId1" imgW="736600" imgH="2286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7957503" y="3707448"/>
                        <a:ext cx="1589087" cy="47783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775585" y="4401185"/>
            <a:ext cx="7470140" cy="15684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感知信息：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表示任何时刻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的感知输入。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感知序列：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收到的所有输入数据的完整历史。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在任何时刻的行动选择，取决于到该时刻为止的整个感知序列。</a:t>
            </a:r>
            <a:endParaRPr lang="en-US" altLang="zh-CN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函数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：将任意给定感知序列映射到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的动作。可以描述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的行为。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62000" y="487680"/>
            <a:ext cx="262128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ctr" defTabSz="914400" eaLnBrk="1" hangingPunct="1">
              <a:buClrTx/>
              <a:buSzTx/>
              <a:buFontTx/>
            </a:pPr>
            <a:r>
              <a:rPr lang="zh-CN" altLang="en-US" sz="32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智能</a:t>
            </a:r>
            <a:r>
              <a:rPr lang="zh-CN" altLang="en-US" sz="32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体和环境</a:t>
            </a:r>
            <a:endParaRPr lang="zh-CN" altLang="en-US" sz="3200" b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10244" name="Picture 4" descr="_x0015_agent-environment.jpg                                          00105F05_x0006_IRIDIA                         BC96F375: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9695" y="1185545"/>
            <a:ext cx="3644265" cy="16452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826760" y="2907665"/>
            <a:ext cx="6028690" cy="260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 defTabSz="914400" eaLnBrk="1" hangingPunct="1">
              <a:lnSpc>
                <a:spcPct val="130000"/>
              </a:lnSpc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</a:t>
            </a:r>
            <a:r>
              <a:rPr lang="zh-CN" altLang="en-US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函数</a:t>
            </a:r>
            <a:r>
              <a:rPr lang="zh-CN" alt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从外部反映了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的特性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 defTabSz="914400" eaLnBrk="1" hangingPunct="1">
              <a:lnSpc>
                <a:spcPct val="130000"/>
              </a:lnSpc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</a:t>
            </a:r>
            <a:r>
              <a:rPr lang="zh-CN" altLang="en-US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程序</a:t>
            </a:r>
            <a:r>
              <a:rPr lang="zh-CN" alt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从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内部来看，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函数是通过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程序实现的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 defTabSz="914400" eaLnBrk="1" hangingPunct="1">
              <a:lnSpc>
                <a:spcPct val="130000"/>
              </a:lnSpc>
              <a:buSzTx/>
              <a:buFontTx/>
              <a:buNone/>
              <a:defRPr/>
            </a:pP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 defTabSz="914400" eaLnBrk="1" hangingPunct="1">
              <a:lnSpc>
                <a:spcPct val="130000"/>
              </a:lnSpc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</a:t>
            </a:r>
            <a:r>
              <a:rPr lang="zh-CN" altLang="en-US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函数</a:t>
            </a:r>
            <a:r>
              <a:rPr lang="zh-CN" alt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：是一个抽象的数学表示</a:t>
            </a:r>
            <a:endParaRPr lang="zh-CN" altLang="en-US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 defTabSz="914400" eaLnBrk="1" hangingPunct="1">
              <a:lnSpc>
                <a:spcPct val="130000"/>
              </a:lnSpc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</a:t>
            </a:r>
            <a:r>
              <a:rPr lang="zh-CN" altLang="en-US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程序：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是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Agent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函数</a:t>
            </a:r>
            <a:r>
              <a:rPr lang="zh-CN" alt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在某种物理体系上的具体实现</a:t>
            </a:r>
            <a:endParaRPr lang="zh-CN" altLang="en-US" sz="18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 defTabSz="914400" eaLnBrk="1" hangingPunct="1">
              <a:lnSpc>
                <a:spcPct val="130000"/>
              </a:lnSpc>
              <a:buSzTx/>
              <a:buFontTx/>
              <a:buNone/>
              <a:defRPr/>
            </a:pPr>
            <a:endParaRPr lang="zh-CN" altLang="en-US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44208" y="334010"/>
            <a:ext cx="5484495" cy="107632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ctr" defTabSz="914400" eaLnBrk="1" hangingPunct="1">
              <a:buClrTx/>
              <a:buSzTx/>
              <a:buFontTx/>
            </a:pPr>
            <a:r>
              <a:rPr lang="zh-CN" altLang="en-US" sz="32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智能</a:t>
            </a:r>
            <a:r>
              <a:rPr lang="zh-CN" altLang="en-US" sz="32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体函数</a:t>
            </a:r>
            <a:r>
              <a:rPr lang="en-US" altLang="zh-CN" sz="32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Agent function</a:t>
            </a:r>
            <a:endParaRPr lang="en-US" altLang="zh-CN" sz="3200" b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ctr" defTabSz="914400" eaLnBrk="1" hangingPunct="1">
              <a:buClrTx/>
              <a:buSzTx/>
              <a:buFontTx/>
            </a:pPr>
            <a:r>
              <a:rPr lang="zh-CN" altLang="en-US" sz="32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智能体程序</a:t>
            </a:r>
            <a:r>
              <a:rPr lang="en-US" altLang="zh-CN" sz="32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Agent program</a:t>
            </a:r>
            <a:endParaRPr lang="en-US" altLang="zh-CN" sz="3200" b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863698" y="2485610"/>
          <a:ext cx="4612005" cy="3811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9260"/>
                <a:gridCol w="1642745"/>
              </a:tblGrid>
              <a:tr h="152908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2000" b="1" spc="13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Percept sequence</a:t>
                      </a:r>
                      <a:endParaRPr lang="en-US" altLang="zh-CN" sz="2000" b="1" spc="13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2000" b="1" spc="13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（感知序列）</a:t>
                      </a:r>
                      <a:endParaRPr lang="en-US" altLang="zh-CN" sz="2000" b="1" spc="13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2000" b="1" spc="13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Action（行动）</a:t>
                      </a:r>
                      <a:endParaRPr lang="en-US" altLang="zh-CN" sz="2000" b="1" spc="13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073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13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……</a:t>
                      </a:r>
                      <a:endParaRPr lang="en-US" altLang="zh-CN" sz="1800" b="0" spc="13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13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……</a:t>
                      </a:r>
                      <a:endParaRPr lang="en-US" altLang="zh-CN" sz="1800" b="0" spc="13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</a:tr>
              <a:tr h="76073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800" b="0" spc="13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800" b="0" spc="13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solidFill>
                      <a:srgbClr val="F2F2F2"/>
                    </a:solidFill>
                  </a:tcPr>
                </a:tc>
              </a:tr>
              <a:tr h="76073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800" b="0" spc="13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800" b="0" spc="13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716915" y="1497965"/>
            <a:ext cx="9090660" cy="9010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eaLnBrk="1" hangingPunct="1">
              <a:lnSpc>
                <a:spcPct val="130000"/>
              </a:lnSpc>
              <a:buSzTx/>
              <a:buFontTx/>
              <a:defRPr/>
            </a:pP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可以采用制表（列表）的方式表示</a:t>
            </a:r>
            <a:r>
              <a:rPr lang="en-US" altLang="zh-CN" sz="135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</a:t>
            </a:r>
            <a:r>
              <a:rPr lang="zh-CN" altLang="en-US" sz="135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函数</a:t>
            </a: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eaLnBrk="1" hangingPunct="1">
              <a:lnSpc>
                <a:spcPct val="130000"/>
              </a:lnSpc>
              <a:buSzTx/>
              <a:buFontTx/>
              <a:defRPr/>
            </a:pP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该表可能很大，甚至无限大。除非要考虑的感知序列长度有限。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eaLnBrk="1" hangingPunct="1">
              <a:lnSpc>
                <a:spcPct val="130000"/>
              </a:lnSpc>
              <a:buSzTx/>
              <a:buFontTx/>
              <a:defRPr/>
            </a:pP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原则上，可以通过实验找出感知序列、并记录</a:t>
            </a: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</a:t>
            </a: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的行动，来构造该表。</a:t>
            </a:r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Grp="1"/>
          </p:cNvSpPr>
          <p:nvPr>
            <p:ph type="title" idx="4294967295"/>
          </p:nvPr>
        </p:nvSpPr>
        <p:spPr>
          <a:xfrm>
            <a:off x="512445" y="313690"/>
            <a:ext cx="4150995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l" defTabSz="914400" eaLnBrk="1" hangingPunct="1">
              <a:buClrTx/>
              <a:buSzTx/>
              <a:buFontTx/>
            </a:pPr>
            <a:r>
              <a:rPr lang="zh-CN" altLang="en-US" sz="3200" kern="1200" spc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真空吸尘器世界</a:t>
            </a:r>
            <a:endParaRPr lang="zh-CN" altLang="en-US" sz="3200" kern="1200" spc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12291" name="Picture 3" descr="vacuum2-environment"/>
          <p:cNvPicPr>
            <a:picLocks noGrp="1" noChangeAspect="1"/>
          </p:cNvPicPr>
          <p:nvPr>
            <p:ph sz="half" idx="4294967295"/>
          </p:nvPr>
        </p:nvPicPr>
        <p:blipFill>
          <a:blip r:embed="rId1"/>
          <a:stretch>
            <a:fillRect/>
          </a:stretch>
        </p:blipFill>
        <p:spPr>
          <a:xfrm>
            <a:off x="7014210" y="202248"/>
            <a:ext cx="4095750" cy="20240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512445" y="1456690"/>
            <a:ext cx="5640070" cy="4292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世界：</a:t>
            </a:r>
            <a:r>
              <a:rPr lang="zh-CN" altLang="en-US" sz="20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方格</a:t>
            </a:r>
            <a:r>
              <a:rPr lang="en-US" altLang="zh-CN" sz="20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</a:t>
            </a:r>
            <a:r>
              <a:rPr lang="zh-CN" altLang="en-US" sz="20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sz="20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</a:t>
            </a:r>
            <a:endParaRPr lang="en-US" altLang="zh-CN" sz="20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感知：</a:t>
            </a:r>
            <a:r>
              <a:rPr lang="zh-CN" altLang="en-US" sz="20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可以感知所处的方格（位置）、是否有灰尘（本地的状态）</a:t>
            </a:r>
            <a:r>
              <a:rPr lang="zh-CN" altLang="en-US" sz="14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如：[A, Dirty]</a:t>
            </a:r>
            <a:endParaRPr lang="zh-CN" altLang="en-US" sz="140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140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动作：</a:t>
            </a:r>
            <a:r>
              <a:rPr lang="zh-CN" altLang="en-US" sz="20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向左移动、向右移动、吸取灰尘、什么也不做</a:t>
            </a:r>
            <a:r>
              <a:rPr lang="en-US" altLang="zh-CN" sz="20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</a:t>
            </a:r>
            <a:r>
              <a:rPr lang="zh-CN" altLang="en-US" sz="14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Left, Right, Suck, No-Op</a:t>
            </a:r>
            <a:endParaRPr lang="zh-CN" altLang="en-US" sz="140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140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函数（感知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动作映射函数）</a:t>
            </a:r>
            <a:r>
              <a:rPr lang="zh-CN" altLang="en-US" sz="20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：如果当前地点有灰尘，则吸取。否则移动到另一地点。</a:t>
            </a:r>
            <a:endParaRPr lang="zh-CN" altLang="en-US" sz="20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7078980" y="2397760"/>
          <a:ext cx="3966210" cy="3675380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2845435"/>
                <a:gridCol w="1120775"/>
              </a:tblGrid>
              <a:tr h="61404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900" b="1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感知序列</a:t>
                      </a:r>
                      <a:endParaRPr lang="zh-CN" altLang="en-US" sz="1900" b="1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900" b="1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行动</a:t>
                      </a:r>
                      <a:endParaRPr lang="zh-CN" altLang="en-US" sz="1900" b="1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61335"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[A, Clean]</a:t>
                      </a:r>
                      <a:endParaRPr lang="en-US" altLang="zh-CN" sz="1700" b="0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[A, Dirty]</a:t>
                      </a:r>
                      <a:endParaRPr lang="en-US" altLang="zh-CN" sz="1700" b="0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[B, Clean]</a:t>
                      </a:r>
                      <a:endParaRPr lang="en-US" altLang="zh-CN" sz="1700" b="0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[B, Dirty]</a:t>
                      </a:r>
                      <a:endParaRPr lang="en-US" altLang="zh-CN" sz="1700" b="0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[A, Clean], [A, Clean]</a:t>
                      </a:r>
                      <a:endParaRPr lang="en-US" altLang="zh-CN" sz="1700" b="0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[A, Clean], [A, Dirty]</a:t>
                      </a:r>
                      <a:endParaRPr lang="en-US" altLang="zh-CN" sz="1700" b="0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.</a:t>
                      </a:r>
                      <a:endParaRPr lang="en-US" altLang="zh-CN" sz="1700" b="0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.</a:t>
                      </a:r>
                      <a:endParaRPr lang="en-US" altLang="zh-CN" sz="1700" b="0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.</a:t>
                      </a:r>
                      <a:endParaRPr lang="en-US" altLang="zh-CN" sz="1700" b="0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Right</a:t>
                      </a:r>
                      <a:endParaRPr lang="en-US" altLang="zh-CN" sz="1700" b="0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Suck</a:t>
                      </a:r>
                      <a:endParaRPr lang="en-US" altLang="zh-CN" sz="1700" b="0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Left</a:t>
                      </a:r>
                      <a:endParaRPr lang="en-US" altLang="zh-CN" sz="1700" b="0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Suck</a:t>
                      </a:r>
                      <a:endParaRPr lang="en-US" altLang="zh-CN" sz="1700" b="0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Right</a:t>
                      </a:r>
                      <a:endParaRPr lang="en-US" altLang="zh-CN" sz="1700" b="0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Suck</a:t>
                      </a:r>
                      <a:endParaRPr lang="en-US" altLang="zh-CN" sz="1700" b="0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.</a:t>
                      </a:r>
                      <a:endParaRPr lang="en-US" altLang="zh-CN" sz="1700" b="0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.</a:t>
                      </a:r>
                      <a:endParaRPr lang="en-US" altLang="zh-CN" sz="1700" b="0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.</a:t>
                      </a:r>
                      <a:endParaRPr lang="en-US" altLang="zh-CN" sz="1700" b="0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468110" y="6073140"/>
            <a:ext cx="518858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18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真空吸尘器世界的一个简单</a:t>
            </a:r>
            <a:r>
              <a:rPr lang="en-US" altLang="zh-CN" sz="18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</a:t>
            </a:r>
            <a:r>
              <a:rPr lang="zh-CN" altLang="en-US" sz="18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函数的部分列表</a:t>
            </a:r>
            <a:endParaRPr lang="zh-CN" altLang="en-US" sz="18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Picture 3" descr="vacuum2-environment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11785"/>
            <a:ext cx="3204210" cy="158305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7157085" y="784225"/>
          <a:ext cx="4664075" cy="3500692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3240405"/>
                <a:gridCol w="1423670"/>
              </a:tblGrid>
              <a:tr h="49085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000" b="1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感知序列</a:t>
                      </a:r>
                      <a:endParaRPr lang="zh-CN" altLang="en-US" sz="2000" b="1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000" b="1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行动</a:t>
                      </a:r>
                      <a:endParaRPr lang="zh-CN" altLang="en-US" sz="2000" b="1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34310"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[A, Clean]</a:t>
                      </a:r>
                      <a:endParaRPr lang="en-US" altLang="zh-CN" sz="1800" b="0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[A, Dirty]</a:t>
                      </a:r>
                      <a:endParaRPr lang="en-US" altLang="zh-CN" sz="1800" b="0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[B, Clean]</a:t>
                      </a:r>
                      <a:endParaRPr lang="en-US" altLang="zh-CN" sz="1800" b="0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[B, Dirty]</a:t>
                      </a:r>
                      <a:endParaRPr lang="en-US" altLang="zh-CN" sz="1800" b="0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[A, Clean], [A, Clean]</a:t>
                      </a:r>
                      <a:endParaRPr lang="en-US" altLang="zh-CN" sz="1800" b="0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[A, Clean], [A, Dirty]</a:t>
                      </a:r>
                      <a:endParaRPr lang="en-US" altLang="zh-CN" sz="1800" b="0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altLang="zh-CN" sz="180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+mn-ea"/>
                        </a:rPr>
                        <a:t>..</a:t>
                      </a:r>
                      <a:endParaRPr lang="en-US" altLang="zh-CN" sz="1800" b="0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Right</a:t>
                      </a:r>
                      <a:endParaRPr lang="en-US" altLang="zh-CN" sz="1800" b="0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Suck</a:t>
                      </a:r>
                      <a:endParaRPr lang="en-US" altLang="zh-CN" sz="1800" b="0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Left</a:t>
                      </a:r>
                      <a:endParaRPr lang="en-US" altLang="zh-CN" sz="1800" b="0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Suck</a:t>
                      </a:r>
                      <a:endParaRPr lang="en-US" altLang="zh-CN" sz="1800" b="0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Right</a:t>
                      </a:r>
                      <a:endParaRPr lang="en-US" altLang="zh-CN" sz="1800" b="0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Suck</a:t>
                      </a:r>
                      <a:endParaRPr lang="en-US" altLang="zh-CN" sz="1800" b="0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altLang="zh-CN" sz="180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+mn-ea"/>
                        </a:rPr>
                        <a:t>..</a:t>
                      </a:r>
                      <a:endParaRPr lang="en-US" altLang="zh-CN" sz="1800" b="0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2643505" y="3803650"/>
            <a:ext cx="4269740" cy="8259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问题：</a:t>
            </a:r>
            <a:endParaRPr lang="zh-CN" altLang="en-US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怎样填表才是最好的算法？</a:t>
            </a:r>
            <a:endParaRPr lang="zh-CN" altLang="en-US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7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128" y="3961130"/>
            <a:ext cx="1089025" cy="19288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云形标注 7"/>
          <p:cNvSpPr/>
          <p:nvPr>
            <p:custDataLst>
              <p:tags r:id="rId4"/>
            </p:custDataLst>
          </p:nvPr>
        </p:nvSpPr>
        <p:spPr>
          <a:xfrm>
            <a:off x="976630" y="2343150"/>
            <a:ext cx="1200150" cy="1169670"/>
          </a:xfrm>
          <a:prstGeom prst="cloudCallout">
            <a:avLst>
              <a:gd name="adj1" fmla="val 8657"/>
              <a:gd name="adj2" fmla="val 98463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zh-CN" altLang="en-US" sz="2800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157085" y="4807585"/>
            <a:ext cx="4664710" cy="13220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Reflex-Vacuum-Agent([location, status]) 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returns an action</a:t>
            </a:r>
            <a:endParaRPr lang="en-US" altLang="zh-C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</a:t>
            </a:r>
            <a:r>
              <a:rPr lang="en-US" altLang="zh-CN" sz="1600" i="1">
                <a:latin typeface="Times New Roman" panose="02020603050405020304" pitchFamily="18" charset="0"/>
                <a:cs typeface="Times New Roman" panose="02020603050405020304" pitchFamily="18" charset="0"/>
              </a:rPr>
              <a:t>status = Dirty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then return</a:t>
            </a:r>
            <a:r>
              <a:rPr lang="en-US" altLang="zh-CN" sz="1600" i="1">
                <a:latin typeface="Times New Roman" panose="02020603050405020304" pitchFamily="18" charset="0"/>
                <a:cs typeface="Times New Roman" panose="02020603050405020304" pitchFamily="18" charset="0"/>
              </a:rPr>
              <a:t> Suck</a:t>
            </a:r>
            <a:endParaRPr lang="en-US" altLang="zh-C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    else if </a:t>
            </a:r>
            <a:r>
              <a:rPr lang="en-US" altLang="zh-CN" sz="1600" i="1">
                <a:latin typeface="Times New Roman" panose="02020603050405020304" pitchFamily="18" charset="0"/>
                <a:cs typeface="Times New Roman" panose="02020603050405020304" pitchFamily="18" charset="0"/>
              </a:rPr>
              <a:t>location=A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then retun </a:t>
            </a:r>
            <a:r>
              <a:rPr lang="en-US" altLang="zh-CN" sz="1600" i="1"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endParaRPr lang="en-US" altLang="zh-CN" sz="16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    else if </a:t>
            </a:r>
            <a:r>
              <a:rPr lang="en-US" altLang="zh-CN" sz="1600" i="1">
                <a:latin typeface="Times New Roman" panose="02020603050405020304" pitchFamily="18" charset="0"/>
                <a:cs typeface="Times New Roman" panose="02020603050405020304" pitchFamily="18" charset="0"/>
              </a:rPr>
              <a:t>location =B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then return </a:t>
            </a:r>
            <a:r>
              <a:rPr lang="en-US" altLang="zh-CN" sz="1600" i="1"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endParaRPr lang="en-US" altLang="zh-CN" sz="16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57085" y="315595"/>
            <a:ext cx="404431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en-US" altLang="zh-CN" sz="1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 函数</a:t>
            </a:r>
            <a:r>
              <a:rPr lang="zh-CN" altLang="en-US" sz="1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（部分列表）</a:t>
            </a:r>
            <a:endParaRPr lang="en-US" altLang="zh-CN" sz="1800" b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ctr" eaLnBrk="1" hangingPunct="1">
              <a:buClrTx/>
              <a:buSzTx/>
              <a:buFontTx/>
            </a:pPr>
            <a:endParaRPr lang="en-US" altLang="zh-CN" sz="1800" b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157085" y="4439285"/>
            <a:ext cx="355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en-US" altLang="zh-CN" sz="1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Agent程序</a:t>
            </a:r>
            <a:endParaRPr lang="en-US" altLang="zh-CN" sz="1800" b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585085" y="2647315"/>
            <a:ext cx="4328160" cy="8655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l" defTabSz="685800" eaLnBrk="1" hangingPunct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修改表格的右边就可以定义不同的真空吸尘器世界Agent。</a:t>
            </a:r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/>
          </p:cNvSpPr>
          <p:nvPr>
            <p:ph type="title"/>
          </p:nvPr>
        </p:nvSpPr>
        <p:spPr>
          <a:xfrm>
            <a:off x="730250" y="575945"/>
            <a:ext cx="10852150" cy="833755"/>
          </a:xfrm>
        </p:spPr>
        <p:txBody>
          <a:bodyPr vert="horz" wrap="square" lIns="121920" tIns="60960" rIns="121920" bIns="60960" anchor="ctr" anchorCtr="0">
            <a:noAutofit/>
          </a:bodyPr>
          <a:lstStyle/>
          <a:p>
            <a:pPr algn="ctr" defTabSz="685800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4800" b="1" spc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  <a:cs typeface="+mn-cs"/>
              </a:rPr>
              <a:t>第二章</a:t>
            </a:r>
            <a:r>
              <a:rPr lang="en-US" altLang="zh-CN" sz="4800" b="1" spc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  <a:cs typeface="+mn-cs"/>
              </a:rPr>
              <a:t>    </a:t>
            </a:r>
            <a:r>
              <a:rPr lang="zh-CN" altLang="en-US" sz="4800" b="1" spc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  <a:cs typeface="+mn-cs"/>
              </a:rPr>
              <a:t>智能AGENT（智能体）</a:t>
            </a:r>
            <a:endParaRPr lang="zh-CN" altLang="en-US" sz="4800" b="1" spc="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latin typeface="+mj-ea"/>
              <a:ea typeface="+mj-ea"/>
              <a:cs typeface="+mn-cs"/>
            </a:endParaRPr>
          </a:p>
        </p:txBody>
      </p:sp>
      <p:sp>
        <p:nvSpPr>
          <p:cNvPr id="44035" name="Rectangle 3"/>
          <p:cNvSpPr>
            <a:spLocks noGrp="1"/>
          </p:cNvSpPr>
          <p:nvPr>
            <p:ph idx="1"/>
          </p:nvPr>
        </p:nvSpPr>
        <p:spPr>
          <a:xfrm>
            <a:off x="730250" y="2567940"/>
            <a:ext cx="6596380" cy="3126740"/>
          </a:xfr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121920" tIns="60960" rIns="121920" bIns="60960" anchor="t" anchorCtr="0">
            <a:normAutofit/>
          </a:bodyPr>
          <a:lstStyle/>
          <a:p>
            <a:pPr eaLnBrk="1" hangingPunct="1"/>
            <a:r>
              <a:rPr lang="zh-CN" altLang="en-US" sz="32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Agent基本定义</a:t>
            </a: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Agent</a:t>
            </a: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的本质）</a:t>
            </a:r>
            <a:endParaRPr lang="zh-CN" altLang="en-US" sz="24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</a:endParaRPr>
          </a:p>
          <a:p>
            <a:pPr eaLnBrk="1" hangingPunct="1"/>
            <a:r>
              <a:rPr lang="zh-CN" altLang="en-US" sz="3200" b="1" dirty="0">
                <a:latin typeface="微软雅黑" panose="020B0503020204020204" pitchFamily="34" charset="-122"/>
              </a:rPr>
              <a:t>评价Agent行为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</a:rPr>
              <a:t>Agent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</a:rPr>
              <a:t>是否完美）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  <a:p>
            <a:pPr eaLnBrk="1" hangingPunct="1"/>
            <a:r>
              <a:rPr lang="zh-CN" altLang="en-US" sz="32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任务环境</a:t>
            </a: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（环境的多样性）</a:t>
            </a:r>
            <a:endParaRPr lang="zh-CN" altLang="en-US" sz="32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</a:endParaRPr>
          </a:p>
          <a:p>
            <a:pPr eaLnBrk="1" hangingPunct="1"/>
            <a:r>
              <a:rPr lang="zh-CN" altLang="en-US" sz="32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Agent的结构</a:t>
            </a: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Agent</a:t>
            </a: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分类）</a:t>
            </a:r>
            <a:endParaRPr lang="zh-CN" altLang="en-US" sz="24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270" y="2856230"/>
            <a:ext cx="4762500" cy="26790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28345" y="1110615"/>
          <a:ext cx="4664075" cy="3500692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3240405"/>
                <a:gridCol w="1423670"/>
              </a:tblGrid>
              <a:tr h="49085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000" b="1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感知序列</a:t>
                      </a:r>
                      <a:endParaRPr lang="zh-CN" altLang="en-US" sz="2000" b="1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000" b="1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行动</a:t>
                      </a:r>
                      <a:endParaRPr lang="zh-CN" altLang="en-US" sz="2000" b="1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34310"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[A, Clean]</a:t>
                      </a:r>
                      <a:endParaRPr lang="en-US" altLang="zh-CN" sz="1800" b="0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[A, Dirty]</a:t>
                      </a:r>
                      <a:endParaRPr lang="en-US" altLang="zh-CN" sz="1800" b="0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[B, Clean]</a:t>
                      </a:r>
                      <a:endParaRPr lang="en-US" altLang="zh-CN" sz="1800" b="0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[B, Dirty]</a:t>
                      </a:r>
                      <a:endParaRPr lang="en-US" altLang="zh-CN" sz="1800" b="0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[A, Clean], [A, Clean]</a:t>
                      </a:r>
                      <a:endParaRPr lang="en-US" altLang="zh-CN" sz="1800" b="0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[A, Clean], [A, Dirty]</a:t>
                      </a:r>
                      <a:endParaRPr lang="en-US" altLang="zh-CN" sz="1800" b="0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altLang="zh-CN" sz="180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+mn-ea"/>
                        </a:rPr>
                        <a:t>..</a:t>
                      </a:r>
                      <a:endParaRPr lang="en-US" altLang="zh-CN" sz="1800" b="0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Right</a:t>
                      </a:r>
                      <a:endParaRPr lang="en-US" altLang="zh-CN" sz="1800" b="0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Suck</a:t>
                      </a:r>
                      <a:endParaRPr lang="en-US" altLang="zh-CN" sz="1800" b="0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Left</a:t>
                      </a:r>
                      <a:endParaRPr lang="en-US" altLang="zh-CN" sz="1800" b="0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Suck</a:t>
                      </a:r>
                      <a:endParaRPr lang="en-US" altLang="zh-CN" sz="1800" b="0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Right</a:t>
                      </a:r>
                      <a:endParaRPr lang="en-US" altLang="zh-CN" sz="1800" b="0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Suck</a:t>
                      </a:r>
                      <a:endParaRPr lang="en-US" altLang="zh-CN" sz="1800" b="0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altLang="zh-CN" sz="1800" spc="13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+mn-ea"/>
                        </a:rPr>
                        <a:t>..</a:t>
                      </a:r>
                      <a:endParaRPr lang="en-US" altLang="zh-CN" sz="1800" b="0" spc="13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5942965" y="1110615"/>
            <a:ext cx="5698490" cy="31896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l" defTabSz="685800" eaLnBrk="1" hangingPunct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理性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做事正确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的智能体。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742950" lvl="1" indent="-285750" algn="l" defTabSz="685800" eaLnBrk="1" hangingPunct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函数表格的右边都填写正确。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indent="-285750" algn="l" defTabSz="685800" eaLnBrk="1" hangingPunct="1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 defTabSz="685800" eaLnBrk="1" hangingPunct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什么是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正确的事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？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950" lvl="1" indent="-285750" algn="l" defTabSz="685800" eaLnBrk="1" hangingPunct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需要某种方法度量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成功与否，连同对环境、传感器、执行器的描述，为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面临的任务提供一个完整的规范说明。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indent="-285750" algn="l" defTabSz="685800" eaLnBrk="1" hangingPunct="1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zh-CN" altLang="en-US"/>
          </a:p>
        </p:txBody>
      </p:sp>
      <p:sp>
        <p:nvSpPr>
          <p:cNvPr id="15363" name="Rectangle 2"/>
          <p:cNvSpPr>
            <a:spLocks noGrp="1"/>
          </p:cNvSpPr>
          <p:nvPr/>
        </p:nvSpPr>
        <p:spPr>
          <a:xfrm>
            <a:off x="728345" y="179705"/>
            <a:ext cx="8540750" cy="1143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l" defTabSz="914400" eaLnBrk="1" hangingPunct="1">
              <a:buClrTx/>
              <a:buSzTx/>
              <a:buFontTx/>
            </a:pPr>
            <a:r>
              <a:rPr lang="zh-CN" altLang="en-US" sz="3200" b="1" kern="1200">
                <a:solidFill>
                  <a:srgbClr val="0070C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理性智能体（</a:t>
            </a:r>
            <a:r>
              <a:rPr lang="en-US" altLang="zh-CN" sz="3200" b="1" kern="1200">
                <a:solidFill>
                  <a:srgbClr val="0070C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Rational Agent</a:t>
            </a:r>
            <a:r>
              <a:rPr lang="zh-CN" altLang="en-US" sz="3200" b="1" kern="1200">
                <a:solidFill>
                  <a:srgbClr val="0070C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lang="zh-CN" altLang="en-US" sz="3200" b="1" kern="1200">
              <a:solidFill>
                <a:srgbClr val="0070C0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0890" y="5120640"/>
            <a:ext cx="6195695" cy="12528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  <a:buFont typeface="Arial" panose="020B0604020202020204" pitchFamily="34" charset="0"/>
            </a:pPr>
            <a:r>
              <a:rPr lang="zh-CN" altLang="en-US" sz="1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问题：</a:t>
            </a:r>
            <a:endParaRPr lang="zh-CN" altLang="en-US" sz="18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怎样填表才是最好的算法？</a:t>
            </a:r>
            <a:endParaRPr lang="zh-CN" altLang="en-US" sz="18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如何判断Agent是</a:t>
            </a:r>
            <a:r>
              <a:rPr lang="en-US" altLang="zh-CN" sz="1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好的、坏的、智能的、愚蠢的？</a:t>
            </a:r>
            <a:endParaRPr lang="zh-CN" altLang="en-US" sz="18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5800" y="4642485"/>
            <a:ext cx="6280785" cy="478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l" defTabSz="685800" eaLnBrk="1" hangingPunct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修改表格的右边就可以定义不同的真空吸尘器世界Agent。</a:t>
            </a:r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/>
          </p:cNvSpPr>
          <p:nvPr/>
        </p:nvSpPr>
        <p:spPr>
          <a:xfrm>
            <a:off x="728345" y="179705"/>
            <a:ext cx="8540750" cy="1143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l" defTabSz="914400" eaLnBrk="1" hangingPunct="1">
              <a:buClrTx/>
              <a:buSzTx/>
              <a:buFontTx/>
            </a:pPr>
            <a:r>
              <a:rPr lang="zh-CN" altLang="en-US" sz="3200" b="1" kern="1200">
                <a:solidFill>
                  <a:srgbClr val="0070C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性能度量：</a:t>
            </a:r>
            <a:r>
              <a:rPr lang="zh-CN" altLang="en-US" sz="3200" b="1">
                <a:solidFill>
                  <a:srgbClr val="0070C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Agent成功程度的标准</a:t>
            </a:r>
            <a:endParaRPr lang="zh-CN" altLang="en-US" sz="3200" b="1" kern="1200">
              <a:solidFill>
                <a:srgbClr val="0070C0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96620" y="1486535"/>
            <a:ext cx="10398125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性能度量：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通常由理性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设计者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给出，根据实际在所处的环境中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希望得到的结果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来设计度量，而不是根据智能体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表现的行为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当把Agent置于一个环境中后，它将针对收到的感知信息产生动作序列。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该动作序列引起环境历经一个状态序列。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环境的上述状态序列是想要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的，则Agent的性能良好。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需要客观的性能度量（通常由理性</a:t>
            </a: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的设计者给出）</a:t>
            </a:r>
            <a:endParaRPr lang="zh-CN" altLang="en-US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没固定的适合所有智能体的度量标准</a:t>
            </a:r>
            <a:endParaRPr lang="zh-CN" altLang="en-US" b="1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理性</a:t>
            </a: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Agent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应该选择期望能使其性能度量最大化的行动</a:t>
            </a:r>
            <a:endParaRPr lang="zh-CN" altLang="en-US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圆角矩形 10"/>
          <p:cNvSpPr/>
          <p:nvPr/>
        </p:nvSpPr>
        <p:spPr>
          <a:xfrm>
            <a:off x="7028180" y="907415"/>
            <a:ext cx="4878705" cy="494601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63" name="Rectangle 2"/>
          <p:cNvSpPr>
            <a:spLocks noGrp="1"/>
          </p:cNvSpPr>
          <p:nvPr/>
        </p:nvSpPr>
        <p:spPr>
          <a:xfrm>
            <a:off x="527685" y="452755"/>
            <a:ext cx="5292090" cy="1143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l" defTabSz="914400" eaLnBrk="1" hangingPunct="1">
              <a:buClrTx/>
              <a:buSzTx/>
              <a:buFontTx/>
            </a:pPr>
            <a:r>
              <a:rPr lang="zh-CN" altLang="en-US" sz="3200" b="1" kern="1200">
                <a:solidFill>
                  <a:srgbClr val="0070C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理性（</a:t>
            </a:r>
            <a:r>
              <a:rPr lang="en-US" altLang="zh-CN" sz="3200" b="1" kern="1200">
                <a:solidFill>
                  <a:srgbClr val="0070C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Rationality</a:t>
            </a:r>
            <a:r>
              <a:rPr lang="zh-CN" altLang="en-US" sz="3200" b="1" kern="1200">
                <a:solidFill>
                  <a:srgbClr val="0070C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）的判断</a:t>
            </a:r>
            <a:endParaRPr lang="zh-CN" altLang="en-US" sz="3200" b="1" kern="1200">
              <a:solidFill>
                <a:srgbClr val="0070C0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139940" y="2315845"/>
            <a:ext cx="4655185" cy="243014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>
              <a:lnSpc>
                <a:spcPct val="190000"/>
              </a:lnSpc>
            </a:pPr>
            <a:r>
              <a:rPr lang="en-US" altLang="zh-CN" sz="20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</a:t>
            </a:r>
            <a:r>
              <a:rPr lang="zh-CN" altLang="en-US" sz="20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对于每一个可能的</a:t>
            </a:r>
            <a:r>
              <a:rPr lang="zh-CN" altLang="en-US" sz="2000" b="1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感知序列</a:t>
            </a:r>
            <a:r>
              <a:rPr lang="zh-CN" altLang="en-US" sz="20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，根据已知的</a:t>
            </a:r>
            <a:r>
              <a:rPr lang="zh-CN" altLang="en-US" sz="2000" b="1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感知序列</a:t>
            </a:r>
            <a:r>
              <a:rPr lang="zh-CN" altLang="en-US" sz="20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和内建的</a:t>
            </a:r>
            <a:r>
              <a:rPr lang="zh-CN" altLang="en-US" sz="2000" b="1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先验知识</a:t>
            </a:r>
            <a:r>
              <a:rPr lang="zh-CN" altLang="en-US" sz="20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，理性</a:t>
            </a:r>
            <a:r>
              <a:rPr lang="en-US" altLang="zh-CN" sz="20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</a:t>
            </a:r>
            <a:r>
              <a:rPr lang="zh-CN" altLang="en-US" sz="20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选择能使</a:t>
            </a:r>
            <a:r>
              <a:rPr lang="zh-CN" altLang="en-US" sz="2000" b="1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性能指标</a:t>
            </a:r>
            <a:r>
              <a:rPr lang="zh-CN" altLang="en-US" sz="20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的期望值</a:t>
            </a:r>
            <a:r>
              <a:rPr lang="zh-CN" altLang="en-US" sz="20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最大化</a:t>
            </a:r>
            <a:r>
              <a:rPr lang="zh-CN" altLang="en-US" sz="20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</a:t>
            </a:r>
            <a:r>
              <a:rPr lang="zh-CN" altLang="en-US" sz="2000" b="1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动作</a:t>
            </a:r>
            <a:r>
              <a:rPr lang="zh-CN" altLang="en-US" sz="20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2000" b="1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7792085" y="1172845"/>
            <a:ext cx="3350895" cy="1143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</a:pPr>
            <a:r>
              <a:rPr lang="zh-CN" altLang="en-US" sz="3200" b="1" kern="1200">
                <a:solidFill>
                  <a:srgbClr val="0070C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理性</a:t>
            </a:r>
            <a:r>
              <a:rPr lang="en-US" altLang="zh-CN" sz="3200" b="1" kern="1200">
                <a:solidFill>
                  <a:srgbClr val="0070C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</a:t>
            </a:r>
            <a:endParaRPr lang="zh-CN" altLang="en-US" sz="2000" kern="1200" dirty="0">
              <a:solidFill>
                <a:srgbClr val="C00000"/>
              </a:solidFill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81" name="文本框 580"/>
          <p:cNvSpPr txBox="1"/>
          <p:nvPr/>
        </p:nvSpPr>
        <p:spPr>
          <a:xfrm>
            <a:off x="7140258" y="5077460"/>
            <a:ext cx="46545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（这是一个重要、且比较严谨的定义）</a:t>
            </a:r>
            <a:endParaRPr lang="zh-CN" altLang="en-US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622300" y="1595755"/>
            <a:ext cx="6125845" cy="4257040"/>
            <a:chOff x="980" y="2513"/>
            <a:chExt cx="9647" cy="6704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80" y="2513"/>
              <a:ext cx="6915" cy="6705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7895" y="2513"/>
              <a:ext cx="2732" cy="63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320000"/>
                </a:lnSpc>
              </a:pPr>
              <a:r>
                <a:rPr lang="en-US" altLang="zh-CN" sz="2000" b="1">
                  <a:solidFill>
                    <a:srgbClr val="0070C0"/>
                  </a:solidFill>
                </a:rPr>
                <a:t>P</a:t>
              </a:r>
              <a:r>
                <a:rPr lang="en-US" altLang="zh-CN" sz="2000" b="1">
                  <a:solidFill>
                    <a:schemeClr val="bg2">
                      <a:lumMod val="50000"/>
                    </a:schemeClr>
                  </a:solidFill>
                </a:rPr>
                <a:t>erformance</a:t>
              </a:r>
              <a:endParaRPr lang="en-US" altLang="zh-CN" sz="2000" b="1"/>
            </a:p>
            <a:p>
              <a:pPr>
                <a:lnSpc>
                  <a:spcPct val="320000"/>
                </a:lnSpc>
              </a:pPr>
              <a:r>
                <a:rPr lang="en-US" altLang="zh-CN" sz="2000" b="1">
                  <a:solidFill>
                    <a:srgbClr val="0070C0"/>
                  </a:solidFill>
                </a:rPr>
                <a:t>E</a:t>
              </a:r>
              <a:r>
                <a:rPr lang="en-US" altLang="zh-CN" sz="2000" b="1">
                  <a:solidFill>
                    <a:schemeClr val="bg2">
                      <a:lumMod val="50000"/>
                    </a:schemeClr>
                  </a:solidFill>
                </a:rPr>
                <a:t>nviroment</a:t>
              </a:r>
              <a:endParaRPr lang="en-US" altLang="zh-CN" sz="2000" b="1">
                <a:solidFill>
                  <a:schemeClr val="bg2">
                    <a:lumMod val="50000"/>
                  </a:schemeClr>
                </a:solidFill>
              </a:endParaRPr>
            </a:p>
            <a:p>
              <a:pPr>
                <a:lnSpc>
                  <a:spcPct val="320000"/>
                </a:lnSpc>
              </a:pPr>
              <a:r>
                <a:rPr lang="en-US" altLang="zh-CN" sz="2000" b="1">
                  <a:solidFill>
                    <a:srgbClr val="0070C0"/>
                  </a:solidFill>
                </a:rPr>
                <a:t>A</a:t>
              </a:r>
              <a:r>
                <a:rPr lang="en-US" altLang="zh-CN" sz="2000" b="1">
                  <a:solidFill>
                    <a:schemeClr val="bg2">
                      <a:lumMod val="50000"/>
                    </a:schemeClr>
                  </a:solidFill>
                </a:rPr>
                <a:t>ctuators</a:t>
              </a:r>
              <a:endParaRPr lang="en-US" altLang="zh-CN" sz="2000" b="1">
                <a:solidFill>
                  <a:schemeClr val="bg2">
                    <a:lumMod val="50000"/>
                  </a:schemeClr>
                </a:solidFill>
              </a:endParaRPr>
            </a:p>
            <a:p>
              <a:pPr>
                <a:lnSpc>
                  <a:spcPct val="320000"/>
                </a:lnSpc>
              </a:pPr>
              <a:r>
                <a:rPr lang="en-US" altLang="zh-CN" sz="2000" b="1">
                  <a:solidFill>
                    <a:srgbClr val="0070C0"/>
                  </a:solidFill>
                </a:rPr>
                <a:t>S</a:t>
              </a:r>
              <a:r>
                <a:rPr lang="en-US" altLang="zh-CN" sz="2000" b="1">
                  <a:solidFill>
                    <a:schemeClr val="bg2">
                      <a:lumMod val="50000"/>
                    </a:schemeClr>
                  </a:solidFill>
                </a:rPr>
                <a:t>ensors</a:t>
              </a:r>
              <a:endParaRPr lang="en-US" altLang="zh-CN" sz="2000" b="1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/>
          </p:cNvSpPr>
          <p:nvPr>
            <p:ph type="title" idx="4294967295"/>
          </p:nvPr>
        </p:nvSpPr>
        <p:spPr>
          <a:xfrm>
            <a:off x="278765" y="361950"/>
            <a:ext cx="709422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l" defTabSz="914400" eaLnBrk="1" hangingPunct="1">
              <a:buClrTx/>
              <a:buSzTx/>
              <a:buFontTx/>
            </a:pPr>
            <a:r>
              <a:rPr lang="zh-CN" altLang="en-US" sz="3200" kern="1200" spc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自动真空吸尘器智能体是理性的吗？</a:t>
            </a:r>
            <a:endParaRPr lang="zh-CN" altLang="en-US" kern="1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19472" name="Group 16"/>
          <p:cNvGraphicFramePr>
            <a:graphicFrameLocks noGrp="1"/>
          </p:cNvGraphicFramePr>
          <p:nvPr>
            <p:ph sz="half" idx="4294967295"/>
            <p:custDataLst>
              <p:tags r:id="rId1"/>
            </p:custDataLst>
          </p:nvPr>
        </p:nvGraphicFramePr>
        <p:xfrm>
          <a:off x="943928" y="3169920"/>
          <a:ext cx="4114800" cy="2946400"/>
        </p:xfrm>
        <a:graphic>
          <a:graphicData uri="http://schemas.openxmlformats.org/drawingml/2006/table">
            <a:tbl>
              <a:tblPr/>
              <a:tblGrid>
                <a:gridCol w="3030855"/>
                <a:gridCol w="1083945"/>
              </a:tblGrid>
              <a:tr h="584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感知序列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动作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2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[</a:t>
                      </a: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</a:t>
                      </a: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Clean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[</a:t>
                      </a: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</a:t>
                      </a: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Dirty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[</a:t>
                      </a: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</a:t>
                      </a: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Clean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[</a:t>
                      </a: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</a:t>
                      </a: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Dirty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Right</a:t>
                      </a:r>
                      <a:endParaRPr kumimoji="0" lang="en-US" altLang="zh-CN" sz="2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Suck</a:t>
                      </a:r>
                      <a:endParaRPr kumimoji="0" lang="en-US" altLang="zh-CN" sz="2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Left</a:t>
                      </a:r>
                      <a:endParaRPr kumimoji="0" lang="en-US" altLang="zh-CN" sz="2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Suck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Text Box 29"/>
          <p:cNvSpPr txBox="1"/>
          <p:nvPr/>
        </p:nvSpPr>
        <p:spPr>
          <a:xfrm>
            <a:off x="5453698" y="3178175"/>
            <a:ext cx="6667500" cy="11684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很难说！</a:t>
            </a:r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需说明性能度量、环境知识、感知与行动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29"/>
          <p:cNvSpPr txBox="1"/>
          <p:nvPr>
            <p:custDataLst>
              <p:tags r:id="rId2"/>
            </p:custDataLst>
          </p:nvPr>
        </p:nvSpPr>
        <p:spPr>
          <a:xfrm>
            <a:off x="5703570" y="4939030"/>
            <a:ext cx="616775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800" b="1" dirty="0">
                <a:solidFill>
                  <a:schemeClr val="dk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理性会随智能体所处环境变化而变化！</a:t>
            </a:r>
            <a:endParaRPr lang="zh-CN" altLang="en-US" sz="2800" b="1" dirty="0">
              <a:solidFill>
                <a:schemeClr val="dk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7456170" y="563880"/>
            <a:ext cx="3854450" cy="20218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 marL="0" indent="0">
              <a:buNone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理性的判断包括：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zh-CN" altLang="en-US" sz="1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定义成功标准的性能度量</a:t>
            </a:r>
            <a:endParaRPr lang="en-US" altLang="zh-CN" sz="1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sz="1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</a:t>
            </a:r>
            <a:r>
              <a:rPr lang="zh-CN" altLang="en-US" sz="1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对环境的先验知识</a:t>
            </a:r>
            <a:endParaRPr lang="en-US" altLang="zh-CN" sz="1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sz="1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</a:t>
            </a:r>
            <a:r>
              <a:rPr lang="zh-CN" altLang="en-US" sz="1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可以执行的动作</a:t>
            </a:r>
            <a:endParaRPr lang="en-US" altLang="zh-CN" sz="1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sz="1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</a:t>
            </a:r>
            <a:r>
              <a:rPr lang="zh-CN" altLang="en-US" sz="1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的感知序列</a:t>
            </a:r>
            <a:endParaRPr lang="zh-CN" altLang="en-US" sz="1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291" name="Picture 3" descr="vacuum2-environment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245" y="1504950"/>
            <a:ext cx="3204210" cy="15830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8805" y="405130"/>
            <a:ext cx="627888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200" b="1">
                <a:solidFill>
                  <a:srgbClr val="0070C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自动真空吸尘器智能体的理性判断</a:t>
            </a:r>
            <a:endParaRPr lang="en-US" altLang="zh-CN" sz="3200" b="1">
              <a:solidFill>
                <a:srgbClr val="0070C0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57165" y="1198245"/>
            <a:ext cx="6725920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可以假设</a:t>
            </a:r>
            <a:endParaRPr lang="zh-CN" altLang="en-US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（1）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性能度量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是在每个单位时间内对每块清洁的区域奖励1分。时间跨度为相当于1000个单位时间。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（2）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环境的地理是已知的，这是一种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先验知识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。但灰尘的分布和Agent的初始位置未知。干净的方格必须保持清洁，而吸尘的动作清洁当前的方格。Left（左）和Right（右）的动作使Agent向左、向右移动。除非使Agent移出环境，此时Agent保持原位。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（3）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可能的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动作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包括： Left（左）、Right（右）、 Suck（吸尘）、NoOp（无动作）。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（4）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Agent可正确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感知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自己的位置、所在地是否有灰尘。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12291" name="Picture 3" descr="vacuum2-environment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145" y="1198245"/>
            <a:ext cx="2926715" cy="14458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内容占位符 2"/>
          <p:cNvSpPr>
            <a:spLocks noGrp="1"/>
          </p:cNvSpPr>
          <p:nvPr/>
        </p:nvSpPr>
        <p:spPr>
          <a:xfrm>
            <a:off x="779145" y="2743200"/>
            <a:ext cx="3854450" cy="20218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 marL="0" indent="0">
              <a:buNone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理性的判断包括：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zh-CN" altLang="en-US" sz="1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定义成功标准的性能度量</a:t>
            </a:r>
            <a:endParaRPr lang="en-US" altLang="zh-CN" sz="1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sz="1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</a:t>
            </a:r>
            <a:r>
              <a:rPr lang="zh-CN" altLang="en-US" sz="1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对环境的先验知识</a:t>
            </a:r>
            <a:endParaRPr lang="en-US" altLang="zh-CN" sz="1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sz="1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</a:t>
            </a:r>
            <a:r>
              <a:rPr lang="zh-CN" altLang="en-US" sz="1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可以执行的动作</a:t>
            </a:r>
            <a:endParaRPr lang="en-US" altLang="zh-CN" sz="1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sz="1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</a:t>
            </a:r>
            <a:r>
              <a:rPr lang="zh-CN" altLang="en-US" sz="1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的感知序列</a:t>
            </a:r>
            <a:endParaRPr lang="zh-CN" altLang="en-US" sz="1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67020" y="4982845"/>
            <a:ext cx="3854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在这些条件下，该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是理性的。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8805" y="405130"/>
            <a:ext cx="627888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200" b="1">
                <a:solidFill>
                  <a:srgbClr val="0070C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自动真空吸尘器智能体的理性判断</a:t>
            </a:r>
            <a:endParaRPr lang="en-US" altLang="zh-CN" sz="3200" b="1">
              <a:solidFill>
                <a:srgbClr val="0070C0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12291" name="Picture 3" descr="vacuum2-environment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145" y="1198245"/>
            <a:ext cx="2926715" cy="14458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内容占位符 2"/>
          <p:cNvSpPr>
            <a:spLocks noGrp="1"/>
          </p:cNvSpPr>
          <p:nvPr/>
        </p:nvSpPr>
        <p:spPr>
          <a:xfrm>
            <a:off x="779145" y="2743200"/>
            <a:ext cx="3854450" cy="20218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 marL="0" indent="0">
              <a:buNone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理性的判断包括：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zh-CN" altLang="en-US" sz="1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定义成功标准的性能度量</a:t>
            </a:r>
            <a:endParaRPr lang="en-US" altLang="zh-CN" sz="1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sz="1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</a:t>
            </a:r>
            <a:r>
              <a:rPr lang="zh-CN" altLang="en-US" sz="1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对环境的先验知识</a:t>
            </a:r>
            <a:endParaRPr lang="en-US" altLang="zh-CN" sz="1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sz="1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</a:t>
            </a:r>
            <a:r>
              <a:rPr lang="zh-CN" altLang="en-US" sz="1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可以执行的动作</a:t>
            </a:r>
            <a:endParaRPr lang="en-US" altLang="zh-CN" sz="1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sz="1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</a:t>
            </a:r>
            <a:r>
              <a:rPr lang="zh-CN" altLang="en-US" sz="1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的感知序列</a:t>
            </a:r>
            <a:endParaRPr lang="zh-CN" altLang="en-US" sz="1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21300" y="2879725"/>
            <a:ext cx="5923915" cy="16910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在时间T内每打扫一格加一分？ 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在一个时间段内，每打扫一格加一分，每移动一格减一分？ 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多于k格不干净就进行惩罚？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……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838825" y="1466850"/>
            <a:ext cx="45402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同样的</a:t>
            </a:r>
            <a:r>
              <a:rPr lang="en-US" altLang="zh-CN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在不同的环境下会变成非理性</a:t>
            </a:r>
            <a:endParaRPr lang="zh-CN" altLang="en-US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370830" y="2511425"/>
            <a:ext cx="64674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考察各种真空吸尘器</a:t>
            </a:r>
            <a:r>
              <a:rPr lang="en-US" altLang="zh-CN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</a:t>
            </a:r>
            <a:r>
              <a:rPr lang="zh-CN" altLang="en-US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函数的理性（</a:t>
            </a:r>
            <a:r>
              <a:rPr lang="zh-CN" altLang="en-US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习题</a:t>
            </a:r>
            <a:r>
              <a:rPr lang="en-US" altLang="zh-CN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2.2</a:t>
            </a:r>
            <a:r>
              <a:rPr lang="zh-CN" altLang="en-US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）：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/>
          <p:cNvSpPr txBox="1"/>
          <p:nvPr>
            <p:custDataLst>
              <p:tags r:id="rId1"/>
            </p:custDataLst>
          </p:nvPr>
        </p:nvSpPr>
        <p:spPr>
          <a:xfrm>
            <a:off x="2091690" y="1800225"/>
            <a:ext cx="9634220" cy="2277745"/>
          </a:xfrm>
          <a:prstGeom prst="rect">
            <a:avLst/>
          </a:prstGeom>
          <a:noFill/>
        </p:spPr>
        <p:txBody>
          <a:bodyPr wrap="square" lIns="101600" tIns="0" rIns="82550" bIns="0" rtlCol="0" anchor="t" anchorCtr="0">
            <a:sp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 marL="0" lvl="0" indent="0" algn="l" fontAlgn="ctr">
              <a:lnSpc>
                <a:spcPct val="130000"/>
              </a:lnSpc>
              <a:spcBef>
                <a:spcPts val="2800"/>
              </a:spcBef>
              <a:spcAft>
                <a:spcPts val="0"/>
              </a:spcAft>
              <a:buSzPct val="100000"/>
              <a:buNone/>
            </a:pPr>
            <a:r>
              <a:rPr lang="zh-CN" altLang="en-US" sz="2600" spc="30" dirty="0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理性 ≠ 先知			先验知识，感知序列</a:t>
            </a:r>
            <a:endParaRPr lang="zh-CN" altLang="en-US" sz="2600" spc="30" dirty="0">
              <a:ln w="3175">
                <a:noFill/>
                <a:prstDash val="dash"/>
              </a:ln>
              <a:solidFill>
                <a:schemeClr val="tx1">
                  <a:lumMod val="75000"/>
                  <a:lumOff val="25000"/>
                </a:schemeClr>
              </a:solidFill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0" indent="0" algn="l" fontAlgn="ctr">
              <a:lnSpc>
                <a:spcPct val="130000"/>
              </a:lnSpc>
              <a:spcBef>
                <a:spcPts val="2800"/>
              </a:spcBef>
              <a:spcAft>
                <a:spcPts val="0"/>
              </a:spcAft>
              <a:buSzPct val="100000"/>
              <a:buNone/>
            </a:pPr>
            <a:r>
              <a:rPr lang="zh-CN" altLang="en-US" sz="2600" spc="30" dirty="0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理性 ≠ 成功			动作集合</a:t>
            </a:r>
            <a:endParaRPr lang="zh-CN" altLang="en-US" sz="2600" spc="30" dirty="0">
              <a:ln w="3175">
                <a:noFill/>
                <a:prstDash val="dash"/>
              </a:ln>
              <a:solidFill>
                <a:schemeClr val="tx1">
                  <a:lumMod val="75000"/>
                  <a:lumOff val="25000"/>
                </a:schemeClr>
              </a:solidFill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0" indent="0" algn="l" fontAlgn="ctr">
              <a:lnSpc>
                <a:spcPct val="130000"/>
              </a:lnSpc>
              <a:spcBef>
                <a:spcPts val="2800"/>
              </a:spcBef>
              <a:spcAft>
                <a:spcPts val="0"/>
              </a:spcAft>
              <a:buSzPct val="100000"/>
              <a:buNone/>
            </a:pPr>
            <a:r>
              <a:rPr lang="zh-CN" altLang="en-US" sz="2600" spc="30" dirty="0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理性 =&gt; 探索，学习</a:t>
            </a:r>
            <a:endParaRPr lang="zh-CN" altLang="en-US" sz="2600" spc="30" dirty="0">
              <a:ln w="3175">
                <a:noFill/>
                <a:prstDash val="dash"/>
              </a:ln>
              <a:solidFill>
                <a:schemeClr val="tx1">
                  <a:lumMod val="75000"/>
                  <a:lumOff val="25000"/>
                </a:schemeClr>
              </a:solidFill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39" name="icon_1"/>
          <p:cNvGrpSpPr>
            <a:grpSpLocks noChangeAspect="1"/>
          </p:cNvGrpSpPr>
          <p:nvPr>
            <p:custDataLst>
              <p:tags r:id="rId2"/>
            </p:custDataLst>
          </p:nvPr>
        </p:nvGrpSpPr>
        <p:grpSpPr bwMode="auto">
          <a:xfrm>
            <a:off x="1380490" y="2006946"/>
            <a:ext cx="457200" cy="286327"/>
            <a:chOff x="3741" y="2098"/>
            <a:chExt cx="198" cy="124"/>
          </a:xfrm>
          <a:solidFill>
            <a:schemeClr val="accent1"/>
          </a:solidFill>
        </p:grpSpPr>
        <p:sp>
          <p:nvSpPr>
            <p:cNvPr id="31" name="PA-任意多边形 909"/>
            <p:cNvSpPr>
              <a:spLocks noEditPoints="1"/>
            </p:cNvSpPr>
            <p:nvPr>
              <p:custDataLst>
                <p:tags r:id="rId3"/>
              </p:custDataLst>
            </p:nvPr>
          </p:nvSpPr>
          <p:spPr bwMode="auto">
            <a:xfrm>
              <a:off x="3741" y="2098"/>
              <a:ext cx="198" cy="124"/>
            </a:xfrm>
            <a:custGeom>
              <a:avLst/>
              <a:gdLst>
                <a:gd name="T0" fmla="*/ 511 w 511"/>
                <a:gd name="T1" fmla="*/ 156 h 319"/>
                <a:gd name="T2" fmla="*/ 511 w 511"/>
                <a:gd name="T3" fmla="*/ 154 h 319"/>
                <a:gd name="T4" fmla="*/ 510 w 511"/>
                <a:gd name="T5" fmla="*/ 153 h 319"/>
                <a:gd name="T6" fmla="*/ 510 w 511"/>
                <a:gd name="T7" fmla="*/ 152 h 319"/>
                <a:gd name="T8" fmla="*/ 256 w 511"/>
                <a:gd name="T9" fmla="*/ 0 h 319"/>
                <a:gd name="T10" fmla="*/ 2 w 511"/>
                <a:gd name="T11" fmla="*/ 152 h 319"/>
                <a:gd name="T12" fmla="*/ 2 w 511"/>
                <a:gd name="T13" fmla="*/ 153 h 319"/>
                <a:gd name="T14" fmla="*/ 1 w 511"/>
                <a:gd name="T15" fmla="*/ 154 h 319"/>
                <a:gd name="T16" fmla="*/ 1 w 511"/>
                <a:gd name="T17" fmla="*/ 156 h 319"/>
                <a:gd name="T18" fmla="*/ 0 w 511"/>
                <a:gd name="T19" fmla="*/ 159 h 319"/>
                <a:gd name="T20" fmla="*/ 1 w 511"/>
                <a:gd name="T21" fmla="*/ 163 h 319"/>
                <a:gd name="T22" fmla="*/ 1 w 511"/>
                <a:gd name="T23" fmla="*/ 165 h 319"/>
                <a:gd name="T24" fmla="*/ 2 w 511"/>
                <a:gd name="T25" fmla="*/ 166 h 319"/>
                <a:gd name="T26" fmla="*/ 2 w 511"/>
                <a:gd name="T27" fmla="*/ 167 h 319"/>
                <a:gd name="T28" fmla="*/ 256 w 511"/>
                <a:gd name="T29" fmla="*/ 319 h 319"/>
                <a:gd name="T30" fmla="*/ 510 w 511"/>
                <a:gd name="T31" fmla="*/ 167 h 319"/>
                <a:gd name="T32" fmla="*/ 510 w 511"/>
                <a:gd name="T33" fmla="*/ 166 h 319"/>
                <a:gd name="T34" fmla="*/ 511 w 511"/>
                <a:gd name="T35" fmla="*/ 165 h 319"/>
                <a:gd name="T36" fmla="*/ 511 w 511"/>
                <a:gd name="T37" fmla="*/ 163 h 319"/>
                <a:gd name="T38" fmla="*/ 511 w 511"/>
                <a:gd name="T39" fmla="*/ 159 h 319"/>
                <a:gd name="T40" fmla="*/ 511 w 511"/>
                <a:gd name="T41" fmla="*/ 156 h 319"/>
                <a:gd name="T42" fmla="*/ 256 w 511"/>
                <a:gd name="T43" fmla="*/ 287 h 319"/>
                <a:gd name="T44" fmla="*/ 34 w 511"/>
                <a:gd name="T45" fmla="*/ 159 h 319"/>
                <a:gd name="T46" fmla="*/ 256 w 511"/>
                <a:gd name="T47" fmla="*/ 32 h 319"/>
                <a:gd name="T48" fmla="*/ 477 w 511"/>
                <a:gd name="T49" fmla="*/ 159 h 319"/>
                <a:gd name="T50" fmla="*/ 256 w 511"/>
                <a:gd name="T51" fmla="*/ 287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11" h="319">
                  <a:moveTo>
                    <a:pt x="511" y="156"/>
                  </a:moveTo>
                  <a:cubicBezTo>
                    <a:pt x="511" y="155"/>
                    <a:pt x="511" y="154"/>
                    <a:pt x="511" y="154"/>
                  </a:cubicBezTo>
                  <a:cubicBezTo>
                    <a:pt x="510" y="154"/>
                    <a:pt x="510" y="153"/>
                    <a:pt x="510" y="153"/>
                  </a:cubicBezTo>
                  <a:cubicBezTo>
                    <a:pt x="510" y="153"/>
                    <a:pt x="510" y="152"/>
                    <a:pt x="510" y="152"/>
                  </a:cubicBezTo>
                  <a:cubicBezTo>
                    <a:pt x="463" y="63"/>
                    <a:pt x="362" y="0"/>
                    <a:pt x="256" y="0"/>
                  </a:cubicBezTo>
                  <a:cubicBezTo>
                    <a:pt x="149" y="0"/>
                    <a:pt x="48" y="63"/>
                    <a:pt x="2" y="152"/>
                  </a:cubicBezTo>
                  <a:cubicBezTo>
                    <a:pt x="2" y="152"/>
                    <a:pt x="2" y="153"/>
                    <a:pt x="2" y="153"/>
                  </a:cubicBezTo>
                  <a:cubicBezTo>
                    <a:pt x="1" y="153"/>
                    <a:pt x="1" y="153"/>
                    <a:pt x="1" y="154"/>
                  </a:cubicBezTo>
                  <a:cubicBezTo>
                    <a:pt x="1" y="154"/>
                    <a:pt x="1" y="155"/>
                    <a:pt x="1" y="156"/>
                  </a:cubicBezTo>
                  <a:cubicBezTo>
                    <a:pt x="0" y="157"/>
                    <a:pt x="0" y="158"/>
                    <a:pt x="0" y="159"/>
                  </a:cubicBezTo>
                  <a:cubicBezTo>
                    <a:pt x="0" y="161"/>
                    <a:pt x="0" y="162"/>
                    <a:pt x="1" y="163"/>
                  </a:cubicBezTo>
                  <a:cubicBezTo>
                    <a:pt x="1" y="164"/>
                    <a:pt x="1" y="164"/>
                    <a:pt x="1" y="165"/>
                  </a:cubicBezTo>
                  <a:cubicBezTo>
                    <a:pt x="1" y="165"/>
                    <a:pt x="1" y="165"/>
                    <a:pt x="2" y="166"/>
                  </a:cubicBezTo>
                  <a:cubicBezTo>
                    <a:pt x="2" y="166"/>
                    <a:pt x="2" y="166"/>
                    <a:pt x="2" y="167"/>
                  </a:cubicBezTo>
                  <a:cubicBezTo>
                    <a:pt x="48" y="256"/>
                    <a:pt x="149" y="319"/>
                    <a:pt x="256" y="319"/>
                  </a:cubicBezTo>
                  <a:cubicBezTo>
                    <a:pt x="362" y="319"/>
                    <a:pt x="463" y="256"/>
                    <a:pt x="510" y="167"/>
                  </a:cubicBezTo>
                  <a:cubicBezTo>
                    <a:pt x="510" y="167"/>
                    <a:pt x="510" y="166"/>
                    <a:pt x="510" y="166"/>
                  </a:cubicBezTo>
                  <a:cubicBezTo>
                    <a:pt x="510" y="166"/>
                    <a:pt x="510" y="165"/>
                    <a:pt x="511" y="165"/>
                  </a:cubicBezTo>
                  <a:cubicBezTo>
                    <a:pt x="511" y="164"/>
                    <a:pt x="511" y="164"/>
                    <a:pt x="511" y="163"/>
                  </a:cubicBezTo>
                  <a:cubicBezTo>
                    <a:pt x="511" y="162"/>
                    <a:pt x="511" y="161"/>
                    <a:pt x="511" y="159"/>
                  </a:cubicBezTo>
                  <a:cubicBezTo>
                    <a:pt x="511" y="158"/>
                    <a:pt x="511" y="157"/>
                    <a:pt x="511" y="156"/>
                  </a:cubicBezTo>
                  <a:close/>
                  <a:moveTo>
                    <a:pt x="256" y="287"/>
                  </a:moveTo>
                  <a:cubicBezTo>
                    <a:pt x="166" y="287"/>
                    <a:pt x="78" y="236"/>
                    <a:pt x="34" y="159"/>
                  </a:cubicBezTo>
                  <a:cubicBezTo>
                    <a:pt x="78" y="82"/>
                    <a:pt x="166" y="32"/>
                    <a:pt x="256" y="32"/>
                  </a:cubicBezTo>
                  <a:cubicBezTo>
                    <a:pt x="346" y="32"/>
                    <a:pt x="434" y="83"/>
                    <a:pt x="477" y="159"/>
                  </a:cubicBezTo>
                  <a:cubicBezTo>
                    <a:pt x="433" y="236"/>
                    <a:pt x="346" y="287"/>
                    <a:pt x="256" y="28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2" name="PA-任意多边形 910"/>
            <p:cNvSpPr/>
            <p:nvPr>
              <p:custDataLst>
                <p:tags r:id="rId4"/>
              </p:custDataLst>
            </p:nvPr>
          </p:nvSpPr>
          <p:spPr bwMode="auto">
            <a:xfrm>
              <a:off x="3813" y="2141"/>
              <a:ext cx="27" cy="28"/>
            </a:xfrm>
            <a:custGeom>
              <a:avLst/>
              <a:gdLst>
                <a:gd name="T0" fmla="*/ 64 w 72"/>
                <a:gd name="T1" fmla="*/ 0 h 72"/>
                <a:gd name="T2" fmla="*/ 64 w 72"/>
                <a:gd name="T3" fmla="*/ 0 h 72"/>
                <a:gd name="T4" fmla="*/ 0 w 72"/>
                <a:gd name="T5" fmla="*/ 64 h 72"/>
                <a:gd name="T6" fmla="*/ 8 w 72"/>
                <a:gd name="T7" fmla="*/ 72 h 72"/>
                <a:gd name="T8" fmla="*/ 16 w 72"/>
                <a:gd name="T9" fmla="*/ 64 h 72"/>
                <a:gd name="T10" fmla="*/ 64 w 72"/>
                <a:gd name="T11" fmla="*/ 16 h 72"/>
                <a:gd name="T12" fmla="*/ 64 w 72"/>
                <a:gd name="T13" fmla="*/ 16 h 72"/>
                <a:gd name="T14" fmla="*/ 72 w 72"/>
                <a:gd name="T15" fmla="*/ 8 h 72"/>
                <a:gd name="T16" fmla="*/ 64 w 72"/>
                <a:gd name="T17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2" h="72">
                  <a:moveTo>
                    <a:pt x="64" y="0"/>
                  </a:moveTo>
                  <a:cubicBezTo>
                    <a:pt x="64" y="0"/>
                    <a:pt x="64" y="0"/>
                    <a:pt x="64" y="0"/>
                  </a:cubicBezTo>
                  <a:cubicBezTo>
                    <a:pt x="28" y="1"/>
                    <a:pt x="0" y="29"/>
                    <a:pt x="0" y="64"/>
                  </a:cubicBezTo>
                  <a:cubicBezTo>
                    <a:pt x="0" y="69"/>
                    <a:pt x="3" y="72"/>
                    <a:pt x="8" y="72"/>
                  </a:cubicBezTo>
                  <a:cubicBezTo>
                    <a:pt x="12" y="72"/>
                    <a:pt x="16" y="69"/>
                    <a:pt x="16" y="64"/>
                  </a:cubicBezTo>
                  <a:cubicBezTo>
                    <a:pt x="16" y="38"/>
                    <a:pt x="37" y="16"/>
                    <a:pt x="64" y="16"/>
                  </a:cubicBezTo>
                  <a:lnTo>
                    <a:pt x="64" y="16"/>
                  </a:lnTo>
                  <a:cubicBezTo>
                    <a:pt x="68" y="16"/>
                    <a:pt x="72" y="13"/>
                    <a:pt x="72" y="8"/>
                  </a:cubicBezTo>
                  <a:cubicBezTo>
                    <a:pt x="72" y="4"/>
                    <a:pt x="68" y="0"/>
                    <a:pt x="6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3" name="PA-任意多边形 911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797" y="2117"/>
              <a:ext cx="86" cy="86"/>
            </a:xfrm>
            <a:custGeom>
              <a:avLst/>
              <a:gdLst>
                <a:gd name="T0" fmla="*/ 112 w 224"/>
                <a:gd name="T1" fmla="*/ 0 h 224"/>
                <a:gd name="T2" fmla="*/ 0 w 224"/>
                <a:gd name="T3" fmla="*/ 112 h 224"/>
                <a:gd name="T4" fmla="*/ 112 w 224"/>
                <a:gd name="T5" fmla="*/ 224 h 224"/>
                <a:gd name="T6" fmla="*/ 224 w 224"/>
                <a:gd name="T7" fmla="*/ 112 h 224"/>
                <a:gd name="T8" fmla="*/ 112 w 224"/>
                <a:gd name="T9" fmla="*/ 0 h 224"/>
                <a:gd name="T10" fmla="*/ 112 w 224"/>
                <a:gd name="T11" fmla="*/ 208 h 224"/>
                <a:gd name="T12" fmla="*/ 16 w 224"/>
                <a:gd name="T13" fmla="*/ 112 h 224"/>
                <a:gd name="T14" fmla="*/ 112 w 224"/>
                <a:gd name="T15" fmla="*/ 16 h 224"/>
                <a:gd name="T16" fmla="*/ 208 w 224"/>
                <a:gd name="T17" fmla="*/ 112 h 224"/>
                <a:gd name="T18" fmla="*/ 112 w 224"/>
                <a:gd name="T19" fmla="*/ 208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4" h="224">
                  <a:moveTo>
                    <a:pt x="112" y="0"/>
                  </a:moveTo>
                  <a:cubicBezTo>
                    <a:pt x="51" y="0"/>
                    <a:pt x="0" y="51"/>
                    <a:pt x="0" y="112"/>
                  </a:cubicBezTo>
                  <a:cubicBezTo>
                    <a:pt x="0" y="174"/>
                    <a:pt x="51" y="224"/>
                    <a:pt x="112" y="224"/>
                  </a:cubicBezTo>
                  <a:cubicBezTo>
                    <a:pt x="174" y="224"/>
                    <a:pt x="224" y="174"/>
                    <a:pt x="224" y="112"/>
                  </a:cubicBezTo>
                  <a:cubicBezTo>
                    <a:pt x="224" y="51"/>
                    <a:pt x="174" y="0"/>
                    <a:pt x="112" y="0"/>
                  </a:cubicBezTo>
                  <a:close/>
                  <a:moveTo>
                    <a:pt x="112" y="208"/>
                  </a:moveTo>
                  <a:cubicBezTo>
                    <a:pt x="60" y="208"/>
                    <a:pt x="16" y="165"/>
                    <a:pt x="16" y="112"/>
                  </a:cubicBezTo>
                  <a:cubicBezTo>
                    <a:pt x="16" y="60"/>
                    <a:pt x="60" y="16"/>
                    <a:pt x="112" y="16"/>
                  </a:cubicBezTo>
                  <a:cubicBezTo>
                    <a:pt x="165" y="16"/>
                    <a:pt x="208" y="60"/>
                    <a:pt x="208" y="112"/>
                  </a:cubicBezTo>
                  <a:cubicBezTo>
                    <a:pt x="208" y="165"/>
                    <a:pt x="165" y="208"/>
                    <a:pt x="112" y="20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/>
            </a:p>
          </p:txBody>
        </p:sp>
      </p:grpSp>
      <p:grpSp>
        <p:nvGrpSpPr>
          <p:cNvPr id="108" name="icon_2"/>
          <p:cNvGrpSpPr>
            <a:grpSpLocks noChangeAspect="1"/>
          </p:cNvGrpSpPr>
          <p:nvPr>
            <p:custDataLst>
              <p:tags r:id="rId6"/>
            </p:custDataLst>
          </p:nvPr>
        </p:nvGrpSpPr>
        <p:grpSpPr>
          <a:xfrm>
            <a:off x="1395492" y="2792095"/>
            <a:ext cx="427196" cy="457200"/>
            <a:chOff x="4618857" y="1807446"/>
            <a:chExt cx="1428750" cy="1528301"/>
          </a:xfrm>
          <a:solidFill>
            <a:schemeClr val="accent1"/>
          </a:solidFill>
        </p:grpSpPr>
        <p:sp>
          <p:nvSpPr>
            <p:cNvPr id="109" name="PA-任意多边形: 形状 776"/>
            <p:cNvSpPr/>
            <p:nvPr>
              <p:custDataLst>
                <p:tags r:id="rId7"/>
              </p:custDataLst>
            </p:nvPr>
          </p:nvSpPr>
          <p:spPr>
            <a:xfrm>
              <a:off x="4938405" y="2544865"/>
              <a:ext cx="248879" cy="125976"/>
            </a:xfrm>
            <a:custGeom>
              <a:avLst/>
              <a:gdLst>
                <a:gd name="connsiteX0" fmla="*/ 125208 w 248879"/>
                <a:gd name="connsiteY0" fmla="*/ 76046 h 125975"/>
                <a:gd name="connsiteX1" fmla="*/ 51466 w 248879"/>
                <a:gd name="connsiteY1" fmla="*/ 2304 h 125975"/>
                <a:gd name="connsiteX2" fmla="*/ 2304 w 248879"/>
                <a:gd name="connsiteY2" fmla="*/ 2304 h 125975"/>
                <a:gd name="connsiteX3" fmla="*/ 125208 w 248879"/>
                <a:gd name="connsiteY3" fmla="*/ 125208 h 125975"/>
                <a:gd name="connsiteX4" fmla="*/ 248111 w 248879"/>
                <a:gd name="connsiteY4" fmla="*/ 2304 h 125975"/>
                <a:gd name="connsiteX5" fmla="*/ 198950 w 248879"/>
                <a:gd name="connsiteY5" fmla="*/ 2304 h 125975"/>
                <a:gd name="connsiteX6" fmla="*/ 125208 w 248879"/>
                <a:gd name="connsiteY6" fmla="*/ 76046 h 125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8879" h="125975">
                  <a:moveTo>
                    <a:pt x="125208" y="76046"/>
                  </a:moveTo>
                  <a:cubicBezTo>
                    <a:pt x="84551" y="76046"/>
                    <a:pt x="51466" y="42961"/>
                    <a:pt x="51466" y="2304"/>
                  </a:cubicBezTo>
                  <a:lnTo>
                    <a:pt x="2304" y="2304"/>
                  </a:lnTo>
                  <a:cubicBezTo>
                    <a:pt x="2304" y="70073"/>
                    <a:pt x="57439" y="125208"/>
                    <a:pt x="125208" y="125208"/>
                  </a:cubicBezTo>
                  <a:cubicBezTo>
                    <a:pt x="192977" y="125208"/>
                    <a:pt x="248111" y="70073"/>
                    <a:pt x="248111" y="2304"/>
                  </a:cubicBezTo>
                  <a:lnTo>
                    <a:pt x="198950" y="2304"/>
                  </a:lnTo>
                  <a:cubicBezTo>
                    <a:pt x="198950" y="42961"/>
                    <a:pt x="165864" y="76046"/>
                    <a:pt x="125208" y="7604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0" name="PA-任意多边形: 形状 777"/>
            <p:cNvSpPr/>
            <p:nvPr>
              <p:custDataLst>
                <p:tags r:id="rId8"/>
              </p:custDataLst>
            </p:nvPr>
          </p:nvSpPr>
          <p:spPr>
            <a:xfrm>
              <a:off x="5479179" y="2544865"/>
              <a:ext cx="248879" cy="125976"/>
            </a:xfrm>
            <a:custGeom>
              <a:avLst/>
              <a:gdLst>
                <a:gd name="connsiteX0" fmla="*/ 125208 w 248879"/>
                <a:gd name="connsiteY0" fmla="*/ 125208 h 125975"/>
                <a:gd name="connsiteX1" fmla="*/ 248111 w 248879"/>
                <a:gd name="connsiteY1" fmla="*/ 2304 h 125975"/>
                <a:gd name="connsiteX2" fmla="*/ 198950 w 248879"/>
                <a:gd name="connsiteY2" fmla="*/ 2304 h 125975"/>
                <a:gd name="connsiteX3" fmla="*/ 125208 w 248879"/>
                <a:gd name="connsiteY3" fmla="*/ 76046 h 125975"/>
                <a:gd name="connsiteX4" fmla="*/ 51466 w 248879"/>
                <a:gd name="connsiteY4" fmla="*/ 2304 h 125975"/>
                <a:gd name="connsiteX5" fmla="*/ 2304 w 248879"/>
                <a:gd name="connsiteY5" fmla="*/ 2304 h 125975"/>
                <a:gd name="connsiteX6" fmla="*/ 125208 w 248879"/>
                <a:gd name="connsiteY6" fmla="*/ 125208 h 125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8879" h="125975">
                  <a:moveTo>
                    <a:pt x="125208" y="125208"/>
                  </a:moveTo>
                  <a:cubicBezTo>
                    <a:pt x="192977" y="125208"/>
                    <a:pt x="248111" y="70073"/>
                    <a:pt x="248111" y="2304"/>
                  </a:cubicBezTo>
                  <a:lnTo>
                    <a:pt x="198950" y="2304"/>
                  </a:lnTo>
                  <a:cubicBezTo>
                    <a:pt x="198950" y="42961"/>
                    <a:pt x="165864" y="76046"/>
                    <a:pt x="125208" y="76046"/>
                  </a:cubicBezTo>
                  <a:cubicBezTo>
                    <a:pt x="84551" y="76046"/>
                    <a:pt x="51466" y="42961"/>
                    <a:pt x="51466" y="2304"/>
                  </a:cubicBezTo>
                  <a:lnTo>
                    <a:pt x="2304" y="2304"/>
                  </a:lnTo>
                  <a:cubicBezTo>
                    <a:pt x="2304" y="70073"/>
                    <a:pt x="57439" y="125208"/>
                    <a:pt x="125208" y="12520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1" name="PA-任意多边形: 形状 778"/>
            <p:cNvSpPr/>
            <p:nvPr>
              <p:custDataLst>
                <p:tags r:id="rId9"/>
              </p:custDataLst>
            </p:nvPr>
          </p:nvSpPr>
          <p:spPr>
            <a:xfrm>
              <a:off x="4618857" y="2254199"/>
              <a:ext cx="1428750" cy="1081548"/>
            </a:xfrm>
            <a:custGeom>
              <a:avLst/>
              <a:gdLst>
                <a:gd name="connsiteX0" fmla="*/ 1280498 w 1428750"/>
                <a:gd name="connsiteY0" fmla="*/ 122873 h 1081548"/>
                <a:gd name="connsiteX1" fmla="*/ 1280498 w 1428750"/>
                <a:gd name="connsiteY1" fmla="*/ 96325 h 1081548"/>
                <a:gd name="connsiteX2" fmla="*/ 1165166 w 1428750"/>
                <a:gd name="connsiteY2" fmla="*/ 2304 h 1081548"/>
                <a:gd name="connsiteX3" fmla="*/ 1150049 w 1428750"/>
                <a:gd name="connsiteY3" fmla="*/ 49081 h 1081548"/>
                <a:gd name="connsiteX4" fmla="*/ 1231337 w 1428750"/>
                <a:gd name="connsiteY4" fmla="*/ 96325 h 1081548"/>
                <a:gd name="connsiteX5" fmla="*/ 715143 w 1428750"/>
                <a:gd name="connsiteY5" fmla="*/ 194648 h 1081548"/>
                <a:gd name="connsiteX6" fmla="*/ 198950 w 1428750"/>
                <a:gd name="connsiteY6" fmla="*/ 96325 h 1081548"/>
                <a:gd name="connsiteX7" fmla="*/ 280262 w 1428750"/>
                <a:gd name="connsiteY7" fmla="*/ 49106 h 1081548"/>
                <a:gd name="connsiteX8" fmla="*/ 265145 w 1428750"/>
                <a:gd name="connsiteY8" fmla="*/ 2329 h 1081548"/>
                <a:gd name="connsiteX9" fmla="*/ 149788 w 1428750"/>
                <a:gd name="connsiteY9" fmla="*/ 96325 h 1081548"/>
                <a:gd name="connsiteX10" fmla="*/ 149788 w 1428750"/>
                <a:gd name="connsiteY10" fmla="*/ 122873 h 1081548"/>
                <a:gd name="connsiteX11" fmla="*/ 2304 w 1428750"/>
                <a:gd name="connsiteY11" fmla="*/ 292971 h 1081548"/>
                <a:gd name="connsiteX12" fmla="*/ 150354 w 1428750"/>
                <a:gd name="connsiteY12" fmla="*/ 463167 h 1081548"/>
                <a:gd name="connsiteX13" fmla="*/ 469337 w 1428750"/>
                <a:gd name="connsiteY13" fmla="*/ 949495 h 1081548"/>
                <a:gd name="connsiteX14" fmla="*/ 469337 w 1428750"/>
                <a:gd name="connsiteY14" fmla="*/ 1079551 h 1081548"/>
                <a:gd name="connsiteX15" fmla="*/ 518498 w 1428750"/>
                <a:gd name="connsiteY15" fmla="*/ 1079551 h 1081548"/>
                <a:gd name="connsiteX16" fmla="*/ 518498 w 1428750"/>
                <a:gd name="connsiteY16" fmla="*/ 970487 h 1081548"/>
                <a:gd name="connsiteX17" fmla="*/ 715143 w 1428750"/>
                <a:gd name="connsiteY17" fmla="*/ 1005809 h 1081548"/>
                <a:gd name="connsiteX18" fmla="*/ 911788 w 1428750"/>
                <a:gd name="connsiteY18" fmla="*/ 970487 h 1081548"/>
                <a:gd name="connsiteX19" fmla="*/ 911788 w 1428750"/>
                <a:gd name="connsiteY19" fmla="*/ 1079551 h 1081548"/>
                <a:gd name="connsiteX20" fmla="*/ 960950 w 1428750"/>
                <a:gd name="connsiteY20" fmla="*/ 1079551 h 1081548"/>
                <a:gd name="connsiteX21" fmla="*/ 960950 w 1428750"/>
                <a:gd name="connsiteY21" fmla="*/ 949495 h 1081548"/>
                <a:gd name="connsiteX22" fmla="*/ 1279933 w 1428750"/>
                <a:gd name="connsiteY22" fmla="*/ 463142 h 1081548"/>
                <a:gd name="connsiteX23" fmla="*/ 1427982 w 1428750"/>
                <a:gd name="connsiteY23" fmla="*/ 292971 h 1081548"/>
                <a:gd name="connsiteX24" fmla="*/ 1280498 w 1428750"/>
                <a:gd name="connsiteY24" fmla="*/ 122873 h 1081548"/>
                <a:gd name="connsiteX25" fmla="*/ 149788 w 1428750"/>
                <a:gd name="connsiteY25" fmla="*/ 413391 h 1081548"/>
                <a:gd name="connsiteX26" fmla="*/ 51466 w 1428750"/>
                <a:gd name="connsiteY26" fmla="*/ 292971 h 1081548"/>
                <a:gd name="connsiteX27" fmla="*/ 149788 w 1428750"/>
                <a:gd name="connsiteY27" fmla="*/ 172550 h 1081548"/>
                <a:gd name="connsiteX28" fmla="*/ 149788 w 1428750"/>
                <a:gd name="connsiteY28" fmla="*/ 413391 h 1081548"/>
                <a:gd name="connsiteX29" fmla="*/ 1231337 w 1428750"/>
                <a:gd name="connsiteY29" fmla="*/ 440454 h 1081548"/>
                <a:gd name="connsiteX30" fmla="*/ 715143 w 1428750"/>
                <a:gd name="connsiteY30" fmla="*/ 956648 h 1081548"/>
                <a:gd name="connsiteX31" fmla="*/ 198950 w 1428750"/>
                <a:gd name="connsiteY31" fmla="*/ 440454 h 1081548"/>
                <a:gd name="connsiteX32" fmla="*/ 198950 w 1428750"/>
                <a:gd name="connsiteY32" fmla="*/ 162128 h 1081548"/>
                <a:gd name="connsiteX33" fmla="*/ 715143 w 1428750"/>
                <a:gd name="connsiteY33" fmla="*/ 243809 h 1081548"/>
                <a:gd name="connsiteX34" fmla="*/ 1231337 w 1428750"/>
                <a:gd name="connsiteY34" fmla="*/ 162128 h 1081548"/>
                <a:gd name="connsiteX35" fmla="*/ 1231337 w 1428750"/>
                <a:gd name="connsiteY35" fmla="*/ 440454 h 1081548"/>
                <a:gd name="connsiteX36" fmla="*/ 1280498 w 1428750"/>
                <a:gd name="connsiteY36" fmla="*/ 413391 h 1081548"/>
                <a:gd name="connsiteX37" fmla="*/ 1280498 w 1428750"/>
                <a:gd name="connsiteY37" fmla="*/ 172550 h 1081548"/>
                <a:gd name="connsiteX38" fmla="*/ 1378821 w 1428750"/>
                <a:gd name="connsiteY38" fmla="*/ 292971 h 1081548"/>
                <a:gd name="connsiteX39" fmla="*/ 1280498 w 1428750"/>
                <a:gd name="connsiteY39" fmla="*/ 413391 h 108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428750" h="1081548">
                  <a:moveTo>
                    <a:pt x="1280498" y="122873"/>
                  </a:moveTo>
                  <a:lnTo>
                    <a:pt x="1280498" y="96325"/>
                  </a:lnTo>
                  <a:cubicBezTo>
                    <a:pt x="1280498" y="58127"/>
                    <a:pt x="1242767" y="27377"/>
                    <a:pt x="1165166" y="2304"/>
                  </a:cubicBezTo>
                  <a:lnTo>
                    <a:pt x="1150049" y="49081"/>
                  </a:lnTo>
                  <a:cubicBezTo>
                    <a:pt x="1216736" y="70639"/>
                    <a:pt x="1231337" y="90500"/>
                    <a:pt x="1231337" y="96325"/>
                  </a:cubicBezTo>
                  <a:cubicBezTo>
                    <a:pt x="1231337" y="129681"/>
                    <a:pt x="1049145" y="194648"/>
                    <a:pt x="715143" y="194648"/>
                  </a:cubicBezTo>
                  <a:cubicBezTo>
                    <a:pt x="381141" y="194648"/>
                    <a:pt x="198950" y="129681"/>
                    <a:pt x="198950" y="96325"/>
                  </a:cubicBezTo>
                  <a:cubicBezTo>
                    <a:pt x="198950" y="90500"/>
                    <a:pt x="213551" y="70639"/>
                    <a:pt x="280262" y="49106"/>
                  </a:cubicBezTo>
                  <a:lnTo>
                    <a:pt x="265145" y="2329"/>
                  </a:lnTo>
                  <a:cubicBezTo>
                    <a:pt x="187520" y="27377"/>
                    <a:pt x="149788" y="58127"/>
                    <a:pt x="149788" y="96325"/>
                  </a:cubicBezTo>
                  <a:lnTo>
                    <a:pt x="149788" y="122873"/>
                  </a:lnTo>
                  <a:cubicBezTo>
                    <a:pt x="66558" y="134868"/>
                    <a:pt x="2304" y="206471"/>
                    <a:pt x="2304" y="292971"/>
                  </a:cubicBezTo>
                  <a:cubicBezTo>
                    <a:pt x="2304" y="379667"/>
                    <a:pt x="66853" y="451417"/>
                    <a:pt x="150354" y="463167"/>
                  </a:cubicBezTo>
                  <a:cubicBezTo>
                    <a:pt x="158883" y="677191"/>
                    <a:pt x="286825" y="861029"/>
                    <a:pt x="469337" y="949495"/>
                  </a:cubicBezTo>
                  <a:lnTo>
                    <a:pt x="469337" y="1079551"/>
                  </a:lnTo>
                  <a:lnTo>
                    <a:pt x="518498" y="1079551"/>
                  </a:lnTo>
                  <a:lnTo>
                    <a:pt x="518498" y="970487"/>
                  </a:lnTo>
                  <a:cubicBezTo>
                    <a:pt x="579778" y="993298"/>
                    <a:pt x="646022" y="1005809"/>
                    <a:pt x="715143" y="1005809"/>
                  </a:cubicBezTo>
                  <a:cubicBezTo>
                    <a:pt x="784264" y="1005809"/>
                    <a:pt x="850509" y="993298"/>
                    <a:pt x="911788" y="970487"/>
                  </a:cubicBezTo>
                  <a:lnTo>
                    <a:pt x="911788" y="1079551"/>
                  </a:lnTo>
                  <a:lnTo>
                    <a:pt x="960950" y="1079551"/>
                  </a:lnTo>
                  <a:lnTo>
                    <a:pt x="960950" y="949495"/>
                  </a:lnTo>
                  <a:cubicBezTo>
                    <a:pt x="1143461" y="861005"/>
                    <a:pt x="1271403" y="677191"/>
                    <a:pt x="1279933" y="463142"/>
                  </a:cubicBezTo>
                  <a:cubicBezTo>
                    <a:pt x="1363433" y="451417"/>
                    <a:pt x="1427982" y="379667"/>
                    <a:pt x="1427982" y="292971"/>
                  </a:cubicBezTo>
                  <a:cubicBezTo>
                    <a:pt x="1427982" y="206471"/>
                    <a:pt x="1363728" y="134868"/>
                    <a:pt x="1280498" y="122873"/>
                  </a:cubicBezTo>
                  <a:close/>
                  <a:moveTo>
                    <a:pt x="149788" y="413391"/>
                  </a:moveTo>
                  <a:cubicBezTo>
                    <a:pt x="93769" y="401961"/>
                    <a:pt x="51466" y="352308"/>
                    <a:pt x="51466" y="292971"/>
                  </a:cubicBezTo>
                  <a:cubicBezTo>
                    <a:pt x="51466" y="233633"/>
                    <a:pt x="93769" y="183980"/>
                    <a:pt x="149788" y="172550"/>
                  </a:cubicBezTo>
                  <a:lnTo>
                    <a:pt x="149788" y="413391"/>
                  </a:lnTo>
                  <a:close/>
                  <a:moveTo>
                    <a:pt x="1231337" y="440454"/>
                  </a:moveTo>
                  <a:cubicBezTo>
                    <a:pt x="1231337" y="725074"/>
                    <a:pt x="999762" y="956648"/>
                    <a:pt x="715143" y="956648"/>
                  </a:cubicBezTo>
                  <a:cubicBezTo>
                    <a:pt x="430524" y="956648"/>
                    <a:pt x="198950" y="725074"/>
                    <a:pt x="198950" y="440454"/>
                  </a:cubicBezTo>
                  <a:lnTo>
                    <a:pt x="198950" y="162128"/>
                  </a:lnTo>
                  <a:cubicBezTo>
                    <a:pt x="306047" y="225177"/>
                    <a:pt x="563186" y="243809"/>
                    <a:pt x="715143" y="243809"/>
                  </a:cubicBezTo>
                  <a:cubicBezTo>
                    <a:pt x="867101" y="243809"/>
                    <a:pt x="1124239" y="225177"/>
                    <a:pt x="1231337" y="162128"/>
                  </a:cubicBezTo>
                  <a:lnTo>
                    <a:pt x="1231337" y="440454"/>
                  </a:lnTo>
                  <a:close/>
                  <a:moveTo>
                    <a:pt x="1280498" y="413391"/>
                  </a:moveTo>
                  <a:lnTo>
                    <a:pt x="1280498" y="172550"/>
                  </a:lnTo>
                  <a:cubicBezTo>
                    <a:pt x="1336517" y="183980"/>
                    <a:pt x="1378821" y="233608"/>
                    <a:pt x="1378821" y="292971"/>
                  </a:cubicBezTo>
                  <a:cubicBezTo>
                    <a:pt x="1378821" y="352333"/>
                    <a:pt x="1336517" y="401961"/>
                    <a:pt x="1280498" y="41339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2" name="PA-任意多边形: 形状 779"/>
            <p:cNvSpPr/>
            <p:nvPr>
              <p:custDataLst>
                <p:tags r:id="rId10"/>
              </p:custDataLst>
            </p:nvPr>
          </p:nvSpPr>
          <p:spPr>
            <a:xfrm>
              <a:off x="4938405" y="1807446"/>
              <a:ext cx="789653" cy="543847"/>
            </a:xfrm>
            <a:custGeom>
              <a:avLst/>
              <a:gdLst>
                <a:gd name="connsiteX0" fmla="*/ 788885 w 789653"/>
                <a:gd name="connsiteY0" fmla="*/ 2304 h 543846"/>
                <a:gd name="connsiteX1" fmla="*/ 2304 w 789653"/>
                <a:gd name="connsiteY1" fmla="*/ 2304 h 543846"/>
                <a:gd name="connsiteX2" fmla="*/ 2304 w 789653"/>
                <a:gd name="connsiteY2" fmla="*/ 543079 h 543846"/>
                <a:gd name="connsiteX3" fmla="*/ 788885 w 789653"/>
                <a:gd name="connsiteY3" fmla="*/ 543079 h 543846"/>
                <a:gd name="connsiteX4" fmla="*/ 788885 w 789653"/>
                <a:gd name="connsiteY4" fmla="*/ 2304 h 543846"/>
                <a:gd name="connsiteX5" fmla="*/ 739724 w 789653"/>
                <a:gd name="connsiteY5" fmla="*/ 493917 h 543846"/>
                <a:gd name="connsiteX6" fmla="*/ 51466 w 789653"/>
                <a:gd name="connsiteY6" fmla="*/ 493917 h 543846"/>
                <a:gd name="connsiteX7" fmla="*/ 51466 w 789653"/>
                <a:gd name="connsiteY7" fmla="*/ 248111 h 543846"/>
                <a:gd name="connsiteX8" fmla="*/ 739724 w 789653"/>
                <a:gd name="connsiteY8" fmla="*/ 248111 h 543846"/>
                <a:gd name="connsiteX9" fmla="*/ 739724 w 789653"/>
                <a:gd name="connsiteY9" fmla="*/ 493917 h 543846"/>
                <a:gd name="connsiteX10" fmla="*/ 739724 w 789653"/>
                <a:gd name="connsiteY10" fmla="*/ 198950 h 543846"/>
                <a:gd name="connsiteX11" fmla="*/ 51466 w 789653"/>
                <a:gd name="connsiteY11" fmla="*/ 198950 h 543846"/>
                <a:gd name="connsiteX12" fmla="*/ 51466 w 789653"/>
                <a:gd name="connsiteY12" fmla="*/ 51466 h 543846"/>
                <a:gd name="connsiteX13" fmla="*/ 739724 w 789653"/>
                <a:gd name="connsiteY13" fmla="*/ 51466 h 543846"/>
                <a:gd name="connsiteX14" fmla="*/ 739724 w 789653"/>
                <a:gd name="connsiteY14" fmla="*/ 198950 h 543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89653" h="543846">
                  <a:moveTo>
                    <a:pt x="788885" y="2304"/>
                  </a:moveTo>
                  <a:lnTo>
                    <a:pt x="2304" y="2304"/>
                  </a:lnTo>
                  <a:lnTo>
                    <a:pt x="2304" y="543079"/>
                  </a:lnTo>
                  <a:lnTo>
                    <a:pt x="788885" y="543079"/>
                  </a:lnTo>
                  <a:lnTo>
                    <a:pt x="788885" y="2304"/>
                  </a:lnTo>
                  <a:close/>
                  <a:moveTo>
                    <a:pt x="739724" y="493917"/>
                  </a:moveTo>
                  <a:lnTo>
                    <a:pt x="51466" y="493917"/>
                  </a:lnTo>
                  <a:lnTo>
                    <a:pt x="51466" y="248111"/>
                  </a:lnTo>
                  <a:lnTo>
                    <a:pt x="739724" y="248111"/>
                  </a:lnTo>
                  <a:lnTo>
                    <a:pt x="739724" y="493917"/>
                  </a:lnTo>
                  <a:close/>
                  <a:moveTo>
                    <a:pt x="739724" y="198950"/>
                  </a:moveTo>
                  <a:lnTo>
                    <a:pt x="51466" y="198950"/>
                  </a:lnTo>
                  <a:lnTo>
                    <a:pt x="51466" y="51466"/>
                  </a:lnTo>
                  <a:lnTo>
                    <a:pt x="739724" y="51466"/>
                  </a:lnTo>
                  <a:lnTo>
                    <a:pt x="739724" y="1989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3" name="PA-任意多边形: 形状 780"/>
            <p:cNvSpPr/>
            <p:nvPr>
              <p:custDataLst>
                <p:tags r:id="rId11"/>
              </p:custDataLst>
            </p:nvPr>
          </p:nvSpPr>
          <p:spPr>
            <a:xfrm>
              <a:off x="5036728" y="1905768"/>
              <a:ext cx="52234" cy="52234"/>
            </a:xfrm>
            <a:custGeom>
              <a:avLst/>
              <a:gdLst>
                <a:gd name="connsiteX0" fmla="*/ 2304 w 52233"/>
                <a:gd name="connsiteY0" fmla="*/ 2304 h 52233"/>
                <a:gd name="connsiteX1" fmla="*/ 51466 w 52233"/>
                <a:gd name="connsiteY1" fmla="*/ 2304 h 52233"/>
                <a:gd name="connsiteX2" fmla="*/ 51466 w 52233"/>
                <a:gd name="connsiteY2" fmla="*/ 51466 h 52233"/>
                <a:gd name="connsiteX3" fmla="*/ 2304 w 52233"/>
                <a:gd name="connsiteY3" fmla="*/ 51466 h 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33" h="52233">
                  <a:moveTo>
                    <a:pt x="2304" y="2304"/>
                  </a:moveTo>
                  <a:lnTo>
                    <a:pt x="51466" y="2304"/>
                  </a:lnTo>
                  <a:lnTo>
                    <a:pt x="51466" y="51466"/>
                  </a:lnTo>
                  <a:lnTo>
                    <a:pt x="2304" y="5146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4" name="PA-任意多边形: 形状 781"/>
            <p:cNvSpPr/>
            <p:nvPr>
              <p:custDataLst>
                <p:tags r:id="rId12"/>
              </p:custDataLst>
            </p:nvPr>
          </p:nvSpPr>
          <p:spPr>
            <a:xfrm>
              <a:off x="5135050" y="1905768"/>
              <a:ext cx="52234" cy="52234"/>
            </a:xfrm>
            <a:custGeom>
              <a:avLst/>
              <a:gdLst>
                <a:gd name="connsiteX0" fmla="*/ 2304 w 52233"/>
                <a:gd name="connsiteY0" fmla="*/ 2304 h 52233"/>
                <a:gd name="connsiteX1" fmla="*/ 51466 w 52233"/>
                <a:gd name="connsiteY1" fmla="*/ 2304 h 52233"/>
                <a:gd name="connsiteX2" fmla="*/ 51466 w 52233"/>
                <a:gd name="connsiteY2" fmla="*/ 51466 h 52233"/>
                <a:gd name="connsiteX3" fmla="*/ 2304 w 52233"/>
                <a:gd name="connsiteY3" fmla="*/ 51466 h 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33" h="52233">
                  <a:moveTo>
                    <a:pt x="2304" y="2304"/>
                  </a:moveTo>
                  <a:lnTo>
                    <a:pt x="51466" y="2304"/>
                  </a:lnTo>
                  <a:lnTo>
                    <a:pt x="51466" y="51466"/>
                  </a:lnTo>
                  <a:lnTo>
                    <a:pt x="2304" y="5146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5" name="PA-任意多边形: 形状 782"/>
            <p:cNvSpPr/>
            <p:nvPr>
              <p:custDataLst>
                <p:tags r:id="rId13"/>
              </p:custDataLst>
            </p:nvPr>
          </p:nvSpPr>
          <p:spPr>
            <a:xfrm>
              <a:off x="5233373" y="1905768"/>
              <a:ext cx="52234" cy="52234"/>
            </a:xfrm>
            <a:custGeom>
              <a:avLst/>
              <a:gdLst>
                <a:gd name="connsiteX0" fmla="*/ 2304 w 52233"/>
                <a:gd name="connsiteY0" fmla="*/ 2304 h 52233"/>
                <a:gd name="connsiteX1" fmla="*/ 51466 w 52233"/>
                <a:gd name="connsiteY1" fmla="*/ 2304 h 52233"/>
                <a:gd name="connsiteX2" fmla="*/ 51466 w 52233"/>
                <a:gd name="connsiteY2" fmla="*/ 51466 h 52233"/>
                <a:gd name="connsiteX3" fmla="*/ 2304 w 52233"/>
                <a:gd name="connsiteY3" fmla="*/ 51466 h 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33" h="52233">
                  <a:moveTo>
                    <a:pt x="2304" y="2304"/>
                  </a:moveTo>
                  <a:lnTo>
                    <a:pt x="51466" y="2304"/>
                  </a:lnTo>
                  <a:lnTo>
                    <a:pt x="51466" y="51466"/>
                  </a:lnTo>
                  <a:lnTo>
                    <a:pt x="2304" y="5146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6" name="PA-任意多边形: 形状 783"/>
            <p:cNvSpPr/>
            <p:nvPr>
              <p:custDataLst>
                <p:tags r:id="rId14"/>
              </p:custDataLst>
            </p:nvPr>
          </p:nvSpPr>
          <p:spPr>
            <a:xfrm>
              <a:off x="5577502" y="2200736"/>
              <a:ext cx="52234" cy="52234"/>
            </a:xfrm>
            <a:custGeom>
              <a:avLst/>
              <a:gdLst>
                <a:gd name="connsiteX0" fmla="*/ 2304 w 52233"/>
                <a:gd name="connsiteY0" fmla="*/ 2304 h 52233"/>
                <a:gd name="connsiteX1" fmla="*/ 51466 w 52233"/>
                <a:gd name="connsiteY1" fmla="*/ 2304 h 52233"/>
                <a:gd name="connsiteX2" fmla="*/ 51466 w 52233"/>
                <a:gd name="connsiteY2" fmla="*/ 51466 h 52233"/>
                <a:gd name="connsiteX3" fmla="*/ 2304 w 52233"/>
                <a:gd name="connsiteY3" fmla="*/ 51466 h 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33" h="52233">
                  <a:moveTo>
                    <a:pt x="2304" y="2304"/>
                  </a:moveTo>
                  <a:lnTo>
                    <a:pt x="51466" y="2304"/>
                  </a:lnTo>
                  <a:lnTo>
                    <a:pt x="51466" y="51466"/>
                  </a:lnTo>
                  <a:lnTo>
                    <a:pt x="2304" y="5146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7" name="PA-任意多边形: 形状 784"/>
            <p:cNvSpPr/>
            <p:nvPr>
              <p:custDataLst>
                <p:tags r:id="rId15"/>
              </p:custDataLst>
            </p:nvPr>
          </p:nvSpPr>
          <p:spPr>
            <a:xfrm>
              <a:off x="5036728" y="2200736"/>
              <a:ext cx="494685" cy="52234"/>
            </a:xfrm>
            <a:custGeom>
              <a:avLst/>
              <a:gdLst>
                <a:gd name="connsiteX0" fmla="*/ 2304 w 494685"/>
                <a:gd name="connsiteY0" fmla="*/ 2304 h 52233"/>
                <a:gd name="connsiteX1" fmla="*/ 493917 w 494685"/>
                <a:gd name="connsiteY1" fmla="*/ 2304 h 52233"/>
                <a:gd name="connsiteX2" fmla="*/ 493917 w 494685"/>
                <a:gd name="connsiteY2" fmla="*/ 51466 h 52233"/>
                <a:gd name="connsiteX3" fmla="*/ 2304 w 494685"/>
                <a:gd name="connsiteY3" fmla="*/ 51466 h 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4685" h="52233">
                  <a:moveTo>
                    <a:pt x="2304" y="2304"/>
                  </a:moveTo>
                  <a:lnTo>
                    <a:pt x="493917" y="2304"/>
                  </a:lnTo>
                  <a:lnTo>
                    <a:pt x="493917" y="51466"/>
                  </a:lnTo>
                  <a:lnTo>
                    <a:pt x="2304" y="5146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8" name="PA-任意多边形: 形状 785"/>
            <p:cNvSpPr/>
            <p:nvPr>
              <p:custDataLst>
                <p:tags r:id="rId16"/>
              </p:custDataLst>
            </p:nvPr>
          </p:nvSpPr>
          <p:spPr>
            <a:xfrm>
              <a:off x="5036728" y="2102413"/>
              <a:ext cx="593008" cy="52234"/>
            </a:xfrm>
            <a:custGeom>
              <a:avLst/>
              <a:gdLst>
                <a:gd name="connsiteX0" fmla="*/ 2304 w 593008"/>
                <a:gd name="connsiteY0" fmla="*/ 2304 h 52233"/>
                <a:gd name="connsiteX1" fmla="*/ 592240 w 593008"/>
                <a:gd name="connsiteY1" fmla="*/ 2304 h 52233"/>
                <a:gd name="connsiteX2" fmla="*/ 592240 w 593008"/>
                <a:gd name="connsiteY2" fmla="*/ 51466 h 52233"/>
                <a:gd name="connsiteX3" fmla="*/ 2304 w 593008"/>
                <a:gd name="connsiteY3" fmla="*/ 51466 h 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3008" h="52233">
                  <a:moveTo>
                    <a:pt x="2304" y="2304"/>
                  </a:moveTo>
                  <a:lnTo>
                    <a:pt x="592240" y="2304"/>
                  </a:lnTo>
                  <a:lnTo>
                    <a:pt x="592240" y="51466"/>
                  </a:lnTo>
                  <a:lnTo>
                    <a:pt x="2304" y="5146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902" name="icon_3"/>
          <p:cNvSpPr>
            <a:spLocks noChangeAspect="1"/>
          </p:cNvSpPr>
          <p:nvPr>
            <p:custDataLst>
              <p:tags r:id="rId17"/>
            </p:custDataLst>
          </p:nvPr>
        </p:nvSpPr>
        <p:spPr>
          <a:xfrm>
            <a:off x="1451324" y="3662680"/>
            <a:ext cx="315532" cy="457200"/>
          </a:xfrm>
          <a:custGeom>
            <a:avLst/>
            <a:gdLst>
              <a:gd name="connsiteX0" fmla="*/ 867 w 261937"/>
              <a:gd name="connsiteY0" fmla="*/ 867 w 261937"/>
              <a:gd name="connsiteX1" fmla="*/ 867 w 261937"/>
              <a:gd name="connsiteY1" fmla="*/ 867 w 261937"/>
              <a:gd name="connsiteX2" fmla="*/ 867 w 261937"/>
              <a:gd name="connsiteY2" fmla="*/ 867 w 261937"/>
              <a:gd name="connsiteX3" fmla="*/ 867 w 261937"/>
              <a:gd name="connsiteY3" fmla="*/ 867 w 261937"/>
              <a:gd name="connsiteX4" fmla="*/ 867 w 261937"/>
              <a:gd name="connsiteY4" fmla="*/ 867 w 261937"/>
              <a:gd name="connsiteX5" fmla="*/ 867 w 261937"/>
              <a:gd name="connsiteY5" fmla="*/ 867 w 261937"/>
              <a:gd name="connsiteX6" fmla="*/ 867 w 261937"/>
              <a:gd name="connsiteY6" fmla="*/ 867 w 261937"/>
              <a:gd name="connsiteX7" fmla="*/ 867 w 261937"/>
              <a:gd name="connsiteY7" fmla="*/ 867 w 261937"/>
              <a:gd name="connsiteX8" fmla="*/ 867 w 261937"/>
              <a:gd name="connsiteY8" fmla="*/ 867 w 261937"/>
              <a:gd name="connsiteX9" fmla="*/ 867 w 261937"/>
              <a:gd name="connsiteY9" fmla="*/ 867 w 261937"/>
              <a:gd name="connsiteX10" fmla="*/ 867 w 261937"/>
              <a:gd name="connsiteY10" fmla="*/ 867 w 261937"/>
              <a:gd name="connsiteX11" fmla="*/ 867 w 261937"/>
              <a:gd name="connsiteY11" fmla="*/ 867 w 261937"/>
              <a:gd name="connsiteX12" fmla="*/ 867 w 261937"/>
              <a:gd name="connsiteY12" fmla="*/ 867 w 261937"/>
              <a:gd name="connsiteX13" fmla="*/ 867 w 261937"/>
              <a:gd name="connsiteY13" fmla="*/ 867 w 261937"/>
              <a:gd name="connsiteX14" fmla="*/ 867 w 261937"/>
              <a:gd name="connsiteY14" fmla="*/ 867 w 261937"/>
              <a:gd name="connsiteX15" fmla="*/ 867 w 261937"/>
              <a:gd name="connsiteY15" fmla="*/ 867 w 261937"/>
              <a:gd name="connsiteX16" fmla="*/ 867 w 261937"/>
              <a:gd name="connsiteY16" fmla="*/ 867 w 261937"/>
              <a:gd name="connsiteX17" fmla="*/ 867 w 261937"/>
              <a:gd name="connsiteY17" fmla="*/ 867 w 261937"/>
              <a:gd name="connsiteX18" fmla="*/ 867 w 261937"/>
              <a:gd name="connsiteY18" fmla="*/ 867 w 261937"/>
              <a:gd name="connsiteX19" fmla="*/ 867 w 261937"/>
              <a:gd name="connsiteY19" fmla="*/ 867 w 261937"/>
              <a:gd name="connsiteX20" fmla="*/ 867 w 261937"/>
              <a:gd name="connsiteY20" fmla="*/ 867 w 261937"/>
              <a:gd name="connsiteX21" fmla="*/ 867 w 261937"/>
              <a:gd name="connsiteY21" fmla="*/ 867 w 261937"/>
              <a:gd name="connsiteX22" fmla="*/ 867 w 261937"/>
              <a:gd name="connsiteY22" fmla="*/ 867 w 261937"/>
              <a:gd name="connsiteX23" fmla="*/ 867 w 261937"/>
              <a:gd name="connsiteY23" fmla="*/ 867 w 261937"/>
              <a:gd name="connsiteX24" fmla="*/ 867 w 261937"/>
              <a:gd name="connsiteY24" fmla="*/ 867 w 261937"/>
              <a:gd name="connsiteX25" fmla="*/ 867 w 261937"/>
              <a:gd name="connsiteY25" fmla="*/ 867 w 261937"/>
              <a:gd name="connsiteX26" fmla="*/ 867 w 261937"/>
              <a:gd name="connsiteY26" fmla="*/ 867 w 261937"/>
              <a:gd name="connsiteX27" fmla="*/ 867 w 261937"/>
              <a:gd name="connsiteY27" fmla="*/ 867 w 261937"/>
              <a:gd name="connsiteX28" fmla="*/ 867 w 261937"/>
              <a:gd name="connsiteY28" fmla="*/ 867 w 261937"/>
              <a:gd name="connsiteX29" fmla="*/ 867 w 261937"/>
              <a:gd name="connsiteY29" fmla="*/ 867 w 261937"/>
              <a:gd name="connsiteX30" fmla="*/ 867 w 261937"/>
              <a:gd name="connsiteY30" fmla="*/ 867 w 261937"/>
              <a:gd name="connsiteX31" fmla="*/ 867 w 261937"/>
              <a:gd name="connsiteY31" fmla="*/ 867 w 261937"/>
              <a:gd name="connsiteX32" fmla="*/ 867 w 261937"/>
              <a:gd name="connsiteY32" fmla="*/ 867 w 261937"/>
              <a:gd name="connsiteX33" fmla="*/ 867 w 261937"/>
              <a:gd name="connsiteY33" fmla="*/ 867 w 261937"/>
              <a:gd name="connsiteX34" fmla="*/ 867 w 261937"/>
              <a:gd name="connsiteY34" fmla="*/ 867 w 261937"/>
              <a:gd name="connsiteX35" fmla="*/ 867 w 261937"/>
              <a:gd name="connsiteY35" fmla="*/ 867 w 261937"/>
              <a:gd name="connsiteX36" fmla="*/ 867 w 261937"/>
              <a:gd name="connsiteY36" fmla="*/ 867 w 261937"/>
              <a:gd name="connsiteX37" fmla="*/ 867 w 261937"/>
              <a:gd name="connsiteY37" fmla="*/ 867 w 261937"/>
              <a:gd name="connsiteX38" fmla="*/ 867 w 261937"/>
              <a:gd name="connsiteY38" fmla="*/ 867 w 261937"/>
              <a:gd name="connsiteX39" fmla="*/ 867 w 261937"/>
              <a:gd name="connsiteY39" fmla="*/ 867 w 261937"/>
              <a:gd name="connsiteX40" fmla="*/ 867 w 261937"/>
              <a:gd name="connsiteY40" fmla="*/ 867 w 261937"/>
              <a:gd name="connsiteX41" fmla="*/ 867 w 261937"/>
              <a:gd name="connsiteY41" fmla="*/ 867 w 261937"/>
              <a:gd name="connsiteX42" fmla="*/ 867 w 261937"/>
              <a:gd name="connsiteY42" fmla="*/ 867 w 261937"/>
              <a:gd name="connsiteX43" fmla="*/ 867 w 261937"/>
              <a:gd name="connsiteY43" fmla="*/ 867 w 261937"/>
              <a:gd name="connsiteX44" fmla="*/ 867 w 261937"/>
              <a:gd name="connsiteY44" fmla="*/ 867 w 261937"/>
              <a:gd name="connsiteX45" fmla="*/ 867 w 261937"/>
              <a:gd name="connsiteY45" fmla="*/ 867 w 261937"/>
              <a:gd name="connsiteX46" fmla="*/ 867 w 261937"/>
              <a:gd name="connsiteY46" fmla="*/ 867 w 261937"/>
              <a:gd name="connsiteX47" fmla="*/ 867 w 261937"/>
              <a:gd name="connsiteY47" fmla="*/ 867 w 261937"/>
              <a:gd name="connsiteX48" fmla="*/ 867 w 261937"/>
              <a:gd name="connsiteY48" fmla="*/ 867 w 261937"/>
              <a:gd name="connsiteX49" fmla="*/ 867 w 261937"/>
              <a:gd name="connsiteY49" fmla="*/ 867 w 261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1066800" h="1545771">
                <a:moveTo>
                  <a:pt x="1044792" y="1498431"/>
                </a:moveTo>
                <a:cubicBezTo>
                  <a:pt x="1035452" y="1507793"/>
                  <a:pt x="1023217" y="1512452"/>
                  <a:pt x="1010981" y="1512452"/>
                </a:cubicBezTo>
                <a:cubicBezTo>
                  <a:pt x="998746" y="1512452"/>
                  <a:pt x="986510" y="1507793"/>
                  <a:pt x="977148" y="1498431"/>
                </a:cubicBezTo>
                <a:lnTo>
                  <a:pt x="829473" y="1350756"/>
                </a:lnTo>
                <a:cubicBezTo>
                  <a:pt x="824966" y="1346227"/>
                  <a:pt x="821395" y="1340850"/>
                  <a:pt x="818979" y="1334906"/>
                </a:cubicBezTo>
                <a:lnTo>
                  <a:pt x="744782" y="1152157"/>
                </a:lnTo>
                <a:cubicBezTo>
                  <a:pt x="743388" y="1152026"/>
                  <a:pt x="741973" y="1152070"/>
                  <a:pt x="740536" y="1151896"/>
                </a:cubicBezTo>
                <a:cubicBezTo>
                  <a:pt x="726516" y="1150350"/>
                  <a:pt x="713627" y="1145756"/>
                  <a:pt x="702219" y="1138941"/>
                </a:cubicBezTo>
                <a:lnTo>
                  <a:pt x="565059" y="1278300"/>
                </a:lnTo>
                <a:lnTo>
                  <a:pt x="591729" y="1481624"/>
                </a:lnTo>
                <a:cubicBezTo>
                  <a:pt x="595147" y="1507793"/>
                  <a:pt x="576728" y="1531807"/>
                  <a:pt x="550537" y="1535247"/>
                </a:cubicBezTo>
                <a:cubicBezTo>
                  <a:pt x="548425" y="1535530"/>
                  <a:pt x="546335" y="1535661"/>
                  <a:pt x="544267" y="1535661"/>
                </a:cubicBezTo>
                <a:cubicBezTo>
                  <a:pt x="520623" y="1535661"/>
                  <a:pt x="500071" y="1518135"/>
                  <a:pt x="496914" y="1494077"/>
                </a:cubicBezTo>
                <a:lnTo>
                  <a:pt x="467218" y="1267632"/>
                </a:lnTo>
                <a:cubicBezTo>
                  <a:pt x="465302" y="1253024"/>
                  <a:pt x="470222" y="1238350"/>
                  <a:pt x="480542" y="1227856"/>
                </a:cubicBezTo>
                <a:lnTo>
                  <a:pt x="655889" y="1049744"/>
                </a:lnTo>
                <a:cubicBezTo>
                  <a:pt x="655976" y="1048568"/>
                  <a:pt x="655976" y="1047436"/>
                  <a:pt x="656107" y="1046282"/>
                </a:cubicBezTo>
                <a:lnTo>
                  <a:pt x="699476" y="657249"/>
                </a:lnTo>
                <a:lnTo>
                  <a:pt x="514614" y="657249"/>
                </a:lnTo>
                <a:cubicBezTo>
                  <a:pt x="507408" y="657249"/>
                  <a:pt x="500289" y="655616"/>
                  <a:pt x="493801" y="652481"/>
                </a:cubicBezTo>
                <a:lnTo>
                  <a:pt x="297901" y="557666"/>
                </a:lnTo>
                <a:cubicBezTo>
                  <a:pt x="274497" y="546323"/>
                  <a:pt x="264591" y="518456"/>
                  <a:pt x="275281" y="494921"/>
                </a:cubicBezTo>
                <a:lnTo>
                  <a:pt x="24082" y="94435"/>
                </a:lnTo>
                <a:cubicBezTo>
                  <a:pt x="8516" y="69638"/>
                  <a:pt x="17181" y="36806"/>
                  <a:pt x="42980" y="22938"/>
                </a:cubicBezTo>
                <a:lnTo>
                  <a:pt x="43960" y="22394"/>
                </a:lnTo>
                <a:cubicBezTo>
                  <a:pt x="69759" y="8504"/>
                  <a:pt x="101915" y="19346"/>
                  <a:pt x="114064" y="45994"/>
                </a:cubicBezTo>
                <a:lnTo>
                  <a:pt x="306567" y="468621"/>
                </a:lnTo>
                <a:cubicBezTo>
                  <a:pt x="317235" y="465812"/>
                  <a:pt x="328860" y="466422"/>
                  <a:pt x="339550" y="471604"/>
                </a:cubicBezTo>
                <a:lnTo>
                  <a:pt x="525587" y="561650"/>
                </a:lnTo>
                <a:cubicBezTo>
                  <a:pt x="525587" y="561650"/>
                  <a:pt x="789914" y="561890"/>
                  <a:pt x="790915" y="561955"/>
                </a:cubicBezTo>
                <a:cubicBezTo>
                  <a:pt x="795966" y="561694"/>
                  <a:pt x="801083" y="561737"/>
                  <a:pt x="806286" y="562303"/>
                </a:cubicBezTo>
                <a:cubicBezTo>
                  <a:pt x="858777" y="568160"/>
                  <a:pt x="896550" y="615447"/>
                  <a:pt x="890716" y="667938"/>
                </a:cubicBezTo>
                <a:lnTo>
                  <a:pt x="846171" y="1067488"/>
                </a:lnTo>
                <a:cubicBezTo>
                  <a:pt x="844408" y="1083185"/>
                  <a:pt x="838943" y="1097489"/>
                  <a:pt x="830779" y="1109768"/>
                </a:cubicBezTo>
                <a:lnTo>
                  <a:pt x="903953" y="1289992"/>
                </a:lnTo>
                <a:lnTo>
                  <a:pt x="1044792" y="1430831"/>
                </a:lnTo>
                <a:cubicBezTo>
                  <a:pt x="1063428" y="1449489"/>
                  <a:pt x="1063428" y="1479773"/>
                  <a:pt x="1044792" y="1498431"/>
                </a:cubicBezTo>
                <a:lnTo>
                  <a:pt x="1044792" y="1498431"/>
                </a:lnTo>
                <a:close/>
                <a:moveTo>
                  <a:pt x="809269" y="493702"/>
                </a:moveTo>
                <a:cubicBezTo>
                  <a:pt x="884380" y="493702"/>
                  <a:pt x="945253" y="432829"/>
                  <a:pt x="945253" y="357717"/>
                </a:cubicBezTo>
                <a:cubicBezTo>
                  <a:pt x="945253" y="282606"/>
                  <a:pt x="884380" y="221711"/>
                  <a:pt x="809269" y="221711"/>
                </a:cubicBezTo>
                <a:cubicBezTo>
                  <a:pt x="734157" y="221711"/>
                  <a:pt x="673263" y="282606"/>
                  <a:pt x="673263" y="357717"/>
                </a:cubicBezTo>
                <a:cubicBezTo>
                  <a:pt x="673263" y="432829"/>
                  <a:pt x="734136" y="493702"/>
                  <a:pt x="809269" y="493702"/>
                </a:cubicBezTo>
                <a:lnTo>
                  <a:pt x="809269" y="493702"/>
                </a:lnTo>
                <a:close/>
                <a:moveTo>
                  <a:pt x="318737" y="182653"/>
                </a:moveTo>
                <a:cubicBezTo>
                  <a:pt x="350392" y="182653"/>
                  <a:pt x="376083" y="156985"/>
                  <a:pt x="376083" y="125307"/>
                </a:cubicBezTo>
                <a:cubicBezTo>
                  <a:pt x="376083" y="93630"/>
                  <a:pt x="350392" y="67961"/>
                  <a:pt x="318737" y="67961"/>
                </a:cubicBezTo>
                <a:cubicBezTo>
                  <a:pt x="287059" y="67961"/>
                  <a:pt x="261369" y="93630"/>
                  <a:pt x="261369" y="125307"/>
                </a:cubicBezTo>
                <a:cubicBezTo>
                  <a:pt x="261369" y="156985"/>
                  <a:pt x="287059" y="182653"/>
                  <a:pt x="318737" y="182653"/>
                </a:cubicBezTo>
                <a:lnTo>
                  <a:pt x="318737" y="182653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08330" y="864870"/>
            <a:ext cx="343408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200" b="1">
                <a:solidFill>
                  <a:srgbClr val="0070C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对</a:t>
            </a:r>
            <a:r>
              <a:rPr lang="en-US" altLang="zh-CN" sz="3200" b="1">
                <a:solidFill>
                  <a:srgbClr val="0070C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3200" b="1">
                <a:solidFill>
                  <a:srgbClr val="0070C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理性</a:t>
            </a:r>
            <a:r>
              <a:rPr lang="en-US" altLang="zh-CN" sz="3200" b="1">
                <a:solidFill>
                  <a:srgbClr val="0070C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3200" b="1">
                <a:solidFill>
                  <a:srgbClr val="0070C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的思考</a:t>
            </a:r>
            <a:endParaRPr lang="zh-CN" altLang="en-US" sz="3200" b="1">
              <a:solidFill>
                <a:srgbClr val="0070C0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18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/>
          </p:cNvSpPr>
          <p:nvPr>
            <p:ph type="title" idx="4294967295"/>
          </p:nvPr>
        </p:nvSpPr>
        <p:spPr>
          <a:xfrm>
            <a:off x="521970" y="287655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l" defTabSz="914400" eaLnBrk="1" hangingPunct="1">
              <a:buClrTx/>
              <a:buSzTx/>
              <a:buFontTx/>
            </a:pPr>
            <a:r>
              <a:rPr lang="zh-CN" altLang="en-US" sz="3200" kern="1200" spc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理性智能体</a:t>
            </a:r>
            <a:r>
              <a:rPr lang="en-US" altLang="zh-CN" sz="3200" kern="1200" spc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≠</a:t>
            </a:r>
            <a:r>
              <a:rPr lang="zh-CN" altLang="en-US" sz="3200" kern="1200" spc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全知者</a:t>
            </a:r>
            <a:endParaRPr lang="zh-CN" altLang="en-US" sz="3200" kern="1200" spc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0484" name="Rectangle 3" descr="7b0a202020202262756c6c6574223a20227b5c2263617465676f727949645c223a31303030352c5c2274656d706c61746549645c223a32303233313336307d220a7d0a"/>
          <p:cNvSpPr>
            <a:spLocks noGrp="1"/>
          </p:cNvSpPr>
          <p:nvPr>
            <p:ph idx="4294967295"/>
            <p:custDataLst>
              <p:tags r:id="rId1"/>
            </p:custDataLst>
          </p:nvPr>
        </p:nvSpPr>
        <p:spPr>
          <a:xfrm>
            <a:off x="762635" y="1294130"/>
            <a:ext cx="10878820" cy="5055870"/>
          </a:xfrm>
          <a:noFill/>
          <a:ln w="9525">
            <a:noFill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algn="l" defTabSz="914400">
              <a:lnSpc>
                <a:spcPct val="150000"/>
              </a:lnSpc>
              <a:buSzTx/>
              <a:buNone/>
            </a:pPr>
            <a:r>
              <a:rPr lang="zh-CN" altLang="en-US" sz="1800" b="1" kern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理性</a:t>
            </a:r>
            <a:r>
              <a:rPr lang="en-US" altLang="zh-CN" sz="1800" b="1" kern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vs. </a:t>
            </a:r>
            <a:r>
              <a:rPr lang="zh-CN" altLang="en-US" sz="1800" b="1" kern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全知</a:t>
            </a:r>
            <a:endParaRPr lang="zh-CN" altLang="en-US" sz="1800" b="1" kern="12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 defTabSz="914400">
              <a:lnSpc>
                <a:spcPct val="150000"/>
              </a:lnSpc>
              <a:buClr>
                <a:srgbClr val="0070C0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一个全知的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Agent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知道它的动作产生的实际效果，并且做出相应的动作。但一个全知者在现实中是不可能的。</a:t>
            </a:r>
            <a:endParaRPr lang="zh-CN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 algn="l" defTabSz="914400">
              <a:lnSpc>
                <a:spcPct val="150000"/>
              </a:lnSpc>
              <a:buClr>
                <a:srgbClr val="0070C0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对理性的定义</a:t>
            </a: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并不要求全知（</a:t>
            </a: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未知环境下的行为更重要</a:t>
            </a: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。因为理性的选择只取决于到当时为止的感知序列。</a:t>
            </a:r>
            <a:endParaRPr lang="en-US" altLang="zh-C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 algn="l" defTabSz="914400">
              <a:lnSpc>
                <a:spcPct val="150000"/>
              </a:lnSpc>
              <a:buClr>
                <a:srgbClr val="0070C0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理性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Agent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应该经常进行观察（</a:t>
            </a:r>
            <a:r>
              <a:rPr lang="zh-CN" altLang="en-US" sz="1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观察也是一种动作</a:t>
            </a:r>
            <a:r>
              <a:rPr lang="en-US" altLang="zh-CN" sz="1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Action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），因为观察有助于最大化期望性能。</a:t>
            </a:r>
            <a:endParaRPr lang="zh-CN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 algn="l" defTabSz="914400">
              <a:lnSpc>
                <a:spcPct val="150000"/>
              </a:lnSpc>
              <a:buClr>
                <a:srgbClr val="0070C0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为了修改未来的感知信息而采取动作，也称为信息收集，是理性的重要部分。例如：真空吸尘器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Agent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在初始未知的环境中必须进行探索。</a:t>
            </a:r>
            <a:endParaRPr lang="en-US" altLang="zh-C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defTabSz="914400">
              <a:lnSpc>
                <a:spcPct val="150000"/>
              </a:lnSpc>
              <a:buSzTx/>
              <a:buNone/>
            </a:pPr>
            <a:r>
              <a:rPr lang="zh-CN" altLang="en-US" sz="1800" b="1" kern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理性</a:t>
            </a:r>
            <a:r>
              <a:rPr lang="en-US" altLang="zh-CN" sz="1800" b="1" kern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vs. </a:t>
            </a:r>
            <a:r>
              <a:rPr lang="zh-CN" altLang="en-US" sz="1800" b="1" kern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完美</a:t>
            </a:r>
            <a:endParaRPr lang="zh-CN" altLang="en-US" sz="1800" b="1" kern="12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 defTabSz="914400">
              <a:lnSpc>
                <a:spcPct val="150000"/>
              </a:lnSpc>
              <a:buClr>
                <a:srgbClr val="0070C0"/>
              </a:buClr>
              <a:buSzTx/>
            </a:pPr>
            <a:r>
              <a:rPr lang="zh-CN" altLang="en-US" sz="1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理性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是使</a:t>
            </a:r>
            <a:r>
              <a:rPr lang="zh-CN" altLang="en-US" sz="1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期望</a:t>
            </a:r>
            <a:r>
              <a:rPr lang="zh-CN" altLang="en-US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性能最大化。而</a:t>
            </a:r>
            <a:r>
              <a:rPr lang="zh-CN" altLang="en-US" sz="1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完美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是使</a:t>
            </a:r>
            <a:r>
              <a:rPr lang="zh-CN" altLang="en-US" sz="1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实际</a:t>
            </a:r>
            <a:r>
              <a:rPr lang="zh-CN" altLang="en-US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性能最大化。</a:t>
            </a:r>
            <a:endParaRPr lang="zh-CN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 algn="l" defTabSz="914400">
              <a:lnSpc>
                <a:spcPct val="150000"/>
              </a:lnSpc>
              <a:buClr>
                <a:srgbClr val="0070C0"/>
              </a:buClr>
              <a:buSzTx/>
            </a:pP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完美对一个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Agent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而言是不合理的要求。</a:t>
            </a:r>
            <a:endParaRPr lang="zh-CN" altLang="en-US" sz="1800" kern="12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34695" y="1498600"/>
            <a:ext cx="1091565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对理性的定义还要求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从所感知的东西中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学习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最初的设定可能反映了环境的一些先验知识。但随着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获得经验，这些知识会改变、或增加。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有一些极端的情况下环境完全当成先验知识。在这样的情况下，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不需要感知和学习，只要正确地动作就可以。当然，这样的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非常脆弱。（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参见书中的两个例子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 descr="7b0a20202020227461726765744d6f64756c65223a20226b6f6e6c696e6574657874626f78220a7d0a"/>
          <p:cNvSpPr txBox="1"/>
          <p:nvPr/>
        </p:nvSpPr>
        <p:spPr>
          <a:xfrm>
            <a:off x="808990" y="3558540"/>
            <a:ext cx="10713720" cy="216852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成功的Agent体把函数计算分成三个阶段：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（1）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设计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阶段，设计者会完成一些计算。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（2）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决策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阶段，思考下一步动作的时候，Agent会做更多计算。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（3）</a:t>
            </a:r>
            <a:r>
              <a:rPr lang="zh-CN" altLang="en-US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学习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阶段，当从经验中学习的时候，Agent要进行更多的计算以决定如何修正自己的行为。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（注意设计者和Agent的分工与合作）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483" name="Rectangle 2"/>
          <p:cNvSpPr>
            <a:spLocks noGrp="1"/>
          </p:cNvSpPr>
          <p:nvPr/>
        </p:nvSpPr>
        <p:spPr>
          <a:xfrm>
            <a:off x="521970" y="460375"/>
            <a:ext cx="8540750" cy="1143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l" defTabSz="914400" eaLnBrk="1" hangingPunct="1">
              <a:buClrTx/>
              <a:buSzTx/>
              <a:buFontTx/>
            </a:pPr>
            <a:r>
              <a:rPr lang="zh-CN" altLang="en-US" sz="3200" b="1" kern="1200" spc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理性智能体要会</a:t>
            </a:r>
            <a:r>
              <a:rPr lang="en-US" altLang="zh-CN" sz="3200" b="1" kern="1200" spc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3200" b="1" kern="1200" spc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学习</a:t>
            </a:r>
            <a:r>
              <a:rPr lang="en-US" altLang="zh-CN" sz="3200" b="1" kern="1200" spc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endParaRPr lang="en-US" altLang="zh-CN" sz="3200" b="1" kern="1200" spc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39470" y="1788160"/>
            <a:ext cx="10302240" cy="27495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spcBef>
                <a:spcPct val="20000"/>
              </a:spcBef>
              <a:buClr>
                <a:srgbClr val="0070C0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1800" spc="150" dirty="0"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如果Agent依赖于设计者的先验知识，而不是它自身的</a:t>
            </a:r>
            <a:r>
              <a:rPr lang="zh-CN" altLang="en-US" sz="1800" b="1" spc="150" dirty="0"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感知信息</a:t>
            </a:r>
            <a:r>
              <a:rPr lang="zh-CN" altLang="en-US" sz="1800" spc="150" dirty="0"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，则该Agent缺乏自主性。</a:t>
            </a:r>
            <a:endParaRPr lang="zh-CN" altLang="en-US" sz="1800" spc="150" dirty="0"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spcBef>
                <a:spcPct val="20000"/>
              </a:spcBef>
              <a:buClr>
                <a:srgbClr val="0070C0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1800" b="1" spc="150" dirty="0"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理性Agent应该是自主的</a:t>
            </a:r>
            <a:r>
              <a:rPr lang="zh-CN" altLang="en-US" sz="1800" spc="150" dirty="0"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，它应该尽可能地</a:t>
            </a:r>
            <a:r>
              <a:rPr lang="zh-CN" altLang="en-US" sz="1800" b="1" spc="150" dirty="0"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学习</a:t>
            </a:r>
            <a:r>
              <a:rPr lang="zh-CN" altLang="en-US" sz="1800" spc="150" dirty="0"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，以弥补不全面、不正确的先验知识。</a:t>
            </a:r>
            <a:endParaRPr lang="zh-CN" altLang="en-US" sz="1800" spc="150" dirty="0"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spcBef>
                <a:spcPct val="20000"/>
              </a:spcBef>
              <a:buClr>
                <a:srgbClr val="0070C0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1800" spc="150" dirty="0"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为Agent提供一些初始知识和学习能力是合理的。当得到关于环境的充分经验后，理性Agent的行为才会</a:t>
            </a:r>
            <a:r>
              <a:rPr lang="zh-CN" altLang="en-US" sz="1800" b="1" spc="150" dirty="0"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有效地独立于</a:t>
            </a:r>
            <a:r>
              <a:rPr lang="zh-CN" altLang="en-US" sz="1800" spc="150" dirty="0"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它的先验知识。</a:t>
            </a:r>
            <a:endParaRPr lang="zh-CN" altLang="en-US" sz="1800" spc="150" dirty="0"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spcBef>
                <a:spcPct val="20000"/>
              </a:spcBef>
              <a:buClr>
                <a:srgbClr val="0070C0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1800" b="1" spc="150" dirty="0"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与学习相结合</a:t>
            </a:r>
            <a:r>
              <a:rPr lang="zh-CN" altLang="en-US" sz="1800" spc="150" dirty="0"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使得设计在很多环境下都能成功的理性Agent成为可能（学习是Agent自适应性的基础）</a:t>
            </a:r>
            <a:r>
              <a:rPr lang="zh-CN" altLang="en-US" sz="1800" spc="150" dirty="0"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sz="1800" spc="150" dirty="0"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0483" name="Rectangle 2"/>
          <p:cNvSpPr>
            <a:spLocks noGrp="1"/>
          </p:cNvSpPr>
          <p:nvPr/>
        </p:nvSpPr>
        <p:spPr>
          <a:xfrm>
            <a:off x="521970" y="460375"/>
            <a:ext cx="8540750" cy="1143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l" defTabSz="914400" eaLnBrk="1" hangingPunct="1">
              <a:buClrTx/>
              <a:buSzTx/>
              <a:buFontTx/>
            </a:pPr>
            <a:r>
              <a:rPr lang="zh-CN" altLang="en-US" sz="3200" b="1" kern="1200" spc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理性智能体要有</a:t>
            </a:r>
            <a:r>
              <a:rPr lang="en-US" altLang="zh-CN" sz="3200" b="1" kern="1200" spc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3200" b="1" kern="1200" spc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自主性</a:t>
            </a:r>
            <a:r>
              <a:rPr lang="en-US" altLang="zh-CN" sz="3200" b="1" kern="1200" spc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endParaRPr lang="en-US" altLang="zh-CN" sz="3200" b="1" kern="1200" spc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/>
          </p:cNvSpPr>
          <p:nvPr>
            <p:ph type="title"/>
          </p:nvPr>
        </p:nvSpPr>
        <p:spPr>
          <a:xfrm>
            <a:off x="730250" y="575945"/>
            <a:ext cx="10852150" cy="833755"/>
          </a:xfrm>
        </p:spPr>
        <p:txBody>
          <a:bodyPr vert="horz" wrap="square" lIns="121920" tIns="60960" rIns="121920" bIns="60960" anchor="ctr" anchorCtr="0">
            <a:noAutofit/>
          </a:bodyPr>
          <a:lstStyle/>
          <a:p>
            <a:pPr algn="ctr" defTabSz="685800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4800" b="1" spc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  <a:cs typeface="+mn-cs"/>
              </a:rPr>
              <a:t>第二章</a:t>
            </a:r>
            <a:r>
              <a:rPr lang="en-US" altLang="zh-CN" sz="4800" b="1" spc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  <a:cs typeface="+mn-cs"/>
              </a:rPr>
              <a:t>    </a:t>
            </a:r>
            <a:r>
              <a:rPr lang="zh-CN" altLang="en-US" sz="4800" b="1" spc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  <a:cs typeface="+mn-cs"/>
              </a:rPr>
              <a:t>智能AGENT（智能体）</a:t>
            </a:r>
            <a:endParaRPr lang="zh-CN" altLang="en-US" sz="4800" b="1" spc="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latin typeface="+mj-ea"/>
              <a:ea typeface="+mj-ea"/>
              <a:cs typeface="+mn-cs"/>
            </a:endParaRPr>
          </a:p>
        </p:txBody>
      </p:sp>
      <p:sp>
        <p:nvSpPr>
          <p:cNvPr id="44035" name="Rectangle 3"/>
          <p:cNvSpPr>
            <a:spLocks noGrp="1"/>
          </p:cNvSpPr>
          <p:nvPr>
            <p:ph idx="1"/>
          </p:nvPr>
        </p:nvSpPr>
        <p:spPr>
          <a:xfrm>
            <a:off x="730250" y="2567940"/>
            <a:ext cx="6596380" cy="3126740"/>
          </a:xfr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121920" tIns="60960" rIns="121920" bIns="60960" anchor="t" anchorCtr="0">
            <a:normAutofit/>
          </a:bodyPr>
          <a:lstStyle/>
          <a:p>
            <a:pPr eaLnBrk="1" hangingPunct="1"/>
            <a:r>
              <a:rPr lang="zh-CN" altLang="en-US" sz="32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Agent基本定义</a:t>
            </a: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Agent</a:t>
            </a: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的本质）</a:t>
            </a:r>
            <a:endParaRPr lang="zh-CN" altLang="en-US" sz="24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</a:endParaRPr>
          </a:p>
          <a:p>
            <a:pPr eaLnBrk="1" hangingPunct="1"/>
            <a:r>
              <a:rPr lang="zh-CN" altLang="en-US" sz="32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评价Agent行为</a:t>
            </a: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Agent</a:t>
            </a: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是否完美）</a:t>
            </a:r>
            <a:endParaRPr lang="zh-CN" altLang="en-US" sz="24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</a:endParaRPr>
          </a:p>
          <a:p>
            <a:pPr eaLnBrk="1" hangingPunct="1"/>
            <a:r>
              <a:rPr lang="zh-CN" altLang="en-US" sz="3200" b="1" dirty="0">
                <a:latin typeface="微软雅黑" panose="020B0503020204020204" pitchFamily="34" charset="-122"/>
              </a:rPr>
              <a:t>任务环境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</a:rPr>
              <a:t>（环境的多样性）</a:t>
            </a:r>
            <a:endParaRPr lang="zh-CN" altLang="en-US" sz="3200" b="1" dirty="0">
              <a:latin typeface="微软雅黑" panose="020B0503020204020204" pitchFamily="34" charset="-122"/>
            </a:endParaRPr>
          </a:p>
          <a:p>
            <a:pPr eaLnBrk="1" hangingPunct="1"/>
            <a:r>
              <a:rPr lang="zh-CN" altLang="en-US" sz="32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Agent的结构</a:t>
            </a: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Agent</a:t>
            </a: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分类）</a:t>
            </a:r>
            <a:endParaRPr lang="zh-CN" altLang="en-US" sz="24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270" y="2856230"/>
            <a:ext cx="4762500" cy="26790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/>
          </p:cNvSpPr>
          <p:nvPr>
            <p:ph type="title" idx="4294967295"/>
          </p:nvPr>
        </p:nvSpPr>
        <p:spPr>
          <a:xfrm>
            <a:off x="754380" y="381000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l" defTabSz="914400" eaLnBrk="1" hangingPunct="1">
              <a:buClrTx/>
              <a:buSzTx/>
              <a:buFontTx/>
            </a:pPr>
            <a:r>
              <a:rPr lang="zh-CN" altLang="en-US" sz="3200" kern="1200" spc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任务环境</a:t>
            </a:r>
            <a:endParaRPr lang="zh-CN" altLang="en-US" sz="3200" kern="1200" spc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78883" name="Rectangle 3"/>
          <p:cNvSpPr>
            <a:spLocks noGrp="1" noChangeArrowheads="1"/>
          </p:cNvSpPr>
          <p:nvPr>
            <p:ph idx="4294967295"/>
            <p:custDataLst>
              <p:tags r:id="rId1"/>
            </p:custDataLst>
          </p:nvPr>
        </p:nvSpPr>
        <p:spPr>
          <a:xfrm>
            <a:off x="754380" y="1610995"/>
            <a:ext cx="8229600" cy="452438"/>
          </a:xfrm>
          <a:noFill/>
          <a:ln w="9525">
            <a:noFill/>
          </a:ln>
        </p:spPr>
        <p:txBody>
          <a:bodyPr vert="horz" wrap="square" lIns="0" tIns="0" rIns="0" bIns="0" numCol="1" anchor="t" anchorCtr="0" compatLnSpc="1">
            <a:normAutofit fontScale="6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 defTabSz="914400" eaLnBrk="1" hangingPunct="1">
              <a:lnSpc>
                <a:spcPct val="90000"/>
              </a:lnSpc>
              <a:buSzTx/>
              <a:buFontTx/>
              <a:buNone/>
              <a:defRPr/>
            </a:pPr>
            <a:r>
              <a:rPr lang="zh-CN" altLang="en-US" sz="28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设计理性智能体的第一步：尽可能完整地详细说明必须指定</a:t>
            </a:r>
            <a:r>
              <a:rPr lang="zh-CN" altLang="en-US" sz="2800" b="1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任务环境（</a:t>
            </a:r>
            <a:r>
              <a:rPr lang="en-US" altLang="zh-CN" sz="2800" b="1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PEAS)</a:t>
            </a:r>
            <a:endParaRPr lang="en-US" altLang="zh-CN" sz="2800" b="1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2532" name="Text Box 4"/>
          <p:cNvSpPr txBox="1"/>
          <p:nvPr>
            <p:custDataLst>
              <p:tags r:id="rId2"/>
            </p:custDataLst>
          </p:nvPr>
        </p:nvSpPr>
        <p:spPr>
          <a:xfrm>
            <a:off x="1002983" y="2249805"/>
            <a:ext cx="7920037" cy="4318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例如，考虑设计一个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自动驾驶出租车</a:t>
            </a: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的任务：</a:t>
            </a:r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003300" y="2771140"/>
            <a:ext cx="9961245" cy="2799715"/>
            <a:chOff x="1580" y="4726"/>
            <a:chExt cx="15687" cy="4409"/>
          </a:xfrm>
        </p:grpSpPr>
        <p:grpSp>
          <p:nvGrpSpPr>
            <p:cNvPr id="3" name="组合 2"/>
            <p:cNvGrpSpPr/>
            <p:nvPr/>
          </p:nvGrpSpPr>
          <p:grpSpPr>
            <a:xfrm>
              <a:off x="5929" y="5213"/>
              <a:ext cx="11338" cy="3751"/>
              <a:chOff x="5929" y="5213"/>
              <a:chExt cx="11338" cy="3751"/>
            </a:xfrm>
          </p:grpSpPr>
          <p:sp>
            <p:nvSpPr>
              <p:cNvPr id="378886" name="Text Box 6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5929" y="5213"/>
                <a:ext cx="11339" cy="62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45000"/>
                </a:schemeClr>
              </a:solidFill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115000"/>
                  <a:buChar char="•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0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安全，到达目的地，利润，合法，舒适，</a:t>
                </a:r>
                <a:r>
                  <a:rPr lang="en-US" altLang="zh-CN" sz="20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…</a:t>
                </a:r>
                <a:endPara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378888" name="Text Box 8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5929" y="6348"/>
                <a:ext cx="11339" cy="62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45000"/>
                </a:schemeClr>
              </a:solidFill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115000"/>
                  <a:buChar char="•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0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街道</a:t>
                </a:r>
                <a:r>
                  <a:rPr lang="en-US" altLang="zh-CN" sz="20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/</a:t>
                </a:r>
                <a:r>
                  <a:rPr lang="zh-CN" altLang="en-US" sz="20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高速，汽车，行人</a:t>
                </a:r>
                <a:r>
                  <a:rPr lang="en-US" altLang="zh-CN" sz="20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/</a:t>
                </a:r>
                <a:r>
                  <a:rPr lang="zh-CN" altLang="en-US" sz="20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自行车，天气，</a:t>
                </a:r>
                <a:r>
                  <a:rPr lang="en-US" altLang="zh-CN" sz="20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…</a:t>
                </a:r>
                <a:endPara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378892" name="Text Box 12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929" y="7371"/>
                <a:ext cx="11339" cy="62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45000"/>
                </a:schemeClr>
              </a:solidFill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115000"/>
                  <a:buChar char="•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0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方向盘，油门，刹车，喇叭，对讲机</a:t>
                </a:r>
                <a:r>
                  <a:rPr lang="en-US" altLang="zh-CN" sz="20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/</a:t>
                </a:r>
                <a:r>
                  <a:rPr lang="zh-CN" altLang="en-US" sz="20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显示器，</a:t>
                </a:r>
                <a:r>
                  <a:rPr lang="en-US" altLang="zh-CN" sz="20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…</a:t>
                </a:r>
                <a:endPara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378893" name="Text Box 13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929" y="8336"/>
                <a:ext cx="11339" cy="62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45000"/>
                </a:schemeClr>
              </a:solidFill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115000"/>
                  <a:buChar char="•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0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摄像头，声纳，速度表，发动机传感器，键盘，</a:t>
                </a:r>
                <a:r>
                  <a:rPr lang="en-US" altLang="zh-CN" sz="20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GPS</a:t>
                </a:r>
                <a:r>
                  <a:rPr lang="zh-CN" altLang="en-US" sz="20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，</a:t>
                </a:r>
                <a:r>
                  <a:rPr lang="en-US" altLang="zh-CN" sz="20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…</a:t>
                </a:r>
                <a:endPara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1580" y="4726"/>
              <a:ext cx="3575" cy="44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220000"/>
                </a:lnSpc>
              </a:pPr>
              <a:r>
                <a:rPr lang="en-US" altLang="zh-CN" sz="2000" b="1">
                  <a:solidFill>
                    <a:srgbClr val="0070C0"/>
                  </a:solidFill>
                </a:rPr>
                <a:t>P</a:t>
              </a:r>
              <a:r>
                <a:rPr lang="en-US" altLang="zh-CN" sz="2000" b="1">
                  <a:solidFill>
                    <a:schemeClr val="bg2">
                      <a:lumMod val="50000"/>
                    </a:schemeClr>
                  </a:solidFill>
                </a:rPr>
                <a:t>erformance</a:t>
              </a:r>
              <a:r>
                <a:rPr lang="zh-CN" altLang="en-US" sz="2000" b="1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性能</a:t>
              </a:r>
              <a:endParaRPr lang="en-US" altLang="zh-CN" sz="2000" b="1"/>
            </a:p>
            <a:p>
              <a:pPr algn="ctr">
                <a:lnSpc>
                  <a:spcPct val="220000"/>
                </a:lnSpc>
              </a:pPr>
              <a:r>
                <a:rPr lang="en-US" altLang="zh-CN" sz="2000" b="1">
                  <a:solidFill>
                    <a:srgbClr val="0070C0"/>
                  </a:solidFill>
                </a:rPr>
                <a:t>E</a:t>
              </a:r>
              <a:r>
                <a:rPr lang="en-US" altLang="zh-CN" sz="2000" b="1">
                  <a:solidFill>
                    <a:schemeClr val="bg2">
                      <a:lumMod val="50000"/>
                    </a:schemeClr>
                  </a:solidFill>
                </a:rPr>
                <a:t>nviroment  </a:t>
              </a:r>
              <a:r>
                <a:rPr lang="zh-CN" altLang="en-US" sz="2000" b="1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环境</a:t>
              </a:r>
              <a:endParaRPr lang="en-US" altLang="zh-CN" sz="2000" b="1">
                <a:solidFill>
                  <a:schemeClr val="bg2">
                    <a:lumMod val="50000"/>
                  </a:schemeClr>
                </a:solidFill>
              </a:endParaRPr>
            </a:p>
            <a:p>
              <a:pPr algn="ctr">
                <a:lnSpc>
                  <a:spcPct val="220000"/>
                </a:lnSpc>
              </a:pPr>
              <a:r>
                <a:rPr lang="en-US" altLang="zh-CN" sz="2000" b="1">
                  <a:solidFill>
                    <a:srgbClr val="0070C0"/>
                  </a:solidFill>
                </a:rPr>
                <a:t>A</a:t>
              </a:r>
              <a:r>
                <a:rPr lang="en-US" altLang="zh-CN" sz="2000" b="1">
                  <a:solidFill>
                    <a:schemeClr val="bg2">
                      <a:lumMod val="50000"/>
                    </a:schemeClr>
                  </a:solidFill>
                </a:rPr>
                <a:t>ctuators  </a:t>
              </a:r>
              <a:r>
                <a:rPr lang="zh-CN" altLang="en-US" sz="2000" b="1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执行器</a:t>
              </a:r>
              <a:endParaRPr lang="zh-CN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220000"/>
                </a:lnSpc>
              </a:pPr>
              <a:r>
                <a:rPr lang="en-US" altLang="zh-CN" sz="2000" b="1">
                  <a:solidFill>
                    <a:srgbClr val="0070C0"/>
                  </a:solidFill>
                </a:rPr>
                <a:t>S</a:t>
              </a:r>
              <a:r>
                <a:rPr lang="en-US" altLang="zh-CN" sz="2000" b="1">
                  <a:solidFill>
                    <a:schemeClr val="bg2">
                      <a:lumMod val="50000"/>
                    </a:schemeClr>
                  </a:solidFill>
                </a:rPr>
                <a:t>ensors    </a:t>
              </a:r>
              <a:r>
                <a:rPr lang="zh-CN" altLang="en-US" sz="2000" b="1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传感器</a:t>
              </a:r>
              <a:endParaRPr lang="zh-CN" altLang="en-US" sz="2000" b="1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pic>
        <p:nvPicPr>
          <p:cNvPr id="5" name="图片 4" descr="C:/Users/A/AppData/Local/Temp/picturecompress_20210827161524/output_1.pngoutput_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4310" y="449580"/>
            <a:ext cx="2699955" cy="1800000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8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/>
          </p:cNvSpPr>
          <p:nvPr>
            <p:ph type="title" idx="4294967295"/>
          </p:nvPr>
        </p:nvSpPr>
        <p:spPr>
          <a:xfrm>
            <a:off x="339725" y="189230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l" defTabSz="914400" eaLnBrk="1" hangingPunct="1">
              <a:buClrTx/>
              <a:buSzTx/>
              <a:buFontTx/>
            </a:pPr>
            <a:r>
              <a:rPr lang="zh-CN" altLang="en-US" sz="3200" kern="1200" spc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任务环境的性质</a:t>
            </a:r>
            <a:endParaRPr lang="en-US" altLang="zh-CN" sz="3200" kern="1200" spc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3556" name="Rectangle 3"/>
          <p:cNvSpPr>
            <a:spLocks noGrp="1"/>
          </p:cNvSpPr>
          <p:nvPr>
            <p:ph idx="4294967295"/>
            <p:custDataLst>
              <p:tags r:id="rId1"/>
            </p:custDataLst>
          </p:nvPr>
        </p:nvSpPr>
        <p:spPr>
          <a:xfrm>
            <a:off x="722630" y="1130935"/>
            <a:ext cx="10441305" cy="5137150"/>
          </a:xfrm>
          <a:noFill/>
          <a:ln w="9525">
            <a:noFill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 defTabSz="914400">
              <a:lnSpc>
                <a:spcPct val="120000"/>
              </a:lnSpc>
              <a:buClr>
                <a:srgbClr val="0070C0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1800" b="1" kern="1200" dirty="0">
                <a:solidFill>
                  <a:srgbClr val="0070C0"/>
                </a:solidFill>
                <a:latin typeface="+mn-ea"/>
                <a:sym typeface="+mn-ea"/>
              </a:rPr>
              <a:t>完全可观察与部分可观察</a:t>
            </a:r>
            <a:endParaRPr lang="zh-CN" altLang="en-US" sz="1800" b="1" kern="1200" dirty="0">
              <a:solidFill>
                <a:srgbClr val="0070C0"/>
              </a:solidFill>
              <a:latin typeface="+mn-ea"/>
              <a:sym typeface="+mn-ea"/>
            </a:endParaRPr>
          </a:p>
          <a:p>
            <a:pPr lvl="1" algn="l" defTabSz="914400">
              <a:lnSpc>
                <a:spcPct val="120000"/>
              </a:lnSpc>
              <a:buClr>
                <a:srgbClr val="0070C0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1800" kern="1200" dirty="0">
                <a:solidFill>
                  <a:schemeClr val="dk1"/>
                </a:solidFill>
                <a:latin typeface="+mn-ea"/>
                <a:cs typeface="+mn-cs"/>
                <a:sym typeface="+mn-ea"/>
              </a:rPr>
              <a:t>完全可观察：智能体能获取环境的完整状态，智能体不需要内部维护来记录世界的状况</a:t>
            </a:r>
            <a:endParaRPr lang="zh-CN" altLang="en-US" sz="1800" kern="1200" dirty="0">
              <a:solidFill>
                <a:schemeClr val="dk1"/>
              </a:solidFill>
              <a:latin typeface="+mn-ea"/>
              <a:cs typeface="+mn-cs"/>
              <a:sym typeface="+mn-ea"/>
            </a:endParaRPr>
          </a:p>
          <a:p>
            <a:pPr lvl="0" algn="l" defTabSz="914400">
              <a:lnSpc>
                <a:spcPct val="120000"/>
              </a:lnSpc>
              <a:buClr>
                <a:srgbClr val="0070C0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1800" b="1" kern="1200" dirty="0">
                <a:solidFill>
                  <a:srgbClr val="0070C0"/>
                </a:solidFill>
                <a:latin typeface="+mn-ea"/>
                <a:sym typeface="+mn-ea"/>
              </a:rPr>
              <a:t>确定性与随机</a:t>
            </a:r>
            <a:endParaRPr lang="zh-CN" altLang="en-US" sz="1800" b="1" kern="1200" dirty="0">
              <a:solidFill>
                <a:srgbClr val="0070C0"/>
              </a:solidFill>
              <a:latin typeface="+mn-ea"/>
              <a:sym typeface="+mn-ea"/>
            </a:endParaRPr>
          </a:p>
          <a:p>
            <a:pPr lvl="1" algn="l" defTabSz="914400">
              <a:lnSpc>
                <a:spcPct val="120000"/>
              </a:lnSpc>
              <a:buClr>
                <a:srgbClr val="0070C0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1800" kern="1200" dirty="0">
                <a:solidFill>
                  <a:schemeClr val="dk1"/>
                </a:solidFill>
                <a:latin typeface="+mn-ea"/>
                <a:cs typeface="+mn-cs"/>
                <a:sym typeface="+mn-ea"/>
              </a:rPr>
              <a:t>确定性：环境的下一个状态完全取决于当前状态和智能体的行动</a:t>
            </a:r>
            <a:endParaRPr lang="zh-CN" altLang="en-US" sz="1800" kern="1200" dirty="0">
              <a:solidFill>
                <a:schemeClr val="dk1"/>
              </a:solidFill>
              <a:latin typeface="+mn-ea"/>
              <a:cs typeface="+mn-cs"/>
              <a:sym typeface="+mn-ea"/>
            </a:endParaRPr>
          </a:p>
          <a:p>
            <a:pPr lvl="1" algn="l" defTabSz="914400">
              <a:lnSpc>
                <a:spcPct val="120000"/>
              </a:lnSpc>
              <a:buClr>
                <a:srgbClr val="0070C0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1800" kern="1200" dirty="0">
                <a:solidFill>
                  <a:schemeClr val="dk1"/>
                </a:solidFill>
                <a:latin typeface="+mn-ea"/>
                <a:cs typeface="+mn-cs"/>
                <a:sym typeface="+mn-ea"/>
              </a:rPr>
              <a:t>环境是确定的，除非有其它智能体活动的影响。</a:t>
            </a:r>
            <a:endParaRPr lang="zh-CN" altLang="en-US" sz="1800" kern="1200" dirty="0">
              <a:solidFill>
                <a:schemeClr val="dk1"/>
              </a:solidFill>
              <a:latin typeface="+mn-ea"/>
              <a:cs typeface="+mn-cs"/>
              <a:sym typeface="+mn-ea"/>
            </a:endParaRPr>
          </a:p>
          <a:p>
            <a:pPr lvl="0" algn="l" defTabSz="914400">
              <a:lnSpc>
                <a:spcPct val="120000"/>
              </a:lnSpc>
              <a:buClr>
                <a:srgbClr val="0070C0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1800" b="1" kern="1200" dirty="0">
                <a:solidFill>
                  <a:srgbClr val="0070C0"/>
                </a:solidFill>
                <a:latin typeface="+mn-ea"/>
                <a:sym typeface="+mn-ea"/>
              </a:rPr>
              <a:t>片段式与延续式</a:t>
            </a:r>
            <a:r>
              <a:rPr lang="zh-CN" altLang="en-US" sz="1800" kern="1200" dirty="0">
                <a:solidFill>
                  <a:schemeClr val="dk1"/>
                </a:solidFill>
                <a:latin typeface="+mn-ea"/>
                <a:sym typeface="+mn-ea"/>
              </a:rPr>
              <a:t>：行动的选择是否取决于当前片段</a:t>
            </a:r>
            <a:endParaRPr lang="zh-CN" altLang="en-US" sz="1800" kern="1200" dirty="0">
              <a:solidFill>
                <a:schemeClr val="dk1"/>
              </a:solidFill>
              <a:latin typeface="+mn-ea"/>
              <a:sym typeface="+mn-ea"/>
            </a:endParaRPr>
          </a:p>
          <a:p>
            <a:pPr lvl="0" algn="l" defTabSz="914400">
              <a:lnSpc>
                <a:spcPct val="120000"/>
              </a:lnSpc>
              <a:buClr>
                <a:srgbClr val="0070C0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1800" b="1" kern="1200" dirty="0">
                <a:solidFill>
                  <a:srgbClr val="0070C0"/>
                </a:solidFill>
                <a:latin typeface="+mn-ea"/>
                <a:sym typeface="+mn-ea"/>
              </a:rPr>
              <a:t>静态与动态</a:t>
            </a:r>
            <a:endParaRPr lang="zh-CN" altLang="en-US" sz="1800" b="1" kern="1200" dirty="0">
              <a:solidFill>
                <a:srgbClr val="0070C0"/>
              </a:solidFill>
              <a:latin typeface="+mn-ea"/>
              <a:sym typeface="+mn-ea"/>
            </a:endParaRPr>
          </a:p>
          <a:p>
            <a:pPr lvl="1" algn="l" defTabSz="914400">
              <a:lnSpc>
                <a:spcPct val="120000"/>
              </a:lnSpc>
              <a:buClr>
                <a:srgbClr val="0070C0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1800" kern="1200" dirty="0">
                <a:solidFill>
                  <a:schemeClr val="dk1"/>
                </a:solidFill>
                <a:latin typeface="+mn-ea"/>
                <a:cs typeface="+mn-cs"/>
                <a:sym typeface="+mn-ea"/>
              </a:rPr>
              <a:t>环境在智能体思考的时候是否会变化</a:t>
            </a:r>
            <a:endParaRPr lang="zh-CN" altLang="en-US" sz="1800" kern="1200" dirty="0">
              <a:solidFill>
                <a:schemeClr val="dk1"/>
              </a:solidFill>
              <a:latin typeface="+mn-ea"/>
              <a:cs typeface="+mn-cs"/>
              <a:sym typeface="+mn-ea"/>
            </a:endParaRPr>
          </a:p>
          <a:p>
            <a:pPr lvl="1" algn="l" defTabSz="914400">
              <a:lnSpc>
                <a:spcPct val="120000"/>
              </a:lnSpc>
              <a:buClr>
                <a:srgbClr val="0070C0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1800" kern="1200" dirty="0">
                <a:solidFill>
                  <a:schemeClr val="dk1"/>
                </a:solidFill>
                <a:latin typeface="+mn-ea"/>
                <a:cs typeface="+mn-cs"/>
                <a:sym typeface="+mn-ea"/>
              </a:rPr>
              <a:t>出租车驾驶是动态的；纵横字谜游戏是静态的</a:t>
            </a:r>
            <a:endParaRPr lang="zh-CN" altLang="en-US" sz="1800" kern="1200" dirty="0">
              <a:solidFill>
                <a:schemeClr val="dk1"/>
              </a:solidFill>
              <a:latin typeface="+mn-ea"/>
              <a:cs typeface="+mn-cs"/>
              <a:sym typeface="+mn-ea"/>
            </a:endParaRPr>
          </a:p>
          <a:p>
            <a:pPr lvl="1" algn="l" defTabSz="914400">
              <a:lnSpc>
                <a:spcPct val="120000"/>
              </a:lnSpc>
              <a:buClr>
                <a:srgbClr val="0070C0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1800" b="1" kern="1200" dirty="0">
                <a:solidFill>
                  <a:srgbClr val="0070C0"/>
                </a:solidFill>
                <a:latin typeface="+mn-ea"/>
                <a:cs typeface="+mn-cs"/>
                <a:sym typeface="+mn-ea"/>
              </a:rPr>
              <a:t>半动态：</a:t>
            </a:r>
            <a:r>
              <a:rPr lang="zh-CN" altLang="en-US" sz="1800" kern="1200" dirty="0">
                <a:solidFill>
                  <a:schemeClr val="dk1"/>
                </a:solidFill>
                <a:latin typeface="+mn-ea"/>
                <a:cs typeface="+mn-cs"/>
                <a:sym typeface="+mn-ea"/>
              </a:rPr>
              <a:t>环境本身不随时间的流逝而变化，但智能体的性能评价随时间变化；例如计时棋赛。</a:t>
            </a:r>
            <a:endParaRPr lang="zh-CN" altLang="en-US" sz="1800" kern="1200" dirty="0">
              <a:solidFill>
                <a:schemeClr val="dk1"/>
              </a:solidFill>
              <a:latin typeface="+mn-ea"/>
              <a:cs typeface="+mn-cs"/>
              <a:sym typeface="+mn-ea"/>
            </a:endParaRPr>
          </a:p>
          <a:p>
            <a:pPr lvl="0" algn="l" defTabSz="914400">
              <a:lnSpc>
                <a:spcPct val="120000"/>
              </a:lnSpc>
              <a:buClr>
                <a:srgbClr val="0070C0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1800" b="1" kern="1200" dirty="0">
                <a:solidFill>
                  <a:srgbClr val="0070C0"/>
                </a:solidFill>
                <a:latin typeface="+mn-ea"/>
                <a:sym typeface="+mn-ea"/>
              </a:rPr>
              <a:t>离散与连续：</a:t>
            </a:r>
            <a:r>
              <a:rPr lang="zh-CN" altLang="en-US" sz="1800" kern="1200" dirty="0">
                <a:solidFill>
                  <a:schemeClr val="dk1"/>
                </a:solidFill>
                <a:latin typeface="+mn-ea"/>
                <a:sym typeface="+mn-ea"/>
              </a:rPr>
              <a:t>智能体感知的信息和行动</a:t>
            </a:r>
            <a:endParaRPr lang="zh-CN" altLang="en-US" sz="1800" kern="1200" dirty="0">
              <a:solidFill>
                <a:schemeClr val="dk1"/>
              </a:solidFill>
              <a:latin typeface="+mn-ea"/>
              <a:sym typeface="+mn-ea"/>
            </a:endParaRPr>
          </a:p>
          <a:p>
            <a:pPr lvl="0" algn="l" defTabSz="914400">
              <a:lnSpc>
                <a:spcPct val="120000"/>
              </a:lnSpc>
              <a:buClr>
                <a:srgbClr val="0070C0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1800" b="1" kern="1200" dirty="0">
                <a:solidFill>
                  <a:srgbClr val="0070C0"/>
                </a:solidFill>
                <a:latin typeface="+mn-ea"/>
                <a:sym typeface="+mn-ea"/>
              </a:rPr>
              <a:t>单智能体与多智能体</a:t>
            </a:r>
            <a:endParaRPr lang="zh-CN" altLang="en-US" sz="1800" kern="1200" dirty="0">
              <a:solidFill>
                <a:schemeClr val="dk1"/>
              </a:solidFill>
              <a:latin typeface="+mn-ea"/>
              <a:cs typeface="+mn-cs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1"/>
            </p:custDataLst>
          </p:nvPr>
        </p:nvSpPr>
        <p:spPr>
          <a:xfrm>
            <a:off x="8819319" y="-51"/>
            <a:ext cx="1848749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10000"/>
                </a:srgbClr>
              </a:gs>
              <a:gs pos="100000">
                <a:srgbClr val="D8D8E4">
                  <a:lumMod val="90000"/>
                  <a:alpha val="24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02" name="Rectangle 4"/>
          <p:cNvSpPr>
            <a:spLocks noGrp="1"/>
          </p:cNvSpPr>
          <p:nvPr>
            <p:ph type="title" idx="4294967295"/>
          </p:nvPr>
        </p:nvSpPr>
        <p:spPr>
          <a:xfrm>
            <a:off x="464820" y="373380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l" defTabSz="914400" eaLnBrk="1" hangingPunct="1">
              <a:buClrTx/>
              <a:buSzTx/>
              <a:buFontTx/>
            </a:pPr>
            <a:r>
              <a:rPr lang="zh-CN" altLang="en-US" sz="3200" kern="1200" spc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任务环境的例子</a:t>
            </a:r>
            <a:endParaRPr lang="zh-CN" altLang="en-US" kern="1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79985" name="Text Box 81"/>
          <p:cNvSpPr txBox="1"/>
          <p:nvPr/>
        </p:nvSpPr>
        <p:spPr>
          <a:xfrm>
            <a:off x="982345" y="5640070"/>
            <a:ext cx="10920095" cy="73850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任务环境的类型很大程度上决定了智能体的设计</a:t>
            </a:r>
            <a:endParaRPr lang="en-US" altLang="zh-CN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真实的世界是</a:t>
            </a:r>
            <a:r>
              <a:rPr lang="zh-CN" altLang="en-US" sz="2400" b="1" u="sng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部分可观</a:t>
            </a: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b="1" u="sng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随机的</a:t>
            </a: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b="1" u="sng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延续式的</a:t>
            </a: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b="1" u="sng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动态的</a:t>
            </a: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b="1" u="sng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连续的</a:t>
            </a: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b="1" u="sng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多智能体的</a:t>
            </a: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75" y="1438275"/>
            <a:ext cx="9544050" cy="3981450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99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99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98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/>
          </p:cNvSpPr>
          <p:nvPr>
            <p:ph type="title"/>
          </p:nvPr>
        </p:nvSpPr>
        <p:spPr>
          <a:xfrm>
            <a:off x="730250" y="575945"/>
            <a:ext cx="10852150" cy="833755"/>
          </a:xfrm>
        </p:spPr>
        <p:txBody>
          <a:bodyPr vert="horz" wrap="square" lIns="121920" tIns="60960" rIns="121920" bIns="60960" anchor="ctr" anchorCtr="0">
            <a:noAutofit/>
          </a:bodyPr>
          <a:lstStyle/>
          <a:p>
            <a:pPr algn="ctr" defTabSz="685800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4800" b="1" spc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  <a:cs typeface="+mn-cs"/>
              </a:rPr>
              <a:t>第二章</a:t>
            </a:r>
            <a:r>
              <a:rPr lang="en-US" altLang="zh-CN" sz="4800" b="1" spc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  <a:cs typeface="+mn-cs"/>
              </a:rPr>
              <a:t>    </a:t>
            </a:r>
            <a:r>
              <a:rPr lang="zh-CN" altLang="en-US" sz="4800" b="1" spc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  <a:cs typeface="+mn-cs"/>
              </a:rPr>
              <a:t>智能AGENT（智能体）</a:t>
            </a:r>
            <a:endParaRPr lang="zh-CN" altLang="en-US" sz="4800" b="1" spc="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latin typeface="+mj-ea"/>
              <a:ea typeface="+mj-ea"/>
              <a:cs typeface="+mn-cs"/>
            </a:endParaRPr>
          </a:p>
        </p:txBody>
      </p:sp>
      <p:sp>
        <p:nvSpPr>
          <p:cNvPr id="44035" name="Rectangle 3"/>
          <p:cNvSpPr>
            <a:spLocks noGrp="1"/>
          </p:cNvSpPr>
          <p:nvPr>
            <p:ph idx="1"/>
          </p:nvPr>
        </p:nvSpPr>
        <p:spPr>
          <a:xfrm>
            <a:off x="730250" y="2567940"/>
            <a:ext cx="6596380" cy="3126740"/>
          </a:xfr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121920" tIns="60960" rIns="121920" bIns="60960" anchor="t" anchorCtr="0">
            <a:normAutofit/>
          </a:bodyPr>
          <a:lstStyle/>
          <a:p>
            <a:pPr eaLnBrk="1" hangingPunct="1"/>
            <a:r>
              <a:rPr lang="zh-CN" altLang="en-US" sz="32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Agent基本定义</a:t>
            </a: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Agent</a:t>
            </a: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的本质）</a:t>
            </a:r>
            <a:endParaRPr lang="zh-CN" altLang="en-US" sz="24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</a:endParaRPr>
          </a:p>
          <a:p>
            <a:pPr eaLnBrk="1" hangingPunct="1"/>
            <a:r>
              <a:rPr lang="zh-CN" altLang="en-US" sz="32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评价Agent行为</a:t>
            </a: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Agent</a:t>
            </a: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是否完美）</a:t>
            </a:r>
            <a:endParaRPr lang="zh-CN" altLang="en-US" sz="24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</a:endParaRPr>
          </a:p>
          <a:p>
            <a:pPr eaLnBrk="1" hangingPunct="1"/>
            <a:r>
              <a:rPr lang="zh-CN" altLang="en-US" sz="32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任务环境</a:t>
            </a: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（环境的多样性）</a:t>
            </a:r>
            <a:endParaRPr lang="zh-CN" altLang="en-US" sz="32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</a:endParaRPr>
          </a:p>
          <a:p>
            <a:pPr eaLnBrk="1" hangingPunct="1"/>
            <a:r>
              <a:rPr lang="zh-CN" altLang="en-US" sz="3200" b="1" dirty="0">
                <a:latin typeface="微软雅黑" panose="020B0503020204020204" pitchFamily="34" charset="-122"/>
              </a:rPr>
              <a:t>Agent的结构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</a:rPr>
              <a:t>Agent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</a:rPr>
              <a:t>分类）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270" y="2856230"/>
            <a:ext cx="4762500" cy="26790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3"/>
          <p:cNvSpPr>
            <a:spLocks noGrp="1"/>
          </p:cNvSpPr>
          <p:nvPr>
            <p:ph idx="4294967295"/>
            <p:custDataLst>
              <p:tags r:id="rId1"/>
            </p:custDataLst>
          </p:nvPr>
        </p:nvSpPr>
        <p:spPr>
          <a:xfrm>
            <a:off x="1211580" y="2501265"/>
            <a:ext cx="9651365" cy="2856865"/>
          </a:xfrm>
          <a:noFill/>
          <a:ln w="9525">
            <a:noFill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 defTabSz="914400">
              <a:lnSpc>
                <a:spcPct val="140000"/>
              </a:lnSpc>
              <a:buClr>
                <a:srgbClr val="0070C0"/>
              </a:buClr>
              <a:buSzTx/>
              <a:buFont typeface="Arial" panose="020B0604020202020204" pitchFamily="34" charset="0"/>
              <a:buChar char="•"/>
            </a:pPr>
            <a:r>
              <a:rPr lang="en-US" altLang="zh-CN" sz="20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AI的任务是设计智能体</a:t>
            </a:r>
            <a:r>
              <a:rPr lang="en-US" altLang="zh-CN" sz="2000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程序</a:t>
            </a:r>
            <a:r>
              <a:rPr lang="en-US" altLang="zh-CN" sz="20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，实现把感知信息映射到行动的智能体</a:t>
            </a:r>
            <a:r>
              <a:rPr lang="en-US" altLang="zh-CN" sz="2000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函数</a:t>
            </a:r>
            <a:r>
              <a:rPr lang="en-US" altLang="zh-CN" sz="2000" i="1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</a:t>
            </a:r>
            <a:endParaRPr lang="en-US" altLang="zh-CN" sz="2000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 defTabSz="914400">
              <a:lnSpc>
                <a:spcPct val="140000"/>
              </a:lnSpc>
              <a:buClr>
                <a:srgbClr val="0070C0"/>
              </a:buClr>
              <a:buSzTx/>
              <a:buFont typeface="Arial" panose="020B0604020202020204" pitchFamily="34" charset="0"/>
              <a:buChar char="•"/>
            </a:pPr>
            <a:r>
              <a:rPr lang="en-US" altLang="zh-CN" sz="2000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体系结构</a:t>
            </a:r>
            <a:r>
              <a:rPr lang="en-US" altLang="zh-CN" sz="20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</a:t>
            </a:r>
            <a:r>
              <a:rPr lang="en-US" altLang="zh-CN" sz="2000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程序</a:t>
            </a:r>
            <a:r>
              <a:rPr lang="en-US" altLang="zh-CN" sz="20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提供：</a:t>
            </a:r>
            <a:endParaRPr lang="en-US" altLang="zh-CN" sz="2000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 algn="l" defTabSz="914400">
              <a:lnSpc>
                <a:spcPct val="140000"/>
              </a:lnSpc>
              <a:buClr>
                <a:srgbClr val="0070C0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20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来自</a:t>
            </a:r>
            <a:r>
              <a:rPr lang="zh-CN" altLang="en-US" sz="2000" b="1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传感器</a:t>
            </a:r>
            <a:r>
              <a:rPr lang="zh-CN" altLang="en-US" sz="20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的感知信息</a:t>
            </a:r>
            <a:endParaRPr lang="zh-CN" altLang="en-US" sz="2000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 algn="l" defTabSz="914400">
              <a:lnSpc>
                <a:spcPct val="140000"/>
              </a:lnSpc>
              <a:buClr>
                <a:srgbClr val="0070C0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20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运行程序</a:t>
            </a:r>
            <a:endParaRPr lang="zh-CN" altLang="en-US" sz="2000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 algn="l" defTabSz="914400">
              <a:lnSpc>
                <a:spcPct val="140000"/>
              </a:lnSpc>
              <a:buClr>
                <a:srgbClr val="0070C0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20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把程序产生的行动送到</a:t>
            </a:r>
            <a:r>
              <a:rPr lang="zh-CN" altLang="en-US" sz="2000" b="1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执行器</a:t>
            </a:r>
            <a:r>
              <a:rPr lang="zh-CN" altLang="en-US" sz="20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endParaRPr lang="zh-CN" altLang="en-US" sz="2000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 defTabSz="914400">
              <a:lnSpc>
                <a:spcPct val="140000"/>
              </a:lnSpc>
              <a:buClr>
                <a:srgbClr val="0070C0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20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所选择的</a:t>
            </a:r>
            <a:r>
              <a:rPr lang="zh-CN" altLang="en-US" sz="2000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程序</a:t>
            </a:r>
            <a:r>
              <a:rPr lang="zh-CN" altLang="en-US" sz="20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必须适合</a:t>
            </a:r>
            <a:r>
              <a:rPr lang="zh-CN" altLang="en-US" sz="2000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体系结构</a:t>
            </a:r>
            <a:endParaRPr lang="zh-CN" altLang="en-US" sz="2000" b="1" kern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" name="图示 1"/>
          <p:cNvGraphicFramePr/>
          <p:nvPr/>
        </p:nvGraphicFramePr>
        <p:xfrm>
          <a:off x="3414395" y="598805"/>
          <a:ext cx="5363210" cy="2037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8120" y="3354705"/>
            <a:ext cx="4762500" cy="267906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习题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2140" y="1281430"/>
            <a:ext cx="4737100" cy="4041775"/>
          </a:xfrm>
        </p:spPr>
        <p:txBody>
          <a:bodyPr/>
          <a:lstStyle/>
          <a:p>
            <a:r>
              <a:rPr lang="zh-CN" altLang="en-US" sz="1400" b="1" dirty="0">
                <a:solidFill>
                  <a:srgbClr val="0070C0"/>
                </a:solidFill>
              </a:rPr>
              <a:t>判断</a:t>
            </a:r>
            <a:endParaRPr lang="zh-CN" altLang="en-US" sz="1400" b="1" dirty="0">
              <a:solidFill>
                <a:srgbClr val="0070C0"/>
              </a:solidFill>
            </a:endParaRPr>
          </a:p>
          <a:p>
            <a:pPr marL="228600" indent="-228600">
              <a:buAutoNum type="arabicPeriod"/>
            </a:pPr>
            <a:r>
              <a:rPr lang="zh-CN" altLang="en-US" sz="1400" dirty="0"/>
              <a:t>每个Agent函数都可以由机器/程序组合呈现。</a:t>
            </a:r>
            <a:endParaRPr lang="zh-CN" altLang="en-US" sz="1400" dirty="0"/>
          </a:p>
          <a:p>
            <a:pPr marL="228600" indent="-228600">
              <a:buAutoNum type="arabicPeriod"/>
            </a:pPr>
            <a:r>
              <a:rPr lang="zh-CN" altLang="en-US" sz="1400" dirty="0"/>
              <a:t>一个Agent函数可能对应多个Agent程序。</a:t>
            </a:r>
            <a:endParaRPr lang="zh-CN" altLang="en-US" sz="1400" dirty="0"/>
          </a:p>
          <a:p>
            <a:pPr marL="228600" indent="-228600">
              <a:buAutoNum type="arabicPeriod"/>
            </a:pPr>
            <a:r>
              <a:rPr lang="zh-CN" altLang="en-US" sz="1400" dirty="0"/>
              <a:t>实现给定Agent函数的Agent程序是否可以有多个？</a:t>
            </a:r>
            <a:endParaRPr lang="zh-CN" altLang="en-US" sz="1400" dirty="0"/>
          </a:p>
          <a:p>
            <a:pPr marL="228600" indent="-228600">
              <a:buAutoNum type="arabicPeriod"/>
            </a:pPr>
            <a:r>
              <a:rPr lang="zh-CN" altLang="en-US" sz="1400" dirty="0"/>
              <a:t>给定一个固定的机器结构，任意agent程序都会精确执行一个agent函数吗？</a:t>
            </a:r>
            <a:endParaRPr lang="zh-CN" altLang="en-US" sz="1400" dirty="0"/>
          </a:p>
          <a:p>
            <a:pPr marL="228600" indent="-228600"/>
            <a:r>
              <a:rPr lang="zh-CN" altLang="en-US" sz="1400" b="1" dirty="0">
                <a:solidFill>
                  <a:srgbClr val="0070C0"/>
                </a:solidFill>
              </a:rPr>
              <a:t>简答</a:t>
            </a:r>
            <a:endParaRPr lang="zh-CN" altLang="en-US" sz="1400" b="1" dirty="0">
              <a:solidFill>
                <a:srgbClr val="0070C0"/>
              </a:solidFill>
            </a:endParaRPr>
          </a:p>
          <a:p>
            <a:pPr marL="228600" indent="-228600">
              <a:buAutoNum type="arabicPeriod"/>
            </a:pPr>
            <a:r>
              <a:rPr lang="zh-CN" altLang="en-US" sz="1400" dirty="0"/>
              <a:t>设想我们现在保持agent程序固定，但是我们加快机器运行速度为两倍，会影响agent函数吗？</a:t>
            </a:r>
            <a:endParaRPr lang="zh-CN" altLang="en-US" sz="1400" dirty="0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289040" y="1216660"/>
            <a:ext cx="5233035" cy="4041775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>
                <a:solidFill>
                  <a:srgbClr val="0070C0"/>
                </a:solidFill>
              </a:rPr>
              <a:t>判断</a:t>
            </a:r>
            <a:endParaRPr lang="zh-CN" altLang="en-US" sz="1400" b="1" dirty="0">
              <a:solidFill>
                <a:srgbClr val="0070C0"/>
              </a:solidFill>
            </a:endParaRPr>
          </a:p>
          <a:p>
            <a:pPr marL="228600" indent="-228600">
              <a:buAutoNum type="arabicPeriod"/>
            </a:pPr>
            <a:r>
              <a:rPr lang="zh-CN" altLang="en-US" sz="1400" dirty="0"/>
              <a:t>False。受机器的运算能力和存储能力限制。</a:t>
            </a:r>
            <a:endParaRPr lang="zh-CN" altLang="en-US" sz="1400" dirty="0"/>
          </a:p>
          <a:p>
            <a:pPr marL="228600" indent="-228600">
              <a:buAutoNum type="arabicPeriod"/>
            </a:pPr>
            <a:r>
              <a:rPr lang="zh-CN" altLang="en-US" sz="1400" dirty="0"/>
              <a:t>True。Agent程序与运行平台关联。</a:t>
            </a:r>
            <a:endParaRPr lang="zh-CN" altLang="en-US" sz="1400" dirty="0"/>
          </a:p>
          <a:p>
            <a:pPr marL="228600" indent="-228600">
              <a:buAutoNum type="arabicPeriod"/>
            </a:pPr>
            <a:r>
              <a:rPr lang="zh-CN" altLang="en-US" sz="1400" dirty="0"/>
              <a:t>True。比如添加一些代理程序，只输入不会影响输出的空值。</a:t>
            </a:r>
            <a:endParaRPr lang="zh-CN" altLang="en-US" sz="1400" dirty="0"/>
          </a:p>
          <a:p>
            <a:pPr marL="228600" indent="-228600">
              <a:buAutoNum type="arabicPeriod"/>
            </a:pPr>
            <a:r>
              <a:rPr lang="zh-CN" altLang="en-US" sz="1400" dirty="0"/>
              <a:t>True。agent的行为被结构和程序固定。</a:t>
            </a:r>
            <a:endParaRPr lang="zh-CN" altLang="en-US" sz="1400" dirty="0"/>
          </a:p>
          <a:p>
            <a:pPr marL="228600" indent="-228600"/>
            <a:r>
              <a:rPr lang="zh-CN" altLang="en-US" sz="1400" b="1" dirty="0">
                <a:solidFill>
                  <a:srgbClr val="0070C0"/>
                </a:solidFill>
              </a:rPr>
              <a:t>简答</a:t>
            </a:r>
            <a:endParaRPr lang="zh-CN" altLang="en-US" sz="1400" b="1" dirty="0">
              <a:solidFill>
                <a:srgbClr val="0070C0"/>
              </a:solidFill>
            </a:endParaRPr>
          </a:p>
          <a:p>
            <a:pPr marL="228600" indent="-228600">
              <a:buAutoNum type="arabicPeriod"/>
            </a:pPr>
            <a:r>
              <a:rPr lang="zh-CN" altLang="en-US" sz="1400" dirty="0"/>
              <a:t>这取决于程序和环境。 如果环境是动态的，则加快机器速度可能意味着选择不同（也许更好）的动作。 如果环境是静态的，并且程序不在意运行时间，agent函数保持不变。</a:t>
            </a:r>
            <a:endParaRPr lang="zh-CN" altLang="en-US" sz="1400" dirty="0"/>
          </a:p>
        </p:txBody>
      </p:sp>
      <p:sp>
        <p:nvSpPr>
          <p:cNvPr id="5" name="标题 1"/>
          <p:cNvSpPr>
            <a:spLocks noGrp="1"/>
          </p:cNvSpPr>
          <p:nvPr/>
        </p:nvSpPr>
        <p:spPr>
          <a:xfrm>
            <a:off x="6289040" y="498475"/>
            <a:ext cx="3672840" cy="331470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algn="l"/>
            <a:r>
              <a:rPr lang="zh-CN" altLang="en-US"/>
              <a:t>解答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50520" y="4434205"/>
            <a:ext cx="11490960" cy="1529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685800" lvl="1" indent="-342900" algn="l" eaLnBrk="1" hangingPunct="1">
              <a:lnSpc>
                <a:spcPct val="130000"/>
              </a:lnSpc>
              <a:buClr>
                <a:srgbClr val="0070C0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每种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程序都以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特定的方式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结合了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特定的成分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来生成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行动</a:t>
            </a: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685800" lvl="1" indent="-342900" algn="l" eaLnBrk="1" hangingPunct="1">
              <a:lnSpc>
                <a:spcPct val="130000"/>
              </a:lnSpc>
              <a:buClr>
                <a:srgbClr val="0070C0"/>
              </a:buClr>
              <a:buSzTx/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所有这些智能体都可以转变为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学习智能体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，能够提高性能以便生成更好的行动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685800" lvl="1" indent="-342900" algn="l" eaLnBrk="1" hangingPunct="1">
              <a:lnSpc>
                <a:spcPct val="130000"/>
              </a:lnSpc>
              <a:buClr>
                <a:srgbClr val="0070C0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Agent程序的各组件是如何工作的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36" name="矩形 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629535" y="299720"/>
            <a:ext cx="6513830" cy="887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 anchorCtr="0">
            <a:normAutofit fontScale="70000"/>
          </a:bodyPr>
          <a:lstStyle/>
          <a:p>
            <a:pPr mar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48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j-ea"/>
                <a:ea typeface="+mj-ea"/>
                <a:sym typeface="+mn-ea"/>
              </a:rPr>
              <a:t>四种基本的智能体</a:t>
            </a:r>
            <a:r>
              <a:rPr lang="en-US" altLang="zh-CN" sz="48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j-ea"/>
                <a:ea typeface="+mj-ea"/>
                <a:sym typeface="+mn-ea"/>
              </a:rPr>
              <a:t>(</a:t>
            </a:r>
            <a:r>
              <a:rPr lang="zh-CN" altLang="en-US" sz="48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j-ea"/>
                <a:ea typeface="+mj-ea"/>
                <a:sym typeface="+mn-ea"/>
              </a:rPr>
              <a:t>结构）类型</a:t>
            </a:r>
            <a:endParaRPr lang="zh-CN" altLang="en-US" sz="4800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j-ea"/>
              <a:ea typeface="+mj-ea"/>
              <a:sym typeface="+mn-ea"/>
            </a:endParaRPr>
          </a:p>
        </p:txBody>
      </p:sp>
      <p:sp>
        <p:nvSpPr>
          <p:cNvPr id="138" name="矩形 137"/>
          <p:cNvSpPr/>
          <p:nvPr>
            <p:custDataLst>
              <p:tags r:id="rId2"/>
            </p:custDataLst>
          </p:nvPr>
        </p:nvSpPr>
        <p:spPr>
          <a:xfrm>
            <a:off x="3759583" y="1337523"/>
            <a:ext cx="4253735" cy="65399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marL="285750" lvl="1" algn="ctr" font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</a:pPr>
            <a:r>
              <a:rPr lang="zh-CN" altLang="en-US" sz="1600" b="1" dirty="0">
                <a:solidFill>
                  <a:schemeClr val="bg1"/>
                </a:solidFill>
                <a:sym typeface="+mn-ea"/>
              </a:rPr>
              <a:t>简单反射型</a:t>
            </a:r>
            <a:endParaRPr lang="zh-CN" altLang="en-US" sz="1600" b="1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140" name="矩形 139"/>
          <p:cNvSpPr/>
          <p:nvPr>
            <p:custDataLst>
              <p:tags r:id="rId3"/>
            </p:custDataLst>
          </p:nvPr>
        </p:nvSpPr>
        <p:spPr>
          <a:xfrm>
            <a:off x="3759583" y="2082319"/>
            <a:ext cx="4253735" cy="6534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marL="285750" lvl="1" algn="ctr" font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</a:pPr>
            <a:r>
              <a:rPr lang="zh-CN" altLang="en-US" sz="1600" b="1" dirty="0">
                <a:solidFill>
                  <a:schemeClr val="bg1"/>
                </a:solidFill>
                <a:sym typeface="+mn-ea"/>
              </a:rPr>
              <a:t>基于模型的简单反射型</a:t>
            </a:r>
            <a:endParaRPr lang="zh-CN" altLang="en-US" sz="1600" b="1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142" name="矩形 141"/>
          <p:cNvSpPr/>
          <p:nvPr>
            <p:custDataLst>
              <p:tags r:id="rId4"/>
            </p:custDataLst>
          </p:nvPr>
        </p:nvSpPr>
        <p:spPr>
          <a:xfrm>
            <a:off x="3759583" y="2826539"/>
            <a:ext cx="4253735" cy="6534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marL="285750" lvl="1" algn="ctr" font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</a:pPr>
            <a:r>
              <a:rPr lang="zh-CN" altLang="en-US" sz="1600" b="1" dirty="0">
                <a:solidFill>
                  <a:schemeClr val="bg1"/>
                </a:solidFill>
                <a:sym typeface="+mn-ea"/>
              </a:rPr>
              <a:t>基于目标型</a:t>
            </a:r>
            <a:endParaRPr lang="zh-CN" altLang="en-US" sz="1600" b="1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144" name="矩形 143"/>
          <p:cNvSpPr/>
          <p:nvPr>
            <p:custDataLst>
              <p:tags r:id="rId5"/>
            </p:custDataLst>
          </p:nvPr>
        </p:nvSpPr>
        <p:spPr>
          <a:xfrm>
            <a:off x="3759583" y="3570759"/>
            <a:ext cx="4253735" cy="6534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marL="285750" lvl="1" algn="ctr" font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</a:pPr>
            <a:r>
              <a:rPr lang="zh-CN" altLang="en-US" sz="1600" b="1" dirty="0">
                <a:solidFill>
                  <a:schemeClr val="bg1"/>
                </a:solidFill>
                <a:sym typeface="+mn-ea"/>
              </a:rPr>
              <a:t>基于效用型</a:t>
            </a:r>
            <a:endParaRPr lang="zh-CN" altLang="en-US" sz="1600" b="1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6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4"/>
          <p:cNvSpPr>
            <a:spLocks noGrp="1"/>
          </p:cNvSpPr>
          <p:nvPr>
            <p:ph type="title" idx="4294967295"/>
          </p:nvPr>
        </p:nvSpPr>
        <p:spPr>
          <a:xfrm>
            <a:off x="1825625" y="381000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</a:pP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简单反射智能体</a:t>
            </a:r>
            <a:endParaRPr lang="zh-CN" altLang="en-US" kern="1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7653" name="矩形 4"/>
          <p:cNvSpPr/>
          <p:nvPr>
            <p:custDataLst>
              <p:tags r:id="rId1"/>
            </p:custDataLst>
          </p:nvPr>
        </p:nvSpPr>
        <p:spPr>
          <a:xfrm>
            <a:off x="2633663" y="1487488"/>
            <a:ext cx="6228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当前感知</a:t>
            </a:r>
            <a:r>
              <a: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选择行动，忽略感知历史</a:t>
            </a:r>
            <a:endParaRPr lang="zh-CN" altLang="en-US" sz="28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90" y="2541270"/>
            <a:ext cx="5269865" cy="3086100"/>
          </a:xfrm>
          <a:prstGeom prst="rect">
            <a:avLst/>
          </a:prstGeom>
        </p:spPr>
      </p:pic>
      <p:sp>
        <p:nvSpPr>
          <p:cNvPr id="28675" name="内容占位符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238240" y="2541270"/>
            <a:ext cx="4563110" cy="183642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rtlCol="0" anchor="t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 defTabSz="914400">
              <a:buSzTx/>
            </a:pPr>
            <a:r>
              <a:rPr lang="en-US" altLang="zh-CN" sz="20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IF……THEN…….（条件-行为规则）</a:t>
            </a:r>
            <a:endParaRPr lang="en-US" altLang="zh-CN" sz="2000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 defTabSz="914400">
              <a:buSzTx/>
            </a:pPr>
            <a:endParaRPr lang="en-US" altLang="zh-CN" sz="2000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 defTabSz="914400">
              <a:buSzTx/>
            </a:pPr>
            <a:endParaRPr lang="en-US" altLang="zh-CN" sz="2000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 defTabSz="914400">
              <a:buSzTx/>
            </a:pPr>
            <a:endParaRPr lang="en-US" altLang="zh-CN" sz="2000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 defTabSz="914400">
              <a:buSzTx/>
            </a:pPr>
            <a:endParaRPr lang="en-US" altLang="zh-CN" sz="2000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 defTabSz="914400">
              <a:buSzTx/>
            </a:pPr>
            <a:endParaRPr lang="en-US" altLang="zh-CN" sz="2000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 defTabSz="914400">
              <a:buSzTx/>
            </a:pPr>
            <a:r>
              <a:rPr lang="en-US" altLang="zh-CN" sz="20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结构简单，智能有限</a:t>
            </a:r>
            <a:endParaRPr lang="en-US" altLang="zh-CN" sz="2000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 defTabSz="914400">
              <a:buSzTx/>
            </a:pPr>
            <a:r>
              <a:rPr lang="en-US" altLang="zh-CN" sz="20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只有在可以仅根据当前感知信息来完成当前决策的情况下才能工作，即环境完全可观。</a:t>
            </a:r>
            <a:endParaRPr lang="en-US" altLang="zh-CN" sz="2000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977515"/>
            <a:ext cx="4610100" cy="1400175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324475" y="1894205"/>
            <a:ext cx="6410960" cy="37941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rtlCol="0" anchor="t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 defTabSz="914400">
              <a:buSzTx/>
            </a:pPr>
            <a:r>
              <a:rPr lang="zh-CN" altLang="en-US" sz="24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世界的模型=</a:t>
            </a:r>
            <a:endParaRPr lang="zh-CN" altLang="en-US" sz="2400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 algn="l" defTabSz="914400">
              <a:buSzTx/>
              <a:buFontTx/>
            </a:pPr>
            <a:r>
              <a:rPr lang="zh-CN" altLang="en-US" sz="18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世界如何独立于智能体发展的信息(</a:t>
            </a:r>
            <a:r>
              <a:rPr lang="zh-CN" altLang="en-US" sz="18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世界如何演变)</a:t>
            </a:r>
            <a:endParaRPr lang="zh-CN" altLang="en-US" sz="1800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 algn="l" defTabSz="914400">
              <a:buSzTx/>
              <a:buFontTx/>
            </a:pPr>
            <a:r>
              <a:rPr lang="zh-CN" altLang="en-US" sz="18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智能体的行动如何影响世界的信息(</a:t>
            </a:r>
            <a:r>
              <a:rPr lang="zh-CN" altLang="en-US" sz="18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我的行动做了什么)</a:t>
            </a:r>
            <a:endParaRPr lang="zh-CN" altLang="en-US" sz="1800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 algn="l" defTabSz="914400">
              <a:buSzTx/>
              <a:buFontTx/>
            </a:pPr>
            <a:endParaRPr lang="zh-CN" altLang="en-US" sz="1800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 algn="l" defTabSz="914400">
              <a:buSzTx/>
              <a:buFontTx/>
            </a:pPr>
            <a:endParaRPr lang="zh-CN" altLang="en-US" sz="1800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 algn="l" defTabSz="914400">
              <a:buSzTx/>
              <a:buFontTx/>
            </a:pPr>
            <a:endParaRPr lang="zh-CN" altLang="en-US" sz="1800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 algn="l" defTabSz="914400">
              <a:buSzTx/>
              <a:buFontTx/>
            </a:pPr>
            <a:endParaRPr lang="zh-CN" altLang="en-US" sz="1800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 algn="l" defTabSz="914400">
              <a:buSzTx/>
              <a:buFontTx/>
            </a:pPr>
            <a:endParaRPr lang="zh-CN" altLang="en-US" sz="1800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 algn="l" defTabSz="914400">
              <a:buSzTx/>
              <a:buFontTx/>
            </a:pPr>
            <a:endParaRPr lang="zh-CN" altLang="en-US" sz="1800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 algn="l" defTabSz="914400">
              <a:buSzTx/>
              <a:buFontTx/>
            </a:pPr>
            <a:r>
              <a:rPr lang="zh-CN" altLang="en-US" sz="18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使用内部模型记录世界的当前状态，按</a:t>
            </a:r>
            <a:r>
              <a:rPr lang="zh-CN" altLang="en-US" sz="18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反射型智能体方式选择行动</a:t>
            </a:r>
            <a:endParaRPr lang="zh-CN" altLang="en-US" sz="1800" kern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9698" name="Rectangle 2"/>
          <p:cNvSpPr>
            <a:spLocks noGrp="1"/>
          </p:cNvSpPr>
          <p:nvPr>
            <p:ph type="title" idx="4294967295"/>
          </p:nvPr>
        </p:nvSpPr>
        <p:spPr>
          <a:xfrm>
            <a:off x="1825625" y="381000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</a:pP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具有模型的反射智能体</a:t>
            </a:r>
            <a:endParaRPr lang="zh-CN" altLang="en-US" kern="1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r="6675"/>
          <a:stretch>
            <a:fillRect/>
          </a:stretch>
        </p:blipFill>
        <p:spPr>
          <a:xfrm>
            <a:off x="628015" y="2431415"/>
            <a:ext cx="4406265" cy="284099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305" y="3167380"/>
            <a:ext cx="4305300" cy="1666875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/>
          </p:cNvSpPr>
          <p:nvPr>
            <p:ph type="title" idx="4294967295"/>
          </p:nvPr>
        </p:nvSpPr>
        <p:spPr>
          <a:xfrm>
            <a:off x="1825625" y="381000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</a:pP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基于目标的智能体</a:t>
            </a:r>
            <a:endParaRPr lang="zh-CN" altLang="en-US" kern="1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1749" name="矩形 4"/>
          <p:cNvSpPr/>
          <p:nvPr>
            <p:custDataLst>
              <p:tags r:id="rId1"/>
            </p:custDataLst>
          </p:nvPr>
        </p:nvSpPr>
        <p:spPr>
          <a:xfrm>
            <a:off x="1290003" y="1581150"/>
            <a:ext cx="9936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智能体追踪记录世界的状态、要达到的目标，并选择导致达成目标的行动</a:t>
            </a:r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15" y="2618740"/>
            <a:ext cx="4410075" cy="28670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188585" y="2220595"/>
            <a:ext cx="6545580" cy="42976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9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智能体不仅需要当前状态的描述，还需要目标信息来描述要达到的状况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9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智能体把目标信息和可能行动的结果信息结合起来，以选择达到目标的行动（决策）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9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搜索和规划能帮助智能体找到达到目标的行动序列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9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既追踪记录世界的状态，又记录要达到的目标集，并选择能达到目标的行动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9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效率降低，灵活度增加，功能增强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/>
          </p:cNvSpPr>
          <p:nvPr>
            <p:ph type="title" idx="4294967295"/>
          </p:nvPr>
        </p:nvSpPr>
        <p:spPr>
          <a:xfrm>
            <a:off x="1825625" y="381000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</a:pP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基于效用（utility）的智能体</a:t>
            </a:r>
            <a:endParaRPr lang="zh-CN" altLang="en-US" kern="1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740" y="2038350"/>
            <a:ext cx="4371975" cy="2781300"/>
          </a:xfrm>
          <a:prstGeom prst="rect">
            <a:avLst/>
          </a:prstGeom>
        </p:spPr>
      </p:pic>
      <p:sp>
        <p:nvSpPr>
          <p:cNvPr id="34819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386705" y="1524000"/>
            <a:ext cx="5923915" cy="498284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rtlCol="0" anchor="t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 defTabSz="914400">
              <a:lnSpc>
                <a:spcPct val="160000"/>
              </a:lnSpc>
              <a:buSzTx/>
            </a:pPr>
            <a:r>
              <a:rPr lang="zh-CN" altLang="en-US" sz="20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单靠目标不足以获得高品质的行为</a:t>
            </a:r>
            <a:endParaRPr lang="zh-CN" altLang="en-US" sz="2000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 defTabSz="914400">
              <a:lnSpc>
                <a:spcPct val="160000"/>
              </a:lnSpc>
              <a:buSzTx/>
            </a:pPr>
            <a:r>
              <a:rPr lang="zh-CN" altLang="en-US" sz="20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更普适的度量：</a:t>
            </a:r>
            <a:r>
              <a:rPr lang="zh-CN" altLang="en-US" sz="2000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效用函数</a:t>
            </a:r>
            <a:endParaRPr lang="zh-CN" altLang="en-US" sz="2000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 defTabSz="914400">
              <a:lnSpc>
                <a:spcPct val="160000"/>
              </a:lnSpc>
              <a:buSzTx/>
            </a:pPr>
            <a:r>
              <a:rPr lang="zh-CN" altLang="en-US" sz="20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效用函数把状态（或状态序列）映射到实数，以描述智能体与状态相关的高兴程度</a:t>
            </a:r>
            <a:endParaRPr lang="zh-CN" altLang="en-US" sz="2000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 defTabSz="914400">
              <a:lnSpc>
                <a:spcPct val="160000"/>
              </a:lnSpc>
              <a:buSzTx/>
            </a:pPr>
            <a:r>
              <a:rPr lang="zh-CN" altLang="en-US" sz="20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效用函数可以辅助进行决策：</a:t>
            </a:r>
            <a:endParaRPr lang="zh-CN" altLang="en-US" sz="2000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algn="l" defTabSz="914400">
              <a:lnSpc>
                <a:spcPct val="160000"/>
              </a:lnSpc>
              <a:buSzTx/>
              <a:buFontTx/>
            </a:pPr>
            <a:r>
              <a:rPr lang="zh-CN" altLang="en-US" sz="18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有多个相互冲突的目标可达到时实现折中</a:t>
            </a:r>
            <a:endParaRPr lang="zh-CN" altLang="en-US" sz="1800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lvl="1" algn="l" defTabSz="914400">
              <a:lnSpc>
                <a:spcPct val="160000"/>
              </a:lnSpc>
              <a:buSzTx/>
              <a:buFontTx/>
            </a:pPr>
            <a:r>
              <a:rPr lang="zh-CN" altLang="en-US" sz="18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多个目标都不能有把握达到时选择一个目标</a:t>
            </a:r>
            <a:endParaRPr lang="zh-CN" altLang="en-US" sz="1800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lvl="0" algn="l" defTabSz="914400">
              <a:lnSpc>
                <a:spcPct val="160000"/>
              </a:lnSpc>
              <a:buSzTx/>
            </a:pPr>
            <a:r>
              <a:rPr lang="zh-CN" altLang="en-US" sz="20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最佳期望效用是通过计算所有可能结果状态的加权平均得到，其权值由结果的概率确定</a:t>
            </a:r>
            <a:endParaRPr lang="zh-CN" altLang="en-US" sz="2000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/>
          </p:cNvSpPr>
          <p:nvPr>
            <p:ph type="title" idx="4294967295"/>
          </p:nvPr>
        </p:nvSpPr>
        <p:spPr>
          <a:xfrm>
            <a:off x="1825625" y="381000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</a:pP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学习智能体</a:t>
            </a:r>
            <a:r>
              <a:rPr lang="en-US" altLang="zh-CN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(Learning Agent)</a:t>
            </a:r>
            <a:endParaRPr lang="en-US" altLang="zh-CN" kern="1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465" y="1296035"/>
            <a:ext cx="5683250" cy="4043680"/>
          </a:xfrm>
          <a:prstGeom prst="rect">
            <a:avLst/>
          </a:prstGeom>
        </p:spPr>
      </p:pic>
      <p:sp>
        <p:nvSpPr>
          <p:cNvPr id="34819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974715" y="1524000"/>
            <a:ext cx="6024245" cy="381571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rtlCol="0" anchor="t" anchorCtr="0" compatLnSpc="1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 defTabSz="914400">
              <a:lnSpc>
                <a:spcPct val="120000"/>
              </a:lnSpc>
              <a:buSzTx/>
              <a:buNone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学习智能体组件</a:t>
            </a:r>
            <a:endParaRPr lang="zh-CN" altLang="en-US" sz="2400" b="1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 defTabSz="914400">
              <a:lnSpc>
                <a:spcPct val="120000"/>
              </a:lnSpc>
              <a:buSzTx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学习元件：</a:t>
            </a:r>
            <a:r>
              <a:rPr lang="zh-CN" altLang="en-US" sz="18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负责改进，利用评论元件的反馈来评价智能体，并决定如何修改执行元件以将来做得更好</a:t>
            </a:r>
            <a:endParaRPr lang="zh-CN" altLang="en-US" sz="180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lvl="0" algn="l" defTabSz="914400">
              <a:lnSpc>
                <a:spcPct val="120000"/>
              </a:lnSpc>
              <a:buSzTx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执行元件：</a:t>
            </a:r>
            <a:r>
              <a:rPr lang="zh-CN" altLang="en-US" sz="18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负责选择外部动作，接受感知信息并进行行动决策</a:t>
            </a:r>
            <a:endParaRPr lang="zh-CN" altLang="en-US" sz="180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lvl="0" algn="l" defTabSz="914400">
              <a:lnSpc>
                <a:spcPct val="120000"/>
              </a:lnSpc>
              <a:buSzTx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评论元件：</a:t>
            </a:r>
            <a:r>
              <a:rPr lang="zh-CN" altLang="en-US" sz="18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根据固定的性能标准告诉学习元件智能体的运转情况如何</a:t>
            </a:r>
            <a:endParaRPr lang="zh-CN" altLang="en-US" sz="180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lvl="0" algn="l" defTabSz="914400">
              <a:lnSpc>
                <a:spcPct val="120000"/>
              </a:lnSpc>
              <a:buSzTx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问题产生器：</a:t>
            </a:r>
            <a:r>
              <a:rPr lang="zh-CN" altLang="en-US" sz="18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负责提议可以导致新的和有信息价值的经验的行动</a:t>
            </a:r>
            <a:endParaRPr lang="zh-CN" altLang="en-US" sz="1800" b="1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8940" y="5474335"/>
            <a:ext cx="11238865" cy="10502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l">
              <a:lnSpc>
                <a:spcPct val="130000"/>
              </a:lnSpc>
              <a:spcBef>
                <a:spcPct val="20000"/>
              </a:spcBef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r>
              <a:rPr lang="zh-CN" altLang="en-US" sz="24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智能体的学习可以看做为智能体的每个组件的</a:t>
            </a:r>
            <a:r>
              <a:rPr lang="zh-CN" altLang="en-US" sz="2400" b="1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修改</a:t>
            </a:r>
            <a:r>
              <a:rPr lang="zh-CN" altLang="en-US" sz="24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过程，修改使得各组件与能得到的反馈信息更加一致，从而改进智能体的总体性能</a:t>
            </a:r>
            <a:endParaRPr lang="zh-CN" altLang="en-US" sz="240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56615" y="396875"/>
            <a:ext cx="3843020" cy="368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r>
              <a:rPr lang="zh-CN" altLang="en-US"/>
              <a:t>Agent程序的部件如何运转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56615" y="920115"/>
            <a:ext cx="107232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由于前面讨论的四类都可以归为learning agent，所以这里讨论learning agent中的部件如何运转。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8795" y="1293495"/>
            <a:ext cx="3919220" cy="29667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4753" r="9029"/>
          <a:stretch>
            <a:fillRect/>
          </a:stretch>
        </p:blipFill>
        <p:spPr>
          <a:xfrm>
            <a:off x="536575" y="4195445"/>
            <a:ext cx="10236835" cy="219392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45820" y="334010"/>
            <a:ext cx="2628265" cy="368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t" anchorCtr="0" forceAA="0" compatLnSpc="1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1800">
                <a:sym typeface="+mn-ea"/>
              </a:rPr>
              <a:t>例子：自动驾驶</a:t>
            </a:r>
            <a:endParaRPr lang="zh-CN" altLang="en-US" sz="1800">
              <a:sym typeface="+mn-ea"/>
            </a:endParaRPr>
          </a:p>
        </p:txBody>
      </p:sp>
      <p:sp>
        <p:nvSpPr>
          <p:cNvPr id="3062" name="等腰三角形 3061"/>
          <p:cNvSpPr/>
          <p:nvPr>
            <p:custDataLst>
              <p:tags r:id="rId1"/>
            </p:custDataLst>
          </p:nvPr>
        </p:nvSpPr>
        <p:spPr>
          <a:xfrm rot="5400000">
            <a:off x="2199912" y="1224313"/>
            <a:ext cx="660922" cy="602482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063" name="等腰三角形 3062"/>
          <p:cNvSpPr/>
          <p:nvPr>
            <p:custDataLst>
              <p:tags r:id="rId2"/>
            </p:custDataLst>
          </p:nvPr>
        </p:nvSpPr>
        <p:spPr>
          <a:xfrm rot="5400000">
            <a:off x="2009794" y="1210841"/>
            <a:ext cx="660922" cy="602482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064" name="文本框 1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21761" y="981075"/>
            <a:ext cx="4755198" cy="506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 anchorCtr="0">
            <a:normAutofit lnSpcReduction="10000"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0" indent="0" algn="l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lang="zh-CN" altLang="en-US" sz="2000" b="1" spc="300">
                <a:latin typeface="Arial" panose="020B0604020202020204" pitchFamily="34" charset="0"/>
                <a:ea typeface="微软雅黑" panose="020B0503020204020204" pitchFamily="34" charset="-122"/>
                <a:cs typeface="+mj-cs"/>
              </a:rPr>
              <a:t>执行部件</a:t>
            </a:r>
            <a:endParaRPr lang="zh-CN" altLang="en-US" sz="2000" b="1" spc="300">
              <a:latin typeface="Arial" panose="020B0604020202020204" pitchFamily="34" charset="0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065" name="文本框 3064"/>
          <p:cNvSpPr txBox="1"/>
          <p:nvPr>
            <p:custDataLst>
              <p:tags r:id="rId4"/>
            </p:custDataLst>
          </p:nvPr>
        </p:nvSpPr>
        <p:spPr>
          <a:xfrm>
            <a:off x="3021965" y="1503680"/>
            <a:ext cx="764095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noAutofit/>
          </a:bodyPr>
          <a:lstStyle>
            <a:defPPr>
              <a:defRPr lang="zh-CN"/>
            </a:defPPr>
            <a:lvl1pPr algn="ctr">
              <a:spcBef>
                <a:spcPct val="0"/>
              </a:spcBef>
              <a:buFontTx/>
              <a:buNone/>
              <a:defRPr sz="1800"/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pc="1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使用执行部件在公路上行驶。执行部件包含选择驾驶行动的全部知识和过程集合。</a:t>
            </a:r>
            <a:endParaRPr lang="zh-CN" altLang="en-US" spc="15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066" name="等腰三角形 3065"/>
          <p:cNvSpPr/>
          <p:nvPr>
            <p:custDataLst>
              <p:tags r:id="rId5"/>
            </p:custDataLst>
          </p:nvPr>
        </p:nvSpPr>
        <p:spPr>
          <a:xfrm rot="5400000">
            <a:off x="2199912" y="2619376"/>
            <a:ext cx="660922" cy="602482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067" name="等腰三角形 3066"/>
          <p:cNvSpPr/>
          <p:nvPr>
            <p:custDataLst>
              <p:tags r:id="rId6"/>
            </p:custDataLst>
          </p:nvPr>
        </p:nvSpPr>
        <p:spPr>
          <a:xfrm rot="5400000">
            <a:off x="2009794" y="2605904"/>
            <a:ext cx="660922" cy="602482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068" name="文本框 17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021761" y="2376138"/>
            <a:ext cx="4755198" cy="506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 anchorCtr="0">
            <a:normAutofit lnSpcReduction="10000"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0" indent="0" algn="l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lang="zh-CN" altLang="en-US" sz="2000" b="1" spc="300">
                <a:latin typeface="Arial" panose="020B0604020202020204" pitchFamily="34" charset="0"/>
                <a:ea typeface="微软雅黑" panose="020B0503020204020204" pitchFamily="34" charset="-122"/>
                <a:cs typeface="+mj-cs"/>
              </a:rPr>
              <a:t>评判部件</a:t>
            </a:r>
            <a:endParaRPr lang="zh-CN" altLang="en-US" sz="2000" b="1" spc="300">
              <a:latin typeface="Arial" panose="020B0604020202020204" pitchFamily="34" charset="0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069" name="文本框 3068"/>
          <p:cNvSpPr txBox="1"/>
          <p:nvPr>
            <p:custDataLst>
              <p:tags r:id="rId8"/>
            </p:custDataLst>
          </p:nvPr>
        </p:nvSpPr>
        <p:spPr>
          <a:xfrm>
            <a:off x="3021965" y="2898775"/>
            <a:ext cx="764095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noAutofit/>
          </a:bodyPr>
          <a:lstStyle>
            <a:defPPr>
              <a:defRPr lang="zh-CN"/>
            </a:defPPr>
            <a:lvl1pPr algn="ctr">
              <a:spcBef>
                <a:spcPct val="0"/>
              </a:spcBef>
              <a:buFontTx/>
              <a:buNone/>
              <a:defRPr sz="1800"/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pc="1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观察评价世界，告知学习部件。不打转向灯变道，听到后车喇叭声。</a:t>
            </a:r>
            <a:endParaRPr lang="zh-CN" altLang="en-US" spc="15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070" name="等腰三角形 3069"/>
          <p:cNvSpPr/>
          <p:nvPr>
            <p:custDataLst>
              <p:tags r:id="rId9"/>
            </p:custDataLst>
          </p:nvPr>
        </p:nvSpPr>
        <p:spPr>
          <a:xfrm rot="5400000">
            <a:off x="2199912" y="4015187"/>
            <a:ext cx="660922" cy="602482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071" name="等腰三角形 3070"/>
          <p:cNvSpPr/>
          <p:nvPr>
            <p:custDataLst>
              <p:tags r:id="rId10"/>
            </p:custDataLst>
          </p:nvPr>
        </p:nvSpPr>
        <p:spPr>
          <a:xfrm rot="5400000">
            <a:off x="2009794" y="4001716"/>
            <a:ext cx="660922" cy="602482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072" name="文本框 17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021761" y="3771950"/>
            <a:ext cx="4755198" cy="506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 anchorCtr="0">
            <a:normAutofit lnSpcReduction="10000"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0" indent="0" algn="l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lang="zh-CN" altLang="en-US" sz="2000" b="1" spc="300">
                <a:latin typeface="Arial" panose="020B0604020202020204" pitchFamily="34" charset="0"/>
                <a:ea typeface="微软雅黑" panose="020B0503020204020204" pitchFamily="34" charset="-122"/>
                <a:cs typeface="+mj-cs"/>
              </a:rPr>
              <a:t>学习部件</a:t>
            </a:r>
            <a:endParaRPr lang="zh-CN" altLang="en-US" sz="2000" b="1" spc="300">
              <a:latin typeface="Arial" panose="020B0604020202020204" pitchFamily="34" charset="0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073" name="文本框 3072"/>
          <p:cNvSpPr txBox="1"/>
          <p:nvPr>
            <p:custDataLst>
              <p:tags r:id="rId12"/>
            </p:custDataLst>
          </p:nvPr>
        </p:nvSpPr>
        <p:spPr>
          <a:xfrm>
            <a:off x="3021965" y="4294505"/>
            <a:ext cx="764095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noAutofit/>
          </a:bodyPr>
          <a:lstStyle>
            <a:defPPr>
              <a:defRPr lang="zh-CN"/>
            </a:defPPr>
            <a:lvl1pPr algn="ctr">
              <a:spcBef>
                <a:spcPct val="0"/>
              </a:spcBef>
              <a:buFontTx/>
              <a:buNone/>
              <a:defRPr sz="1800"/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pc="1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制定修改规则。如果是不好的行动，如何修改执行部件。</a:t>
            </a:r>
            <a:endParaRPr lang="zh-CN" altLang="en-US" spc="15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074" name="等腰三角形 3073"/>
          <p:cNvSpPr/>
          <p:nvPr>
            <p:custDataLst>
              <p:tags r:id="rId13"/>
            </p:custDataLst>
          </p:nvPr>
        </p:nvSpPr>
        <p:spPr>
          <a:xfrm rot="5400000">
            <a:off x="2199912" y="5410999"/>
            <a:ext cx="660922" cy="602482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075" name="等腰三角形 3074"/>
          <p:cNvSpPr/>
          <p:nvPr>
            <p:custDataLst>
              <p:tags r:id="rId14"/>
            </p:custDataLst>
          </p:nvPr>
        </p:nvSpPr>
        <p:spPr>
          <a:xfrm rot="5400000">
            <a:off x="2009794" y="5397527"/>
            <a:ext cx="660922" cy="602482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076" name="文本框 17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3021761" y="5167013"/>
            <a:ext cx="4755198" cy="506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 anchorCtr="0">
            <a:normAutofit lnSpcReduction="10000"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0" indent="0" algn="l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lang="zh-CN" altLang="en-US" sz="2000" b="1" spc="300">
                <a:latin typeface="Arial" panose="020B0604020202020204" pitchFamily="34" charset="0"/>
                <a:ea typeface="微软雅黑" panose="020B0503020204020204" pitchFamily="34" charset="-122"/>
                <a:cs typeface="+mj-cs"/>
              </a:rPr>
              <a:t>问题生成器</a:t>
            </a:r>
            <a:endParaRPr lang="zh-CN" altLang="en-US" sz="2000" b="1" spc="300">
              <a:latin typeface="Arial" panose="020B0604020202020204" pitchFamily="34" charset="0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077" name="文本框 3076"/>
          <p:cNvSpPr txBox="1"/>
          <p:nvPr>
            <p:custDataLst>
              <p:tags r:id="rId16"/>
            </p:custDataLst>
          </p:nvPr>
        </p:nvSpPr>
        <p:spPr>
          <a:xfrm>
            <a:off x="3021965" y="5673725"/>
            <a:ext cx="764095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normAutofit/>
          </a:bodyPr>
          <a:lstStyle>
            <a:defPPr>
              <a:defRPr lang="zh-CN"/>
            </a:defPPr>
            <a:lvl1pPr algn="ctr">
              <a:spcBef>
                <a:spcPct val="0"/>
              </a:spcBef>
              <a:buFontTx/>
              <a:buNone/>
              <a:defRPr sz="1800"/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pc="1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例如提议在不同路面试验一下刹车效果。</a:t>
            </a:r>
            <a:endParaRPr lang="zh-CN" altLang="en-US" spc="15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90525" y="381000"/>
            <a:ext cx="2540000" cy="368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t" anchorCtr="0" forceAA="0" compatLnSpc="1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1800">
                <a:sym typeface="+mn-ea"/>
              </a:rPr>
              <a:t>Agent各部件如何工作</a:t>
            </a:r>
            <a:endParaRPr lang="zh-CN" altLang="en-US" sz="180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9475" y="1036955"/>
            <a:ext cx="104330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Agent程序包含回答以下问题的部件：1）当前状态；2）当前应该采取的行动；3）行动后果。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585" y="3009900"/>
            <a:ext cx="9429750" cy="20764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88085" y="5375275"/>
            <a:ext cx="9815830" cy="8655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/>
              <a:t>如何表示</a:t>
            </a:r>
            <a:r>
              <a:rPr lang="zh-CN" altLang="en-US" b="1">
                <a:solidFill>
                  <a:schemeClr val="bg1"/>
                </a:solidFill>
              </a:rPr>
              <a:t>状态及其转换</a:t>
            </a:r>
            <a:r>
              <a:rPr lang="zh-CN" altLang="en-US"/>
              <a:t>？</a:t>
            </a:r>
            <a:endParaRPr lang="zh-CN" altLang="en-US"/>
          </a:p>
          <a:p>
            <a:pPr>
              <a:lnSpc>
                <a:spcPct val="140000"/>
              </a:lnSpc>
            </a:pPr>
            <a:r>
              <a:rPr lang="zh-CN" altLang="en-US"/>
              <a:t>沿着复杂度和表达能力增长的轴线，有三种表示：原子表示、要素化表示、结构化表示。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79475" y="1469390"/>
            <a:ext cx="9665970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algn="ctr"/>
            <a:r>
              <a:rPr lang="zh-CN" altLang="en-US" b="1" dirty="0"/>
              <a:t>As the agents get complex, so does their internal structure. </a:t>
            </a:r>
            <a:endParaRPr lang="zh-CN" altLang="en-US" b="1" dirty="0"/>
          </a:p>
          <a:p>
            <a:pPr algn="ctr"/>
            <a:r>
              <a:rPr lang="zh-CN" altLang="en-US" b="1" dirty="0"/>
              <a:t>The way in which they store the internal state changes. </a:t>
            </a:r>
            <a:endParaRPr lang="zh-CN" altLang="en-US" b="1" dirty="0"/>
          </a:p>
          <a:p>
            <a:pPr algn="ctr"/>
            <a:r>
              <a:rPr lang="zh-CN" altLang="en-US" b="1" dirty="0"/>
              <a:t>By its nature, a simple reflex agent does not need to store a state, but other types do. </a:t>
            </a:r>
            <a:endParaRPr lang="zh-CN" altLang="en-US" b="1" dirty="0"/>
          </a:p>
          <a:p>
            <a:pPr algn="ctr"/>
            <a:r>
              <a:rPr lang="zh-CN" altLang="en-US" b="1" dirty="0"/>
              <a:t>The image below provides a high level representation of agent states, in order of increasing expressiveness power(left to right).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07365" y="2438112"/>
            <a:ext cx="2226788" cy="2169824"/>
          </a:xfrm>
          <a:prstGeom prst="ellipse">
            <a:avLst/>
          </a:prstGeom>
          <a:solidFill>
            <a:schemeClr val="accent4"/>
          </a:solidFill>
          <a:ln w="76200" cmpd="sng">
            <a:solidFill>
              <a:schemeClr val="accent4">
                <a:lumMod val="60000"/>
                <a:lumOff val="40000"/>
              </a:schemeClr>
            </a:solidFill>
            <a:round/>
          </a:ln>
        </p:spPr>
        <p:txBody>
          <a:bodyPr wrap="square"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微软雅黑" panose="020B0503020204020204" pitchFamily="34" charset="-122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 sz="2000" b="1" dirty="0">
                <a:solidFill>
                  <a:sysClr val="window" lastClr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Agent</a:t>
            </a:r>
            <a:endParaRPr lang="en-US" altLang="zh-CN" sz="2000" b="1" dirty="0">
              <a:solidFill>
                <a:sysClr val="window" lastClr="FFFFFF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000" b="1" dirty="0">
                <a:solidFill>
                  <a:sysClr val="window" lastClr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程序</a:t>
            </a:r>
            <a:endParaRPr lang="zh-CN" altLang="en-US" sz="2000" b="1" dirty="0">
              <a:solidFill>
                <a:sysClr val="window" lastClr="FFFFFF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000" b="1" dirty="0">
                <a:solidFill>
                  <a:sysClr val="window" lastClr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内部状态及其转换表示</a:t>
            </a:r>
            <a:endParaRPr lang="zh-CN" altLang="en-US" sz="2000" b="1" dirty="0">
              <a:solidFill>
                <a:sysClr val="window" lastClr="FFFFFF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404131" y="1170940"/>
            <a:ext cx="6475810" cy="1100448"/>
            <a:chOff x="5430" y="837"/>
            <a:chExt cx="10004" cy="1700"/>
          </a:xfrm>
        </p:grpSpPr>
        <p:sp>
          <p:nvSpPr>
            <p:cNvPr id="2" name="椭圆 1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5430" y="837"/>
              <a:ext cx="1700" cy="1700"/>
            </a:xfrm>
            <a:prstGeom prst="ellipse">
              <a:avLst/>
            </a:prstGeom>
            <a:solidFill>
              <a:schemeClr val="accent1"/>
            </a:solidFill>
            <a:ln w="57150" cmpd="sng">
              <a:solidFill>
                <a:schemeClr val="bg1"/>
              </a:solidFill>
              <a:round/>
            </a:ln>
          </p:spPr>
          <p:txBody>
            <a:bodyPr wrap="square" anchor="ctr">
              <a:norm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/>
              <a:r>
                <a:rPr lang="en-US" altLang="zh-CN" sz="3600">
                  <a:solidFill>
                    <a:schemeClr val="bg1"/>
                  </a:solidFill>
                  <a:latin typeface="+mn-lt"/>
                  <a:ea typeface="+mn-ea"/>
                </a:rPr>
                <a:t>01</a:t>
              </a:r>
              <a:endParaRPr lang="en-US" altLang="zh-CN" sz="360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7" name="矩形 9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7378" y="959"/>
              <a:ext cx="8056" cy="1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 anchor="ctr" anchorCtr="0"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9pPr>
            </a:lstStyle>
            <a:p>
              <a:pPr marL="0" indent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ct val="100000"/>
              </a:pPr>
              <a:r>
                <a:rPr lang="zh-CN" altLang="en-US" sz="1400" b="1" dirty="0">
                  <a:latin typeface="微软雅黑" panose="020B0503020204020204" pitchFamily="34" charset="-122"/>
                  <a:cs typeface="微软雅黑" panose="020B0503020204020204" pitchFamily="34" charset="-122"/>
                </a:rPr>
                <a:t>原子表示（</a:t>
              </a:r>
              <a:r>
                <a:rPr lang="en-US" altLang="zh-CN" sz="1400" b="1" dirty="0">
                  <a:latin typeface="微软雅黑" panose="020B0503020204020204" pitchFamily="34" charset="-122"/>
                  <a:cs typeface="微软雅黑" panose="020B0503020204020204" pitchFamily="34" charset="-122"/>
                </a:rPr>
                <a:t>atomic representation</a:t>
              </a:r>
              <a:r>
                <a:rPr lang="zh-CN" altLang="en-US" sz="1400" b="1" dirty="0">
                  <a:latin typeface="微软雅黑" panose="020B0503020204020204" pitchFamily="34" charset="-122"/>
                  <a:cs typeface="微软雅黑" panose="020B0503020204020204" pitchFamily="34" charset="-122"/>
                </a:rPr>
                <a:t>）</a:t>
              </a:r>
              <a:r>
                <a:rPr lang="zh-CN" altLang="en-US" sz="1400" dirty="0">
                  <a:latin typeface="微软雅黑" panose="020B0503020204020204" pitchFamily="34" charset="-122"/>
                  <a:cs typeface="微软雅黑" panose="020B0503020204020204" pitchFamily="34" charset="-122"/>
                </a:rPr>
                <a:t>：没有内部结构的表示。</a:t>
              </a:r>
              <a:endParaRPr lang="zh-CN" altLang="en-US" sz="1400" dirty="0">
                <a:latin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indent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ct val="100000"/>
              </a:pPr>
              <a:r>
                <a:rPr lang="zh-CN" altLang="en-US" sz="1400" b="1" dirty="0">
                  <a:solidFill>
                    <a:srgbClr val="0070C0"/>
                  </a:solidFill>
                  <a:latin typeface="微软雅黑" panose="020B0503020204020204" pitchFamily="34" charset="-122"/>
                  <a:cs typeface="微软雅黑" panose="020B0503020204020204" pitchFamily="34" charset="-122"/>
                </a:rPr>
                <a:t>相关内容：</a:t>
              </a:r>
              <a:r>
                <a:rPr lang="zh-CN" altLang="en-US" sz="1400" dirty="0">
                  <a:latin typeface="微软雅黑" panose="020B0503020204020204" pitchFamily="34" charset="-122"/>
                  <a:cs typeface="微软雅黑" panose="020B0503020204020204" pitchFamily="34" charset="-122"/>
                </a:rPr>
                <a:t>搜索、博弈论、隐马尔可夫模型、马尔可夫决策过程。</a:t>
              </a:r>
              <a:endParaRPr lang="zh-CN" altLang="en-US" sz="1400" dirty="0">
                <a:latin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cxnSp>
        <p:nvCxnSpPr>
          <p:cNvPr id="11" name="肘形连接符 17"/>
          <p:cNvCxnSpPr>
            <a:cxnSpLocks noChangeShapeType="1"/>
            <a:stCxn id="5" idx="6"/>
            <a:endCxn id="2" idx="2"/>
          </p:cNvCxnSpPr>
          <p:nvPr>
            <p:custDataLst>
              <p:tags r:id="rId4"/>
            </p:custDataLst>
          </p:nvPr>
        </p:nvCxnSpPr>
        <p:spPr bwMode="auto">
          <a:xfrm flipV="1">
            <a:off x="2734310" y="1721485"/>
            <a:ext cx="669925" cy="1802130"/>
          </a:xfrm>
          <a:prstGeom prst="bentConnector3">
            <a:avLst>
              <a:gd name="adj1" fmla="val 50047"/>
            </a:avLst>
          </a:prstGeom>
          <a:noFill/>
          <a:ln w="28575" cmpd="sng">
            <a:solidFill>
              <a:schemeClr val="bg1">
                <a:lumMod val="65000"/>
              </a:schemeClr>
            </a:solidFill>
            <a:prstDash val="sysDot"/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肘形连接符 18"/>
          <p:cNvCxnSpPr>
            <a:cxnSpLocks noChangeShapeType="1"/>
            <a:stCxn id="5" idx="6"/>
            <a:endCxn id="6" idx="2"/>
          </p:cNvCxnSpPr>
          <p:nvPr>
            <p:custDataLst>
              <p:tags r:id="rId5"/>
            </p:custDataLst>
          </p:nvPr>
        </p:nvCxnSpPr>
        <p:spPr bwMode="auto">
          <a:xfrm flipV="1">
            <a:off x="2734310" y="3522980"/>
            <a:ext cx="669925" cy="635"/>
          </a:xfrm>
          <a:prstGeom prst="bentConnector3">
            <a:avLst>
              <a:gd name="adj1" fmla="val 50047"/>
            </a:avLst>
          </a:prstGeom>
          <a:noFill/>
          <a:ln w="28575" cmpd="sng">
            <a:solidFill>
              <a:schemeClr val="bg1">
                <a:lumMod val="65000"/>
              </a:schemeClr>
            </a:solidFill>
            <a:prstDash val="sysDot"/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肘形连接符 19"/>
          <p:cNvCxnSpPr>
            <a:cxnSpLocks noChangeShapeType="1"/>
            <a:stCxn id="5" idx="6"/>
            <a:endCxn id="8" idx="2"/>
          </p:cNvCxnSpPr>
          <p:nvPr>
            <p:custDataLst>
              <p:tags r:id="rId6"/>
            </p:custDataLst>
          </p:nvPr>
        </p:nvCxnSpPr>
        <p:spPr bwMode="auto">
          <a:xfrm>
            <a:off x="2734310" y="3523615"/>
            <a:ext cx="669925" cy="2096770"/>
          </a:xfrm>
          <a:prstGeom prst="bentConnector3">
            <a:avLst>
              <a:gd name="adj1" fmla="val 50047"/>
            </a:avLst>
          </a:prstGeom>
          <a:noFill/>
          <a:ln w="28575" cmpd="sng">
            <a:solidFill>
              <a:schemeClr val="bg1">
                <a:lumMod val="65000"/>
              </a:schemeClr>
            </a:solidFill>
            <a:prstDash val="sysDot"/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" name="组合 3"/>
          <p:cNvGrpSpPr/>
          <p:nvPr/>
        </p:nvGrpSpPr>
        <p:grpSpPr>
          <a:xfrm>
            <a:off x="3404131" y="2732281"/>
            <a:ext cx="6332752" cy="1581408"/>
            <a:chOff x="5430" y="3011"/>
            <a:chExt cx="9783" cy="2443"/>
          </a:xfrm>
        </p:grpSpPr>
        <p:sp>
          <p:nvSpPr>
            <p:cNvPr id="6" name="椭圆 3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5430" y="3381"/>
              <a:ext cx="1700" cy="1702"/>
            </a:xfrm>
            <a:prstGeom prst="ellipse">
              <a:avLst/>
            </a:prstGeom>
            <a:solidFill>
              <a:schemeClr val="accent2"/>
            </a:solidFill>
            <a:ln w="57150" cmpd="sng">
              <a:solidFill>
                <a:schemeClr val="bg1"/>
              </a:solidFill>
              <a:round/>
            </a:ln>
          </p:spPr>
          <p:txBody>
            <a:bodyPr wrap="square" anchor="ctr"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/>
              <a:r>
                <a:rPr lang="en-US" altLang="zh-CN" sz="3600">
                  <a:solidFill>
                    <a:schemeClr val="bg1"/>
                  </a:solidFill>
                  <a:latin typeface="+mn-lt"/>
                  <a:ea typeface="+mn-ea"/>
                </a:rPr>
                <a:t>02</a:t>
              </a:r>
              <a:endParaRPr lang="en-US" altLang="zh-CN" sz="360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24" name="矩形 38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7390" y="3011"/>
              <a:ext cx="7823" cy="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 anchor="ctr" anchorCtr="0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9pPr>
            </a:lstStyle>
            <a:p>
              <a:pPr mar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400" b="1" dirty="0">
                  <a:latin typeface="微软雅黑" panose="020B0503020204020204" pitchFamily="34" charset="-122"/>
                  <a:cs typeface="微软雅黑" panose="020B0503020204020204" pitchFamily="34" charset="-122"/>
                </a:rPr>
                <a:t>要素化表示（</a:t>
              </a:r>
              <a:r>
                <a:rPr lang="en-US" altLang="zh-CN" sz="1400" b="1" dirty="0">
                  <a:latin typeface="微软雅黑" panose="020B0503020204020204" pitchFamily="34" charset="-122"/>
                  <a:cs typeface="微软雅黑" panose="020B0503020204020204" pitchFamily="34" charset="-122"/>
                </a:rPr>
                <a:t>f</a:t>
              </a:r>
              <a:r>
                <a:rPr lang="zh-CN" altLang="en-US" sz="1400" b="1" dirty="0">
                  <a:latin typeface="微软雅黑" panose="020B0503020204020204" pitchFamily="34" charset="-122"/>
                  <a:cs typeface="微软雅黑" panose="020B0503020204020204" pitchFamily="34" charset="-122"/>
                </a:rPr>
                <a:t>actored</a:t>
              </a:r>
              <a:r>
                <a:rPr lang="en-US" altLang="zh-CN" sz="1400" b="1" dirty="0">
                  <a:latin typeface="微软雅黑" panose="020B0503020204020204" pitchFamily="34" charset="-122"/>
                  <a:cs typeface="微软雅黑" panose="020B0503020204020204" pitchFamily="34" charset="-122"/>
                </a:rPr>
                <a:t> </a:t>
              </a:r>
              <a:r>
                <a:rPr lang="en-US" altLang="zh-CN" sz="1400" b="1" dirty="0">
                  <a:latin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representation</a:t>
              </a:r>
              <a:r>
                <a:rPr lang="zh-CN" altLang="en-US" sz="1400" b="1" dirty="0">
                  <a:latin typeface="微软雅黑" panose="020B0503020204020204" pitchFamily="34" charset="-122"/>
                  <a:cs typeface="微软雅黑" panose="020B0503020204020204" pitchFamily="34" charset="-122"/>
                </a:rPr>
                <a:t>）:</a:t>
              </a:r>
              <a:r>
                <a:rPr lang="en-US" altLang="zh-CN" sz="1400" b="1" dirty="0">
                  <a:latin typeface="微软雅黑" panose="020B0503020204020204" pitchFamily="34" charset="-122"/>
                  <a:cs typeface="微软雅黑" panose="020B0503020204020204" pitchFamily="34" charset="-122"/>
                </a:rPr>
                <a:t> </a:t>
              </a:r>
              <a:r>
                <a:rPr lang="zh-CN" altLang="en-US" sz="1400" dirty="0">
                  <a:latin typeface="微软雅黑" panose="020B0503020204020204" pitchFamily="34" charset="-122"/>
                  <a:cs typeface="微软雅黑" panose="020B0503020204020204" pitchFamily="34" charset="-122"/>
                </a:rPr>
                <a:t>一个状态中包含多个要素（原子），即多个变量和特征的集合。</a:t>
              </a:r>
              <a:endParaRPr lang="zh-CN" altLang="en-US" sz="1400" dirty="0">
                <a:latin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400" b="1" dirty="0">
                  <a:solidFill>
                    <a:srgbClr val="0070C0"/>
                  </a:solidFill>
                  <a:latin typeface="微软雅黑" panose="020B0503020204020204" pitchFamily="34" charset="-122"/>
                  <a:cs typeface="微软雅黑" panose="020B0503020204020204" pitchFamily="34" charset="-122"/>
                </a:rPr>
                <a:t>相关内容：</a:t>
              </a:r>
              <a:r>
                <a:rPr lang="zh-CN" altLang="en-US" sz="1400" dirty="0">
                  <a:latin typeface="微软雅黑" panose="020B0503020204020204" pitchFamily="34" charset="-122"/>
                  <a:cs typeface="微软雅黑" panose="020B0503020204020204" pitchFamily="34" charset="-122"/>
                </a:rPr>
                <a:t>约束满足算法、命题逻辑、规划、Bayesian网、机器学习算法。</a:t>
              </a:r>
              <a:endParaRPr lang="zh-CN" altLang="en-US" sz="1400" dirty="0">
                <a:latin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404131" y="4773935"/>
            <a:ext cx="6332752" cy="1691453"/>
            <a:chOff x="5430" y="6403"/>
            <a:chExt cx="9783" cy="2613"/>
          </a:xfrm>
        </p:grpSpPr>
        <p:sp>
          <p:nvSpPr>
            <p:cNvPr id="8" name="椭圆 13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5430" y="6860"/>
              <a:ext cx="1700" cy="1700"/>
            </a:xfrm>
            <a:prstGeom prst="ellipse">
              <a:avLst/>
            </a:prstGeom>
            <a:solidFill>
              <a:schemeClr val="accent3"/>
            </a:solidFill>
            <a:ln w="57150" cmpd="sng">
              <a:solidFill>
                <a:schemeClr val="bg1"/>
              </a:solidFill>
              <a:round/>
            </a:ln>
          </p:spPr>
          <p:txBody>
            <a:bodyPr wrap="square" anchor="ctr"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/>
              <a:r>
                <a:rPr lang="en-US" altLang="zh-CN" sz="3600">
                  <a:solidFill>
                    <a:schemeClr val="bg1"/>
                  </a:solidFill>
                  <a:latin typeface="+mn-lt"/>
                  <a:ea typeface="+mn-ea"/>
                </a:rPr>
                <a:t>03</a:t>
              </a:r>
              <a:endParaRPr lang="en-US" altLang="zh-CN" sz="360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6" name="矩形 39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390" y="6403"/>
              <a:ext cx="7823" cy="2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 anchor="ctr" anchorCtr="0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cs typeface="微软雅黑" panose="020B0503020204020204" pitchFamily="34" charset="-122"/>
                </a:rPr>
                <a:t>结构化表示（</a:t>
              </a:r>
              <a:r>
                <a:rPr lang="en-US" altLang="zh-CN" sz="1400" b="1" dirty="0">
                  <a:latin typeface="微软雅黑" panose="020B0503020204020204" pitchFamily="34" charset="-122"/>
                  <a:cs typeface="微软雅黑" panose="020B0503020204020204" pitchFamily="34" charset="-122"/>
                </a:rPr>
                <a:t>structured </a:t>
              </a:r>
              <a:r>
                <a:rPr lang="en-US" altLang="zh-CN" sz="1400" b="1" dirty="0">
                  <a:latin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representation</a:t>
              </a:r>
              <a:r>
                <a:rPr lang="zh-CN" altLang="en-US" sz="1400" b="1" dirty="0">
                  <a:latin typeface="微软雅黑" panose="020B0503020204020204" pitchFamily="34" charset="-122"/>
                  <a:cs typeface="微软雅黑" panose="020B0503020204020204" pitchFamily="34" charset="-122"/>
                </a:rPr>
                <a:t>）</a:t>
              </a:r>
              <a:r>
                <a:rPr lang="en-US" altLang="zh-CN" sz="1400" b="1" dirty="0">
                  <a:latin typeface="微软雅黑" panose="020B0503020204020204" pitchFamily="34" charset="-122"/>
                  <a:cs typeface="微软雅黑" panose="020B0503020204020204" pitchFamily="34" charset="-122"/>
                </a:rPr>
                <a:t>:</a:t>
              </a:r>
              <a:r>
                <a:rPr lang="en-US" altLang="zh-CN" sz="1400" dirty="0">
                  <a:latin typeface="微软雅黑" panose="020B0503020204020204" pitchFamily="34" charset="-122"/>
                  <a:cs typeface="微软雅黑" panose="020B0503020204020204" pitchFamily="34" charset="-122"/>
                </a:rPr>
                <a:t>一个状态包含对象、每个对象可能有自身的特征值，以及与其他对象的关系。</a:t>
              </a:r>
              <a:endParaRPr lang="en-US" altLang="zh-CN" sz="1400" dirty="0">
                <a:latin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400" b="1" dirty="0">
                  <a:solidFill>
                    <a:srgbClr val="0070C0"/>
                  </a:solidFill>
                  <a:latin typeface="微软雅黑" panose="020B0503020204020204" pitchFamily="34" charset="-122"/>
                  <a:cs typeface="微软雅黑" panose="020B0503020204020204" pitchFamily="34" charset="-122"/>
                </a:rPr>
                <a:t>相关内容：</a:t>
              </a:r>
              <a:r>
                <a:rPr lang="en-US" altLang="zh-CN" sz="1400" dirty="0">
                  <a:latin typeface="微软雅黑" panose="020B0503020204020204" pitchFamily="34" charset="-122"/>
                  <a:cs typeface="微软雅黑" panose="020B0503020204020204" pitchFamily="34" charset="-122"/>
                </a:rPr>
                <a:t>关系数据库、一阶逻辑、一阶概率模型、基于知识的学习、自然语言理解。</a:t>
              </a:r>
              <a:endParaRPr lang="en-US" altLang="zh-CN" sz="1400" dirty="0">
                <a:latin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390525" y="381000"/>
            <a:ext cx="2540000" cy="368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t" anchorCtr="0" forceAA="0" compatLnSpc="1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1800">
                <a:sym typeface="+mn-ea"/>
              </a:rPr>
              <a:t>Agent各部件如何工作</a:t>
            </a:r>
            <a:endParaRPr lang="zh-CN" altLang="en-US" sz="1800">
              <a:sym typeface="+mn-ea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1"/>
          <a:srcRect r="75944" b="32326"/>
          <a:stretch>
            <a:fillRect/>
          </a:stretch>
        </p:blipFill>
        <p:spPr>
          <a:xfrm>
            <a:off x="10435590" y="300990"/>
            <a:ext cx="1290955" cy="198437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1"/>
          <a:srcRect l="24518" t="-585" r="39676" b="32326"/>
          <a:stretch>
            <a:fillRect/>
          </a:stretch>
        </p:blipFill>
        <p:spPr>
          <a:xfrm>
            <a:off x="9805035" y="2382520"/>
            <a:ext cx="1921510" cy="200152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11"/>
          <a:srcRect l="61626" b="32326"/>
          <a:stretch>
            <a:fillRect/>
          </a:stretch>
        </p:blipFill>
        <p:spPr>
          <a:xfrm>
            <a:off x="9667240" y="4481195"/>
            <a:ext cx="2059305" cy="1984375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 idx="4294967295"/>
          </p:nvPr>
        </p:nvSpPr>
        <p:spPr>
          <a:xfrm>
            <a:off x="1825625" y="381000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>
              <a:buClrTx/>
              <a:buSzTx/>
              <a:buFontTx/>
            </a:pP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智能体特性</a:t>
            </a:r>
            <a:endParaRPr lang="zh-CN" altLang="en-US" kern="1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7891" name="内容占位符 2"/>
          <p:cNvSpPr>
            <a:spLocks noGrp="1"/>
          </p:cNvSpPr>
          <p:nvPr>
            <p:ph idx="4294967295"/>
            <p:custDataLst>
              <p:tags r:id="rId1"/>
            </p:custDataLst>
          </p:nvPr>
        </p:nvSpPr>
        <p:spPr>
          <a:xfrm>
            <a:off x="844550" y="1524000"/>
            <a:ext cx="10704830" cy="4270375"/>
          </a:xfrm>
          <a:noFill/>
          <a:ln w="9525">
            <a:noFill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just" defTabSz="914400">
              <a:lnSpc>
                <a:spcPct val="140000"/>
              </a:lnSpc>
              <a:spcBef>
                <a:spcPct val="50000"/>
              </a:spcBef>
              <a:buSzTx/>
            </a:pPr>
            <a:r>
              <a:rPr lang="en-US" altLang="zh-CN" sz="2400" b="1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自主性</a:t>
            </a:r>
            <a:r>
              <a:rPr lang="zh-CN" altLang="en-US" sz="2400" b="1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en-US" altLang="zh-CN" sz="24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亦称自治性, 即能够在没有人或别的Agent的干预下, 主动地自发地控制自身的行为和内部状态, 并且还有自己的目标或意图。 </a:t>
            </a:r>
            <a:endParaRPr lang="en-US" altLang="zh-CN" sz="2400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just" defTabSz="914400">
              <a:lnSpc>
                <a:spcPct val="140000"/>
              </a:lnSpc>
              <a:spcBef>
                <a:spcPct val="50000"/>
              </a:spcBef>
              <a:buSzTx/>
            </a:pPr>
            <a:r>
              <a:rPr lang="en-US" altLang="zh-CN" sz="2400" b="1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反应性</a:t>
            </a:r>
            <a:r>
              <a:rPr lang="zh-CN" altLang="en-US" sz="2400" b="1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en-US" altLang="zh-CN" sz="24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即能够感知环境, 并通过行为改变环境。 </a:t>
            </a:r>
            <a:endParaRPr lang="en-US" altLang="zh-CN" sz="2400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just" defTabSz="914400">
              <a:lnSpc>
                <a:spcPct val="130000"/>
              </a:lnSpc>
              <a:spcBef>
                <a:spcPct val="50000"/>
              </a:spcBef>
              <a:buSzTx/>
            </a:pPr>
            <a:r>
              <a: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适应性</a:t>
            </a: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即能根据目标、环境等的要求和制约作出行动计划, 并根据环境的变化, 修改自己的目标和计划。</a:t>
            </a:r>
            <a:endParaRPr lang="en-US" altLang="zh-CN" sz="2400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just" defTabSz="914400">
              <a:lnSpc>
                <a:spcPct val="130000"/>
              </a:lnSpc>
              <a:spcBef>
                <a:spcPct val="50000"/>
              </a:spcBef>
              <a:buSzTx/>
            </a:pPr>
            <a:r>
              <a: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社会性</a:t>
            </a: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即一个Agent一般不能在环境中单独存在, 而要与其他Agent在同一环境中协同工作。而协作就要协商, 要协商就要进行信息交流, 信息交流的方式是相互通信。</a:t>
            </a:r>
            <a:endParaRPr lang="en-US" altLang="zh-CN" sz="2400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934085" y="1438275"/>
            <a:ext cx="10377170" cy="4610100"/>
          </a:xfrm>
          <a:prstGeom prst="rect">
            <a:avLst/>
          </a:prstGeom>
        </p:spPr>
        <p:txBody>
          <a:bodyPr/>
          <a:lstStyle/>
          <a:p>
            <a:pPr marL="342900" marR="0" indent="-342900" defTabSz="914400">
              <a:lnSpc>
                <a:spcPct val="140000"/>
              </a:lnSpc>
              <a:spcBef>
                <a:spcPct val="20000"/>
              </a:spcBef>
              <a:buClrTx/>
              <a:buSzTx/>
              <a:buFontTx/>
              <a:buChar char="•"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Microsoft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Office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助手</a:t>
            </a:r>
            <a:endParaRPr kumimoji="1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marR="0" indent="-342900" defTabSz="914400">
              <a:lnSpc>
                <a:spcPct val="140000"/>
              </a:lnSpc>
              <a:spcBef>
                <a:spcPct val="20000"/>
              </a:spcBef>
              <a:buClrTx/>
              <a:buSzTx/>
              <a:buFontTx/>
              <a:buChar char="•"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计算机病毒（破坏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智能体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kumimoji="1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marR="0" indent="-342900" defTabSz="914400">
              <a:lnSpc>
                <a:spcPct val="140000"/>
              </a:lnSpc>
              <a:spcBef>
                <a:spcPct val="20000"/>
              </a:spcBef>
              <a:buClrTx/>
              <a:buSzTx/>
              <a:buFontTx/>
              <a:buChar char="•"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计算机游戏或模拟中的智能角色</a:t>
            </a:r>
            <a:endParaRPr kumimoji="1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marR="0" indent="-342900" defTabSz="914400">
              <a:lnSpc>
                <a:spcPct val="140000"/>
              </a:lnSpc>
              <a:spcBef>
                <a:spcPct val="20000"/>
              </a:spcBef>
              <a:buClrTx/>
              <a:buSzTx/>
              <a:buFontTx/>
              <a:buChar char="•"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贸易和谈判</a:t>
            </a:r>
            <a:r>
              <a:rPr kumimoji="1" lang="zh-CN" altLang="en-US" sz="28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智能体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（如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Ebay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的拍卖</a:t>
            </a:r>
            <a:r>
              <a:rPr kumimoji="1" lang="zh-CN" altLang="en-US" sz="28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智能体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kumimoji="1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marR="0" indent="-342900" defTabSz="914400">
              <a:lnSpc>
                <a:spcPct val="140000"/>
              </a:lnSpc>
              <a:spcBef>
                <a:spcPct val="20000"/>
              </a:spcBef>
              <a:buClrTx/>
              <a:buSzTx/>
              <a:buFontTx/>
              <a:buChar char="•"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网络蜘蛛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Web Spider（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搜索引擎中的数据搜集和索引</a:t>
            </a:r>
            <a:r>
              <a:rPr kumimoji="1" lang="zh-CN" altLang="en-US" sz="28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智能体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Google）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marR="0" indent="-342900" defTabSz="914400">
              <a:lnSpc>
                <a:spcPct val="140000"/>
              </a:lnSpc>
              <a:spcBef>
                <a:spcPct val="20000"/>
              </a:spcBef>
              <a:buClrTx/>
              <a:buSzTx/>
              <a:buFontTx/>
              <a:buChar char="•"/>
              <a:defRPr/>
            </a:pP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……</a:t>
            </a:r>
            <a:endParaRPr kumimoji="1" lang="en-US" sz="2800" b="0" i="0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7890" name="标题 1"/>
          <p:cNvSpPr>
            <a:spLocks noGrp="1"/>
          </p:cNvSpPr>
          <p:nvPr/>
        </p:nvSpPr>
        <p:spPr>
          <a:xfrm>
            <a:off x="1897380" y="295275"/>
            <a:ext cx="8540750" cy="1143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>
              <a:buClrTx/>
              <a:buSzTx/>
              <a:buFontTx/>
            </a:pPr>
            <a:r>
              <a:rPr lang="zh-CN" altLang="en-US" b="1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智能体典型实例</a:t>
            </a:r>
            <a:endParaRPr lang="zh-CN" altLang="en-US" b="1" kern="1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1"/>
            </p:custDataLst>
          </p:nvPr>
        </p:nvSpPr>
        <p:spPr>
          <a:xfrm>
            <a:off x="8819319" y="-51"/>
            <a:ext cx="1848749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10000"/>
                </a:srgbClr>
              </a:gs>
              <a:gs pos="100000">
                <a:srgbClr val="D8D8E4">
                  <a:lumMod val="90000"/>
                  <a:alpha val="24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1524000" y="5480050"/>
            <a:ext cx="1059656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10000"/>
                </a:srgbClr>
              </a:gs>
              <a:gs pos="100000">
                <a:srgbClr val="D8D8E4">
                  <a:lumMod val="90000"/>
                  <a:alpha val="24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962" name="标题 2"/>
          <p:cNvSpPr>
            <a:spLocks noGrp="1"/>
          </p:cNvSpPr>
          <p:nvPr>
            <p:ph type="title" idx="4294967295"/>
          </p:nvPr>
        </p:nvSpPr>
        <p:spPr>
          <a:xfrm>
            <a:off x="1825625" y="381000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>
              <a:buClrTx/>
              <a:buSzTx/>
              <a:buFontTx/>
            </a:pP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小结</a:t>
            </a:r>
            <a:endParaRPr lang="zh-CN" altLang="en-US" kern="1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0963" name="内容占位符 3"/>
          <p:cNvSpPr>
            <a:spLocks noGrp="1"/>
          </p:cNvSpPr>
          <p:nvPr>
            <p:ph idx="4294967295"/>
          </p:nvPr>
        </p:nvSpPr>
        <p:spPr>
          <a:xfrm>
            <a:off x="948055" y="1506855"/>
            <a:ext cx="10415905" cy="4690745"/>
          </a:xfrm>
          <a:noFill/>
          <a:ln w="9525">
            <a:noFill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 defTabSz="914400">
              <a:buSzTx/>
            </a:pPr>
            <a:r>
              <a:rPr lang="zh-CN" altLang="en-US" sz="2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定义：</a:t>
            </a:r>
            <a:r>
              <a:rPr lang="zh-CN" altLang="en-US" sz="2800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智能体</a:t>
            </a:r>
            <a:r>
              <a:rPr lang="zh-CN" altLang="en-US" sz="2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是可以感知环境并在环境中行动的某种东西。</a:t>
            </a:r>
            <a:r>
              <a:rPr lang="zh-CN" altLang="en-US" sz="2800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智能体函数</a:t>
            </a:r>
            <a:r>
              <a:rPr lang="zh-CN" altLang="en-US" sz="2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指定智能体响应任何感知序列所采取的行动。</a:t>
            </a:r>
            <a:endParaRPr lang="zh-CN" altLang="en-US" sz="2800" b="1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 defTabSz="914400">
              <a:buSzTx/>
            </a:pPr>
            <a:r>
              <a:rPr lang="zh-CN" altLang="en-US" sz="2800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性能度量</a:t>
            </a:r>
            <a:r>
              <a:rPr lang="zh-CN" altLang="en-US" sz="2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评价智能体在环境中的行为表现。理性智能体的行动使其性能度量期望值最大化。</a:t>
            </a:r>
            <a:endParaRPr lang="zh-CN" altLang="en-US" sz="2800" b="1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 defTabSz="914400">
              <a:buSzTx/>
            </a:pPr>
            <a:r>
              <a:rPr lang="zh-CN" altLang="en-US" sz="2800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任务环境</a:t>
            </a:r>
            <a:r>
              <a:rPr lang="zh-CN" altLang="en-US" sz="2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包括性能度量、外部环境、执行器和传感器。设计智能体的第一步总是把任务空间定义得尽可能完全。</a:t>
            </a:r>
            <a:endParaRPr lang="zh-CN" altLang="en-US" sz="2800" b="1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 defTabSz="914400">
              <a:buSzTx/>
            </a:pPr>
            <a:r>
              <a:rPr lang="zh-CN" altLang="en-US" sz="2800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任务环境的性质</a:t>
            </a:r>
            <a:r>
              <a:rPr lang="zh-CN" altLang="en-US" sz="2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：变化的，完全可观察的？确定性的？片段式的？静态的？离散的？单智能体的？</a:t>
            </a:r>
            <a:endParaRPr lang="zh-CN" altLang="en-US" sz="2800" b="1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1"/>
          <p:cNvSpPr>
            <a:spLocks noGrp="1"/>
          </p:cNvSpPr>
          <p:nvPr>
            <p:ph type="title" idx="4294967295"/>
          </p:nvPr>
        </p:nvSpPr>
        <p:spPr>
          <a:xfrm>
            <a:off x="1825625" y="381000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>
              <a:buClrTx/>
              <a:buSzTx/>
              <a:buFontTx/>
            </a:pP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小结（续）</a:t>
            </a:r>
            <a:endParaRPr lang="zh-CN" altLang="en-US" kern="1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1987" name="内容占位符 2"/>
          <p:cNvSpPr>
            <a:spLocks noGrp="1"/>
          </p:cNvSpPr>
          <p:nvPr>
            <p:ph idx="4294967295"/>
          </p:nvPr>
        </p:nvSpPr>
        <p:spPr>
          <a:xfrm>
            <a:off x="908050" y="1677035"/>
            <a:ext cx="10778490" cy="4270375"/>
          </a:xfrm>
          <a:noFill/>
          <a:ln w="9525">
            <a:noFill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 defTabSz="914400">
              <a:buSzTx/>
            </a:pPr>
            <a:r>
              <a:rPr lang="zh-CN" altLang="en-US" sz="2800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智能体程序</a:t>
            </a:r>
            <a:r>
              <a:rPr lang="zh-CN" altLang="en-US" sz="2800" b="1" kern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智能体函数的实现</a:t>
            </a:r>
            <a:endParaRPr lang="zh-CN" altLang="en-US" sz="2800" b="1" kern="1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 defTabSz="914400">
              <a:buSzTx/>
            </a:pPr>
            <a:r>
              <a:rPr lang="zh-CN" altLang="en-US" sz="2800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简单反射型智能体</a:t>
            </a:r>
            <a:r>
              <a:rPr lang="zh-CN" altLang="en-US" sz="2800" b="1" kern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直接对感知信息作出反应</a:t>
            </a:r>
            <a:endParaRPr lang="zh-CN" altLang="en-US" sz="2800" b="1" kern="1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 defTabSz="914400">
              <a:buSzTx/>
            </a:pPr>
            <a:r>
              <a:rPr lang="zh-CN" altLang="en-US" sz="2800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基于模型的反射智能</a:t>
            </a:r>
            <a:r>
              <a:rPr lang="zh-CN" altLang="en-US" sz="2800" b="1" kern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体保持内部状态，追踪记录当前感知信息中不明显的世界信息。</a:t>
            </a:r>
            <a:endParaRPr lang="zh-CN" altLang="en-US" sz="2800" b="1" kern="1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 defTabSz="914400">
              <a:buSzTx/>
            </a:pPr>
            <a:r>
              <a:rPr lang="zh-CN" altLang="en-US" sz="2800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基于目标的智能体</a:t>
            </a:r>
            <a:r>
              <a:rPr lang="zh-CN" altLang="en-US" sz="2800" b="1" kern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的行动为了达到目标，</a:t>
            </a:r>
            <a:endParaRPr lang="zh-CN" altLang="en-US" sz="2800" b="1" kern="1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 defTabSz="914400">
              <a:buSzTx/>
            </a:pPr>
            <a:r>
              <a:rPr lang="zh-CN" altLang="en-US" sz="2800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基于效用的智能体</a:t>
            </a:r>
            <a:r>
              <a:rPr lang="zh-CN" altLang="en-US" sz="2800" b="1" kern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试图最大化自己期望的“快乐”</a:t>
            </a:r>
            <a:endParaRPr lang="zh-CN" altLang="en-US" sz="2800" b="1" kern="1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 defTabSz="914400">
              <a:buSzTx/>
            </a:pPr>
            <a:r>
              <a:rPr lang="zh-CN" altLang="en-US" sz="2800" b="1" kern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所有智能体都可以通过</a:t>
            </a:r>
            <a:r>
              <a:rPr lang="zh-CN" altLang="en-US" sz="2800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学习</a:t>
            </a:r>
            <a:r>
              <a:rPr lang="zh-CN" altLang="en-US" sz="2800" b="1" kern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来改进其性能</a:t>
            </a:r>
            <a:endParaRPr lang="zh-CN" altLang="en-US" sz="2800" b="1" kern="1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1"/>
          <p:cNvSpPr>
            <a:spLocks noGrp="1"/>
          </p:cNvSpPr>
          <p:nvPr>
            <p:ph type="title" idx="4294967295"/>
          </p:nvPr>
        </p:nvSpPr>
        <p:spPr>
          <a:xfrm>
            <a:off x="4939393" y="254366"/>
            <a:ext cx="5369832" cy="846365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>
              <a:buClrTx/>
              <a:buSzTx/>
              <a:buFontTx/>
            </a:pPr>
            <a:r>
              <a:rPr lang="zh-CN" altLang="en-US" b="1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作  业</a:t>
            </a:r>
            <a:endParaRPr lang="zh-CN" altLang="en-US" b="1" kern="1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43014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8575" y="1428750"/>
            <a:ext cx="8582025" cy="20002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3011" name="内容占位符 2"/>
          <p:cNvSpPr>
            <a:spLocks noGrp="1"/>
          </p:cNvSpPr>
          <p:nvPr>
            <p:ph idx="4294967295"/>
            <p:custDataLst>
              <p:tags r:id="rId2"/>
            </p:custDataLst>
          </p:nvPr>
        </p:nvSpPr>
        <p:spPr>
          <a:xfrm>
            <a:off x="323215" y="402599"/>
            <a:ext cx="3004820" cy="549901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anchor="t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 defTabSz="914400">
              <a:buSzTx/>
            </a:pPr>
            <a:r>
              <a:rPr lang="en-US" altLang="zh-CN" sz="2000" b="1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习题2.3</a:t>
            </a:r>
            <a:endParaRPr lang="en-US" altLang="zh-CN" sz="2000" b="1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7"/>
  <p:tag name="KSO_WM_UNIT_LAYERLEVEL" val="1"/>
  <p:tag name="KSO_WM_TAG_VERSION" val="1.0"/>
  <p:tag name="KSO_WM_BEAUTIFY_FLAG" val="#wm#"/>
  <p:tag name="KSO_WM_UNIT_TYPE" val="y"/>
  <p:tag name="KSO_WM_UNIT_INDEX" val="7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UNIT_TYPE" val="y"/>
  <p:tag name="KSO_WM_UNIT_INDEX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2"/>
  <p:tag name="KSO_WM_UNIT_LAYERLEVEL" val="1"/>
  <p:tag name="KSO_WM_TAG_VERSION" val="1.0"/>
  <p:tag name="KSO_WM_BEAUTIFY_FLAG" val="#wm#"/>
  <p:tag name="KSO_WM_UNIT_TYPE" val="y"/>
  <p:tag name="KSO_WM_UNIT_INDEX" val="2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3"/>
  <p:tag name="KSO_WM_UNIT_LAYERLEVEL" val="1"/>
  <p:tag name="KSO_WM_TAG_VERSION" val="1.0"/>
  <p:tag name="KSO_WM_BEAUTIFY_FLAG" val="#wm#"/>
  <p:tag name="KSO_WM_UNIT_TYPE" val="y"/>
  <p:tag name="KSO_WM_UNIT_INDEX" val="3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4"/>
  <p:tag name="KSO_WM_UNIT_LAYERLEVEL" val="1"/>
  <p:tag name="KSO_WM_TAG_VERSION" val="1.0"/>
  <p:tag name="KSO_WM_BEAUTIFY_FLAG" val="#wm#"/>
  <p:tag name="KSO_WM_UNIT_TYPE" val="y"/>
  <p:tag name="KSO_WM_UNIT_INDEX" val="4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5"/>
  <p:tag name="KSO_WM_UNIT_LAYERLEVEL" val="1"/>
  <p:tag name="KSO_WM_TAG_VERSION" val="1.0"/>
  <p:tag name="KSO_WM_BEAUTIFY_FLAG" val="#wm#"/>
  <p:tag name="KSO_WM_UNIT_TYPE" val="y"/>
  <p:tag name="KSO_WM_UNIT_INDEX" val="5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6"/>
  <p:tag name="KSO_WM_UNIT_LAYERLEVEL" val="1"/>
  <p:tag name="KSO_WM_TAG_VERSION" val="1.0"/>
  <p:tag name="KSO_WM_BEAUTIFY_FLAG" val="#wm#"/>
  <p:tag name="KSO_WM_UNIT_TYPE" val="y"/>
  <p:tag name="KSO_WM_UNIT_INDEX" val="6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BK_DARK_LIGHT" val="2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</p:tagLst>
</file>

<file path=ppt/tags/tag8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2"/>
  <p:tag name="KSO_WM_UNIT_BK_DARK_LIGHT" val="2"/>
</p:tagLst>
</file>

<file path=ppt/tags/tag9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2"/>
  <p:tag name="KSO_WM_UNIT_BK_DARK_LIGHT" val="2"/>
</p:tagLst>
</file>

<file path=ppt/tags/tag10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2"/>
  <p:tag name="KSO_WM_UNIT_BK_DARK_LIGHT" val="2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6915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6915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6915"/>
  <p:tag name="KSO_WM_TEMPLATE_MASTER_THUMB_INDEX" val="12"/>
  <p:tag name="KSO_WM_TEMPLATE_THUMBS_INDEX" val="1、4、7、8、10、11、12、13、15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7"/>
  <p:tag name="KSO_WM_UNIT_LAYERLEVEL" val="1"/>
  <p:tag name="KSO_WM_TAG_VERSION" val="1.0"/>
  <p:tag name="KSO_WM_BEAUTIFY_FLAG" val="#wm#"/>
  <p:tag name="KSO_WM_UNIT_TYPE" val="y"/>
  <p:tag name="KSO_WM_UNIT_INDEX" val="7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UNIT_TYPE" val="y"/>
  <p:tag name="KSO_WM_UNIT_INDEX" val="1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2"/>
  <p:tag name="KSO_WM_UNIT_LAYERLEVEL" val="1"/>
  <p:tag name="KSO_WM_TAG_VERSION" val="1.0"/>
  <p:tag name="KSO_WM_BEAUTIFY_FLAG" val="#wm#"/>
  <p:tag name="KSO_WM_UNIT_TYPE" val="y"/>
  <p:tag name="KSO_WM_UNIT_INDEX" val="2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3"/>
  <p:tag name="KSO_WM_UNIT_LAYERLEVEL" val="1"/>
  <p:tag name="KSO_WM_TAG_VERSION" val="1.0"/>
  <p:tag name="KSO_WM_BEAUTIFY_FLAG" val="#wm#"/>
  <p:tag name="KSO_WM_UNIT_TYPE" val="y"/>
  <p:tag name="KSO_WM_UNIT_INDEX" val="3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4"/>
  <p:tag name="KSO_WM_UNIT_LAYERLEVEL" val="1"/>
  <p:tag name="KSO_WM_TAG_VERSION" val="1.0"/>
  <p:tag name="KSO_WM_BEAUTIFY_FLAG" val="#wm#"/>
  <p:tag name="KSO_WM_UNIT_TYPE" val="y"/>
  <p:tag name="KSO_WM_UNIT_INDEX" val="4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5"/>
  <p:tag name="KSO_WM_UNIT_LAYERLEVEL" val="1"/>
  <p:tag name="KSO_WM_TAG_VERSION" val="1.0"/>
  <p:tag name="KSO_WM_BEAUTIFY_FLAG" val="#wm#"/>
  <p:tag name="KSO_WM_UNIT_TYPE" val="y"/>
  <p:tag name="KSO_WM_UNIT_INDEX" val="5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6"/>
  <p:tag name="KSO_WM_UNIT_LAYERLEVEL" val="1"/>
  <p:tag name="KSO_WM_TAG_VERSION" val="1.0"/>
  <p:tag name="KSO_WM_BEAUTIFY_FLAG" val="#wm#"/>
  <p:tag name="KSO_WM_UNIT_TYPE" val="y"/>
  <p:tag name="KSO_WM_UNIT_INDEX" val="6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BK_DARK_LIGHT" val="2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</p:tagLst>
</file>

<file path=ppt/tags/tag21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2"/>
  <p:tag name="KSO_WM_UNIT_BK_DARK_LIGHT" val="2"/>
</p:tagLst>
</file>

<file path=ppt/tags/tag22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2"/>
  <p:tag name="KSO_WM_UNIT_BK_DARK_LIGHT" val="2"/>
</p:tagLst>
</file>

<file path=ppt/tags/tag22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2"/>
  <p:tag name="KSO_WM_UNIT_BK_DARK_LIGHT" val="2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6915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6915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6915"/>
  <p:tag name="KSO_WM_TEMPLATE_MASTER_THUMB_INDEX" val="12"/>
  <p:tag name="KSO_WM_TEMPLATE_THUMBS_INDEX" val="1、4、7、8、10、11、12、13、15"/>
</p:tagLst>
</file>

<file path=ppt/tags/tag25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6915_1*a*1"/>
  <p:tag name="KSO_WM_TEMPLATE_CATEGORY" val="custom"/>
  <p:tag name="KSO_WM_TEMPLATE_INDEX" val="20206915"/>
  <p:tag name="KSO_WM_UNIT_LAYERLEVEL" val="1"/>
  <p:tag name="KSO_WM_TAG_VERSION" val="1.0"/>
  <p:tag name="KSO_WM_BEAUTIFY_FLAG" val="#wm#"/>
  <p:tag name="KSO_WM_UNIT_PRESET_TEXT" val="空白演示经典风格"/>
</p:tagLst>
</file>

<file path=ppt/tags/tag258.xml><?xml version="1.0" encoding="utf-8"?>
<p:tagLst xmlns:p="http://schemas.openxmlformats.org/presentationml/2006/main"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06915_1*f*1"/>
  <p:tag name="KSO_WM_TEMPLATE_CATEGORY" val="custom"/>
  <p:tag name="KSO_WM_TEMPLATE_INDEX" val="20206915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演讲者："/>
  <p:tag name="KSO_WM_UNIT_SUBTYPE" val="b"/>
  <p:tag name="KSO_WM_UNIT_TEXT_FILL_FORE_SCHEMECOLOR_INDEX_BRIGHTNESS" val="0"/>
  <p:tag name="KSO_WM_UNIT_TEXT_FILL_FORE_SCHEMECOLOR_INDEX" val="5"/>
  <p:tag name="KSO_WM_UNIT_TEXT_FILL_TYPE" val="1"/>
</p:tagLst>
</file>

<file path=ppt/tags/tag259.xml><?xml version="1.0" encoding="utf-8"?>
<p:tagLst xmlns:p="http://schemas.openxmlformats.org/presentationml/2006/main">
  <p:tag name="KSO_WM_SLIDE_ID" val="custom20206915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6915"/>
  <p:tag name="KSO_WM_SLIDE_LAYOUT" val="a_b_f"/>
  <p:tag name="KSO_WM_SLIDE_LAYOUT_CNT" val="1_1_1"/>
  <p:tag name="KSO_WM_TEMPLATE_MASTER_THUMB_INDEX" val="12"/>
  <p:tag name="KSO_WM_TEMPLATE_THUMBS_INDEX" val="1、4、7、8、10、11、12、13、15"/>
</p:tagLst>
</file>

<file path=ppt/tags/tag260.xml><?xml version="1.0" encoding="utf-8"?>
<p:tagLst xmlns:p="http://schemas.openxmlformats.org/presentationml/2006/main">
  <p:tag name="KSO_WM_TEMPLATE_CATEGORY" val="custom"/>
  <p:tag name="KSO_WM_TEMPLATE_INDEX" val="20204177"/>
</p:tagLst>
</file>

<file path=ppt/tags/tag261.xml><?xml version="1.0" encoding="utf-8"?>
<p:tagLst xmlns:p="http://schemas.openxmlformats.org/presentationml/2006/main">
  <p:tag name="KSO_WM_TEMPLATE_CATEGORY" val="custom"/>
  <p:tag name="KSO_WM_TEMPLATE_INDEX" val="20204177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fb2726db-fd24-4f18-a5f2-d915a28d6e4b}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1b60ecfa-d32f-4b2a-931b-f29cdcb2d4bc}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64.xml><?xml version="1.0" encoding="utf-8"?>
<p:tagLst xmlns:p="http://schemas.openxmlformats.org/presentationml/2006/main">
  <p:tag name="KSO_WM_SLIDE_BK_DARK_LIGHT" val=""/>
  <p:tag name="KSO_WM_SLIDE_BACKGROUND_TYPE" val="general"/>
</p:tagLst>
</file>

<file path=ppt/tags/tag265.xml><?xml version="1.0" encoding="utf-8"?>
<p:tagLst xmlns:p="http://schemas.openxmlformats.org/presentationml/2006/main">
  <p:tag name="KSO_WM_UNIT_TABLE_BEAUTIFY" val="smartTable{ac6e157a-362b-4770-9222-ddb1c62857d9}"/>
  <p:tag name="TABLE_ENDDRAG_ORIGIN_RECT" val="334*127"/>
  <p:tag name="TABLE_ENDDRAG_RECT" val="63*195*334*127"/>
  <p:tag name="TABLE_RECT" val="68.0077*195.717*363.15*300.1"/>
  <p:tag name="TABLE_EMPHASIZE_COLOR" val="6579300"/>
  <p:tag name="TABLE_ONEKEY_SKIN_IDX" val="0"/>
  <p:tag name="TABLE_SKINIDX" val="-1"/>
  <p:tag name="TABLE_COLORIDX" val="l"/>
</p:tagLst>
</file>

<file path=ppt/tags/tag266.xml><?xml version="1.0" encoding="utf-8"?>
<p:tagLst xmlns:p="http://schemas.openxmlformats.org/presentationml/2006/main">
  <p:tag name="KSO_WM_UNIT_TABLE_BEAUTIFY" val="smartTable{55dbae27-9999-4da6-92dc-b59ebe30e22b}"/>
  <p:tag name="TABLE_RECT" val="571.042*195.867*312.3*289.4"/>
  <p:tag name="TABLE_EMPHASIZE_COLOR" val="6579300"/>
  <p:tag name="TABLE_ONEKEY_SKIN_IDX" val="0"/>
  <p:tag name="TABLE_SKINIDX" val="-1"/>
  <p:tag name="TABLE_COLORIDX" val="l"/>
  <p:tag name="TABLE_ENDDRAG_ORIGIN_RECT" val="312*263"/>
  <p:tag name="TABLE_ENDDRAG_RECT" val="557*188*312*263"/>
</p:tagLst>
</file>

<file path=ppt/tags/tag267.xml><?xml version="1.0" encoding="utf-8"?>
<p:tagLst xmlns:p="http://schemas.openxmlformats.org/presentationml/2006/main">
  <p:tag name="KSO_WM_SLIDE_BK_DARK_LIGHT" val=""/>
  <p:tag name="KSO_WM_SLIDE_BACKGROUND_TYPE" val="general"/>
</p:tagLst>
</file>

<file path=ppt/tags/tag268.xml><?xml version="1.0" encoding="utf-8"?>
<p:tagLst xmlns:p="http://schemas.openxmlformats.org/presentationml/2006/main">
  <p:tag name="KSO_WM_UNIT_TABLE_BEAUTIFY" val="smartTable{55dbae27-9999-4da6-92dc-b59ebe30e22b}"/>
  <p:tag name="TABLE_RECT" val="147.563*79.15*324.15*381.7"/>
  <p:tag name="TABLE_EMPHASIZE_COLOR" val="6579300"/>
  <p:tag name="TABLE_ONEKEY_SKIN_IDX" val="0"/>
  <p:tag name="TABLE_SKINIDX" val="-1"/>
  <p:tag name="TABLE_COLORIDX" val="l"/>
  <p:tag name="TABLE_ENDDRAG_ORIGIN_RECT" val="367*246"/>
  <p:tag name="TABLE_ENDDRAG_RECT" val="563*65*367*246"/>
</p:tagLst>
</file>

<file path=ppt/tags/tag26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270.xml><?xml version="1.0" encoding="utf-8"?>
<p:tagLst xmlns:p="http://schemas.openxmlformats.org/presentationml/2006/main">
  <p:tag name="KSO_WM_TEMPLATE_CATEGORY" val="custom"/>
  <p:tag name="KSO_WM_TEMPLATE_INDEX" val="20204177"/>
</p:tagLst>
</file>

<file path=ppt/tags/tag271.xml><?xml version="1.0" encoding="utf-8"?>
<p:tagLst xmlns:p="http://schemas.openxmlformats.org/presentationml/2006/main">
  <p:tag name="KSO_WM_UNIT_TABLE_BEAUTIFY" val="smartTable{55dbae27-9999-4da6-92dc-b59ebe30e22b}"/>
  <p:tag name="TABLE_RECT" val="147.563*79.15*324.15*381.7"/>
  <p:tag name="TABLE_EMPHASIZE_COLOR" val="6579300"/>
  <p:tag name="TABLE_ONEKEY_SKIN_IDX" val="0"/>
  <p:tag name="TABLE_SKINIDX" val="-1"/>
  <p:tag name="TABLE_COLORIDX" val="l"/>
  <p:tag name="TABLE_ENDDRAG_ORIGIN_RECT" val="367*246"/>
  <p:tag name="TABLE_ENDDRAG_RECT" val="563*65*367*246"/>
</p:tagLst>
</file>

<file path=ppt/tags/tag272.xml><?xml version="1.0" encoding="utf-8"?>
<p:tagLst xmlns:p="http://schemas.openxmlformats.org/presentationml/2006/main">
  <p:tag name="KSO_WM_BEAUTIFY_FLAG" val="#wm#"/>
  <p:tag name="KSO_WM_TEMPLATE_CATEGORY" val="custom"/>
  <p:tag name="KSO_WM_TEMPLATE_INDEX" val="20204177"/>
</p:tagLst>
</file>

<file path=ppt/tags/tag273.xml><?xml version="1.0" encoding="utf-8"?>
<p:tagLst xmlns:p="http://schemas.openxmlformats.org/presentationml/2006/main">
  <p:tag name="KSO_WM_BEAUTIFY_FLAG" val="#wm#"/>
  <p:tag name="KSO_WM_TEMPLATE_CATEGORY" val="custom"/>
  <p:tag name="KSO_WM_TEMPLATE_INDEX" val="20204177"/>
</p:tagLst>
</file>

<file path=ppt/tags/tag274.xml><?xml version="1.0" encoding="utf-8"?>
<p:tagLst xmlns:p="http://schemas.openxmlformats.org/presentationml/2006/main">
  <p:tag name="KSO_WM_UNIT_TABLE_BEAUTIFY" val="smartTable{578178d0-a38a-4ab6-8368-a5cadd9bff81}"/>
</p:tagLst>
</file>

<file path=ppt/tags/tag275.xml><?xml version="1.0" encoding="utf-8"?>
<p:tagLst xmlns:p="http://schemas.openxmlformats.org/presentationml/2006/main">
  <p:tag name="KSO_WM_UNIT_TEXT_FILL_FORE_SCHEMECOLOR_INDEX_BRIGHTNESS" val="0"/>
  <p:tag name="KSO_WM_UNIT_TEXT_FILL_FORE_SCHEMECOLOR_INDEX" val="15"/>
  <p:tag name="KSO_WM_UNIT_TEXT_FILL_TYPE" val="1"/>
</p:tagLst>
</file>

<file path=ppt/tags/tag276.xml><?xml version="1.0" encoding="utf-8"?>
<p:tagLst xmlns:p="http://schemas.openxmlformats.org/presentationml/2006/main">
  <p:tag name="KSO_WM_SLIDE_BK_DARK_LIGHT" val=""/>
  <p:tag name="KSO_WM_SLIDE_BACKGROUND_TYPE" val="general"/>
</p:tagLst>
</file>

<file path=ppt/tags/tag277.xml><?xml version="1.0" encoding="utf-8"?>
<p:tagLst xmlns:p="http://schemas.openxmlformats.org/presentationml/2006/main">
  <p:tag name="KSO_WM_UNIT_TEXTBOXSTYLE_SHAPETYPE" val="0"/>
  <p:tag name="KSO_WM_UNIT_HIGHLIGHT" val="0"/>
  <p:tag name="KSO_WM_UNIT_COMPATIBLE" val="0"/>
  <p:tag name="KSO_WM_UNIT_DIAGRAM_ISNUMVISUAL" val="0"/>
  <p:tag name="KSO_WM_UNIT_DIAGRAM_ISREFERUNIT" val="0"/>
  <p:tag name="KSO_WM_UNIT_ID" val="mixed20202316_1*f*1"/>
  <p:tag name="KSO_WM_TEMPLATE_CATEGORY" val="mixed"/>
  <p:tag name="KSO_WM_TEMPLATE_INDEX" val="20202316"/>
  <p:tag name="KSO_WM_UNIT_LAYERLEVEL" val="1"/>
  <p:tag name="KSO_WM_TAG_VERSION" val="1.0"/>
  <p:tag name="KSO_WM_BEAUTIFY_FLAG" val="#wm#"/>
  <p:tag name="KSO_WM_UNIT_TEXTBOXSTYLE_TEMPLATETYPE" val="8"/>
  <p:tag name="KSO_WM_UNIT_PRESET_TEXT" val="我们能实现，图文排版，让我们能实现，图文排版，让图图片&#10;您的正文已经经简明扼要，字字珠玑。&#10;您的正文已经经简明扼要，字字珠玑。&#10;您的正文已经经简明扼要，字字珠玑。&#10;您的正文已经经简明扼要，字字珠玑。&#10;我们能实现，图文排版，让我们能实现，图文排版，让图图片"/>
  <p:tag name="KSO_WM_UNIT_NOCLEAR" val="1"/>
  <p:tag name="KSO_WM_UNIT_VALUE" val="252"/>
  <p:tag name="KSO_WM_UNIT_TYPE" val="f"/>
  <p:tag name="KSO_WM_UNIT_INDEX" val="1"/>
  <p:tag name="KSO_WM_UNIT_TEXTBOXSTYLE_GUID" val="{d9c62e3f-a680-4c0e-a6f0-44e21eb980be}"/>
  <p:tag name="KSO_WM_UNIT_TEXTBOXSTYLE_TEMPLATEID" val="3139430"/>
  <p:tag name="KSO_WM_UNIT_TEXTBOXSTYLE_TYPE" val="8"/>
</p:tagLst>
</file>

<file path=ppt/tags/tag278.xml><?xml version="1.0" encoding="utf-8"?>
<p:tagLst xmlns:p="http://schemas.openxmlformats.org/presentationml/2006/main">
  <p:tag name="PA" val="v5.2.7"/>
  <p:tag name="PAMAINTYPE" val="4"/>
  <p:tag name="PATYPE" val="176"/>
  <p:tag name="PASUBTYPE" val="285"/>
  <p:tag name="RESOURCELIBID_SHAPE" val="283582"/>
  <p:tag name="RESOURCELIB_SHAPETYPE" val="4"/>
  <p:tag name="KSO_WM_UNIT_TEXTBOXSTYLE_SHAPETYPE" val="1"/>
  <p:tag name="KSO_WM_UNIT_TEXTBOXSTYLE_DECORATEINDEX" val="1"/>
  <p:tag name="KSO_WM_UNIT_TEXTBOXSTYLE_GUID" val="{d9c62e3f-a680-4c0e-a6f0-44e21eb980be}"/>
  <p:tag name="KSO_WM_UNIT_TEXTBOXSTYLE_TEMPLATEID" val="3140539"/>
</p:tagLst>
</file>

<file path=ppt/tags/tag279.xml><?xml version="1.0" encoding="utf-8"?>
<p:tagLst xmlns:p="http://schemas.openxmlformats.org/presentationml/2006/main">
  <p:tag name="PA" val="v5.2.7"/>
</p:tagLst>
</file>

<file path=ppt/tags/tag280.xml><?xml version="1.0" encoding="utf-8"?>
<p:tagLst xmlns:p="http://schemas.openxmlformats.org/presentationml/2006/main">
  <p:tag name="PA" val="v5.2.7"/>
</p:tagLst>
</file>

<file path=ppt/tags/tag281.xml><?xml version="1.0" encoding="utf-8"?>
<p:tagLst xmlns:p="http://schemas.openxmlformats.org/presentationml/2006/main">
  <p:tag name="PA" val="v5.2.7"/>
</p:tagLst>
</file>

<file path=ppt/tags/tag282.xml><?xml version="1.0" encoding="utf-8"?>
<p:tagLst xmlns:p="http://schemas.openxmlformats.org/presentationml/2006/main">
  <p:tag name="PA" val="v5.2.7"/>
  <p:tag name="PAMAINTYPE" val="4"/>
  <p:tag name="PATYPE" val="159"/>
  <p:tag name="PASUBTYPE" val="162"/>
  <p:tag name="RESOURCELIBID_SHAPE" val="534009"/>
  <p:tag name="RESOURCELIB_SHAPETYPE" val="4"/>
  <p:tag name="KSO_WM_UNIT_TEXTBOXSTYLE_SHAPETYPE" val="1"/>
  <p:tag name="KSO_WM_UNIT_TEXTBOXSTYLE_DECORATEINDEX" val="2"/>
  <p:tag name="KSO_WM_UNIT_TEXTBOXSTYLE_GUID" val="{d9c62e3f-a680-4c0e-a6f0-44e21eb980be}"/>
  <p:tag name="KSO_WM_UNIT_TEXTBOXSTYLE_TEMPLATEID" val="3140274"/>
</p:tagLst>
</file>

<file path=ppt/tags/tag283.xml><?xml version="1.0" encoding="utf-8"?>
<p:tagLst xmlns:p="http://schemas.openxmlformats.org/presentationml/2006/main">
  <p:tag name="PA" val="v5.2.7"/>
</p:tagLst>
</file>

<file path=ppt/tags/tag284.xml><?xml version="1.0" encoding="utf-8"?>
<p:tagLst xmlns:p="http://schemas.openxmlformats.org/presentationml/2006/main">
  <p:tag name="PA" val="v5.2.7"/>
</p:tagLst>
</file>

<file path=ppt/tags/tag285.xml><?xml version="1.0" encoding="utf-8"?>
<p:tagLst xmlns:p="http://schemas.openxmlformats.org/presentationml/2006/main">
  <p:tag name="PA" val="v5.2.7"/>
</p:tagLst>
</file>

<file path=ppt/tags/tag286.xml><?xml version="1.0" encoding="utf-8"?>
<p:tagLst xmlns:p="http://schemas.openxmlformats.org/presentationml/2006/main">
  <p:tag name="PA" val="v5.2.7"/>
</p:tagLst>
</file>

<file path=ppt/tags/tag287.xml><?xml version="1.0" encoding="utf-8"?>
<p:tagLst xmlns:p="http://schemas.openxmlformats.org/presentationml/2006/main">
  <p:tag name="PA" val="v5.2.7"/>
</p:tagLst>
</file>

<file path=ppt/tags/tag288.xml><?xml version="1.0" encoding="utf-8"?>
<p:tagLst xmlns:p="http://schemas.openxmlformats.org/presentationml/2006/main">
  <p:tag name="PA" val="v5.2.7"/>
</p:tagLst>
</file>

<file path=ppt/tags/tag289.xml><?xml version="1.0" encoding="utf-8"?>
<p:tagLst xmlns:p="http://schemas.openxmlformats.org/presentationml/2006/main">
  <p:tag name="PA" val="v5.2.7"/>
</p:tagLst>
</file>

<file path=ppt/tags/tag290.xml><?xml version="1.0" encoding="utf-8"?>
<p:tagLst xmlns:p="http://schemas.openxmlformats.org/presentationml/2006/main">
  <p:tag name="PA" val="v5.2.7"/>
</p:tagLst>
</file>

<file path=ppt/tags/tag291.xml><?xml version="1.0" encoding="utf-8"?>
<p:tagLst xmlns:p="http://schemas.openxmlformats.org/presentationml/2006/main">
  <p:tag name="PA" val="v5.2.7"/>
</p:tagLst>
</file>

<file path=ppt/tags/tag292.xml><?xml version="1.0" encoding="utf-8"?>
<p:tagLst xmlns:p="http://schemas.openxmlformats.org/presentationml/2006/main">
  <p:tag name="PA" val="v5.2.7"/>
</p:tagLst>
</file>

<file path=ppt/tags/tag293.xml><?xml version="1.0" encoding="utf-8"?>
<p:tagLst xmlns:p="http://schemas.openxmlformats.org/presentationml/2006/main">
  <p:tag name="PA" val="v5.2.7"/>
  <p:tag name="PAMAINTYPE" val="4"/>
  <p:tag name="PATYPE" val="163"/>
  <p:tag name="PASUBTYPE" val="166"/>
  <p:tag name="RESOURCELIBID_SHAPE" val="417409"/>
  <p:tag name="RESOURCELIB_SHAPETYPE" val="4"/>
  <p:tag name="KSO_WM_UNIT_TEXTBOXSTYLE_SHAPETYPE" val="1"/>
  <p:tag name="KSO_WM_UNIT_TEXTBOXSTYLE_DECORATEINDEX" val="3"/>
  <p:tag name="KSO_WM_UNIT_TEXTBOXSTYLE_GUID" val="{d9c62e3f-a680-4c0e-a6f0-44e21eb980be}"/>
  <p:tag name="KSO_WM_UNIT_TEXTBOXSTYLE_TEMPLATEID" val="3139560"/>
</p:tagLst>
</file>

<file path=ppt/tags/tag294.xml><?xml version="1.0" encoding="utf-8"?>
<p:tagLst xmlns:p="http://schemas.openxmlformats.org/presentationml/2006/main">
  <p:tag name="KSO_WM_SLIDE_BK_DARK_LIGHT" val=""/>
  <p:tag name="KSO_WM_SLIDE_BACKGROUND_TYPE" val="general"/>
</p:tagLst>
</file>

<file path=ppt/tags/tag29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96.xml><?xml version="1.0" encoding="utf-8"?>
<p:tagLst xmlns:p="http://schemas.openxmlformats.org/presentationml/2006/main">
  <p:tag name="KSO_WM_SLIDE_BK_DARK_LIGHT" val=""/>
  <p:tag name="KSO_WM_SLIDE_BACKGROUND_TYPE" val="general"/>
</p:tagLst>
</file>

<file path=ppt/tags/tag297.xml><?xml version="1.0" encoding="utf-8"?>
<p:tagLst xmlns:p="http://schemas.openxmlformats.org/presentationml/2006/main">
  <p:tag name="KSO_WM_TEMPLATE_CATEGORY" val="custom"/>
  <p:tag name="KSO_WM_TEMPLATE_INDEX" val="20204177"/>
</p:tagLst>
</file>

<file path=ppt/tags/tag29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9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0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0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0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0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04.xml><?xml version="1.0" encoding="utf-8"?>
<p:tagLst xmlns:p="http://schemas.openxmlformats.org/presentationml/2006/main">
  <p:tag name="KSO_WM_SLIDE_BK_DARK_LIGHT" val=""/>
  <p:tag name="KSO_WM_SLIDE_BACKGROUND_TYPE" val="general"/>
</p:tagLst>
</file>

<file path=ppt/tags/tag30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06.xml><?xml version="1.0" encoding="utf-8"?>
<p:tagLst xmlns:p="http://schemas.openxmlformats.org/presentationml/2006/main">
  <p:tag name="KSO_WM_SLIDE_BK_DARK_LIGHT" val=""/>
  <p:tag name="KSO_WM_SLIDE_BACKGROUND_TYPE" val="general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ca4b60b3-9e36-4609-8a31-7f36e559de4e}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08.xml><?xml version="1.0" encoding="utf-8"?>
<p:tagLst xmlns:p="http://schemas.openxmlformats.org/presentationml/2006/main">
  <p:tag name="KSO_WM_SLIDE_BK_DARK_LIGHT" val=""/>
  <p:tag name="KSO_WM_SLIDE_BACKGROUND_TYPE" val="general"/>
</p:tagLst>
</file>

<file path=ppt/tags/tag309.xml><?xml version="1.0" encoding="utf-8"?>
<p:tagLst xmlns:p="http://schemas.openxmlformats.org/presentationml/2006/main">
  <p:tag name="KSO_WM_TEMPLATE_CATEGORY" val="custom"/>
  <p:tag name="KSO_WM_TEMPLATE_INDEX" val="20204177"/>
</p:tagLst>
</file>

<file path=ppt/tags/tag31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11.xml><?xml version="1.0" encoding="utf-8"?>
<p:tagLst xmlns:p="http://schemas.openxmlformats.org/presentationml/2006/main">
  <p:tag name="KSO_WM_SLIDE_BK_DARK_LIGHT" val=""/>
  <p:tag name="KSO_WM_SLIDE_BACKGROUND_TYPE" val="general"/>
</p:tagLst>
</file>

<file path=ppt/tags/tag312.xml><?xml version="1.0" encoding="utf-8"?>
<p:tagLst xmlns:p="http://schemas.openxmlformats.org/presentationml/2006/main">
  <p:tag name="KSO_WM_TEMPLATE_CATEGORY" val="diagram"/>
  <p:tag name="KSO_WM_TEMPLATE_INDEX" val="160075"/>
  <p:tag name="KSO_WM_UNIT_TYPE" val="n_h_a"/>
  <p:tag name="KSO_WM_UNIT_INDEX" val="1_2_1"/>
  <p:tag name="KSO_WM_UNIT_ID" val="diagram160075_3*n_h_a*1_2_1"/>
  <p:tag name="KSO_WM_UNIT_LAYERLEVEL" val="1_1_1"/>
  <p:tag name="KSO_WM_UNIT_VALUE" val="36"/>
  <p:tag name="KSO_WM_UNIT_HIGHLIGHT" val="0"/>
  <p:tag name="KSO_WM_UNIT_COMPATIBLE" val="0"/>
  <p:tag name="KSO_WM_UNIT_CLEAR" val="0"/>
  <p:tag name="KSO_WM_UNIT_PRESET_TEXT_INDEX" val="3"/>
  <p:tag name="KSO_WM_BEAUTIFY_FLAG" val="#wm#"/>
  <p:tag name="KSO_WM_TAG_VERSION" val="1.0"/>
  <p:tag name="KSO_WM_UNIT_PRESET_TEXT_LEN" val="17"/>
  <p:tag name="KSO_WM_DIAGRAM_GROUP_CODE" val="n1-1"/>
  <p:tag name="KSO_WM_UNIT_TEXT_FILL_FORE_SCHEMECOLOR_INDEX" val="15"/>
  <p:tag name="KSO_WM_UNIT_TEXT_FILL_TYPE" val="1"/>
  <p:tag name="KSO_WM_UNIT_USESOURCEFORMAT_APPLY" val="0"/>
</p:tagLst>
</file>

<file path=ppt/tags/tag313.xml><?xml version="1.0" encoding="utf-8"?>
<p:tagLst xmlns:p="http://schemas.openxmlformats.org/presentationml/2006/main">
  <p:tag name="KSO_WM_TEMPLATE_CATEGORY" val="diagram"/>
  <p:tag name="KSO_WM_TEMPLATE_INDEX" val="160075"/>
  <p:tag name="KSO_WM_UNIT_TYPE" val="n_h_h_f"/>
  <p:tag name="KSO_WM_UNIT_INDEX" val="1_1_1_1"/>
  <p:tag name="KSO_WM_UNIT_ID" val="diagram160075_3*n_h_h_f*1_1_1_1"/>
  <p:tag name="KSO_WM_UNIT_LAYERLEVEL" val="1_1_1_1"/>
  <p:tag name="KSO_WM_UNIT_VALUE" val="12"/>
  <p:tag name="KSO_WM_UNIT_HIGHLIGHT" val="0"/>
  <p:tag name="KSO_WM_UNIT_COMPATIBLE" val="0"/>
  <p:tag name="KSO_WM_UNIT_CLEAR" val="0"/>
  <p:tag name="KSO_WM_UNIT_PRESET_TEXT_INDEX" val="4"/>
  <p:tag name="KSO_WM_BEAUTIFY_FLAG" val="#wm#"/>
  <p:tag name="KSO_WM_TAG_VERSION" val="1.0"/>
  <p:tag name="KSO_WM_UNIT_PRESET_TEXT_LEN" val="22"/>
  <p:tag name="KSO_WM_DIAGRAM_GROUP_CODE" val="n1-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0"/>
</p:tagLst>
</file>

<file path=ppt/tags/tag314.xml><?xml version="1.0" encoding="utf-8"?>
<p:tagLst xmlns:p="http://schemas.openxmlformats.org/presentationml/2006/main">
  <p:tag name="KSO_WM_TEMPLATE_CATEGORY" val="diagram"/>
  <p:tag name="KSO_WM_TEMPLATE_INDEX" val="160075"/>
  <p:tag name="KSO_WM_UNIT_TYPE" val="n_h_h_f"/>
  <p:tag name="KSO_WM_UNIT_INDEX" val="1_1_2_1"/>
  <p:tag name="KSO_WM_UNIT_ID" val="diagram160075_3*n_h_h_f*1_1_2_1"/>
  <p:tag name="KSO_WM_UNIT_LAYERLEVEL" val="1_1_1_1"/>
  <p:tag name="KSO_WM_UNIT_VALUE" val="12"/>
  <p:tag name="KSO_WM_UNIT_HIGHLIGHT" val="0"/>
  <p:tag name="KSO_WM_UNIT_COMPATIBLE" val="0"/>
  <p:tag name="KSO_WM_UNIT_CLEAR" val="0"/>
  <p:tag name="KSO_WM_UNIT_PRESET_TEXT_INDEX" val="4"/>
  <p:tag name="KSO_WM_BEAUTIFY_FLAG" val="#wm#"/>
  <p:tag name="KSO_WM_TAG_VERSION" val="1.0"/>
  <p:tag name="KSO_WM_UNIT_PRESET_TEXT_LEN" val="22"/>
  <p:tag name="KSO_WM_DIAGRAM_GROUP_CODE" val="n1-1"/>
  <p:tag name="KSO_WM_UNIT_FILL_FORE_SCHEMECOLOR_INDEX" val="6"/>
  <p:tag name="KSO_WM_UNIT_FILL_TYPE" val="1"/>
  <p:tag name="KSO_WM_UNIT_TEXT_FILL_FORE_SCHEMECOLOR_INDEX" val="14"/>
  <p:tag name="KSO_WM_UNIT_TEXT_FILL_TYPE" val="1"/>
  <p:tag name="KSO_WM_UNIT_USESOURCEFORMAT_APPLY" val="0"/>
</p:tagLst>
</file>

<file path=ppt/tags/tag315.xml><?xml version="1.0" encoding="utf-8"?>
<p:tagLst xmlns:p="http://schemas.openxmlformats.org/presentationml/2006/main">
  <p:tag name="KSO_WM_TEMPLATE_CATEGORY" val="diagram"/>
  <p:tag name="KSO_WM_TEMPLATE_INDEX" val="160075"/>
  <p:tag name="KSO_WM_UNIT_TYPE" val="n_h_h_f"/>
  <p:tag name="KSO_WM_UNIT_INDEX" val="1_1_3_1"/>
  <p:tag name="KSO_WM_UNIT_ID" val="diagram160075_3*n_h_h_f*1_1_3_1"/>
  <p:tag name="KSO_WM_UNIT_LAYERLEVEL" val="1_1_1_1"/>
  <p:tag name="KSO_WM_UNIT_VALUE" val="12"/>
  <p:tag name="KSO_WM_UNIT_HIGHLIGHT" val="0"/>
  <p:tag name="KSO_WM_UNIT_COMPATIBLE" val="0"/>
  <p:tag name="KSO_WM_UNIT_CLEAR" val="0"/>
  <p:tag name="KSO_WM_UNIT_PRESET_TEXT_INDEX" val="4"/>
  <p:tag name="KSO_WM_BEAUTIFY_FLAG" val="#wm#"/>
  <p:tag name="KSO_WM_TAG_VERSION" val="1.0"/>
  <p:tag name="KSO_WM_UNIT_PRESET_TEXT_LEN" val="22"/>
  <p:tag name="KSO_WM_DIAGRAM_GROUP_CODE" val="n1-1"/>
  <p:tag name="KSO_WM_UNIT_FILL_FORE_SCHEMECOLOR_INDEX" val="6"/>
  <p:tag name="KSO_WM_UNIT_FILL_TYPE" val="1"/>
  <p:tag name="KSO_WM_UNIT_TEXT_FILL_FORE_SCHEMECOLOR_INDEX" val="14"/>
  <p:tag name="KSO_WM_UNIT_TEXT_FILL_TYPE" val="1"/>
  <p:tag name="KSO_WM_UNIT_USESOURCEFORMAT_APPLY" val="0"/>
</p:tagLst>
</file>

<file path=ppt/tags/tag316.xml><?xml version="1.0" encoding="utf-8"?>
<p:tagLst xmlns:p="http://schemas.openxmlformats.org/presentationml/2006/main">
  <p:tag name="KSO_WM_TEMPLATE_CATEGORY" val="diagram"/>
  <p:tag name="KSO_WM_TEMPLATE_INDEX" val="160075"/>
  <p:tag name="KSO_WM_UNIT_TYPE" val="n_h_h_f"/>
  <p:tag name="KSO_WM_UNIT_INDEX" val="1_1_4_1"/>
  <p:tag name="KSO_WM_UNIT_ID" val="diagram160075_3*n_h_h_f*1_1_4_1"/>
  <p:tag name="KSO_WM_UNIT_LAYERLEVEL" val="1_1_1_1"/>
  <p:tag name="KSO_WM_UNIT_VALUE" val="12"/>
  <p:tag name="KSO_WM_UNIT_HIGHLIGHT" val="0"/>
  <p:tag name="KSO_WM_UNIT_COMPATIBLE" val="0"/>
  <p:tag name="KSO_WM_UNIT_CLEAR" val="0"/>
  <p:tag name="KSO_WM_UNIT_PRESET_TEXT_INDEX" val="4"/>
  <p:tag name="KSO_WM_BEAUTIFY_FLAG" val="#wm#"/>
  <p:tag name="KSO_WM_TAG_VERSION" val="1.0"/>
  <p:tag name="KSO_WM_UNIT_PRESET_TEXT_LEN" val="22"/>
  <p:tag name="KSO_WM_DIAGRAM_GROUP_CODE" val="n1-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0"/>
</p:tagLst>
</file>

<file path=ppt/tags/tag317.xml><?xml version="1.0" encoding="utf-8"?>
<p:tagLst xmlns:p="http://schemas.openxmlformats.org/presentationml/2006/main">
  <p:tag name="KSO_WM_SLIDE_ITEM_CNT" val="5"/>
</p:tagLst>
</file>

<file path=ppt/tags/tag31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1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20.xml><?xml version="1.0" encoding="utf-8"?>
<p:tagLst xmlns:p="http://schemas.openxmlformats.org/presentationml/2006/main">
  <p:tag name="KSO_WM_SLIDE_BK_DARK_LIGHT" val=""/>
  <p:tag name="KSO_WM_SLIDE_BACKGROUND_TYPE" val="general"/>
</p:tagLst>
</file>

<file path=ppt/tags/tag32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22.xml><?xml version="1.0" encoding="utf-8"?>
<p:tagLst xmlns:p="http://schemas.openxmlformats.org/presentationml/2006/main">
  <p:tag name="KSO_WM_SLIDE_BK_DARK_LIGHT" val=""/>
  <p:tag name="KSO_WM_SLIDE_BACKGROUND_TYPE" val="general"/>
</p:tagLst>
</file>

<file path=ppt/tags/tag3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24.xml><?xml version="1.0" encoding="utf-8"?>
<p:tagLst xmlns:p="http://schemas.openxmlformats.org/presentationml/2006/main">
  <p:tag name="KSO_WM_SLIDE_BK_DARK_LIGHT" val=""/>
  <p:tag name="KSO_WM_SLIDE_BACKGROUND_TYPE" val="general"/>
</p:tagLst>
</file>

<file path=ppt/tags/tag32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26.xml><?xml version="1.0" encoding="utf-8"?>
<p:tagLst xmlns:p="http://schemas.openxmlformats.org/presentationml/2006/main">
  <p:tag name="KSO_WM_SLIDE_BK_DARK_LIGHT" val=""/>
  <p:tag name="KSO_WM_SLIDE_BACKGROUND_TYPE" val="general"/>
</p:tagLst>
</file>

<file path=ppt/tags/tag3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28.xml><?xml version="1.0" encoding="utf-8"?>
<p:tagLst xmlns:p="http://schemas.openxmlformats.org/presentationml/2006/main">
  <p:tag name="KSO_WM_SLIDE_BK_DARK_LIGHT" val=""/>
  <p:tag name="KSO_WM_SLIDE_BACKGROUND_TYPE" val="general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170868_3*l_h_i*1_1_1"/>
  <p:tag name="KSO_WM_TEMPLATE_CATEGORY" val="diagram"/>
  <p:tag name="KSO_WM_TEMPLATE_INDEX" val="20170868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170868_3*l_h_i*1_1_2"/>
  <p:tag name="KSO_WM_TEMPLATE_CATEGORY" val="diagram"/>
  <p:tag name="KSO_WM_TEMPLATE_INDEX" val="20170868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3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170868_3*l_h_a*1_1_1"/>
  <p:tag name="KSO_WM_TEMPLATE_CATEGORY" val="diagram"/>
  <p:tag name="KSO_WM_TEMPLATE_INDEX" val="20170868"/>
  <p:tag name="KSO_WM_UNIT_LAYERLEVEL" val="1_1_1"/>
  <p:tag name="KSO_WM_TAG_VERSION" val="1.0"/>
  <p:tag name="KSO_WM_BEAUTIFY_FLAG" val="#wm#"/>
  <p:tag name="KSO_WM_UNIT_PRESET_TEXT" val="添加标题"/>
  <p:tag name="KSO_WM_UNIT_TEXT_FILL_FORE_SCHEMECOLOR_INDEX" val="13"/>
  <p:tag name="KSO_WM_UNIT_TEXT_FILL_TYPE" val="1"/>
  <p:tag name="KSO_WM_UNIT_USESOURCEFORMAT_APPLY" val="0"/>
</p:tagLst>
</file>

<file path=ppt/tags/tag332.xml><?xml version="1.0" encoding="utf-8"?>
<p:tagLst xmlns:p="http://schemas.openxmlformats.org/presentationml/2006/main">
  <p:tag name="KSO_WM_UNIT_SUBTYPE" val="a"/>
  <p:tag name="KSO_WM_UNIT_NOCLEAR" val="0"/>
  <p:tag name="KSO_WM_UNIT_VALUE" val="1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170868_3*l_h_f*1_1_1"/>
  <p:tag name="KSO_WM_TEMPLATE_CATEGORY" val="diagram"/>
  <p:tag name="KSO_WM_TEMPLATE_INDEX" val="20170868"/>
  <p:tag name="KSO_WM_UNIT_LAYERLEVEL" val="1_1_1"/>
  <p:tag name="KSO_WM_TAG_VERSION" val="1.0"/>
  <p:tag name="KSO_WM_BEAUTIFY_FLAG" val="#wm#"/>
  <p:tag name="KSO_WM_UNIT_PRESET_TEXT" val="单击此处添加文本具体内容，简明扼要的阐述您的观点。"/>
  <p:tag name="KSO_WM_UNIT_TEXT_FILL_FORE_SCHEMECOLOR_INDEX" val="13"/>
  <p:tag name="KSO_WM_UNIT_TEXT_FILL_TYPE" val="1"/>
  <p:tag name="KSO_WM_UNIT_USESOURCEFORMAT_APPLY" val="0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170868_3*l_h_i*1_2_1"/>
  <p:tag name="KSO_WM_TEMPLATE_CATEGORY" val="diagram"/>
  <p:tag name="KSO_WM_TEMPLATE_INDEX" val="20170868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170868_3*l_h_i*1_2_2"/>
  <p:tag name="KSO_WM_TEMPLATE_CATEGORY" val="diagram"/>
  <p:tag name="KSO_WM_TEMPLATE_INDEX" val="20170868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3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170868_3*l_h_a*1_2_1"/>
  <p:tag name="KSO_WM_TEMPLATE_CATEGORY" val="diagram"/>
  <p:tag name="KSO_WM_TEMPLATE_INDEX" val="20170868"/>
  <p:tag name="KSO_WM_UNIT_LAYERLEVEL" val="1_1_1"/>
  <p:tag name="KSO_WM_TAG_VERSION" val="1.0"/>
  <p:tag name="KSO_WM_BEAUTIFY_FLAG" val="#wm#"/>
  <p:tag name="KSO_WM_UNIT_PRESET_TEXT" val="添加标题"/>
  <p:tag name="KSO_WM_UNIT_TEXT_FILL_FORE_SCHEMECOLOR_INDEX" val="13"/>
  <p:tag name="KSO_WM_UNIT_TEXT_FILL_TYPE" val="1"/>
  <p:tag name="KSO_WM_UNIT_USESOURCEFORMAT_APPLY" val="0"/>
</p:tagLst>
</file>

<file path=ppt/tags/tag336.xml><?xml version="1.0" encoding="utf-8"?>
<p:tagLst xmlns:p="http://schemas.openxmlformats.org/presentationml/2006/main">
  <p:tag name="KSO_WM_UNIT_SUBTYPE" val="a"/>
  <p:tag name="KSO_WM_UNIT_NOCLEAR" val="0"/>
  <p:tag name="KSO_WM_UNIT_VALUE" val="1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170868_3*l_h_f*1_2_1"/>
  <p:tag name="KSO_WM_TEMPLATE_CATEGORY" val="diagram"/>
  <p:tag name="KSO_WM_TEMPLATE_INDEX" val="20170868"/>
  <p:tag name="KSO_WM_UNIT_LAYERLEVEL" val="1_1_1"/>
  <p:tag name="KSO_WM_TAG_VERSION" val="1.0"/>
  <p:tag name="KSO_WM_BEAUTIFY_FLAG" val="#wm#"/>
  <p:tag name="KSO_WM_UNIT_PRESET_TEXT" val="单击此处添加文本具体内容，简明扼要的阐述您的观点。"/>
  <p:tag name="KSO_WM_UNIT_TEXT_FILL_FORE_SCHEMECOLOR_INDEX" val="13"/>
  <p:tag name="KSO_WM_UNIT_TEXT_FILL_TYPE" val="1"/>
  <p:tag name="KSO_WM_UNIT_USESOURCEFORMAT_APPLY" val="0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170868_3*l_h_i*1_3_1"/>
  <p:tag name="KSO_WM_TEMPLATE_CATEGORY" val="diagram"/>
  <p:tag name="KSO_WM_TEMPLATE_INDEX" val="20170868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170868_3*l_h_i*1_3_2"/>
  <p:tag name="KSO_WM_TEMPLATE_CATEGORY" val="diagram"/>
  <p:tag name="KSO_WM_TEMPLATE_INDEX" val="20170868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3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170868_3*l_h_a*1_3_1"/>
  <p:tag name="KSO_WM_TEMPLATE_CATEGORY" val="diagram"/>
  <p:tag name="KSO_WM_TEMPLATE_INDEX" val="20170868"/>
  <p:tag name="KSO_WM_UNIT_LAYERLEVEL" val="1_1_1"/>
  <p:tag name="KSO_WM_TAG_VERSION" val="1.0"/>
  <p:tag name="KSO_WM_BEAUTIFY_FLAG" val="#wm#"/>
  <p:tag name="KSO_WM_UNIT_PRESET_TEXT" val="添加标题"/>
  <p:tag name="KSO_WM_UNIT_TEXT_FILL_FORE_SCHEMECOLOR_INDEX" val="13"/>
  <p:tag name="KSO_WM_UNIT_TEXT_FILL_TYPE" val="1"/>
  <p:tag name="KSO_WM_UNIT_USESOURCEFORMAT_APPLY" val="0"/>
</p:tagLst>
</file>

<file path=ppt/tags/tag340.xml><?xml version="1.0" encoding="utf-8"?>
<p:tagLst xmlns:p="http://schemas.openxmlformats.org/presentationml/2006/main">
  <p:tag name="KSO_WM_UNIT_SUBTYPE" val="a"/>
  <p:tag name="KSO_WM_UNIT_NOCLEAR" val="0"/>
  <p:tag name="KSO_WM_UNIT_VALUE" val="1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170868_3*l_h_f*1_3_1"/>
  <p:tag name="KSO_WM_TEMPLATE_CATEGORY" val="diagram"/>
  <p:tag name="KSO_WM_TEMPLATE_INDEX" val="20170868"/>
  <p:tag name="KSO_WM_UNIT_LAYERLEVEL" val="1_1_1"/>
  <p:tag name="KSO_WM_TAG_VERSION" val="1.0"/>
  <p:tag name="KSO_WM_BEAUTIFY_FLAG" val="#wm#"/>
  <p:tag name="KSO_WM_UNIT_PRESET_TEXT" val="单击此处添加文本具体内容，简明扼要的阐述您的观点。"/>
  <p:tag name="KSO_WM_UNIT_TEXT_FILL_FORE_SCHEMECOLOR_INDEX" val="13"/>
  <p:tag name="KSO_WM_UNIT_TEXT_FILL_TYPE" val="1"/>
  <p:tag name="KSO_WM_UNIT_USESOURCEFORMAT_APPLY" val="0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170868_3*l_h_i*1_4_1"/>
  <p:tag name="KSO_WM_TEMPLATE_CATEGORY" val="diagram"/>
  <p:tag name="KSO_WM_TEMPLATE_INDEX" val="20170868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170868_3*l_h_i*1_4_2"/>
  <p:tag name="KSO_WM_TEMPLATE_CATEGORY" val="diagram"/>
  <p:tag name="KSO_WM_TEMPLATE_INDEX" val="20170868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4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170868_3*l_h_a*1_4_1"/>
  <p:tag name="KSO_WM_TEMPLATE_CATEGORY" val="diagram"/>
  <p:tag name="KSO_WM_TEMPLATE_INDEX" val="20170868"/>
  <p:tag name="KSO_WM_UNIT_LAYERLEVEL" val="1_1_1"/>
  <p:tag name="KSO_WM_TAG_VERSION" val="1.0"/>
  <p:tag name="KSO_WM_BEAUTIFY_FLAG" val="#wm#"/>
  <p:tag name="KSO_WM_UNIT_PRESET_TEXT" val="添加标题"/>
  <p:tag name="KSO_WM_UNIT_TEXT_FILL_FORE_SCHEMECOLOR_INDEX" val="13"/>
  <p:tag name="KSO_WM_UNIT_TEXT_FILL_TYPE" val="1"/>
  <p:tag name="KSO_WM_UNIT_USESOURCEFORMAT_APPLY" val="0"/>
</p:tagLst>
</file>

<file path=ppt/tags/tag344.xml><?xml version="1.0" encoding="utf-8"?>
<p:tagLst xmlns:p="http://schemas.openxmlformats.org/presentationml/2006/main">
  <p:tag name="KSO_WM_UNIT_SUBTYPE" val="a"/>
  <p:tag name="KSO_WM_UNIT_NOCLEAR" val="0"/>
  <p:tag name="KSO_WM_UNIT_VALUE" val="1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170868_3*l_h_f*1_4_1"/>
  <p:tag name="KSO_WM_TEMPLATE_CATEGORY" val="diagram"/>
  <p:tag name="KSO_WM_TEMPLATE_INDEX" val="20170868"/>
  <p:tag name="KSO_WM_UNIT_LAYERLEVEL" val="1_1_1"/>
  <p:tag name="KSO_WM_TAG_VERSION" val="1.0"/>
  <p:tag name="KSO_WM_BEAUTIFY_FLAG" val="#wm#"/>
  <p:tag name="KSO_WM_UNIT_PRESET_TEXT" val="单击此处添加文本具体内容，简明扼要的阐述您的观点。"/>
  <p:tag name="KSO_WM_UNIT_TEXT_FILL_FORE_SCHEMECOLOR_INDEX" val="13"/>
  <p:tag name="KSO_WM_UNIT_TEXT_FILL_TYPE" val="1"/>
  <p:tag name="KSO_WM_UNIT_USESOURCEFORMAT_APPLY" val="0"/>
</p:tagLst>
</file>

<file path=ppt/tags/tag345.xml><?xml version="1.0" encoding="utf-8"?>
<p:tagLst xmlns:p="http://schemas.openxmlformats.org/presentationml/2006/main">
  <p:tag name="KSO_WM_SLIDE_ITEM_CNT" val="4"/>
</p:tagLst>
</file>

<file path=ppt/tags/tag346.xml><?xml version="1.0" encoding="utf-8"?>
<p:tagLst xmlns:p="http://schemas.openxmlformats.org/presentationml/2006/main">
  <p:tag name="KSO_WM_TEMPLATE_CATEGORY" val="diagram"/>
  <p:tag name="KSO_WM_TEMPLATE_INDEX" val="20171553"/>
  <p:tag name="KSO_WM_TAG_VERSION" val="1.0"/>
  <p:tag name="KSO_WM_BEAUTIFY_FLAG" val="#wm#"/>
  <p:tag name="KSO_WM_UNIT_TYPE" val="n_h_a"/>
  <p:tag name="KSO_WM_UNIT_INDEX" val="1_1_1"/>
  <p:tag name="KSO_WM_UNIT_CLEAR" val="1"/>
  <p:tag name="KSO_WM_UNIT_LAYERLEVEL" val="1_1_1"/>
  <p:tag name="KSO_WM_UNIT_VALUE" val="30"/>
  <p:tag name="KSO_WM_UNIT_HIGHLIGHT" val="0"/>
  <p:tag name="KSO_WM_UNIT_COMPATIBLE" val="0"/>
  <p:tag name="KSO_WM_UNIT_PRESET_TEXT_INDEX" val="3"/>
  <p:tag name="KSO_WM_UNIT_PRESET_TEXT_LEN" val="17"/>
  <p:tag name="KSO_WM_DIAGRAM_GROUP_CODE" val="n1-1"/>
  <p:tag name="KSO_WM_UNIT_ID" val="diagram20171553_2*n_h_a*1_1_1"/>
  <p:tag name="KSO_WM_UNIT_FILL_FORE_SCHEMECOLOR_INDEX_BRIGHTNESS" val="0"/>
  <p:tag name="KSO_WM_UNIT_FILL_FORE_SCHEMECOLOR_INDEX" val="8"/>
  <p:tag name="KSO_WM_UNIT_FILL_TYPE" val="1"/>
  <p:tag name="KSO_WM_UNIT_LINE_FORE_SCHEMECOLOR_INDEX_BRIGHTNESS" val="0.4"/>
  <p:tag name="KSO_WM_UNIT_LINE_FORE_SCHEMECOLOR_INDEX" val="8"/>
  <p:tag name="KSO_WM_UNIT_LINE_FILL_TYPE" val="2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347.xml><?xml version="1.0" encoding="utf-8"?>
<p:tagLst xmlns:p="http://schemas.openxmlformats.org/presentationml/2006/main">
  <p:tag name="KSO_WM_TEMPLATE_CATEGORY" val="diagram"/>
  <p:tag name="KSO_WM_TEMPLATE_INDEX" val="20171553"/>
  <p:tag name="KSO_WM_UNIT_CLEAR" val="1"/>
  <p:tag name="KSO_WM_TAG_VERSION" val="1.0"/>
  <p:tag name="KSO_WM_BEAUTIFY_FLAG" val="#wm#"/>
  <p:tag name="KSO_WM_UNIT_TYPE" val="n_h_i"/>
  <p:tag name="KSO_WM_UNIT_INDEX" val="1_2_1"/>
  <p:tag name="KSO_WM_UNIT_ID" val="diagram20171553_2*n_h_i*1_2_1"/>
  <p:tag name="KSO_WM_UNIT_LAYERLEVEL" val="1_1_1"/>
  <p:tag name="KSO_WM_DIAGRAM_GROUP_CODE" val="n1-1"/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348.xml><?xml version="1.0" encoding="utf-8"?>
<p:tagLst xmlns:p="http://schemas.openxmlformats.org/presentationml/2006/main">
  <p:tag name="KSO_WM_TEMPLATE_CATEGORY" val="diagram"/>
  <p:tag name="KSO_WM_TEMPLATE_INDEX" val="20171553"/>
  <p:tag name="KSO_WM_TAG_VERSION" val="1.0"/>
  <p:tag name="KSO_WM_BEAUTIFY_FLAG" val="#wm#"/>
  <p:tag name="KSO_WM_UNIT_TYPE" val="n_h_f"/>
  <p:tag name="KSO_WM_UNIT_INDEX" val="1_2_1"/>
  <p:tag name="KSO_WM_UNIT_CLEAR" val="1"/>
  <p:tag name="KSO_WM_UNIT_LAYERLEVEL" val="1_1_1"/>
  <p:tag name="KSO_WM_UNIT_VALUE" val="36"/>
  <p:tag name="KSO_WM_UNIT_HIGHLIGHT" val="0"/>
  <p:tag name="KSO_WM_UNIT_COMPATIBLE" val="0"/>
  <p:tag name="KSO_WM_UNIT_PRESET_TEXT_INDEX" val="3"/>
  <p:tag name="KSO_WM_UNIT_PRESET_TEXT_LEN" val="24"/>
  <p:tag name="KSO_WM_DIAGRAM_GROUP_CODE" val="n1-1"/>
  <p:tag name="KSO_WM_UNIT_ID" val="diagram20171553_2*n_h_f*1_2_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349.xml><?xml version="1.0" encoding="utf-8"?>
<p:tagLst xmlns:p="http://schemas.openxmlformats.org/presentationml/2006/main">
  <p:tag name="KSO_WM_TEMPLATE_CATEGORY" val="diagram"/>
  <p:tag name="KSO_WM_TEMPLATE_INDEX" val="20171553"/>
  <p:tag name="KSO_WM_UNIT_CLEAR" val="1"/>
  <p:tag name="KSO_WM_TAG_VERSION" val="1.0"/>
  <p:tag name="KSO_WM_BEAUTIFY_FLAG" val="#wm#"/>
  <p:tag name="KSO_WM_UNIT_TYPE" val="n_h_i"/>
  <p:tag name="KSO_WM_UNIT_INDEX" val="1_2_4"/>
  <p:tag name="KSO_WM_UNIT_ID" val="diagram20171553_2*n_h_i*1_2_4"/>
  <p:tag name="KSO_WM_UNIT_LAYERLEVEL" val="1_1_1"/>
  <p:tag name="KSO_WM_DIAGRAM_GROUP_CODE" val="n1-1"/>
  <p:tag name="KSO_WM_UNIT_LINE_FORE_SCHEMECOLOR_INDEX_BRIGHTNESS" val="-0.35"/>
  <p:tag name="KSO_WM_UNIT_LINE_FORE_SCHEMECOLOR_INDEX" val="14"/>
  <p:tag name="KSO_WM_UNIT_LINE_FILL_TYPE" val="2"/>
  <p:tag name="KSO_WM_UNIT_USESOURCEFORMAT_APPLY" val="1"/>
</p:tagLst>
</file>

<file path=ppt/tags/tag350.xml><?xml version="1.0" encoding="utf-8"?>
<p:tagLst xmlns:p="http://schemas.openxmlformats.org/presentationml/2006/main">
  <p:tag name="KSO_WM_TEMPLATE_CATEGORY" val="diagram"/>
  <p:tag name="KSO_WM_TEMPLATE_INDEX" val="20171553"/>
  <p:tag name="KSO_WM_UNIT_CLEAR" val="1"/>
  <p:tag name="KSO_WM_TAG_VERSION" val="1.0"/>
  <p:tag name="KSO_WM_BEAUTIFY_FLAG" val="#wm#"/>
  <p:tag name="KSO_WM_UNIT_TYPE" val="n_h_i"/>
  <p:tag name="KSO_WM_UNIT_INDEX" val="1_2_5"/>
  <p:tag name="KSO_WM_UNIT_ID" val="diagram20171553_2*n_h_i*1_2_5"/>
  <p:tag name="KSO_WM_UNIT_LAYERLEVEL" val="1_1_1"/>
  <p:tag name="KSO_WM_DIAGRAM_GROUP_CODE" val="n1-1"/>
  <p:tag name="KSO_WM_UNIT_LINE_FORE_SCHEMECOLOR_INDEX_BRIGHTNESS" val="-0.35"/>
  <p:tag name="KSO_WM_UNIT_LINE_FORE_SCHEMECOLOR_INDEX" val="14"/>
  <p:tag name="KSO_WM_UNIT_LINE_FILL_TYPE" val="2"/>
  <p:tag name="KSO_WM_UNIT_USESOURCEFORMAT_APPLY" val="1"/>
</p:tagLst>
</file>

<file path=ppt/tags/tag351.xml><?xml version="1.0" encoding="utf-8"?>
<p:tagLst xmlns:p="http://schemas.openxmlformats.org/presentationml/2006/main">
  <p:tag name="KSO_WM_TEMPLATE_CATEGORY" val="diagram"/>
  <p:tag name="KSO_WM_TEMPLATE_INDEX" val="20171553"/>
  <p:tag name="KSO_WM_UNIT_CLEAR" val="1"/>
  <p:tag name="KSO_WM_TAG_VERSION" val="1.0"/>
  <p:tag name="KSO_WM_BEAUTIFY_FLAG" val="#wm#"/>
  <p:tag name="KSO_WM_UNIT_TYPE" val="n_h_i"/>
  <p:tag name="KSO_WM_UNIT_INDEX" val="1_2_6"/>
  <p:tag name="KSO_WM_UNIT_ID" val="diagram20171553_2*n_h_i*1_2_6"/>
  <p:tag name="KSO_WM_UNIT_LAYERLEVEL" val="1_1_1"/>
  <p:tag name="KSO_WM_DIAGRAM_GROUP_CODE" val="n1-1"/>
  <p:tag name="KSO_WM_UNIT_LINE_FORE_SCHEMECOLOR_INDEX_BRIGHTNESS" val="-0.35"/>
  <p:tag name="KSO_WM_UNIT_LINE_FORE_SCHEMECOLOR_INDEX" val="14"/>
  <p:tag name="KSO_WM_UNIT_LINE_FILL_TYPE" val="2"/>
  <p:tag name="KSO_WM_UNIT_USESOURCEFORMAT_APPLY" val="1"/>
</p:tagLst>
</file>

<file path=ppt/tags/tag352.xml><?xml version="1.0" encoding="utf-8"?>
<p:tagLst xmlns:p="http://schemas.openxmlformats.org/presentationml/2006/main">
  <p:tag name="KSO_WM_TEMPLATE_CATEGORY" val="diagram"/>
  <p:tag name="KSO_WM_TEMPLATE_INDEX" val="20171553"/>
  <p:tag name="KSO_WM_UNIT_CLEAR" val="1"/>
  <p:tag name="KSO_WM_TAG_VERSION" val="1.0"/>
  <p:tag name="KSO_WM_BEAUTIFY_FLAG" val="#wm#"/>
  <p:tag name="KSO_WM_UNIT_TYPE" val="n_h_i"/>
  <p:tag name="KSO_WM_UNIT_INDEX" val="1_2_2"/>
  <p:tag name="KSO_WM_UNIT_ID" val="diagram20171553_2*n_h_i*1_2_2"/>
  <p:tag name="KSO_WM_UNIT_LAYERLEVEL" val="1_1_1"/>
  <p:tag name="KSO_WM_DIAGRAM_GROUP_CODE" val="n1-1"/>
  <p:tag name="KSO_WM_UNIT_FILL_FORE_SCHEMECOLOR_INDEX_BRIGHTNESS" val="0"/>
  <p:tag name="KSO_WM_UNIT_FILL_FORE_SCHEMECOLOR_INDEX" val="6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353.xml><?xml version="1.0" encoding="utf-8"?>
<p:tagLst xmlns:p="http://schemas.openxmlformats.org/presentationml/2006/main">
  <p:tag name="KSO_WM_TEMPLATE_CATEGORY" val="diagram"/>
  <p:tag name="KSO_WM_TEMPLATE_INDEX" val="20171553"/>
  <p:tag name="KSO_WM_TAG_VERSION" val="1.0"/>
  <p:tag name="KSO_WM_BEAUTIFY_FLAG" val="#wm#"/>
  <p:tag name="KSO_WM_UNIT_TYPE" val="n_h_f"/>
  <p:tag name="KSO_WM_UNIT_INDEX" val="1_2_2"/>
  <p:tag name="KSO_WM_UNIT_CLEAR" val="1"/>
  <p:tag name="KSO_WM_UNIT_LAYERLEVEL" val="1_1_1"/>
  <p:tag name="KSO_WM_UNIT_VALUE" val="36"/>
  <p:tag name="KSO_WM_UNIT_HIGHLIGHT" val="0"/>
  <p:tag name="KSO_WM_UNIT_COMPATIBLE" val="0"/>
  <p:tag name="KSO_WM_UNIT_PRESET_TEXT_INDEX" val="3"/>
  <p:tag name="KSO_WM_UNIT_PRESET_TEXT_LEN" val="24"/>
  <p:tag name="KSO_WM_DIAGRAM_GROUP_CODE" val="n1-1"/>
  <p:tag name="KSO_WM_UNIT_ID" val="diagram20171553_2*n_h_f*1_2_2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354.xml><?xml version="1.0" encoding="utf-8"?>
<p:tagLst xmlns:p="http://schemas.openxmlformats.org/presentationml/2006/main">
  <p:tag name="KSO_WM_TEMPLATE_CATEGORY" val="diagram"/>
  <p:tag name="KSO_WM_TEMPLATE_INDEX" val="20171553"/>
  <p:tag name="KSO_WM_UNIT_CLEAR" val="1"/>
  <p:tag name="KSO_WM_TAG_VERSION" val="1.0"/>
  <p:tag name="KSO_WM_BEAUTIFY_FLAG" val="#wm#"/>
  <p:tag name="KSO_WM_UNIT_TYPE" val="n_h_i"/>
  <p:tag name="KSO_WM_UNIT_INDEX" val="1_2_3"/>
  <p:tag name="KSO_WM_UNIT_ID" val="diagram20171553_2*n_h_i*1_2_3"/>
  <p:tag name="KSO_WM_UNIT_LAYERLEVEL" val="1_1_1"/>
  <p:tag name="KSO_WM_DIAGRAM_GROUP_CODE" val="n1-1"/>
  <p:tag name="KSO_WM_UNIT_FILL_FORE_SCHEMECOLOR_INDEX_BRIGHTNESS" val="0"/>
  <p:tag name="KSO_WM_UNIT_FILL_FORE_SCHEMECOLOR_INDEX" val="7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355.xml><?xml version="1.0" encoding="utf-8"?>
<p:tagLst xmlns:p="http://schemas.openxmlformats.org/presentationml/2006/main">
  <p:tag name="KSO_WM_TEMPLATE_CATEGORY" val="diagram"/>
  <p:tag name="KSO_WM_TEMPLATE_INDEX" val="20171553"/>
  <p:tag name="KSO_WM_TAG_VERSION" val="1.0"/>
  <p:tag name="KSO_WM_BEAUTIFY_FLAG" val="#wm#"/>
  <p:tag name="KSO_WM_UNIT_TYPE" val="n_h_f"/>
  <p:tag name="KSO_WM_UNIT_INDEX" val="1_2_3"/>
  <p:tag name="KSO_WM_UNIT_CLEAR" val="1"/>
  <p:tag name="KSO_WM_UNIT_LAYERLEVEL" val="1_1_1"/>
  <p:tag name="KSO_WM_UNIT_VALUE" val="36"/>
  <p:tag name="KSO_WM_UNIT_HIGHLIGHT" val="0"/>
  <p:tag name="KSO_WM_UNIT_COMPATIBLE" val="0"/>
  <p:tag name="KSO_WM_UNIT_PRESET_TEXT_INDEX" val="3"/>
  <p:tag name="KSO_WM_UNIT_PRESET_TEXT_LEN" val="24"/>
  <p:tag name="KSO_WM_DIAGRAM_GROUP_CODE" val="n1-1"/>
  <p:tag name="KSO_WM_UNIT_ID" val="diagram20171553_2*n_h_f*1_2_3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356.xml><?xml version="1.0" encoding="utf-8"?>
<p:tagLst xmlns:p="http://schemas.openxmlformats.org/presentationml/2006/main">
  <p:tag name="KSO_WM_SLIDE_ITEM_CNT" val="3"/>
</p:tagLst>
</file>

<file path=ppt/tags/tag3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58.xml><?xml version="1.0" encoding="utf-8"?>
<p:tagLst xmlns:p="http://schemas.openxmlformats.org/presentationml/2006/main">
  <p:tag name="KSO_WM_SLIDE_BK_DARK_LIGHT" val=""/>
  <p:tag name="KSO_WM_SLIDE_BACKGROUND_TYPE" val="general"/>
</p:tagLst>
</file>

<file path=ppt/tags/tag35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60.xml><?xml version="1.0" encoding="utf-8"?>
<p:tagLst xmlns:p="http://schemas.openxmlformats.org/presentationml/2006/main">
  <p:tag name="KSO_WM_SLIDE_BK_DARK_LIGHT" val=""/>
  <p:tag name="KSO_WM_SLIDE_BACKGROUND_TYPE" val="general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6b89afbb-e612-42c0-a523-1a3f1095c010}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96533c21-77a7-48e7-9851-ab0cf464233b}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63.xml><?xml version="1.0" encoding="utf-8"?>
<p:tagLst xmlns:p="http://schemas.openxmlformats.org/presentationml/2006/main">
  <p:tag name="KSO_WM_SLIDE_BK_DARK_LIGHT" val=""/>
  <p:tag name="KSO_WM_SLIDE_BACKGROUND_TYPE" val="general"/>
</p:tagLst>
</file>

<file path=ppt/tags/tag364.xml><?xml version="1.0" encoding="utf-8"?>
<p:tagLst xmlns:p="http://schemas.openxmlformats.org/presentationml/2006/main">
  <p:tag name="KSO_WM_SLIDE_BK_DARK_LIGHT" val=""/>
  <p:tag name="KSO_WM_SLIDE_BACKGROUND_TYPE" val="general"/>
</p:tagLst>
</file>

<file path=ppt/tags/tag36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66.xml><?xml version="1.0" encoding="utf-8"?>
<p:tagLst xmlns:p="http://schemas.openxmlformats.org/presentationml/2006/main">
  <p:tag name="KSO_WM_SLIDE_BK_DARK_LIGHT" val=""/>
  <p:tag name="KSO_WM_SLIDE_BACKGROUND_TYPE" val="general"/>
</p:tagLst>
</file>

<file path=ppt/tags/tag367.xml><?xml version="1.0" encoding="utf-8"?>
<p:tagLst xmlns:p="http://schemas.openxmlformats.org/presentationml/2006/main">
  <p:tag name="commondata" val="eyJoZGlkIjoiNGZlOTEyN2FjOTYyM2RkZDFhMzc2OGZlNDc3OTZmYzMifQ=="/>
</p:tagLst>
</file>

<file path=ppt/theme/theme1.xml><?xml version="1.0" encoding="utf-8"?>
<a:theme xmlns:a="http://schemas.openxmlformats.org/drawingml/2006/main" name="万里长城">
  <a:themeElements>
    <a:clrScheme name="万里长城 1">
      <a:dk1>
        <a:srgbClr val="000000"/>
      </a:dk1>
      <a:lt1>
        <a:srgbClr val="FFFFFF"/>
      </a:lt1>
      <a:dk2>
        <a:srgbClr val="000099"/>
      </a:dk2>
      <a:lt2>
        <a:srgbClr val="969696"/>
      </a:lt2>
      <a:accent1>
        <a:srgbClr val="FFFF99"/>
      </a:accent1>
      <a:accent2>
        <a:srgbClr val="006666"/>
      </a:accent2>
      <a:accent3>
        <a:srgbClr val="FFFFFF"/>
      </a:accent3>
      <a:accent4>
        <a:srgbClr val="000000"/>
      </a:accent4>
      <a:accent5>
        <a:srgbClr val="FFFFCA"/>
      </a:accent5>
      <a:accent6>
        <a:srgbClr val="005C5C"/>
      </a:accent6>
      <a:hlink>
        <a:srgbClr val="800080"/>
      </a:hlink>
      <a:folHlink>
        <a:srgbClr val="FF6600"/>
      </a:folHlink>
    </a:clrScheme>
    <a:fontScheme name="万里长城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万里长城 1">
        <a:dk1>
          <a:srgbClr val="000000"/>
        </a:dk1>
        <a:lt1>
          <a:srgbClr val="FFFFFF"/>
        </a:lt1>
        <a:dk2>
          <a:srgbClr val="000099"/>
        </a:dk2>
        <a:lt2>
          <a:srgbClr val="969696"/>
        </a:lt2>
        <a:accent1>
          <a:srgbClr val="FFFF99"/>
        </a:accent1>
        <a:accent2>
          <a:srgbClr val="006666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005C5C"/>
        </a:accent6>
        <a:hlink>
          <a:srgbClr val="800080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2">
        <a:dk1>
          <a:srgbClr val="000000"/>
        </a:dk1>
        <a:lt1>
          <a:srgbClr val="8EA4EA"/>
        </a:lt1>
        <a:dk2>
          <a:srgbClr val="0033CC"/>
        </a:dk2>
        <a:lt2>
          <a:srgbClr val="969696"/>
        </a:lt2>
        <a:accent1>
          <a:srgbClr val="86B5B6"/>
        </a:accent1>
        <a:accent2>
          <a:srgbClr val="FFCC66"/>
        </a:accent2>
        <a:accent3>
          <a:srgbClr val="C6CFF3"/>
        </a:accent3>
        <a:accent4>
          <a:srgbClr val="000000"/>
        </a:accent4>
        <a:accent5>
          <a:srgbClr val="C3D7D7"/>
        </a:accent5>
        <a:accent6>
          <a:srgbClr val="E7B95C"/>
        </a:accent6>
        <a:hlink>
          <a:srgbClr val="626292"/>
        </a:hlink>
        <a:folHlink>
          <a:srgbClr val="A2366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3">
        <a:dk1>
          <a:srgbClr val="0000FF"/>
        </a:dk1>
        <a:lt1>
          <a:srgbClr val="C0C0C0"/>
        </a:lt1>
        <a:dk2>
          <a:srgbClr val="000000"/>
        </a:dk2>
        <a:lt2>
          <a:srgbClr val="B2B2B2"/>
        </a:lt2>
        <a:accent1>
          <a:srgbClr val="FFCC99"/>
        </a:accent1>
        <a:accent2>
          <a:srgbClr val="FF99CC"/>
        </a:accent2>
        <a:accent3>
          <a:srgbClr val="DCDCDC"/>
        </a:accent3>
        <a:accent4>
          <a:srgbClr val="0000DA"/>
        </a:accent4>
        <a:accent5>
          <a:srgbClr val="FFE2CA"/>
        </a:accent5>
        <a:accent6>
          <a:srgbClr val="E78AB9"/>
        </a:accent6>
        <a:hlink>
          <a:srgbClr val="9C4070"/>
        </a:hlink>
        <a:folHlink>
          <a:srgbClr val="0071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4">
        <a:dk1>
          <a:srgbClr val="0029AC"/>
        </a:dk1>
        <a:lt1>
          <a:srgbClr val="CCFFCC"/>
        </a:lt1>
        <a:dk2>
          <a:srgbClr val="993366"/>
        </a:dk2>
        <a:lt2>
          <a:srgbClr val="969696"/>
        </a:lt2>
        <a:accent1>
          <a:srgbClr val="FFCC99"/>
        </a:accent1>
        <a:accent2>
          <a:srgbClr val="6699FF"/>
        </a:accent2>
        <a:accent3>
          <a:srgbClr val="E2FFE2"/>
        </a:accent3>
        <a:accent4>
          <a:srgbClr val="002192"/>
        </a:accent4>
        <a:accent5>
          <a:srgbClr val="FFE2CA"/>
        </a:accent5>
        <a:accent6>
          <a:srgbClr val="5C8AE7"/>
        </a:accent6>
        <a:hlink>
          <a:srgbClr val="006600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5">
        <a:dk1>
          <a:srgbClr val="333333"/>
        </a:dk1>
        <a:lt1>
          <a:srgbClr val="FF99CC"/>
        </a:lt1>
        <a:dk2>
          <a:srgbClr val="006600"/>
        </a:dk2>
        <a:lt2>
          <a:srgbClr val="B2B2B2"/>
        </a:lt2>
        <a:accent1>
          <a:srgbClr val="FFFF66"/>
        </a:accent1>
        <a:accent2>
          <a:srgbClr val="33CCFF"/>
        </a:accent2>
        <a:accent3>
          <a:srgbClr val="FFCAE2"/>
        </a:accent3>
        <a:accent4>
          <a:srgbClr val="2A2A2A"/>
        </a:accent4>
        <a:accent5>
          <a:srgbClr val="FFFFB8"/>
        </a:accent5>
        <a:accent6>
          <a:srgbClr val="2DB9E7"/>
        </a:accent6>
        <a:hlink>
          <a:srgbClr val="6600FF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6">
        <a:dk1>
          <a:srgbClr val="000000"/>
        </a:dk1>
        <a:lt1>
          <a:srgbClr val="FFFFCC"/>
        </a:lt1>
        <a:dk2>
          <a:srgbClr val="6756A6"/>
        </a:dk2>
        <a:lt2>
          <a:srgbClr val="969696"/>
        </a:lt2>
        <a:accent1>
          <a:srgbClr val="99CCFF"/>
        </a:accent1>
        <a:accent2>
          <a:srgbClr val="008000"/>
        </a:accent2>
        <a:accent3>
          <a:srgbClr val="FFFFE2"/>
        </a:accent3>
        <a:accent4>
          <a:srgbClr val="000000"/>
        </a:accent4>
        <a:accent5>
          <a:srgbClr val="CAE2FF"/>
        </a:accent5>
        <a:accent6>
          <a:srgbClr val="007300"/>
        </a:accent6>
        <a:hlink>
          <a:srgbClr val="990033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7">
        <a:dk1>
          <a:srgbClr val="CC3300"/>
        </a:dk1>
        <a:lt1>
          <a:srgbClr val="99CCFF"/>
        </a:lt1>
        <a:dk2>
          <a:srgbClr val="003399"/>
        </a:dk2>
        <a:lt2>
          <a:srgbClr val="969696"/>
        </a:lt2>
        <a:accent1>
          <a:srgbClr val="CED7FE"/>
        </a:accent1>
        <a:accent2>
          <a:srgbClr val="FFFFFF"/>
        </a:accent2>
        <a:accent3>
          <a:srgbClr val="CAE2FF"/>
        </a:accent3>
        <a:accent4>
          <a:srgbClr val="AE2A00"/>
        </a:accent4>
        <a:accent5>
          <a:srgbClr val="E3E8FE"/>
        </a:accent5>
        <a:accent6>
          <a:srgbClr val="E7E7E7"/>
        </a:accent6>
        <a:hlink>
          <a:srgbClr val="006600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8">
        <a:dk1>
          <a:srgbClr val="006600"/>
        </a:dk1>
        <a:lt1>
          <a:srgbClr val="FFCC99"/>
        </a:lt1>
        <a:dk2>
          <a:srgbClr val="000000"/>
        </a:dk2>
        <a:lt2>
          <a:srgbClr val="B2B2B2"/>
        </a:lt2>
        <a:accent1>
          <a:srgbClr val="FFFFFF"/>
        </a:accent1>
        <a:accent2>
          <a:srgbClr val="FFFF66"/>
        </a:accent2>
        <a:accent3>
          <a:srgbClr val="FFE2CA"/>
        </a:accent3>
        <a:accent4>
          <a:srgbClr val="005600"/>
        </a:accent4>
        <a:accent5>
          <a:srgbClr val="FFFFFF"/>
        </a:accent5>
        <a:accent6>
          <a:srgbClr val="E7E75C"/>
        </a:accent6>
        <a:hlink>
          <a:srgbClr val="5B5B89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SM 预置配色-浅色">
      <a:dk1>
        <a:srgbClr val="000000"/>
      </a:dk1>
      <a:lt1>
        <a:srgbClr val="FFFFFF"/>
      </a:lt1>
      <a:dk2>
        <a:srgbClr val="F5F5F8"/>
      </a:dk2>
      <a:lt2>
        <a:srgbClr val="FFFFFF"/>
      </a:lt2>
      <a:accent1>
        <a:srgbClr val="577CCE"/>
      </a:accent1>
      <a:accent2>
        <a:srgbClr val="5999AF"/>
      </a:accent2>
      <a:accent3>
        <a:srgbClr val="5BA080"/>
      </a:accent3>
      <a:accent4>
        <a:srgbClr val="8BAA69"/>
      </a:accent4>
      <a:accent5>
        <a:srgbClr val="D6B250"/>
      </a:accent5>
      <a:accent6>
        <a:srgbClr val="E79647"/>
      </a:accent6>
      <a:hlink>
        <a:srgbClr val="0000FF"/>
      </a:hlink>
      <a:folHlink>
        <a:srgbClr val="FF00F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SM 预置配色-浅色">
      <a:dk1>
        <a:srgbClr val="000000"/>
      </a:dk1>
      <a:lt1>
        <a:srgbClr val="FFFFFF"/>
      </a:lt1>
      <a:dk2>
        <a:srgbClr val="F5F5F8"/>
      </a:dk2>
      <a:lt2>
        <a:srgbClr val="FFFFFF"/>
      </a:lt2>
      <a:accent1>
        <a:srgbClr val="577CCE"/>
      </a:accent1>
      <a:accent2>
        <a:srgbClr val="5999AF"/>
      </a:accent2>
      <a:accent3>
        <a:srgbClr val="5BA080"/>
      </a:accent3>
      <a:accent4>
        <a:srgbClr val="8BAA69"/>
      </a:accent4>
      <a:accent5>
        <a:srgbClr val="D6B250"/>
      </a:accent5>
      <a:accent6>
        <a:srgbClr val="E79647"/>
      </a:accent6>
      <a:hlink>
        <a:srgbClr val="0000FF"/>
      </a:hlink>
      <a:folHlink>
        <a:srgbClr val="FF00F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CDESIGNA</Template>
  <TotalTime>0</TotalTime>
  <Words>7414</Words>
  <Application>WPS 演示</Application>
  <PresentationFormat>宽屏</PresentationFormat>
  <Paragraphs>634</Paragraphs>
  <Slides>41</Slides>
  <Notes>22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3" baseType="lpstr">
      <vt:lpstr>Arial</vt:lpstr>
      <vt:lpstr>宋体</vt:lpstr>
      <vt:lpstr>Wingdings</vt:lpstr>
      <vt:lpstr>微软雅黑</vt:lpstr>
      <vt:lpstr>Times New Roman</vt:lpstr>
      <vt:lpstr>Arial Unicode MS</vt:lpstr>
      <vt:lpstr>Calibri</vt:lpstr>
      <vt:lpstr>等线</vt:lpstr>
      <vt:lpstr>万里长城</vt:lpstr>
      <vt:lpstr>2_Office 主题​​</vt:lpstr>
      <vt:lpstr>1_Office 主题​​</vt:lpstr>
      <vt:lpstr>Equation.DSMT4</vt:lpstr>
      <vt:lpstr>人工智能与机器学习</vt:lpstr>
      <vt:lpstr>第二章    智能AGENT（智能体）</vt:lpstr>
      <vt:lpstr>第二章    智能AGENT（智能体）</vt:lpstr>
      <vt:lpstr>智能体（Agent）基本定义</vt:lpstr>
      <vt:lpstr>PowerPoint 演示文稿</vt:lpstr>
      <vt:lpstr>PowerPoint 演示文稿</vt:lpstr>
      <vt:lpstr>真空吸尘器世界</vt:lpstr>
      <vt:lpstr>PowerPoint 演示文稿</vt:lpstr>
      <vt:lpstr>第二章    智能AGENT（智能体）</vt:lpstr>
      <vt:lpstr>PowerPoint 演示文稿</vt:lpstr>
      <vt:lpstr>PowerPoint 演示文稿</vt:lpstr>
      <vt:lpstr>PowerPoint 演示文稿</vt:lpstr>
      <vt:lpstr>自动真空吸尘器智能体是理性的吗？</vt:lpstr>
      <vt:lpstr>PowerPoint 演示文稿</vt:lpstr>
      <vt:lpstr>PowerPoint 演示文稿</vt:lpstr>
      <vt:lpstr>PowerPoint 演示文稿</vt:lpstr>
      <vt:lpstr>理性智能体≠全知者</vt:lpstr>
      <vt:lpstr>PowerPoint 演示文稿</vt:lpstr>
      <vt:lpstr>PowerPoint 演示文稿</vt:lpstr>
      <vt:lpstr>第二章    智能AGENT（智能体）</vt:lpstr>
      <vt:lpstr>任务环境</vt:lpstr>
      <vt:lpstr>任务环境的性质</vt:lpstr>
      <vt:lpstr>任务环境的例子</vt:lpstr>
      <vt:lpstr>第二章    智能AGENT（智能体）</vt:lpstr>
      <vt:lpstr>PowerPoint 演示文稿</vt:lpstr>
      <vt:lpstr>习题</vt:lpstr>
      <vt:lpstr>PowerPoint 演示文稿</vt:lpstr>
      <vt:lpstr>简单反射智能体</vt:lpstr>
      <vt:lpstr>具有模型的反射智能体</vt:lpstr>
      <vt:lpstr>基于目标的智能体</vt:lpstr>
      <vt:lpstr>基于效用（utility）的智能体</vt:lpstr>
      <vt:lpstr>学习智能体(Learning Agent)</vt:lpstr>
      <vt:lpstr>PowerPoint 演示文稿</vt:lpstr>
      <vt:lpstr>PowerPoint 演示文稿</vt:lpstr>
      <vt:lpstr>PowerPoint 演示文稿</vt:lpstr>
      <vt:lpstr>PowerPoint 演示文稿</vt:lpstr>
      <vt:lpstr>智能体特性</vt:lpstr>
      <vt:lpstr>PowerPoint 演示文稿</vt:lpstr>
      <vt:lpstr>小结</vt:lpstr>
      <vt:lpstr>小结（续）</vt:lpstr>
      <vt:lpstr>作  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jianming zhang</dc:creator>
  <cp:lastModifiedBy>周意尧</cp:lastModifiedBy>
  <cp:revision>386</cp:revision>
  <dcterms:created xsi:type="dcterms:W3CDTF">2021-08-27T01:09:00Z</dcterms:created>
  <dcterms:modified xsi:type="dcterms:W3CDTF">2025-01-07T11:44:19Z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9CD1BAA60B214750A4BF110EC6EB62D5</vt:lpwstr>
  </property>
  <property fmtid="{D5CDD505-2E9C-101B-9397-08002B2CF9AE}" pid="3" name="KSOProductBuildVer">
    <vt:lpwstr>2052-12.1.0.18276</vt:lpwstr>
  </property>
</Properties>
</file>