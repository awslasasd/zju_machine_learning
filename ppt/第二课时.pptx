
<file path=[Content_Types].xml><?xml version="1.0" encoding="utf-8"?>
<Types xmlns="http://schemas.openxmlformats.org/package/2006/content-types">
  <Default Extension="jpeg" ContentType="image/jpeg"/>
  <Default Extension="JPG" ContentType="image/.jpg"/>
  <Default Extension="png" ContentType="image/pn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8"/>
  </p:notesMasterIdLst>
  <p:sldIdLst>
    <p:sldId id="387" r:id="rId3"/>
    <p:sldId id="388" r:id="rId4"/>
    <p:sldId id="389" r:id="rId5"/>
    <p:sldId id="390" r:id="rId6"/>
    <p:sldId id="391" r:id="rId7"/>
    <p:sldId id="392" r:id="rId8"/>
    <p:sldId id="393" r:id="rId9"/>
    <p:sldId id="394" r:id="rId10"/>
    <p:sldId id="395" r:id="rId11"/>
    <p:sldId id="396" r:id="rId12"/>
    <p:sldId id="397" r:id="rId13"/>
    <p:sldId id="398" r:id="rId14"/>
    <p:sldId id="399" r:id="rId15"/>
    <p:sldId id="302" r:id="rId16"/>
    <p:sldId id="343" r:id="rId17"/>
    <p:sldId id="257" r:id="rId18"/>
    <p:sldId id="304" r:id="rId19"/>
    <p:sldId id="305" r:id="rId20"/>
    <p:sldId id="306" r:id="rId21"/>
    <p:sldId id="307" r:id="rId22"/>
    <p:sldId id="308" r:id="rId23"/>
    <p:sldId id="309" r:id="rId24"/>
    <p:sldId id="310" r:id="rId25"/>
    <p:sldId id="311" r:id="rId26"/>
    <p:sldId id="312" r:id="rId27"/>
    <p:sldId id="313" r:id="rId28"/>
    <p:sldId id="314" r:id="rId29"/>
    <p:sldId id="316" r:id="rId30"/>
    <p:sldId id="317" r:id="rId31"/>
    <p:sldId id="344" r:id="rId32"/>
    <p:sldId id="318" r:id="rId33"/>
    <p:sldId id="319" r:id="rId34"/>
    <p:sldId id="320" r:id="rId35"/>
    <p:sldId id="321" r:id="rId36"/>
    <p:sldId id="322" r:id="rId37"/>
    <p:sldId id="323" r:id="rId38"/>
    <p:sldId id="324" r:id="rId39"/>
    <p:sldId id="325" r:id="rId40"/>
    <p:sldId id="326" r:id="rId41"/>
    <p:sldId id="327" r:id="rId42"/>
    <p:sldId id="328" r:id="rId43"/>
    <p:sldId id="329" r:id="rId44"/>
    <p:sldId id="330" r:id="rId45"/>
    <p:sldId id="331" r:id="rId46"/>
    <p:sldId id="335" r:id="rId47"/>
    <p:sldId id="336" r:id="rId48"/>
    <p:sldId id="340" r:id="rId49"/>
    <p:sldId id="338" r:id="rId50"/>
    <p:sldId id="345" r:id="rId51"/>
    <p:sldId id="341" r:id="rId52"/>
    <p:sldId id="342" r:id="rId53"/>
    <p:sldId id="346" r:id="rId54"/>
    <p:sldId id="347" r:id="rId55"/>
    <p:sldId id="385" r:id="rId56"/>
    <p:sldId id="384" r:id="rId57"/>
  </p:sldIdLst>
  <p:sldSz cx="12192000" cy="6858000"/>
  <p:notesSz cx="6858000" cy="9144000"/>
  <p:custDataLst>
    <p:tags r:id="rId6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66" d="100"/>
          <a:sy n="66" d="100"/>
        </p:scale>
        <p:origin x="63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2" Type="http://schemas.openxmlformats.org/officeDocument/2006/relationships/tags" Target="tags/tag3.xml"/><Relationship Id="rId61" Type="http://schemas.openxmlformats.org/officeDocument/2006/relationships/tableStyles" Target="tableStyles.xml"/><Relationship Id="rId60" Type="http://schemas.openxmlformats.org/officeDocument/2006/relationships/viewProps" Target="viewProps.xml"/><Relationship Id="rId6" Type="http://schemas.openxmlformats.org/officeDocument/2006/relationships/slide" Target="slides/slide4.xml"/><Relationship Id="rId59" Type="http://schemas.openxmlformats.org/officeDocument/2006/relationships/presProps" Target="presProps.xml"/><Relationship Id="rId58" Type="http://schemas.openxmlformats.org/officeDocument/2006/relationships/notesMaster" Target="notesMasters/notesMaster1.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iagrams/_rels/data1.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image" Target="../media/image51.jpeg"/><Relationship Id="rId1" Type="http://schemas.openxmlformats.org/officeDocument/2006/relationships/image" Target="../media/image50.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image" Target="../media/image51.jpeg"/><Relationship Id="rId1" Type="http://schemas.openxmlformats.org/officeDocument/2006/relationships/image" Target="../media/image50.jpeg"/></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FD5AD45F-B6E1-4133-8567-0CB0DBD3A7DD}" type="doc">
      <dgm:prSet loTypeId="urn:microsoft.com/office/officeart/2005/8/layout/hList7#1" loCatId="process" qsTypeId="urn:microsoft.com/office/officeart/2005/8/quickstyle/simple1#1" qsCatId="simple" csTypeId="urn:microsoft.com/office/officeart/2005/8/colors/accent1_2#1" csCatId="accent1" phldr="1"/>
      <dgm:spPr/>
    </dgm:pt>
    <dgm:pt modelId="{10986E5E-D1E5-43B8-8ED9-397E1FE73D51}">
      <dgm:prSet phldrT="[文本]" custT="1"/>
      <dgm:spPr>
        <a:solidFill>
          <a:srgbClr val="FF0000"/>
        </a:solidFill>
      </dgm:spPr>
      <dgm:t>
        <a:bodyPr/>
        <a:lstStyle/>
        <a:p>
          <a:r>
            <a:rPr lang="zh-CN" altLang="en-US" sz="3200" b="1" dirty="0">
              <a:latin typeface="华文琥珀" panose="02010800040101010101" pitchFamily="2" charset="-122"/>
              <a:ea typeface="华文琥珀" panose="02010800040101010101" pitchFamily="2" charset="-122"/>
            </a:rPr>
            <a:t>人生价值观</a:t>
          </a:r>
        </a:p>
      </dgm:t>
    </dgm:pt>
    <dgm:pt modelId="{F4F97791-5834-42C8-A517-DCA6A8D45629}" cxnId="{432E2609-95A1-4CEE-BD87-9A92822C9120}" type="parTrans">
      <dgm:prSet/>
      <dgm:spPr/>
      <dgm:t>
        <a:bodyPr/>
        <a:lstStyle/>
        <a:p>
          <a:endParaRPr lang="zh-CN" altLang="en-US"/>
        </a:p>
      </dgm:t>
    </dgm:pt>
    <dgm:pt modelId="{E60D2025-9D98-4C1A-90E1-E43B0F32C358}" cxnId="{432E2609-95A1-4CEE-BD87-9A92822C9120}" type="sibTrans">
      <dgm:prSet/>
      <dgm:spPr/>
      <dgm:t>
        <a:bodyPr/>
        <a:lstStyle/>
        <a:p>
          <a:endParaRPr lang="zh-CN" altLang="en-US"/>
        </a:p>
      </dgm:t>
    </dgm:pt>
    <dgm:pt modelId="{690C9DE5-E66B-4A39-B8C4-B73664E4079A}">
      <dgm:prSet phldrT="[文本]" custT="1"/>
      <dgm:spPr>
        <a:solidFill>
          <a:srgbClr val="00CC00"/>
        </a:solidFill>
      </dgm:spPr>
      <dgm:t>
        <a:bodyPr/>
        <a:lstStyle/>
        <a:p>
          <a:r>
            <a:rPr lang="zh-CN" altLang="en-US" sz="3200" b="1" dirty="0">
              <a:solidFill>
                <a:srgbClr val="0000FF"/>
              </a:solidFill>
              <a:latin typeface="华文琥珀" panose="02010800040101010101" pitchFamily="2" charset="-122"/>
              <a:ea typeface="华文琥珀" panose="02010800040101010101" pitchFamily="2" charset="-122"/>
            </a:rPr>
            <a:t>素质能力</a:t>
          </a:r>
          <a:endParaRPr lang="zh-CN" altLang="en-US" sz="3200" dirty="0">
            <a:solidFill>
              <a:srgbClr val="0000FF"/>
            </a:solidFill>
            <a:latin typeface="华文琥珀" panose="02010800040101010101" pitchFamily="2" charset="-122"/>
            <a:ea typeface="华文琥珀" panose="02010800040101010101" pitchFamily="2" charset="-122"/>
          </a:endParaRPr>
        </a:p>
      </dgm:t>
    </dgm:pt>
    <dgm:pt modelId="{F98C9821-8C68-433D-AD67-6BC250E03A11}" cxnId="{B9175E0D-4C5A-4048-A581-E75E8F057F07}" type="parTrans">
      <dgm:prSet/>
      <dgm:spPr/>
      <dgm:t>
        <a:bodyPr/>
        <a:lstStyle/>
        <a:p>
          <a:endParaRPr lang="zh-CN" altLang="en-US"/>
        </a:p>
      </dgm:t>
    </dgm:pt>
    <dgm:pt modelId="{D078479D-F6F7-40C2-9D49-34F7E856B2D6}" cxnId="{B9175E0D-4C5A-4048-A581-E75E8F057F07}" type="sibTrans">
      <dgm:prSet/>
      <dgm:spPr/>
      <dgm:t>
        <a:bodyPr/>
        <a:lstStyle/>
        <a:p>
          <a:endParaRPr lang="zh-CN" altLang="en-US"/>
        </a:p>
      </dgm:t>
    </dgm:pt>
    <dgm:pt modelId="{DD8D22BB-46CD-44A6-8D38-B3C6F8B0AC60}">
      <dgm:prSet phldrT="[文本]" custT="1"/>
      <dgm:spPr>
        <a:solidFill>
          <a:srgbClr val="0000FF"/>
        </a:solidFill>
      </dgm:spPr>
      <dgm:t>
        <a:bodyPr/>
        <a:lstStyle/>
        <a:p>
          <a:r>
            <a:rPr lang="zh-CN" altLang="en-US" sz="3200" b="1" dirty="0">
              <a:latin typeface="华文琥珀" panose="02010800040101010101" pitchFamily="2" charset="-122"/>
              <a:ea typeface="华文琥珀" panose="02010800040101010101" pitchFamily="2" charset="-122"/>
            </a:rPr>
            <a:t>知识获取</a:t>
          </a:r>
        </a:p>
      </dgm:t>
    </dgm:pt>
    <dgm:pt modelId="{CE40F756-7D4A-4D47-9820-BB5FD5594CD2}" cxnId="{B8A0F87F-BBD1-4B0F-849E-6989F83891C9}" type="parTrans">
      <dgm:prSet/>
      <dgm:spPr/>
      <dgm:t>
        <a:bodyPr/>
        <a:lstStyle/>
        <a:p>
          <a:endParaRPr lang="zh-CN" altLang="en-US"/>
        </a:p>
      </dgm:t>
    </dgm:pt>
    <dgm:pt modelId="{64CCA68A-A80C-415E-96CA-2D759C0A3423}" cxnId="{B8A0F87F-BBD1-4B0F-849E-6989F83891C9}" type="sibTrans">
      <dgm:prSet/>
      <dgm:spPr/>
      <dgm:t>
        <a:bodyPr/>
        <a:lstStyle/>
        <a:p>
          <a:endParaRPr lang="zh-CN" altLang="en-US"/>
        </a:p>
      </dgm:t>
    </dgm:pt>
    <dgm:pt modelId="{82E004B7-683D-4913-A427-316684C2E72A}" type="pres">
      <dgm:prSet presAssocID="{FD5AD45F-B6E1-4133-8567-0CB0DBD3A7DD}" presName="Name0" presStyleCnt="0">
        <dgm:presLayoutVars>
          <dgm:dir/>
          <dgm:resizeHandles val="exact"/>
        </dgm:presLayoutVars>
      </dgm:prSet>
      <dgm:spPr/>
    </dgm:pt>
    <dgm:pt modelId="{8AE01FB9-6427-49C3-B6A4-D4BAA76979B2}" type="pres">
      <dgm:prSet presAssocID="{FD5AD45F-B6E1-4133-8567-0CB0DBD3A7DD}" presName="fgShape" presStyleLbl="fgShp" presStyleIdx="0" presStyleCnt="1" custScaleY="166910" custLinFactNeighborY="-21120"/>
      <dgm:spPr>
        <a:solidFill>
          <a:schemeClr val="bg1"/>
        </a:solidFill>
        <a:effectLst>
          <a:glow rad="228600">
            <a:schemeClr val="accent4">
              <a:satMod val="175000"/>
              <a:alpha val="40000"/>
            </a:schemeClr>
          </a:glow>
        </a:effectLst>
      </dgm:spPr>
    </dgm:pt>
    <dgm:pt modelId="{51FDB03E-69CF-48E3-8601-90F646C15387}" type="pres">
      <dgm:prSet presAssocID="{FD5AD45F-B6E1-4133-8567-0CB0DBD3A7DD}" presName="linComp" presStyleCnt="0"/>
      <dgm:spPr/>
    </dgm:pt>
    <dgm:pt modelId="{6D42BF86-6D71-46C1-A0B4-27F024B04775}" type="pres">
      <dgm:prSet presAssocID="{10986E5E-D1E5-43B8-8ED9-397E1FE73D51}" presName="compNode" presStyleCnt="0"/>
      <dgm:spPr/>
    </dgm:pt>
    <dgm:pt modelId="{8F78254F-363F-4F8F-B44C-511AD9B27315}" type="pres">
      <dgm:prSet presAssocID="{10986E5E-D1E5-43B8-8ED9-397E1FE73D51}" presName="bkgdShape" presStyleLbl="node1" presStyleIdx="0" presStyleCnt="3"/>
      <dgm:spPr/>
    </dgm:pt>
    <dgm:pt modelId="{0B980186-4240-4B0C-8475-6B186A22C90A}" type="pres">
      <dgm:prSet presAssocID="{10986E5E-D1E5-43B8-8ED9-397E1FE73D51}" presName="nodeTx" presStyleLbl="node1" presStyleIdx="0" presStyleCnt="3">
        <dgm:presLayoutVars>
          <dgm:bulletEnabled val="1"/>
        </dgm:presLayoutVars>
      </dgm:prSet>
      <dgm:spPr/>
    </dgm:pt>
    <dgm:pt modelId="{BE8975A8-99B9-48AC-99D6-73B3809458A0}" type="pres">
      <dgm:prSet presAssocID="{10986E5E-D1E5-43B8-8ED9-397E1FE73D51}" presName="invisiNode" presStyleLbl="node1" presStyleIdx="0" presStyleCnt="3"/>
      <dgm:spPr/>
    </dgm:pt>
    <dgm:pt modelId="{647F5DAD-978A-46F1-815F-401FE86D506D}" type="pres">
      <dgm:prSet presAssocID="{10986E5E-D1E5-43B8-8ED9-397E1FE73D51}" presName="imagNode" presStyleLbl="fgImgPlac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a:stretch>
            <a:fillRect l="-25000" r="-25000"/>
          </a:stretch>
        </a:blipFill>
      </dgm:spPr>
    </dgm:pt>
    <dgm:pt modelId="{23045EDD-091A-47C4-AD68-6F9559CC60AB}" type="pres">
      <dgm:prSet presAssocID="{E60D2025-9D98-4C1A-90E1-E43B0F32C358}" presName="sibTrans" presStyleLbl="sibTrans2D1" presStyleIdx="0" presStyleCnt="0"/>
      <dgm:spPr/>
    </dgm:pt>
    <dgm:pt modelId="{B388E0CF-90A2-4D54-9064-3DFC867DA0C7}" type="pres">
      <dgm:prSet presAssocID="{690C9DE5-E66B-4A39-B8C4-B73664E4079A}" presName="compNode" presStyleCnt="0"/>
      <dgm:spPr/>
    </dgm:pt>
    <dgm:pt modelId="{7AEADD2B-43AA-4A2C-84FE-2A8EE477D233}" type="pres">
      <dgm:prSet presAssocID="{690C9DE5-E66B-4A39-B8C4-B73664E4079A}" presName="bkgdShape" presStyleLbl="node1" presStyleIdx="1" presStyleCnt="3"/>
      <dgm:spPr/>
    </dgm:pt>
    <dgm:pt modelId="{8A8F9BE4-F266-4D25-A7AA-91C5835B0339}" type="pres">
      <dgm:prSet presAssocID="{690C9DE5-E66B-4A39-B8C4-B73664E4079A}" presName="nodeTx" presStyleLbl="node1" presStyleIdx="1" presStyleCnt="3">
        <dgm:presLayoutVars>
          <dgm:bulletEnabled val="1"/>
        </dgm:presLayoutVars>
      </dgm:prSet>
      <dgm:spPr/>
    </dgm:pt>
    <dgm:pt modelId="{343C30DC-EA96-4F6A-8146-EA04E42FBB3C}" type="pres">
      <dgm:prSet presAssocID="{690C9DE5-E66B-4A39-B8C4-B73664E4079A}" presName="invisiNode" presStyleLbl="node1" presStyleIdx="1" presStyleCnt="3"/>
      <dgm:spPr/>
    </dgm:pt>
    <dgm:pt modelId="{663530F6-4E3E-4B61-BE6E-CE182343396F}" type="pres">
      <dgm:prSet presAssocID="{690C9DE5-E66B-4A39-B8C4-B73664E4079A}" presName="imagNode" presStyleLbl="fgImgPlace1" presStyleIdx="1" presStyleCnt="3"/>
      <dgm:spPr>
        <a:blipFill>
          <a:blip xmlns:r="http://schemas.openxmlformats.org/officeDocument/2006/relationships" r:embed="rId2" cstate="print">
            <a:extLst>
              <a:ext uri="{28A0092B-C50C-407E-A947-70E740481C1C}">
                <a14:useLocalDpi xmlns:a14="http://schemas.microsoft.com/office/drawing/2010/main" val="0"/>
              </a:ext>
            </a:extLst>
          </a:blip>
          <a:srcRect/>
          <a:stretch>
            <a:fillRect/>
          </a:stretch>
        </a:blipFill>
      </dgm:spPr>
    </dgm:pt>
    <dgm:pt modelId="{9C0324F7-654D-462E-B643-E5E4D83F7D18}" type="pres">
      <dgm:prSet presAssocID="{D078479D-F6F7-40C2-9D49-34F7E856B2D6}" presName="sibTrans" presStyleLbl="sibTrans2D1" presStyleIdx="0" presStyleCnt="0"/>
      <dgm:spPr/>
    </dgm:pt>
    <dgm:pt modelId="{54BFA6F5-DA99-4787-8F72-47758388D53E}" type="pres">
      <dgm:prSet presAssocID="{DD8D22BB-46CD-44A6-8D38-B3C6F8B0AC60}" presName="compNode" presStyleCnt="0"/>
      <dgm:spPr/>
    </dgm:pt>
    <dgm:pt modelId="{80B02586-4300-4ABB-B226-48BB92A0792F}" type="pres">
      <dgm:prSet presAssocID="{DD8D22BB-46CD-44A6-8D38-B3C6F8B0AC60}" presName="bkgdShape" presStyleLbl="node1" presStyleIdx="2" presStyleCnt="3"/>
      <dgm:spPr/>
    </dgm:pt>
    <dgm:pt modelId="{F822C3E4-63C2-44F6-B064-DC5C54C2B0C6}" type="pres">
      <dgm:prSet presAssocID="{DD8D22BB-46CD-44A6-8D38-B3C6F8B0AC60}" presName="nodeTx" presStyleLbl="node1" presStyleIdx="2" presStyleCnt="3">
        <dgm:presLayoutVars>
          <dgm:bulletEnabled val="1"/>
        </dgm:presLayoutVars>
      </dgm:prSet>
      <dgm:spPr/>
    </dgm:pt>
    <dgm:pt modelId="{AD8E5CBC-17BB-4122-A2B2-A19A913D4C9E}" type="pres">
      <dgm:prSet presAssocID="{DD8D22BB-46CD-44A6-8D38-B3C6F8B0AC60}" presName="invisiNode" presStyleLbl="node1" presStyleIdx="2" presStyleCnt="3"/>
      <dgm:spPr/>
    </dgm:pt>
    <dgm:pt modelId="{C563BA55-D693-4DFF-95C4-5A22E75090CD}" type="pres">
      <dgm:prSet presAssocID="{DD8D22BB-46CD-44A6-8D38-B3C6F8B0AC60}" presName="imagNode" presStyleLbl="fgImgPlace1" presStyleIdx="2" presStyleCnt="3"/>
      <dgm:spPr>
        <a:blipFill>
          <a:blip xmlns:r="http://schemas.openxmlformats.org/officeDocument/2006/relationships" r:embed="rId3" cstate="print">
            <a:extLst>
              <a:ext uri="{28A0092B-C50C-407E-A947-70E740481C1C}">
                <a14:useLocalDpi xmlns:a14="http://schemas.microsoft.com/office/drawing/2010/main" val="0"/>
              </a:ext>
            </a:extLst>
          </a:blip>
          <a:srcRect/>
          <a:stretch>
            <a:fillRect l="-4000" r="-4000"/>
          </a:stretch>
        </a:blipFill>
      </dgm:spPr>
    </dgm:pt>
  </dgm:ptLst>
  <dgm:cxnLst>
    <dgm:cxn modelId="{432E2609-95A1-4CEE-BD87-9A92822C9120}" srcId="{FD5AD45F-B6E1-4133-8567-0CB0DBD3A7DD}" destId="{10986E5E-D1E5-43B8-8ED9-397E1FE73D51}" srcOrd="0" destOrd="0" parTransId="{F4F97791-5834-42C8-A517-DCA6A8D45629}" sibTransId="{E60D2025-9D98-4C1A-90E1-E43B0F32C358}"/>
    <dgm:cxn modelId="{B9175E0D-4C5A-4048-A581-E75E8F057F07}" srcId="{FD5AD45F-B6E1-4133-8567-0CB0DBD3A7DD}" destId="{690C9DE5-E66B-4A39-B8C4-B73664E4079A}" srcOrd="1" destOrd="0" parTransId="{F98C9821-8C68-433D-AD67-6BC250E03A11}" sibTransId="{D078479D-F6F7-40C2-9D49-34F7E856B2D6}"/>
    <dgm:cxn modelId="{D7D99A0E-46AA-447D-9A72-80A00667D30A}" type="presOf" srcId="{690C9DE5-E66B-4A39-B8C4-B73664E4079A}" destId="{7AEADD2B-43AA-4A2C-84FE-2A8EE477D233}" srcOrd="0" destOrd="0" presId="urn:microsoft.com/office/officeart/2005/8/layout/hList7#1"/>
    <dgm:cxn modelId="{F0B22F11-DDAA-4F4A-B49B-9E20488F5461}" type="presOf" srcId="{10986E5E-D1E5-43B8-8ED9-397E1FE73D51}" destId="{0B980186-4240-4B0C-8475-6B186A22C90A}" srcOrd="1" destOrd="0" presId="urn:microsoft.com/office/officeart/2005/8/layout/hList7#1"/>
    <dgm:cxn modelId="{BF8ADC19-74B6-434F-8FFF-470017FE1FB4}" type="presOf" srcId="{690C9DE5-E66B-4A39-B8C4-B73664E4079A}" destId="{8A8F9BE4-F266-4D25-A7AA-91C5835B0339}" srcOrd="1" destOrd="0" presId="urn:microsoft.com/office/officeart/2005/8/layout/hList7#1"/>
    <dgm:cxn modelId="{4DDD0D31-A934-4A0D-A65C-F69A863BB354}" type="presOf" srcId="{FD5AD45F-B6E1-4133-8567-0CB0DBD3A7DD}" destId="{82E004B7-683D-4913-A427-316684C2E72A}" srcOrd="0" destOrd="0" presId="urn:microsoft.com/office/officeart/2005/8/layout/hList7#1"/>
    <dgm:cxn modelId="{94DEA63A-80E3-4D3D-B23E-BEB4D3ACF2B6}" type="presOf" srcId="{DD8D22BB-46CD-44A6-8D38-B3C6F8B0AC60}" destId="{F822C3E4-63C2-44F6-B064-DC5C54C2B0C6}" srcOrd="1" destOrd="0" presId="urn:microsoft.com/office/officeart/2005/8/layout/hList7#1"/>
    <dgm:cxn modelId="{B8A0F87F-BBD1-4B0F-849E-6989F83891C9}" srcId="{FD5AD45F-B6E1-4133-8567-0CB0DBD3A7DD}" destId="{DD8D22BB-46CD-44A6-8D38-B3C6F8B0AC60}" srcOrd="2" destOrd="0" parTransId="{CE40F756-7D4A-4D47-9820-BB5FD5594CD2}" sibTransId="{64CCA68A-A80C-415E-96CA-2D759C0A3423}"/>
    <dgm:cxn modelId="{42213E94-3389-4FD6-ACC4-DF1482390207}" type="presOf" srcId="{E60D2025-9D98-4C1A-90E1-E43B0F32C358}" destId="{23045EDD-091A-47C4-AD68-6F9559CC60AB}" srcOrd="0" destOrd="0" presId="urn:microsoft.com/office/officeart/2005/8/layout/hList7#1"/>
    <dgm:cxn modelId="{D4C172A5-4635-4C12-B876-DE21A3E30F95}" type="presOf" srcId="{10986E5E-D1E5-43B8-8ED9-397E1FE73D51}" destId="{8F78254F-363F-4F8F-B44C-511AD9B27315}" srcOrd="0" destOrd="0" presId="urn:microsoft.com/office/officeart/2005/8/layout/hList7#1"/>
    <dgm:cxn modelId="{77B8ECBF-68B9-472D-9624-5C99A714447E}" type="presOf" srcId="{D078479D-F6F7-40C2-9D49-34F7E856B2D6}" destId="{9C0324F7-654D-462E-B643-E5E4D83F7D18}" srcOrd="0" destOrd="0" presId="urn:microsoft.com/office/officeart/2005/8/layout/hList7#1"/>
    <dgm:cxn modelId="{D69B73E3-EB1D-408A-9D72-FCEA1F58BDBE}" type="presOf" srcId="{DD8D22BB-46CD-44A6-8D38-B3C6F8B0AC60}" destId="{80B02586-4300-4ABB-B226-48BB92A0792F}" srcOrd="0" destOrd="0" presId="urn:microsoft.com/office/officeart/2005/8/layout/hList7#1"/>
    <dgm:cxn modelId="{74F664B4-70CD-4ECC-8B8B-E607B187871D}" type="presParOf" srcId="{82E004B7-683D-4913-A427-316684C2E72A}" destId="{8AE01FB9-6427-49C3-B6A4-D4BAA76979B2}" srcOrd="0" destOrd="0" presId="urn:microsoft.com/office/officeart/2005/8/layout/hList7#1"/>
    <dgm:cxn modelId="{705E625A-A5D1-421A-ADD0-14C05BAAD687}" type="presParOf" srcId="{82E004B7-683D-4913-A427-316684C2E72A}" destId="{51FDB03E-69CF-48E3-8601-90F646C15387}" srcOrd="1" destOrd="0" presId="urn:microsoft.com/office/officeart/2005/8/layout/hList7#1"/>
    <dgm:cxn modelId="{9B189DB6-307B-4D4B-BC85-75DC751BD241}" type="presParOf" srcId="{51FDB03E-69CF-48E3-8601-90F646C15387}" destId="{6D42BF86-6D71-46C1-A0B4-27F024B04775}" srcOrd="0" destOrd="0" presId="urn:microsoft.com/office/officeart/2005/8/layout/hList7#1"/>
    <dgm:cxn modelId="{D4A47DDB-FEBB-4D1C-B04F-23B517909653}" type="presParOf" srcId="{6D42BF86-6D71-46C1-A0B4-27F024B04775}" destId="{8F78254F-363F-4F8F-B44C-511AD9B27315}" srcOrd="0" destOrd="0" presId="urn:microsoft.com/office/officeart/2005/8/layout/hList7#1"/>
    <dgm:cxn modelId="{B57B47B5-3BB8-48E4-948F-67AB131C60CF}" type="presParOf" srcId="{6D42BF86-6D71-46C1-A0B4-27F024B04775}" destId="{0B980186-4240-4B0C-8475-6B186A22C90A}" srcOrd="1" destOrd="0" presId="urn:microsoft.com/office/officeart/2005/8/layout/hList7#1"/>
    <dgm:cxn modelId="{94481544-3EA5-4475-A4C6-ED8475179B70}" type="presParOf" srcId="{6D42BF86-6D71-46C1-A0B4-27F024B04775}" destId="{BE8975A8-99B9-48AC-99D6-73B3809458A0}" srcOrd="2" destOrd="0" presId="urn:microsoft.com/office/officeart/2005/8/layout/hList7#1"/>
    <dgm:cxn modelId="{54B62209-4B6A-4888-BCC8-6BC80A076423}" type="presParOf" srcId="{6D42BF86-6D71-46C1-A0B4-27F024B04775}" destId="{647F5DAD-978A-46F1-815F-401FE86D506D}" srcOrd="3" destOrd="0" presId="urn:microsoft.com/office/officeart/2005/8/layout/hList7#1"/>
    <dgm:cxn modelId="{CB3B48FE-3F27-479F-8D3C-BC786440EFC6}" type="presParOf" srcId="{51FDB03E-69CF-48E3-8601-90F646C15387}" destId="{23045EDD-091A-47C4-AD68-6F9559CC60AB}" srcOrd="1" destOrd="0" presId="urn:microsoft.com/office/officeart/2005/8/layout/hList7#1"/>
    <dgm:cxn modelId="{2E5B226D-E669-414A-929A-FB2235256937}" type="presParOf" srcId="{51FDB03E-69CF-48E3-8601-90F646C15387}" destId="{B388E0CF-90A2-4D54-9064-3DFC867DA0C7}" srcOrd="2" destOrd="0" presId="urn:microsoft.com/office/officeart/2005/8/layout/hList7#1"/>
    <dgm:cxn modelId="{7241DBA4-0B6B-412C-83F7-D518A1FFF275}" type="presParOf" srcId="{B388E0CF-90A2-4D54-9064-3DFC867DA0C7}" destId="{7AEADD2B-43AA-4A2C-84FE-2A8EE477D233}" srcOrd="0" destOrd="0" presId="urn:microsoft.com/office/officeart/2005/8/layout/hList7#1"/>
    <dgm:cxn modelId="{52B6D391-8051-4306-8134-108F4D4641EE}" type="presParOf" srcId="{B388E0CF-90A2-4D54-9064-3DFC867DA0C7}" destId="{8A8F9BE4-F266-4D25-A7AA-91C5835B0339}" srcOrd="1" destOrd="0" presId="urn:microsoft.com/office/officeart/2005/8/layout/hList7#1"/>
    <dgm:cxn modelId="{55C98E6B-2D5E-4A27-B571-C12359C110FB}" type="presParOf" srcId="{B388E0CF-90A2-4D54-9064-3DFC867DA0C7}" destId="{343C30DC-EA96-4F6A-8146-EA04E42FBB3C}" srcOrd="2" destOrd="0" presId="urn:microsoft.com/office/officeart/2005/8/layout/hList7#1"/>
    <dgm:cxn modelId="{8F280C6F-E2C7-4D20-A74B-974DA20393FB}" type="presParOf" srcId="{B388E0CF-90A2-4D54-9064-3DFC867DA0C7}" destId="{663530F6-4E3E-4B61-BE6E-CE182343396F}" srcOrd="3" destOrd="0" presId="urn:microsoft.com/office/officeart/2005/8/layout/hList7#1"/>
    <dgm:cxn modelId="{E969872F-5DD3-49B7-B240-FCA4E6D87409}" type="presParOf" srcId="{51FDB03E-69CF-48E3-8601-90F646C15387}" destId="{9C0324F7-654D-462E-B643-E5E4D83F7D18}" srcOrd="3" destOrd="0" presId="urn:microsoft.com/office/officeart/2005/8/layout/hList7#1"/>
    <dgm:cxn modelId="{AF6E1902-696F-4320-AE6C-7D179404A9E0}" type="presParOf" srcId="{51FDB03E-69CF-48E3-8601-90F646C15387}" destId="{54BFA6F5-DA99-4787-8F72-47758388D53E}" srcOrd="4" destOrd="0" presId="urn:microsoft.com/office/officeart/2005/8/layout/hList7#1"/>
    <dgm:cxn modelId="{9AB627FE-BE85-4798-BA77-A25D685C96D2}" type="presParOf" srcId="{54BFA6F5-DA99-4787-8F72-47758388D53E}" destId="{80B02586-4300-4ABB-B226-48BB92A0792F}" srcOrd="0" destOrd="0" presId="urn:microsoft.com/office/officeart/2005/8/layout/hList7#1"/>
    <dgm:cxn modelId="{E295B471-02EB-41F4-A2A0-F61F952953B5}" type="presParOf" srcId="{54BFA6F5-DA99-4787-8F72-47758388D53E}" destId="{F822C3E4-63C2-44F6-B064-DC5C54C2B0C6}" srcOrd="1" destOrd="0" presId="urn:microsoft.com/office/officeart/2005/8/layout/hList7#1"/>
    <dgm:cxn modelId="{DFF0FFD0-07E4-4C32-99A3-1F464DE5EF2E}" type="presParOf" srcId="{54BFA6F5-DA99-4787-8F72-47758388D53E}" destId="{AD8E5CBC-17BB-4122-A2B2-A19A913D4C9E}" srcOrd="2" destOrd="0" presId="urn:microsoft.com/office/officeart/2005/8/layout/hList7#1"/>
    <dgm:cxn modelId="{0C012687-9600-4386-BFEF-99596DD371B7}" type="presParOf" srcId="{54BFA6F5-DA99-4787-8F72-47758388D53E}" destId="{C563BA55-D693-4DFF-95C4-5A22E75090CD}" srcOrd="3" destOrd="0" presId="urn:microsoft.com/office/officeart/2005/8/layout/hList7#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C7193E7-D5D8-4463-8695-31B3D563E658}" type="doc">
      <dgm:prSet loTypeId="urn:microsoft.com/office/officeart/2005/8/layout/radial6#1" loCatId="relationship" qsTypeId="urn:microsoft.com/office/officeart/2005/8/quickstyle/3d3#1" qsCatId="3D" csTypeId="urn:microsoft.com/office/officeart/2005/8/colors/colorful1#1" csCatId="colorful" phldr="1"/>
      <dgm:spPr/>
      <dgm:t>
        <a:bodyPr/>
        <a:lstStyle/>
        <a:p>
          <a:endParaRPr lang="zh-CN" altLang="en-US"/>
        </a:p>
      </dgm:t>
    </dgm:pt>
    <dgm:pt modelId="{D28A22A9-0E1A-4995-A26E-578BD5EA18D8}">
      <dgm:prSet phldrT="[文本]"/>
      <dgm:spPr>
        <a:solidFill>
          <a:srgbClr val="0000CC"/>
        </a:solidFill>
      </dgm:spPr>
      <dgm:t>
        <a:bodyPr/>
        <a:lstStyle/>
        <a:p>
          <a:r>
            <a:rPr lang="zh-CN" b="1" dirty="0">
              <a:latin typeface="黑体" panose="02010609060101010101" charset="-122"/>
              <a:ea typeface="黑体" panose="02010609060101010101" charset="-122"/>
            </a:rPr>
            <a:t>形上为道</a:t>
          </a:r>
          <a:endParaRPr lang="zh-CN" altLang="en-US" b="1" dirty="0">
            <a:latin typeface="黑体" panose="02010609060101010101" charset="-122"/>
            <a:ea typeface="黑体" panose="02010609060101010101" charset="-122"/>
          </a:endParaRPr>
        </a:p>
      </dgm:t>
    </dgm:pt>
    <dgm:pt modelId="{B4FA1D35-FCE8-4C46-9328-95225B1E3805}" cxnId="{8F87C838-B5FD-4CFA-8720-D0A08DCBE3A7}" type="parTrans">
      <dgm:prSet/>
      <dgm:spPr/>
      <dgm:t>
        <a:bodyPr/>
        <a:lstStyle/>
        <a:p>
          <a:endParaRPr lang="zh-CN" altLang="en-US" b="1">
            <a:latin typeface="黑体" panose="02010609060101010101" charset="-122"/>
            <a:ea typeface="黑体" panose="02010609060101010101" charset="-122"/>
          </a:endParaRPr>
        </a:p>
      </dgm:t>
    </dgm:pt>
    <dgm:pt modelId="{805E9C5B-BA5A-46BC-A5EC-2EE86366AA25}" cxnId="{8F87C838-B5FD-4CFA-8720-D0A08DCBE3A7}" type="sibTrans">
      <dgm:prSet/>
      <dgm:spPr/>
      <dgm:t>
        <a:bodyPr/>
        <a:lstStyle/>
        <a:p>
          <a:endParaRPr lang="zh-CN" altLang="en-US" b="1">
            <a:latin typeface="黑体" panose="02010609060101010101" charset="-122"/>
            <a:ea typeface="黑体" panose="02010609060101010101" charset="-122"/>
          </a:endParaRPr>
        </a:p>
      </dgm:t>
    </dgm:pt>
    <dgm:pt modelId="{A5197B52-420D-497E-8252-352408A485FB}">
      <dgm:prSet phldrT="[文本]"/>
      <dgm:spPr>
        <a:solidFill>
          <a:srgbClr val="00FF00"/>
        </a:solidFill>
      </dgm:spPr>
      <dgm:t>
        <a:bodyPr/>
        <a:lstStyle/>
        <a:p>
          <a:r>
            <a:rPr lang="zh-CN" b="1" dirty="0">
              <a:solidFill>
                <a:srgbClr val="0000FF"/>
              </a:solidFill>
              <a:latin typeface="黑体" panose="02010609060101010101" charset="-122"/>
              <a:ea typeface="黑体" panose="02010609060101010101" charset="-122"/>
            </a:rPr>
            <a:t>开物前民</a:t>
          </a:r>
          <a:endParaRPr lang="zh-CN" altLang="en-US" b="1" dirty="0">
            <a:solidFill>
              <a:srgbClr val="0000FF"/>
            </a:solidFill>
            <a:latin typeface="黑体" panose="02010609060101010101" charset="-122"/>
            <a:ea typeface="黑体" panose="02010609060101010101" charset="-122"/>
          </a:endParaRPr>
        </a:p>
      </dgm:t>
    </dgm:pt>
    <dgm:pt modelId="{7D2F7D6F-FD97-49B2-960F-C7426E849869}" cxnId="{C65C85F1-32B4-4C07-8C95-60B54E399128}" type="parTrans">
      <dgm:prSet/>
      <dgm:spPr/>
      <dgm:t>
        <a:bodyPr/>
        <a:lstStyle/>
        <a:p>
          <a:endParaRPr lang="zh-CN" altLang="en-US" b="1">
            <a:latin typeface="黑体" panose="02010609060101010101" charset="-122"/>
            <a:ea typeface="黑体" panose="02010609060101010101" charset="-122"/>
          </a:endParaRPr>
        </a:p>
      </dgm:t>
    </dgm:pt>
    <dgm:pt modelId="{90801B06-B21C-472F-B692-541151872E0C}" cxnId="{C65C85F1-32B4-4C07-8C95-60B54E399128}" type="sibTrans">
      <dgm:prSet/>
      <dgm:spPr/>
      <dgm:t>
        <a:bodyPr/>
        <a:lstStyle/>
        <a:p>
          <a:endParaRPr lang="zh-CN" altLang="en-US" b="1">
            <a:latin typeface="黑体" panose="02010609060101010101" charset="-122"/>
            <a:ea typeface="黑体" panose="02010609060101010101" charset="-122"/>
          </a:endParaRPr>
        </a:p>
      </dgm:t>
    </dgm:pt>
    <dgm:pt modelId="{120ABF47-CFEE-4456-9051-4F3D461A9A65}">
      <dgm:prSet phldrT="[文本]"/>
      <dgm:spPr>
        <a:solidFill>
          <a:srgbClr val="7030A0"/>
        </a:solidFill>
      </dgm:spPr>
      <dgm:t>
        <a:bodyPr/>
        <a:lstStyle/>
        <a:p>
          <a:r>
            <a:rPr lang="zh-CN" b="1" dirty="0">
              <a:latin typeface="黑体" panose="02010609060101010101" charset="-122"/>
              <a:ea typeface="黑体" panose="02010609060101010101" charset="-122"/>
            </a:rPr>
            <a:t>形下为器</a:t>
          </a:r>
          <a:endParaRPr lang="zh-CN" altLang="en-US" b="1" dirty="0">
            <a:latin typeface="黑体" panose="02010609060101010101" charset="-122"/>
            <a:ea typeface="黑体" panose="02010609060101010101" charset="-122"/>
          </a:endParaRPr>
        </a:p>
      </dgm:t>
    </dgm:pt>
    <dgm:pt modelId="{6BCC3382-ECAD-4527-A549-8BC71A008AB4}" cxnId="{11284D49-2E0D-4E7F-A725-B9A1511F6D98}" type="parTrans">
      <dgm:prSet/>
      <dgm:spPr/>
      <dgm:t>
        <a:bodyPr/>
        <a:lstStyle/>
        <a:p>
          <a:endParaRPr lang="zh-CN" altLang="en-US" b="1">
            <a:latin typeface="黑体" panose="02010609060101010101" charset="-122"/>
            <a:ea typeface="黑体" panose="02010609060101010101" charset="-122"/>
          </a:endParaRPr>
        </a:p>
      </dgm:t>
    </dgm:pt>
    <dgm:pt modelId="{C165633C-3290-45DE-8BAB-7EA2FF776885}" cxnId="{11284D49-2E0D-4E7F-A725-B9A1511F6D98}" type="sibTrans">
      <dgm:prSet/>
      <dgm:spPr/>
      <dgm:t>
        <a:bodyPr/>
        <a:lstStyle/>
        <a:p>
          <a:endParaRPr lang="zh-CN" altLang="en-US" b="1">
            <a:latin typeface="黑体" panose="02010609060101010101" charset="-122"/>
            <a:ea typeface="黑体" panose="02010609060101010101" charset="-122"/>
          </a:endParaRPr>
        </a:p>
      </dgm:t>
    </dgm:pt>
    <dgm:pt modelId="{0DA4100D-7813-4A21-80F3-304833279FBD}">
      <dgm:prSet phldrT="[文本]"/>
      <dgm:spPr>
        <a:solidFill>
          <a:srgbClr val="FF0000"/>
        </a:solidFill>
      </dgm:spPr>
      <dgm:t>
        <a:bodyPr/>
        <a:lstStyle/>
        <a:p>
          <a:r>
            <a:rPr lang="zh-CN" b="1" dirty="0">
              <a:latin typeface="黑体" panose="02010609060101010101" charset="-122"/>
              <a:ea typeface="黑体" panose="02010609060101010101" charset="-122"/>
            </a:rPr>
            <a:t>何以新之</a:t>
          </a:r>
          <a:endParaRPr lang="zh-CN" altLang="en-US" b="1" dirty="0">
            <a:latin typeface="黑体" panose="02010609060101010101" charset="-122"/>
            <a:ea typeface="黑体" panose="02010609060101010101" charset="-122"/>
          </a:endParaRPr>
        </a:p>
      </dgm:t>
    </dgm:pt>
    <dgm:pt modelId="{0B561E81-EF70-4BA6-A60A-84B325E23B9A}" cxnId="{6F0C7C82-D768-496A-9FB8-5519A64CC6D9}" type="parTrans">
      <dgm:prSet/>
      <dgm:spPr/>
      <dgm:t>
        <a:bodyPr/>
        <a:lstStyle/>
        <a:p>
          <a:endParaRPr lang="zh-CN" altLang="en-US" b="1">
            <a:latin typeface="黑体" panose="02010609060101010101" charset="-122"/>
            <a:ea typeface="黑体" panose="02010609060101010101" charset="-122"/>
          </a:endParaRPr>
        </a:p>
      </dgm:t>
    </dgm:pt>
    <dgm:pt modelId="{35EE340B-AE1C-4E6C-86EE-C7794475EE9C}" cxnId="{6F0C7C82-D768-496A-9FB8-5519A64CC6D9}" type="sibTrans">
      <dgm:prSet/>
      <dgm:spPr/>
      <dgm:t>
        <a:bodyPr/>
        <a:lstStyle/>
        <a:p>
          <a:endParaRPr lang="zh-CN" altLang="en-US" b="1">
            <a:latin typeface="黑体" panose="02010609060101010101" charset="-122"/>
            <a:ea typeface="黑体" panose="02010609060101010101" charset="-122"/>
          </a:endParaRPr>
        </a:p>
      </dgm:t>
    </dgm:pt>
    <dgm:pt modelId="{851FEEC6-1806-417E-AD52-2D22FAB25E16}">
      <dgm:prSet phldrT="[文本]"/>
      <dgm:spPr>
        <a:solidFill>
          <a:srgbClr val="FF0000"/>
        </a:solidFill>
      </dgm:spPr>
      <dgm:t>
        <a:bodyPr/>
        <a:lstStyle/>
        <a:p>
          <a:r>
            <a:rPr lang="zh-CN" altLang="en-US" b="1" dirty="0">
              <a:latin typeface="华文琥珀" panose="02010800040101010101" pitchFamily="2" charset="-122"/>
              <a:ea typeface="华文琥珀" panose="02010800040101010101" pitchFamily="2" charset="-122"/>
            </a:rPr>
            <a:t>求是</a:t>
          </a:r>
        </a:p>
      </dgm:t>
    </dgm:pt>
    <dgm:pt modelId="{6130A297-1D72-4EE5-A97A-4D9C742286B5}" cxnId="{E2D99099-34D4-4A01-A128-506B601455F8}" type="sibTrans">
      <dgm:prSet/>
      <dgm:spPr/>
      <dgm:t>
        <a:bodyPr/>
        <a:lstStyle/>
        <a:p>
          <a:endParaRPr lang="zh-CN" altLang="en-US" b="1">
            <a:latin typeface="黑体" panose="02010609060101010101" charset="-122"/>
            <a:ea typeface="黑体" panose="02010609060101010101" charset="-122"/>
          </a:endParaRPr>
        </a:p>
      </dgm:t>
    </dgm:pt>
    <dgm:pt modelId="{934536EB-7FF0-4059-BE25-D0782BC18E7E}" cxnId="{E2D99099-34D4-4A01-A128-506B601455F8}" type="parTrans">
      <dgm:prSet/>
      <dgm:spPr/>
      <dgm:t>
        <a:bodyPr/>
        <a:lstStyle/>
        <a:p>
          <a:endParaRPr lang="zh-CN" altLang="en-US" b="1">
            <a:latin typeface="黑体" panose="02010609060101010101" charset="-122"/>
            <a:ea typeface="黑体" panose="02010609060101010101" charset="-122"/>
          </a:endParaRPr>
        </a:p>
      </dgm:t>
    </dgm:pt>
    <dgm:pt modelId="{84BDF067-95A2-46E0-9382-AB61A36DBDCA}" type="pres">
      <dgm:prSet presAssocID="{2C7193E7-D5D8-4463-8695-31B3D563E658}" presName="Name0" presStyleCnt="0">
        <dgm:presLayoutVars>
          <dgm:chMax val="1"/>
          <dgm:dir/>
          <dgm:animLvl val="ctr"/>
          <dgm:resizeHandles val="exact"/>
        </dgm:presLayoutVars>
      </dgm:prSet>
      <dgm:spPr/>
    </dgm:pt>
    <dgm:pt modelId="{30FD03E1-A53D-4A23-87CF-5ABEF995C9A1}" type="pres">
      <dgm:prSet presAssocID="{851FEEC6-1806-417E-AD52-2D22FAB25E16}" presName="centerShape" presStyleLbl="node0" presStyleIdx="0" presStyleCnt="1"/>
      <dgm:spPr/>
    </dgm:pt>
    <dgm:pt modelId="{432BB96D-8FC8-4CC0-9D52-EC8D75E5E1CB}" type="pres">
      <dgm:prSet presAssocID="{D28A22A9-0E1A-4995-A26E-578BD5EA18D8}" presName="node" presStyleLbl="node1" presStyleIdx="0" presStyleCnt="4">
        <dgm:presLayoutVars>
          <dgm:bulletEnabled val="1"/>
        </dgm:presLayoutVars>
      </dgm:prSet>
      <dgm:spPr/>
    </dgm:pt>
    <dgm:pt modelId="{0B5345DF-7DF8-44DB-88C4-7DADC03FD151}" type="pres">
      <dgm:prSet presAssocID="{D28A22A9-0E1A-4995-A26E-578BD5EA18D8}" presName="dummy" presStyleCnt="0"/>
      <dgm:spPr/>
    </dgm:pt>
    <dgm:pt modelId="{9C0E4B49-EE9B-4D18-9C05-E8AEDD4CA609}" type="pres">
      <dgm:prSet presAssocID="{805E9C5B-BA5A-46BC-A5EC-2EE86366AA25}" presName="sibTrans" presStyleLbl="sibTrans2D1" presStyleIdx="0" presStyleCnt="4"/>
      <dgm:spPr/>
    </dgm:pt>
    <dgm:pt modelId="{0E0E5DFD-C853-4B87-963A-8ECCC2A96902}" type="pres">
      <dgm:prSet presAssocID="{A5197B52-420D-497E-8252-352408A485FB}" presName="node" presStyleLbl="node1" presStyleIdx="1" presStyleCnt="4">
        <dgm:presLayoutVars>
          <dgm:bulletEnabled val="1"/>
        </dgm:presLayoutVars>
      </dgm:prSet>
      <dgm:spPr/>
    </dgm:pt>
    <dgm:pt modelId="{B7C9E605-4E30-4471-A188-49CE8F965BBA}" type="pres">
      <dgm:prSet presAssocID="{A5197B52-420D-497E-8252-352408A485FB}" presName="dummy" presStyleCnt="0"/>
      <dgm:spPr/>
    </dgm:pt>
    <dgm:pt modelId="{F2B4D239-DDCC-413C-BF3D-40EB29E649FE}" type="pres">
      <dgm:prSet presAssocID="{90801B06-B21C-472F-B692-541151872E0C}" presName="sibTrans" presStyleLbl="sibTrans2D1" presStyleIdx="1" presStyleCnt="4"/>
      <dgm:spPr/>
    </dgm:pt>
    <dgm:pt modelId="{42E7BD58-C11F-41C4-8E5B-CA80EB1481BF}" type="pres">
      <dgm:prSet presAssocID="{120ABF47-CFEE-4456-9051-4F3D461A9A65}" presName="node" presStyleLbl="node1" presStyleIdx="2" presStyleCnt="4">
        <dgm:presLayoutVars>
          <dgm:bulletEnabled val="1"/>
        </dgm:presLayoutVars>
      </dgm:prSet>
      <dgm:spPr/>
    </dgm:pt>
    <dgm:pt modelId="{FAA0BAA8-AD24-498B-ADD2-A9F06C74CC0A}" type="pres">
      <dgm:prSet presAssocID="{120ABF47-CFEE-4456-9051-4F3D461A9A65}" presName="dummy" presStyleCnt="0"/>
      <dgm:spPr/>
    </dgm:pt>
    <dgm:pt modelId="{5C3CEF08-4CC8-40ED-B2F8-99637D0A0998}" type="pres">
      <dgm:prSet presAssocID="{C165633C-3290-45DE-8BAB-7EA2FF776885}" presName="sibTrans" presStyleLbl="sibTrans2D1" presStyleIdx="2" presStyleCnt="4"/>
      <dgm:spPr/>
    </dgm:pt>
    <dgm:pt modelId="{36ED5201-1BAA-4C64-88A8-A60FE3682DB3}" type="pres">
      <dgm:prSet presAssocID="{0DA4100D-7813-4A21-80F3-304833279FBD}" presName="node" presStyleLbl="node1" presStyleIdx="3" presStyleCnt="4">
        <dgm:presLayoutVars>
          <dgm:bulletEnabled val="1"/>
        </dgm:presLayoutVars>
      </dgm:prSet>
      <dgm:spPr/>
    </dgm:pt>
    <dgm:pt modelId="{42F05296-196E-40D6-B9AB-75F23EC0E23B}" type="pres">
      <dgm:prSet presAssocID="{0DA4100D-7813-4A21-80F3-304833279FBD}" presName="dummy" presStyleCnt="0"/>
      <dgm:spPr/>
    </dgm:pt>
    <dgm:pt modelId="{6DE2F0CF-AA1D-4ACA-B031-D5AA0D9BAA08}" type="pres">
      <dgm:prSet presAssocID="{35EE340B-AE1C-4E6C-86EE-C7794475EE9C}" presName="sibTrans" presStyleLbl="sibTrans2D1" presStyleIdx="3" presStyleCnt="4"/>
      <dgm:spPr/>
    </dgm:pt>
  </dgm:ptLst>
  <dgm:cxnLst>
    <dgm:cxn modelId="{22AB7505-D607-4B19-968B-DEA2148BD0A5}" type="presOf" srcId="{35EE340B-AE1C-4E6C-86EE-C7794475EE9C}" destId="{6DE2F0CF-AA1D-4ACA-B031-D5AA0D9BAA08}" srcOrd="0" destOrd="0" presId="urn:microsoft.com/office/officeart/2005/8/layout/radial6#1"/>
    <dgm:cxn modelId="{649BA829-D006-40D9-A73A-4ECCD7AD351E}" type="presOf" srcId="{120ABF47-CFEE-4456-9051-4F3D461A9A65}" destId="{42E7BD58-C11F-41C4-8E5B-CA80EB1481BF}" srcOrd="0" destOrd="0" presId="urn:microsoft.com/office/officeart/2005/8/layout/radial6#1"/>
    <dgm:cxn modelId="{EEF26A2F-C890-4799-A0BE-54F233BE794A}" type="presOf" srcId="{805E9C5B-BA5A-46BC-A5EC-2EE86366AA25}" destId="{9C0E4B49-EE9B-4D18-9C05-E8AEDD4CA609}" srcOrd="0" destOrd="0" presId="urn:microsoft.com/office/officeart/2005/8/layout/radial6#1"/>
    <dgm:cxn modelId="{8F87C838-B5FD-4CFA-8720-D0A08DCBE3A7}" srcId="{851FEEC6-1806-417E-AD52-2D22FAB25E16}" destId="{D28A22A9-0E1A-4995-A26E-578BD5EA18D8}" srcOrd="0" destOrd="0" parTransId="{B4FA1D35-FCE8-4C46-9328-95225B1E3805}" sibTransId="{805E9C5B-BA5A-46BC-A5EC-2EE86366AA25}"/>
    <dgm:cxn modelId="{D52F4B3B-6689-42D8-9F57-ED8B839D8C3C}" type="presOf" srcId="{90801B06-B21C-472F-B692-541151872E0C}" destId="{F2B4D239-DDCC-413C-BF3D-40EB29E649FE}" srcOrd="0" destOrd="0" presId="urn:microsoft.com/office/officeart/2005/8/layout/radial6#1"/>
    <dgm:cxn modelId="{4B95DF5E-39C7-4E57-A4C8-FC0EBF3E8607}" type="presOf" srcId="{D28A22A9-0E1A-4995-A26E-578BD5EA18D8}" destId="{432BB96D-8FC8-4CC0-9D52-EC8D75E5E1CB}" srcOrd="0" destOrd="0" presId="urn:microsoft.com/office/officeart/2005/8/layout/radial6#1"/>
    <dgm:cxn modelId="{E8711345-F8E7-44F2-9AD4-23D4ED470048}" type="presOf" srcId="{2C7193E7-D5D8-4463-8695-31B3D563E658}" destId="{84BDF067-95A2-46E0-9382-AB61A36DBDCA}" srcOrd="0" destOrd="0" presId="urn:microsoft.com/office/officeart/2005/8/layout/radial6#1"/>
    <dgm:cxn modelId="{11284D49-2E0D-4E7F-A725-B9A1511F6D98}" srcId="{851FEEC6-1806-417E-AD52-2D22FAB25E16}" destId="{120ABF47-CFEE-4456-9051-4F3D461A9A65}" srcOrd="2" destOrd="0" parTransId="{6BCC3382-ECAD-4527-A549-8BC71A008AB4}" sibTransId="{C165633C-3290-45DE-8BAB-7EA2FF776885}"/>
    <dgm:cxn modelId="{46091177-188C-45A4-8F23-F2BBA294A193}" type="presOf" srcId="{C165633C-3290-45DE-8BAB-7EA2FF776885}" destId="{5C3CEF08-4CC8-40ED-B2F8-99637D0A0998}" srcOrd="0" destOrd="0" presId="urn:microsoft.com/office/officeart/2005/8/layout/radial6#1"/>
    <dgm:cxn modelId="{6F0C7C82-D768-496A-9FB8-5519A64CC6D9}" srcId="{851FEEC6-1806-417E-AD52-2D22FAB25E16}" destId="{0DA4100D-7813-4A21-80F3-304833279FBD}" srcOrd="3" destOrd="0" parTransId="{0B561E81-EF70-4BA6-A60A-84B325E23B9A}" sibTransId="{35EE340B-AE1C-4E6C-86EE-C7794475EE9C}"/>
    <dgm:cxn modelId="{316C4488-7651-41E8-A677-68B4D6B02562}" type="presOf" srcId="{A5197B52-420D-497E-8252-352408A485FB}" destId="{0E0E5DFD-C853-4B87-963A-8ECCC2A96902}" srcOrd="0" destOrd="0" presId="urn:microsoft.com/office/officeart/2005/8/layout/radial6#1"/>
    <dgm:cxn modelId="{E2D99099-34D4-4A01-A128-506B601455F8}" srcId="{2C7193E7-D5D8-4463-8695-31B3D563E658}" destId="{851FEEC6-1806-417E-AD52-2D22FAB25E16}" srcOrd="0" destOrd="0" parTransId="{934536EB-7FF0-4059-BE25-D0782BC18E7E}" sibTransId="{6130A297-1D72-4EE5-A97A-4D9C742286B5}"/>
    <dgm:cxn modelId="{A10D62DE-C468-4FF3-8162-78FE0615472A}" type="presOf" srcId="{851FEEC6-1806-417E-AD52-2D22FAB25E16}" destId="{30FD03E1-A53D-4A23-87CF-5ABEF995C9A1}" srcOrd="0" destOrd="0" presId="urn:microsoft.com/office/officeart/2005/8/layout/radial6#1"/>
    <dgm:cxn modelId="{C65C85F1-32B4-4C07-8C95-60B54E399128}" srcId="{851FEEC6-1806-417E-AD52-2D22FAB25E16}" destId="{A5197B52-420D-497E-8252-352408A485FB}" srcOrd="1" destOrd="0" parTransId="{7D2F7D6F-FD97-49B2-960F-C7426E849869}" sibTransId="{90801B06-B21C-472F-B692-541151872E0C}"/>
    <dgm:cxn modelId="{26B0A7F7-4BD5-4FFD-9E0A-B40CECA7325C}" type="presOf" srcId="{0DA4100D-7813-4A21-80F3-304833279FBD}" destId="{36ED5201-1BAA-4C64-88A8-A60FE3682DB3}" srcOrd="0" destOrd="0" presId="urn:microsoft.com/office/officeart/2005/8/layout/radial6#1"/>
    <dgm:cxn modelId="{495E56B0-0618-4493-85FC-4061119DB8E5}" type="presParOf" srcId="{84BDF067-95A2-46E0-9382-AB61A36DBDCA}" destId="{30FD03E1-A53D-4A23-87CF-5ABEF995C9A1}" srcOrd="0" destOrd="0" presId="urn:microsoft.com/office/officeart/2005/8/layout/radial6#1"/>
    <dgm:cxn modelId="{4F472C55-638F-4336-A4A2-E3944787671B}" type="presParOf" srcId="{84BDF067-95A2-46E0-9382-AB61A36DBDCA}" destId="{432BB96D-8FC8-4CC0-9D52-EC8D75E5E1CB}" srcOrd="1" destOrd="0" presId="urn:microsoft.com/office/officeart/2005/8/layout/radial6#1"/>
    <dgm:cxn modelId="{803A56B8-CF31-4CF7-9762-E6D978A81899}" type="presParOf" srcId="{84BDF067-95A2-46E0-9382-AB61A36DBDCA}" destId="{0B5345DF-7DF8-44DB-88C4-7DADC03FD151}" srcOrd="2" destOrd="0" presId="urn:microsoft.com/office/officeart/2005/8/layout/radial6#1"/>
    <dgm:cxn modelId="{C3D9D34E-84AB-4CBA-92CB-F40355B5F913}" type="presParOf" srcId="{84BDF067-95A2-46E0-9382-AB61A36DBDCA}" destId="{9C0E4B49-EE9B-4D18-9C05-E8AEDD4CA609}" srcOrd="3" destOrd="0" presId="urn:microsoft.com/office/officeart/2005/8/layout/radial6#1"/>
    <dgm:cxn modelId="{4FB0183A-4246-469F-BF53-477D6B265A80}" type="presParOf" srcId="{84BDF067-95A2-46E0-9382-AB61A36DBDCA}" destId="{0E0E5DFD-C853-4B87-963A-8ECCC2A96902}" srcOrd="4" destOrd="0" presId="urn:microsoft.com/office/officeart/2005/8/layout/radial6#1"/>
    <dgm:cxn modelId="{8AAEAC95-2180-4F41-A95C-8CC7AB3E031A}" type="presParOf" srcId="{84BDF067-95A2-46E0-9382-AB61A36DBDCA}" destId="{B7C9E605-4E30-4471-A188-49CE8F965BBA}" srcOrd="5" destOrd="0" presId="urn:microsoft.com/office/officeart/2005/8/layout/radial6#1"/>
    <dgm:cxn modelId="{8769B080-7757-409F-9B6C-4B407CBAFB6B}" type="presParOf" srcId="{84BDF067-95A2-46E0-9382-AB61A36DBDCA}" destId="{F2B4D239-DDCC-413C-BF3D-40EB29E649FE}" srcOrd="6" destOrd="0" presId="urn:microsoft.com/office/officeart/2005/8/layout/radial6#1"/>
    <dgm:cxn modelId="{F81281A5-FA5E-400E-92B4-AEB6A8410CD2}" type="presParOf" srcId="{84BDF067-95A2-46E0-9382-AB61A36DBDCA}" destId="{42E7BD58-C11F-41C4-8E5B-CA80EB1481BF}" srcOrd="7" destOrd="0" presId="urn:microsoft.com/office/officeart/2005/8/layout/radial6#1"/>
    <dgm:cxn modelId="{67A7C9F6-448B-4040-8CBD-00E00820C483}" type="presParOf" srcId="{84BDF067-95A2-46E0-9382-AB61A36DBDCA}" destId="{FAA0BAA8-AD24-498B-ADD2-A9F06C74CC0A}" srcOrd="8" destOrd="0" presId="urn:microsoft.com/office/officeart/2005/8/layout/radial6#1"/>
    <dgm:cxn modelId="{3E3ECEC1-5809-41AC-A7D0-5AAC1E3C772A}" type="presParOf" srcId="{84BDF067-95A2-46E0-9382-AB61A36DBDCA}" destId="{5C3CEF08-4CC8-40ED-B2F8-99637D0A0998}" srcOrd="9" destOrd="0" presId="urn:microsoft.com/office/officeart/2005/8/layout/radial6#1"/>
    <dgm:cxn modelId="{F87AFFDC-8275-4B7E-9412-F9A7DC3784E4}" type="presParOf" srcId="{84BDF067-95A2-46E0-9382-AB61A36DBDCA}" destId="{36ED5201-1BAA-4C64-88A8-A60FE3682DB3}" srcOrd="10" destOrd="0" presId="urn:microsoft.com/office/officeart/2005/8/layout/radial6#1"/>
    <dgm:cxn modelId="{E1CB33CF-B825-40A4-A6CB-2CF03A11FE58}" type="presParOf" srcId="{84BDF067-95A2-46E0-9382-AB61A36DBDCA}" destId="{42F05296-196E-40D6-B9AB-75F23EC0E23B}" srcOrd="11" destOrd="0" presId="urn:microsoft.com/office/officeart/2005/8/layout/radial6#1"/>
    <dgm:cxn modelId="{72752BE1-427A-4A78-8F5A-59315C1565C6}" type="presParOf" srcId="{84BDF067-95A2-46E0-9382-AB61A36DBDCA}" destId="{6DE2F0CF-AA1D-4ACA-B031-D5AA0D9BAA08}" srcOrd="12" destOrd="0" presId="urn:microsoft.com/office/officeart/2005/8/layout/radial6#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174181" cy="5828145"/>
        <a:chOff x="0" y="0"/>
        <a:chExt cx="8174181" cy="5828145"/>
      </a:xfrm>
    </dsp:grpSpPr>
    <dsp:sp modelId="{8F78254F-363F-4F8F-B44C-511AD9B27315}">
      <dsp:nvSpPr>
        <dsp:cNvPr id="4" name="圆角矩形 3"/>
        <dsp:cNvSpPr/>
      </dsp:nvSpPr>
      <dsp:spPr bwMode="white">
        <a:xfrm>
          <a:off x="0" y="0"/>
          <a:ext cx="2671301" cy="5828145"/>
        </a:xfrm>
        <a:prstGeom prst="roundRect">
          <a:avLst>
            <a:gd name="adj" fmla="val 10000"/>
          </a:avLst>
        </a:prstGeom>
        <a:solidFill>
          <a:srgbClr val="FF0000"/>
        </a:solidFill>
      </dsp:spPr>
      <dsp:style>
        <a:lnRef idx="2">
          <a:schemeClr val="lt1"/>
        </a:lnRef>
        <a:fillRef idx="1">
          <a:schemeClr val="accent1"/>
        </a:fillRef>
        <a:effectRef idx="0">
          <a:scrgbClr r="0" g="0" b="0"/>
        </a:effectRef>
        <a:fontRef idx="minor">
          <a:schemeClr val="lt1"/>
        </a:fontRef>
      </dsp:style>
      <dsp:txBody>
        <a:bodyPr lIns="227584" tIns="227584" rIns="227584" bIns="227584"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3200" b="1" dirty="0">
              <a:latin typeface="华文琥珀" panose="02010800040101010101" pitchFamily="2" charset="-122"/>
              <a:ea typeface="华文琥珀" panose="02010800040101010101" pitchFamily="2" charset="-122"/>
            </a:rPr>
            <a:t>人生价值观</a:t>
          </a:r>
        </a:p>
      </dsp:txBody>
      <dsp:txXfrm>
        <a:off x="0" y="0"/>
        <a:ext cx="2671301" cy="5828145"/>
      </dsp:txXfrm>
    </dsp:sp>
    <dsp:sp modelId="{647F5DAD-978A-46F1-815F-401FE86D506D}">
      <dsp:nvSpPr>
        <dsp:cNvPr id="6" name="椭圆 5"/>
        <dsp:cNvSpPr/>
      </dsp:nvSpPr>
      <dsp:spPr bwMode="white">
        <a:xfrm>
          <a:off x="365264" y="349689"/>
          <a:ext cx="1940772" cy="1940772"/>
        </a:xfrm>
        <a:prstGeom prst="ellipse">
          <a:avLst/>
        </a:prstGeom>
        <a:blipFill>
          <a:blip r:embed="rId1">
            <a:extLst>
              <a:ext uri="{28A0092B-C50C-407E-A947-70E740481C1C}">
                <a14:useLocalDpi xmlns:a14="http://schemas.microsoft.com/office/drawing/2010/main" val="0"/>
              </a:ext>
            </a:extLst>
          </a:blip>
          <a:srcRect/>
          <a:stretch>
            <a:fillRect l="-25000" r="-25000"/>
          </a:stretch>
        </a:blipFill>
      </dsp:spPr>
      <dsp:style>
        <a:lnRef idx="2">
          <a:schemeClr val="lt1"/>
        </a:lnRef>
        <a:fillRef idx="1">
          <a:schemeClr val="accent1">
            <a:tint val="50000"/>
          </a:schemeClr>
        </a:fillRef>
        <a:effectRef idx="0">
          <a:scrgbClr r="0" g="0" b="0"/>
        </a:effectRef>
        <a:fontRef idx="minor"/>
      </dsp:style>
      <dsp:txXfrm>
        <a:off x="365264" y="349689"/>
        <a:ext cx="1940772" cy="1940772"/>
      </dsp:txXfrm>
    </dsp:sp>
    <dsp:sp modelId="{7AEADD2B-43AA-4A2C-84FE-2A8EE477D233}">
      <dsp:nvSpPr>
        <dsp:cNvPr id="8" name="圆角矩形 7"/>
        <dsp:cNvSpPr/>
      </dsp:nvSpPr>
      <dsp:spPr bwMode="white">
        <a:xfrm>
          <a:off x="2751440" y="0"/>
          <a:ext cx="2671301" cy="5828145"/>
        </a:xfrm>
        <a:prstGeom prst="roundRect">
          <a:avLst>
            <a:gd name="adj" fmla="val 10000"/>
          </a:avLst>
        </a:prstGeom>
        <a:solidFill>
          <a:srgbClr val="00CC00"/>
        </a:solidFill>
      </dsp:spPr>
      <dsp:style>
        <a:lnRef idx="2">
          <a:schemeClr val="lt1"/>
        </a:lnRef>
        <a:fillRef idx="1">
          <a:schemeClr val="accent1"/>
        </a:fillRef>
        <a:effectRef idx="0">
          <a:scrgbClr r="0" g="0" b="0"/>
        </a:effectRef>
        <a:fontRef idx="minor">
          <a:schemeClr val="lt1"/>
        </a:fontRef>
      </dsp:style>
      <dsp:txBody>
        <a:bodyPr lIns="227584" tIns="227584" rIns="227584" bIns="227584"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3200" b="1" dirty="0">
              <a:solidFill>
                <a:srgbClr val="0000FF"/>
              </a:solidFill>
              <a:latin typeface="华文琥珀" panose="02010800040101010101" pitchFamily="2" charset="-122"/>
              <a:ea typeface="华文琥珀" panose="02010800040101010101" pitchFamily="2" charset="-122"/>
            </a:rPr>
            <a:t>素质能力</a:t>
          </a:r>
          <a:endParaRPr lang="zh-CN" altLang="en-US" sz="3200" dirty="0">
            <a:solidFill>
              <a:srgbClr val="0000FF"/>
            </a:solidFill>
            <a:latin typeface="华文琥珀" panose="02010800040101010101" pitchFamily="2" charset="-122"/>
            <a:ea typeface="华文琥珀" panose="02010800040101010101" pitchFamily="2" charset="-122"/>
          </a:endParaRPr>
        </a:p>
      </dsp:txBody>
      <dsp:txXfrm>
        <a:off x="2751440" y="0"/>
        <a:ext cx="2671301" cy="5828145"/>
      </dsp:txXfrm>
    </dsp:sp>
    <dsp:sp modelId="{663530F6-4E3E-4B61-BE6E-CE182343396F}">
      <dsp:nvSpPr>
        <dsp:cNvPr id="10" name="椭圆 9"/>
        <dsp:cNvSpPr/>
      </dsp:nvSpPr>
      <dsp:spPr bwMode="white">
        <a:xfrm>
          <a:off x="3116704" y="349689"/>
          <a:ext cx="1940772" cy="1940772"/>
        </a:xfrm>
        <a:prstGeom prst="ellipse">
          <a:avLst/>
        </a:prstGeom>
        <a:blipFill>
          <a:blip r:embed="rId2" cstate="print">
            <a:extLst>
              <a:ext uri="{28A0092B-C50C-407E-A947-70E740481C1C}">
                <a14:useLocalDpi xmlns:a14="http://schemas.microsoft.com/office/drawing/2010/main" val="0"/>
              </a:ext>
            </a:extLst>
          </a:blip>
          <a:srcRect/>
          <a:stretch>
            <a:fillRect/>
          </a:stretch>
        </a:blipFill>
      </dsp:spPr>
      <dsp:style>
        <a:lnRef idx="2">
          <a:schemeClr val="lt1"/>
        </a:lnRef>
        <a:fillRef idx="1">
          <a:schemeClr val="accent1">
            <a:tint val="50000"/>
          </a:schemeClr>
        </a:fillRef>
        <a:effectRef idx="0">
          <a:scrgbClr r="0" g="0" b="0"/>
        </a:effectRef>
        <a:fontRef idx="minor"/>
      </dsp:style>
      <dsp:txXfrm>
        <a:off x="3116704" y="349689"/>
        <a:ext cx="1940772" cy="1940772"/>
      </dsp:txXfrm>
    </dsp:sp>
    <dsp:sp modelId="{80B02586-4300-4ABB-B226-48BB92A0792F}">
      <dsp:nvSpPr>
        <dsp:cNvPr id="12" name="圆角矩形 11"/>
        <dsp:cNvSpPr/>
      </dsp:nvSpPr>
      <dsp:spPr bwMode="white">
        <a:xfrm>
          <a:off x="5502880" y="0"/>
          <a:ext cx="2671301" cy="5828145"/>
        </a:xfrm>
        <a:prstGeom prst="roundRect">
          <a:avLst>
            <a:gd name="adj" fmla="val 10000"/>
          </a:avLst>
        </a:prstGeom>
        <a:solidFill>
          <a:srgbClr val="0000FF"/>
        </a:solidFill>
      </dsp:spPr>
      <dsp:style>
        <a:lnRef idx="2">
          <a:schemeClr val="lt1"/>
        </a:lnRef>
        <a:fillRef idx="1">
          <a:schemeClr val="accent1"/>
        </a:fillRef>
        <a:effectRef idx="0">
          <a:scrgbClr r="0" g="0" b="0"/>
        </a:effectRef>
        <a:fontRef idx="minor">
          <a:schemeClr val="lt1"/>
        </a:fontRef>
      </dsp:style>
      <dsp:txBody>
        <a:bodyPr lIns="227584" tIns="227584" rIns="227584" bIns="227584"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3200" b="1" dirty="0">
              <a:latin typeface="华文琥珀" panose="02010800040101010101" pitchFamily="2" charset="-122"/>
              <a:ea typeface="华文琥珀" panose="02010800040101010101" pitchFamily="2" charset="-122"/>
            </a:rPr>
            <a:t>知识获取</a:t>
          </a:r>
        </a:p>
      </dsp:txBody>
      <dsp:txXfrm>
        <a:off x="5502880" y="0"/>
        <a:ext cx="2671301" cy="5828145"/>
      </dsp:txXfrm>
    </dsp:sp>
    <dsp:sp modelId="{C563BA55-D693-4DFF-95C4-5A22E75090CD}">
      <dsp:nvSpPr>
        <dsp:cNvPr id="14" name="椭圆 13"/>
        <dsp:cNvSpPr/>
      </dsp:nvSpPr>
      <dsp:spPr bwMode="white">
        <a:xfrm>
          <a:off x="5868144" y="349689"/>
          <a:ext cx="1940772" cy="1940772"/>
        </a:xfrm>
        <a:prstGeom prst="ellipse">
          <a:avLst/>
        </a:prstGeom>
        <a:blipFill>
          <a:blip r:embed="rId3" cstate="print">
            <a:extLst>
              <a:ext uri="{28A0092B-C50C-407E-A947-70E740481C1C}">
                <a14:useLocalDpi xmlns:a14="http://schemas.microsoft.com/office/drawing/2010/main" val="0"/>
              </a:ext>
            </a:extLst>
          </a:blip>
          <a:srcRect/>
          <a:stretch>
            <a:fillRect l="-4000" r="-4000"/>
          </a:stretch>
        </a:blipFill>
      </dsp:spPr>
      <dsp:style>
        <a:lnRef idx="2">
          <a:schemeClr val="lt1"/>
        </a:lnRef>
        <a:fillRef idx="1">
          <a:schemeClr val="accent1">
            <a:tint val="50000"/>
          </a:schemeClr>
        </a:fillRef>
        <a:effectRef idx="0">
          <a:scrgbClr r="0" g="0" b="0"/>
        </a:effectRef>
        <a:fontRef idx="minor"/>
      </dsp:style>
      <dsp:txXfrm>
        <a:off x="5868144" y="349689"/>
        <a:ext cx="1940772" cy="1940772"/>
      </dsp:txXfrm>
    </dsp:sp>
    <dsp:sp modelId="{8AE01FB9-6427-49C3-B6A4-D4BAA76979B2}">
      <dsp:nvSpPr>
        <dsp:cNvPr id="3" name="左右箭头 2"/>
        <dsp:cNvSpPr/>
      </dsp:nvSpPr>
      <dsp:spPr bwMode="white">
        <a:xfrm>
          <a:off x="326967" y="4551896"/>
          <a:ext cx="7520247" cy="874222"/>
        </a:xfrm>
        <a:prstGeom prst="leftRightArrow">
          <a:avLst/>
        </a:prstGeom>
        <a:solidFill>
          <a:schemeClr val="bg1"/>
        </a:solidFill>
        <a:effectLst>
          <a:glow rad="228600">
            <a:schemeClr val="accent4">
              <a:satMod val="175000"/>
              <a:alpha val="40000"/>
            </a:schemeClr>
          </a:glow>
        </a:effectLst>
      </dsp:spPr>
      <dsp:style>
        <a:lnRef idx="2">
          <a:schemeClr val="lt1"/>
        </a:lnRef>
        <a:fillRef idx="1">
          <a:schemeClr val="accent1">
            <a:tint val="60000"/>
          </a:schemeClr>
        </a:fillRef>
        <a:effectRef idx="0">
          <a:scrgbClr r="0" g="0" b="0"/>
        </a:effectRef>
        <a:fontRef idx="minor"/>
      </dsp:style>
      <dsp:txXfrm>
        <a:off x="326967" y="4551896"/>
        <a:ext cx="7520247" cy="874222"/>
      </dsp:txXfrm>
    </dsp:sp>
    <dsp:sp modelId="{BE8975A8-99B9-48AC-99D6-73B3809458A0}">
      <dsp:nvSpPr>
        <dsp:cNvPr id="5" name="圆角矩形 4" hidden="1"/>
        <dsp:cNvSpPr/>
      </dsp:nvSpPr>
      <dsp:spPr>
        <a:xfrm>
          <a:off x="1322294" y="0"/>
          <a:ext cx="26713" cy="349689"/>
        </a:xfrm>
        <a:prstGeom prst="roundRect">
          <a:avLst>
            <a:gd name="adj" fmla="val 10000"/>
          </a:avLst>
        </a:prstGeom>
      </dsp:spPr>
      <dsp:txXfrm>
        <a:off x="1322294" y="0"/>
        <a:ext cx="26713" cy="349689"/>
      </dsp:txXfrm>
    </dsp:sp>
    <dsp:sp modelId="{23045EDD-091A-47C4-AD68-6F9559CC60AB}">
      <dsp:nvSpPr>
        <dsp:cNvPr id="7" name="矩形 6" hidden="1"/>
        <dsp:cNvSpPr/>
      </dsp:nvSpPr>
      <dsp:spPr>
        <a:xfrm>
          <a:off x="2671301" y="2914073"/>
          <a:ext cx="80139" cy="0"/>
        </a:xfrm>
        <a:prstGeom prst="rect">
          <a:avLst/>
        </a:prstGeom>
      </dsp:spPr>
      <dsp:txXfrm>
        <a:off x="2671301" y="2914073"/>
        <a:ext cx="80139" cy="0"/>
      </dsp:txXfrm>
    </dsp:sp>
    <dsp:sp modelId="{343C30DC-EA96-4F6A-8146-EA04E42FBB3C}">
      <dsp:nvSpPr>
        <dsp:cNvPr id="9" name="圆角矩形 8" hidden="1"/>
        <dsp:cNvSpPr/>
      </dsp:nvSpPr>
      <dsp:spPr>
        <a:xfrm>
          <a:off x="4073734" y="0"/>
          <a:ext cx="26713" cy="349689"/>
        </a:xfrm>
        <a:prstGeom prst="roundRect">
          <a:avLst>
            <a:gd name="adj" fmla="val 10000"/>
          </a:avLst>
        </a:prstGeom>
      </dsp:spPr>
      <dsp:txXfrm>
        <a:off x="4073734" y="0"/>
        <a:ext cx="26713" cy="349689"/>
      </dsp:txXfrm>
    </dsp:sp>
    <dsp:sp modelId="{9C0324F7-654D-462E-B643-E5E4D83F7D18}">
      <dsp:nvSpPr>
        <dsp:cNvPr id="11" name="矩形 10" hidden="1"/>
        <dsp:cNvSpPr/>
      </dsp:nvSpPr>
      <dsp:spPr>
        <a:xfrm>
          <a:off x="5422741" y="2914073"/>
          <a:ext cx="80139" cy="0"/>
        </a:xfrm>
        <a:prstGeom prst="rect">
          <a:avLst/>
        </a:prstGeom>
      </dsp:spPr>
      <dsp:txXfrm>
        <a:off x="5422741" y="2914073"/>
        <a:ext cx="80139" cy="0"/>
      </dsp:txXfrm>
    </dsp:sp>
    <dsp:sp modelId="{AD8E5CBC-17BB-4122-A2B2-A19A913D4C9E}">
      <dsp:nvSpPr>
        <dsp:cNvPr id="13" name="圆角矩形 12" hidden="1"/>
        <dsp:cNvSpPr/>
      </dsp:nvSpPr>
      <dsp:spPr>
        <a:xfrm>
          <a:off x="6825174" y="0"/>
          <a:ext cx="26713" cy="349689"/>
        </a:xfrm>
        <a:prstGeom prst="roundRect">
          <a:avLst>
            <a:gd name="adj" fmla="val 10000"/>
          </a:avLst>
        </a:prstGeom>
      </dsp:spPr>
      <dsp:txXfrm>
        <a:off x="6825174" y="0"/>
        <a:ext cx="26713" cy="349689"/>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552873" cy="5874327"/>
        <a:chOff x="0" y="0"/>
        <a:chExt cx="8552873" cy="5874327"/>
      </a:xfrm>
    </dsp:grpSpPr>
    <dsp:sp modelId="{9C0E4B49-EE9B-4D18-9C05-E8AEDD4CA609}">
      <dsp:nvSpPr>
        <dsp:cNvPr id="5" name="空心弧 4"/>
        <dsp:cNvSpPr/>
      </dsp:nvSpPr>
      <dsp:spPr bwMode="white">
        <a:xfrm>
          <a:off x="1893376" y="554103"/>
          <a:ext cx="4766121" cy="4766121"/>
        </a:xfrm>
        <a:prstGeom prst="blockArc">
          <a:avLst>
            <a:gd name="adj1" fmla="val 16199999"/>
            <a:gd name="adj2" fmla="val 0"/>
            <a:gd name="adj3" fmla="val 3962"/>
          </a:avLst>
        </a:prstGeom>
        <a:sp3d z="-182000" contourW="19050" prstMaterial="metal">
          <a:bevelT w="88900" h="203200"/>
          <a:bevelB w="165100" h="254000"/>
        </a:sp3d>
      </dsp:spPr>
      <dsp:style>
        <a:lnRef idx="0">
          <a:schemeClr val="lt1">
            <a:hueOff val="0"/>
            <a:satOff val="0"/>
            <a:lumOff val="0"/>
            <a:alpha val="100000"/>
          </a:schemeClr>
        </a:lnRef>
        <a:fillRef idx="1">
          <a:schemeClr val="accent2"/>
        </a:fillRef>
        <a:effectRef idx="0">
          <a:scrgbClr r="0" g="0" b="0"/>
        </a:effectRef>
        <a:fontRef idx="minor">
          <a:schemeClr val="lt1"/>
        </a:fontRef>
      </dsp:style>
      <dsp:txXfrm>
        <a:off x="1893376" y="554103"/>
        <a:ext cx="4766121" cy="4766121"/>
      </dsp:txXfrm>
    </dsp:sp>
    <dsp:sp modelId="{F2B4D239-DDCC-413C-BF3D-40EB29E649FE}">
      <dsp:nvSpPr>
        <dsp:cNvPr id="7" name="空心弧 6"/>
        <dsp:cNvSpPr/>
      </dsp:nvSpPr>
      <dsp:spPr bwMode="white">
        <a:xfrm>
          <a:off x="1893376" y="554103"/>
          <a:ext cx="4766121" cy="4766121"/>
        </a:xfrm>
        <a:prstGeom prst="blockArc">
          <a:avLst>
            <a:gd name="adj1" fmla="val 0"/>
            <a:gd name="adj2" fmla="val 5400000"/>
            <a:gd name="adj3" fmla="val 3962"/>
          </a:avLst>
        </a:prstGeom>
        <a:sp3d z="-182000" contourW="19050" prstMaterial="metal">
          <a:bevelT w="88900" h="203200"/>
          <a:bevelB w="165100" h="254000"/>
        </a:sp3d>
      </dsp:spPr>
      <dsp:style>
        <a:lnRef idx="0">
          <a:schemeClr val="lt1">
            <a:hueOff val="0"/>
            <a:satOff val="0"/>
            <a:lumOff val="0"/>
            <a:alpha val="100000"/>
          </a:schemeClr>
        </a:lnRef>
        <a:fillRef idx="1">
          <a:schemeClr val="accent3"/>
        </a:fillRef>
        <a:effectRef idx="0">
          <a:scrgbClr r="0" g="0" b="0"/>
        </a:effectRef>
        <a:fontRef idx="minor">
          <a:schemeClr val="lt1"/>
        </a:fontRef>
      </dsp:style>
      <dsp:txXfrm>
        <a:off x="1893376" y="554103"/>
        <a:ext cx="4766121" cy="4766121"/>
      </dsp:txXfrm>
    </dsp:sp>
    <dsp:sp modelId="{5C3CEF08-4CC8-40ED-B2F8-99637D0A0998}">
      <dsp:nvSpPr>
        <dsp:cNvPr id="9" name="空心弧 8"/>
        <dsp:cNvSpPr/>
      </dsp:nvSpPr>
      <dsp:spPr bwMode="white">
        <a:xfrm>
          <a:off x="1893376" y="554103"/>
          <a:ext cx="4766121" cy="4766121"/>
        </a:xfrm>
        <a:prstGeom prst="blockArc">
          <a:avLst>
            <a:gd name="adj1" fmla="val 5400000"/>
            <a:gd name="adj2" fmla="val 10800000"/>
            <a:gd name="adj3" fmla="val 3962"/>
          </a:avLst>
        </a:prstGeom>
        <a:sp3d z="-182000" contourW="19050" prstMaterial="metal">
          <a:bevelT w="88900" h="203200"/>
          <a:bevelB w="165100" h="254000"/>
        </a:sp3d>
      </dsp:spPr>
      <dsp:style>
        <a:lnRef idx="0">
          <a:schemeClr val="lt1">
            <a:hueOff val="0"/>
            <a:satOff val="0"/>
            <a:lumOff val="0"/>
            <a:alpha val="100000"/>
          </a:schemeClr>
        </a:lnRef>
        <a:fillRef idx="1">
          <a:schemeClr val="accent4"/>
        </a:fillRef>
        <a:effectRef idx="0">
          <a:scrgbClr r="0" g="0" b="0"/>
        </a:effectRef>
        <a:fontRef idx="minor">
          <a:schemeClr val="lt1"/>
        </a:fontRef>
      </dsp:style>
      <dsp:txXfrm>
        <a:off x="1893376" y="554103"/>
        <a:ext cx="4766121" cy="4766121"/>
      </dsp:txXfrm>
    </dsp:sp>
    <dsp:sp modelId="{6DE2F0CF-AA1D-4ACA-B031-D5AA0D9BAA08}">
      <dsp:nvSpPr>
        <dsp:cNvPr id="11" name="空心弧 10"/>
        <dsp:cNvSpPr/>
      </dsp:nvSpPr>
      <dsp:spPr bwMode="white">
        <a:xfrm>
          <a:off x="1893376" y="554103"/>
          <a:ext cx="4766121" cy="4766121"/>
        </a:xfrm>
        <a:prstGeom prst="blockArc">
          <a:avLst>
            <a:gd name="adj1" fmla="val 10800000"/>
            <a:gd name="adj2" fmla="val 16199999"/>
            <a:gd name="adj3" fmla="val 3962"/>
          </a:avLst>
        </a:prstGeom>
        <a:sp3d z="-182000" contourW="19050" prstMaterial="metal">
          <a:bevelT w="88900" h="203200"/>
          <a:bevelB w="165100" h="254000"/>
        </a:sp3d>
      </dsp:spPr>
      <dsp:style>
        <a:lnRef idx="0">
          <a:schemeClr val="lt1">
            <a:hueOff val="0"/>
            <a:satOff val="0"/>
            <a:lumOff val="0"/>
            <a:alpha val="100000"/>
          </a:schemeClr>
        </a:lnRef>
        <a:fillRef idx="1">
          <a:schemeClr val="accent5"/>
        </a:fillRef>
        <a:effectRef idx="0">
          <a:scrgbClr r="0" g="0" b="0"/>
        </a:effectRef>
        <a:fontRef idx="minor">
          <a:schemeClr val="lt1"/>
        </a:fontRef>
      </dsp:style>
      <dsp:txXfrm>
        <a:off x="1893376" y="554103"/>
        <a:ext cx="4766121" cy="4766121"/>
      </dsp:txXfrm>
    </dsp:sp>
    <dsp:sp modelId="{30FD03E1-A53D-4A23-87CF-5ABEF995C9A1}">
      <dsp:nvSpPr>
        <dsp:cNvPr id="3" name="椭圆 2"/>
        <dsp:cNvSpPr/>
      </dsp:nvSpPr>
      <dsp:spPr bwMode="white">
        <a:xfrm>
          <a:off x="3234889" y="1895616"/>
          <a:ext cx="2083095" cy="2083095"/>
        </a:xfrm>
        <a:prstGeom prst="ellipse">
          <a:avLst/>
        </a:prstGeom>
        <a:solidFill>
          <a:srgbClr val="FF0000"/>
        </a:solidFill>
        <a:sp3d contourW="19050" prstMaterial="metal">
          <a:bevelT w="88900" h="203200"/>
          <a:bevelB w="165100" h="254000"/>
        </a:sp3d>
      </dsp:spPr>
      <dsp:style>
        <a:lnRef idx="0">
          <a:schemeClr val="lt1"/>
        </a:lnRef>
        <a:fillRef idx="1">
          <a:schemeClr val="accent1"/>
        </a:fillRef>
        <a:effectRef idx="1">
          <a:scrgbClr r="0" g="0" b="0"/>
        </a:effectRef>
        <a:fontRef idx="minor">
          <a:schemeClr val="lt1"/>
        </a:fontRef>
      </dsp:style>
      <dsp:txBody>
        <a:bodyPr lIns="66040" tIns="66040" rIns="66040" bIns="66040" anchor="ctr"/>
        <a:lstStyle>
          <a:lvl1pPr algn="ctr">
            <a:defRPr sz="5200"/>
          </a:lvl1pPr>
          <a:lvl2pPr marL="285750" indent="-285750" algn="ctr">
            <a:defRPr sz="4000"/>
          </a:lvl2pPr>
          <a:lvl3pPr marL="571500" indent="-285750" algn="ctr">
            <a:defRPr sz="4000"/>
          </a:lvl3pPr>
          <a:lvl4pPr marL="857250" indent="-285750" algn="ctr">
            <a:defRPr sz="4000"/>
          </a:lvl4pPr>
          <a:lvl5pPr marL="1143000" indent="-285750" algn="ctr">
            <a:defRPr sz="4000"/>
          </a:lvl5pPr>
          <a:lvl6pPr marL="1428750" indent="-285750" algn="ctr">
            <a:defRPr sz="4000"/>
          </a:lvl6pPr>
          <a:lvl7pPr marL="1714500" indent="-285750" algn="ctr">
            <a:defRPr sz="4000"/>
          </a:lvl7pPr>
          <a:lvl8pPr marL="2000250" indent="-285750" algn="ctr">
            <a:defRPr sz="4000"/>
          </a:lvl8pPr>
          <a:lvl9pPr marL="2286000" indent="-285750" algn="ctr">
            <a:defRPr sz="4000"/>
          </a:lvl9pPr>
        </a:lstStyle>
        <a:p>
          <a:pPr lvl="0">
            <a:lnSpc>
              <a:spcPct val="100000"/>
            </a:lnSpc>
            <a:spcBef>
              <a:spcPct val="0"/>
            </a:spcBef>
            <a:spcAft>
              <a:spcPct val="35000"/>
            </a:spcAft>
          </a:pPr>
          <a:r>
            <a:rPr lang="zh-CN" altLang="en-US" b="1" dirty="0">
              <a:latin typeface="华文琥珀" panose="02010800040101010101" pitchFamily="2" charset="-122"/>
              <a:ea typeface="华文琥珀" panose="02010800040101010101" pitchFamily="2" charset="-122"/>
            </a:rPr>
            <a:t>求是</a:t>
          </a:r>
        </a:p>
      </dsp:txBody>
      <dsp:txXfrm>
        <a:off x="3234889" y="1895616"/>
        <a:ext cx="2083095" cy="2083095"/>
      </dsp:txXfrm>
    </dsp:sp>
    <dsp:sp modelId="{432BB96D-8FC8-4CC0-9D52-EC8D75E5E1CB}">
      <dsp:nvSpPr>
        <dsp:cNvPr id="4" name="椭圆 3"/>
        <dsp:cNvSpPr/>
      </dsp:nvSpPr>
      <dsp:spPr bwMode="white">
        <a:xfrm>
          <a:off x="3547353" y="0"/>
          <a:ext cx="1458166" cy="1458166"/>
        </a:xfrm>
        <a:prstGeom prst="ellipse">
          <a:avLst/>
        </a:prstGeom>
        <a:solidFill>
          <a:srgbClr val="0000CC"/>
        </a:solidFill>
        <a:sp3d contourW="19050" prstMaterial="metal">
          <a:bevelT w="88900" h="203200"/>
          <a:bevelB w="165100" h="254000"/>
        </a:sp3d>
      </dsp:spPr>
      <dsp:style>
        <a:lnRef idx="0">
          <a:schemeClr val="lt1"/>
        </a:lnRef>
        <a:fillRef idx="1">
          <a:schemeClr val="accent2"/>
        </a:fillRef>
        <a:effectRef idx="2">
          <a:scrgbClr r="0" g="0" b="0"/>
        </a:effectRef>
        <a:fontRef idx="minor">
          <a:schemeClr val="lt1"/>
        </a:fontRef>
      </dsp:style>
      <dsp:txBody>
        <a:bodyPr lIns="39370" tIns="39370" rIns="39370" bIns="39370" anchor="ctr"/>
        <a:lstStyle>
          <a:lvl1pPr algn="ctr">
            <a:defRPr sz="3100"/>
          </a:lvl1pPr>
          <a:lvl2pPr marL="228600" indent="-228600" algn="ctr">
            <a:defRPr sz="2400"/>
          </a:lvl2pPr>
          <a:lvl3pPr marL="457200" indent="-228600" algn="ctr">
            <a:defRPr sz="2400"/>
          </a:lvl3pPr>
          <a:lvl4pPr marL="685800" indent="-228600" algn="ctr">
            <a:defRPr sz="2400"/>
          </a:lvl4pPr>
          <a:lvl5pPr marL="914400" indent="-228600" algn="ctr">
            <a:defRPr sz="2400"/>
          </a:lvl5pPr>
          <a:lvl6pPr marL="1143000" indent="-228600" algn="ctr">
            <a:defRPr sz="2400"/>
          </a:lvl6pPr>
          <a:lvl7pPr marL="1371600" indent="-228600" algn="ctr">
            <a:defRPr sz="2400"/>
          </a:lvl7pPr>
          <a:lvl8pPr marL="1600200" indent="-228600" algn="ctr">
            <a:defRPr sz="2400"/>
          </a:lvl8pPr>
          <a:lvl9pPr marL="1828800" indent="-228600" algn="ctr">
            <a:defRPr sz="2400"/>
          </a:lvl9pPr>
        </a:lstStyle>
        <a:p>
          <a:pPr lvl="0">
            <a:lnSpc>
              <a:spcPct val="100000"/>
            </a:lnSpc>
            <a:spcBef>
              <a:spcPct val="0"/>
            </a:spcBef>
            <a:spcAft>
              <a:spcPct val="35000"/>
            </a:spcAft>
          </a:pPr>
          <a:r>
            <a:rPr lang="zh-CN" b="1" dirty="0">
              <a:latin typeface="黑体" panose="02010609060101010101" charset="-122"/>
              <a:ea typeface="黑体" panose="02010609060101010101" charset="-122"/>
            </a:rPr>
            <a:t>形上为道</a:t>
          </a:r>
          <a:endParaRPr lang="zh-CN" altLang="en-US" b="1" dirty="0">
            <a:latin typeface="黑体" panose="02010609060101010101" charset="-122"/>
            <a:ea typeface="黑体" panose="02010609060101010101" charset="-122"/>
          </a:endParaRPr>
        </a:p>
      </dsp:txBody>
      <dsp:txXfrm>
        <a:off x="3547353" y="0"/>
        <a:ext cx="1458166" cy="1458166"/>
      </dsp:txXfrm>
    </dsp:sp>
    <dsp:sp modelId="{0E0E5DFD-C853-4B87-963A-8ECCC2A96902}">
      <dsp:nvSpPr>
        <dsp:cNvPr id="6" name="椭圆 5"/>
        <dsp:cNvSpPr/>
      </dsp:nvSpPr>
      <dsp:spPr bwMode="white">
        <a:xfrm>
          <a:off x="5755434" y="2208080"/>
          <a:ext cx="1458166" cy="1458166"/>
        </a:xfrm>
        <a:prstGeom prst="ellipse">
          <a:avLst/>
        </a:prstGeom>
        <a:solidFill>
          <a:srgbClr val="00FF00"/>
        </a:solidFill>
        <a:sp3d contourW="19050" prstMaterial="metal">
          <a:bevelT w="88900" h="203200"/>
          <a:bevelB w="165100" h="254000"/>
        </a:sp3d>
      </dsp:spPr>
      <dsp:style>
        <a:lnRef idx="0">
          <a:schemeClr val="lt1"/>
        </a:lnRef>
        <a:fillRef idx="1">
          <a:schemeClr val="accent3"/>
        </a:fillRef>
        <a:effectRef idx="2">
          <a:scrgbClr r="0" g="0" b="0"/>
        </a:effectRef>
        <a:fontRef idx="minor">
          <a:schemeClr val="lt1"/>
        </a:fontRef>
      </dsp:style>
      <dsp:txBody>
        <a:bodyPr lIns="39370" tIns="39370" rIns="39370" bIns="39370" anchor="ctr"/>
        <a:lstStyle>
          <a:lvl1pPr algn="ctr">
            <a:defRPr sz="3100"/>
          </a:lvl1pPr>
          <a:lvl2pPr marL="228600" indent="-228600" algn="ctr">
            <a:defRPr sz="2400"/>
          </a:lvl2pPr>
          <a:lvl3pPr marL="457200" indent="-228600" algn="ctr">
            <a:defRPr sz="2400"/>
          </a:lvl3pPr>
          <a:lvl4pPr marL="685800" indent="-228600" algn="ctr">
            <a:defRPr sz="2400"/>
          </a:lvl4pPr>
          <a:lvl5pPr marL="914400" indent="-228600" algn="ctr">
            <a:defRPr sz="2400"/>
          </a:lvl5pPr>
          <a:lvl6pPr marL="1143000" indent="-228600" algn="ctr">
            <a:defRPr sz="2400"/>
          </a:lvl6pPr>
          <a:lvl7pPr marL="1371600" indent="-228600" algn="ctr">
            <a:defRPr sz="2400"/>
          </a:lvl7pPr>
          <a:lvl8pPr marL="1600200" indent="-228600" algn="ctr">
            <a:defRPr sz="2400"/>
          </a:lvl8pPr>
          <a:lvl9pPr marL="1828800" indent="-228600" algn="ctr">
            <a:defRPr sz="2400"/>
          </a:lvl9pPr>
        </a:lstStyle>
        <a:p>
          <a:pPr lvl="0">
            <a:lnSpc>
              <a:spcPct val="100000"/>
            </a:lnSpc>
            <a:spcBef>
              <a:spcPct val="0"/>
            </a:spcBef>
            <a:spcAft>
              <a:spcPct val="35000"/>
            </a:spcAft>
          </a:pPr>
          <a:r>
            <a:rPr lang="zh-CN" b="1" dirty="0">
              <a:solidFill>
                <a:srgbClr val="0000FF"/>
              </a:solidFill>
              <a:latin typeface="黑体" panose="02010609060101010101" charset="-122"/>
              <a:ea typeface="黑体" panose="02010609060101010101" charset="-122"/>
            </a:rPr>
            <a:t>开物前民</a:t>
          </a:r>
          <a:endParaRPr lang="zh-CN" altLang="en-US" b="1" dirty="0">
            <a:solidFill>
              <a:srgbClr val="0000FF"/>
            </a:solidFill>
            <a:latin typeface="黑体" panose="02010609060101010101" charset="-122"/>
            <a:ea typeface="黑体" panose="02010609060101010101" charset="-122"/>
          </a:endParaRPr>
        </a:p>
      </dsp:txBody>
      <dsp:txXfrm>
        <a:off x="5755434" y="2208080"/>
        <a:ext cx="1458166" cy="1458166"/>
      </dsp:txXfrm>
    </dsp:sp>
    <dsp:sp modelId="{42E7BD58-C11F-41C4-8E5B-CA80EB1481BF}">
      <dsp:nvSpPr>
        <dsp:cNvPr id="8" name="椭圆 7"/>
        <dsp:cNvSpPr/>
      </dsp:nvSpPr>
      <dsp:spPr bwMode="white">
        <a:xfrm>
          <a:off x="3547353" y="4416161"/>
          <a:ext cx="1458166" cy="1458166"/>
        </a:xfrm>
        <a:prstGeom prst="ellipse">
          <a:avLst/>
        </a:prstGeom>
        <a:solidFill>
          <a:srgbClr val="7030A0"/>
        </a:solidFill>
        <a:sp3d contourW="19050" prstMaterial="metal">
          <a:bevelT w="88900" h="203200"/>
          <a:bevelB w="165100" h="254000"/>
        </a:sp3d>
      </dsp:spPr>
      <dsp:style>
        <a:lnRef idx="0">
          <a:schemeClr val="lt1"/>
        </a:lnRef>
        <a:fillRef idx="1">
          <a:schemeClr val="accent4"/>
        </a:fillRef>
        <a:effectRef idx="2">
          <a:scrgbClr r="0" g="0" b="0"/>
        </a:effectRef>
        <a:fontRef idx="minor">
          <a:schemeClr val="lt1"/>
        </a:fontRef>
      </dsp:style>
      <dsp:txBody>
        <a:bodyPr lIns="39370" tIns="39370" rIns="39370" bIns="39370" anchor="ctr"/>
        <a:lstStyle>
          <a:lvl1pPr algn="ctr">
            <a:defRPr sz="3100"/>
          </a:lvl1pPr>
          <a:lvl2pPr marL="228600" indent="-228600" algn="ctr">
            <a:defRPr sz="2400"/>
          </a:lvl2pPr>
          <a:lvl3pPr marL="457200" indent="-228600" algn="ctr">
            <a:defRPr sz="2400"/>
          </a:lvl3pPr>
          <a:lvl4pPr marL="685800" indent="-228600" algn="ctr">
            <a:defRPr sz="2400"/>
          </a:lvl4pPr>
          <a:lvl5pPr marL="914400" indent="-228600" algn="ctr">
            <a:defRPr sz="2400"/>
          </a:lvl5pPr>
          <a:lvl6pPr marL="1143000" indent="-228600" algn="ctr">
            <a:defRPr sz="2400"/>
          </a:lvl6pPr>
          <a:lvl7pPr marL="1371600" indent="-228600" algn="ctr">
            <a:defRPr sz="2400"/>
          </a:lvl7pPr>
          <a:lvl8pPr marL="1600200" indent="-228600" algn="ctr">
            <a:defRPr sz="2400"/>
          </a:lvl8pPr>
          <a:lvl9pPr marL="1828800" indent="-228600" algn="ctr">
            <a:defRPr sz="2400"/>
          </a:lvl9pPr>
        </a:lstStyle>
        <a:p>
          <a:pPr lvl="0">
            <a:lnSpc>
              <a:spcPct val="100000"/>
            </a:lnSpc>
            <a:spcBef>
              <a:spcPct val="0"/>
            </a:spcBef>
            <a:spcAft>
              <a:spcPct val="35000"/>
            </a:spcAft>
          </a:pPr>
          <a:r>
            <a:rPr lang="zh-CN" b="1" dirty="0">
              <a:latin typeface="黑体" panose="02010609060101010101" charset="-122"/>
              <a:ea typeface="黑体" panose="02010609060101010101" charset="-122"/>
            </a:rPr>
            <a:t>形下为器</a:t>
          </a:r>
          <a:endParaRPr lang="zh-CN" altLang="en-US" b="1" dirty="0">
            <a:latin typeface="黑体" panose="02010609060101010101" charset="-122"/>
            <a:ea typeface="黑体" panose="02010609060101010101" charset="-122"/>
          </a:endParaRPr>
        </a:p>
      </dsp:txBody>
      <dsp:txXfrm>
        <a:off x="3547353" y="4416161"/>
        <a:ext cx="1458166" cy="1458166"/>
      </dsp:txXfrm>
    </dsp:sp>
    <dsp:sp modelId="{36ED5201-1BAA-4C64-88A8-A60FE3682DB3}">
      <dsp:nvSpPr>
        <dsp:cNvPr id="10" name="椭圆 9"/>
        <dsp:cNvSpPr/>
      </dsp:nvSpPr>
      <dsp:spPr bwMode="white">
        <a:xfrm>
          <a:off x="1339273" y="2208080"/>
          <a:ext cx="1458166" cy="1458166"/>
        </a:xfrm>
        <a:prstGeom prst="ellipse">
          <a:avLst/>
        </a:prstGeom>
        <a:solidFill>
          <a:srgbClr val="FF0000"/>
        </a:solidFill>
        <a:sp3d contourW="19050" prstMaterial="metal">
          <a:bevelT w="88900" h="203200"/>
          <a:bevelB w="165100" h="254000"/>
        </a:sp3d>
      </dsp:spPr>
      <dsp:style>
        <a:lnRef idx="0">
          <a:schemeClr val="lt1"/>
        </a:lnRef>
        <a:fillRef idx="1">
          <a:schemeClr val="accent5"/>
        </a:fillRef>
        <a:effectRef idx="2">
          <a:scrgbClr r="0" g="0" b="0"/>
        </a:effectRef>
        <a:fontRef idx="minor">
          <a:schemeClr val="lt1"/>
        </a:fontRef>
      </dsp:style>
      <dsp:txBody>
        <a:bodyPr lIns="39370" tIns="39370" rIns="39370" bIns="39370" anchor="ctr"/>
        <a:lstStyle>
          <a:lvl1pPr algn="ctr">
            <a:defRPr sz="3100"/>
          </a:lvl1pPr>
          <a:lvl2pPr marL="228600" indent="-228600" algn="ctr">
            <a:defRPr sz="2400"/>
          </a:lvl2pPr>
          <a:lvl3pPr marL="457200" indent="-228600" algn="ctr">
            <a:defRPr sz="2400"/>
          </a:lvl3pPr>
          <a:lvl4pPr marL="685800" indent="-228600" algn="ctr">
            <a:defRPr sz="2400"/>
          </a:lvl4pPr>
          <a:lvl5pPr marL="914400" indent="-228600" algn="ctr">
            <a:defRPr sz="2400"/>
          </a:lvl5pPr>
          <a:lvl6pPr marL="1143000" indent="-228600" algn="ctr">
            <a:defRPr sz="2400"/>
          </a:lvl6pPr>
          <a:lvl7pPr marL="1371600" indent="-228600" algn="ctr">
            <a:defRPr sz="2400"/>
          </a:lvl7pPr>
          <a:lvl8pPr marL="1600200" indent="-228600" algn="ctr">
            <a:defRPr sz="2400"/>
          </a:lvl8pPr>
          <a:lvl9pPr marL="1828800" indent="-228600" algn="ctr">
            <a:defRPr sz="2400"/>
          </a:lvl9pPr>
        </a:lstStyle>
        <a:p>
          <a:pPr lvl="0">
            <a:lnSpc>
              <a:spcPct val="100000"/>
            </a:lnSpc>
            <a:spcBef>
              <a:spcPct val="0"/>
            </a:spcBef>
            <a:spcAft>
              <a:spcPct val="35000"/>
            </a:spcAft>
          </a:pPr>
          <a:r>
            <a:rPr lang="zh-CN" b="1" dirty="0">
              <a:latin typeface="黑体" panose="02010609060101010101" charset="-122"/>
              <a:ea typeface="黑体" panose="02010609060101010101" charset="-122"/>
            </a:rPr>
            <a:t>何以新之</a:t>
          </a:r>
          <a:endParaRPr lang="zh-CN" altLang="en-US" b="1" dirty="0">
            <a:latin typeface="黑体" panose="02010609060101010101" charset="-122"/>
            <a:ea typeface="黑体" panose="02010609060101010101" charset="-122"/>
          </a:endParaRPr>
        </a:p>
      </dsp:txBody>
      <dsp:txXfrm>
        <a:off x="1339273" y="2208080"/>
        <a:ext cx="1458166" cy="1458166"/>
      </dsp:txXfrm>
    </dsp:sp>
  </dsp:spTree>
</dsp:drawing>
</file>

<file path=ppt/diagrams/layout1.xml><?xml version="1.0" encoding="utf-8"?>
<dgm:layoutDef xmlns:dgm="http://schemas.openxmlformats.org/drawingml/2006/diagram" xmlns:a="http://schemas.openxmlformats.org/drawingml/2006/main" uniqueId="urn:microsoft.com/office/officeart/2005/8/layout/hList7#1">
  <dgm:title val=""/>
  <dgm:desc val=""/>
  <dgm:catLst>
    <dgm:cat type="list" pri="12000"/>
    <dgm:cat type="process" pri="20000"/>
    <dgm:cat type="relationship" pri="14000"/>
    <dgm:cat type="convert" pri="8000"/>
    <dgm:cat type="picture" pri="25000"/>
    <dgm:cat type="pictureconvert"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fgShape" refType="w" fact="0.92"/>
      <dgm:constr type="h" for="ch" forName="fgShape" refType="h" fact="0.15"/>
      <dgm:constr type="b" for="ch" forName="fgShape" refType="h" fact="0.95"/>
      <dgm:constr type="ctrX" for="ch" forName="fgShape" refType="w" fact="0.5"/>
      <dgm:constr type="w" for="ch" forName="linComp" refType="w"/>
      <dgm:constr type="h" for="ch" forName="linComp" refType="h"/>
      <dgm:constr type="ctrX" for="ch" forName="linComp" refType="w" fact="0.5"/>
    </dgm:constrLst>
    <dgm:ruleLst/>
    <dgm:layoutNode name="fgShape" styleLbl="fgShp">
      <dgm:alg type="sp"/>
      <dgm:shape xmlns:r="http://schemas.openxmlformats.org/officeDocument/2006/relationships" type="leftRightArrow" r:blip="" zOrderOff="99999">
        <dgm:adjLst/>
      </dgm:shape>
      <dgm:presOf/>
      <dgm:constrLst/>
      <dgm:ruleLst/>
    </dgm:layoutNode>
    <dgm:layoutNode name="linComp">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03"/>
        <dgm:constr type="primFontSz" for="des" ptType="node" op="equ" val="65"/>
      </dgm:constrLst>
      <dgm:ruleLst/>
      <dgm:forEach name="nodesForEach" axis="ch" ptType="node">
        <dgm:layoutNode name="compNode">
          <dgm:alg type="composite"/>
          <dgm:shape xmlns:r="http://schemas.openxmlformats.org/officeDocument/2006/relationships" r:blip="">
            <dgm:adjLst/>
          </dgm:shape>
          <dgm:presOf/>
          <dgm:constrLst>
            <dgm:constr type="w" for="ch" forName="bkgdShape" refType="w"/>
            <dgm:constr type="h" for="ch" forName="bkgdShape" refType="h"/>
            <dgm:constr type="w" for="ch" forName="nodeTx" refType="w"/>
            <dgm:constr type="h" for="ch" forName="nodeTx" refType="h" fact="0.4"/>
            <dgm:constr type="b" for="ch" forName="nodeTx" refType="h" fact="0.8"/>
            <dgm:constr type="w" for="ch" forName="invisiNode" refType="w" fact="0.01"/>
            <dgm:constr type="h" for="ch" forName="invisiNode" refType="h" fact="0.06"/>
            <dgm:constr type="t" for="ch" forName="invisiNode"/>
            <dgm:constr type="ctrX" for="ch" forName="invisiNode" refType="w" fact="0.5"/>
            <dgm:constr type="h" for="ch" forName="imagNode" refType="h" fact="0.333"/>
            <dgm:constr type="w" for="ch" forName="imagNode" refType="h" refFor="ch" refForName="imagNode"/>
            <dgm:constr type="ctrX" for="ch" forName="imagNode" refType="w" fact="0.5"/>
            <dgm:constr type="t" for="ch" forName="imagNode" refType="h" fact="0.06"/>
            <dgm:constr type="w" for="ch" forName="imagNode" refType="w" op="lte" fact="0.94"/>
          </dgm:constrLst>
          <dgm:ruleLst/>
          <dgm:layoutNode name="bkgdShape">
            <dgm:alg type="sp"/>
            <dgm:shape xmlns:r="http://schemas.openxmlformats.org/officeDocument/2006/relationships" type="roundRect" r:blip="">
              <dgm:adjLst>
                <dgm:adj idx="1" val="0.1"/>
              </dgm:adjLst>
            </dgm:shape>
            <dgm:presOf axis="desOrSelf" ptType="node"/>
            <dgm:constrLst/>
            <dgm:ruleLst/>
          </dgm:layoutNode>
          <dgm:layoutNode name="nodeTx">
            <dgm:varLst>
              <dgm:bulletEnabled val="1"/>
            </dgm:varLst>
            <dgm:alg type="tx">
              <dgm:param type="stBulletLvl" val="2"/>
              <dgm:param type="txAnchorHorzCh" val="ctr"/>
              <dgm:param type="txAnchorVert" val="mid"/>
            </dgm:alg>
            <dgm:shape xmlns:r="http://schemas.openxmlformats.org/officeDocument/2006/relationships" type="rect" r:blip="" hideGeom="1">
              <dgm:adjLst/>
            </dgm:shape>
            <dgm:presOf axis="desOrSelf" ptType="node"/>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radial6#1">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dstNode" val="node"/>
                    <dgm:param type="begSty" val="noArr"/>
                    <dgm:param type="endSty" val="noArr"/>
                    <dgm:param type="connRout" val="curve"/>
                    <dgm:param type="begPts" val="ctr"/>
                    <dgm:param type="endPts" val="ctr"/>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srcNode" val="dummyConnPt"/>
                    <dgm:param type="dstNode" val="dummyConnPt"/>
                    <dgm:param type="begSty" val="noArr"/>
                    <dgm:param type="endSty" val="noArr"/>
                    <dgm:param type="connRout" val="longCurve"/>
                    <dgm:param type="begPts" val="bCtr"/>
                    <dgm:param type="endPts" val="tCtr"/>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3d3#1">
  <dgm:title val=""/>
  <dgm:desc val=""/>
  <dgm:catLst>
    <dgm:cat type="3D" pri="11300"/>
  </dgm:catLst>
  <dgm:scene3d>
    <a:camera prst="orthographicFront"/>
    <a:lightRig rig="threePt" dir="t"/>
  </dgm:scene3d>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jpeg"/></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jpeg"/><Relationship Id="rId1"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image" Target="../media/image16.png"/></Relationships>
</file>

<file path=ppt/slides/_rels/slide9.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jpeg"/></Relationships>
</file>

<file path=ppt/slides/_rels/slide13.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21.jpeg"/><Relationship Id="rId5" Type="http://schemas.microsoft.com/office/2007/relationships/diagramDrawing" Target="../diagrams/drawing2.xml"/><Relationship Id="rId4" Type="http://schemas.openxmlformats.org/officeDocument/2006/relationships/diagramColors" Target="../diagrams/colors2.xml"/><Relationship Id="rId3" Type="http://schemas.openxmlformats.org/officeDocument/2006/relationships/diagramQuickStyle" Target="../diagrams/quickStyle2.xml"/><Relationship Id="rId2" Type="http://schemas.openxmlformats.org/officeDocument/2006/relationships/diagramLayout" Target="../diagrams/layout2.xml"/><Relationship Id="rId1" Type="http://schemas.openxmlformats.org/officeDocument/2006/relationships/diagramData" Target="../diagrams/data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3.GIF"/><Relationship Id="rId1" Type="http://schemas.openxmlformats.org/officeDocument/2006/relationships/tags" Target="../tags/tag1.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9" Type="http://schemas.openxmlformats.org/officeDocument/2006/relationships/image" Target="../media/image35.jpeg"/><Relationship Id="rId8" Type="http://schemas.openxmlformats.org/officeDocument/2006/relationships/image" Target="../media/image34.jpeg"/><Relationship Id="rId7" Type="http://schemas.openxmlformats.org/officeDocument/2006/relationships/image" Target="../media/image33.jpeg"/><Relationship Id="rId6" Type="http://schemas.openxmlformats.org/officeDocument/2006/relationships/image" Target="../media/image32.jpeg"/><Relationship Id="rId5" Type="http://schemas.openxmlformats.org/officeDocument/2006/relationships/image" Target="../media/image31.jpeg"/><Relationship Id="rId4" Type="http://schemas.openxmlformats.org/officeDocument/2006/relationships/image" Target="../media/image30.jpeg"/><Relationship Id="rId3" Type="http://schemas.openxmlformats.org/officeDocument/2006/relationships/image" Target="../media/image29.jpeg"/><Relationship Id="rId2" Type="http://schemas.openxmlformats.org/officeDocument/2006/relationships/image" Target="../media/image28.jpeg"/><Relationship Id="rId11" Type="http://schemas.openxmlformats.org/officeDocument/2006/relationships/slideLayout" Target="../slideLayouts/slideLayout2.xml"/><Relationship Id="rId10" Type="http://schemas.openxmlformats.org/officeDocument/2006/relationships/image" Target="../media/image36.jpeg"/><Relationship Id="rId1" Type="http://schemas.openxmlformats.org/officeDocument/2006/relationships/image" Target="../media/image27.jpeg"/></Relationships>
</file>

<file path=ppt/slides/_rels/slide25.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37.jpeg"/><Relationship Id="rId6" Type="http://schemas.openxmlformats.org/officeDocument/2006/relationships/image" Target="../media/image30.jpeg"/><Relationship Id="rId5" Type="http://schemas.openxmlformats.org/officeDocument/2006/relationships/image" Target="../media/image27.jpeg"/><Relationship Id="rId4" Type="http://schemas.openxmlformats.org/officeDocument/2006/relationships/image" Target="../media/image36.jpeg"/><Relationship Id="rId3" Type="http://schemas.openxmlformats.org/officeDocument/2006/relationships/image" Target="../media/image35.jpeg"/><Relationship Id="rId2" Type="http://schemas.openxmlformats.org/officeDocument/2006/relationships/image" Target="../media/image34.jpeg"/><Relationship Id="rId1" Type="http://schemas.openxmlformats.org/officeDocument/2006/relationships/image" Target="../media/image33.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2.png"/></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3.png"/><Relationship Id="rId1" Type="http://schemas.openxmlformats.org/officeDocument/2006/relationships/image" Target="../media/image42.png"/></Relationships>
</file>

<file path=ppt/slides/_rels/slide4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image" Target="../media/image42.png"/></Relationships>
</file>

<file path=ppt/slides/_rels/slide4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5.png"/><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image" Target="../media/image42.png"/></Relationships>
</file>

<file path=ppt/slides/_rels/slide4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46.png"/><Relationship Id="rId4" Type="http://schemas.openxmlformats.org/officeDocument/2006/relationships/image" Target="../media/image45.png"/><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image" Target="../media/image42.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7.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8.png"/></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9.png"/><Relationship Id="rId1" Type="http://schemas.openxmlformats.org/officeDocument/2006/relationships/tags" Target="../tags/tag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封面背景"/>
          <p:cNvPicPr>
            <a:picLocks noChangeAspect="1"/>
          </p:cNvPicPr>
          <p:nvPr/>
        </p:nvPicPr>
        <p:blipFill>
          <a:blip r:embed="rId1"/>
          <a:stretch>
            <a:fillRect/>
          </a:stretch>
        </p:blipFill>
        <p:spPr>
          <a:xfrm>
            <a:off x="9041450" y="3777941"/>
            <a:ext cx="3083698" cy="2840509"/>
          </a:xfrm>
          <a:prstGeom prst="rect">
            <a:avLst/>
          </a:prstGeom>
        </p:spPr>
      </p:pic>
      <p:pic>
        <p:nvPicPr>
          <p:cNvPr id="6" name="图片 5" descr="AI"/>
          <p:cNvPicPr>
            <a:picLocks noChangeAspect="1"/>
          </p:cNvPicPr>
          <p:nvPr/>
        </p:nvPicPr>
        <p:blipFill>
          <a:blip r:embed="rId2"/>
          <a:stretch>
            <a:fillRect/>
          </a:stretch>
        </p:blipFill>
        <p:spPr>
          <a:xfrm>
            <a:off x="0" y="658027"/>
            <a:ext cx="4818380" cy="3021330"/>
          </a:xfrm>
          <a:prstGeom prst="rect">
            <a:avLst/>
          </a:prstGeom>
        </p:spPr>
      </p:pic>
      <p:sp>
        <p:nvSpPr>
          <p:cNvPr id="7" name="矩形 6"/>
          <p:cNvSpPr/>
          <p:nvPr/>
        </p:nvSpPr>
        <p:spPr>
          <a:xfrm>
            <a:off x="4991201" y="4172834"/>
            <a:ext cx="6096000" cy="2214880"/>
          </a:xfrm>
          <a:prstGeom prst="rect">
            <a:avLst/>
          </a:prstGeom>
        </p:spPr>
        <p:txBody>
          <a:bodyPr>
            <a:spAutoFit/>
          </a:bodyPr>
          <a:lstStyle/>
          <a:p>
            <a:pPr lvl="1">
              <a:lnSpc>
                <a:spcPct val="150000"/>
              </a:lnSpc>
            </a:pPr>
            <a:r>
              <a:rPr lang="zh-CN" altLang="en-US" sz="3600" b="1" dirty="0">
                <a:latin typeface="黑体" panose="02010609060101010101" charset="-122"/>
                <a:ea typeface="黑体" panose="02010609060101010101" charset="-122"/>
                <a:cs typeface="Times New Roman" panose="02020603050405020304" charset="0"/>
              </a:rPr>
              <a:t>周建光</a:t>
            </a:r>
            <a:endParaRPr lang="en-US" altLang="zh-CN" sz="3600" b="1" dirty="0">
              <a:latin typeface="黑体" panose="02010609060101010101" charset="-122"/>
              <a:ea typeface="黑体" panose="02010609060101010101" charset="-122"/>
              <a:cs typeface="Times New Roman" panose="02020603050405020304" charset="0"/>
            </a:endParaRPr>
          </a:p>
          <a:p>
            <a:pPr lvl="1">
              <a:lnSpc>
                <a:spcPct val="150000"/>
              </a:lnSpc>
            </a:pPr>
            <a:r>
              <a:rPr lang="en-US" altLang="zh-CN" sz="2800" b="1" dirty="0" err="1">
                <a:latin typeface="Times New Roman" panose="02020603050405020304" charset="0"/>
                <a:cs typeface="Times New Roman" panose="02020603050405020304" charset="0"/>
              </a:rPr>
              <a:t>jgzhou</a:t>
            </a:r>
            <a:r>
              <a:rPr lang="zh-CN" altLang="en-US" sz="2800" b="1" dirty="0">
                <a:latin typeface="Times New Roman" panose="02020603050405020304" charset="0"/>
                <a:cs typeface="Times New Roman" panose="02020603050405020304" charset="0"/>
              </a:rPr>
              <a:t>@zju.edu.cn 		</a:t>
            </a:r>
            <a:endParaRPr lang="zh-CN" altLang="en-US" sz="2800" b="1" dirty="0">
              <a:latin typeface="Times New Roman" panose="02020603050405020304" charset="0"/>
              <a:cs typeface="Times New Roman" panose="02020603050405020304" charset="0"/>
            </a:endParaRPr>
          </a:p>
          <a:p>
            <a:pPr lvl="1">
              <a:lnSpc>
                <a:spcPct val="150000"/>
              </a:lnSpc>
            </a:pPr>
            <a:r>
              <a:rPr lang="en-US" altLang="zh-CN" sz="2800" b="1" dirty="0">
                <a:latin typeface="Times New Roman" panose="02020603050405020304" charset="0"/>
                <a:cs typeface="Times New Roman" panose="02020603050405020304" charset="0"/>
              </a:rPr>
              <a:t>15988109537</a:t>
            </a:r>
            <a:endParaRPr lang="zh-CN" altLang="en-US" sz="2800" b="1" kern="0" dirty="0">
              <a:solidFill>
                <a:srgbClr val="0000FF"/>
              </a:solidFill>
              <a:latin typeface="微软雅黑" panose="020B0503020204020204" charset="-122"/>
              <a:ea typeface="微软雅黑" panose="020B0503020204020204" charset="-122"/>
            </a:endParaRPr>
          </a:p>
        </p:txBody>
      </p:sp>
      <p:sp>
        <p:nvSpPr>
          <p:cNvPr id="8" name="文本框 7"/>
          <p:cNvSpPr txBox="1"/>
          <p:nvPr/>
        </p:nvSpPr>
        <p:spPr>
          <a:xfrm>
            <a:off x="4818380" y="2000543"/>
            <a:ext cx="7200900" cy="1015663"/>
          </a:xfrm>
          <a:prstGeom prst="rect">
            <a:avLst/>
          </a:prstGeom>
          <a:noFill/>
        </p:spPr>
        <p:txBody>
          <a:bodyPr wrap="square" rtlCol="0">
            <a:spAutoFit/>
          </a:bodyPr>
          <a:lstStyle/>
          <a:p>
            <a:pPr algn="ctr"/>
            <a:r>
              <a:rPr lang="zh-CN" altLang="en-US" sz="6000" dirty="0">
                <a:solidFill>
                  <a:srgbClr val="FF0000"/>
                </a:solidFill>
                <a:latin typeface="华文琥珀" panose="02010800040101010101" pitchFamily="2" charset="-122"/>
                <a:ea typeface="华文琥珀" panose="02010800040101010101" pitchFamily="2" charset="-122"/>
                <a:cs typeface="Times New Roman" panose="02020603050405020304" charset="0"/>
              </a:rPr>
              <a:t>人工智能与机器学习</a:t>
            </a:r>
            <a:endParaRPr lang="zh-CN" altLang="en-US" sz="6000" dirty="0">
              <a:solidFill>
                <a:srgbClr val="FF0000"/>
              </a:solidFill>
              <a:latin typeface="华文琥珀" panose="02010800040101010101" pitchFamily="2" charset="-122"/>
              <a:ea typeface="华文琥珀" panose="02010800040101010101" pitchFamily="2" charset="-122"/>
              <a:cs typeface="Times New Roman" panose="02020603050405020304" charset="0"/>
            </a:endParaRPr>
          </a:p>
        </p:txBody>
      </p:sp>
      <p:pic>
        <p:nvPicPr>
          <p:cNvPr id="9" name="图片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943211"/>
            <a:ext cx="4777356" cy="2675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图片 9"/>
          <p:cNvPicPr>
            <a:picLocks noChangeAspect="1"/>
          </p:cNvPicPr>
          <p:nvPr/>
        </p:nvPicPr>
        <p:blipFill>
          <a:blip r:embed="rId4" cstate="print"/>
          <a:stretch>
            <a:fillRect/>
          </a:stretch>
        </p:blipFill>
        <p:spPr>
          <a:xfrm>
            <a:off x="8475860" y="0"/>
            <a:ext cx="3710248" cy="1046480"/>
          </a:xfrm>
          <a:prstGeom prst="rect">
            <a:avLst/>
          </a:prstGeom>
        </p:spPr>
      </p:pic>
    </p:spTree>
  </p:cSld>
  <p:clrMapOvr>
    <a:masterClrMapping/>
  </p:clrMapOvr>
  <p:transition advTm="30417"/>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4"/>
          <p:cNvSpPr>
            <a:spLocks noChangeArrowheads="1"/>
          </p:cNvSpPr>
          <p:nvPr/>
        </p:nvSpPr>
        <p:spPr bwMode="auto">
          <a:xfrm>
            <a:off x="3489325" y="1136650"/>
            <a:ext cx="6999288" cy="2203680"/>
          </a:xfrm>
          <a:prstGeom prst="rect">
            <a:avLst/>
          </a:prstGeom>
          <a:solidFill>
            <a:schemeClr val="bg1">
              <a:lumMod val="95000"/>
            </a:schemeClr>
          </a:solidFill>
          <a:ln w="19050">
            <a:noFill/>
            <a:prstDash val="sysDot"/>
          </a:ln>
        </p:spPr>
        <p:txBody>
          <a:bodyPr>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marL="285750" indent="-285750">
              <a:lnSpc>
                <a:spcPct val="150000"/>
              </a:lnSpc>
              <a:spcBef>
                <a:spcPct val="20000"/>
              </a:spcBef>
              <a:buClr>
                <a:srgbClr val="0070C0"/>
              </a:buClr>
              <a:buFont typeface="Wingdings" panose="05000000000000000000" pitchFamily="2" charset="2"/>
              <a:buChar char="u"/>
              <a:defRPr/>
            </a:pPr>
            <a:endParaRPr lang="en-US" altLang="zh-CN" sz="1400" dirty="0">
              <a:latin typeface="微软雅黑" panose="020B0503020204020204" charset="-122"/>
              <a:ea typeface="微软雅黑" panose="020B0503020204020204" charset="-122"/>
            </a:endParaRPr>
          </a:p>
          <a:p>
            <a:pPr marL="285750" indent="-285750">
              <a:lnSpc>
                <a:spcPct val="150000"/>
              </a:lnSpc>
              <a:spcBef>
                <a:spcPct val="20000"/>
              </a:spcBef>
              <a:buClr>
                <a:srgbClr val="0070C0"/>
              </a:buClr>
              <a:buFont typeface="Wingdings" panose="05000000000000000000" pitchFamily="2" charset="2"/>
              <a:buChar char="u"/>
              <a:defRPr/>
            </a:pPr>
            <a:r>
              <a:rPr lang="zh-CN" altLang="en-US" sz="1400" dirty="0">
                <a:solidFill>
                  <a:srgbClr val="000000"/>
                </a:solidFill>
                <a:latin typeface="微软雅黑" panose="020B0503020204020204" charset="-122"/>
                <a:ea typeface="微软雅黑" panose="020B0503020204020204" charset="-122"/>
              </a:rPr>
              <a:t>从事分析传感技术、仪器和控制工作近</a:t>
            </a:r>
            <a:r>
              <a:rPr lang="en-US" altLang="zh-CN" sz="1400" dirty="0">
                <a:solidFill>
                  <a:srgbClr val="000000"/>
                </a:solidFill>
                <a:latin typeface="微软雅黑" panose="020B0503020204020204" charset="-122"/>
                <a:ea typeface="微软雅黑" panose="020B0503020204020204" charset="-122"/>
              </a:rPr>
              <a:t>20</a:t>
            </a:r>
            <a:r>
              <a:rPr lang="zh-CN" altLang="en-US" sz="1400" dirty="0">
                <a:solidFill>
                  <a:srgbClr val="000000"/>
                </a:solidFill>
                <a:latin typeface="微软雅黑" panose="020B0503020204020204" charset="-122"/>
                <a:ea typeface="微软雅黑" panose="020B0503020204020204" charset="-122"/>
              </a:rPr>
              <a:t>多年，先后主持了国家自然科学基金、“九五”、“十五”、“十一五”、 “十二五”、 “十三五”等多项国家重大项目</a:t>
            </a:r>
            <a:endParaRPr lang="en-US" altLang="zh-CN" sz="1400" dirty="0">
              <a:solidFill>
                <a:srgbClr val="000000"/>
              </a:solidFill>
              <a:latin typeface="微软雅黑" panose="020B0503020204020204" charset="-122"/>
              <a:ea typeface="微软雅黑" panose="020B0503020204020204" charset="-122"/>
            </a:endParaRPr>
          </a:p>
          <a:p>
            <a:pPr marL="285750" indent="-285750">
              <a:lnSpc>
                <a:spcPct val="150000"/>
              </a:lnSpc>
              <a:spcBef>
                <a:spcPct val="20000"/>
              </a:spcBef>
              <a:buClr>
                <a:srgbClr val="0070C0"/>
              </a:buClr>
              <a:buFont typeface="Wingdings" panose="05000000000000000000" pitchFamily="2" charset="2"/>
              <a:buChar char="u"/>
              <a:defRPr/>
            </a:pPr>
            <a:r>
              <a:rPr lang="zh-CN" altLang="en-US" sz="1400" dirty="0">
                <a:solidFill>
                  <a:srgbClr val="000000"/>
                </a:solidFill>
                <a:latin typeface="微软雅黑" panose="020B0503020204020204" charset="-122"/>
                <a:ea typeface="微软雅黑" panose="020B0503020204020204" charset="-122"/>
              </a:rPr>
              <a:t>分析化学（理科）、检测技术与自动化装置（工科）博士生导师</a:t>
            </a:r>
            <a:endParaRPr lang="en-US" altLang="zh-CN" sz="1400" dirty="0">
              <a:solidFill>
                <a:srgbClr val="000000"/>
              </a:solidFill>
              <a:latin typeface="微软雅黑" panose="020B0503020204020204" charset="-122"/>
              <a:ea typeface="微软雅黑" panose="020B0503020204020204" charset="-122"/>
            </a:endParaRPr>
          </a:p>
          <a:p>
            <a:pPr marL="285750" indent="-285750">
              <a:lnSpc>
                <a:spcPct val="150000"/>
              </a:lnSpc>
              <a:spcBef>
                <a:spcPct val="20000"/>
              </a:spcBef>
              <a:buClr>
                <a:srgbClr val="0070C0"/>
              </a:buClr>
              <a:buFont typeface="Wingdings" panose="05000000000000000000" pitchFamily="2" charset="2"/>
              <a:buChar char="u"/>
              <a:defRPr/>
            </a:pPr>
            <a:r>
              <a:rPr lang="zh-CN" altLang="en-US" sz="1400" dirty="0">
                <a:solidFill>
                  <a:srgbClr val="000000"/>
                </a:solidFill>
                <a:latin typeface="微软雅黑" panose="020B0503020204020204" charset="-122"/>
                <a:ea typeface="微软雅黑" panose="020B0503020204020204" charset="-122"/>
              </a:rPr>
              <a:t>发表论文百余篇，申请发明专利</a:t>
            </a:r>
            <a:r>
              <a:rPr lang="en-US" altLang="zh-CN" sz="1400" dirty="0">
                <a:solidFill>
                  <a:srgbClr val="000000"/>
                </a:solidFill>
                <a:latin typeface="微软雅黑" panose="020B0503020204020204" charset="-122"/>
                <a:ea typeface="微软雅黑" panose="020B0503020204020204" charset="-122"/>
              </a:rPr>
              <a:t>40</a:t>
            </a:r>
            <a:r>
              <a:rPr lang="zh-CN" altLang="en-US" sz="1400" dirty="0">
                <a:solidFill>
                  <a:srgbClr val="000000"/>
                </a:solidFill>
                <a:latin typeface="微软雅黑" panose="020B0503020204020204" charset="-122"/>
                <a:ea typeface="微软雅黑" panose="020B0503020204020204" charset="-122"/>
              </a:rPr>
              <a:t>多项，获省部科技成果、科技进步一等奖</a:t>
            </a:r>
            <a:endParaRPr lang="en-US" altLang="zh-CN" sz="1400" dirty="0">
              <a:solidFill>
                <a:srgbClr val="000000"/>
              </a:solidFill>
              <a:latin typeface="微软雅黑" panose="020B0503020204020204" charset="-122"/>
              <a:ea typeface="微软雅黑" panose="020B0503020204020204" charset="-122"/>
            </a:endParaRPr>
          </a:p>
          <a:p>
            <a:pPr marL="285750" indent="-285750">
              <a:lnSpc>
                <a:spcPct val="150000"/>
              </a:lnSpc>
              <a:spcBef>
                <a:spcPct val="20000"/>
              </a:spcBef>
              <a:buClr>
                <a:srgbClr val="0070C0"/>
              </a:buClr>
              <a:buFont typeface="Wingdings" panose="05000000000000000000" pitchFamily="2" charset="2"/>
              <a:buChar char="u"/>
              <a:defRPr/>
            </a:pPr>
            <a:r>
              <a:rPr lang="zh-CN" altLang="en-US" sz="1400" dirty="0">
                <a:solidFill>
                  <a:srgbClr val="000000"/>
                </a:solidFill>
                <a:latin typeface="微软雅黑" panose="020B0503020204020204" charset="-122"/>
                <a:ea typeface="微软雅黑" panose="020B0503020204020204" charset="-122"/>
              </a:rPr>
              <a:t>浙江省</a:t>
            </a:r>
            <a:r>
              <a:rPr lang="en-US" altLang="zh-CN" sz="1400" dirty="0">
                <a:solidFill>
                  <a:srgbClr val="000000"/>
                </a:solidFill>
                <a:latin typeface="微软雅黑" panose="020B0503020204020204" charset="-122"/>
                <a:ea typeface="微软雅黑" panose="020B0503020204020204" charset="-122"/>
              </a:rPr>
              <a:t>151</a:t>
            </a:r>
            <a:r>
              <a:rPr lang="zh-CN" altLang="en-US" sz="1400" dirty="0">
                <a:solidFill>
                  <a:srgbClr val="000000"/>
                </a:solidFill>
                <a:latin typeface="微软雅黑" panose="020B0503020204020204" charset="-122"/>
                <a:ea typeface="微软雅黑" panose="020B0503020204020204" charset="-122"/>
              </a:rPr>
              <a:t>人才，中国分析仪器学会副秘书长</a:t>
            </a:r>
            <a:endParaRPr lang="en-US" altLang="zh-CN" sz="800" dirty="0">
              <a:solidFill>
                <a:srgbClr val="000000"/>
              </a:solidFill>
              <a:latin typeface="微软雅黑" panose="020B0503020204020204" charset="-122"/>
              <a:ea typeface="微软雅黑" panose="020B0503020204020204" charset="-122"/>
            </a:endParaRPr>
          </a:p>
        </p:txBody>
      </p:sp>
      <p:sp>
        <p:nvSpPr>
          <p:cNvPr id="4" name="Pentagon 12"/>
          <p:cNvSpPr>
            <a:spLocks noChangeArrowheads="1"/>
          </p:cNvSpPr>
          <p:nvPr/>
        </p:nvSpPr>
        <p:spPr bwMode="auto">
          <a:xfrm>
            <a:off x="3489326" y="1112839"/>
            <a:ext cx="1223963" cy="395287"/>
          </a:xfrm>
          <a:prstGeom prst="homePlate">
            <a:avLst>
              <a:gd name="adj" fmla="val 41916"/>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zh-CN" altLang="en-US" sz="2000" b="1" noProof="1">
                <a:latin typeface="微软雅黑" panose="020B0503020204020204" charset="-122"/>
                <a:ea typeface="微软雅黑" panose="020B0503020204020204" charset="-122"/>
              </a:rPr>
              <a:t>周建光</a:t>
            </a:r>
            <a:endParaRPr lang="zh-CN" altLang="zh-CN" sz="2000" b="1" noProof="1">
              <a:latin typeface="微软雅黑" panose="020B0503020204020204" charset="-122"/>
              <a:ea typeface="微软雅黑" panose="020B0503020204020204" charset="-122"/>
            </a:endParaRPr>
          </a:p>
        </p:txBody>
      </p:sp>
      <p:grpSp>
        <p:nvGrpSpPr>
          <p:cNvPr id="10" name="组合 122"/>
          <p:cNvGrpSpPr/>
          <p:nvPr/>
        </p:nvGrpSpPr>
        <p:grpSpPr bwMode="auto">
          <a:xfrm>
            <a:off x="1879601" y="3427414"/>
            <a:ext cx="5971309" cy="693858"/>
            <a:chOff x="1733189" y="2155112"/>
            <a:chExt cx="6727245" cy="831197"/>
          </a:xfrm>
        </p:grpSpPr>
        <p:sp>
          <p:nvSpPr>
            <p:cNvPr id="11" name="AutoShape 11"/>
            <p:cNvSpPr>
              <a:spLocks noChangeArrowheads="1"/>
            </p:cNvSpPr>
            <p:nvPr/>
          </p:nvSpPr>
          <p:spPr bwMode="gray">
            <a:xfrm>
              <a:off x="1733189" y="2155112"/>
              <a:ext cx="6727245" cy="831197"/>
            </a:xfrm>
            <a:prstGeom prst="roundRect">
              <a:avLst>
                <a:gd name="adj" fmla="val 11505"/>
              </a:avLst>
            </a:prstGeom>
            <a:solidFill>
              <a:schemeClr val="bg1">
                <a:lumMod val="85000"/>
              </a:schemeClr>
            </a:solid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zh-CN" altLang="en-US" sz="1400"/>
            </a:p>
          </p:txBody>
        </p:sp>
        <p:sp>
          <p:nvSpPr>
            <p:cNvPr id="12" name="AutoShape 12"/>
            <p:cNvSpPr>
              <a:spLocks noChangeArrowheads="1"/>
            </p:cNvSpPr>
            <p:nvPr/>
          </p:nvSpPr>
          <p:spPr bwMode="gray">
            <a:xfrm>
              <a:off x="1733189" y="2390823"/>
              <a:ext cx="305046" cy="360000"/>
            </a:xfrm>
            <a:prstGeom prst="rightArrow">
              <a:avLst>
                <a:gd name="adj1" fmla="val 50000"/>
                <a:gd name="adj2" fmla="val 45505"/>
              </a:avLst>
            </a:prstGeom>
            <a:solidFill>
              <a:srgbClr val="FEFEFE"/>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sz="1400"/>
            </a:p>
          </p:txBody>
        </p:sp>
        <p:sp>
          <p:nvSpPr>
            <p:cNvPr id="13" name="Text Box 20"/>
            <p:cNvSpPr txBox="1">
              <a:spLocks noChangeArrowheads="1"/>
            </p:cNvSpPr>
            <p:nvPr/>
          </p:nvSpPr>
          <p:spPr bwMode="black">
            <a:xfrm>
              <a:off x="2195736" y="2437438"/>
              <a:ext cx="6264698" cy="387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1500" b="1" dirty="0">
                  <a:solidFill>
                    <a:srgbClr val="000000"/>
                  </a:solidFill>
                  <a:latin typeface="微软雅黑" panose="020B0503020204020204" charset="-122"/>
                  <a:ea typeface="微软雅黑" panose="020B0503020204020204" charset="-122"/>
                </a:rPr>
                <a:t>理学博士（分析化学）</a:t>
              </a:r>
              <a:endParaRPr lang="en-US" altLang="zh-CN" sz="1500" b="1" dirty="0">
                <a:solidFill>
                  <a:srgbClr val="FF0000"/>
                </a:solidFill>
                <a:latin typeface="微软雅黑" panose="020B0503020204020204" charset="-122"/>
                <a:ea typeface="微软雅黑" panose="020B0503020204020204" charset="-122"/>
              </a:endParaRPr>
            </a:p>
          </p:txBody>
        </p:sp>
      </p:grpSp>
      <p:grpSp>
        <p:nvGrpSpPr>
          <p:cNvPr id="14" name="组合 124"/>
          <p:cNvGrpSpPr/>
          <p:nvPr/>
        </p:nvGrpSpPr>
        <p:grpSpPr bwMode="auto">
          <a:xfrm>
            <a:off x="1879601" y="4414839"/>
            <a:ext cx="5971309" cy="693858"/>
            <a:chOff x="1733189" y="3062425"/>
            <a:chExt cx="6727244" cy="831422"/>
          </a:xfrm>
          <a:solidFill>
            <a:schemeClr val="bg1">
              <a:lumMod val="85000"/>
            </a:schemeClr>
          </a:solidFill>
        </p:grpSpPr>
        <p:sp>
          <p:nvSpPr>
            <p:cNvPr id="15" name="AutoShape 11"/>
            <p:cNvSpPr>
              <a:spLocks noChangeArrowheads="1"/>
            </p:cNvSpPr>
            <p:nvPr/>
          </p:nvSpPr>
          <p:spPr bwMode="gray">
            <a:xfrm>
              <a:off x="1733189" y="3062425"/>
              <a:ext cx="6727244" cy="831422"/>
            </a:xfrm>
            <a:prstGeom prst="roundRect">
              <a:avLst>
                <a:gd name="adj" fmla="val 11505"/>
              </a:avLst>
            </a:prstGeom>
            <a:grp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zh-CN" altLang="en-US" sz="1400"/>
            </a:p>
          </p:txBody>
        </p:sp>
        <p:sp>
          <p:nvSpPr>
            <p:cNvPr id="16" name="Text Box 20"/>
            <p:cNvSpPr txBox="1">
              <a:spLocks noChangeArrowheads="1"/>
            </p:cNvSpPr>
            <p:nvPr/>
          </p:nvSpPr>
          <p:spPr bwMode="black">
            <a:xfrm>
              <a:off x="2195735" y="3313381"/>
              <a:ext cx="6264698" cy="38723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1500" b="1" dirty="0">
                  <a:solidFill>
                    <a:srgbClr val="000000"/>
                  </a:solidFill>
                  <a:latin typeface="微软雅黑" panose="020B0503020204020204" charset="-122"/>
                  <a:ea typeface="微软雅黑" panose="020B0503020204020204" charset="-122"/>
                </a:rPr>
                <a:t>医学博士后（免疫医学）</a:t>
              </a:r>
              <a:endParaRPr lang="en-US" altLang="zh-CN" sz="1500" b="1" dirty="0">
                <a:solidFill>
                  <a:srgbClr val="000000"/>
                </a:solidFill>
                <a:latin typeface="微软雅黑" panose="020B0503020204020204" charset="-122"/>
                <a:ea typeface="微软雅黑" panose="020B0503020204020204" charset="-122"/>
              </a:endParaRPr>
            </a:p>
          </p:txBody>
        </p:sp>
        <p:sp>
          <p:nvSpPr>
            <p:cNvPr id="17" name="AutoShape 12"/>
            <p:cNvSpPr>
              <a:spLocks noChangeArrowheads="1"/>
            </p:cNvSpPr>
            <p:nvPr/>
          </p:nvSpPr>
          <p:spPr bwMode="gray">
            <a:xfrm>
              <a:off x="1733189" y="3270878"/>
              <a:ext cx="305046" cy="360000"/>
            </a:xfrm>
            <a:prstGeom prst="rightArrow">
              <a:avLst>
                <a:gd name="adj1" fmla="val 50000"/>
                <a:gd name="adj2" fmla="val 45505"/>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sz="1400"/>
            </a:p>
          </p:txBody>
        </p:sp>
      </p:grpSp>
      <p:grpSp>
        <p:nvGrpSpPr>
          <p:cNvPr id="18" name="组合 125"/>
          <p:cNvGrpSpPr/>
          <p:nvPr/>
        </p:nvGrpSpPr>
        <p:grpSpPr bwMode="auto">
          <a:xfrm>
            <a:off x="1865314" y="5430839"/>
            <a:ext cx="5988039" cy="739052"/>
            <a:chOff x="1714878" y="4038162"/>
            <a:chExt cx="6745979" cy="886646"/>
          </a:xfrm>
          <a:solidFill>
            <a:schemeClr val="bg1">
              <a:lumMod val="85000"/>
            </a:schemeClr>
          </a:solidFill>
        </p:grpSpPr>
        <p:grpSp>
          <p:nvGrpSpPr>
            <p:cNvPr id="19" name="组合 60"/>
            <p:cNvGrpSpPr/>
            <p:nvPr/>
          </p:nvGrpSpPr>
          <p:grpSpPr bwMode="auto">
            <a:xfrm>
              <a:off x="1714878" y="4038162"/>
              <a:ext cx="6745979" cy="886646"/>
              <a:chOff x="1515650" y="2089225"/>
              <a:chExt cx="6746215" cy="872575"/>
            </a:xfrm>
            <a:grpFill/>
          </p:grpSpPr>
          <p:sp>
            <p:nvSpPr>
              <p:cNvPr id="21" name="AutoShape 11"/>
              <p:cNvSpPr>
                <a:spLocks noChangeArrowheads="1"/>
              </p:cNvSpPr>
              <p:nvPr/>
            </p:nvSpPr>
            <p:spPr bwMode="gray">
              <a:xfrm>
                <a:off x="1515650" y="2089225"/>
                <a:ext cx="6746215" cy="872575"/>
              </a:xfrm>
              <a:prstGeom prst="roundRect">
                <a:avLst>
                  <a:gd name="adj" fmla="val 11505"/>
                </a:avLst>
              </a:prstGeom>
              <a:grp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zh-CN" altLang="en-US" sz="1500"/>
              </a:p>
            </p:txBody>
          </p:sp>
          <p:sp>
            <p:nvSpPr>
              <p:cNvPr id="22" name="Text Box 20"/>
              <p:cNvSpPr txBox="1">
                <a:spLocks noChangeArrowheads="1"/>
              </p:cNvSpPr>
              <p:nvPr/>
            </p:nvSpPr>
            <p:spPr bwMode="black">
              <a:xfrm>
                <a:off x="1993625" y="2411190"/>
                <a:ext cx="6264814" cy="38155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sz="1500" b="1" dirty="0">
                    <a:solidFill>
                      <a:srgbClr val="000000"/>
                    </a:solidFill>
                    <a:latin typeface="微软雅黑" panose="020B0503020204020204" charset="-122"/>
                    <a:ea typeface="微软雅黑" panose="020B0503020204020204" charset="-122"/>
                  </a:rPr>
                  <a:t>工学教授（控制科学与工程）</a:t>
                </a:r>
                <a:endParaRPr lang="zh-CN" altLang="en-US" sz="1500" b="1" dirty="0">
                  <a:solidFill>
                    <a:srgbClr val="000000"/>
                  </a:solidFill>
                  <a:latin typeface="微软雅黑" panose="020B0503020204020204" charset="-122"/>
                  <a:ea typeface="微软雅黑" panose="020B0503020204020204" charset="-122"/>
                </a:endParaRPr>
              </a:p>
            </p:txBody>
          </p:sp>
        </p:grpSp>
        <p:sp>
          <p:nvSpPr>
            <p:cNvPr id="20" name="AutoShape 12"/>
            <p:cNvSpPr>
              <a:spLocks noChangeArrowheads="1"/>
            </p:cNvSpPr>
            <p:nvPr/>
          </p:nvSpPr>
          <p:spPr bwMode="gray">
            <a:xfrm>
              <a:off x="1716585" y="4325540"/>
              <a:ext cx="305046" cy="360000"/>
            </a:xfrm>
            <a:prstGeom prst="rightArrow">
              <a:avLst>
                <a:gd name="adj1" fmla="val 50000"/>
                <a:gd name="adj2" fmla="val 45505"/>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en-US" sz="1400"/>
            </a:p>
          </p:txBody>
        </p:sp>
      </p:grpSp>
      <p:sp>
        <p:nvSpPr>
          <p:cNvPr id="23" name="矩形 2"/>
          <p:cNvSpPr>
            <a:spLocks noChangeArrowheads="1"/>
          </p:cNvSpPr>
          <p:nvPr/>
        </p:nvSpPr>
        <p:spPr bwMode="auto">
          <a:xfrm>
            <a:off x="4799014" y="1065214"/>
            <a:ext cx="532870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150000"/>
              </a:lnSpc>
              <a:spcBef>
                <a:spcPct val="20000"/>
              </a:spcBef>
              <a:buClr>
                <a:srgbClr val="0070C0"/>
              </a:buClr>
            </a:pPr>
            <a:r>
              <a:rPr lang="zh-CN" altLang="en-US" sz="1600" b="1" dirty="0">
                <a:solidFill>
                  <a:srgbClr val="000000"/>
                </a:solidFill>
                <a:latin typeface="微软雅黑" panose="020B0503020204020204" charset="-122"/>
                <a:ea typeface="微软雅黑" panose="020B0503020204020204" charset="-122"/>
              </a:rPr>
              <a:t>控制科学与工程学院 分析仪器研究中心副主任 教授</a:t>
            </a:r>
            <a:r>
              <a:rPr lang="en-US" altLang="zh-CN" sz="1600" b="1" dirty="0">
                <a:solidFill>
                  <a:srgbClr val="000000"/>
                </a:solidFill>
                <a:latin typeface="微软雅黑" panose="020B0503020204020204" charset="-122"/>
                <a:ea typeface="微软雅黑" panose="020B0503020204020204" charset="-122"/>
              </a:rPr>
              <a:t>/</a:t>
            </a:r>
            <a:r>
              <a:rPr lang="zh-CN" altLang="en-US" sz="1600" b="1" dirty="0">
                <a:solidFill>
                  <a:srgbClr val="000000"/>
                </a:solidFill>
                <a:latin typeface="微软雅黑" panose="020B0503020204020204" charset="-122"/>
                <a:ea typeface="微软雅黑" panose="020B0503020204020204" charset="-122"/>
              </a:rPr>
              <a:t>博导</a:t>
            </a:r>
            <a:endParaRPr lang="en-US" altLang="zh-CN" sz="1600" b="1" dirty="0">
              <a:solidFill>
                <a:srgbClr val="000000"/>
              </a:solidFill>
              <a:latin typeface="微软雅黑" panose="020B0503020204020204" charset="-122"/>
              <a:ea typeface="微软雅黑" panose="020B0503020204020204" charset="-122"/>
            </a:endParaRPr>
          </a:p>
        </p:txBody>
      </p:sp>
      <p:sp>
        <p:nvSpPr>
          <p:cNvPr id="24" name="标题 1"/>
          <p:cNvSpPr txBox="1"/>
          <p:nvPr/>
        </p:nvSpPr>
        <p:spPr bwMode="auto">
          <a:xfrm>
            <a:off x="1524000" y="71438"/>
            <a:ext cx="7164388" cy="857250"/>
          </a:xfrm>
          <a:prstGeom prst="rect">
            <a:avLst/>
          </a:prstGeom>
          <a:noFill/>
          <a:ln w="9525">
            <a:noFill/>
            <a:miter lim="800000"/>
          </a:ln>
        </p:spPr>
        <p:txBody>
          <a:bodyPr anchor="ctr">
            <a:normAutofit/>
          </a:bodyPr>
          <a:lstStyle/>
          <a:p>
            <a:pPr>
              <a:defRPr/>
            </a:pPr>
            <a:r>
              <a:rPr lang="zh-CN" altLang="en-US" sz="3000" b="1" dirty="0">
                <a:solidFill>
                  <a:schemeClr val="bg1"/>
                </a:solidFill>
                <a:latin typeface="微软雅黑" panose="020B0503020204020204" charset="-122"/>
                <a:ea typeface="微软雅黑" panose="020B0503020204020204" charset="-122"/>
              </a:rPr>
              <a:t> 授课教师简历和创新能力</a:t>
            </a:r>
            <a:endParaRPr lang="zh-CN" altLang="en-US" sz="3000" b="1" dirty="0">
              <a:solidFill>
                <a:schemeClr val="bg1"/>
              </a:solidFill>
              <a:latin typeface="微软雅黑" panose="020B0503020204020204" charset="-122"/>
              <a:ea typeface="微软雅黑" panose="020B0503020204020204" charset="-122"/>
              <a:cs typeface="+mj-cs"/>
            </a:endParaRPr>
          </a:p>
        </p:txBody>
      </p:sp>
      <p:pic>
        <p:nvPicPr>
          <p:cNvPr id="15362" name="Picture 2" descr="IMG_2650"/>
          <p:cNvPicPr>
            <a:picLocks noChangeAspect="1" noChangeArrowheads="1"/>
          </p:cNvPicPr>
          <p:nvPr/>
        </p:nvPicPr>
        <p:blipFill>
          <a:blip r:embed="rId1" cstate="print">
            <a:lum bright="-6000" contrast="30000"/>
            <a:extLst>
              <a:ext uri="{28A0092B-C50C-407E-A947-70E740481C1C}">
                <a14:useLocalDpi xmlns:a14="http://schemas.microsoft.com/office/drawing/2010/main" val="0"/>
              </a:ext>
            </a:extLst>
          </a:blip>
          <a:srcRect/>
          <a:stretch>
            <a:fillRect/>
          </a:stretch>
        </p:blipFill>
        <p:spPr bwMode="auto">
          <a:xfrm>
            <a:off x="1829218" y="1051816"/>
            <a:ext cx="1582976" cy="2302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 name="Picture 1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45182" y="4102564"/>
            <a:ext cx="2341984" cy="1210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245182" y="5243514"/>
            <a:ext cx="2367706" cy="1552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877896" y="2942062"/>
            <a:ext cx="1734993" cy="1165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 name="图片 29"/>
          <p:cNvPicPr>
            <a:picLocks noChangeAspect="1"/>
          </p:cNvPicPr>
          <p:nvPr/>
        </p:nvPicPr>
        <p:blipFill>
          <a:blip r:embed="rId5" cstate="print"/>
          <a:stretch>
            <a:fillRect/>
          </a:stretch>
        </p:blipFill>
        <p:spPr>
          <a:xfrm>
            <a:off x="8168644" y="22909"/>
            <a:ext cx="2499357" cy="923298"/>
          </a:xfrm>
          <a:prstGeom prst="rect">
            <a:avLst/>
          </a:prstGeom>
          <a:ln w="28575" cmpd="sng">
            <a:solidFill>
              <a:schemeClr val="accent1">
                <a:shade val="50000"/>
              </a:schemeClr>
            </a:solidFill>
            <a:prstDash val="solid"/>
          </a:ln>
        </p:spPr>
      </p:pic>
      <p:sp>
        <p:nvSpPr>
          <p:cNvPr id="5" name="矩形 4"/>
          <p:cNvSpPr/>
          <p:nvPr/>
        </p:nvSpPr>
        <p:spPr>
          <a:xfrm>
            <a:off x="1524000" y="6169892"/>
            <a:ext cx="6721182" cy="688109"/>
          </a:xfrm>
          <a:prstGeom prst="rect">
            <a:avLst/>
          </a:prstGeom>
          <a:solidFill>
            <a:srgbClr val="00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1561731" y="6291978"/>
            <a:ext cx="6606912" cy="400110"/>
          </a:xfrm>
          <a:prstGeom prst="rect">
            <a:avLst/>
          </a:prstGeom>
        </p:spPr>
        <p:txBody>
          <a:bodyPr wrap="square">
            <a:spAutoFit/>
          </a:bodyPr>
          <a:lstStyle/>
          <a:p>
            <a:pPr lvl="1" indent="-457200">
              <a:spcBef>
                <a:spcPct val="50000"/>
              </a:spcBef>
            </a:pPr>
            <a:r>
              <a:rPr lang="zh-CN" altLang="en-US" sz="2000" b="1" dirty="0">
                <a:solidFill>
                  <a:schemeClr val="bg1"/>
                </a:solidFill>
                <a:latin typeface="黑体" panose="02010609060101010101" charset="-122"/>
                <a:ea typeface="黑体" panose="02010609060101010101" charset="-122"/>
              </a:rPr>
              <a:t>实践发展永无止境 认识真理永无止境 理论创新永无止境</a:t>
            </a:r>
            <a:endParaRPr lang="zh-CN" altLang="en-US" sz="2000" b="1" dirty="0">
              <a:solidFill>
                <a:schemeClr val="bg1"/>
              </a:solidFill>
              <a:latin typeface="黑体" panose="02010609060101010101" charset="-122"/>
              <a:ea typeface="黑体" panose="02010609060101010101"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46" name="组合 10"/>
          <p:cNvGrpSpPr/>
          <p:nvPr/>
        </p:nvGrpSpPr>
        <p:grpSpPr bwMode="auto">
          <a:xfrm>
            <a:off x="2386013" y="2592388"/>
            <a:ext cx="8121650" cy="3643312"/>
            <a:chOff x="0" y="0"/>
            <a:chExt cx="8122084" cy="3644274"/>
          </a:xfrm>
        </p:grpSpPr>
        <p:sp>
          <p:nvSpPr>
            <p:cNvPr id="6150" name="任意多边形 5"/>
            <p:cNvSpPr>
              <a:spLocks noChangeArrowheads="1"/>
            </p:cNvSpPr>
            <p:nvPr/>
          </p:nvSpPr>
          <p:spPr bwMode="auto">
            <a:xfrm>
              <a:off x="0" y="0"/>
              <a:ext cx="8122084" cy="1797525"/>
            </a:xfrm>
            <a:custGeom>
              <a:avLst/>
              <a:gdLst>
                <a:gd name="T0" fmla="*/ 0 w 6120679"/>
                <a:gd name="T1" fmla="*/ 179740 h 1797641"/>
                <a:gd name="T2" fmla="*/ 316547 w 6120679"/>
                <a:gd name="T3" fmla="*/ 0 h 1797641"/>
                <a:gd name="T4" fmla="*/ 10461383 w 6120679"/>
                <a:gd name="T5" fmla="*/ 0 h 1797641"/>
                <a:gd name="T6" fmla="*/ 10777930 w 6120679"/>
                <a:gd name="T7" fmla="*/ 179740 h 1797641"/>
                <a:gd name="T8" fmla="*/ 10777930 w 6120679"/>
                <a:gd name="T9" fmla="*/ 1617669 h 1797641"/>
                <a:gd name="T10" fmla="*/ 10461383 w 6120679"/>
                <a:gd name="T11" fmla="*/ 1797409 h 1797641"/>
                <a:gd name="T12" fmla="*/ 316547 w 6120679"/>
                <a:gd name="T13" fmla="*/ 1797409 h 1797641"/>
                <a:gd name="T14" fmla="*/ 0 w 6120679"/>
                <a:gd name="T15" fmla="*/ 1617669 h 1797641"/>
                <a:gd name="T16" fmla="*/ 0 w 6120679"/>
                <a:gd name="T17" fmla="*/ 179740 h 179764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120679"/>
                <a:gd name="T28" fmla="*/ 0 h 1797641"/>
                <a:gd name="T29" fmla="*/ 6120679 w 6120679"/>
                <a:gd name="T30" fmla="*/ 1797641 h 179764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120679" h="1797641">
                  <a:moveTo>
                    <a:pt x="0" y="179764"/>
                  </a:moveTo>
                  <a:cubicBezTo>
                    <a:pt x="0" y="80483"/>
                    <a:pt x="80483" y="0"/>
                    <a:pt x="179764" y="0"/>
                  </a:cubicBezTo>
                  <a:lnTo>
                    <a:pt x="5940915" y="0"/>
                  </a:lnTo>
                  <a:cubicBezTo>
                    <a:pt x="6040196" y="0"/>
                    <a:pt x="6120679" y="80483"/>
                    <a:pt x="6120679" y="179764"/>
                  </a:cubicBezTo>
                  <a:lnTo>
                    <a:pt x="6120679" y="1617877"/>
                  </a:lnTo>
                  <a:cubicBezTo>
                    <a:pt x="6120679" y="1717158"/>
                    <a:pt x="6040196" y="1797641"/>
                    <a:pt x="5940915" y="1797641"/>
                  </a:cubicBezTo>
                  <a:lnTo>
                    <a:pt x="179764" y="1797641"/>
                  </a:lnTo>
                  <a:cubicBezTo>
                    <a:pt x="80483" y="1797641"/>
                    <a:pt x="0" y="1717158"/>
                    <a:pt x="0" y="1617877"/>
                  </a:cubicBezTo>
                  <a:lnTo>
                    <a:pt x="0" y="179764"/>
                  </a:lnTo>
                  <a:close/>
                </a:path>
              </a:pathLst>
            </a:custGeom>
            <a:solidFill>
              <a:srgbClr val="0070C0">
                <a:alpha val="70195"/>
              </a:srgbClr>
            </a:solidFill>
            <a:ln w="25400">
              <a:solidFill>
                <a:srgbClr val="FFFFFF"/>
              </a:solidFill>
              <a:miter lim="800000"/>
            </a:ln>
          </p:spPr>
          <p:txBody>
            <a:bodyPr lIns="1472480" tIns="68580" rIns="68580" bIns="68580" anchor="ctr"/>
            <a:lstStyle>
              <a:lvl1pPr defTabSz="800100">
                <a:spcBef>
                  <a:spcPct val="20000"/>
                </a:spcBef>
                <a:buChar char="•"/>
                <a:defRPr sz="3200">
                  <a:solidFill>
                    <a:schemeClr val="tx1"/>
                  </a:solidFill>
                  <a:latin typeface="Times New Roman" panose="02020603050405020304" charset="0"/>
                  <a:ea typeface="宋体" panose="02010600030101010101" pitchFamily="2" charset="-122"/>
                  <a:sym typeface="Times New Roman" panose="02020603050405020304" charset="0"/>
                </a:defRPr>
              </a:lvl1pPr>
              <a:lvl2pPr marL="742950" indent="-285750" defTabSz="800100">
                <a:spcBef>
                  <a:spcPct val="20000"/>
                </a:spcBef>
                <a:buChar char="–"/>
                <a:defRPr sz="2800">
                  <a:solidFill>
                    <a:schemeClr val="tx1"/>
                  </a:solidFill>
                  <a:latin typeface="Times New Roman" panose="02020603050405020304" charset="0"/>
                  <a:ea typeface="宋体" panose="02010600030101010101" pitchFamily="2" charset="-122"/>
                  <a:sym typeface="Times New Roman" panose="02020603050405020304" charset="0"/>
                </a:defRPr>
              </a:lvl2pPr>
              <a:lvl3pPr marL="1143000" indent="-228600" defTabSz="800100">
                <a:spcBef>
                  <a:spcPct val="20000"/>
                </a:spcBef>
                <a:buChar char="•"/>
                <a:defRPr sz="2400">
                  <a:solidFill>
                    <a:schemeClr val="tx1"/>
                  </a:solidFill>
                  <a:latin typeface="Times New Roman" panose="02020603050405020304" charset="0"/>
                  <a:ea typeface="宋体" panose="02010600030101010101" pitchFamily="2" charset="-122"/>
                  <a:sym typeface="Times New Roman" panose="02020603050405020304" charset="0"/>
                </a:defRPr>
              </a:lvl3pPr>
              <a:lvl4pPr marL="1600200" indent="-228600" defTabSz="800100">
                <a:spcBef>
                  <a:spcPct val="20000"/>
                </a:spcBef>
                <a:buChar char="–"/>
                <a:defRPr sz="2000">
                  <a:solidFill>
                    <a:schemeClr val="tx1"/>
                  </a:solidFill>
                  <a:latin typeface="Times New Roman" panose="02020603050405020304" charset="0"/>
                  <a:ea typeface="宋体" panose="02010600030101010101" pitchFamily="2" charset="-122"/>
                  <a:sym typeface="Times New Roman" panose="02020603050405020304" charset="0"/>
                </a:defRPr>
              </a:lvl4pPr>
              <a:lvl5pPr marL="2057400" indent="-228600" defTabSz="800100">
                <a:spcBef>
                  <a:spcPct val="20000"/>
                </a:spcBef>
                <a:buChar char="»"/>
                <a:defRPr sz="2000">
                  <a:solidFill>
                    <a:schemeClr val="tx1"/>
                  </a:solidFill>
                  <a:latin typeface="Times New Roman" panose="02020603050405020304" charset="0"/>
                  <a:ea typeface="宋体" panose="02010600030101010101" pitchFamily="2" charset="-122"/>
                  <a:sym typeface="Times New Roman" panose="02020603050405020304" charset="0"/>
                </a:defRPr>
              </a:lvl5pPr>
              <a:lvl6pPr marL="2514600" indent="-228600" defTabSz="8001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sym typeface="Times New Roman" panose="02020603050405020304" charset="0"/>
                </a:defRPr>
              </a:lvl6pPr>
              <a:lvl7pPr marL="2971800" indent="-228600" defTabSz="8001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sym typeface="Times New Roman" panose="02020603050405020304" charset="0"/>
                </a:defRPr>
              </a:lvl7pPr>
              <a:lvl8pPr marL="3429000" indent="-228600" defTabSz="8001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sym typeface="Times New Roman" panose="02020603050405020304" charset="0"/>
                </a:defRPr>
              </a:lvl8pPr>
              <a:lvl9pPr marL="3886200" indent="-228600" defTabSz="8001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sym typeface="Times New Roman" panose="02020603050405020304" charset="0"/>
                </a:defRPr>
              </a:lvl9pPr>
            </a:lstStyle>
            <a:p>
              <a:pPr eaLnBrk="1" hangingPunct="1">
                <a:spcBef>
                  <a:spcPct val="0"/>
                </a:spcBef>
                <a:spcAft>
                  <a:spcPct val="35000"/>
                </a:spcAft>
                <a:buFontTx/>
                <a:buNone/>
              </a:pPr>
              <a:r>
                <a:rPr lang="zh-CN" altLang="en-US" sz="2000" b="1">
                  <a:solidFill>
                    <a:srgbClr val="FF0000"/>
                  </a:solidFill>
                  <a:latin typeface="黑体" panose="02010609060101010101" charset="-122"/>
                  <a:ea typeface="黑体" panose="02010609060101010101" charset="-122"/>
                </a:rPr>
                <a:t>机器人与分析仪器研究团队</a:t>
              </a:r>
              <a:endParaRPr lang="en-US" altLang="zh-CN" sz="2000" b="1">
                <a:solidFill>
                  <a:srgbClr val="FF0000"/>
                </a:solidFill>
                <a:latin typeface="黑体" panose="02010609060101010101" charset="-122"/>
                <a:ea typeface="黑体" panose="02010609060101010101" charset="-122"/>
              </a:endParaRPr>
            </a:p>
            <a:p>
              <a:pPr eaLnBrk="1" hangingPunct="1">
                <a:spcBef>
                  <a:spcPct val="0"/>
                </a:spcBef>
                <a:spcAft>
                  <a:spcPct val="35000"/>
                </a:spcAft>
                <a:buFontTx/>
                <a:buNone/>
              </a:pPr>
              <a:r>
                <a:rPr lang="zh-CN" altLang="en-US" sz="2000">
                  <a:solidFill>
                    <a:srgbClr val="FFFFFF"/>
                  </a:solidFill>
                  <a:latin typeface="黑体" panose="02010609060101010101" charset="-122"/>
                  <a:ea typeface="黑体" panose="02010609060101010101" charset="-122"/>
                </a:rPr>
                <a:t>智能系统与控制研究团队</a:t>
              </a:r>
              <a:endParaRPr lang="en-US" altLang="zh-CN" sz="2000">
                <a:solidFill>
                  <a:srgbClr val="FFFFFF"/>
                </a:solidFill>
                <a:latin typeface="黑体" panose="02010609060101010101" charset="-122"/>
                <a:ea typeface="黑体" panose="02010609060101010101" charset="-122"/>
              </a:endParaRPr>
            </a:p>
            <a:p>
              <a:pPr eaLnBrk="1" hangingPunct="1">
                <a:spcBef>
                  <a:spcPct val="0"/>
                </a:spcBef>
                <a:spcAft>
                  <a:spcPct val="35000"/>
                </a:spcAft>
                <a:buFontTx/>
                <a:buNone/>
              </a:pPr>
              <a:r>
                <a:rPr lang="zh-CN" altLang="en-US" sz="2000">
                  <a:solidFill>
                    <a:srgbClr val="FFFFFF"/>
                  </a:solidFill>
                  <a:latin typeface="黑体" panose="02010609060101010101" charset="-122"/>
                  <a:ea typeface="黑体" panose="02010609060101010101" charset="-122"/>
                </a:rPr>
                <a:t>创新与技术转移中心</a:t>
              </a:r>
              <a:endParaRPr lang="zh-CN" altLang="en-US" sz="2000">
                <a:solidFill>
                  <a:srgbClr val="FFFFFF"/>
                </a:solidFill>
                <a:latin typeface="黑体" panose="02010609060101010101" charset="-122"/>
                <a:ea typeface="黑体" panose="02010609060101010101" charset="-122"/>
              </a:endParaRPr>
            </a:p>
          </p:txBody>
        </p:sp>
        <p:grpSp>
          <p:nvGrpSpPr>
            <p:cNvPr id="6151" name="圆角矩形 6"/>
            <p:cNvGrpSpPr/>
            <p:nvPr/>
          </p:nvGrpSpPr>
          <p:grpSpPr bwMode="auto">
            <a:xfrm>
              <a:off x="88968" y="163936"/>
              <a:ext cx="1298517" cy="1469524"/>
              <a:chOff x="0" y="0"/>
              <a:chExt cx="1298448" cy="1469136"/>
            </a:xfrm>
          </p:grpSpPr>
          <p:pic>
            <p:nvPicPr>
              <p:cNvPr id="6156" name="圆角矩形 6"/>
              <p:cNvPicPr>
                <a:picLocks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1298448" cy="1469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57" name="Text Box 6"/>
              <p:cNvSpPr txBox="1">
                <a:spLocks noChangeArrowheads="1"/>
              </p:cNvSpPr>
              <p:nvPr/>
            </p:nvSpPr>
            <p:spPr bwMode="auto">
              <a:xfrm>
                <a:off x="54338" y="52720"/>
                <a:ext cx="1185943" cy="1363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sz="3200">
                    <a:solidFill>
                      <a:schemeClr val="tx1"/>
                    </a:solidFill>
                    <a:latin typeface="Times New Roman" panose="02020603050405020304" charset="0"/>
                    <a:ea typeface="宋体" panose="02010600030101010101" pitchFamily="2" charset="-122"/>
                  </a:defRPr>
                </a:lvl1pPr>
                <a:lvl2pPr marL="742950" indent="-285750">
                  <a:buFont typeface="Arial" panose="020B0604020202020204" pitchFamily="34" charset="0"/>
                  <a:defRPr sz="3200">
                    <a:solidFill>
                      <a:schemeClr val="tx1"/>
                    </a:solidFill>
                    <a:latin typeface="Times New Roman" panose="02020603050405020304" charset="0"/>
                    <a:ea typeface="宋体" panose="02010600030101010101" pitchFamily="2" charset="-122"/>
                  </a:defRPr>
                </a:lvl2pPr>
                <a:lvl3pPr marL="1143000" indent="-228600">
                  <a:buFont typeface="Arial" panose="020B0604020202020204" pitchFamily="34" charset="0"/>
                  <a:defRPr sz="3200">
                    <a:solidFill>
                      <a:schemeClr val="tx1"/>
                    </a:solidFill>
                    <a:latin typeface="Times New Roman" panose="02020603050405020304" charset="0"/>
                    <a:ea typeface="宋体" panose="02010600030101010101" pitchFamily="2" charset="-122"/>
                  </a:defRPr>
                </a:lvl3pPr>
                <a:lvl4pPr marL="1600200" indent="-228600">
                  <a:buFont typeface="Arial" panose="020B0604020202020204" pitchFamily="34" charset="0"/>
                  <a:defRPr sz="3200">
                    <a:solidFill>
                      <a:schemeClr val="tx1"/>
                    </a:solidFill>
                    <a:latin typeface="Times New Roman" panose="02020603050405020304" charset="0"/>
                    <a:ea typeface="宋体" panose="02010600030101010101" pitchFamily="2" charset="-122"/>
                  </a:defRPr>
                </a:lvl4pPr>
                <a:lvl5pPr marL="2057400" indent="-228600">
                  <a:buFont typeface="Arial" panose="020B0604020202020204" pitchFamily="34" charset="0"/>
                  <a:defRPr sz="32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Times New Roman" panose="02020603050405020304" charset="0"/>
                    <a:ea typeface="宋体" panose="02010600030101010101" pitchFamily="2" charset="-122"/>
                  </a:defRPr>
                </a:lvl9pPr>
              </a:lstStyle>
              <a:p>
                <a:endParaRPr lang="zh-CN" altLang="en-US"/>
              </a:p>
            </p:txBody>
          </p:sp>
        </p:grpSp>
        <p:sp>
          <p:nvSpPr>
            <p:cNvPr id="6152" name="任意多边形 7"/>
            <p:cNvSpPr>
              <a:spLocks noChangeArrowheads="1"/>
            </p:cNvSpPr>
            <p:nvPr/>
          </p:nvSpPr>
          <p:spPr bwMode="auto">
            <a:xfrm>
              <a:off x="0" y="1846749"/>
              <a:ext cx="8122084" cy="1797525"/>
            </a:xfrm>
            <a:custGeom>
              <a:avLst/>
              <a:gdLst>
                <a:gd name="T0" fmla="*/ 0 w 6120679"/>
                <a:gd name="T1" fmla="*/ 179740 h 1797641"/>
                <a:gd name="T2" fmla="*/ 316547 w 6120679"/>
                <a:gd name="T3" fmla="*/ 0 h 1797641"/>
                <a:gd name="T4" fmla="*/ 10461383 w 6120679"/>
                <a:gd name="T5" fmla="*/ 0 h 1797641"/>
                <a:gd name="T6" fmla="*/ 10777930 w 6120679"/>
                <a:gd name="T7" fmla="*/ 179740 h 1797641"/>
                <a:gd name="T8" fmla="*/ 10777930 w 6120679"/>
                <a:gd name="T9" fmla="*/ 1617669 h 1797641"/>
                <a:gd name="T10" fmla="*/ 10461383 w 6120679"/>
                <a:gd name="T11" fmla="*/ 1797409 h 1797641"/>
                <a:gd name="T12" fmla="*/ 316547 w 6120679"/>
                <a:gd name="T13" fmla="*/ 1797409 h 1797641"/>
                <a:gd name="T14" fmla="*/ 0 w 6120679"/>
                <a:gd name="T15" fmla="*/ 1617669 h 1797641"/>
                <a:gd name="T16" fmla="*/ 0 w 6120679"/>
                <a:gd name="T17" fmla="*/ 179740 h 179764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120679"/>
                <a:gd name="T28" fmla="*/ 0 h 1797641"/>
                <a:gd name="T29" fmla="*/ 6120679 w 6120679"/>
                <a:gd name="T30" fmla="*/ 1797641 h 179764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120679" h="1797641">
                  <a:moveTo>
                    <a:pt x="0" y="179764"/>
                  </a:moveTo>
                  <a:cubicBezTo>
                    <a:pt x="0" y="80483"/>
                    <a:pt x="80483" y="0"/>
                    <a:pt x="179764" y="0"/>
                  </a:cubicBezTo>
                  <a:lnTo>
                    <a:pt x="5940915" y="0"/>
                  </a:lnTo>
                  <a:cubicBezTo>
                    <a:pt x="6040196" y="0"/>
                    <a:pt x="6120679" y="80483"/>
                    <a:pt x="6120679" y="179764"/>
                  </a:cubicBezTo>
                  <a:lnTo>
                    <a:pt x="6120679" y="1617877"/>
                  </a:lnTo>
                  <a:cubicBezTo>
                    <a:pt x="6120679" y="1717158"/>
                    <a:pt x="6040196" y="1797641"/>
                    <a:pt x="5940915" y="1797641"/>
                  </a:cubicBezTo>
                  <a:lnTo>
                    <a:pt x="179764" y="1797641"/>
                  </a:lnTo>
                  <a:cubicBezTo>
                    <a:pt x="80483" y="1797641"/>
                    <a:pt x="0" y="1717158"/>
                    <a:pt x="0" y="1617877"/>
                  </a:cubicBezTo>
                  <a:lnTo>
                    <a:pt x="0" y="179764"/>
                  </a:lnTo>
                  <a:close/>
                </a:path>
              </a:pathLst>
            </a:custGeom>
            <a:solidFill>
              <a:srgbClr val="2D2D8A"/>
            </a:solidFill>
            <a:ln w="25400">
              <a:solidFill>
                <a:srgbClr val="FFFFFF"/>
              </a:solidFill>
              <a:miter lim="800000"/>
            </a:ln>
          </p:spPr>
          <p:txBody>
            <a:bodyPr lIns="1472480" tIns="68580" rIns="68580" bIns="68580" anchor="ctr"/>
            <a:lstStyle>
              <a:lvl1pPr defTabSz="800100">
                <a:spcBef>
                  <a:spcPct val="20000"/>
                </a:spcBef>
                <a:buChar char="•"/>
                <a:defRPr sz="3200">
                  <a:solidFill>
                    <a:schemeClr val="tx1"/>
                  </a:solidFill>
                  <a:latin typeface="Times New Roman" panose="02020603050405020304" charset="0"/>
                  <a:ea typeface="宋体" panose="02010600030101010101" pitchFamily="2" charset="-122"/>
                  <a:sym typeface="Times New Roman" panose="02020603050405020304" charset="0"/>
                </a:defRPr>
              </a:lvl1pPr>
              <a:lvl2pPr marL="742950" indent="-285750" defTabSz="800100">
                <a:spcBef>
                  <a:spcPct val="20000"/>
                </a:spcBef>
                <a:buChar char="–"/>
                <a:defRPr sz="2800">
                  <a:solidFill>
                    <a:schemeClr val="tx1"/>
                  </a:solidFill>
                  <a:latin typeface="Times New Roman" panose="02020603050405020304" charset="0"/>
                  <a:ea typeface="宋体" panose="02010600030101010101" pitchFamily="2" charset="-122"/>
                  <a:sym typeface="Times New Roman" panose="02020603050405020304" charset="0"/>
                </a:defRPr>
              </a:lvl2pPr>
              <a:lvl3pPr marL="1143000" indent="-228600" defTabSz="800100">
                <a:spcBef>
                  <a:spcPct val="20000"/>
                </a:spcBef>
                <a:buChar char="•"/>
                <a:defRPr sz="2400">
                  <a:solidFill>
                    <a:schemeClr val="tx1"/>
                  </a:solidFill>
                  <a:latin typeface="Times New Roman" panose="02020603050405020304" charset="0"/>
                  <a:ea typeface="宋体" panose="02010600030101010101" pitchFamily="2" charset="-122"/>
                  <a:sym typeface="Times New Roman" panose="02020603050405020304" charset="0"/>
                </a:defRPr>
              </a:lvl3pPr>
              <a:lvl4pPr marL="1600200" indent="-228600" defTabSz="800100">
                <a:spcBef>
                  <a:spcPct val="20000"/>
                </a:spcBef>
                <a:buChar char="–"/>
                <a:defRPr sz="2000">
                  <a:solidFill>
                    <a:schemeClr val="tx1"/>
                  </a:solidFill>
                  <a:latin typeface="Times New Roman" panose="02020603050405020304" charset="0"/>
                  <a:ea typeface="宋体" panose="02010600030101010101" pitchFamily="2" charset="-122"/>
                  <a:sym typeface="Times New Roman" panose="02020603050405020304" charset="0"/>
                </a:defRPr>
              </a:lvl4pPr>
              <a:lvl5pPr marL="2057400" indent="-228600" defTabSz="800100">
                <a:spcBef>
                  <a:spcPct val="20000"/>
                </a:spcBef>
                <a:buChar char="»"/>
                <a:defRPr sz="2000">
                  <a:solidFill>
                    <a:schemeClr val="tx1"/>
                  </a:solidFill>
                  <a:latin typeface="Times New Roman" panose="02020603050405020304" charset="0"/>
                  <a:ea typeface="宋体" panose="02010600030101010101" pitchFamily="2" charset="-122"/>
                  <a:sym typeface="Times New Roman" panose="02020603050405020304" charset="0"/>
                </a:defRPr>
              </a:lvl5pPr>
              <a:lvl6pPr marL="2514600" indent="-228600" defTabSz="8001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sym typeface="Times New Roman" panose="02020603050405020304" charset="0"/>
                </a:defRPr>
              </a:lvl6pPr>
              <a:lvl7pPr marL="2971800" indent="-228600" defTabSz="8001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sym typeface="Times New Roman" panose="02020603050405020304" charset="0"/>
                </a:defRPr>
              </a:lvl7pPr>
              <a:lvl8pPr marL="3429000" indent="-228600" defTabSz="8001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sym typeface="Times New Roman" panose="02020603050405020304" charset="0"/>
                </a:defRPr>
              </a:lvl8pPr>
              <a:lvl9pPr marL="3886200" indent="-228600" defTabSz="8001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sym typeface="Times New Roman" panose="02020603050405020304" charset="0"/>
                </a:defRPr>
              </a:lvl9pPr>
            </a:lstStyle>
            <a:p>
              <a:pPr eaLnBrk="1" hangingPunct="1">
                <a:spcBef>
                  <a:spcPct val="0"/>
                </a:spcBef>
                <a:spcAft>
                  <a:spcPct val="35000"/>
                </a:spcAft>
                <a:buFontTx/>
                <a:buNone/>
              </a:pPr>
              <a:r>
                <a:rPr lang="zh-CN" altLang="en-US" sz="2000">
                  <a:solidFill>
                    <a:srgbClr val="FFFFFF"/>
                  </a:solidFill>
                  <a:latin typeface="黑体" panose="02010609060101010101" charset="-122"/>
                  <a:ea typeface="黑体" panose="02010609060101010101" charset="-122"/>
                </a:rPr>
                <a:t>工业控制技术国家重点实验室</a:t>
              </a:r>
              <a:endParaRPr lang="en-US" altLang="zh-CN" sz="2000">
                <a:solidFill>
                  <a:srgbClr val="FFFFFF"/>
                </a:solidFill>
                <a:latin typeface="黑体" panose="02010609060101010101" charset="-122"/>
                <a:ea typeface="黑体" panose="02010609060101010101" charset="-122"/>
              </a:endParaRPr>
            </a:p>
            <a:p>
              <a:pPr eaLnBrk="1" hangingPunct="1">
                <a:spcBef>
                  <a:spcPct val="0"/>
                </a:spcBef>
                <a:spcAft>
                  <a:spcPct val="35000"/>
                </a:spcAft>
                <a:buFontTx/>
                <a:buNone/>
              </a:pPr>
              <a:r>
                <a:rPr lang="zh-CN" altLang="en-US" sz="2000">
                  <a:solidFill>
                    <a:srgbClr val="FFFFFF"/>
                  </a:solidFill>
                  <a:latin typeface="黑体" panose="02010609060101010101" charset="-122"/>
                  <a:ea typeface="黑体" panose="02010609060101010101" charset="-122"/>
                </a:rPr>
                <a:t>工业控制系统安全技术国家工程实验室</a:t>
              </a:r>
              <a:endParaRPr lang="en-US" altLang="zh-CN" sz="2000">
                <a:solidFill>
                  <a:srgbClr val="FFFFFF"/>
                </a:solidFill>
                <a:latin typeface="黑体" panose="02010609060101010101" charset="-122"/>
                <a:ea typeface="黑体" panose="02010609060101010101" charset="-122"/>
              </a:endParaRPr>
            </a:p>
            <a:p>
              <a:pPr eaLnBrk="1" hangingPunct="1">
                <a:spcBef>
                  <a:spcPct val="0"/>
                </a:spcBef>
                <a:spcAft>
                  <a:spcPct val="35000"/>
                </a:spcAft>
                <a:buFontTx/>
                <a:buNone/>
              </a:pPr>
              <a:r>
                <a:rPr lang="zh-CN" altLang="en-US" sz="2000">
                  <a:solidFill>
                    <a:srgbClr val="FFFFFF"/>
                  </a:solidFill>
                  <a:latin typeface="黑体" panose="02010609060101010101" charset="-122"/>
                  <a:ea typeface="黑体" panose="02010609060101010101" charset="-122"/>
                </a:rPr>
                <a:t>教育部</a:t>
              </a:r>
              <a:r>
                <a:rPr lang="en-US" altLang="zh-CN" sz="2000">
                  <a:solidFill>
                    <a:srgbClr val="FFFFFF"/>
                  </a:solidFill>
                  <a:latin typeface="黑体" panose="02010609060101010101" charset="-122"/>
                  <a:ea typeface="黑体" panose="02010609060101010101" charset="-122"/>
                </a:rPr>
                <a:t>B</a:t>
              </a:r>
              <a:r>
                <a:rPr lang="zh-CN" altLang="en-US" sz="2000">
                  <a:solidFill>
                    <a:srgbClr val="FFFFFF"/>
                  </a:solidFill>
                  <a:latin typeface="黑体" panose="02010609060101010101" charset="-122"/>
                  <a:ea typeface="黑体" panose="02010609060101010101" charset="-122"/>
                </a:rPr>
                <a:t>类实验室</a:t>
              </a:r>
              <a:endParaRPr lang="zh-CN" altLang="en-US" sz="2000">
                <a:solidFill>
                  <a:srgbClr val="FFFFFF"/>
                </a:solidFill>
                <a:latin typeface="黑体" panose="02010609060101010101" charset="-122"/>
                <a:ea typeface="黑体" panose="02010609060101010101" charset="-122"/>
              </a:endParaRPr>
            </a:p>
          </p:txBody>
        </p:sp>
        <p:grpSp>
          <p:nvGrpSpPr>
            <p:cNvPr id="6153" name="圆角矩形 8"/>
            <p:cNvGrpSpPr/>
            <p:nvPr/>
          </p:nvGrpSpPr>
          <p:grpSpPr bwMode="auto">
            <a:xfrm>
              <a:off x="46293" y="2005414"/>
              <a:ext cx="1414348" cy="1475622"/>
              <a:chOff x="0" y="0"/>
              <a:chExt cx="1414272" cy="1475232"/>
            </a:xfrm>
          </p:grpSpPr>
          <p:pic>
            <p:nvPicPr>
              <p:cNvPr id="6154" name="圆角矩形 8"/>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414272" cy="1475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55" name="Text Box 10"/>
              <p:cNvSpPr txBox="1">
                <a:spLocks noChangeArrowheads="1"/>
              </p:cNvSpPr>
              <p:nvPr/>
            </p:nvSpPr>
            <p:spPr bwMode="auto">
              <a:xfrm>
                <a:off x="58545" y="61265"/>
                <a:ext cx="1294960" cy="1357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sz="3200">
                    <a:solidFill>
                      <a:schemeClr val="tx1"/>
                    </a:solidFill>
                    <a:latin typeface="Times New Roman" panose="02020603050405020304" charset="0"/>
                    <a:ea typeface="宋体" panose="02010600030101010101" pitchFamily="2" charset="-122"/>
                  </a:defRPr>
                </a:lvl1pPr>
                <a:lvl2pPr marL="742950" indent="-285750">
                  <a:buFont typeface="Arial" panose="020B0604020202020204" pitchFamily="34" charset="0"/>
                  <a:defRPr sz="3200">
                    <a:solidFill>
                      <a:schemeClr val="tx1"/>
                    </a:solidFill>
                    <a:latin typeface="Times New Roman" panose="02020603050405020304" charset="0"/>
                    <a:ea typeface="宋体" panose="02010600030101010101" pitchFamily="2" charset="-122"/>
                  </a:defRPr>
                </a:lvl2pPr>
                <a:lvl3pPr marL="1143000" indent="-228600">
                  <a:buFont typeface="Arial" panose="020B0604020202020204" pitchFamily="34" charset="0"/>
                  <a:defRPr sz="3200">
                    <a:solidFill>
                      <a:schemeClr val="tx1"/>
                    </a:solidFill>
                    <a:latin typeface="Times New Roman" panose="02020603050405020304" charset="0"/>
                    <a:ea typeface="宋体" panose="02010600030101010101" pitchFamily="2" charset="-122"/>
                  </a:defRPr>
                </a:lvl3pPr>
                <a:lvl4pPr marL="1600200" indent="-228600">
                  <a:buFont typeface="Arial" panose="020B0604020202020204" pitchFamily="34" charset="0"/>
                  <a:defRPr sz="3200">
                    <a:solidFill>
                      <a:schemeClr val="tx1"/>
                    </a:solidFill>
                    <a:latin typeface="Times New Roman" panose="02020603050405020304" charset="0"/>
                    <a:ea typeface="宋体" panose="02010600030101010101" pitchFamily="2" charset="-122"/>
                  </a:defRPr>
                </a:lvl4pPr>
                <a:lvl5pPr marL="2057400" indent="-228600">
                  <a:buFont typeface="Arial" panose="020B0604020202020204" pitchFamily="34" charset="0"/>
                  <a:defRPr sz="32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a:solidFill>
                      <a:schemeClr val="tx1"/>
                    </a:solidFill>
                    <a:latin typeface="Times New Roman" panose="02020603050405020304" charset="0"/>
                    <a:ea typeface="宋体" panose="02010600030101010101" pitchFamily="2" charset="-122"/>
                  </a:defRPr>
                </a:lvl9pPr>
              </a:lstStyle>
              <a:p>
                <a:endParaRPr lang="zh-CN" altLang="en-US"/>
              </a:p>
            </p:txBody>
          </p:sp>
        </p:grpSp>
      </p:grpSp>
      <p:sp>
        <p:nvSpPr>
          <p:cNvPr id="6147" name="Rectangle 3"/>
          <p:cNvSpPr txBox="1">
            <a:spLocks noChangeArrowheads="1"/>
          </p:cNvSpPr>
          <p:nvPr/>
        </p:nvSpPr>
        <p:spPr bwMode="auto">
          <a:xfrm>
            <a:off x="2495550" y="982663"/>
            <a:ext cx="7200900" cy="172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2755" indent="-452755">
              <a:spcBef>
                <a:spcPct val="20000"/>
              </a:spcBef>
              <a:buChar char="•"/>
              <a:defRPr sz="3200">
                <a:solidFill>
                  <a:schemeClr val="tx1"/>
                </a:solidFill>
                <a:latin typeface="Times New Roman" panose="02020603050405020304" charset="0"/>
                <a:ea typeface="宋体" panose="02010600030101010101" pitchFamily="2" charset="-122"/>
                <a:sym typeface="Times New Roman" panose="02020603050405020304" charset="0"/>
              </a:defRPr>
            </a:lvl1pPr>
            <a:lvl2pPr marL="742950" indent="-285750">
              <a:spcBef>
                <a:spcPct val="20000"/>
              </a:spcBef>
              <a:buChar char="–"/>
              <a:defRPr sz="2800">
                <a:solidFill>
                  <a:schemeClr val="tx1"/>
                </a:solidFill>
                <a:latin typeface="Times New Roman" panose="02020603050405020304" charset="0"/>
                <a:ea typeface="宋体" panose="02010600030101010101" pitchFamily="2" charset="-122"/>
                <a:sym typeface="Times New Roman" panose="02020603050405020304" charset="0"/>
              </a:defRPr>
            </a:lvl2pPr>
            <a:lvl3pPr marL="1143000" indent="-228600">
              <a:spcBef>
                <a:spcPct val="20000"/>
              </a:spcBef>
              <a:buChar char="•"/>
              <a:defRPr sz="2400">
                <a:solidFill>
                  <a:schemeClr val="tx1"/>
                </a:solidFill>
                <a:latin typeface="Times New Roman" panose="02020603050405020304" charset="0"/>
                <a:ea typeface="宋体" panose="02010600030101010101" pitchFamily="2" charset="-122"/>
                <a:sym typeface="Times New Roman" panose="02020603050405020304" charset="0"/>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sym typeface="Times New Roman" panose="02020603050405020304" charset="0"/>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sym typeface="Times New Roman" panose="0202060305040502030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sym typeface="Times New Roman" panose="0202060305040502030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sym typeface="Times New Roman" panose="0202060305040502030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sym typeface="Times New Roman" panose="0202060305040502030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sym typeface="Times New Roman" panose="02020603050405020304" charset="0"/>
              </a:defRPr>
            </a:lvl9pPr>
          </a:lstStyle>
          <a:p>
            <a:pPr eaLnBrk="1" hangingPunct="1">
              <a:spcBef>
                <a:spcPct val="50000"/>
              </a:spcBef>
              <a:buClr>
                <a:srgbClr val="FF0000"/>
              </a:buClr>
              <a:buFont typeface="Wingdings" panose="05000000000000000000" pitchFamily="2" charset="2"/>
              <a:buChar char="p"/>
            </a:pPr>
            <a:r>
              <a:rPr lang="zh-CN" altLang="en-US" sz="2000" b="1">
                <a:solidFill>
                  <a:srgbClr val="2B3078"/>
                </a:solidFill>
                <a:ea typeface="黑体" panose="02010609060101010101" charset="-122"/>
              </a:rPr>
              <a:t>面向国家目标、瞄准国际前沿</a:t>
            </a:r>
            <a:endParaRPr lang="zh-CN" altLang="en-US" sz="2000" b="1">
              <a:solidFill>
                <a:srgbClr val="2B3078"/>
              </a:solidFill>
              <a:ea typeface="黑体" panose="02010609060101010101" charset="-122"/>
            </a:endParaRPr>
          </a:p>
          <a:p>
            <a:pPr eaLnBrk="1" hangingPunct="1">
              <a:spcBef>
                <a:spcPct val="50000"/>
              </a:spcBef>
              <a:buClr>
                <a:srgbClr val="FF0000"/>
              </a:buClr>
              <a:buFont typeface="Wingdings" panose="05000000000000000000" pitchFamily="2" charset="2"/>
              <a:buChar char="p"/>
            </a:pPr>
            <a:r>
              <a:rPr lang="zh-CN" altLang="en-US" sz="2000" b="1">
                <a:solidFill>
                  <a:srgbClr val="2B3078"/>
                </a:solidFill>
                <a:ea typeface="黑体" panose="02010609060101010101" charset="-122"/>
              </a:rPr>
              <a:t>鼓励多学科交叉、创造原创性成果</a:t>
            </a:r>
            <a:endParaRPr lang="zh-CN" altLang="en-US" sz="2000" b="1">
              <a:solidFill>
                <a:srgbClr val="2B3078"/>
              </a:solidFill>
              <a:ea typeface="黑体" panose="02010609060101010101" charset="-122"/>
            </a:endParaRPr>
          </a:p>
          <a:p>
            <a:pPr eaLnBrk="1" hangingPunct="1">
              <a:spcBef>
                <a:spcPct val="50000"/>
              </a:spcBef>
              <a:buClr>
                <a:srgbClr val="FF0000"/>
              </a:buClr>
              <a:buFont typeface="Wingdings" panose="05000000000000000000" pitchFamily="2" charset="2"/>
              <a:buChar char="p"/>
            </a:pPr>
            <a:r>
              <a:rPr lang="zh-CN" altLang="en-US" sz="2000" b="1">
                <a:solidFill>
                  <a:srgbClr val="2B3078"/>
                </a:solidFill>
                <a:ea typeface="黑体" panose="02010609060101010101" charset="-122"/>
              </a:rPr>
              <a:t>创造良好的研究所文化， 营造严谨宽松、和谐创新、静心研究的学术环境，</a:t>
            </a:r>
            <a:r>
              <a:rPr lang="en-US" altLang="zh-CN" sz="2000" b="1">
                <a:solidFill>
                  <a:srgbClr val="2B3078"/>
                </a:solidFill>
                <a:ea typeface="黑体" panose="02010609060101010101" charset="-122"/>
              </a:rPr>
              <a:t>吸引优秀人才</a:t>
            </a:r>
            <a:endParaRPr lang="en-US" altLang="zh-CN" sz="2000" b="1">
              <a:solidFill>
                <a:srgbClr val="2B3078"/>
              </a:solidFill>
              <a:ea typeface="黑体" panose="02010609060101010101" charset="-122"/>
            </a:endParaRPr>
          </a:p>
        </p:txBody>
      </p:sp>
      <p:pic>
        <p:nvPicPr>
          <p:cNvPr id="6148" name="矩形 9"/>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8250" y="2427289"/>
            <a:ext cx="1455738" cy="373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plit orient="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内容占位符 1"/>
          <p:cNvPicPr>
            <a:picLocks noGrp="1" noChangeAspect="1" noChangeArrowheads="1"/>
          </p:cNvPicPr>
          <p:nvPr>
            <p:ph idx="4294967295"/>
          </p:nvPr>
        </p:nvPicPr>
        <p:blipFill>
          <a:blip r:embed="rId1">
            <a:extLst>
              <a:ext uri="{28A0092B-C50C-407E-A947-70E740481C1C}">
                <a14:useLocalDpi xmlns:a14="http://schemas.microsoft.com/office/drawing/2010/main" val="0"/>
              </a:ext>
            </a:extLst>
          </a:blip>
          <a:srcRect/>
          <a:stretch>
            <a:fillRect/>
          </a:stretch>
        </p:blipFill>
        <p:spPr>
          <a:xfrm>
            <a:off x="2370139" y="1481139"/>
            <a:ext cx="7077075" cy="4611687"/>
          </a:xfrm>
        </p:spPr>
      </p:pic>
      <p:sp>
        <p:nvSpPr>
          <p:cNvPr id="7171" name="Text Box 6"/>
          <p:cNvSpPr txBox="1">
            <a:spLocks noChangeArrowheads="1"/>
          </p:cNvSpPr>
          <p:nvPr/>
        </p:nvSpPr>
        <p:spPr bwMode="auto">
          <a:xfrm>
            <a:off x="2724887" y="6092826"/>
            <a:ext cx="670888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har char="•"/>
              <a:defRPr sz="3200">
                <a:solidFill>
                  <a:schemeClr val="tx1"/>
                </a:solidFill>
                <a:latin typeface="Times New Roman" panose="02020603050405020304" charset="0"/>
                <a:ea typeface="宋体" panose="02010600030101010101" pitchFamily="2" charset="-122"/>
                <a:sym typeface="Times New Roman" panose="02020603050405020304" charset="0"/>
              </a:defRPr>
            </a:lvl1pPr>
            <a:lvl2pPr marL="742950" indent="-285750">
              <a:spcBef>
                <a:spcPct val="20000"/>
              </a:spcBef>
              <a:buChar char="–"/>
              <a:defRPr sz="2800">
                <a:solidFill>
                  <a:schemeClr val="tx1"/>
                </a:solidFill>
                <a:latin typeface="Times New Roman" panose="02020603050405020304" charset="0"/>
                <a:ea typeface="宋体" panose="02010600030101010101" pitchFamily="2" charset="-122"/>
                <a:sym typeface="Times New Roman" panose="02020603050405020304" charset="0"/>
              </a:defRPr>
            </a:lvl2pPr>
            <a:lvl3pPr marL="1143000" indent="-228600">
              <a:spcBef>
                <a:spcPct val="20000"/>
              </a:spcBef>
              <a:buChar char="•"/>
              <a:defRPr sz="2400">
                <a:solidFill>
                  <a:schemeClr val="tx1"/>
                </a:solidFill>
                <a:latin typeface="Times New Roman" panose="02020603050405020304" charset="0"/>
                <a:ea typeface="宋体" panose="02010600030101010101" pitchFamily="2" charset="-122"/>
                <a:sym typeface="Times New Roman" panose="02020603050405020304" charset="0"/>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sym typeface="Times New Roman" panose="02020603050405020304" charset="0"/>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sym typeface="Times New Roman" panose="02020603050405020304"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sym typeface="Times New Roman" panose="02020603050405020304"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sym typeface="Times New Roman" panose="02020603050405020304"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sym typeface="Times New Roman" panose="02020603050405020304"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sym typeface="Times New Roman" panose="02020603050405020304" charset="0"/>
              </a:defRPr>
            </a:lvl9pPr>
          </a:lstStyle>
          <a:p>
            <a:pPr algn="ctr" eaLnBrk="1" hangingPunct="1">
              <a:spcBef>
                <a:spcPct val="0"/>
              </a:spcBef>
              <a:buFontTx/>
              <a:buNone/>
            </a:pPr>
            <a:r>
              <a:rPr lang="en-US" altLang="zh-CN" b="1">
                <a:solidFill>
                  <a:srgbClr val="2B3078"/>
                </a:solidFill>
                <a:ea typeface="黑体" panose="02010609060101010101" charset="-122"/>
              </a:rPr>
              <a:t>10MW</a:t>
            </a:r>
            <a:r>
              <a:rPr lang="zh-CN" altLang="en-US" b="1">
                <a:solidFill>
                  <a:srgbClr val="2B3078"/>
                </a:solidFill>
                <a:ea typeface="黑体" panose="02010609060101010101" charset="-122"/>
              </a:rPr>
              <a:t>机组需要</a:t>
            </a:r>
            <a:r>
              <a:rPr lang="en-US" altLang="zh-CN" b="1">
                <a:solidFill>
                  <a:srgbClr val="2B3078"/>
                </a:solidFill>
                <a:ea typeface="黑体" panose="02010609060101010101" charset="-122"/>
              </a:rPr>
              <a:t>3.6</a:t>
            </a:r>
            <a:r>
              <a:rPr lang="zh-CN" altLang="en-US" b="1">
                <a:solidFill>
                  <a:srgbClr val="2B3078"/>
                </a:solidFill>
                <a:ea typeface="黑体" panose="02010609060101010101" charset="-122"/>
              </a:rPr>
              <a:t>万面</a:t>
            </a:r>
            <a:r>
              <a:rPr lang="en-US" altLang="zh-CN" b="1">
                <a:solidFill>
                  <a:srgbClr val="2B3078"/>
                </a:solidFill>
                <a:ea typeface="黑体" panose="02010609060101010101" charset="-122"/>
              </a:rPr>
              <a:t>2m</a:t>
            </a:r>
            <a:r>
              <a:rPr lang="en-US" altLang="zh-CN" b="1" baseline="30000">
                <a:solidFill>
                  <a:srgbClr val="2B3078"/>
                </a:solidFill>
                <a:ea typeface="黑体" panose="02010609060101010101" charset="-122"/>
              </a:rPr>
              <a:t>2</a:t>
            </a:r>
            <a:r>
              <a:rPr lang="zh-CN" altLang="en-US" b="1">
                <a:solidFill>
                  <a:srgbClr val="2B3078"/>
                </a:solidFill>
                <a:ea typeface="黑体" panose="02010609060101010101" charset="-122"/>
              </a:rPr>
              <a:t>的定日镜</a:t>
            </a:r>
            <a:endParaRPr lang="zh-CN" altLang="en-US" b="1">
              <a:solidFill>
                <a:srgbClr val="2B3078"/>
              </a:solidFill>
              <a:ea typeface="黑体" panose="02010609060101010101" charset="-122"/>
            </a:endParaRPr>
          </a:p>
        </p:txBody>
      </p:sp>
    </p:spTree>
  </p:cSld>
  <p:clrMapOvr>
    <a:masterClrMapping/>
  </p:clrMapOvr>
  <p:transition spd="slow">
    <p:split orient="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1718735" y="1013169"/>
            <a:ext cx="8746067" cy="3356303"/>
          </a:xfrm>
          <a:prstGeom prst="rect">
            <a:avLst/>
          </a:prstGeom>
          <a:noFill/>
        </p:spPr>
        <p:txBody>
          <a:bodyPr wrap="square" rtlCol="0">
            <a:spAutoFit/>
          </a:bodyPr>
          <a:lstStyle/>
          <a:p>
            <a:pPr>
              <a:lnSpc>
                <a:spcPct val="130000"/>
              </a:lnSpc>
              <a:spcBef>
                <a:spcPts val="900"/>
              </a:spcBef>
            </a:pPr>
            <a:r>
              <a:rPr lang="zh-CN" altLang="en-US" sz="2100" b="1" dirty="0">
                <a:latin typeface="微软雅黑" panose="020B0503020204020204" charset="-122"/>
                <a:ea typeface="微软雅黑" panose="020B0503020204020204" charset="-122"/>
              </a:rPr>
              <a:t>        </a:t>
            </a:r>
            <a:r>
              <a:rPr lang="zh-CN" altLang="en-US" sz="2100" b="1" dirty="0">
                <a:solidFill>
                  <a:srgbClr val="FF0000"/>
                </a:solidFill>
                <a:latin typeface="微软雅黑" panose="020B0503020204020204" charset="-122"/>
                <a:ea typeface="微软雅黑" panose="020B0503020204020204" charset="-122"/>
              </a:rPr>
              <a:t>当今世界正经历百年未有之大变局</a:t>
            </a:r>
            <a:r>
              <a:rPr lang="zh-CN" altLang="en-US" sz="2100" b="1" dirty="0">
                <a:latin typeface="微软雅黑" panose="020B0503020204020204" charset="-122"/>
                <a:ea typeface="微软雅黑" panose="020B0503020204020204" charset="-122"/>
              </a:rPr>
              <a:t>，新冠肺炎疫情全球大流行使这个大变局加速演进，经济全球化遭遇逆流，保护主义、单边主义上升，世界经济低迷，国际贸易和投资大幅萎缩，国际经济、科技、文化、安全、政治等格局都在发生深刻调整，世界进入动荡变革期。大国博弈！ </a:t>
            </a:r>
            <a:endParaRPr lang="zh-CN" altLang="en-US" sz="2100" b="1" dirty="0">
              <a:latin typeface="微软雅黑" panose="020B0503020204020204" charset="-122"/>
              <a:ea typeface="微软雅黑" panose="020B0503020204020204" charset="-122"/>
            </a:endParaRPr>
          </a:p>
          <a:p>
            <a:pPr>
              <a:lnSpc>
                <a:spcPct val="130000"/>
              </a:lnSpc>
              <a:spcBef>
                <a:spcPts val="900"/>
              </a:spcBef>
            </a:pPr>
            <a:r>
              <a:rPr lang="zh-CN" altLang="en-US" sz="2100" b="1" dirty="0">
                <a:latin typeface="微软雅黑" panose="020B0503020204020204" charset="-122"/>
                <a:ea typeface="微软雅黑" panose="020B0503020204020204" charset="-122"/>
              </a:rPr>
              <a:t>       务必科学认知“变中的不变”是</a:t>
            </a:r>
            <a:r>
              <a:rPr lang="zh-CN" altLang="en-US" sz="2100" b="1" dirty="0">
                <a:solidFill>
                  <a:srgbClr val="FF0000"/>
                </a:solidFill>
                <a:latin typeface="微软雅黑" panose="020B0503020204020204" charset="-122"/>
                <a:ea typeface="微软雅黑" panose="020B0503020204020204" charset="-122"/>
              </a:rPr>
              <a:t>创新驱动发展规律和拔尖创新人才竞争</a:t>
            </a:r>
            <a:r>
              <a:rPr lang="zh-CN" altLang="en-US" sz="2100" b="1" dirty="0">
                <a:latin typeface="微软雅黑" panose="020B0503020204020204" charset="-122"/>
                <a:ea typeface="微软雅黑" panose="020B0503020204020204" charset="-122"/>
              </a:rPr>
              <a:t>态势，人才已成为实现民族振兴、赢得国际竞争主动的决定性战略资源。 </a:t>
            </a:r>
            <a:endParaRPr lang="zh-CN" altLang="en-US" sz="2100" b="1" dirty="0">
              <a:latin typeface="微软雅黑" panose="020B0503020204020204" charset="-122"/>
              <a:ea typeface="微软雅黑" panose="020B0503020204020204" charset="-122"/>
            </a:endParaRPr>
          </a:p>
          <a:p>
            <a:endParaRPr lang="zh-CN" altLang="en-US" sz="1350" b="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1" name="矩形 1048660"/>
          <p:cNvSpPr/>
          <p:nvPr/>
        </p:nvSpPr>
        <p:spPr bwMode="gray">
          <a:xfrm>
            <a:off x="1524000" y="864394"/>
            <a:ext cx="9144000" cy="964406"/>
          </a:xfrm>
          <a:prstGeom prst="rect">
            <a:avLst/>
          </a:prstGeom>
          <a:solidFill>
            <a:srgbClr val="1F4E79">
              <a:alpha val="50195"/>
            </a:srgbClr>
          </a:solidFill>
          <a:ln>
            <a:noFill/>
          </a:ln>
        </p:spPr>
        <p:txBody>
          <a:bodyPr vert="horz" wrap="none" lIns="68580" tIns="34290" rIns="68580" bIns="34290" anchor="ctr"/>
          <a:lstStyle>
            <a:lvl1pPr marL="0" indent="0" algn="l" rtl="0" fontAlgn="base" latinLnBrk="1">
              <a:lnSpc>
                <a:spcPct val="100000"/>
              </a:lnSpc>
              <a:spcBef>
                <a:spcPct val="0"/>
              </a:spcBef>
              <a:spcAft>
                <a:spcPct val="0"/>
              </a:spcAft>
              <a:buFontTx/>
              <a:buNone/>
              <a:defRPr sz="1800" b="0" i="0" u="none" baseline="0">
                <a:solidFill>
                  <a:schemeClr val="dk1"/>
                </a:solidFill>
                <a:latin typeface="Arial" panose="020B0604020202020204" pitchFamily="34" charset="0"/>
                <a:ea typeface="宋体" panose="02010600030101010101" pitchFamily="2" charset="-122"/>
                <a:sym typeface="Arial" panose="020B0604020202020204" pitchFamily="34" charset="0"/>
              </a:defRPr>
            </a:lvl1pPr>
            <a:lvl2pPr marL="457200" indent="0" algn="l" rtl="0" fontAlgn="base" latinLnBrk="1">
              <a:lnSpc>
                <a:spcPct val="100000"/>
              </a:lnSpc>
              <a:spcBef>
                <a:spcPct val="0"/>
              </a:spcBef>
              <a:spcAft>
                <a:spcPct val="0"/>
              </a:spcAft>
              <a:buFontTx/>
              <a:buNone/>
              <a:defRPr sz="1800" b="0" i="0" u="none" baseline="0">
                <a:solidFill>
                  <a:schemeClr val="dk1"/>
                </a:solidFill>
                <a:latin typeface="Arial" panose="020B0604020202020204" pitchFamily="34" charset="0"/>
                <a:ea typeface="宋体" panose="02010600030101010101" pitchFamily="2" charset="-122"/>
                <a:sym typeface="Arial" panose="020B0604020202020204" pitchFamily="34" charset="0"/>
              </a:defRPr>
            </a:lvl2pPr>
            <a:lvl3pPr marL="914400" indent="0" algn="l" rtl="0" fontAlgn="base" latinLnBrk="1">
              <a:lnSpc>
                <a:spcPct val="100000"/>
              </a:lnSpc>
              <a:spcBef>
                <a:spcPct val="0"/>
              </a:spcBef>
              <a:spcAft>
                <a:spcPct val="0"/>
              </a:spcAft>
              <a:buFontTx/>
              <a:buNone/>
              <a:defRPr sz="1800" b="0" i="0" u="none" baseline="0">
                <a:solidFill>
                  <a:schemeClr val="dk1"/>
                </a:solidFill>
                <a:latin typeface="Arial" panose="020B0604020202020204" pitchFamily="34" charset="0"/>
                <a:ea typeface="宋体" panose="02010600030101010101" pitchFamily="2" charset="-122"/>
                <a:sym typeface="Arial" panose="020B0604020202020204" pitchFamily="34" charset="0"/>
              </a:defRPr>
            </a:lvl3pPr>
            <a:lvl4pPr marL="1371600" indent="0" algn="l" rtl="0" fontAlgn="base" latinLnBrk="1">
              <a:lnSpc>
                <a:spcPct val="100000"/>
              </a:lnSpc>
              <a:spcBef>
                <a:spcPct val="0"/>
              </a:spcBef>
              <a:spcAft>
                <a:spcPct val="0"/>
              </a:spcAft>
              <a:buFontTx/>
              <a:buNone/>
              <a:defRPr sz="1800" b="0" i="0" u="none" baseline="0">
                <a:solidFill>
                  <a:schemeClr val="dk1"/>
                </a:solidFill>
                <a:latin typeface="Arial" panose="020B0604020202020204" pitchFamily="34" charset="0"/>
                <a:ea typeface="宋体" panose="02010600030101010101" pitchFamily="2" charset="-122"/>
                <a:sym typeface="Arial" panose="020B0604020202020204" pitchFamily="34" charset="0"/>
              </a:defRPr>
            </a:lvl4pPr>
            <a:lvl5pPr marL="1828800" indent="0" algn="l" rtl="0" fontAlgn="base" latinLnBrk="1">
              <a:lnSpc>
                <a:spcPct val="100000"/>
              </a:lnSpc>
              <a:spcBef>
                <a:spcPct val="0"/>
              </a:spcBef>
              <a:spcAft>
                <a:spcPct val="0"/>
              </a:spcAft>
              <a:buFontTx/>
              <a:buNone/>
              <a:defRPr sz="1800" b="0" i="0" u="none" baseline="0">
                <a:solidFill>
                  <a:schemeClr val="dk1"/>
                </a:solidFill>
                <a:latin typeface="Arial" panose="020B0604020202020204" pitchFamily="34" charset="0"/>
                <a:ea typeface="宋体" panose="02010600030101010101" pitchFamily="2" charset="-122"/>
                <a:sym typeface="Arial" panose="020B0604020202020204" pitchFamily="34" charset="0"/>
              </a:defRPr>
            </a:lvl5pPr>
          </a:lstStyle>
          <a:p>
            <a:pPr lvl="0" eaLnBrk="1" latinLnBrk="1" hangingPunct="1"/>
            <a:endParaRPr lang="zh-CN" altLang="en-US" sz="1350">
              <a:solidFill>
                <a:srgbClr val="000000"/>
              </a:solidFill>
            </a:endParaRPr>
          </a:p>
        </p:txBody>
      </p:sp>
      <p:grpSp>
        <p:nvGrpSpPr>
          <p:cNvPr id="261" name="组合 260"/>
          <p:cNvGrpSpPr/>
          <p:nvPr/>
        </p:nvGrpSpPr>
        <p:grpSpPr>
          <a:xfrm>
            <a:off x="1524000" y="1828800"/>
            <a:ext cx="9144000" cy="4171950"/>
            <a:chOff x="0" y="0"/>
            <a:chExt cx="12192000" cy="6858000"/>
          </a:xfrm>
        </p:grpSpPr>
        <p:pic>
          <p:nvPicPr>
            <p:cNvPr id="2097161" name="图片 2097160"/>
            <p:cNvPicPr/>
            <p:nvPr/>
          </p:nvPicPr>
          <p:blipFill>
            <a:blip r:embed="rId1" cstate="print"/>
            <a:srcRect/>
            <a:stretch>
              <a:fillRect/>
            </a:stretch>
          </p:blipFill>
          <p:spPr>
            <a:xfrm>
              <a:off x="10934700" y="242888"/>
              <a:ext cx="976313" cy="977900"/>
            </a:xfrm>
            <a:prstGeom prst="rect">
              <a:avLst/>
            </a:prstGeom>
            <a:noFill/>
            <a:ln>
              <a:noFill/>
            </a:ln>
          </p:spPr>
        </p:pic>
        <p:pic>
          <p:nvPicPr>
            <p:cNvPr id="2097162" name="图片 2097161"/>
            <p:cNvPicPr/>
            <p:nvPr/>
          </p:nvPicPr>
          <p:blipFill>
            <a:blip r:embed="rId2"/>
            <a:srcRect/>
            <a:stretch>
              <a:fillRect/>
            </a:stretch>
          </p:blipFill>
          <p:spPr>
            <a:xfrm>
              <a:off x="0" y="0"/>
              <a:ext cx="12192000" cy="6858000"/>
            </a:xfrm>
            <a:prstGeom prst="rect">
              <a:avLst/>
            </a:prstGeom>
            <a:noFill/>
            <a:ln>
              <a:noFill/>
            </a:ln>
          </p:spPr>
        </p:pic>
        <p:cxnSp>
          <p:nvCxnSpPr>
            <p:cNvPr id="3145728" name="曲线连接符 3145727"/>
            <p:cNvCxnSpPr/>
            <p:nvPr/>
          </p:nvCxnSpPr>
          <p:spPr>
            <a:xfrm rot="16200000" flipV="1">
              <a:off x="1134269" y="1664494"/>
              <a:ext cx="895350" cy="547688"/>
            </a:xfrm>
            <a:prstGeom prst="curvedConnector3">
              <a:avLst>
                <a:gd name="adj1" fmla="val -16329"/>
              </a:avLst>
            </a:prstGeom>
            <a:noFill/>
            <a:ln w="57150" cap="flat" cmpd="sng">
              <a:solidFill>
                <a:srgbClr val="4472C4">
                  <a:alpha val="100000"/>
                </a:srgbClr>
              </a:solidFill>
              <a:prstDash val="solid"/>
              <a:miter/>
              <a:tailEnd type="triangle" w="med" len="med"/>
            </a:ln>
          </p:spPr>
        </p:cxnSp>
        <p:cxnSp>
          <p:nvCxnSpPr>
            <p:cNvPr id="3145729" name="曲线连接符 3145728"/>
            <p:cNvCxnSpPr/>
            <p:nvPr/>
          </p:nvCxnSpPr>
          <p:spPr>
            <a:xfrm rot="16200000" flipH="1">
              <a:off x="1178719" y="1743869"/>
              <a:ext cx="598487" cy="111125"/>
            </a:xfrm>
            <a:prstGeom prst="curvedConnector3">
              <a:avLst>
                <a:gd name="adj1" fmla="val 50000"/>
              </a:avLst>
            </a:prstGeom>
            <a:noFill/>
            <a:ln w="57150" cap="flat" cmpd="sng">
              <a:solidFill>
                <a:srgbClr val="4472C4">
                  <a:alpha val="100000"/>
                </a:srgbClr>
              </a:solidFill>
              <a:prstDash val="solid"/>
              <a:miter/>
              <a:tailEnd type="triangle" w="med" len="med"/>
            </a:ln>
          </p:spPr>
        </p:cxnSp>
        <p:cxnSp>
          <p:nvCxnSpPr>
            <p:cNvPr id="3145730" name="曲线连接符 3145729"/>
            <p:cNvCxnSpPr/>
            <p:nvPr/>
          </p:nvCxnSpPr>
          <p:spPr>
            <a:xfrm rot="5400000" flipH="1" flipV="1">
              <a:off x="1521619" y="1821656"/>
              <a:ext cx="381000" cy="357188"/>
            </a:xfrm>
            <a:prstGeom prst="curvedConnector3">
              <a:avLst>
                <a:gd name="adj1" fmla="val -27111"/>
              </a:avLst>
            </a:prstGeom>
            <a:noFill/>
            <a:ln w="57150" cap="flat" cmpd="sng">
              <a:solidFill>
                <a:srgbClr val="4472C4">
                  <a:alpha val="100000"/>
                </a:srgbClr>
              </a:solidFill>
              <a:prstDash val="solid"/>
              <a:miter/>
              <a:tailEnd type="triangle" w="med" len="med"/>
            </a:ln>
          </p:spPr>
        </p:cxnSp>
        <p:cxnSp>
          <p:nvCxnSpPr>
            <p:cNvPr id="3145731" name="曲线连接符 3145730"/>
            <p:cNvCxnSpPr/>
            <p:nvPr/>
          </p:nvCxnSpPr>
          <p:spPr>
            <a:xfrm>
              <a:off x="1855788" y="1809750"/>
              <a:ext cx="7699375" cy="576263"/>
            </a:xfrm>
            <a:prstGeom prst="curvedConnector3">
              <a:avLst>
                <a:gd name="adj1" fmla="val 62708"/>
              </a:avLst>
            </a:prstGeom>
            <a:noFill/>
            <a:ln w="57150" cap="flat" cmpd="sng">
              <a:solidFill>
                <a:srgbClr val="4472C4">
                  <a:alpha val="100000"/>
                </a:srgbClr>
              </a:solidFill>
              <a:prstDash val="solid"/>
              <a:miter/>
              <a:tailEnd type="triangle" w="med" len="med"/>
            </a:ln>
          </p:spPr>
        </p:cxnSp>
        <p:sp>
          <p:nvSpPr>
            <p:cNvPr id="1048675" name="文本框 1048674"/>
            <p:cNvSpPr txBox="1"/>
            <p:nvPr/>
          </p:nvSpPr>
          <p:spPr>
            <a:xfrm>
              <a:off x="1751013" y="2213586"/>
              <a:ext cx="1133475" cy="569176"/>
            </a:xfrm>
            <a:prstGeom prst="rect">
              <a:avLst/>
            </a:prstGeom>
            <a:noFill/>
            <a:ln>
              <a:noFill/>
            </a:ln>
          </p:spPr>
          <p:txBody>
            <a:bodyPr vert="horz" lIns="68580" tIns="34290" rIns="68580" bIns="34290" anchor="t">
              <a:spAutoFit/>
            </a:bodyPr>
            <a:lstStyle>
              <a:lvl1pPr marL="0" indent="0" algn="l" rtl="0" fontAlgn="base" latinLnBrk="1">
                <a:lnSpc>
                  <a:spcPct val="100000"/>
                </a:lnSpc>
                <a:spcBef>
                  <a:spcPct val="0"/>
                </a:spcBef>
                <a:spcAft>
                  <a:spcPct val="0"/>
                </a:spcAft>
                <a:buFontTx/>
                <a:buNone/>
                <a:defRPr sz="1800" b="0" i="0" u="none" baseline="0">
                  <a:solidFill>
                    <a:schemeClr val="dk1"/>
                  </a:solidFill>
                  <a:latin typeface="Arial" panose="020B0604020202020204" pitchFamily="34" charset="0"/>
                  <a:ea typeface="宋体" panose="02010600030101010101" pitchFamily="2" charset="-122"/>
                  <a:sym typeface="Arial" panose="020B0604020202020204" pitchFamily="34" charset="0"/>
                </a:defRPr>
              </a:lvl1pPr>
              <a:lvl2pPr marL="457200" indent="0" algn="l" rtl="0" fontAlgn="base" latinLnBrk="1">
                <a:lnSpc>
                  <a:spcPct val="100000"/>
                </a:lnSpc>
                <a:spcBef>
                  <a:spcPct val="0"/>
                </a:spcBef>
                <a:spcAft>
                  <a:spcPct val="0"/>
                </a:spcAft>
                <a:buFontTx/>
                <a:buNone/>
                <a:defRPr sz="1800" b="0" i="0" u="none" baseline="0">
                  <a:solidFill>
                    <a:schemeClr val="dk1"/>
                  </a:solidFill>
                  <a:latin typeface="Arial" panose="020B0604020202020204" pitchFamily="34" charset="0"/>
                  <a:ea typeface="宋体" panose="02010600030101010101" pitchFamily="2" charset="-122"/>
                  <a:sym typeface="Arial" panose="020B0604020202020204" pitchFamily="34" charset="0"/>
                </a:defRPr>
              </a:lvl2pPr>
              <a:lvl3pPr marL="914400" indent="0" algn="l" rtl="0" fontAlgn="base" latinLnBrk="1">
                <a:lnSpc>
                  <a:spcPct val="100000"/>
                </a:lnSpc>
                <a:spcBef>
                  <a:spcPct val="0"/>
                </a:spcBef>
                <a:spcAft>
                  <a:spcPct val="0"/>
                </a:spcAft>
                <a:buFontTx/>
                <a:buNone/>
                <a:defRPr sz="1800" b="0" i="0" u="none" baseline="0">
                  <a:solidFill>
                    <a:schemeClr val="dk1"/>
                  </a:solidFill>
                  <a:latin typeface="Arial" panose="020B0604020202020204" pitchFamily="34" charset="0"/>
                  <a:ea typeface="宋体" panose="02010600030101010101" pitchFamily="2" charset="-122"/>
                  <a:sym typeface="Arial" panose="020B0604020202020204" pitchFamily="34" charset="0"/>
                </a:defRPr>
              </a:lvl3pPr>
              <a:lvl4pPr marL="1371600" indent="0" algn="l" rtl="0" fontAlgn="base" latinLnBrk="1">
                <a:lnSpc>
                  <a:spcPct val="100000"/>
                </a:lnSpc>
                <a:spcBef>
                  <a:spcPct val="0"/>
                </a:spcBef>
                <a:spcAft>
                  <a:spcPct val="0"/>
                </a:spcAft>
                <a:buFontTx/>
                <a:buNone/>
                <a:defRPr sz="1800" b="0" i="0" u="none" baseline="0">
                  <a:solidFill>
                    <a:schemeClr val="dk1"/>
                  </a:solidFill>
                  <a:latin typeface="Arial" panose="020B0604020202020204" pitchFamily="34" charset="0"/>
                  <a:ea typeface="宋体" panose="02010600030101010101" pitchFamily="2" charset="-122"/>
                  <a:sym typeface="Arial" panose="020B0604020202020204" pitchFamily="34" charset="0"/>
                </a:defRPr>
              </a:lvl4pPr>
              <a:lvl5pPr marL="1828800" indent="0" algn="l" rtl="0" fontAlgn="base" latinLnBrk="1">
                <a:lnSpc>
                  <a:spcPct val="100000"/>
                </a:lnSpc>
                <a:spcBef>
                  <a:spcPct val="0"/>
                </a:spcBef>
                <a:spcAft>
                  <a:spcPct val="0"/>
                </a:spcAft>
                <a:buFontTx/>
                <a:buNone/>
                <a:defRPr sz="1800" b="0" i="0" u="none" baseline="0">
                  <a:solidFill>
                    <a:schemeClr val="dk1"/>
                  </a:solidFill>
                  <a:latin typeface="Arial" panose="020B0604020202020204" pitchFamily="34" charset="0"/>
                  <a:ea typeface="宋体" panose="02010600030101010101" pitchFamily="2" charset="-122"/>
                  <a:sym typeface="Arial" panose="020B0604020202020204" pitchFamily="34" charset="0"/>
                </a:defRPr>
              </a:lvl5pPr>
            </a:lstStyle>
            <a:p>
              <a:pPr lvl="0" algn="ctr" eaLnBrk="1" latinLnBrk="1" hangingPunct="1">
                <a:buNone/>
              </a:pPr>
              <a:r>
                <a:rPr lang="zh-CN" altLang="en-US" b="1">
                  <a:solidFill>
                    <a:srgbClr val="595959"/>
                  </a:solidFill>
                  <a:latin typeface="微软雅黑" panose="020B0503020204020204" charset="-122"/>
                  <a:ea typeface="微软雅黑" panose="020B0503020204020204" charset="-122"/>
                </a:rPr>
                <a:t>意大利</a:t>
              </a:r>
              <a:endParaRPr lang="zh-CN" altLang="en-US" b="1">
                <a:solidFill>
                  <a:srgbClr val="595959"/>
                </a:solidFill>
                <a:latin typeface="微软雅黑" panose="020B0503020204020204" charset="-122"/>
                <a:ea typeface="微软雅黑" panose="020B0503020204020204" charset="-122"/>
              </a:endParaRPr>
            </a:p>
          </p:txBody>
        </p:sp>
        <p:sp>
          <p:nvSpPr>
            <p:cNvPr id="1048676" name="文本框 1048675"/>
            <p:cNvSpPr txBox="1"/>
            <p:nvPr/>
          </p:nvSpPr>
          <p:spPr>
            <a:xfrm>
              <a:off x="412751" y="1103855"/>
              <a:ext cx="1133475" cy="569176"/>
            </a:xfrm>
            <a:prstGeom prst="rect">
              <a:avLst/>
            </a:prstGeom>
            <a:noFill/>
            <a:ln>
              <a:noFill/>
            </a:ln>
          </p:spPr>
          <p:txBody>
            <a:bodyPr vert="horz" lIns="68580" tIns="34290" rIns="68580" bIns="34290" anchor="t">
              <a:spAutoFit/>
            </a:bodyPr>
            <a:lstStyle>
              <a:lvl1pPr marL="0" indent="0" algn="l" rtl="0" fontAlgn="base" latinLnBrk="1">
                <a:lnSpc>
                  <a:spcPct val="100000"/>
                </a:lnSpc>
                <a:spcBef>
                  <a:spcPct val="0"/>
                </a:spcBef>
                <a:spcAft>
                  <a:spcPct val="0"/>
                </a:spcAft>
                <a:buFontTx/>
                <a:buNone/>
                <a:defRPr sz="1800" b="0" i="0" u="none" baseline="0">
                  <a:solidFill>
                    <a:schemeClr val="dk1"/>
                  </a:solidFill>
                  <a:latin typeface="Arial" panose="020B0604020202020204" pitchFamily="34" charset="0"/>
                  <a:ea typeface="宋体" panose="02010600030101010101" pitchFamily="2" charset="-122"/>
                  <a:sym typeface="Arial" panose="020B0604020202020204" pitchFamily="34" charset="0"/>
                </a:defRPr>
              </a:lvl1pPr>
              <a:lvl2pPr marL="457200" indent="0" algn="l" rtl="0" fontAlgn="base" latinLnBrk="1">
                <a:lnSpc>
                  <a:spcPct val="100000"/>
                </a:lnSpc>
                <a:spcBef>
                  <a:spcPct val="0"/>
                </a:spcBef>
                <a:spcAft>
                  <a:spcPct val="0"/>
                </a:spcAft>
                <a:buFontTx/>
                <a:buNone/>
                <a:defRPr sz="1800" b="0" i="0" u="none" baseline="0">
                  <a:solidFill>
                    <a:schemeClr val="dk1"/>
                  </a:solidFill>
                  <a:latin typeface="Arial" panose="020B0604020202020204" pitchFamily="34" charset="0"/>
                  <a:ea typeface="宋体" panose="02010600030101010101" pitchFamily="2" charset="-122"/>
                  <a:sym typeface="Arial" panose="020B0604020202020204" pitchFamily="34" charset="0"/>
                </a:defRPr>
              </a:lvl2pPr>
              <a:lvl3pPr marL="914400" indent="0" algn="l" rtl="0" fontAlgn="base" latinLnBrk="1">
                <a:lnSpc>
                  <a:spcPct val="100000"/>
                </a:lnSpc>
                <a:spcBef>
                  <a:spcPct val="0"/>
                </a:spcBef>
                <a:spcAft>
                  <a:spcPct val="0"/>
                </a:spcAft>
                <a:buFontTx/>
                <a:buNone/>
                <a:defRPr sz="1800" b="0" i="0" u="none" baseline="0">
                  <a:solidFill>
                    <a:schemeClr val="dk1"/>
                  </a:solidFill>
                  <a:latin typeface="Arial" panose="020B0604020202020204" pitchFamily="34" charset="0"/>
                  <a:ea typeface="宋体" panose="02010600030101010101" pitchFamily="2" charset="-122"/>
                  <a:sym typeface="Arial" panose="020B0604020202020204" pitchFamily="34" charset="0"/>
                </a:defRPr>
              </a:lvl3pPr>
              <a:lvl4pPr marL="1371600" indent="0" algn="l" rtl="0" fontAlgn="base" latinLnBrk="1">
                <a:lnSpc>
                  <a:spcPct val="100000"/>
                </a:lnSpc>
                <a:spcBef>
                  <a:spcPct val="0"/>
                </a:spcBef>
                <a:spcAft>
                  <a:spcPct val="0"/>
                </a:spcAft>
                <a:buFontTx/>
                <a:buNone/>
                <a:defRPr sz="1800" b="0" i="0" u="none" baseline="0">
                  <a:solidFill>
                    <a:schemeClr val="dk1"/>
                  </a:solidFill>
                  <a:latin typeface="Arial" panose="020B0604020202020204" pitchFamily="34" charset="0"/>
                  <a:ea typeface="宋体" panose="02010600030101010101" pitchFamily="2" charset="-122"/>
                  <a:sym typeface="Arial" panose="020B0604020202020204" pitchFamily="34" charset="0"/>
                </a:defRPr>
              </a:lvl4pPr>
              <a:lvl5pPr marL="1828800" indent="0" algn="l" rtl="0" fontAlgn="base" latinLnBrk="1">
                <a:lnSpc>
                  <a:spcPct val="100000"/>
                </a:lnSpc>
                <a:spcBef>
                  <a:spcPct val="0"/>
                </a:spcBef>
                <a:spcAft>
                  <a:spcPct val="0"/>
                </a:spcAft>
                <a:buFontTx/>
                <a:buNone/>
                <a:defRPr sz="1800" b="0" i="0" u="none" baseline="0">
                  <a:solidFill>
                    <a:schemeClr val="dk1"/>
                  </a:solidFill>
                  <a:latin typeface="Arial" panose="020B0604020202020204" pitchFamily="34" charset="0"/>
                  <a:ea typeface="宋体" panose="02010600030101010101" pitchFamily="2" charset="-122"/>
                  <a:sym typeface="Arial" panose="020B0604020202020204" pitchFamily="34" charset="0"/>
                </a:defRPr>
              </a:lvl5pPr>
            </a:lstStyle>
            <a:p>
              <a:pPr lvl="0" algn="ctr" eaLnBrk="1" latinLnBrk="1" hangingPunct="1"/>
              <a:r>
                <a:rPr lang="zh-CN" altLang="en-US" b="1">
                  <a:solidFill>
                    <a:srgbClr val="595959"/>
                  </a:solidFill>
                  <a:latin typeface="微软雅黑" panose="020B0503020204020204" charset="-122"/>
                  <a:ea typeface="微软雅黑" panose="020B0503020204020204" charset="-122"/>
                </a:rPr>
                <a:t>英国</a:t>
              </a:r>
              <a:endParaRPr lang="zh-CN" altLang="en-US" b="1">
                <a:solidFill>
                  <a:srgbClr val="595959"/>
                </a:solidFill>
                <a:latin typeface="微软雅黑" panose="020B0503020204020204" charset="-122"/>
                <a:ea typeface="微软雅黑" panose="020B0503020204020204" charset="-122"/>
              </a:endParaRPr>
            </a:p>
          </p:txBody>
        </p:sp>
        <p:sp>
          <p:nvSpPr>
            <p:cNvPr id="1048677" name="文本框 1048676"/>
            <p:cNvSpPr txBox="1"/>
            <p:nvPr/>
          </p:nvSpPr>
          <p:spPr>
            <a:xfrm>
              <a:off x="650875" y="1988507"/>
              <a:ext cx="1133475" cy="569176"/>
            </a:xfrm>
            <a:prstGeom prst="rect">
              <a:avLst/>
            </a:prstGeom>
            <a:noFill/>
            <a:ln>
              <a:noFill/>
            </a:ln>
          </p:spPr>
          <p:txBody>
            <a:bodyPr vert="horz" lIns="68580" tIns="34290" rIns="68580" bIns="34290" anchor="t">
              <a:spAutoFit/>
            </a:bodyPr>
            <a:lstStyle>
              <a:lvl1pPr marL="0" indent="0" algn="l" rtl="0" fontAlgn="base" latinLnBrk="1">
                <a:lnSpc>
                  <a:spcPct val="100000"/>
                </a:lnSpc>
                <a:spcBef>
                  <a:spcPct val="0"/>
                </a:spcBef>
                <a:spcAft>
                  <a:spcPct val="0"/>
                </a:spcAft>
                <a:buFontTx/>
                <a:buNone/>
                <a:defRPr sz="1800" b="0" i="0" u="none" baseline="0">
                  <a:solidFill>
                    <a:schemeClr val="dk1"/>
                  </a:solidFill>
                  <a:latin typeface="Arial" panose="020B0604020202020204" pitchFamily="34" charset="0"/>
                  <a:ea typeface="宋体" panose="02010600030101010101" pitchFamily="2" charset="-122"/>
                  <a:sym typeface="Arial" panose="020B0604020202020204" pitchFamily="34" charset="0"/>
                </a:defRPr>
              </a:lvl1pPr>
              <a:lvl2pPr marL="457200" indent="0" algn="l" rtl="0" fontAlgn="base" latinLnBrk="1">
                <a:lnSpc>
                  <a:spcPct val="100000"/>
                </a:lnSpc>
                <a:spcBef>
                  <a:spcPct val="0"/>
                </a:spcBef>
                <a:spcAft>
                  <a:spcPct val="0"/>
                </a:spcAft>
                <a:buFontTx/>
                <a:buNone/>
                <a:defRPr sz="1800" b="0" i="0" u="none" baseline="0">
                  <a:solidFill>
                    <a:schemeClr val="dk1"/>
                  </a:solidFill>
                  <a:latin typeface="Arial" panose="020B0604020202020204" pitchFamily="34" charset="0"/>
                  <a:ea typeface="宋体" panose="02010600030101010101" pitchFamily="2" charset="-122"/>
                  <a:sym typeface="Arial" panose="020B0604020202020204" pitchFamily="34" charset="0"/>
                </a:defRPr>
              </a:lvl2pPr>
              <a:lvl3pPr marL="914400" indent="0" algn="l" rtl="0" fontAlgn="base" latinLnBrk="1">
                <a:lnSpc>
                  <a:spcPct val="100000"/>
                </a:lnSpc>
                <a:spcBef>
                  <a:spcPct val="0"/>
                </a:spcBef>
                <a:spcAft>
                  <a:spcPct val="0"/>
                </a:spcAft>
                <a:buFontTx/>
                <a:buNone/>
                <a:defRPr sz="1800" b="0" i="0" u="none" baseline="0">
                  <a:solidFill>
                    <a:schemeClr val="dk1"/>
                  </a:solidFill>
                  <a:latin typeface="Arial" panose="020B0604020202020204" pitchFamily="34" charset="0"/>
                  <a:ea typeface="宋体" panose="02010600030101010101" pitchFamily="2" charset="-122"/>
                  <a:sym typeface="Arial" panose="020B0604020202020204" pitchFamily="34" charset="0"/>
                </a:defRPr>
              </a:lvl3pPr>
              <a:lvl4pPr marL="1371600" indent="0" algn="l" rtl="0" fontAlgn="base" latinLnBrk="1">
                <a:lnSpc>
                  <a:spcPct val="100000"/>
                </a:lnSpc>
                <a:spcBef>
                  <a:spcPct val="0"/>
                </a:spcBef>
                <a:spcAft>
                  <a:spcPct val="0"/>
                </a:spcAft>
                <a:buFontTx/>
                <a:buNone/>
                <a:defRPr sz="1800" b="0" i="0" u="none" baseline="0">
                  <a:solidFill>
                    <a:schemeClr val="dk1"/>
                  </a:solidFill>
                  <a:latin typeface="Arial" panose="020B0604020202020204" pitchFamily="34" charset="0"/>
                  <a:ea typeface="宋体" panose="02010600030101010101" pitchFamily="2" charset="-122"/>
                  <a:sym typeface="Arial" panose="020B0604020202020204" pitchFamily="34" charset="0"/>
                </a:defRPr>
              </a:lvl4pPr>
              <a:lvl5pPr marL="1828800" indent="0" algn="l" rtl="0" fontAlgn="base" latinLnBrk="1">
                <a:lnSpc>
                  <a:spcPct val="100000"/>
                </a:lnSpc>
                <a:spcBef>
                  <a:spcPct val="0"/>
                </a:spcBef>
                <a:spcAft>
                  <a:spcPct val="0"/>
                </a:spcAft>
                <a:buFontTx/>
                <a:buNone/>
                <a:defRPr sz="1800" b="0" i="0" u="none" baseline="0">
                  <a:solidFill>
                    <a:schemeClr val="dk1"/>
                  </a:solidFill>
                  <a:latin typeface="Arial" panose="020B0604020202020204" pitchFamily="34" charset="0"/>
                  <a:ea typeface="宋体" panose="02010600030101010101" pitchFamily="2" charset="-122"/>
                  <a:sym typeface="Arial" panose="020B0604020202020204" pitchFamily="34" charset="0"/>
                </a:defRPr>
              </a:lvl5pPr>
            </a:lstStyle>
            <a:p>
              <a:pPr lvl="0" algn="ctr" eaLnBrk="1" latinLnBrk="1" hangingPunct="1">
                <a:buNone/>
              </a:pPr>
              <a:r>
                <a:rPr lang="zh-CN" altLang="en-US" b="1">
                  <a:solidFill>
                    <a:srgbClr val="595959"/>
                  </a:solidFill>
                  <a:latin typeface="微软雅黑" panose="020B0503020204020204" charset="-122"/>
                  <a:ea typeface="微软雅黑" panose="020B0503020204020204" charset="-122"/>
                </a:rPr>
                <a:t>法国</a:t>
              </a:r>
              <a:endParaRPr lang="zh-CN" altLang="en-US" b="1">
                <a:solidFill>
                  <a:srgbClr val="595959"/>
                </a:solidFill>
                <a:latin typeface="微软雅黑" panose="020B0503020204020204" charset="-122"/>
                <a:ea typeface="微软雅黑" panose="020B0503020204020204" charset="-122"/>
              </a:endParaRPr>
            </a:p>
          </p:txBody>
        </p:sp>
        <p:sp>
          <p:nvSpPr>
            <p:cNvPr id="1048678" name="文本框 1048677"/>
            <p:cNvSpPr txBox="1"/>
            <p:nvPr/>
          </p:nvSpPr>
          <p:spPr>
            <a:xfrm>
              <a:off x="1323975" y="1233031"/>
              <a:ext cx="1133475" cy="569176"/>
            </a:xfrm>
            <a:prstGeom prst="rect">
              <a:avLst/>
            </a:prstGeom>
            <a:noFill/>
            <a:ln>
              <a:noFill/>
            </a:ln>
          </p:spPr>
          <p:txBody>
            <a:bodyPr vert="horz" lIns="68580" tIns="34290" rIns="68580" bIns="34290" anchor="t">
              <a:spAutoFit/>
            </a:bodyPr>
            <a:lstStyle>
              <a:lvl1pPr marL="0" indent="0" algn="l" rtl="0" fontAlgn="base" latinLnBrk="1">
                <a:lnSpc>
                  <a:spcPct val="100000"/>
                </a:lnSpc>
                <a:spcBef>
                  <a:spcPct val="0"/>
                </a:spcBef>
                <a:spcAft>
                  <a:spcPct val="0"/>
                </a:spcAft>
                <a:buFontTx/>
                <a:buNone/>
                <a:defRPr sz="1800" b="0" i="0" u="none" baseline="0">
                  <a:solidFill>
                    <a:schemeClr val="dk1"/>
                  </a:solidFill>
                  <a:latin typeface="Arial" panose="020B0604020202020204" pitchFamily="34" charset="0"/>
                  <a:ea typeface="宋体" panose="02010600030101010101" pitchFamily="2" charset="-122"/>
                  <a:sym typeface="Arial" panose="020B0604020202020204" pitchFamily="34" charset="0"/>
                </a:defRPr>
              </a:lvl1pPr>
              <a:lvl2pPr marL="457200" indent="0" algn="l" rtl="0" fontAlgn="base" latinLnBrk="1">
                <a:lnSpc>
                  <a:spcPct val="100000"/>
                </a:lnSpc>
                <a:spcBef>
                  <a:spcPct val="0"/>
                </a:spcBef>
                <a:spcAft>
                  <a:spcPct val="0"/>
                </a:spcAft>
                <a:buFontTx/>
                <a:buNone/>
                <a:defRPr sz="1800" b="0" i="0" u="none" baseline="0">
                  <a:solidFill>
                    <a:schemeClr val="dk1"/>
                  </a:solidFill>
                  <a:latin typeface="Arial" panose="020B0604020202020204" pitchFamily="34" charset="0"/>
                  <a:ea typeface="宋体" panose="02010600030101010101" pitchFamily="2" charset="-122"/>
                  <a:sym typeface="Arial" panose="020B0604020202020204" pitchFamily="34" charset="0"/>
                </a:defRPr>
              </a:lvl2pPr>
              <a:lvl3pPr marL="914400" indent="0" algn="l" rtl="0" fontAlgn="base" latinLnBrk="1">
                <a:lnSpc>
                  <a:spcPct val="100000"/>
                </a:lnSpc>
                <a:spcBef>
                  <a:spcPct val="0"/>
                </a:spcBef>
                <a:spcAft>
                  <a:spcPct val="0"/>
                </a:spcAft>
                <a:buFontTx/>
                <a:buNone/>
                <a:defRPr sz="1800" b="0" i="0" u="none" baseline="0">
                  <a:solidFill>
                    <a:schemeClr val="dk1"/>
                  </a:solidFill>
                  <a:latin typeface="Arial" panose="020B0604020202020204" pitchFamily="34" charset="0"/>
                  <a:ea typeface="宋体" panose="02010600030101010101" pitchFamily="2" charset="-122"/>
                  <a:sym typeface="Arial" panose="020B0604020202020204" pitchFamily="34" charset="0"/>
                </a:defRPr>
              </a:lvl3pPr>
              <a:lvl4pPr marL="1371600" indent="0" algn="l" rtl="0" fontAlgn="base" latinLnBrk="1">
                <a:lnSpc>
                  <a:spcPct val="100000"/>
                </a:lnSpc>
                <a:spcBef>
                  <a:spcPct val="0"/>
                </a:spcBef>
                <a:spcAft>
                  <a:spcPct val="0"/>
                </a:spcAft>
                <a:buFontTx/>
                <a:buNone/>
                <a:defRPr sz="1800" b="0" i="0" u="none" baseline="0">
                  <a:solidFill>
                    <a:schemeClr val="dk1"/>
                  </a:solidFill>
                  <a:latin typeface="Arial" panose="020B0604020202020204" pitchFamily="34" charset="0"/>
                  <a:ea typeface="宋体" panose="02010600030101010101" pitchFamily="2" charset="-122"/>
                  <a:sym typeface="Arial" panose="020B0604020202020204" pitchFamily="34" charset="0"/>
                </a:defRPr>
              </a:lvl4pPr>
              <a:lvl5pPr marL="1828800" indent="0" algn="l" rtl="0" fontAlgn="base" latinLnBrk="1">
                <a:lnSpc>
                  <a:spcPct val="100000"/>
                </a:lnSpc>
                <a:spcBef>
                  <a:spcPct val="0"/>
                </a:spcBef>
                <a:spcAft>
                  <a:spcPct val="0"/>
                </a:spcAft>
                <a:buFontTx/>
                <a:buNone/>
                <a:defRPr sz="1800" b="0" i="0" u="none" baseline="0">
                  <a:solidFill>
                    <a:schemeClr val="dk1"/>
                  </a:solidFill>
                  <a:latin typeface="Arial" panose="020B0604020202020204" pitchFamily="34" charset="0"/>
                  <a:ea typeface="宋体" panose="02010600030101010101" pitchFamily="2" charset="-122"/>
                  <a:sym typeface="Arial" panose="020B0604020202020204" pitchFamily="34" charset="0"/>
                </a:defRPr>
              </a:lvl5pPr>
            </a:lstStyle>
            <a:p>
              <a:pPr lvl="0" algn="ctr" eaLnBrk="1" latinLnBrk="1" hangingPunct="1">
                <a:buNone/>
              </a:pPr>
              <a:r>
                <a:rPr lang="zh-CN" altLang="en-US" b="1">
                  <a:solidFill>
                    <a:srgbClr val="595959"/>
                  </a:solidFill>
                  <a:latin typeface="微软雅黑" panose="020B0503020204020204" charset="-122"/>
                  <a:ea typeface="微软雅黑" panose="020B0503020204020204" charset="-122"/>
                </a:rPr>
                <a:t>德国</a:t>
              </a:r>
              <a:endParaRPr lang="zh-CN" altLang="en-US" b="1">
                <a:solidFill>
                  <a:srgbClr val="595959"/>
                </a:solidFill>
                <a:latin typeface="微软雅黑" panose="020B0503020204020204" charset="-122"/>
                <a:ea typeface="微软雅黑" panose="020B0503020204020204" charset="-122"/>
              </a:endParaRPr>
            </a:p>
          </p:txBody>
        </p:sp>
        <p:sp>
          <p:nvSpPr>
            <p:cNvPr id="1048679" name="文本框 1048678"/>
            <p:cNvSpPr txBox="1"/>
            <p:nvPr/>
          </p:nvSpPr>
          <p:spPr>
            <a:xfrm>
              <a:off x="9310688" y="2182269"/>
              <a:ext cx="1133475" cy="569176"/>
            </a:xfrm>
            <a:prstGeom prst="rect">
              <a:avLst/>
            </a:prstGeom>
            <a:noFill/>
            <a:ln>
              <a:noFill/>
            </a:ln>
          </p:spPr>
          <p:txBody>
            <a:bodyPr vert="horz" lIns="68580" tIns="34290" rIns="68580" bIns="34290" anchor="t">
              <a:spAutoFit/>
            </a:bodyPr>
            <a:lstStyle>
              <a:lvl1pPr marL="0" indent="0" algn="l" rtl="0" fontAlgn="base" latinLnBrk="1">
                <a:lnSpc>
                  <a:spcPct val="100000"/>
                </a:lnSpc>
                <a:spcBef>
                  <a:spcPct val="0"/>
                </a:spcBef>
                <a:spcAft>
                  <a:spcPct val="0"/>
                </a:spcAft>
                <a:buFontTx/>
                <a:buNone/>
                <a:defRPr sz="1800" b="0" i="0" u="none" baseline="0">
                  <a:solidFill>
                    <a:schemeClr val="dk1"/>
                  </a:solidFill>
                  <a:latin typeface="Arial" panose="020B0604020202020204" pitchFamily="34" charset="0"/>
                  <a:ea typeface="宋体" panose="02010600030101010101" pitchFamily="2" charset="-122"/>
                  <a:sym typeface="Arial" panose="020B0604020202020204" pitchFamily="34" charset="0"/>
                </a:defRPr>
              </a:lvl1pPr>
              <a:lvl2pPr marL="457200" indent="0" algn="l" rtl="0" fontAlgn="base" latinLnBrk="1">
                <a:lnSpc>
                  <a:spcPct val="100000"/>
                </a:lnSpc>
                <a:spcBef>
                  <a:spcPct val="0"/>
                </a:spcBef>
                <a:spcAft>
                  <a:spcPct val="0"/>
                </a:spcAft>
                <a:buFontTx/>
                <a:buNone/>
                <a:defRPr sz="1800" b="0" i="0" u="none" baseline="0">
                  <a:solidFill>
                    <a:schemeClr val="dk1"/>
                  </a:solidFill>
                  <a:latin typeface="Arial" panose="020B0604020202020204" pitchFamily="34" charset="0"/>
                  <a:ea typeface="宋体" panose="02010600030101010101" pitchFamily="2" charset="-122"/>
                  <a:sym typeface="Arial" panose="020B0604020202020204" pitchFamily="34" charset="0"/>
                </a:defRPr>
              </a:lvl2pPr>
              <a:lvl3pPr marL="914400" indent="0" algn="l" rtl="0" fontAlgn="base" latinLnBrk="1">
                <a:lnSpc>
                  <a:spcPct val="100000"/>
                </a:lnSpc>
                <a:spcBef>
                  <a:spcPct val="0"/>
                </a:spcBef>
                <a:spcAft>
                  <a:spcPct val="0"/>
                </a:spcAft>
                <a:buFontTx/>
                <a:buNone/>
                <a:defRPr sz="1800" b="0" i="0" u="none" baseline="0">
                  <a:solidFill>
                    <a:schemeClr val="dk1"/>
                  </a:solidFill>
                  <a:latin typeface="Arial" panose="020B0604020202020204" pitchFamily="34" charset="0"/>
                  <a:ea typeface="宋体" panose="02010600030101010101" pitchFamily="2" charset="-122"/>
                  <a:sym typeface="Arial" panose="020B0604020202020204" pitchFamily="34" charset="0"/>
                </a:defRPr>
              </a:lvl3pPr>
              <a:lvl4pPr marL="1371600" indent="0" algn="l" rtl="0" fontAlgn="base" latinLnBrk="1">
                <a:lnSpc>
                  <a:spcPct val="100000"/>
                </a:lnSpc>
                <a:spcBef>
                  <a:spcPct val="0"/>
                </a:spcBef>
                <a:spcAft>
                  <a:spcPct val="0"/>
                </a:spcAft>
                <a:buFontTx/>
                <a:buNone/>
                <a:defRPr sz="1800" b="0" i="0" u="none" baseline="0">
                  <a:solidFill>
                    <a:schemeClr val="dk1"/>
                  </a:solidFill>
                  <a:latin typeface="Arial" panose="020B0604020202020204" pitchFamily="34" charset="0"/>
                  <a:ea typeface="宋体" panose="02010600030101010101" pitchFamily="2" charset="-122"/>
                  <a:sym typeface="Arial" panose="020B0604020202020204" pitchFamily="34" charset="0"/>
                </a:defRPr>
              </a:lvl4pPr>
              <a:lvl5pPr marL="1828800" indent="0" algn="l" rtl="0" fontAlgn="base" latinLnBrk="1">
                <a:lnSpc>
                  <a:spcPct val="100000"/>
                </a:lnSpc>
                <a:spcBef>
                  <a:spcPct val="0"/>
                </a:spcBef>
                <a:spcAft>
                  <a:spcPct val="0"/>
                </a:spcAft>
                <a:buFontTx/>
                <a:buNone/>
                <a:defRPr sz="1800" b="0" i="0" u="none" baseline="0">
                  <a:solidFill>
                    <a:schemeClr val="dk1"/>
                  </a:solidFill>
                  <a:latin typeface="Arial" panose="020B0604020202020204" pitchFamily="34" charset="0"/>
                  <a:ea typeface="宋体" panose="02010600030101010101" pitchFamily="2" charset="-122"/>
                  <a:sym typeface="Arial" panose="020B0604020202020204" pitchFamily="34" charset="0"/>
                </a:defRPr>
              </a:lvl5pPr>
            </a:lstStyle>
            <a:p>
              <a:pPr lvl="0" algn="ctr" eaLnBrk="1" latinLnBrk="1" hangingPunct="1">
                <a:buNone/>
              </a:pPr>
              <a:r>
                <a:rPr lang="zh-CN" altLang="en-US" b="1">
                  <a:solidFill>
                    <a:srgbClr val="595959"/>
                  </a:solidFill>
                  <a:latin typeface="微软雅黑" panose="020B0503020204020204" charset="-122"/>
                  <a:ea typeface="微软雅黑" panose="020B0503020204020204" charset="-122"/>
                </a:rPr>
                <a:t>美国</a:t>
              </a:r>
              <a:endParaRPr lang="zh-CN" altLang="en-US" b="1">
                <a:solidFill>
                  <a:srgbClr val="595959"/>
                </a:solidFill>
                <a:latin typeface="微软雅黑" panose="020B0503020204020204" charset="-122"/>
                <a:ea typeface="微软雅黑" panose="020B0503020204020204" charset="-122"/>
              </a:endParaRPr>
            </a:p>
          </p:txBody>
        </p:sp>
        <p:cxnSp>
          <p:nvCxnSpPr>
            <p:cNvPr id="3145732" name="曲线连接符 3145731"/>
            <p:cNvCxnSpPr/>
            <p:nvPr/>
          </p:nvCxnSpPr>
          <p:spPr>
            <a:xfrm rot="10800000" flipV="1">
              <a:off x="5295905" y="2449512"/>
              <a:ext cx="4124321" cy="303211"/>
            </a:xfrm>
            <a:prstGeom prst="curvedConnector3">
              <a:avLst>
                <a:gd name="adj1" fmla="val 43995"/>
              </a:avLst>
            </a:prstGeom>
            <a:noFill/>
            <a:ln w="57150" cap="flat" cmpd="sng">
              <a:solidFill>
                <a:srgbClr val="FF0000">
                  <a:alpha val="100000"/>
                </a:srgbClr>
              </a:solidFill>
              <a:prstDash val="solid"/>
              <a:miter/>
              <a:tailEnd type="arrow" w="med" len="med"/>
            </a:ln>
          </p:spPr>
        </p:cxnSp>
        <p:sp>
          <p:nvSpPr>
            <p:cNvPr id="1048680" name="文本框 1048679"/>
            <p:cNvSpPr txBox="1"/>
            <p:nvPr/>
          </p:nvSpPr>
          <p:spPr>
            <a:xfrm>
              <a:off x="4127500" y="2242941"/>
              <a:ext cx="1133475" cy="569176"/>
            </a:xfrm>
            <a:prstGeom prst="rect">
              <a:avLst/>
            </a:prstGeom>
            <a:noFill/>
            <a:ln>
              <a:noFill/>
            </a:ln>
          </p:spPr>
          <p:txBody>
            <a:bodyPr vert="horz" lIns="68580" tIns="34290" rIns="68580" bIns="34290" anchor="t">
              <a:spAutoFit/>
            </a:bodyPr>
            <a:lstStyle>
              <a:lvl1pPr marL="0" indent="0" algn="l" rtl="0" fontAlgn="base" latinLnBrk="1">
                <a:lnSpc>
                  <a:spcPct val="100000"/>
                </a:lnSpc>
                <a:spcBef>
                  <a:spcPct val="0"/>
                </a:spcBef>
                <a:spcAft>
                  <a:spcPct val="0"/>
                </a:spcAft>
                <a:buFontTx/>
                <a:buNone/>
                <a:defRPr sz="1800" b="0" i="0" u="none" baseline="0">
                  <a:solidFill>
                    <a:schemeClr val="dk1"/>
                  </a:solidFill>
                  <a:latin typeface="Arial" panose="020B0604020202020204" pitchFamily="34" charset="0"/>
                  <a:ea typeface="宋体" panose="02010600030101010101" pitchFamily="2" charset="-122"/>
                  <a:sym typeface="Arial" panose="020B0604020202020204" pitchFamily="34" charset="0"/>
                </a:defRPr>
              </a:lvl1pPr>
              <a:lvl2pPr marL="457200" indent="0" algn="l" rtl="0" fontAlgn="base" latinLnBrk="1">
                <a:lnSpc>
                  <a:spcPct val="100000"/>
                </a:lnSpc>
                <a:spcBef>
                  <a:spcPct val="0"/>
                </a:spcBef>
                <a:spcAft>
                  <a:spcPct val="0"/>
                </a:spcAft>
                <a:buFontTx/>
                <a:buNone/>
                <a:defRPr sz="1800" b="0" i="0" u="none" baseline="0">
                  <a:solidFill>
                    <a:schemeClr val="dk1"/>
                  </a:solidFill>
                  <a:latin typeface="Arial" panose="020B0604020202020204" pitchFamily="34" charset="0"/>
                  <a:ea typeface="宋体" panose="02010600030101010101" pitchFamily="2" charset="-122"/>
                  <a:sym typeface="Arial" panose="020B0604020202020204" pitchFamily="34" charset="0"/>
                </a:defRPr>
              </a:lvl2pPr>
              <a:lvl3pPr marL="914400" indent="0" algn="l" rtl="0" fontAlgn="base" latinLnBrk="1">
                <a:lnSpc>
                  <a:spcPct val="100000"/>
                </a:lnSpc>
                <a:spcBef>
                  <a:spcPct val="0"/>
                </a:spcBef>
                <a:spcAft>
                  <a:spcPct val="0"/>
                </a:spcAft>
                <a:buFontTx/>
                <a:buNone/>
                <a:defRPr sz="1800" b="0" i="0" u="none" baseline="0">
                  <a:solidFill>
                    <a:schemeClr val="dk1"/>
                  </a:solidFill>
                  <a:latin typeface="Arial" panose="020B0604020202020204" pitchFamily="34" charset="0"/>
                  <a:ea typeface="宋体" panose="02010600030101010101" pitchFamily="2" charset="-122"/>
                  <a:sym typeface="Arial" panose="020B0604020202020204" pitchFamily="34" charset="0"/>
                </a:defRPr>
              </a:lvl3pPr>
              <a:lvl4pPr marL="1371600" indent="0" algn="l" rtl="0" fontAlgn="base" latinLnBrk="1">
                <a:lnSpc>
                  <a:spcPct val="100000"/>
                </a:lnSpc>
                <a:spcBef>
                  <a:spcPct val="0"/>
                </a:spcBef>
                <a:spcAft>
                  <a:spcPct val="0"/>
                </a:spcAft>
                <a:buFontTx/>
                <a:buNone/>
                <a:defRPr sz="1800" b="0" i="0" u="none" baseline="0">
                  <a:solidFill>
                    <a:schemeClr val="dk1"/>
                  </a:solidFill>
                  <a:latin typeface="Arial" panose="020B0604020202020204" pitchFamily="34" charset="0"/>
                  <a:ea typeface="宋体" panose="02010600030101010101" pitchFamily="2" charset="-122"/>
                  <a:sym typeface="Arial" panose="020B0604020202020204" pitchFamily="34" charset="0"/>
                </a:defRPr>
              </a:lvl4pPr>
              <a:lvl5pPr marL="1828800" indent="0" algn="l" rtl="0" fontAlgn="base" latinLnBrk="1">
                <a:lnSpc>
                  <a:spcPct val="100000"/>
                </a:lnSpc>
                <a:spcBef>
                  <a:spcPct val="0"/>
                </a:spcBef>
                <a:spcAft>
                  <a:spcPct val="0"/>
                </a:spcAft>
                <a:buFontTx/>
                <a:buNone/>
                <a:defRPr sz="1800" b="0" i="0" u="none" baseline="0">
                  <a:solidFill>
                    <a:schemeClr val="dk1"/>
                  </a:solidFill>
                  <a:latin typeface="Arial" panose="020B0604020202020204" pitchFamily="34" charset="0"/>
                  <a:ea typeface="宋体" panose="02010600030101010101" pitchFamily="2" charset="-122"/>
                  <a:sym typeface="Arial" panose="020B0604020202020204" pitchFamily="34" charset="0"/>
                </a:defRPr>
              </a:lvl5pPr>
            </a:lstStyle>
            <a:p>
              <a:pPr lvl="0" algn="ctr" eaLnBrk="1" latinLnBrk="1" hangingPunct="1"/>
              <a:r>
                <a:rPr lang="zh-CN" altLang="en-US" b="1">
                  <a:solidFill>
                    <a:srgbClr val="C00000"/>
                  </a:solidFill>
                  <a:latin typeface="微软雅黑" panose="020B0503020204020204" charset="-122"/>
                  <a:ea typeface="微软雅黑" panose="020B0503020204020204" charset="-122"/>
                </a:rPr>
                <a:t>中国</a:t>
              </a:r>
              <a:endParaRPr lang="zh-CN" altLang="en-US" b="1">
                <a:solidFill>
                  <a:srgbClr val="C00000"/>
                </a:solidFill>
                <a:latin typeface="微软雅黑" panose="020B0503020204020204" charset="-122"/>
                <a:ea typeface="微软雅黑" panose="020B0503020204020204" charset="-122"/>
              </a:endParaRPr>
            </a:p>
          </p:txBody>
        </p:sp>
      </p:grpSp>
      <p:sp>
        <p:nvSpPr>
          <p:cNvPr id="1048682" name="文本框 1048681"/>
          <p:cNvSpPr txBox="1"/>
          <p:nvPr/>
        </p:nvSpPr>
        <p:spPr>
          <a:xfrm>
            <a:off x="1656027" y="1197902"/>
            <a:ext cx="5093494" cy="438473"/>
          </a:xfrm>
          <a:prstGeom prst="rect">
            <a:avLst/>
          </a:prstGeom>
          <a:solidFill>
            <a:schemeClr val="lt1"/>
          </a:solidFill>
          <a:ln>
            <a:noFill/>
          </a:ln>
        </p:spPr>
        <p:txBody>
          <a:bodyPr vert="horz" lIns="68481" tIns="34236" rIns="68481" bIns="34236" anchor="t">
            <a:spAutoFit/>
          </a:bodyPr>
          <a:lstStyle>
            <a:lvl1pPr marL="0" indent="0" algn="l" rtl="0" fontAlgn="base" latinLnBrk="1">
              <a:lnSpc>
                <a:spcPct val="100000"/>
              </a:lnSpc>
              <a:spcBef>
                <a:spcPct val="0"/>
              </a:spcBef>
              <a:spcAft>
                <a:spcPct val="0"/>
              </a:spcAft>
              <a:buFontTx/>
              <a:buNone/>
              <a:defRPr sz="1800" b="0" i="0" u="none" baseline="0">
                <a:solidFill>
                  <a:schemeClr val="dk1"/>
                </a:solidFill>
                <a:latin typeface="Arial" panose="020B0604020202020204" pitchFamily="34" charset="0"/>
                <a:ea typeface="宋体" panose="02010600030101010101" pitchFamily="2" charset="-122"/>
                <a:sym typeface="Arial" panose="020B0604020202020204" pitchFamily="34" charset="0"/>
              </a:defRPr>
            </a:lvl1pPr>
            <a:lvl2pPr marL="457200" indent="0" algn="l" rtl="0" fontAlgn="base" latinLnBrk="1">
              <a:lnSpc>
                <a:spcPct val="100000"/>
              </a:lnSpc>
              <a:spcBef>
                <a:spcPct val="0"/>
              </a:spcBef>
              <a:spcAft>
                <a:spcPct val="0"/>
              </a:spcAft>
              <a:buFontTx/>
              <a:buNone/>
              <a:defRPr sz="1800" b="0" i="0" u="none" baseline="0">
                <a:solidFill>
                  <a:schemeClr val="dk1"/>
                </a:solidFill>
                <a:latin typeface="Arial" panose="020B0604020202020204" pitchFamily="34" charset="0"/>
                <a:ea typeface="宋体" panose="02010600030101010101" pitchFamily="2" charset="-122"/>
                <a:sym typeface="Arial" panose="020B0604020202020204" pitchFamily="34" charset="0"/>
              </a:defRPr>
            </a:lvl2pPr>
            <a:lvl3pPr marL="914400" indent="0" algn="l" rtl="0" fontAlgn="base" latinLnBrk="1">
              <a:lnSpc>
                <a:spcPct val="100000"/>
              </a:lnSpc>
              <a:spcBef>
                <a:spcPct val="0"/>
              </a:spcBef>
              <a:spcAft>
                <a:spcPct val="0"/>
              </a:spcAft>
              <a:buFontTx/>
              <a:buNone/>
              <a:defRPr sz="1800" b="0" i="0" u="none" baseline="0">
                <a:solidFill>
                  <a:schemeClr val="dk1"/>
                </a:solidFill>
                <a:latin typeface="Arial" panose="020B0604020202020204" pitchFamily="34" charset="0"/>
                <a:ea typeface="宋体" panose="02010600030101010101" pitchFamily="2" charset="-122"/>
                <a:sym typeface="Arial" panose="020B0604020202020204" pitchFamily="34" charset="0"/>
              </a:defRPr>
            </a:lvl3pPr>
            <a:lvl4pPr marL="1371600" indent="0" algn="l" rtl="0" fontAlgn="base" latinLnBrk="1">
              <a:lnSpc>
                <a:spcPct val="100000"/>
              </a:lnSpc>
              <a:spcBef>
                <a:spcPct val="0"/>
              </a:spcBef>
              <a:spcAft>
                <a:spcPct val="0"/>
              </a:spcAft>
              <a:buFontTx/>
              <a:buNone/>
              <a:defRPr sz="1800" b="0" i="0" u="none" baseline="0">
                <a:solidFill>
                  <a:schemeClr val="dk1"/>
                </a:solidFill>
                <a:latin typeface="Arial" panose="020B0604020202020204" pitchFamily="34" charset="0"/>
                <a:ea typeface="宋体" panose="02010600030101010101" pitchFamily="2" charset="-122"/>
                <a:sym typeface="Arial" panose="020B0604020202020204" pitchFamily="34" charset="0"/>
              </a:defRPr>
            </a:lvl4pPr>
            <a:lvl5pPr marL="1828800" indent="0" algn="l" rtl="0" fontAlgn="base" latinLnBrk="1">
              <a:lnSpc>
                <a:spcPct val="100000"/>
              </a:lnSpc>
              <a:spcBef>
                <a:spcPct val="0"/>
              </a:spcBef>
              <a:spcAft>
                <a:spcPct val="0"/>
              </a:spcAft>
              <a:buFontTx/>
              <a:buNone/>
              <a:defRPr sz="1800" b="0" i="0" u="none" baseline="0">
                <a:solidFill>
                  <a:schemeClr val="dk1"/>
                </a:solidFill>
                <a:latin typeface="Arial" panose="020B0604020202020204" pitchFamily="34" charset="0"/>
                <a:ea typeface="宋体" panose="02010600030101010101" pitchFamily="2" charset="-122"/>
                <a:sym typeface="Arial" panose="020B0604020202020204" pitchFamily="34" charset="0"/>
              </a:defRPr>
            </a:lvl5pPr>
          </a:lstStyle>
          <a:p>
            <a:pPr lvl="0"/>
            <a:r>
              <a:rPr lang="zh-CN" altLang="en-US" sz="2400" b="1" dirty="0">
                <a:solidFill>
                  <a:srgbClr val="5B9BD5"/>
                </a:solidFill>
                <a:latin typeface="微软雅黑" panose="020B0503020204020204" charset="-122"/>
                <a:ea typeface="微软雅黑" panose="020B0503020204020204" charset="-122"/>
              </a:rPr>
              <a:t>未来的科技创新将是多中心并存格局</a:t>
            </a:r>
            <a:endParaRPr lang="zh-CN" altLang="en-US" sz="2400" b="1" dirty="0">
              <a:solidFill>
                <a:srgbClr val="5B9BD5"/>
              </a:solidFill>
              <a:latin typeface="微软雅黑" panose="020B0503020204020204" charset="-122"/>
              <a:ea typeface="微软雅黑" panose="020B0503020204020204" charset="-122"/>
            </a:endParaRPr>
          </a:p>
        </p:txBody>
      </p:sp>
      <p:sp>
        <p:nvSpPr>
          <p:cNvPr id="40" name="矩形 39"/>
          <p:cNvSpPr/>
          <p:nvPr/>
        </p:nvSpPr>
        <p:spPr>
          <a:xfrm>
            <a:off x="1524001" y="3909361"/>
            <a:ext cx="5723467" cy="1938990"/>
          </a:xfrm>
          <a:prstGeom prst="rect">
            <a:avLst/>
          </a:prstGeom>
          <a:noFill/>
          <a:ln>
            <a:noFill/>
          </a:ln>
        </p:spPr>
        <p:txBody>
          <a:bodyPr vert="horz" wrap="square" lIns="68577" tIns="34289" rIns="68577" bIns="34289" anchor="t">
            <a:spAutoFit/>
          </a:bodyPr>
          <a:lstStyle>
            <a:lvl1pPr marL="0" indent="0" algn="l" rtl="0" fontAlgn="base" latinLnBrk="1">
              <a:lnSpc>
                <a:spcPct val="100000"/>
              </a:lnSpc>
              <a:spcBef>
                <a:spcPct val="0"/>
              </a:spcBef>
              <a:spcAft>
                <a:spcPct val="0"/>
              </a:spcAft>
              <a:buFontTx/>
              <a:buNone/>
              <a:defRPr sz="1800" b="0" i="0" u="none" baseline="0">
                <a:solidFill>
                  <a:schemeClr val="dk1"/>
                </a:solidFill>
                <a:latin typeface="Arial" panose="020B0604020202020204" pitchFamily="34" charset="0"/>
                <a:ea typeface="宋体" panose="02010600030101010101" pitchFamily="2" charset="-122"/>
                <a:sym typeface="Arial" panose="020B0604020202020204" pitchFamily="34" charset="0"/>
              </a:defRPr>
            </a:lvl1pPr>
            <a:lvl2pPr marL="457200" indent="0" algn="l" rtl="0" fontAlgn="base" latinLnBrk="1">
              <a:lnSpc>
                <a:spcPct val="100000"/>
              </a:lnSpc>
              <a:spcBef>
                <a:spcPct val="0"/>
              </a:spcBef>
              <a:spcAft>
                <a:spcPct val="0"/>
              </a:spcAft>
              <a:buFontTx/>
              <a:buNone/>
              <a:defRPr sz="1800" b="0" i="0" u="none" baseline="0">
                <a:solidFill>
                  <a:schemeClr val="dk1"/>
                </a:solidFill>
                <a:latin typeface="Arial" panose="020B0604020202020204" pitchFamily="34" charset="0"/>
                <a:ea typeface="宋体" panose="02010600030101010101" pitchFamily="2" charset="-122"/>
                <a:sym typeface="Arial" panose="020B0604020202020204" pitchFamily="34" charset="0"/>
              </a:defRPr>
            </a:lvl2pPr>
            <a:lvl3pPr marL="914400" indent="0" algn="l" rtl="0" fontAlgn="base" latinLnBrk="1">
              <a:lnSpc>
                <a:spcPct val="100000"/>
              </a:lnSpc>
              <a:spcBef>
                <a:spcPct val="0"/>
              </a:spcBef>
              <a:spcAft>
                <a:spcPct val="0"/>
              </a:spcAft>
              <a:buFontTx/>
              <a:buNone/>
              <a:defRPr sz="1800" b="0" i="0" u="none" baseline="0">
                <a:solidFill>
                  <a:schemeClr val="dk1"/>
                </a:solidFill>
                <a:latin typeface="Arial" panose="020B0604020202020204" pitchFamily="34" charset="0"/>
                <a:ea typeface="宋体" panose="02010600030101010101" pitchFamily="2" charset="-122"/>
                <a:sym typeface="Arial" panose="020B0604020202020204" pitchFamily="34" charset="0"/>
              </a:defRPr>
            </a:lvl3pPr>
            <a:lvl4pPr marL="1371600" indent="0" algn="l" rtl="0" fontAlgn="base" latinLnBrk="1">
              <a:lnSpc>
                <a:spcPct val="100000"/>
              </a:lnSpc>
              <a:spcBef>
                <a:spcPct val="0"/>
              </a:spcBef>
              <a:spcAft>
                <a:spcPct val="0"/>
              </a:spcAft>
              <a:buFontTx/>
              <a:buNone/>
              <a:defRPr sz="1800" b="0" i="0" u="none" baseline="0">
                <a:solidFill>
                  <a:schemeClr val="dk1"/>
                </a:solidFill>
                <a:latin typeface="Arial" panose="020B0604020202020204" pitchFamily="34" charset="0"/>
                <a:ea typeface="宋体" panose="02010600030101010101" pitchFamily="2" charset="-122"/>
                <a:sym typeface="Arial" panose="020B0604020202020204" pitchFamily="34" charset="0"/>
              </a:defRPr>
            </a:lvl4pPr>
            <a:lvl5pPr marL="1828800" indent="0" algn="l" rtl="0" fontAlgn="base" latinLnBrk="1">
              <a:lnSpc>
                <a:spcPct val="100000"/>
              </a:lnSpc>
              <a:spcBef>
                <a:spcPct val="0"/>
              </a:spcBef>
              <a:spcAft>
                <a:spcPct val="0"/>
              </a:spcAft>
              <a:buFontTx/>
              <a:buNone/>
              <a:defRPr sz="1800" b="0" i="0" u="none" baseline="0">
                <a:solidFill>
                  <a:schemeClr val="dk1"/>
                </a:solidFill>
                <a:latin typeface="Arial" panose="020B0604020202020204" pitchFamily="34" charset="0"/>
                <a:ea typeface="宋体" panose="02010600030101010101" pitchFamily="2" charset="-122"/>
                <a:sym typeface="Arial" panose="020B0604020202020204" pitchFamily="34" charset="0"/>
              </a:defRPr>
            </a:lvl5pPr>
          </a:lstStyle>
          <a:p>
            <a:pPr lvl="0" eaLnBrk="1" latinLnBrk="1" hangingPunct="1">
              <a:lnSpc>
                <a:spcPct val="150000"/>
              </a:lnSpc>
            </a:pPr>
            <a:r>
              <a:rPr lang="zh-CN" altLang="en-US" sz="2700" b="1" dirty="0">
                <a:solidFill>
                  <a:srgbClr val="FF0000"/>
                </a:solidFill>
                <a:latin typeface="微软雅黑" panose="020B0503020204020204" charset="-122"/>
                <a:ea typeface="微软雅黑" panose="020B0503020204020204" charset="-122"/>
              </a:rPr>
              <a:t>亚太地区已具备了较好的经济条件、物质基础与创新环境，将继欧洲、北美之后成为并存的主要科技中心之一</a:t>
            </a:r>
            <a:endParaRPr lang="zh-CN" altLang="en-US" sz="2700" b="1" dirty="0">
              <a:solidFill>
                <a:srgbClr val="FF0000"/>
              </a:solidFill>
              <a:latin typeface="微软雅黑" panose="020B0503020204020204" charset="-122"/>
              <a:ea typeface="微软雅黑" panose="020B050302020402020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889760" y="1187137"/>
            <a:ext cx="8133347" cy="4985980"/>
          </a:xfrm>
          <a:prstGeom prst="rect">
            <a:avLst/>
          </a:prstGeom>
        </p:spPr>
        <p:txBody>
          <a:bodyPr wrap="square">
            <a:spAutoFit/>
          </a:bodyPr>
          <a:lstStyle/>
          <a:p>
            <a:pPr algn="just" latinLnBrk="1">
              <a:spcAft>
                <a:spcPts val="0"/>
              </a:spcAft>
            </a:pPr>
            <a:r>
              <a:rPr lang="zh-CN" altLang="zh-CN" sz="2400" b="1" kern="100" dirty="0">
                <a:solidFill>
                  <a:srgbClr val="0000FF"/>
                </a:solidFill>
                <a:latin typeface="Times New Roman" panose="02020603050405020304" charset="0"/>
                <a:ea typeface="仿宋" panose="02010609060101010101" pitchFamily="49" charset="-122"/>
                <a:cs typeface="Times New Roman" panose="02020603050405020304" charset="0"/>
              </a:rPr>
              <a:t>三、坚持创新驱动发展，全面塑造发展新优势</a:t>
            </a:r>
            <a:endParaRPr lang="zh-CN" altLang="zh-CN" sz="2400" b="1" kern="100" dirty="0">
              <a:solidFill>
                <a:srgbClr val="0000FF"/>
              </a:solidFill>
              <a:latin typeface="Times New Roman" panose="02020603050405020304" charset="0"/>
              <a:ea typeface="仿宋" panose="02010609060101010101" pitchFamily="49" charset="-122"/>
              <a:cs typeface="Times New Roman" panose="02020603050405020304" charset="0"/>
            </a:endParaRPr>
          </a:p>
          <a:p>
            <a:pPr algn="just" latinLnBrk="1">
              <a:spcAft>
                <a:spcPts val="0"/>
              </a:spcAft>
            </a:pPr>
            <a:r>
              <a:rPr lang="zh-CN" altLang="zh-CN" b="1" kern="100" dirty="0">
                <a:latin typeface="Times New Roman" panose="02020603050405020304" charset="0"/>
                <a:ea typeface="仿宋" panose="02010609060101010101" pitchFamily="49" charset="-122"/>
                <a:cs typeface="Times New Roman" panose="02020603050405020304" charset="0"/>
              </a:rPr>
              <a:t>坚持创新在我国现代化建设全局中的核心地位，把科技自立自强作为国家发展的战略支撑，</a:t>
            </a:r>
            <a:r>
              <a:rPr lang="zh-CN" altLang="zh-CN" sz="2400" b="1" kern="100" dirty="0">
                <a:solidFill>
                  <a:srgbClr val="0000FF"/>
                </a:solidFill>
                <a:latin typeface="Times New Roman" panose="02020603050405020304" charset="0"/>
                <a:ea typeface="仿宋" panose="02010609060101010101" pitchFamily="49" charset="-122"/>
                <a:cs typeface="Times New Roman" panose="02020603050405020304" charset="0"/>
              </a:rPr>
              <a:t>面向世界科技前沿、面向经济主战场、面向国家重大需求、面向人民生命健康</a:t>
            </a:r>
            <a:r>
              <a:rPr lang="zh-CN" altLang="zh-CN" b="1" kern="100" dirty="0">
                <a:latin typeface="Times New Roman" panose="02020603050405020304" charset="0"/>
                <a:ea typeface="仿宋" panose="02010609060101010101" pitchFamily="49" charset="-122"/>
                <a:cs typeface="Times New Roman" panose="02020603050405020304" charset="0"/>
              </a:rPr>
              <a:t>，深入实施科教兴国战略、人才强国战略、创新驱动发展战略，完善国家创新体系，加快建设科技强国。</a:t>
            </a:r>
            <a:endParaRPr lang="zh-CN" altLang="zh-CN" sz="1200" kern="100" dirty="0">
              <a:latin typeface="Calibri" panose="020F0502020204030204" charset="0"/>
              <a:cs typeface="Times New Roman" panose="02020603050405020304" charset="0"/>
            </a:endParaRPr>
          </a:p>
          <a:p>
            <a:pPr algn="just" latinLnBrk="1">
              <a:spcAft>
                <a:spcPts val="0"/>
              </a:spcAft>
            </a:pPr>
            <a:r>
              <a:rPr lang="en-US" altLang="zh-CN" b="1" kern="100" dirty="0">
                <a:latin typeface="Times New Roman" panose="02020603050405020304" charset="0"/>
                <a:ea typeface="仿宋" panose="02010609060101010101" pitchFamily="49" charset="-122"/>
                <a:cs typeface="Times New Roman" panose="02020603050405020304" charset="0"/>
              </a:rPr>
              <a:t>7.</a:t>
            </a:r>
            <a:r>
              <a:rPr lang="zh-CN" altLang="zh-CN" b="1" kern="100" dirty="0">
                <a:latin typeface="Times New Roman" panose="02020603050405020304" charset="0"/>
                <a:ea typeface="仿宋" panose="02010609060101010101" pitchFamily="49" charset="-122"/>
                <a:cs typeface="Times New Roman" panose="02020603050405020304" charset="0"/>
              </a:rPr>
              <a:t>强化国家战略科技力量。制定科技强国行动纲要，健全社会主义市场经济条件下新型举国体制，打好关键核心技术攻坚战，提高创新链整体效能。加强基础研究、注重原始创新，优化学科布局和研发布局，推进学科交叉融合，完善共性基础技术供给体系。</a:t>
            </a:r>
            <a:r>
              <a:rPr lang="zh-CN" altLang="zh-CN" sz="2400" b="1" kern="100" dirty="0">
                <a:solidFill>
                  <a:srgbClr val="0000FF"/>
                </a:solidFill>
                <a:latin typeface="Times New Roman" panose="02020603050405020304" charset="0"/>
                <a:ea typeface="仿宋" panose="02010609060101010101" pitchFamily="49" charset="-122"/>
                <a:cs typeface="Times New Roman" panose="02020603050405020304" charset="0"/>
              </a:rPr>
              <a:t>瞄准</a:t>
            </a:r>
            <a:r>
              <a:rPr lang="zh-CN" altLang="zh-CN" sz="2400" b="1" kern="100" dirty="0">
                <a:solidFill>
                  <a:srgbClr val="FF0000"/>
                </a:solidFill>
                <a:latin typeface="Times New Roman" panose="02020603050405020304" charset="0"/>
                <a:ea typeface="仿宋" panose="02010609060101010101" pitchFamily="49" charset="-122"/>
                <a:cs typeface="Times New Roman" panose="02020603050405020304" charset="0"/>
              </a:rPr>
              <a:t>人工智能</a:t>
            </a:r>
            <a:r>
              <a:rPr lang="zh-CN" altLang="zh-CN" sz="2400" b="1" kern="100" dirty="0">
                <a:solidFill>
                  <a:srgbClr val="0000FF"/>
                </a:solidFill>
                <a:latin typeface="Times New Roman" panose="02020603050405020304" charset="0"/>
                <a:ea typeface="仿宋" panose="02010609060101010101" pitchFamily="49" charset="-122"/>
                <a:cs typeface="Times New Roman" panose="02020603050405020304" charset="0"/>
              </a:rPr>
              <a:t>、量子信息、集成电路、生命健康、脑科学、生物育种、空天科技、深地深海等前沿领域</a:t>
            </a:r>
            <a:r>
              <a:rPr lang="zh-CN" altLang="zh-CN" b="1" kern="100" dirty="0">
                <a:latin typeface="Times New Roman" panose="02020603050405020304" charset="0"/>
                <a:ea typeface="仿宋" panose="02010609060101010101" pitchFamily="49" charset="-122"/>
                <a:cs typeface="Times New Roman" panose="02020603050405020304" charset="0"/>
              </a:rPr>
              <a:t>，实施一批具有前瞻性、战略性的国家重大科技项目。制定实施战略性科学计划和科学工程，推进科研院所、高校、企业科研力量优化配置和资源共享。推进国家实验室建设，重组国家重点实验室体系。布局建设综合性国家科学中心和区域性创新高地，</a:t>
            </a:r>
            <a:r>
              <a:rPr lang="zh-CN" altLang="zh-CN" sz="2400" b="1" kern="100" dirty="0">
                <a:solidFill>
                  <a:srgbClr val="0000FF"/>
                </a:solidFill>
                <a:latin typeface="Times New Roman" panose="02020603050405020304" charset="0"/>
                <a:ea typeface="仿宋" panose="02010609060101010101" pitchFamily="49" charset="-122"/>
                <a:cs typeface="Times New Roman" panose="02020603050405020304" charset="0"/>
              </a:rPr>
              <a:t>支持</a:t>
            </a:r>
            <a:r>
              <a:rPr lang="zh-CN" altLang="zh-CN" sz="2400" b="1" kern="100" dirty="0">
                <a:solidFill>
                  <a:srgbClr val="FF0000"/>
                </a:solidFill>
                <a:latin typeface="Times New Roman" panose="02020603050405020304" charset="0"/>
                <a:ea typeface="仿宋" panose="02010609060101010101" pitchFamily="49" charset="-122"/>
                <a:cs typeface="Times New Roman" panose="02020603050405020304" charset="0"/>
              </a:rPr>
              <a:t>北京、上海、粤港澳大湾区</a:t>
            </a:r>
            <a:r>
              <a:rPr lang="zh-CN" altLang="zh-CN" sz="2400" b="1" kern="100" dirty="0">
                <a:solidFill>
                  <a:srgbClr val="0000FF"/>
                </a:solidFill>
                <a:latin typeface="Times New Roman" panose="02020603050405020304" charset="0"/>
                <a:ea typeface="仿宋" panose="02010609060101010101" pitchFamily="49" charset="-122"/>
                <a:cs typeface="Times New Roman" panose="02020603050405020304" charset="0"/>
              </a:rPr>
              <a:t>形成国际科技创新中心</a:t>
            </a:r>
            <a:r>
              <a:rPr lang="zh-CN" altLang="zh-CN" b="1" kern="100" dirty="0">
                <a:latin typeface="Times New Roman" panose="02020603050405020304" charset="0"/>
                <a:ea typeface="仿宋" panose="02010609060101010101" pitchFamily="49" charset="-122"/>
                <a:cs typeface="Times New Roman" panose="02020603050405020304" charset="0"/>
              </a:rPr>
              <a:t>。构建国家科研论文和科技信息高端交流平台。</a:t>
            </a:r>
            <a:endParaRPr lang="zh-CN" altLang="zh-CN" sz="1200" kern="100" dirty="0">
              <a:latin typeface="Calibri" panose="020F0502020204030204" charset="0"/>
              <a:cs typeface="Times New Roman" panose="02020603050405020304" charset="0"/>
            </a:endParaRPr>
          </a:p>
        </p:txBody>
      </p:sp>
      <p:sp>
        <p:nvSpPr>
          <p:cNvPr id="4" name="矩形 3"/>
          <p:cNvSpPr/>
          <p:nvPr/>
        </p:nvSpPr>
        <p:spPr>
          <a:xfrm>
            <a:off x="1601004" y="1"/>
            <a:ext cx="9066997" cy="954107"/>
          </a:xfrm>
          <a:prstGeom prst="rect">
            <a:avLst/>
          </a:prstGeom>
        </p:spPr>
        <p:txBody>
          <a:bodyPr wrap="square">
            <a:spAutoFit/>
          </a:bodyPr>
          <a:lstStyle/>
          <a:p>
            <a:pPr algn="ctr">
              <a:spcAft>
                <a:spcPts val="0"/>
              </a:spcAft>
            </a:pPr>
            <a:r>
              <a:rPr lang="zh-CN" altLang="zh-CN" sz="2800" b="1" kern="100" dirty="0">
                <a:solidFill>
                  <a:schemeClr val="bg1"/>
                </a:solidFill>
                <a:latin typeface="楷体" panose="02010609060101010101" pitchFamily="49" charset="-122"/>
                <a:ea typeface="楷体" panose="02010609060101010101" pitchFamily="49" charset="-122"/>
                <a:cs typeface="Times New Roman" panose="02020603050405020304" charset="0"/>
              </a:rPr>
              <a:t>中共中央关于制定国民经济和社会发展第十四个五年</a:t>
            </a:r>
            <a:endParaRPr lang="en-US" altLang="zh-CN" sz="2800" b="1" kern="100" dirty="0">
              <a:solidFill>
                <a:schemeClr val="bg1"/>
              </a:solidFill>
              <a:latin typeface="楷体" panose="02010609060101010101" pitchFamily="49" charset="-122"/>
              <a:ea typeface="楷体" panose="02010609060101010101" pitchFamily="49" charset="-122"/>
              <a:cs typeface="Times New Roman" panose="02020603050405020304" charset="0"/>
            </a:endParaRPr>
          </a:p>
          <a:p>
            <a:pPr algn="ctr">
              <a:spcAft>
                <a:spcPts val="0"/>
              </a:spcAft>
            </a:pPr>
            <a:r>
              <a:rPr lang="zh-CN" altLang="zh-CN" sz="2800" b="1" kern="100" dirty="0">
                <a:solidFill>
                  <a:schemeClr val="bg1"/>
                </a:solidFill>
                <a:latin typeface="楷体" panose="02010609060101010101" pitchFamily="49" charset="-122"/>
                <a:ea typeface="楷体" panose="02010609060101010101" pitchFamily="49" charset="-122"/>
                <a:cs typeface="Times New Roman" panose="02020603050405020304" charset="0"/>
              </a:rPr>
              <a:t>规划和</a:t>
            </a:r>
            <a:r>
              <a:rPr lang="zh-CN" altLang="zh-CN" sz="2800" b="1" dirty="0">
                <a:solidFill>
                  <a:schemeClr val="bg1"/>
                </a:solidFill>
                <a:latin typeface="楷体" panose="02010609060101010101" pitchFamily="49" charset="-122"/>
                <a:ea typeface="楷体" panose="02010609060101010101" pitchFamily="49" charset="-122"/>
                <a:cs typeface="Times New Roman" panose="02020603050405020304" charset="0"/>
              </a:rPr>
              <a:t>二〇三五年远景目标的建议</a:t>
            </a:r>
            <a:endParaRPr lang="zh-CN" altLang="en-US" sz="2800" b="1" dirty="0">
              <a:solidFill>
                <a:schemeClr val="bg1"/>
              </a:solidFill>
              <a:latin typeface="楷体" panose="02010609060101010101" pitchFamily="49" charset="-122"/>
              <a:ea typeface="楷体" panose="02010609060101010101" pitchFamily="49"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707909" y="1557958"/>
            <a:ext cx="3905493" cy="323165"/>
          </a:xfrm>
          <a:prstGeom prst="rect">
            <a:avLst/>
          </a:prstGeom>
          <a:noFill/>
        </p:spPr>
        <p:txBody>
          <a:bodyPr wrap="square">
            <a:spAutoFit/>
          </a:bodyPr>
          <a:lstStyle/>
          <a:p>
            <a:pPr marL="214630" indent="-214630" algn="ctr"/>
            <a:r>
              <a:rPr lang="zh-CN" altLang="en-US" sz="1500" b="1" dirty="0">
                <a:solidFill>
                  <a:srgbClr val="0000CC"/>
                </a:solidFill>
                <a:latin typeface="微软雅黑" panose="020B0503020204020204" charset="-122"/>
                <a:ea typeface="微软雅黑" panose="020B0503020204020204" charset="-122"/>
                <a:cs typeface="+mj-cs"/>
              </a:rPr>
              <a:t>世界范围的人才聚集群（</a:t>
            </a:r>
            <a:r>
              <a:rPr lang="en-US" altLang="zh-CN" sz="1500" b="1" dirty="0">
                <a:solidFill>
                  <a:srgbClr val="0000CC"/>
                </a:solidFill>
                <a:latin typeface="微软雅黑" panose="020B0503020204020204" charset="-122"/>
                <a:ea typeface="微软雅黑" panose="020B0503020204020204" charset="-122"/>
                <a:cs typeface="+mj-cs"/>
              </a:rPr>
              <a:t>AI</a:t>
            </a:r>
            <a:r>
              <a:rPr lang="zh-CN" altLang="en-US" sz="1500" b="1" dirty="0">
                <a:solidFill>
                  <a:srgbClr val="0000CC"/>
                </a:solidFill>
                <a:latin typeface="微软雅黑" panose="020B0503020204020204" charset="-122"/>
                <a:ea typeface="微软雅黑" panose="020B0503020204020204" charset="-122"/>
                <a:cs typeface="+mj-cs"/>
              </a:rPr>
              <a:t>行业为例）</a:t>
            </a:r>
            <a:endParaRPr lang="en-US" altLang="zh-CN" sz="1500" b="1" dirty="0">
              <a:solidFill>
                <a:srgbClr val="0000CC"/>
              </a:solidFill>
              <a:latin typeface="微软雅黑" panose="020B0503020204020204" charset="-122"/>
              <a:ea typeface="微软雅黑" panose="020B0503020204020204" charset="-122"/>
              <a:cs typeface="+mj-cs"/>
            </a:endParaRPr>
          </a:p>
        </p:txBody>
      </p:sp>
      <p:pic>
        <p:nvPicPr>
          <p:cNvPr id="8" name="图片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546573" y="1877121"/>
            <a:ext cx="3946340" cy="3637460"/>
          </a:xfrm>
          <a:prstGeom prst="rect">
            <a:avLst/>
          </a:prstGeom>
        </p:spPr>
      </p:pic>
      <p:pic>
        <p:nvPicPr>
          <p:cNvPr id="10" name="图片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91200" y="1043518"/>
            <a:ext cx="4348548" cy="4261577"/>
          </a:xfrm>
          <a:prstGeom prst="rect">
            <a:avLst/>
          </a:prstGeom>
        </p:spPr>
      </p:pic>
      <p:sp>
        <p:nvSpPr>
          <p:cNvPr id="12" name="文本框 11"/>
          <p:cNvSpPr txBox="1"/>
          <p:nvPr/>
        </p:nvSpPr>
        <p:spPr>
          <a:xfrm>
            <a:off x="1625602" y="4504172"/>
            <a:ext cx="3598333" cy="1477328"/>
          </a:xfrm>
          <a:prstGeom prst="rect">
            <a:avLst/>
          </a:prstGeom>
          <a:solidFill>
            <a:schemeClr val="accent1">
              <a:lumMod val="40000"/>
              <a:lumOff val="60000"/>
            </a:schemeClr>
          </a:solidFill>
          <a:ln w="57150">
            <a:solidFill>
              <a:srgbClr val="0070C0"/>
            </a:solidFill>
          </a:ln>
        </p:spPr>
        <p:txBody>
          <a:bodyPr wrap="square" rtlCol="0">
            <a:spAutoFit/>
          </a:bodyPr>
          <a:lstStyle/>
          <a:p>
            <a:pPr algn="ctr"/>
            <a:r>
              <a:rPr lang="zh-CN" altLang="en-US" b="1" dirty="0">
                <a:solidFill>
                  <a:srgbClr val="FF0000"/>
                </a:solidFill>
                <a:latin typeface="微软雅黑" panose="020B0503020204020204" charset="-122"/>
                <a:ea typeface="微软雅黑" panose="020B0503020204020204" charset="-122"/>
                <a:cs typeface="+mj-cs"/>
              </a:rPr>
              <a:t>在所有作者中</a:t>
            </a:r>
            <a:endParaRPr lang="en-US" altLang="zh-CN" b="1" dirty="0">
              <a:solidFill>
                <a:srgbClr val="FF0000"/>
              </a:solidFill>
              <a:latin typeface="微软雅黑" panose="020B0503020204020204" charset="-122"/>
              <a:ea typeface="微软雅黑" panose="020B0503020204020204" charset="-122"/>
              <a:cs typeface="+mj-cs"/>
            </a:endParaRPr>
          </a:p>
          <a:p>
            <a:pPr algn="ctr"/>
            <a:r>
              <a:rPr lang="zh-CN" altLang="en-US" b="1" dirty="0">
                <a:solidFill>
                  <a:srgbClr val="0000CC"/>
                </a:solidFill>
                <a:latin typeface="微软雅黑" panose="020B0503020204020204" charset="-122"/>
                <a:ea typeface="微软雅黑" panose="020B0503020204020204" charset="-122"/>
              </a:rPr>
              <a:t>中国研究生：</a:t>
            </a:r>
            <a:r>
              <a:rPr lang="en-US" altLang="zh-CN" b="1" dirty="0">
                <a:solidFill>
                  <a:srgbClr val="0000CC"/>
                </a:solidFill>
                <a:latin typeface="微软雅黑" panose="020B0503020204020204" charset="-122"/>
                <a:ea typeface="微软雅黑" panose="020B0503020204020204" charset="-122"/>
                <a:cs typeface="+mj-cs"/>
              </a:rPr>
              <a:t>9%</a:t>
            </a:r>
            <a:endParaRPr lang="en-US" altLang="zh-CN" b="1" dirty="0">
              <a:solidFill>
                <a:srgbClr val="0000CC"/>
              </a:solidFill>
              <a:latin typeface="微软雅黑" panose="020B0503020204020204" charset="-122"/>
              <a:ea typeface="微软雅黑" panose="020B0503020204020204" charset="-122"/>
              <a:cs typeface="+mj-cs"/>
            </a:endParaRPr>
          </a:p>
          <a:p>
            <a:pPr algn="ctr"/>
            <a:r>
              <a:rPr lang="zh-CN" altLang="en-US" b="1" dirty="0">
                <a:solidFill>
                  <a:srgbClr val="0000CC"/>
                </a:solidFill>
                <a:latin typeface="微软雅黑" panose="020B0503020204020204" charset="-122"/>
                <a:ea typeface="微软雅黑" panose="020B0503020204020204" charset="-122"/>
                <a:cs typeface="+mj-cs"/>
              </a:rPr>
              <a:t>美国研究生：</a:t>
            </a:r>
            <a:r>
              <a:rPr lang="en-US" altLang="zh-CN" b="1" dirty="0">
                <a:solidFill>
                  <a:srgbClr val="0000CC"/>
                </a:solidFill>
                <a:latin typeface="微软雅黑" panose="020B0503020204020204" charset="-122"/>
                <a:ea typeface="微软雅黑" panose="020B0503020204020204" charset="-122"/>
                <a:cs typeface="+mj-cs"/>
              </a:rPr>
              <a:t>52%</a:t>
            </a:r>
            <a:endParaRPr lang="en-US" altLang="zh-CN" b="1" dirty="0">
              <a:solidFill>
                <a:srgbClr val="0000CC"/>
              </a:solidFill>
              <a:latin typeface="微软雅黑" panose="020B0503020204020204" charset="-122"/>
              <a:ea typeface="微软雅黑" panose="020B0503020204020204" charset="-122"/>
              <a:cs typeface="+mj-cs"/>
            </a:endParaRPr>
          </a:p>
          <a:p>
            <a:pPr algn="ctr"/>
            <a:r>
              <a:rPr lang="zh-CN" altLang="en-US" b="1" dirty="0">
                <a:solidFill>
                  <a:srgbClr val="FF0000"/>
                </a:solidFill>
                <a:latin typeface="微软雅黑" panose="020B0503020204020204" charset="-122"/>
                <a:ea typeface="微软雅黑" panose="020B0503020204020204" charset="-122"/>
                <a:cs typeface="+mj-cs"/>
              </a:rPr>
              <a:t>目前有</a:t>
            </a:r>
            <a:r>
              <a:rPr lang="en-US" altLang="zh-CN" b="1" dirty="0">
                <a:solidFill>
                  <a:srgbClr val="FF0000"/>
                </a:solidFill>
                <a:latin typeface="微软雅黑" panose="020B0503020204020204" charset="-122"/>
                <a:ea typeface="微软雅黑" panose="020B0503020204020204" charset="-122"/>
                <a:cs typeface="+mj-cs"/>
              </a:rPr>
              <a:t>53%</a:t>
            </a:r>
            <a:r>
              <a:rPr lang="zh-CN" altLang="en-US" b="1" dirty="0">
                <a:solidFill>
                  <a:srgbClr val="FF0000"/>
                </a:solidFill>
                <a:latin typeface="微软雅黑" panose="020B0503020204020204" charset="-122"/>
                <a:ea typeface="微软雅黑" panose="020B0503020204020204" charset="-122"/>
                <a:cs typeface="+mj-cs"/>
              </a:rPr>
              <a:t>在美国工作</a:t>
            </a:r>
            <a:endParaRPr lang="en-US" altLang="zh-CN" b="1" dirty="0">
              <a:solidFill>
                <a:srgbClr val="FF0000"/>
              </a:solidFill>
              <a:latin typeface="微软雅黑" panose="020B0503020204020204" charset="-122"/>
              <a:ea typeface="微软雅黑" panose="020B0503020204020204" charset="-122"/>
              <a:cs typeface="+mj-cs"/>
            </a:endParaRPr>
          </a:p>
          <a:p>
            <a:pPr algn="ctr"/>
            <a:r>
              <a:rPr lang="zh-CN" altLang="en-US" b="1" dirty="0">
                <a:solidFill>
                  <a:srgbClr val="FF0000"/>
                </a:solidFill>
                <a:latin typeface="微软雅黑" panose="020B0503020204020204" charset="-122"/>
                <a:ea typeface="微软雅黑" panose="020B0503020204020204" charset="-122"/>
                <a:cs typeface="+mj-cs"/>
              </a:rPr>
              <a:t>只有</a:t>
            </a:r>
            <a:r>
              <a:rPr lang="en-US" altLang="zh-CN" b="1" dirty="0">
                <a:solidFill>
                  <a:srgbClr val="FF0000"/>
                </a:solidFill>
                <a:latin typeface="微软雅黑" panose="020B0503020204020204" charset="-122"/>
                <a:ea typeface="微软雅黑" panose="020B0503020204020204" charset="-122"/>
                <a:cs typeface="+mj-cs"/>
              </a:rPr>
              <a:t>10%</a:t>
            </a:r>
            <a:r>
              <a:rPr lang="zh-CN" altLang="en-US" b="1" dirty="0">
                <a:solidFill>
                  <a:srgbClr val="FF0000"/>
                </a:solidFill>
                <a:latin typeface="微软雅黑" panose="020B0503020204020204" charset="-122"/>
                <a:ea typeface="微软雅黑" panose="020B0503020204020204" charset="-122"/>
                <a:cs typeface="+mj-cs"/>
              </a:rPr>
              <a:t>在中国工作</a:t>
            </a:r>
            <a:endParaRPr lang="zh-CN" altLang="en-US" b="1" dirty="0">
              <a:solidFill>
                <a:srgbClr val="FF0000"/>
              </a:solidFill>
              <a:latin typeface="微软雅黑" panose="020B0503020204020204" charset="-122"/>
              <a:ea typeface="微软雅黑" panose="020B0503020204020204" charset="-122"/>
              <a:cs typeface="+mj-cs"/>
            </a:endParaRPr>
          </a:p>
        </p:txBody>
      </p:sp>
      <p:sp>
        <p:nvSpPr>
          <p:cNvPr id="14" name="文本框 13"/>
          <p:cNvSpPr txBox="1"/>
          <p:nvPr/>
        </p:nvSpPr>
        <p:spPr>
          <a:xfrm>
            <a:off x="5588000" y="5250503"/>
            <a:ext cx="4910666" cy="646331"/>
          </a:xfrm>
          <a:prstGeom prst="rect">
            <a:avLst/>
          </a:prstGeom>
          <a:noFill/>
        </p:spPr>
        <p:txBody>
          <a:bodyPr wrap="square" rtlCol="0">
            <a:spAutoFit/>
          </a:bodyPr>
          <a:lstStyle/>
          <a:p>
            <a:pPr algn="ctr"/>
            <a:r>
              <a:rPr lang="zh-CN" altLang="en-US" b="1" dirty="0">
                <a:solidFill>
                  <a:srgbClr val="0000CC"/>
                </a:solidFill>
                <a:latin typeface="微软雅黑" panose="020B0503020204020204" charset="-122"/>
                <a:ea typeface="微软雅黑" panose="020B0503020204020204" charset="-122"/>
                <a:cs typeface="+mj-cs"/>
              </a:rPr>
              <a:t>美国大学研究生院，就像一个水泵</a:t>
            </a:r>
            <a:endParaRPr lang="en-US" altLang="zh-CN" b="1" dirty="0">
              <a:solidFill>
                <a:srgbClr val="0000CC"/>
              </a:solidFill>
              <a:latin typeface="微软雅黑" panose="020B0503020204020204" charset="-122"/>
              <a:ea typeface="微软雅黑" panose="020B0503020204020204" charset="-122"/>
              <a:cs typeface="+mj-cs"/>
            </a:endParaRPr>
          </a:p>
          <a:p>
            <a:pPr algn="ctr"/>
            <a:r>
              <a:rPr lang="zh-CN" altLang="en-US" b="1" dirty="0">
                <a:solidFill>
                  <a:srgbClr val="0000CC"/>
                </a:solidFill>
                <a:latin typeface="微软雅黑" panose="020B0503020204020204" charset="-122"/>
                <a:ea typeface="微软雅黑" panose="020B0503020204020204" charset="-122"/>
                <a:cs typeface="+mj-cs"/>
              </a:rPr>
              <a:t>从世界各国，特别是</a:t>
            </a:r>
            <a:r>
              <a:rPr lang="zh-CN" altLang="en-US" b="1" dirty="0">
                <a:solidFill>
                  <a:srgbClr val="FF0000"/>
                </a:solidFill>
                <a:latin typeface="微软雅黑" panose="020B0503020204020204" charset="-122"/>
                <a:ea typeface="微软雅黑" panose="020B0503020204020204" charset="-122"/>
                <a:cs typeface="+mj-cs"/>
              </a:rPr>
              <a:t>中国</a:t>
            </a:r>
            <a:r>
              <a:rPr lang="zh-CN" altLang="en-US" b="1" dirty="0">
                <a:solidFill>
                  <a:srgbClr val="0000CC"/>
                </a:solidFill>
                <a:latin typeface="微软雅黑" panose="020B0503020204020204" charset="-122"/>
                <a:ea typeface="微软雅黑" panose="020B0503020204020204" charset="-122"/>
                <a:cs typeface="+mj-cs"/>
              </a:rPr>
              <a:t>吸收众多人才</a:t>
            </a:r>
            <a:endParaRPr lang="zh-CN" altLang="en-US" b="1" dirty="0">
              <a:solidFill>
                <a:srgbClr val="0000CC"/>
              </a:solidFill>
              <a:latin typeface="微软雅黑" panose="020B0503020204020204" charset="-122"/>
              <a:ea typeface="微软雅黑" panose="020B0503020204020204" charset="-122"/>
              <a:cs typeface="+mj-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图示 4"/>
          <p:cNvGraphicFramePr/>
          <p:nvPr/>
        </p:nvGraphicFramePr>
        <p:xfrm>
          <a:off x="2022764" y="378692"/>
          <a:ext cx="8174181" cy="5828145"/>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6" name="文本框 5"/>
          <p:cNvSpPr txBox="1"/>
          <p:nvPr/>
        </p:nvSpPr>
        <p:spPr>
          <a:xfrm>
            <a:off x="4248727" y="4867567"/>
            <a:ext cx="3537528" cy="923330"/>
          </a:xfrm>
          <a:prstGeom prst="rect">
            <a:avLst/>
          </a:prstGeom>
          <a:noFill/>
        </p:spPr>
        <p:txBody>
          <a:bodyPr wrap="square" rtlCol="0">
            <a:spAutoFit/>
          </a:bodyPr>
          <a:lstStyle/>
          <a:p>
            <a:pPr algn="ctr"/>
            <a:r>
              <a:rPr lang="zh-CN" altLang="en-US" sz="5400" b="1" dirty="0">
                <a:solidFill>
                  <a:srgbClr val="0000FF"/>
                </a:solidFill>
                <a:latin typeface="华文琥珀" panose="02010800040101010101" pitchFamily="2" charset="-122"/>
                <a:ea typeface="华文琥珀" panose="02010800040101010101" pitchFamily="2" charset="-122"/>
              </a:rPr>
              <a:t>教育</a:t>
            </a:r>
            <a:endParaRPr lang="zh-CN" altLang="en-US" sz="5400" b="1" dirty="0">
              <a:solidFill>
                <a:srgbClr val="0000FF"/>
              </a:solidFill>
              <a:latin typeface="华文琥珀" panose="02010800040101010101" pitchFamily="2" charset="-122"/>
              <a:ea typeface="华文琥珀" panose="02010800040101010101" pitchFamily="2"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3121794" y="798899"/>
            <a:ext cx="5775158" cy="5255393"/>
          </a:xfrm>
          <a:prstGeom prst="roundRect">
            <a:avLst>
              <a:gd name="adj" fmla="val 10000"/>
            </a:avLst>
          </a:prstGeom>
          <a:blipFill>
            <a:blip r:embed="rId1" cstate="print">
              <a:extLst>
                <a:ext uri="{28A0092B-C50C-407E-A947-70E740481C1C}">
                  <a14:useLocalDpi xmlns:a14="http://schemas.microsoft.com/office/drawing/2010/main" val="0"/>
                </a:ext>
              </a:extLst>
            </a:blip>
            <a:srcRect/>
            <a:stretch>
              <a:fillRect t="-3000" b="-3000"/>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6"/>
          <p:cNvSpPr>
            <a:spLocks noGrp="1"/>
          </p:cNvSpPr>
          <p:nvPr>
            <p:ph idx="1"/>
          </p:nvPr>
        </p:nvSpPr>
        <p:spPr>
          <a:xfrm>
            <a:off x="1631950" y="115889"/>
            <a:ext cx="8928100" cy="3817937"/>
          </a:xfrm>
        </p:spPr>
        <p:txBody>
          <a:bodyPr>
            <a:normAutofit fontScale="92500" lnSpcReduction="10000"/>
          </a:bodyPr>
          <a:lstStyle/>
          <a:p>
            <a:pPr marL="0" indent="0">
              <a:buNone/>
              <a:defRPr/>
            </a:pPr>
            <a:r>
              <a:rPr lang="en-US" altLang="zh-CN" sz="2800" b="1" dirty="0">
                <a:latin typeface="+mj-lt"/>
                <a:ea typeface="黑体" panose="02010609060101010101" charset="-122"/>
              </a:rPr>
              <a:t>Remember to look up at the stars and not down at your feet. Be curious and however difficult life may seem, there is always something you can do and succeed at.</a:t>
            </a:r>
            <a:endParaRPr lang="en-US" altLang="zh-CN" sz="2800" b="1" dirty="0">
              <a:latin typeface="+mj-lt"/>
              <a:ea typeface="黑体" panose="02010609060101010101" charset="-122"/>
            </a:endParaRPr>
          </a:p>
          <a:p>
            <a:pPr marL="0" indent="0">
              <a:buNone/>
              <a:defRPr/>
            </a:pPr>
            <a:r>
              <a:rPr lang="zh-CN" altLang="en-US" sz="2800" b="1" dirty="0">
                <a:latin typeface="+mj-lt"/>
                <a:ea typeface="黑体" panose="02010609060101010101" charset="-122"/>
              </a:rPr>
              <a:t>      记住要仰望星空，不要低头看脚下。无论生活如何艰难，请保持一颗</a:t>
            </a:r>
            <a:r>
              <a:rPr lang="zh-CN" altLang="en-US" sz="2800" b="1" dirty="0">
                <a:solidFill>
                  <a:srgbClr val="FF0000"/>
                </a:solidFill>
                <a:latin typeface="+mj-lt"/>
                <a:ea typeface="黑体" panose="02010609060101010101" charset="-122"/>
              </a:rPr>
              <a:t>好奇心</a:t>
            </a:r>
            <a:r>
              <a:rPr lang="zh-CN" altLang="en-US" sz="2800" b="1" dirty="0">
                <a:latin typeface="+mj-lt"/>
                <a:ea typeface="黑体" panose="02010609060101010101" charset="-122"/>
              </a:rPr>
              <a:t>。你总会找到自己的路和属于你的成功。                                        </a:t>
            </a:r>
            <a:r>
              <a:rPr lang="en-US" altLang="zh-CN" sz="2800" b="1" dirty="0">
                <a:latin typeface="+mj-lt"/>
                <a:ea typeface="黑体" panose="02010609060101010101" charset="-122"/>
              </a:rPr>
              <a:t>—— </a:t>
            </a:r>
            <a:r>
              <a:rPr lang="zh-CN" altLang="en-US" sz="2800" b="1" dirty="0">
                <a:latin typeface="+mj-lt"/>
                <a:ea typeface="黑体" panose="02010609060101010101" charset="-122"/>
              </a:rPr>
              <a:t>斯蒂芬</a:t>
            </a:r>
            <a:r>
              <a:rPr lang="en-US" altLang="zh-CN" sz="2800" b="1" dirty="0">
                <a:latin typeface="+mj-lt"/>
                <a:ea typeface="黑体" panose="02010609060101010101" charset="-122"/>
              </a:rPr>
              <a:t>·</a:t>
            </a:r>
            <a:r>
              <a:rPr lang="zh-CN" altLang="en-US" sz="2800" b="1" dirty="0">
                <a:latin typeface="+mj-lt"/>
                <a:ea typeface="黑体" panose="02010609060101010101" charset="-122"/>
              </a:rPr>
              <a:t>霍金</a:t>
            </a:r>
            <a:endParaRPr lang="zh-CN" altLang="en-US" sz="2800" b="1" dirty="0">
              <a:latin typeface="+mj-lt"/>
              <a:ea typeface="黑体" panose="02010609060101010101" charset="-122"/>
            </a:endParaRPr>
          </a:p>
        </p:txBody>
      </p:sp>
      <p:pic>
        <p:nvPicPr>
          <p:cNvPr id="9219" name="图片 7"/>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711450" y="3429000"/>
            <a:ext cx="6675438" cy="3284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640490" y="333375"/>
            <a:ext cx="1988617" cy="2804461"/>
          </a:xfrm>
          <a:prstGeom prst="rect">
            <a:avLst/>
          </a:prstGeom>
        </p:spPr>
      </p:pic>
      <p:sp>
        <p:nvSpPr>
          <p:cNvPr id="7" name="棱台 6"/>
          <p:cNvSpPr/>
          <p:nvPr/>
        </p:nvSpPr>
        <p:spPr>
          <a:xfrm>
            <a:off x="3737812" y="347337"/>
            <a:ext cx="6782601" cy="2790499"/>
          </a:xfrm>
          <a:prstGeom prst="bevel">
            <a:avLst/>
          </a:prstGeom>
          <a:solidFill>
            <a:srgbClr val="CCFFCC"/>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4189484" y="664418"/>
            <a:ext cx="6057900" cy="2062103"/>
          </a:xfrm>
          <a:prstGeom prst="rect">
            <a:avLst/>
          </a:prstGeom>
        </p:spPr>
        <p:txBody>
          <a:bodyPr wrap="square">
            <a:spAutoFit/>
          </a:bodyPr>
          <a:lstStyle/>
          <a:p>
            <a:r>
              <a:rPr lang="zh-CN" altLang="en-US" sz="3200" b="1" dirty="0">
                <a:solidFill>
                  <a:srgbClr val="0000FF"/>
                </a:solidFill>
                <a:latin typeface="黑体" panose="02010609060101010101" charset="-122"/>
                <a:ea typeface="黑体" panose="02010609060101010101" charset="-122"/>
              </a:rPr>
              <a:t>公忠坚毅，天下己任的爱国精神</a:t>
            </a:r>
            <a:endParaRPr lang="zh-CN" altLang="en-US" sz="3200" b="1" dirty="0">
              <a:solidFill>
                <a:srgbClr val="0000FF"/>
              </a:solidFill>
              <a:latin typeface="黑体" panose="02010609060101010101" charset="-122"/>
              <a:ea typeface="黑体" panose="02010609060101010101" charset="-122"/>
            </a:endParaRPr>
          </a:p>
          <a:p>
            <a:r>
              <a:rPr lang="zh-CN" altLang="en-US" sz="3200" b="1" dirty="0">
                <a:solidFill>
                  <a:srgbClr val="0000FF"/>
                </a:solidFill>
                <a:latin typeface="黑体" panose="02010609060101010101" charset="-122"/>
                <a:ea typeface="黑体" panose="02010609060101010101" charset="-122"/>
              </a:rPr>
              <a:t>只问是非，不计利害的科学精神</a:t>
            </a:r>
            <a:endParaRPr lang="zh-CN" altLang="en-US" sz="3200" b="1" dirty="0">
              <a:solidFill>
                <a:srgbClr val="0000FF"/>
              </a:solidFill>
              <a:latin typeface="黑体" panose="02010609060101010101" charset="-122"/>
              <a:ea typeface="黑体" panose="02010609060101010101" charset="-122"/>
            </a:endParaRPr>
          </a:p>
          <a:p>
            <a:r>
              <a:rPr lang="zh-CN" altLang="en-US" sz="3200" b="1" dirty="0">
                <a:solidFill>
                  <a:srgbClr val="0000FF"/>
                </a:solidFill>
                <a:latin typeface="黑体" panose="02010609060101010101" charset="-122"/>
                <a:ea typeface="黑体" panose="02010609060101010101" charset="-122"/>
              </a:rPr>
              <a:t>大不自多，海纳江河的开放精神</a:t>
            </a:r>
            <a:endParaRPr lang="zh-CN" altLang="en-US" sz="3200" b="1" dirty="0">
              <a:solidFill>
                <a:srgbClr val="0000FF"/>
              </a:solidFill>
              <a:latin typeface="黑体" panose="02010609060101010101" charset="-122"/>
              <a:ea typeface="黑体" panose="02010609060101010101" charset="-122"/>
            </a:endParaRPr>
          </a:p>
          <a:p>
            <a:r>
              <a:rPr lang="zh-CN" altLang="en-US" sz="3200" b="1" dirty="0">
                <a:solidFill>
                  <a:srgbClr val="0000FF"/>
                </a:solidFill>
                <a:latin typeface="黑体" panose="02010609060101010101" charset="-122"/>
                <a:ea typeface="黑体" panose="02010609060101010101" charset="-122"/>
              </a:rPr>
              <a:t>自强不息、永不气馁的奋斗精神</a:t>
            </a:r>
            <a:endParaRPr lang="zh-CN" altLang="en-US" sz="3200" b="1" dirty="0">
              <a:solidFill>
                <a:srgbClr val="0000FF"/>
              </a:solidFill>
              <a:latin typeface="黑体" panose="02010609060101010101" charset="-122"/>
              <a:ea typeface="黑体" panose="02010609060101010101" charset="-122"/>
            </a:endParaRPr>
          </a:p>
        </p:txBody>
      </p:sp>
      <p:sp>
        <p:nvSpPr>
          <p:cNvPr id="10" name="矩形 9"/>
          <p:cNvSpPr/>
          <p:nvPr/>
        </p:nvSpPr>
        <p:spPr>
          <a:xfrm>
            <a:off x="2457676" y="3862485"/>
            <a:ext cx="7196819" cy="1569660"/>
          </a:xfrm>
          <a:prstGeom prst="rect">
            <a:avLst/>
          </a:prstGeom>
          <a:solidFill>
            <a:srgbClr val="CCECFF"/>
          </a:solidFill>
          <a:ln w="38100">
            <a:solidFill>
              <a:srgbClr val="0000FF"/>
            </a:solidFill>
          </a:ln>
        </p:spPr>
        <p:txBody>
          <a:bodyPr wrap="square">
            <a:spAutoFit/>
          </a:bodyPr>
          <a:lstStyle/>
          <a:p>
            <a:pPr algn="ctr"/>
            <a:r>
              <a:rPr lang="zh-CN" altLang="en-US" sz="3200" b="1" dirty="0">
                <a:solidFill>
                  <a:srgbClr val="FF0000"/>
                </a:solidFill>
                <a:latin typeface="黑体" panose="02010609060101010101" charset="-122"/>
                <a:ea typeface="黑体" panose="02010609060101010101" charset="-122"/>
              </a:rPr>
              <a:t>“诸位在校，有两个问题应该自己问问，第一，到浙大来做什么？</a:t>
            </a:r>
            <a:endParaRPr lang="en-US" altLang="zh-CN" sz="3200" b="1" dirty="0">
              <a:solidFill>
                <a:srgbClr val="FF0000"/>
              </a:solidFill>
              <a:latin typeface="黑体" panose="02010609060101010101" charset="-122"/>
              <a:ea typeface="黑体" panose="02010609060101010101" charset="-122"/>
            </a:endParaRPr>
          </a:p>
          <a:p>
            <a:pPr algn="ctr"/>
            <a:r>
              <a:rPr lang="zh-CN" altLang="en-US" sz="3200" b="1" dirty="0">
                <a:solidFill>
                  <a:srgbClr val="FF0000"/>
                </a:solidFill>
                <a:latin typeface="黑体" panose="02010609060101010101" charset="-122"/>
                <a:ea typeface="黑体" panose="02010609060101010101" charset="-122"/>
              </a:rPr>
              <a:t>第二，将来毕业后做什么样的人？”</a:t>
            </a:r>
            <a:endParaRPr lang="zh-CN" altLang="en-US" sz="3200" b="1" dirty="0">
              <a:solidFill>
                <a:srgbClr val="FF0000"/>
              </a:solidFill>
              <a:latin typeface="黑体" panose="02010609060101010101" charset="-122"/>
              <a:ea typeface="黑体" panose="02010609060101010101"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757055" y="6050078"/>
            <a:ext cx="6493164" cy="646331"/>
          </a:xfrm>
          <a:prstGeom prst="rect">
            <a:avLst/>
          </a:prstGeom>
          <a:noFill/>
        </p:spPr>
        <p:txBody>
          <a:bodyPr wrap="square" rtlCol="0">
            <a:spAutoFit/>
          </a:bodyPr>
          <a:lstStyle/>
          <a:p>
            <a:pPr algn="ctr"/>
            <a:r>
              <a:rPr lang="zh-CN" altLang="en-US" sz="3600" b="1" dirty="0">
                <a:solidFill>
                  <a:srgbClr val="0000FF"/>
                </a:solidFill>
                <a:latin typeface="华文琥珀" panose="02010800040101010101" pitchFamily="2" charset="-122"/>
                <a:ea typeface="华文琥珀" panose="02010800040101010101" pitchFamily="2" charset="-122"/>
              </a:rPr>
              <a:t>博学</a:t>
            </a:r>
            <a:r>
              <a:rPr lang="en-US" altLang="zh-CN" sz="3600" b="1" dirty="0">
                <a:solidFill>
                  <a:srgbClr val="0000FF"/>
                </a:solidFill>
                <a:latin typeface="华文琥珀" panose="02010800040101010101" pitchFamily="2" charset="-122"/>
                <a:ea typeface="华文琥珀" panose="02010800040101010101" pitchFamily="2" charset="-122"/>
              </a:rPr>
              <a:t>-</a:t>
            </a:r>
            <a:r>
              <a:rPr lang="zh-CN" altLang="en-US" sz="3600" b="1" dirty="0">
                <a:solidFill>
                  <a:srgbClr val="0000FF"/>
                </a:solidFill>
                <a:latin typeface="华文琥珀" panose="02010800040101010101" pitchFamily="2" charset="-122"/>
                <a:ea typeface="华文琥珀" panose="02010800040101010101" pitchFamily="2" charset="-122"/>
              </a:rPr>
              <a:t>审问</a:t>
            </a:r>
            <a:r>
              <a:rPr lang="en-US" altLang="zh-CN" sz="3600" b="1" dirty="0">
                <a:solidFill>
                  <a:srgbClr val="0000FF"/>
                </a:solidFill>
                <a:latin typeface="华文琥珀" panose="02010800040101010101" pitchFamily="2" charset="-122"/>
                <a:ea typeface="华文琥珀" panose="02010800040101010101" pitchFamily="2" charset="-122"/>
              </a:rPr>
              <a:t>-</a:t>
            </a:r>
            <a:r>
              <a:rPr lang="zh-CN" altLang="en-US" sz="3600" b="1" dirty="0">
                <a:solidFill>
                  <a:srgbClr val="0000FF"/>
                </a:solidFill>
                <a:latin typeface="华文琥珀" panose="02010800040101010101" pitchFamily="2" charset="-122"/>
                <a:ea typeface="华文琥珀" panose="02010800040101010101" pitchFamily="2" charset="-122"/>
              </a:rPr>
              <a:t>慎思</a:t>
            </a:r>
            <a:r>
              <a:rPr lang="en-US" altLang="zh-CN" sz="3600" b="1" dirty="0">
                <a:solidFill>
                  <a:srgbClr val="0000FF"/>
                </a:solidFill>
                <a:latin typeface="华文琥珀" panose="02010800040101010101" pitchFamily="2" charset="-122"/>
                <a:ea typeface="华文琥珀" panose="02010800040101010101" pitchFamily="2" charset="-122"/>
              </a:rPr>
              <a:t>-</a:t>
            </a:r>
            <a:r>
              <a:rPr lang="zh-CN" altLang="en-US" sz="3600" b="1" dirty="0">
                <a:solidFill>
                  <a:srgbClr val="0000FF"/>
                </a:solidFill>
                <a:latin typeface="华文琥珀" panose="02010800040101010101" pitchFamily="2" charset="-122"/>
                <a:ea typeface="华文琥珀" panose="02010800040101010101" pitchFamily="2" charset="-122"/>
              </a:rPr>
              <a:t>明辨</a:t>
            </a:r>
            <a:r>
              <a:rPr lang="en-US" altLang="zh-CN" sz="3600" b="1" dirty="0">
                <a:solidFill>
                  <a:srgbClr val="0000FF"/>
                </a:solidFill>
                <a:latin typeface="华文琥珀" panose="02010800040101010101" pitchFamily="2" charset="-122"/>
                <a:ea typeface="华文琥珀" panose="02010800040101010101" pitchFamily="2" charset="-122"/>
              </a:rPr>
              <a:t>-</a:t>
            </a:r>
            <a:r>
              <a:rPr lang="zh-CN" altLang="en-US" sz="3600" b="1" dirty="0">
                <a:solidFill>
                  <a:srgbClr val="0000FF"/>
                </a:solidFill>
                <a:latin typeface="华文琥珀" panose="02010800040101010101" pitchFamily="2" charset="-122"/>
                <a:ea typeface="华文琥珀" panose="02010800040101010101" pitchFamily="2" charset="-122"/>
              </a:rPr>
              <a:t>笃行</a:t>
            </a:r>
            <a:endParaRPr lang="zh-CN" altLang="en-US" sz="3600" b="1" dirty="0">
              <a:solidFill>
                <a:srgbClr val="0000FF"/>
              </a:solidFill>
              <a:latin typeface="华文琥珀" panose="02010800040101010101" pitchFamily="2" charset="-122"/>
              <a:ea typeface="华文琥珀" panose="02010800040101010101" pitchFamily="2" charset="-122"/>
            </a:endParaRPr>
          </a:p>
        </p:txBody>
      </p:sp>
      <p:sp>
        <p:nvSpPr>
          <p:cNvPr id="4" name="文本框 3"/>
          <p:cNvSpPr txBox="1"/>
          <p:nvPr/>
        </p:nvSpPr>
        <p:spPr>
          <a:xfrm>
            <a:off x="6794480" y="4127480"/>
            <a:ext cx="3771792" cy="1477328"/>
          </a:xfrm>
          <a:prstGeom prst="rect">
            <a:avLst/>
          </a:prstGeom>
          <a:noFill/>
        </p:spPr>
        <p:txBody>
          <a:bodyPr wrap="square" rtlCol="0">
            <a:spAutoFit/>
          </a:bodyPr>
          <a:lstStyle/>
          <a:p>
            <a:r>
              <a:rPr lang="zh-CN" altLang="en-US" b="1" dirty="0">
                <a:latin typeface="黑体" panose="02010609060101010101" charset="-122"/>
                <a:ea typeface="黑体" panose="02010609060101010101" charset="-122"/>
              </a:rPr>
              <a:t>研究方向：</a:t>
            </a:r>
            <a:endParaRPr lang="en-US" altLang="zh-CN" b="1" dirty="0">
              <a:latin typeface="黑体" panose="02010609060101010101" charset="-122"/>
              <a:ea typeface="黑体" panose="02010609060101010101" charset="-122"/>
            </a:endParaRPr>
          </a:p>
          <a:p>
            <a:r>
              <a:rPr lang="en-US" altLang="zh-CN" b="1" dirty="0">
                <a:latin typeface="黑体" panose="02010609060101010101" charset="-122"/>
                <a:ea typeface="黑体" panose="02010609060101010101" charset="-122"/>
              </a:rPr>
              <a:t>1</a:t>
            </a:r>
            <a:r>
              <a:rPr lang="zh-CN" altLang="en-US" b="1" dirty="0">
                <a:latin typeface="黑体" panose="02010609060101010101" charset="-122"/>
                <a:ea typeface="黑体" panose="02010609060101010101" charset="-122"/>
              </a:rPr>
              <a:t>、微纳材料制备与传感技术研究； </a:t>
            </a:r>
            <a:r>
              <a:rPr lang="en-US" altLang="zh-CN" b="1" dirty="0">
                <a:latin typeface="黑体" panose="02010609060101010101" charset="-122"/>
                <a:ea typeface="黑体" panose="02010609060101010101" charset="-122"/>
              </a:rPr>
              <a:t>2</a:t>
            </a:r>
            <a:r>
              <a:rPr lang="zh-CN" altLang="en-US" b="1" dirty="0">
                <a:latin typeface="黑体" panose="02010609060101010101" charset="-122"/>
                <a:ea typeface="黑体" panose="02010609060101010101" charset="-122"/>
              </a:rPr>
              <a:t>、分析质谱关键技术与系统开发； </a:t>
            </a:r>
            <a:r>
              <a:rPr lang="en-US" altLang="zh-CN" b="1" dirty="0">
                <a:latin typeface="黑体" panose="02010609060101010101" charset="-122"/>
                <a:ea typeface="黑体" panose="02010609060101010101" charset="-122"/>
              </a:rPr>
              <a:t>3</a:t>
            </a:r>
            <a:r>
              <a:rPr lang="zh-CN" altLang="en-US" b="1" dirty="0">
                <a:latin typeface="黑体" panose="02010609060101010101" charset="-122"/>
                <a:ea typeface="黑体" panose="02010609060101010101" charset="-122"/>
              </a:rPr>
              <a:t>、移动传感技术与智能系统研发； </a:t>
            </a:r>
            <a:r>
              <a:rPr lang="en-US" altLang="zh-CN" b="1" dirty="0">
                <a:latin typeface="黑体" panose="02010609060101010101" charset="-122"/>
                <a:ea typeface="黑体" panose="02010609060101010101" charset="-122"/>
              </a:rPr>
              <a:t>4</a:t>
            </a:r>
            <a:r>
              <a:rPr lang="zh-CN" altLang="en-US" b="1" dirty="0">
                <a:latin typeface="黑体" panose="02010609060101010101" charset="-122"/>
                <a:ea typeface="黑体" panose="02010609060101010101" charset="-122"/>
              </a:rPr>
              <a:t>、传感技术驱动的机器学习研究</a:t>
            </a:r>
            <a:r>
              <a:rPr lang="en-US" altLang="zh-CN" b="1" dirty="0">
                <a:latin typeface="黑体" panose="02010609060101010101" charset="-122"/>
                <a:ea typeface="黑体" panose="02010609060101010101" charset="-122"/>
              </a:rPr>
              <a:t>.</a:t>
            </a:r>
            <a:endParaRPr lang="zh-CN" altLang="en-US" b="1" dirty="0">
              <a:latin typeface="黑体" panose="02010609060101010101" charset="-122"/>
              <a:ea typeface="黑体" panose="02010609060101010101" charset="-122"/>
            </a:endParaRPr>
          </a:p>
        </p:txBody>
      </p:sp>
      <p:grpSp>
        <p:nvGrpSpPr>
          <p:cNvPr id="9" name="组合 8"/>
          <p:cNvGrpSpPr/>
          <p:nvPr/>
        </p:nvGrpSpPr>
        <p:grpSpPr>
          <a:xfrm>
            <a:off x="438313" y="110836"/>
            <a:ext cx="8552873" cy="5874327"/>
            <a:chOff x="110835" y="397163"/>
            <a:chExt cx="8552873" cy="5874327"/>
          </a:xfrm>
        </p:grpSpPr>
        <p:graphicFrame>
          <p:nvGraphicFramePr>
            <p:cNvPr id="10" name="图示 9"/>
            <p:cNvGraphicFramePr/>
            <p:nvPr/>
          </p:nvGraphicFramePr>
          <p:xfrm>
            <a:off x="110835" y="397163"/>
            <a:ext cx="8552873" cy="5874327"/>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pic>
          <p:nvPicPr>
            <p:cNvPr id="11" name="图片 10"/>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108479" y="2184977"/>
              <a:ext cx="2686893" cy="2534805"/>
            </a:xfrm>
            <a:prstGeom prst="rect">
              <a:avLst/>
            </a:prstGeom>
          </p:spPr>
        </p:pic>
        <p:sp>
          <p:nvSpPr>
            <p:cNvPr id="12" name="文本框 11"/>
            <p:cNvSpPr txBox="1"/>
            <p:nvPr/>
          </p:nvSpPr>
          <p:spPr>
            <a:xfrm>
              <a:off x="3371274" y="3020291"/>
              <a:ext cx="2235200" cy="923330"/>
            </a:xfrm>
            <a:prstGeom prst="rect">
              <a:avLst/>
            </a:prstGeom>
            <a:noFill/>
          </p:spPr>
          <p:txBody>
            <a:bodyPr wrap="square" rtlCol="0">
              <a:spAutoFit/>
            </a:bodyPr>
            <a:lstStyle/>
            <a:p>
              <a:r>
                <a:rPr lang="zh-CN" altLang="en-US" sz="5400" dirty="0">
                  <a:latin typeface="华文琥珀" panose="02010800040101010101" pitchFamily="2" charset="-122"/>
                  <a:ea typeface="华文琥珀" panose="02010800040101010101" pitchFamily="2" charset="-122"/>
                </a:rPr>
                <a:t>求    </a:t>
              </a:r>
              <a:r>
                <a:rPr lang="zh-CN" altLang="en-US" sz="5400" dirty="0">
                  <a:solidFill>
                    <a:schemeClr val="bg1"/>
                  </a:solidFill>
                  <a:latin typeface="华文琥珀" panose="02010800040101010101" pitchFamily="2" charset="-122"/>
                  <a:ea typeface="华文琥珀" panose="02010800040101010101" pitchFamily="2" charset="-122"/>
                </a:rPr>
                <a:t>是</a:t>
              </a:r>
              <a:endParaRPr lang="zh-CN" altLang="en-US" sz="5400" dirty="0">
                <a:solidFill>
                  <a:schemeClr val="bg1"/>
                </a:solidFill>
                <a:latin typeface="华文琥珀" panose="02010800040101010101" pitchFamily="2" charset="-122"/>
                <a:ea typeface="华文琥珀" panose="02010800040101010101" pitchFamily="2" charset="-122"/>
              </a:endParaRPr>
            </a:p>
          </p:txBody>
        </p:sp>
      </p:grpSp>
      <p:sp>
        <p:nvSpPr>
          <p:cNvPr id="8" name="文本框 7"/>
          <p:cNvSpPr txBox="1"/>
          <p:nvPr/>
        </p:nvSpPr>
        <p:spPr>
          <a:xfrm>
            <a:off x="7902458" y="421321"/>
            <a:ext cx="2177455" cy="1477328"/>
          </a:xfrm>
          <a:prstGeom prst="rect">
            <a:avLst/>
          </a:prstGeom>
          <a:noFill/>
        </p:spPr>
        <p:txBody>
          <a:bodyPr wrap="square" rtlCol="0">
            <a:spAutoFit/>
          </a:bodyPr>
          <a:lstStyle/>
          <a:p>
            <a:r>
              <a:rPr lang="zh-CN" altLang="en-US" b="1" dirty="0">
                <a:latin typeface="黑体" panose="02010609060101010101" charset="-122"/>
                <a:ea typeface="黑体" panose="02010609060101010101" charset="-122"/>
              </a:rPr>
              <a:t>科学研究：</a:t>
            </a:r>
            <a:endParaRPr lang="en-US" altLang="zh-CN" b="1" dirty="0">
              <a:latin typeface="黑体" panose="02010609060101010101" charset="-122"/>
              <a:ea typeface="黑体" panose="02010609060101010101" charset="-122"/>
            </a:endParaRPr>
          </a:p>
          <a:p>
            <a:r>
              <a:rPr lang="en-US" altLang="zh-CN" b="1" dirty="0">
                <a:latin typeface="黑体" panose="02010609060101010101" charset="-122"/>
                <a:ea typeface="黑体" panose="02010609060101010101" charset="-122"/>
              </a:rPr>
              <a:t>1</a:t>
            </a:r>
            <a:r>
              <a:rPr lang="zh-CN" altLang="en-US" b="1" dirty="0">
                <a:latin typeface="黑体" panose="02010609060101010101" charset="-122"/>
                <a:ea typeface="黑体" panose="02010609060101010101" charset="-122"/>
              </a:rPr>
              <a:t>、为什么做？</a:t>
            </a:r>
            <a:endParaRPr lang="en-US" altLang="zh-CN" b="1" dirty="0">
              <a:latin typeface="黑体" panose="02010609060101010101" charset="-122"/>
              <a:ea typeface="黑体" panose="02010609060101010101" charset="-122"/>
            </a:endParaRPr>
          </a:p>
          <a:p>
            <a:r>
              <a:rPr lang="en-US" altLang="zh-CN" b="1" dirty="0">
                <a:latin typeface="黑体" panose="02010609060101010101" charset="-122"/>
                <a:ea typeface="黑体" panose="02010609060101010101" charset="-122"/>
              </a:rPr>
              <a:t>2</a:t>
            </a:r>
            <a:r>
              <a:rPr lang="zh-CN" altLang="en-US" b="1" dirty="0">
                <a:latin typeface="黑体" panose="02010609060101010101" charset="-122"/>
                <a:ea typeface="黑体" panose="02010609060101010101" charset="-122"/>
              </a:rPr>
              <a:t>、别人怎么做？</a:t>
            </a:r>
            <a:endParaRPr lang="en-US" altLang="zh-CN" b="1" dirty="0">
              <a:latin typeface="黑体" panose="02010609060101010101" charset="-122"/>
              <a:ea typeface="黑体" panose="02010609060101010101" charset="-122"/>
            </a:endParaRPr>
          </a:p>
          <a:p>
            <a:r>
              <a:rPr lang="en-US" altLang="zh-CN" b="1" dirty="0">
                <a:latin typeface="黑体" panose="02010609060101010101" charset="-122"/>
                <a:ea typeface="黑体" panose="02010609060101010101" charset="-122"/>
              </a:rPr>
              <a:t>3</a:t>
            </a:r>
            <a:r>
              <a:rPr lang="zh-CN" altLang="en-US" b="1" dirty="0">
                <a:latin typeface="黑体" panose="02010609060101010101" charset="-122"/>
                <a:ea typeface="黑体" panose="02010609060101010101" charset="-122"/>
              </a:rPr>
              <a:t>、我要如何做？</a:t>
            </a:r>
            <a:endParaRPr lang="en-US" altLang="zh-CN" b="1" dirty="0">
              <a:latin typeface="黑体" panose="02010609060101010101" charset="-122"/>
              <a:ea typeface="黑体" panose="02010609060101010101" charset="-122"/>
            </a:endParaRPr>
          </a:p>
          <a:p>
            <a:r>
              <a:rPr lang="en-US" altLang="zh-CN" b="1" dirty="0">
                <a:latin typeface="黑体" panose="02010609060101010101" charset="-122"/>
                <a:ea typeface="黑体" panose="02010609060101010101" charset="-122"/>
              </a:rPr>
              <a:t>4</a:t>
            </a:r>
            <a:r>
              <a:rPr lang="zh-CN" altLang="en-US" b="1" dirty="0">
                <a:latin typeface="黑体" panose="02010609060101010101" charset="-122"/>
                <a:ea typeface="黑体" panose="02010609060101010101" charset="-122"/>
              </a:rPr>
              <a:t>、做成什么样？</a:t>
            </a:r>
            <a:endParaRPr lang="zh-CN" altLang="en-US" b="1" dirty="0">
              <a:latin typeface="黑体" panose="02010609060101010101" charset="-122"/>
              <a:ea typeface="黑体" panose="02010609060101010101"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38200" y="365125"/>
            <a:ext cx="4685665" cy="1325880"/>
          </a:xfrm>
        </p:spPr>
        <p:txBody>
          <a:bodyPr/>
          <a:lstStyle/>
          <a:p>
            <a:r>
              <a:rPr lang="zh-CN" altLang="en-US" dirty="0"/>
              <a:t>本课程内容</a:t>
            </a:r>
            <a:endParaRPr lang="en-GB" dirty="0"/>
          </a:p>
        </p:txBody>
      </p:sp>
      <p:sp>
        <p:nvSpPr>
          <p:cNvPr id="6" name="Content Placeholder 5"/>
          <p:cNvSpPr>
            <a:spLocks noGrp="1"/>
          </p:cNvSpPr>
          <p:nvPr>
            <p:ph idx="1"/>
          </p:nvPr>
        </p:nvSpPr>
        <p:spPr>
          <a:xfrm>
            <a:off x="838200" y="1764030"/>
            <a:ext cx="4685665" cy="2896870"/>
          </a:xfrm>
        </p:spPr>
        <p:txBody>
          <a:bodyPr/>
          <a:lstStyle/>
          <a:p>
            <a:r>
              <a:rPr lang="zh-CN" altLang="en-US" sz="2000" dirty="0"/>
              <a:t>人工智能与机器学习绪论</a:t>
            </a:r>
            <a:endParaRPr lang="zh-CN" altLang="en-US" sz="2000" dirty="0"/>
          </a:p>
          <a:p>
            <a:r>
              <a:rPr lang="zh-CN" altLang="en-US" sz="2000" b="1" dirty="0">
                <a:solidFill>
                  <a:schemeClr val="accent5">
                    <a:lumMod val="75000"/>
                  </a:schemeClr>
                </a:solidFill>
                <a:sym typeface="+mn-ea"/>
              </a:rPr>
              <a:t>机器学习</a:t>
            </a:r>
            <a:r>
              <a:rPr lang="en-US" altLang="zh-CN" sz="2000" b="1" dirty="0">
                <a:solidFill>
                  <a:schemeClr val="accent5">
                    <a:lumMod val="75000"/>
                  </a:schemeClr>
                </a:solidFill>
                <a:sym typeface="+mn-ea"/>
              </a:rPr>
              <a:t>——</a:t>
            </a:r>
            <a:r>
              <a:rPr lang="zh-CN" altLang="en-US" sz="2000" b="1" dirty="0">
                <a:solidFill>
                  <a:schemeClr val="accent5">
                    <a:lumMod val="75000"/>
                  </a:schemeClr>
                </a:solidFill>
                <a:sym typeface="+mn-ea"/>
              </a:rPr>
              <a:t>概念学习</a:t>
            </a:r>
            <a:endParaRPr lang="zh-CN" altLang="en-US" sz="2000" dirty="0">
              <a:solidFill>
                <a:schemeClr val="accent5">
                  <a:lumMod val="75000"/>
                </a:schemeClr>
              </a:solidFill>
            </a:endParaRPr>
          </a:p>
          <a:p>
            <a:r>
              <a:rPr lang="zh-CN" altLang="en-US" sz="2000" dirty="0"/>
              <a:t>机器学习</a:t>
            </a:r>
            <a:r>
              <a:rPr lang="en-US" altLang="zh-CN" sz="2000" dirty="0"/>
              <a:t>——</a:t>
            </a:r>
            <a:r>
              <a:rPr lang="zh-CN" altLang="en-US" sz="2000" dirty="0"/>
              <a:t>决策树</a:t>
            </a:r>
            <a:endParaRPr lang="zh-CN" altLang="en-US" sz="2000" dirty="0"/>
          </a:p>
          <a:p>
            <a:r>
              <a:rPr lang="zh-CN" altLang="en-US" sz="2000" dirty="0"/>
              <a:t>机器学习</a:t>
            </a:r>
            <a:r>
              <a:rPr lang="en-US" altLang="zh-CN" sz="2000" dirty="0"/>
              <a:t>——</a:t>
            </a:r>
            <a:r>
              <a:rPr lang="zh-CN" altLang="en-US" sz="2000" dirty="0"/>
              <a:t>神经网络</a:t>
            </a:r>
            <a:endParaRPr lang="zh-CN" altLang="en-US" sz="2000" dirty="0"/>
          </a:p>
          <a:p>
            <a:r>
              <a:rPr lang="zh-CN" altLang="en-US" sz="2000" dirty="0">
                <a:sym typeface="+mn-ea"/>
              </a:rPr>
              <a:t>机器学习</a:t>
            </a:r>
            <a:r>
              <a:rPr lang="en-US" altLang="zh-CN" sz="2000" dirty="0">
                <a:sym typeface="+mn-ea"/>
              </a:rPr>
              <a:t>——</a:t>
            </a:r>
            <a:r>
              <a:rPr lang="zh-CN" altLang="en-US" sz="2000" dirty="0">
                <a:sym typeface="+mn-ea"/>
              </a:rPr>
              <a:t>支持向量机</a:t>
            </a:r>
            <a:endParaRPr lang="zh-CN" altLang="en-US" sz="2000" dirty="0">
              <a:sym typeface="+mn-ea"/>
            </a:endParaRPr>
          </a:p>
          <a:p>
            <a:r>
              <a:rPr lang="zh-CN" altLang="en-US" sz="2000" dirty="0">
                <a:sym typeface="+mn-ea"/>
              </a:rPr>
              <a:t>机器学习</a:t>
            </a:r>
            <a:r>
              <a:rPr lang="en-US" altLang="zh-CN" sz="2000" dirty="0">
                <a:sym typeface="+mn-ea"/>
              </a:rPr>
              <a:t>——</a:t>
            </a:r>
            <a:r>
              <a:rPr lang="zh-CN" altLang="en-US" sz="2000" dirty="0">
                <a:sym typeface="+mn-ea"/>
              </a:rPr>
              <a:t>贝叶斯分类器</a:t>
            </a:r>
            <a:endParaRPr lang="zh-CN" altLang="en-US" sz="2000" dirty="0">
              <a:sym typeface="+mn-ea"/>
            </a:endParaRPr>
          </a:p>
          <a:p>
            <a:r>
              <a:rPr lang="zh-CN" altLang="en-US" sz="2000" dirty="0">
                <a:sym typeface="+mn-ea"/>
              </a:rPr>
              <a:t>机器学习</a:t>
            </a:r>
            <a:r>
              <a:rPr lang="en-US" altLang="zh-CN" sz="2000" dirty="0">
                <a:sym typeface="+mn-ea"/>
              </a:rPr>
              <a:t>——</a:t>
            </a:r>
            <a:r>
              <a:rPr lang="zh-CN" altLang="en-US" sz="2000" dirty="0">
                <a:sym typeface="+mn-ea"/>
              </a:rPr>
              <a:t>强化学习</a:t>
            </a:r>
            <a:endParaRPr lang="zh-CN" altLang="en-US" sz="2000" dirty="0"/>
          </a:p>
          <a:p>
            <a:endParaRPr lang="zh-CN" altLang="en-US" sz="2000" dirty="0"/>
          </a:p>
          <a:p>
            <a:endParaRPr lang="zh-CN" altLang="en-US" sz="2000" dirty="0"/>
          </a:p>
          <a:p>
            <a:endParaRPr lang="en-GB"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0" y="426070"/>
            <a:ext cx="1473958" cy="573206"/>
            <a:chOff x="0" y="696036"/>
            <a:chExt cx="1473958" cy="573206"/>
          </a:xfrm>
        </p:grpSpPr>
        <p:sp>
          <p:nvSpPr>
            <p:cNvPr id="5" name="矩形 4"/>
            <p:cNvSpPr/>
            <p:nvPr/>
          </p:nvSpPr>
          <p:spPr>
            <a:xfrm>
              <a:off x="0" y="696036"/>
              <a:ext cx="1473958" cy="573206"/>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6" name="文本框 5"/>
            <p:cNvSpPr txBox="1"/>
            <p:nvPr/>
          </p:nvSpPr>
          <p:spPr>
            <a:xfrm>
              <a:off x="69215" y="752551"/>
              <a:ext cx="1404620" cy="460375"/>
            </a:xfrm>
            <a:prstGeom prst="rect">
              <a:avLst/>
            </a:prstGeom>
            <a:noFill/>
          </p:spPr>
          <p:txBody>
            <a:bodyPr wrap="square" rtlCol="0">
              <a:spAutoFit/>
            </a:bodyPr>
            <a:lstStyle/>
            <a:p>
              <a:pPr algn="r"/>
              <a:r>
                <a:rPr lang="zh-CN" altLang="en-US" sz="2400" dirty="0">
                  <a:solidFill>
                    <a:schemeClr val="bg1"/>
                  </a:solidFill>
                </a:rPr>
                <a:t>本节内容</a:t>
              </a:r>
              <a:endParaRPr lang="zh-CN" altLang="en-US" sz="2400" dirty="0">
                <a:solidFill>
                  <a:schemeClr val="bg1"/>
                </a:solidFill>
              </a:endParaRPr>
            </a:p>
          </p:txBody>
        </p:sp>
      </p:grpSp>
      <p:sp>
        <p:nvSpPr>
          <p:cNvPr id="7" name="文本框 6"/>
          <p:cNvSpPr txBox="1"/>
          <p:nvPr/>
        </p:nvSpPr>
        <p:spPr>
          <a:xfrm>
            <a:off x="1528549" y="324737"/>
            <a:ext cx="2565779" cy="707886"/>
          </a:xfrm>
          <a:prstGeom prst="rect">
            <a:avLst/>
          </a:prstGeom>
          <a:noFill/>
        </p:spPr>
        <p:txBody>
          <a:bodyPr wrap="square" rtlCol="0">
            <a:spAutoFit/>
          </a:bodyPr>
          <a:lstStyle/>
          <a:p>
            <a:r>
              <a:rPr lang="en-US" altLang="zh-CN" sz="4000" b="1" dirty="0">
                <a:solidFill>
                  <a:schemeClr val="accent1">
                    <a:lumMod val="75000"/>
                  </a:schemeClr>
                </a:solidFill>
              </a:rPr>
              <a:t>C</a:t>
            </a:r>
            <a:r>
              <a:rPr lang="en-US" altLang="zh-CN" sz="2000" b="1" dirty="0">
                <a:solidFill>
                  <a:schemeClr val="accent1">
                    <a:lumMod val="75000"/>
                  </a:schemeClr>
                </a:solidFill>
              </a:rPr>
              <a:t>ONTENT</a:t>
            </a:r>
            <a:endParaRPr lang="zh-CN" altLang="en-US" sz="2000" b="1" dirty="0">
              <a:solidFill>
                <a:schemeClr val="accent1">
                  <a:lumMod val="75000"/>
                </a:schemeClr>
              </a:solidFill>
            </a:endParaRPr>
          </a:p>
        </p:txBody>
      </p:sp>
      <p:cxnSp>
        <p:nvCxnSpPr>
          <p:cNvPr id="8" name="直接连接符 7"/>
          <p:cNvCxnSpPr/>
          <p:nvPr/>
        </p:nvCxnSpPr>
        <p:spPr>
          <a:xfrm>
            <a:off x="3828732" y="1411646"/>
            <a:ext cx="0" cy="4326424"/>
          </a:xfrm>
          <a:prstGeom prst="line">
            <a:avLst/>
          </a:prstGeom>
          <a:ln w="38100"/>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1309207" y="2164617"/>
            <a:ext cx="1920554" cy="1870488"/>
            <a:chOff x="4796805" y="-215900"/>
            <a:chExt cx="2093913" cy="2122488"/>
          </a:xfrm>
          <a:solidFill>
            <a:srgbClr val="0070C0"/>
          </a:solidFill>
        </p:grpSpPr>
        <p:sp>
          <p:nvSpPr>
            <p:cNvPr id="10" name="Freeform 6"/>
            <p:cNvSpPr>
              <a:spLocks noEditPoints="1"/>
            </p:cNvSpPr>
            <p:nvPr/>
          </p:nvSpPr>
          <p:spPr bwMode="auto">
            <a:xfrm>
              <a:off x="4796805" y="-215900"/>
              <a:ext cx="2093913" cy="2122488"/>
            </a:xfrm>
            <a:custGeom>
              <a:avLst/>
              <a:gdLst>
                <a:gd name="T0" fmla="*/ 1391 w 2783"/>
                <a:gd name="T1" fmla="*/ 0 h 2783"/>
                <a:gd name="T2" fmla="*/ 0 w 2783"/>
                <a:gd name="T3" fmla="*/ 1391 h 2783"/>
                <a:gd name="T4" fmla="*/ 1391 w 2783"/>
                <a:gd name="T5" fmla="*/ 2783 h 2783"/>
                <a:gd name="T6" fmla="*/ 2783 w 2783"/>
                <a:gd name="T7" fmla="*/ 1391 h 2783"/>
                <a:gd name="T8" fmla="*/ 1391 w 2783"/>
                <a:gd name="T9" fmla="*/ 0 h 2783"/>
                <a:gd name="T10" fmla="*/ 1391 w 2783"/>
                <a:gd name="T11" fmla="*/ 55 h 2783"/>
                <a:gd name="T12" fmla="*/ 55 w 2783"/>
                <a:gd name="T13" fmla="*/ 1391 h 2783"/>
                <a:gd name="T14" fmla="*/ 1391 w 2783"/>
                <a:gd name="T15" fmla="*/ 2728 h 2783"/>
                <a:gd name="T16" fmla="*/ 2728 w 2783"/>
                <a:gd name="T17" fmla="*/ 1391 h 2783"/>
                <a:gd name="T18" fmla="*/ 1391 w 2783"/>
                <a:gd name="T19" fmla="*/ 55 h 27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83" h="2783">
                  <a:moveTo>
                    <a:pt x="1391" y="0"/>
                  </a:moveTo>
                  <a:cubicBezTo>
                    <a:pt x="623" y="0"/>
                    <a:pt x="0" y="623"/>
                    <a:pt x="0" y="1391"/>
                  </a:cubicBezTo>
                  <a:cubicBezTo>
                    <a:pt x="0" y="2160"/>
                    <a:pt x="623" y="2783"/>
                    <a:pt x="1391" y="2783"/>
                  </a:cubicBezTo>
                  <a:cubicBezTo>
                    <a:pt x="2160" y="2783"/>
                    <a:pt x="2783" y="2160"/>
                    <a:pt x="2783" y="1391"/>
                  </a:cubicBezTo>
                  <a:cubicBezTo>
                    <a:pt x="2783" y="623"/>
                    <a:pt x="2160" y="0"/>
                    <a:pt x="1391" y="0"/>
                  </a:cubicBezTo>
                  <a:close/>
                  <a:moveTo>
                    <a:pt x="1391" y="55"/>
                  </a:moveTo>
                  <a:cubicBezTo>
                    <a:pt x="654" y="55"/>
                    <a:pt x="55" y="654"/>
                    <a:pt x="55" y="1391"/>
                  </a:cubicBezTo>
                  <a:cubicBezTo>
                    <a:pt x="55" y="2129"/>
                    <a:pt x="654" y="2728"/>
                    <a:pt x="1391" y="2728"/>
                  </a:cubicBezTo>
                  <a:cubicBezTo>
                    <a:pt x="2129" y="2728"/>
                    <a:pt x="2728" y="2129"/>
                    <a:pt x="2728" y="1391"/>
                  </a:cubicBezTo>
                  <a:cubicBezTo>
                    <a:pt x="2728" y="654"/>
                    <a:pt x="2129" y="55"/>
                    <a:pt x="1391" y="55"/>
                  </a:cubicBezTo>
                  <a:close/>
                </a:path>
              </a:pathLst>
            </a:custGeom>
            <a:grpFill/>
            <a:ln>
              <a:solidFill>
                <a:srgbClr val="002060"/>
              </a:solidFill>
            </a:ln>
          </p:spPr>
          <p:txBody>
            <a:bodyPr vert="horz" wrap="square" lIns="91440" tIns="45720" rIns="91440" bIns="45720" numCol="1" anchor="t" anchorCtr="0" compatLnSpc="1"/>
            <a:lstStyle/>
            <a:p>
              <a:endParaRPr lang="zh-CN" altLang="en-US" dirty="0">
                <a:solidFill>
                  <a:srgbClr val="21A3D0"/>
                </a:solidFill>
              </a:endParaRPr>
            </a:p>
          </p:txBody>
        </p:sp>
        <p:sp>
          <p:nvSpPr>
            <p:cNvPr id="11" name="Freeform 7"/>
            <p:cNvSpPr>
              <a:spLocks noEditPoints="1"/>
            </p:cNvSpPr>
            <p:nvPr/>
          </p:nvSpPr>
          <p:spPr bwMode="auto">
            <a:xfrm>
              <a:off x="5168280" y="0"/>
              <a:ext cx="1360488" cy="1641475"/>
            </a:xfrm>
            <a:custGeom>
              <a:avLst/>
              <a:gdLst>
                <a:gd name="T0" fmla="*/ 870 w 1809"/>
                <a:gd name="T1" fmla="*/ 879 h 2152"/>
                <a:gd name="T2" fmla="*/ 870 w 1809"/>
                <a:gd name="T3" fmla="*/ 2152 h 2152"/>
                <a:gd name="T4" fmla="*/ 1809 w 1809"/>
                <a:gd name="T5" fmla="*/ 1820 h 2152"/>
                <a:gd name="T6" fmla="*/ 1809 w 1809"/>
                <a:gd name="T7" fmla="*/ 547 h 2152"/>
                <a:gd name="T8" fmla="*/ 870 w 1809"/>
                <a:gd name="T9" fmla="*/ 879 h 2152"/>
                <a:gd name="T10" fmla="*/ 785 w 1809"/>
                <a:gd name="T11" fmla="*/ 961 h 2152"/>
                <a:gd name="T12" fmla="*/ 785 w 1809"/>
                <a:gd name="T13" fmla="*/ 1138 h 2152"/>
                <a:gd name="T14" fmla="*/ 613 w 1809"/>
                <a:gd name="T15" fmla="*/ 1053 h 2152"/>
                <a:gd name="T16" fmla="*/ 613 w 1809"/>
                <a:gd name="T17" fmla="*/ 864 h 2152"/>
                <a:gd name="T18" fmla="*/ 785 w 1809"/>
                <a:gd name="T19" fmla="*/ 961 h 2152"/>
                <a:gd name="T20" fmla="*/ 1555 w 1809"/>
                <a:gd name="T21" fmla="*/ 410 h 2152"/>
                <a:gd name="T22" fmla="*/ 1507 w 1809"/>
                <a:gd name="T23" fmla="*/ 386 h 2152"/>
                <a:gd name="T24" fmla="*/ 602 w 1809"/>
                <a:gd name="T25" fmla="*/ 700 h 2152"/>
                <a:gd name="T26" fmla="*/ 576 w 1809"/>
                <a:gd name="T27" fmla="*/ 724 h 2152"/>
                <a:gd name="T28" fmla="*/ 576 w 1809"/>
                <a:gd name="T29" fmla="*/ 2017 h 2152"/>
                <a:gd name="T30" fmla="*/ 822 w 1809"/>
                <a:gd name="T31" fmla="*/ 2149 h 2152"/>
                <a:gd name="T32" fmla="*/ 822 w 1809"/>
                <a:gd name="T33" fmla="*/ 879 h 2152"/>
                <a:gd name="T34" fmla="*/ 622 w 1809"/>
                <a:gd name="T35" fmla="*/ 772 h 2152"/>
                <a:gd name="T36" fmla="*/ 625 w 1809"/>
                <a:gd name="T37" fmla="*/ 772 h 2152"/>
                <a:gd name="T38" fmla="*/ 1531 w 1809"/>
                <a:gd name="T39" fmla="*/ 457 h 2152"/>
                <a:gd name="T40" fmla="*/ 1555 w 1809"/>
                <a:gd name="T41" fmla="*/ 410 h 2152"/>
                <a:gd name="T42" fmla="*/ 209 w 1809"/>
                <a:gd name="T43" fmla="*/ 581 h 2152"/>
                <a:gd name="T44" fmla="*/ 209 w 1809"/>
                <a:gd name="T45" fmla="*/ 758 h 2152"/>
                <a:gd name="T46" fmla="*/ 37 w 1809"/>
                <a:gd name="T47" fmla="*/ 673 h 2152"/>
                <a:gd name="T48" fmla="*/ 37 w 1809"/>
                <a:gd name="T49" fmla="*/ 484 h 2152"/>
                <a:gd name="T50" fmla="*/ 209 w 1809"/>
                <a:gd name="T51" fmla="*/ 581 h 2152"/>
                <a:gd name="T52" fmla="*/ 978 w 1809"/>
                <a:gd name="T53" fmla="*/ 30 h 2152"/>
                <a:gd name="T54" fmla="*/ 931 w 1809"/>
                <a:gd name="T55" fmla="*/ 6 h 2152"/>
                <a:gd name="T56" fmla="*/ 25 w 1809"/>
                <a:gd name="T57" fmla="*/ 321 h 2152"/>
                <a:gd name="T58" fmla="*/ 0 w 1809"/>
                <a:gd name="T59" fmla="*/ 344 h 2152"/>
                <a:gd name="T60" fmla="*/ 0 w 1809"/>
                <a:gd name="T61" fmla="*/ 1638 h 2152"/>
                <a:gd name="T62" fmla="*/ 246 w 1809"/>
                <a:gd name="T63" fmla="*/ 1770 h 2152"/>
                <a:gd name="T64" fmla="*/ 246 w 1809"/>
                <a:gd name="T65" fmla="*/ 500 h 2152"/>
                <a:gd name="T66" fmla="*/ 46 w 1809"/>
                <a:gd name="T67" fmla="*/ 393 h 2152"/>
                <a:gd name="T68" fmla="*/ 49 w 1809"/>
                <a:gd name="T69" fmla="*/ 392 h 2152"/>
                <a:gd name="T70" fmla="*/ 954 w 1809"/>
                <a:gd name="T71" fmla="*/ 77 h 2152"/>
                <a:gd name="T72" fmla="*/ 978 w 1809"/>
                <a:gd name="T73" fmla="*/ 30 h 2152"/>
                <a:gd name="T74" fmla="*/ 497 w 1809"/>
                <a:gd name="T75" fmla="*/ 781 h 2152"/>
                <a:gd name="T76" fmla="*/ 497 w 1809"/>
                <a:gd name="T77" fmla="*/ 958 h 2152"/>
                <a:gd name="T78" fmla="*/ 325 w 1809"/>
                <a:gd name="T79" fmla="*/ 873 h 2152"/>
                <a:gd name="T80" fmla="*/ 325 w 1809"/>
                <a:gd name="T81" fmla="*/ 684 h 2152"/>
                <a:gd name="T82" fmla="*/ 497 w 1809"/>
                <a:gd name="T83" fmla="*/ 781 h 2152"/>
                <a:gd name="T84" fmla="*/ 1266 w 1809"/>
                <a:gd name="T85" fmla="*/ 230 h 2152"/>
                <a:gd name="T86" fmla="*/ 1219 w 1809"/>
                <a:gd name="T87" fmla="*/ 206 h 2152"/>
                <a:gd name="T88" fmla="*/ 313 w 1809"/>
                <a:gd name="T89" fmla="*/ 520 h 2152"/>
                <a:gd name="T90" fmla="*/ 288 w 1809"/>
                <a:gd name="T91" fmla="*/ 544 h 2152"/>
                <a:gd name="T92" fmla="*/ 288 w 1809"/>
                <a:gd name="T93" fmla="*/ 1837 h 2152"/>
                <a:gd name="T94" fmla="*/ 534 w 1809"/>
                <a:gd name="T95" fmla="*/ 1969 h 2152"/>
                <a:gd name="T96" fmla="*/ 534 w 1809"/>
                <a:gd name="T97" fmla="*/ 699 h 2152"/>
                <a:gd name="T98" fmla="*/ 334 w 1809"/>
                <a:gd name="T99" fmla="*/ 592 h 2152"/>
                <a:gd name="T100" fmla="*/ 337 w 1809"/>
                <a:gd name="T101" fmla="*/ 592 h 2152"/>
                <a:gd name="T102" fmla="*/ 1243 w 1809"/>
                <a:gd name="T103" fmla="*/ 277 h 2152"/>
                <a:gd name="T104" fmla="*/ 1266 w 1809"/>
                <a:gd name="T105" fmla="*/ 230 h 2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809" h="2152">
                  <a:moveTo>
                    <a:pt x="870" y="879"/>
                  </a:moveTo>
                  <a:lnTo>
                    <a:pt x="870" y="2152"/>
                  </a:lnTo>
                  <a:lnTo>
                    <a:pt x="1809" y="1820"/>
                  </a:lnTo>
                  <a:lnTo>
                    <a:pt x="1809" y="547"/>
                  </a:lnTo>
                  <a:lnTo>
                    <a:pt x="870" y="879"/>
                  </a:lnTo>
                  <a:close/>
                  <a:moveTo>
                    <a:pt x="785" y="961"/>
                  </a:moveTo>
                  <a:lnTo>
                    <a:pt x="785" y="1138"/>
                  </a:lnTo>
                  <a:cubicBezTo>
                    <a:pt x="699" y="1121"/>
                    <a:pt x="613" y="1053"/>
                    <a:pt x="613" y="1053"/>
                  </a:cubicBezTo>
                  <a:lnTo>
                    <a:pt x="613" y="864"/>
                  </a:lnTo>
                  <a:cubicBezTo>
                    <a:pt x="719" y="950"/>
                    <a:pt x="785" y="961"/>
                    <a:pt x="785" y="961"/>
                  </a:cubicBezTo>
                  <a:close/>
                  <a:moveTo>
                    <a:pt x="1555" y="410"/>
                  </a:moveTo>
                  <a:cubicBezTo>
                    <a:pt x="1548" y="390"/>
                    <a:pt x="1527" y="379"/>
                    <a:pt x="1507" y="386"/>
                  </a:cubicBezTo>
                  <a:lnTo>
                    <a:pt x="602" y="700"/>
                  </a:lnTo>
                  <a:cubicBezTo>
                    <a:pt x="590" y="704"/>
                    <a:pt x="580" y="713"/>
                    <a:pt x="576" y="724"/>
                  </a:cubicBezTo>
                  <a:lnTo>
                    <a:pt x="576" y="2017"/>
                  </a:lnTo>
                  <a:cubicBezTo>
                    <a:pt x="608" y="2080"/>
                    <a:pt x="741" y="2149"/>
                    <a:pt x="822" y="2149"/>
                  </a:cubicBezTo>
                  <a:lnTo>
                    <a:pt x="822" y="879"/>
                  </a:lnTo>
                  <a:cubicBezTo>
                    <a:pt x="779" y="873"/>
                    <a:pt x="682" y="822"/>
                    <a:pt x="622" y="772"/>
                  </a:cubicBezTo>
                  <a:cubicBezTo>
                    <a:pt x="623" y="772"/>
                    <a:pt x="624" y="772"/>
                    <a:pt x="625" y="772"/>
                  </a:cubicBezTo>
                  <a:lnTo>
                    <a:pt x="1531" y="457"/>
                  </a:lnTo>
                  <a:cubicBezTo>
                    <a:pt x="1550" y="450"/>
                    <a:pt x="1561" y="429"/>
                    <a:pt x="1555" y="410"/>
                  </a:cubicBezTo>
                  <a:close/>
                  <a:moveTo>
                    <a:pt x="209" y="581"/>
                  </a:moveTo>
                  <a:lnTo>
                    <a:pt x="209" y="758"/>
                  </a:lnTo>
                  <a:cubicBezTo>
                    <a:pt x="123" y="742"/>
                    <a:pt x="37" y="673"/>
                    <a:pt x="37" y="673"/>
                  </a:cubicBezTo>
                  <a:lnTo>
                    <a:pt x="37" y="484"/>
                  </a:lnTo>
                  <a:cubicBezTo>
                    <a:pt x="143" y="570"/>
                    <a:pt x="209" y="581"/>
                    <a:pt x="209" y="581"/>
                  </a:cubicBezTo>
                  <a:close/>
                  <a:moveTo>
                    <a:pt x="978" y="30"/>
                  </a:moveTo>
                  <a:cubicBezTo>
                    <a:pt x="972" y="11"/>
                    <a:pt x="951" y="0"/>
                    <a:pt x="931" y="6"/>
                  </a:cubicBezTo>
                  <a:lnTo>
                    <a:pt x="25" y="321"/>
                  </a:lnTo>
                  <a:cubicBezTo>
                    <a:pt x="14" y="325"/>
                    <a:pt x="3" y="334"/>
                    <a:pt x="0" y="344"/>
                  </a:cubicBezTo>
                  <a:lnTo>
                    <a:pt x="0" y="1638"/>
                  </a:lnTo>
                  <a:cubicBezTo>
                    <a:pt x="32" y="1700"/>
                    <a:pt x="165" y="1770"/>
                    <a:pt x="246" y="1770"/>
                  </a:cubicBezTo>
                  <a:lnTo>
                    <a:pt x="246" y="500"/>
                  </a:lnTo>
                  <a:cubicBezTo>
                    <a:pt x="203" y="493"/>
                    <a:pt x="106" y="443"/>
                    <a:pt x="46" y="393"/>
                  </a:cubicBezTo>
                  <a:cubicBezTo>
                    <a:pt x="47" y="393"/>
                    <a:pt x="48" y="392"/>
                    <a:pt x="49" y="392"/>
                  </a:cubicBezTo>
                  <a:lnTo>
                    <a:pt x="954" y="77"/>
                  </a:lnTo>
                  <a:cubicBezTo>
                    <a:pt x="974" y="71"/>
                    <a:pt x="985" y="50"/>
                    <a:pt x="978" y="30"/>
                  </a:cubicBezTo>
                  <a:close/>
                  <a:moveTo>
                    <a:pt x="497" y="781"/>
                  </a:moveTo>
                  <a:lnTo>
                    <a:pt x="497" y="958"/>
                  </a:lnTo>
                  <a:cubicBezTo>
                    <a:pt x="411" y="941"/>
                    <a:pt x="325" y="873"/>
                    <a:pt x="325" y="873"/>
                  </a:cubicBezTo>
                  <a:lnTo>
                    <a:pt x="325" y="684"/>
                  </a:lnTo>
                  <a:cubicBezTo>
                    <a:pt x="431" y="770"/>
                    <a:pt x="497" y="781"/>
                    <a:pt x="497" y="781"/>
                  </a:cubicBezTo>
                  <a:close/>
                  <a:moveTo>
                    <a:pt x="1266" y="230"/>
                  </a:moveTo>
                  <a:cubicBezTo>
                    <a:pt x="1260" y="210"/>
                    <a:pt x="1239" y="199"/>
                    <a:pt x="1219" y="206"/>
                  </a:cubicBezTo>
                  <a:lnTo>
                    <a:pt x="313" y="520"/>
                  </a:lnTo>
                  <a:cubicBezTo>
                    <a:pt x="302" y="524"/>
                    <a:pt x="291" y="533"/>
                    <a:pt x="288" y="544"/>
                  </a:cubicBezTo>
                  <a:lnTo>
                    <a:pt x="288" y="1837"/>
                  </a:lnTo>
                  <a:cubicBezTo>
                    <a:pt x="320" y="1900"/>
                    <a:pt x="453" y="1969"/>
                    <a:pt x="534" y="1969"/>
                  </a:cubicBezTo>
                  <a:lnTo>
                    <a:pt x="534" y="699"/>
                  </a:lnTo>
                  <a:cubicBezTo>
                    <a:pt x="491" y="693"/>
                    <a:pt x="394" y="642"/>
                    <a:pt x="334" y="592"/>
                  </a:cubicBezTo>
                  <a:cubicBezTo>
                    <a:pt x="335" y="592"/>
                    <a:pt x="336" y="592"/>
                    <a:pt x="337" y="592"/>
                  </a:cubicBezTo>
                  <a:lnTo>
                    <a:pt x="1243" y="277"/>
                  </a:lnTo>
                  <a:cubicBezTo>
                    <a:pt x="1262" y="270"/>
                    <a:pt x="1273" y="249"/>
                    <a:pt x="1266" y="230"/>
                  </a:cubicBezTo>
                  <a:close/>
                </a:path>
              </a:pathLst>
            </a:custGeom>
            <a:solidFill>
              <a:srgbClr val="002060"/>
            </a:solidFill>
            <a:ln>
              <a:noFill/>
            </a:ln>
          </p:spPr>
          <p:txBody>
            <a:bodyPr vert="horz" wrap="square" lIns="91440" tIns="45720" rIns="91440" bIns="45720" numCol="1" anchor="t" anchorCtr="0" compatLnSpc="1"/>
            <a:lstStyle/>
            <a:p>
              <a:endParaRPr lang="zh-CN" altLang="en-US" dirty="0">
                <a:solidFill>
                  <a:srgbClr val="21A3D0"/>
                </a:solidFill>
              </a:endParaRPr>
            </a:p>
          </p:txBody>
        </p:sp>
      </p:grpSp>
      <p:sp>
        <p:nvSpPr>
          <p:cNvPr id="2" name="文本框 1"/>
          <p:cNvSpPr txBox="1"/>
          <p:nvPr/>
        </p:nvSpPr>
        <p:spPr>
          <a:xfrm>
            <a:off x="4150995" y="1659890"/>
            <a:ext cx="5157470" cy="3538220"/>
          </a:xfrm>
          <a:prstGeom prst="rect">
            <a:avLst/>
          </a:prstGeom>
          <a:noFill/>
        </p:spPr>
        <p:txBody>
          <a:bodyPr wrap="square" rtlCol="0">
            <a:spAutoFit/>
            <a:scene3d>
              <a:camera prst="orthographicFront"/>
              <a:lightRig rig="threePt" dir="t"/>
            </a:scene3d>
          </a:bodyPr>
          <a:lstStyle/>
          <a:p>
            <a:r>
              <a:rPr lang="zh-CN" altLang="en-US" sz="3200" b="1" spc="200" dirty="0">
                <a:solidFill>
                  <a:schemeClr val="accent1"/>
                </a:solidFill>
                <a:uFillTx/>
                <a:latin typeface="宋体" panose="02010600030101010101" pitchFamily="2" charset="-122"/>
                <a:ea typeface="宋体" panose="02010600030101010101" pitchFamily="2" charset="-122"/>
                <a:cs typeface="+mj-cs"/>
              </a:rPr>
              <a:t>什么是概念学习</a:t>
            </a:r>
            <a:endParaRPr lang="zh-CN" altLang="en-US" sz="3200" b="1" spc="200" dirty="0">
              <a:solidFill>
                <a:schemeClr val="accent1"/>
              </a:solidFill>
              <a:uFillTx/>
              <a:latin typeface="宋体" panose="02010600030101010101" pitchFamily="2" charset="-122"/>
              <a:ea typeface="宋体" panose="02010600030101010101" pitchFamily="2" charset="-122"/>
              <a:cs typeface="+mj-cs"/>
            </a:endParaRPr>
          </a:p>
          <a:p>
            <a:endParaRPr lang="zh-CN" altLang="en-US" sz="3200" b="1" spc="200" dirty="0">
              <a:solidFill>
                <a:schemeClr val="accent1"/>
              </a:solidFill>
              <a:uFillTx/>
              <a:latin typeface="宋体" panose="02010600030101010101" pitchFamily="2" charset="-122"/>
              <a:ea typeface="宋体" panose="02010600030101010101" pitchFamily="2" charset="-122"/>
              <a:cs typeface="+mj-cs"/>
            </a:endParaRPr>
          </a:p>
          <a:p>
            <a:r>
              <a:rPr lang="zh-CN" altLang="en-US" sz="3200" b="1" spc="200" dirty="0">
                <a:solidFill>
                  <a:schemeClr val="tx1"/>
                </a:solidFill>
                <a:uFillTx/>
                <a:latin typeface="宋体" panose="02010600030101010101" pitchFamily="2" charset="-122"/>
                <a:ea typeface="宋体" panose="02010600030101010101" pitchFamily="2" charset="-122"/>
                <a:cs typeface="+mj-cs"/>
              </a:rPr>
              <a:t>概念学习算法</a:t>
            </a:r>
            <a:endParaRPr lang="zh-CN" altLang="en-US" sz="3200" b="1" spc="200" dirty="0">
              <a:solidFill>
                <a:schemeClr val="tx1"/>
              </a:solidFill>
              <a:uFillTx/>
              <a:latin typeface="宋体" panose="02010600030101010101" pitchFamily="2" charset="-122"/>
              <a:ea typeface="宋体" panose="02010600030101010101" pitchFamily="2" charset="-122"/>
              <a:cs typeface="+mj-cs"/>
            </a:endParaRPr>
          </a:p>
          <a:p>
            <a:endParaRPr lang="zh-CN" altLang="en-US" sz="3200" b="1" spc="200" dirty="0">
              <a:solidFill>
                <a:schemeClr val="tx1"/>
              </a:solidFill>
              <a:uFillTx/>
              <a:latin typeface="宋体" panose="02010600030101010101" pitchFamily="2" charset="-122"/>
              <a:ea typeface="宋体" panose="02010600030101010101" pitchFamily="2" charset="-122"/>
              <a:cs typeface="+mj-cs"/>
            </a:endParaRPr>
          </a:p>
          <a:p>
            <a:r>
              <a:rPr lang="zh-CN" altLang="en-US" sz="3200" b="1" spc="200" dirty="0">
                <a:solidFill>
                  <a:schemeClr val="tx1"/>
                </a:solidFill>
                <a:uFillTx/>
                <a:latin typeface="宋体" panose="02010600030101010101" pitchFamily="2" charset="-122"/>
                <a:ea typeface="宋体" panose="02010600030101010101" pitchFamily="2" charset="-122"/>
                <a:cs typeface="+mj-cs"/>
              </a:rPr>
              <a:t>概念学习的历史与应用</a:t>
            </a:r>
            <a:endParaRPr lang="zh-CN" altLang="en-US" sz="3200" b="1" spc="200" dirty="0">
              <a:solidFill>
                <a:schemeClr val="tx1"/>
              </a:solidFill>
              <a:uFillTx/>
              <a:latin typeface="宋体" panose="02010600030101010101" pitchFamily="2" charset="-122"/>
              <a:ea typeface="宋体" panose="02010600030101010101" pitchFamily="2" charset="-122"/>
              <a:cs typeface="+mj-cs"/>
            </a:endParaRPr>
          </a:p>
          <a:p>
            <a:endParaRPr lang="zh-CN" altLang="en-US" sz="3200" b="1" spc="200" dirty="0">
              <a:solidFill>
                <a:schemeClr val="tx1"/>
              </a:solidFill>
              <a:uFillTx/>
              <a:latin typeface="宋体" panose="02010600030101010101" pitchFamily="2" charset="-122"/>
              <a:ea typeface="宋体" panose="02010600030101010101" pitchFamily="2" charset="-122"/>
              <a:cs typeface="+mj-cs"/>
            </a:endParaRPr>
          </a:p>
          <a:p>
            <a:r>
              <a:rPr lang="zh-CN" altLang="en-US" sz="3200" b="1" spc="200" dirty="0">
                <a:solidFill>
                  <a:schemeClr val="tx1"/>
                </a:solidFill>
                <a:uFillTx/>
                <a:latin typeface="宋体" panose="02010600030101010101" pitchFamily="2" charset="-122"/>
                <a:ea typeface="宋体" panose="02010600030101010101" pitchFamily="2" charset="-122"/>
                <a:cs typeface="+mj-cs"/>
              </a:rPr>
              <a:t>思考题</a:t>
            </a:r>
            <a:endParaRPr lang="zh-CN" altLang="en-US" sz="3200" b="1" spc="200" dirty="0">
              <a:solidFill>
                <a:schemeClr val="tx1"/>
              </a:solidFill>
              <a:uFillTx/>
              <a:latin typeface="宋体" panose="02010600030101010101" pitchFamily="2" charset="-122"/>
              <a:ea typeface="宋体" panose="02010600030101010101" pitchFamily="2" charset="-122"/>
              <a:cs typeface="+mj-c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3643630" cy="583565"/>
          </a:xfrm>
          <a:prstGeom prst="rect">
            <a:avLst/>
          </a:prstGeom>
          <a:noFill/>
        </p:spPr>
        <p:txBody>
          <a:bodyPr wrap="square" rtlCol="0">
            <a:spAutoFit/>
            <a:scene3d>
              <a:camera prst="orthographicFront"/>
              <a:lightRig rig="threePt" dir="t"/>
            </a:scene3d>
          </a:bodyPr>
          <a:lstStyle/>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什么是概念学习？</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
        <p:nvSpPr>
          <p:cNvPr id="5" name="文本框 4"/>
          <p:cNvSpPr txBox="1"/>
          <p:nvPr/>
        </p:nvSpPr>
        <p:spPr>
          <a:xfrm>
            <a:off x="346710" y="1820545"/>
            <a:ext cx="1418590" cy="460375"/>
          </a:xfrm>
          <a:prstGeom prst="rect">
            <a:avLst/>
          </a:prstGeom>
          <a:noFill/>
        </p:spPr>
        <p:txBody>
          <a:bodyPr wrap="square" rtlCol="0">
            <a:spAutoFit/>
          </a:bodyPr>
          <a:lstStyle/>
          <a:p>
            <a:r>
              <a:rPr lang="zh-CN" altLang="en-US" sz="2400" b="1"/>
              <a:t>机器学习</a:t>
            </a:r>
            <a:endParaRPr lang="zh-CN" altLang="en-US" sz="2400" b="1"/>
          </a:p>
        </p:txBody>
      </p:sp>
      <p:sp>
        <p:nvSpPr>
          <p:cNvPr id="7" name="左大括号 6"/>
          <p:cNvSpPr/>
          <p:nvPr/>
        </p:nvSpPr>
        <p:spPr>
          <a:xfrm>
            <a:off x="1798955" y="1431925"/>
            <a:ext cx="175895" cy="1236980"/>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 name="文本框 7"/>
          <p:cNvSpPr txBox="1"/>
          <p:nvPr/>
        </p:nvSpPr>
        <p:spPr>
          <a:xfrm>
            <a:off x="1974850" y="1233805"/>
            <a:ext cx="9497060" cy="645160"/>
          </a:xfrm>
          <a:prstGeom prst="rect">
            <a:avLst/>
          </a:prstGeom>
          <a:noFill/>
        </p:spPr>
        <p:txBody>
          <a:bodyPr wrap="square" rtlCol="0">
            <a:spAutoFit/>
          </a:bodyPr>
          <a:lstStyle/>
          <a:p>
            <a:r>
              <a:rPr lang="zh-CN" altLang="en-US" b="1"/>
              <a:t>数据驱动学习</a:t>
            </a:r>
            <a:r>
              <a:rPr lang="zh-CN" altLang="en-US"/>
              <a:t>：自底向上的学习方式。数据驱动策略每次处理一个输入实例，逐步生成概念</a:t>
            </a:r>
            <a:endParaRPr lang="zh-CN" altLang="en-US"/>
          </a:p>
          <a:p>
            <a:r>
              <a:rPr lang="zh-CN" altLang="en-US"/>
              <a:t> </a:t>
            </a:r>
            <a:r>
              <a:rPr lang="en-US" altLang="zh-CN"/>
              <a:t>                              </a:t>
            </a:r>
            <a:r>
              <a:rPr lang="zh-CN" altLang="en-US"/>
              <a:t>的描述集，直到产生最后的假设合取式</a:t>
            </a:r>
            <a:endParaRPr lang="zh-CN" altLang="en-US"/>
          </a:p>
        </p:txBody>
      </p:sp>
      <p:sp>
        <p:nvSpPr>
          <p:cNvPr id="9" name="文本框 8"/>
          <p:cNvSpPr txBox="1"/>
          <p:nvPr/>
        </p:nvSpPr>
        <p:spPr>
          <a:xfrm>
            <a:off x="1974850" y="2488565"/>
            <a:ext cx="9364980" cy="645160"/>
          </a:xfrm>
          <a:prstGeom prst="rect">
            <a:avLst/>
          </a:prstGeom>
          <a:noFill/>
        </p:spPr>
        <p:txBody>
          <a:bodyPr wrap="square" rtlCol="0">
            <a:spAutoFit/>
          </a:bodyPr>
          <a:lstStyle/>
          <a:p>
            <a:r>
              <a:rPr lang="zh-CN" altLang="en-US" b="1"/>
              <a:t>模型驱动学习</a:t>
            </a:r>
            <a:r>
              <a:rPr lang="zh-CN" altLang="en-US"/>
              <a:t>：</a:t>
            </a:r>
            <a:r>
              <a:rPr lang="zh-CN" altLang="en-US">
                <a:sym typeface="+mn-ea"/>
              </a:rPr>
              <a:t>自顶向下的学习方式。</a:t>
            </a:r>
            <a:r>
              <a:rPr lang="zh-CN" altLang="en-US"/>
              <a:t>模型驱动策略将训练实例集作为一个整体加以考虑，</a:t>
            </a:r>
            <a:endParaRPr lang="zh-CN" altLang="en-US"/>
          </a:p>
          <a:p>
            <a:r>
              <a:rPr lang="zh-CN" altLang="en-US"/>
              <a:t> </a:t>
            </a:r>
            <a:r>
              <a:rPr lang="en-US" altLang="zh-CN"/>
              <a:t>                              </a:t>
            </a:r>
            <a:r>
              <a:rPr lang="zh-CN" altLang="en-US"/>
              <a:t>对可能的推广集进行搜索，试图发现满足某种要求的最佳假设</a:t>
            </a:r>
            <a:endParaRPr lang="zh-CN" altLang="en-US"/>
          </a:p>
        </p:txBody>
      </p:sp>
      <p:sp>
        <p:nvSpPr>
          <p:cNvPr id="10" name="文本框 9"/>
          <p:cNvSpPr txBox="1"/>
          <p:nvPr/>
        </p:nvSpPr>
        <p:spPr>
          <a:xfrm>
            <a:off x="440055" y="4600575"/>
            <a:ext cx="11311890" cy="645160"/>
          </a:xfrm>
          <a:prstGeom prst="rect">
            <a:avLst/>
          </a:prstGeom>
          <a:noFill/>
        </p:spPr>
        <p:txBody>
          <a:bodyPr wrap="square" rtlCol="0" anchor="t">
            <a:spAutoFit/>
          </a:bodyPr>
          <a:lstStyle/>
          <a:p>
            <a:r>
              <a:rPr lang="zh-CN" altLang="en-US" b="1"/>
              <a:t>概念学习</a:t>
            </a:r>
            <a:r>
              <a:rPr lang="zh-CN" altLang="en-US"/>
              <a:t>：属于</a:t>
            </a:r>
            <a:r>
              <a:rPr lang="zh-CN" altLang="en-US" b="1"/>
              <a:t>模型驱动学习</a:t>
            </a:r>
            <a:r>
              <a:rPr lang="zh-CN" altLang="en-US"/>
              <a:t>中的一种，从给定的某一类别的若干正例和反例中获得该类别的一般定义。概念学习也可以看作是一个搜索问题的过程，它在预定义的假设空间中搜索假设，使其与训练样例有最佳的拟合度</a:t>
            </a:r>
            <a:endParaRPr lang="zh-CN" altLang="en-US"/>
          </a:p>
        </p:txBody>
      </p:sp>
      <p:sp>
        <p:nvSpPr>
          <p:cNvPr id="11" name="文本框 10"/>
          <p:cNvSpPr txBox="1"/>
          <p:nvPr/>
        </p:nvSpPr>
        <p:spPr>
          <a:xfrm>
            <a:off x="1974850" y="3493135"/>
            <a:ext cx="8465185" cy="368300"/>
          </a:xfrm>
          <a:prstGeom prst="rect">
            <a:avLst/>
          </a:prstGeom>
          <a:noFill/>
        </p:spPr>
        <p:txBody>
          <a:bodyPr wrap="square" rtlCol="0" anchor="t">
            <a:spAutoFit/>
          </a:bodyPr>
          <a:lstStyle/>
          <a:p>
            <a:r>
              <a:rPr lang="zh-CN" altLang="en-US" u="sng"/>
              <a:t>模型驱动即选出对于样本数据拟合度最好的模型；数据驱动即通过数据去改变模型</a:t>
            </a:r>
            <a:endParaRPr lang="zh-CN" altLang="en-US" u="sng"/>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3643630" cy="583565"/>
          </a:xfrm>
          <a:prstGeom prst="rect">
            <a:avLst/>
          </a:prstGeom>
          <a:noFill/>
        </p:spPr>
        <p:txBody>
          <a:bodyPr wrap="square" rtlCol="0">
            <a:spAutoFit/>
            <a:scene3d>
              <a:camera prst="orthographicFront"/>
              <a:lightRig rig="threePt" dir="t"/>
            </a:scene3d>
          </a:bodyPr>
          <a:lstStyle/>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什么是概念学习？</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
        <p:nvSpPr>
          <p:cNvPr id="4099" name="Rectangle 3"/>
          <p:cNvSpPr>
            <a:spLocks noGrp="1" noChangeArrowheads="1"/>
          </p:cNvSpPr>
          <p:nvPr>
            <p:ph idx="1"/>
          </p:nvPr>
        </p:nvSpPr>
        <p:spPr>
          <a:xfrm>
            <a:off x="267970" y="1325880"/>
            <a:ext cx="11355705" cy="4351655"/>
          </a:xfrm>
        </p:spPr>
        <p:txBody>
          <a:bodyPr/>
          <a:lstStyle/>
          <a:p>
            <a:pPr eaLnBrk="1" hangingPunct="1">
              <a:defRPr/>
            </a:pPr>
            <a:r>
              <a:rPr lang="zh-CN" altLang="en-US" sz="2000" dirty="0"/>
              <a:t>许多机器学习涉及到从特殊训练样例中得到一般概念</a:t>
            </a:r>
            <a:endParaRPr lang="zh-CN" altLang="en-US" sz="2000" dirty="0"/>
          </a:p>
          <a:p>
            <a:pPr eaLnBrk="1" hangingPunct="1">
              <a:lnSpc>
                <a:spcPct val="0"/>
              </a:lnSpc>
              <a:defRPr/>
            </a:pPr>
            <a:endParaRPr lang="zh-CN" altLang="en-US" sz="2000" dirty="0"/>
          </a:p>
          <a:p>
            <a:pPr eaLnBrk="1" hangingPunct="1">
              <a:defRPr/>
            </a:pPr>
            <a:r>
              <a:rPr lang="zh-CN" altLang="en-US" sz="2000" u="sng" dirty="0">
                <a:solidFill>
                  <a:srgbClr val="FF0000"/>
                </a:solidFill>
                <a:effectLst>
                  <a:outerShdw blurRad="38100" dist="38100" dir="2700000" algn="tl">
                    <a:srgbClr val="C0C0C0"/>
                  </a:outerShdw>
                </a:effectLst>
              </a:rPr>
              <a:t>概念</a:t>
            </a:r>
            <a:r>
              <a:rPr lang="zh-CN" altLang="en-US" sz="2000" dirty="0"/>
              <a:t>，可被看作一个对象或事件集合，它是从更大的集合中选取的子集，或在这个较大集合中定义的布尔函数</a:t>
            </a:r>
            <a:endParaRPr lang="zh-CN" altLang="en-US" sz="2000" dirty="0"/>
          </a:p>
          <a:p>
            <a:pPr eaLnBrk="1" hangingPunct="1">
              <a:lnSpc>
                <a:spcPct val="0"/>
              </a:lnSpc>
              <a:defRPr/>
            </a:pPr>
            <a:endParaRPr lang="zh-CN" altLang="en-US" sz="2000" dirty="0"/>
          </a:p>
          <a:p>
            <a:pPr eaLnBrk="1" hangingPunct="1">
              <a:defRPr/>
            </a:pPr>
            <a:r>
              <a:rPr lang="zh-CN" altLang="en-US" sz="2000" u="sng" dirty="0">
                <a:solidFill>
                  <a:srgbClr val="FF0000"/>
                </a:solidFill>
                <a:effectLst>
                  <a:outerShdw blurRad="38100" dist="38100" dir="2700000" algn="tl">
                    <a:srgbClr val="000000">
                      <a:alpha val="43137"/>
                    </a:srgbClr>
                  </a:outerShdw>
                </a:effectLst>
              </a:rPr>
              <a:t>概念学习问题</a:t>
            </a:r>
            <a:r>
              <a:rPr lang="zh-CN" altLang="en-US" sz="2000" dirty="0"/>
              <a:t>的定义</a:t>
            </a:r>
            <a:endParaRPr lang="zh-CN" altLang="en-US" sz="2000" dirty="0"/>
          </a:p>
          <a:p>
            <a:pPr lvl="1" eaLnBrk="1" hangingPunct="1">
              <a:defRPr/>
            </a:pPr>
            <a:r>
              <a:rPr lang="zh-CN" altLang="en-US" sz="1800" dirty="0"/>
              <a:t>给定一个样例集合以及每个样例是否属于某个概念的标注，怎样推断出该</a:t>
            </a:r>
            <a:r>
              <a:rPr lang="zh-CN" altLang="en-US" sz="1800" u="sng" dirty="0">
                <a:solidFill>
                  <a:srgbClr val="FF0000"/>
                </a:solidFill>
                <a:effectLst>
                  <a:outerShdw blurRad="38100" dist="38100" dir="2700000" algn="tl">
                    <a:srgbClr val="C0C0C0"/>
                  </a:outerShdw>
                </a:effectLst>
              </a:rPr>
              <a:t>概念的一般定义</a:t>
            </a:r>
            <a:r>
              <a:rPr lang="zh-CN" altLang="en-US" sz="1800" dirty="0">
                <a:solidFill>
                  <a:schemeClr val="tx1"/>
                </a:solidFill>
                <a:effectLst>
                  <a:outerShdw blurRad="38100" dist="38100" dir="2700000" algn="tl">
                    <a:srgbClr val="C0C0C0"/>
                  </a:outerShdw>
                </a:effectLst>
              </a:rPr>
              <a:t>，</a:t>
            </a:r>
            <a:r>
              <a:rPr lang="zh-CN" altLang="en-US" sz="1800" dirty="0"/>
              <a:t>又称从样例中逼近</a:t>
            </a:r>
            <a:r>
              <a:rPr lang="zh-CN" altLang="en-US" sz="1800" u="sng" dirty="0">
                <a:solidFill>
                  <a:schemeClr val="accent5">
                    <a:lumMod val="75000"/>
                  </a:schemeClr>
                </a:solidFill>
              </a:rPr>
              <a:t>布尔函数</a:t>
            </a:r>
            <a:endParaRPr lang="zh-CN" altLang="en-US" sz="1800" dirty="0"/>
          </a:p>
          <a:p>
            <a:pPr lvl="1" eaLnBrk="1" hangingPunct="1">
              <a:defRPr/>
            </a:pPr>
            <a:r>
              <a:rPr lang="zh-CN" altLang="en-US" sz="1800" dirty="0"/>
              <a:t>概念学习是指从有关某个</a:t>
            </a:r>
            <a:r>
              <a:rPr lang="zh-CN" altLang="en-US" sz="1800" u="sng" dirty="0">
                <a:solidFill>
                  <a:schemeClr val="accent5">
                    <a:lumMod val="75000"/>
                  </a:schemeClr>
                </a:solidFill>
              </a:rPr>
              <a:t>布尔函数</a:t>
            </a:r>
            <a:r>
              <a:rPr lang="zh-CN" altLang="en-US" sz="1800" dirty="0"/>
              <a:t>的输入输出训练样例中推断出该</a:t>
            </a:r>
            <a:r>
              <a:rPr lang="zh-CN" altLang="en-US" sz="1800" u="sng" dirty="0">
                <a:solidFill>
                  <a:schemeClr val="accent5">
                    <a:lumMod val="75000"/>
                  </a:schemeClr>
                </a:solidFill>
              </a:rPr>
              <a:t>布尔函数</a:t>
            </a:r>
            <a:endParaRPr lang="zh-CN" altLang="en-US" sz="1800" dirty="0"/>
          </a:p>
        </p:txBody>
      </p:sp>
      <p:pic>
        <p:nvPicPr>
          <p:cNvPr id="4100"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787390" y="4603115"/>
            <a:ext cx="4879340" cy="1457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099">
                                            <p:txEl>
                                              <p:pRg st="0" end="0"/>
                                            </p:txEl>
                                          </p:spTgt>
                                        </p:tgtEl>
                                        <p:attrNameLst>
                                          <p:attrName>style.visibility</p:attrName>
                                        </p:attrNameLst>
                                      </p:cBhvr>
                                      <p:to>
                                        <p:strVal val="visible"/>
                                      </p:to>
                                    </p:set>
                                    <p:animEffect transition="in" filter="blinds(horizontal)">
                                      <p:cBhvr>
                                        <p:cTn id="7" dur="500"/>
                                        <p:tgtEl>
                                          <p:spTgt spid="409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099">
                                            <p:txEl>
                                              <p:pRg st="2" end="2"/>
                                            </p:txEl>
                                          </p:spTgt>
                                        </p:tgtEl>
                                        <p:attrNameLst>
                                          <p:attrName>style.visibility</p:attrName>
                                        </p:attrNameLst>
                                      </p:cBhvr>
                                      <p:to>
                                        <p:strVal val="visible"/>
                                      </p:to>
                                    </p:set>
                                    <p:animEffect transition="in" filter="blinds(horizontal)">
                                      <p:cBhvr>
                                        <p:cTn id="12" dur="500"/>
                                        <p:tgtEl>
                                          <p:spTgt spid="409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099">
                                            <p:txEl>
                                              <p:pRg st="4" end="4"/>
                                            </p:txEl>
                                          </p:spTgt>
                                        </p:tgtEl>
                                        <p:attrNameLst>
                                          <p:attrName>style.visibility</p:attrName>
                                        </p:attrNameLst>
                                      </p:cBhvr>
                                      <p:to>
                                        <p:strVal val="visible"/>
                                      </p:to>
                                    </p:set>
                                    <p:animEffect transition="in" filter="blinds(horizontal)">
                                      <p:cBhvr>
                                        <p:cTn id="17" dur="500"/>
                                        <p:tgtEl>
                                          <p:spTgt spid="4099">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099">
                                            <p:txEl>
                                              <p:pRg st="5" end="5"/>
                                            </p:txEl>
                                          </p:spTgt>
                                        </p:tgtEl>
                                        <p:attrNameLst>
                                          <p:attrName>style.visibility</p:attrName>
                                        </p:attrNameLst>
                                      </p:cBhvr>
                                      <p:to>
                                        <p:strVal val="visible"/>
                                      </p:to>
                                    </p:set>
                                    <p:animEffect transition="in" filter="blinds(horizontal)">
                                      <p:cBhvr>
                                        <p:cTn id="22" dur="500"/>
                                        <p:tgtEl>
                                          <p:spTgt spid="4099">
                                            <p:txEl>
                                              <p:pRg st="5" end="5"/>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4099">
                                            <p:txEl>
                                              <p:pRg st="6" end="6"/>
                                            </p:txEl>
                                          </p:spTgt>
                                        </p:tgtEl>
                                        <p:attrNameLst>
                                          <p:attrName>style.visibility</p:attrName>
                                        </p:attrNameLst>
                                      </p:cBhvr>
                                      <p:to>
                                        <p:strVal val="visible"/>
                                      </p:to>
                                    </p:set>
                                    <p:animEffect transition="in" filter="blinds(horizontal)">
                                      <p:cBhvr>
                                        <p:cTn id="25" dur="500"/>
                                        <p:tgtEl>
                                          <p:spTgt spid="4099">
                                            <p:txEl>
                                              <p:pRg st="6" end="6"/>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4100"/>
                                        </p:tgtEl>
                                        <p:attrNameLst>
                                          <p:attrName>style.visibility</p:attrName>
                                        </p:attrNameLst>
                                      </p:cBhvr>
                                      <p:to>
                                        <p:strVal val="visible"/>
                                      </p:to>
                                    </p:set>
                                    <p:animEffect transition="in" filter="blinds(horizontal)">
                                      <p:cBhvr>
                                        <p:cTn id="30" dur="500"/>
                                        <p:tgtEl>
                                          <p:spTgt spid="4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3643630" cy="583565"/>
          </a:xfrm>
          <a:prstGeom prst="rect">
            <a:avLst/>
          </a:prstGeom>
          <a:noFill/>
        </p:spPr>
        <p:txBody>
          <a:bodyPr wrap="square" rtlCol="0">
            <a:spAutoFit/>
            <a:scene3d>
              <a:camera prst="orthographicFront"/>
              <a:lightRig rig="threePt" dir="t"/>
            </a:scene3d>
          </a:bodyPr>
          <a:lstStyle/>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什么是概念学习？</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
        <p:nvSpPr>
          <p:cNvPr id="6" name="文本框 5"/>
          <p:cNvSpPr txBox="1"/>
          <p:nvPr/>
        </p:nvSpPr>
        <p:spPr>
          <a:xfrm>
            <a:off x="269240" y="1540510"/>
            <a:ext cx="11274425" cy="1476375"/>
          </a:xfrm>
          <a:prstGeom prst="rect">
            <a:avLst/>
          </a:prstGeom>
          <a:noFill/>
        </p:spPr>
        <p:txBody>
          <a:bodyPr wrap="square" rtlCol="0" anchor="t">
            <a:spAutoFit/>
          </a:bodyPr>
          <a:lstStyle/>
          <a:p>
            <a:r>
              <a:rPr lang="zh-CN" altLang="en-US"/>
              <a:t>在</a:t>
            </a:r>
            <a:r>
              <a:rPr lang="zh-CN" altLang="en-US" b="1"/>
              <a:t>数学和逻辑</a:t>
            </a:r>
            <a:r>
              <a:rPr lang="zh-CN" altLang="en-US"/>
              <a:t>中，</a:t>
            </a:r>
            <a:r>
              <a:rPr lang="zh-CN" altLang="en-US" u="sng" dirty="0">
                <a:solidFill>
                  <a:schemeClr val="accent5">
                    <a:lumMod val="75000"/>
                  </a:schemeClr>
                </a:solidFill>
              </a:rPr>
              <a:t>布尔函数</a:t>
            </a:r>
            <a:r>
              <a:rPr lang="zh-CN" altLang="en-US"/>
              <a:t>是一个函数，其参数以及函数本身均采用两个元素组成的值（通常为{0,1}）。结果，有时将其称为“切换功能”</a:t>
            </a:r>
            <a:endParaRPr lang="zh-CN" altLang="en-US"/>
          </a:p>
          <a:p>
            <a:endParaRPr lang="zh-CN" altLang="en-US"/>
          </a:p>
          <a:p>
            <a:r>
              <a:rPr lang="zh-CN" altLang="en-US"/>
              <a:t>在</a:t>
            </a:r>
            <a:r>
              <a:rPr lang="zh-CN" altLang="en-US" b="1"/>
              <a:t>应用程序</a:t>
            </a:r>
            <a:r>
              <a:rPr lang="zh-CN" altLang="en-US"/>
              <a:t>中，</a:t>
            </a:r>
            <a:r>
              <a:rPr lang="zh-CN" altLang="en-US" u="sng" dirty="0">
                <a:solidFill>
                  <a:schemeClr val="accent5">
                    <a:lumMod val="75000"/>
                  </a:schemeClr>
                </a:solidFill>
              </a:rPr>
              <a:t>布尔函数</a:t>
            </a:r>
            <a:r>
              <a:rPr lang="zh-CN" altLang="en-US"/>
              <a:t>是一种可用于通过逻辑类型的计算来评估与其布尔输入有关的任何布尔输出的函数。这些功能在复杂性理论以及数字计算机的电路和芯片设计中起着基本作用</a:t>
            </a:r>
            <a:endParaRPr lang="zh-CN" altLang="en-US"/>
          </a:p>
        </p:txBody>
      </p:sp>
      <p:pic>
        <p:nvPicPr>
          <p:cNvPr id="7" name="图片 6" descr="布尔函数"/>
          <p:cNvPicPr>
            <a:picLocks noChangeAspect="1"/>
          </p:cNvPicPr>
          <p:nvPr>
            <p:custDataLst>
              <p:tags r:id="rId1"/>
            </p:custDataLst>
          </p:nvPr>
        </p:nvPicPr>
        <p:blipFill>
          <a:blip r:embed="rId2"/>
          <a:stretch>
            <a:fillRect/>
          </a:stretch>
        </p:blipFill>
        <p:spPr>
          <a:xfrm>
            <a:off x="2863215" y="3517900"/>
            <a:ext cx="6086475" cy="25908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3643630" cy="583565"/>
          </a:xfrm>
          <a:prstGeom prst="rect">
            <a:avLst/>
          </a:prstGeom>
          <a:noFill/>
        </p:spPr>
        <p:txBody>
          <a:bodyPr wrap="square" rtlCol="0">
            <a:spAutoFit/>
            <a:scene3d>
              <a:camera prst="orthographicFront"/>
              <a:lightRig rig="threePt" dir="t"/>
            </a:scene3d>
          </a:bodyPr>
          <a:lstStyle/>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什么是概念学习？</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
        <p:nvSpPr>
          <p:cNvPr id="5" name="文本框 4"/>
          <p:cNvSpPr txBox="1"/>
          <p:nvPr/>
        </p:nvSpPr>
        <p:spPr>
          <a:xfrm>
            <a:off x="301625" y="1218565"/>
            <a:ext cx="9483090" cy="2153285"/>
          </a:xfrm>
          <a:prstGeom prst="rect">
            <a:avLst/>
          </a:prstGeom>
          <a:noFill/>
        </p:spPr>
        <p:txBody>
          <a:bodyPr wrap="square" rtlCol="0">
            <a:spAutoFit/>
          </a:bodyPr>
          <a:lstStyle/>
          <a:p>
            <a:r>
              <a:rPr lang="zh-CN" altLang="en-US">
                <a:solidFill>
                  <a:schemeClr val="accent5">
                    <a:lumMod val="75000"/>
                  </a:schemeClr>
                </a:solidFill>
              </a:rPr>
              <a:t>概念学习例子：</a:t>
            </a:r>
            <a:r>
              <a:rPr lang="en-US" altLang="zh-CN">
                <a:solidFill>
                  <a:schemeClr val="accent5">
                    <a:lumMod val="75000"/>
                  </a:schemeClr>
                </a:solidFill>
              </a:rPr>
              <a:t>Emma</a:t>
            </a:r>
            <a:r>
              <a:rPr lang="zh-CN" altLang="en-US">
                <a:solidFill>
                  <a:schemeClr val="accent5">
                    <a:lumMod val="75000"/>
                  </a:schemeClr>
                </a:solidFill>
                <a:sym typeface="+mn-ea"/>
              </a:rPr>
              <a:t>是否享受今日的水上运动？</a:t>
            </a:r>
            <a:endParaRPr lang="zh-CN" altLang="en-US">
              <a:solidFill>
                <a:schemeClr val="accent5">
                  <a:lumMod val="75000"/>
                </a:schemeClr>
              </a:solidFill>
              <a:sym typeface="+mn-ea"/>
            </a:endParaRPr>
          </a:p>
          <a:p>
            <a:endParaRPr lang="zh-CN" altLang="en-US">
              <a:sym typeface="+mn-ea"/>
            </a:endParaRPr>
          </a:p>
          <a:p>
            <a:pPr marL="0" lvl="2"/>
            <a:r>
              <a:rPr lang="zh-CN" altLang="en-US" sz="1600" b="1">
                <a:sym typeface="+mn-ea"/>
              </a:rPr>
              <a:t>目标概念：</a:t>
            </a:r>
            <a:r>
              <a:rPr lang="en-US" altLang="zh-CN" sz="1600">
                <a:sym typeface="+mn-ea"/>
              </a:rPr>
              <a:t>Emma</a:t>
            </a:r>
            <a:r>
              <a:rPr lang="zh-CN" altLang="en-US" sz="1600">
                <a:sym typeface="+mn-ea"/>
              </a:rPr>
              <a:t>是否享受当日的水上运动表示为布尔函数</a:t>
            </a:r>
            <a:r>
              <a:rPr lang="en-US" altLang="zh-CN" sz="1600">
                <a:sym typeface="+mn-ea"/>
              </a:rPr>
              <a:t>EnjoySport</a:t>
            </a:r>
            <a:endParaRPr lang="zh-CN" altLang="en-US" sz="1600">
              <a:sym typeface="+mn-ea"/>
            </a:endParaRPr>
          </a:p>
          <a:p>
            <a:endParaRPr lang="zh-CN" altLang="en-US">
              <a:sym typeface="+mn-ea"/>
            </a:endParaRPr>
          </a:p>
          <a:p>
            <a:r>
              <a:rPr lang="zh-CN" altLang="en-US" sz="1600" b="1">
                <a:sym typeface="+mn-ea"/>
              </a:rPr>
              <a:t>任务目的：</a:t>
            </a:r>
            <a:r>
              <a:rPr lang="en-US" altLang="zh-CN" sz="1600">
                <a:sym typeface="+mn-ea"/>
              </a:rPr>
              <a:t>基于某天的各属性，预测EnjoySport</a:t>
            </a:r>
            <a:r>
              <a:rPr lang="zh-CN" altLang="en-US" sz="1600">
                <a:sym typeface="+mn-ea"/>
              </a:rPr>
              <a:t>的值</a:t>
            </a:r>
            <a:endParaRPr lang="zh-CN" altLang="en-US" sz="1600">
              <a:sym typeface="+mn-ea"/>
            </a:endParaRPr>
          </a:p>
          <a:p>
            <a:endParaRPr lang="zh-CN" altLang="en-US" sz="1600">
              <a:sym typeface="+mn-ea"/>
            </a:endParaRPr>
          </a:p>
          <a:p>
            <a:pPr marL="0" lvl="1"/>
            <a:r>
              <a:rPr lang="zh-CN" altLang="en-US" sz="1600" b="1">
                <a:sym typeface="+mn-ea"/>
              </a:rPr>
              <a:t>样例集</a:t>
            </a:r>
            <a:r>
              <a:rPr lang="en-US" altLang="zh-CN" sz="1600" b="1">
                <a:sym typeface="+mn-ea"/>
              </a:rPr>
              <a:t>D</a:t>
            </a:r>
            <a:r>
              <a:rPr lang="zh-CN" altLang="en-US" sz="1600" b="1">
                <a:sym typeface="+mn-ea"/>
              </a:rPr>
              <a:t>：</a:t>
            </a:r>
            <a:r>
              <a:rPr lang="zh-CN" altLang="en-US" sz="1600">
                <a:sym typeface="+mn-ea"/>
              </a:rPr>
              <a:t>对于</a:t>
            </a:r>
            <a:r>
              <a:rPr lang="en-US" altLang="zh-CN" sz="1600">
                <a:sym typeface="+mn-ea"/>
              </a:rPr>
              <a:t>D</a:t>
            </a:r>
            <a:r>
              <a:rPr lang="zh-CN" altLang="en-US" sz="1600">
                <a:sym typeface="+mn-ea"/>
              </a:rPr>
              <a:t>中的每个样例，表示为当日天气的六个属性</a:t>
            </a:r>
            <a:r>
              <a:rPr lang="en-US" altLang="zh-CN" sz="1600">
                <a:sym typeface="+mn-ea"/>
              </a:rPr>
              <a:t>+Emma</a:t>
            </a:r>
            <a:r>
              <a:rPr lang="zh-CN" altLang="en-US" sz="1600">
                <a:sym typeface="+mn-ea"/>
              </a:rPr>
              <a:t>是否享受</a:t>
            </a:r>
            <a:endParaRPr lang="zh-CN" altLang="en-US" sz="1600">
              <a:sym typeface="+mn-ea"/>
            </a:endParaRPr>
          </a:p>
          <a:p>
            <a:pPr marL="0" lvl="1"/>
            <a:r>
              <a:rPr lang="zh-CN" altLang="en-US" sz="1600">
                <a:sym typeface="+mn-ea"/>
              </a:rPr>
              <a:t> </a:t>
            </a:r>
            <a:r>
              <a:rPr lang="en-US" altLang="zh-CN" sz="1600">
                <a:sym typeface="+mn-ea"/>
              </a:rPr>
              <a:t>                    </a:t>
            </a:r>
            <a:r>
              <a:rPr lang="zh-CN" altLang="en-US" sz="1600">
                <a:sym typeface="+mn-ea"/>
              </a:rPr>
              <a:t>当日的水上运动</a:t>
            </a:r>
            <a:endParaRPr lang="zh-CN" altLang="en-US" sz="1600">
              <a:sym typeface="+mn-ea"/>
            </a:endParaRPr>
          </a:p>
        </p:txBody>
      </p:sp>
      <p:sp>
        <p:nvSpPr>
          <p:cNvPr id="75779" name="Rectangle 168"/>
          <p:cNvSpPr>
            <a:spLocks noChangeArrowheads="1"/>
          </p:cNvSpPr>
          <p:nvPr/>
        </p:nvSpPr>
        <p:spPr bwMode="auto">
          <a:xfrm>
            <a:off x="9257348" y="5765801"/>
            <a:ext cx="11350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Yes</a:t>
            </a:r>
            <a:endParaRPr kumimoji="1" lang="en-US" altLang="zh-CN" sz="1400">
              <a:latin typeface="Times New Roman" panose="02020603050405020304" charset="0"/>
            </a:endParaRPr>
          </a:p>
        </p:txBody>
      </p:sp>
      <p:sp>
        <p:nvSpPr>
          <p:cNvPr id="75780" name="Rectangle 167"/>
          <p:cNvSpPr>
            <a:spLocks noChangeArrowheads="1"/>
          </p:cNvSpPr>
          <p:nvPr/>
        </p:nvSpPr>
        <p:spPr bwMode="auto">
          <a:xfrm>
            <a:off x="8122286" y="5765801"/>
            <a:ext cx="11350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Change</a:t>
            </a:r>
            <a:endParaRPr kumimoji="1" lang="en-US" altLang="zh-CN" sz="1400">
              <a:latin typeface="Times New Roman" panose="02020603050405020304" charset="0"/>
            </a:endParaRPr>
          </a:p>
        </p:txBody>
      </p:sp>
      <p:sp>
        <p:nvSpPr>
          <p:cNvPr id="75781" name="Rectangle 166"/>
          <p:cNvSpPr>
            <a:spLocks noChangeArrowheads="1"/>
          </p:cNvSpPr>
          <p:nvPr/>
        </p:nvSpPr>
        <p:spPr bwMode="auto">
          <a:xfrm>
            <a:off x="6987223" y="5765801"/>
            <a:ext cx="11350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Cool</a:t>
            </a:r>
            <a:endParaRPr kumimoji="1" lang="en-US" altLang="zh-CN" sz="1400">
              <a:latin typeface="Times New Roman" panose="02020603050405020304" charset="0"/>
            </a:endParaRPr>
          </a:p>
        </p:txBody>
      </p:sp>
      <p:sp>
        <p:nvSpPr>
          <p:cNvPr id="75782" name="Rectangle 165"/>
          <p:cNvSpPr>
            <a:spLocks noChangeArrowheads="1"/>
          </p:cNvSpPr>
          <p:nvPr/>
        </p:nvSpPr>
        <p:spPr bwMode="auto">
          <a:xfrm>
            <a:off x="5852161" y="5765801"/>
            <a:ext cx="11350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Strong</a:t>
            </a:r>
            <a:endParaRPr kumimoji="1" lang="en-US" altLang="zh-CN" sz="1400">
              <a:latin typeface="Times New Roman" panose="02020603050405020304" charset="0"/>
            </a:endParaRPr>
          </a:p>
        </p:txBody>
      </p:sp>
      <p:sp>
        <p:nvSpPr>
          <p:cNvPr id="75783" name="Rectangle 164"/>
          <p:cNvSpPr>
            <a:spLocks noChangeArrowheads="1"/>
          </p:cNvSpPr>
          <p:nvPr/>
        </p:nvSpPr>
        <p:spPr bwMode="auto">
          <a:xfrm>
            <a:off x="4717098" y="5765801"/>
            <a:ext cx="11350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High</a:t>
            </a:r>
            <a:endParaRPr kumimoji="1" lang="en-US" altLang="zh-CN" sz="1400">
              <a:latin typeface="Times New Roman" panose="02020603050405020304" charset="0"/>
            </a:endParaRPr>
          </a:p>
        </p:txBody>
      </p:sp>
      <p:sp>
        <p:nvSpPr>
          <p:cNvPr id="75784" name="Rectangle 163"/>
          <p:cNvSpPr>
            <a:spLocks noChangeArrowheads="1"/>
          </p:cNvSpPr>
          <p:nvPr/>
        </p:nvSpPr>
        <p:spPr bwMode="auto">
          <a:xfrm>
            <a:off x="3582036" y="5765801"/>
            <a:ext cx="11350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Warm</a:t>
            </a:r>
            <a:endParaRPr kumimoji="1" lang="en-US" altLang="zh-CN" sz="1400">
              <a:latin typeface="Times New Roman" panose="02020603050405020304" charset="0"/>
            </a:endParaRPr>
          </a:p>
        </p:txBody>
      </p:sp>
      <p:sp>
        <p:nvSpPr>
          <p:cNvPr id="75785" name="Rectangle 162"/>
          <p:cNvSpPr>
            <a:spLocks noChangeArrowheads="1"/>
          </p:cNvSpPr>
          <p:nvPr/>
        </p:nvSpPr>
        <p:spPr bwMode="auto">
          <a:xfrm>
            <a:off x="2446973" y="5765801"/>
            <a:ext cx="11350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Sunny</a:t>
            </a:r>
            <a:endParaRPr kumimoji="1" lang="en-US" altLang="zh-CN" sz="1400">
              <a:latin typeface="Times New Roman" panose="02020603050405020304" charset="0"/>
            </a:endParaRPr>
          </a:p>
        </p:txBody>
      </p:sp>
      <p:sp>
        <p:nvSpPr>
          <p:cNvPr id="75786" name="Rectangle 161"/>
          <p:cNvSpPr>
            <a:spLocks noChangeArrowheads="1"/>
          </p:cNvSpPr>
          <p:nvPr/>
        </p:nvSpPr>
        <p:spPr bwMode="auto">
          <a:xfrm>
            <a:off x="1311911" y="5765801"/>
            <a:ext cx="11350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4</a:t>
            </a:r>
            <a:endParaRPr kumimoji="1" lang="en-US" altLang="zh-CN" sz="1400">
              <a:latin typeface="Times New Roman" panose="02020603050405020304" charset="0"/>
            </a:endParaRPr>
          </a:p>
        </p:txBody>
      </p:sp>
      <p:sp>
        <p:nvSpPr>
          <p:cNvPr id="75787" name="Rectangle 160"/>
          <p:cNvSpPr>
            <a:spLocks noChangeArrowheads="1"/>
          </p:cNvSpPr>
          <p:nvPr/>
        </p:nvSpPr>
        <p:spPr bwMode="auto">
          <a:xfrm>
            <a:off x="9257348" y="5370514"/>
            <a:ext cx="1135062"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No</a:t>
            </a:r>
            <a:endParaRPr kumimoji="1" lang="en-US" altLang="zh-CN" sz="1400">
              <a:latin typeface="Times New Roman" panose="02020603050405020304" charset="0"/>
            </a:endParaRPr>
          </a:p>
        </p:txBody>
      </p:sp>
      <p:sp>
        <p:nvSpPr>
          <p:cNvPr id="75788" name="Rectangle 159"/>
          <p:cNvSpPr>
            <a:spLocks noChangeArrowheads="1"/>
          </p:cNvSpPr>
          <p:nvPr/>
        </p:nvSpPr>
        <p:spPr bwMode="auto">
          <a:xfrm>
            <a:off x="8122286" y="5370514"/>
            <a:ext cx="1135063"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Change</a:t>
            </a:r>
            <a:endParaRPr kumimoji="1" lang="en-US" altLang="zh-CN" sz="1400">
              <a:latin typeface="Times New Roman" panose="02020603050405020304" charset="0"/>
            </a:endParaRPr>
          </a:p>
        </p:txBody>
      </p:sp>
      <p:sp>
        <p:nvSpPr>
          <p:cNvPr id="75789" name="Rectangle 158"/>
          <p:cNvSpPr>
            <a:spLocks noChangeArrowheads="1"/>
          </p:cNvSpPr>
          <p:nvPr/>
        </p:nvSpPr>
        <p:spPr bwMode="auto">
          <a:xfrm>
            <a:off x="6987223" y="5370514"/>
            <a:ext cx="1135062"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Warm</a:t>
            </a:r>
            <a:endParaRPr kumimoji="1" lang="en-US" altLang="zh-CN" sz="1400">
              <a:latin typeface="Times New Roman" panose="02020603050405020304" charset="0"/>
            </a:endParaRPr>
          </a:p>
        </p:txBody>
      </p:sp>
      <p:sp>
        <p:nvSpPr>
          <p:cNvPr id="75790" name="Rectangle 157"/>
          <p:cNvSpPr>
            <a:spLocks noChangeArrowheads="1"/>
          </p:cNvSpPr>
          <p:nvPr/>
        </p:nvSpPr>
        <p:spPr bwMode="auto">
          <a:xfrm>
            <a:off x="5852161" y="5370514"/>
            <a:ext cx="1135063"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Strong</a:t>
            </a:r>
            <a:endParaRPr kumimoji="1" lang="en-US" altLang="zh-CN" sz="1400">
              <a:latin typeface="Times New Roman" panose="02020603050405020304" charset="0"/>
            </a:endParaRPr>
          </a:p>
        </p:txBody>
      </p:sp>
      <p:sp>
        <p:nvSpPr>
          <p:cNvPr id="75791" name="Rectangle 156"/>
          <p:cNvSpPr>
            <a:spLocks noChangeArrowheads="1"/>
          </p:cNvSpPr>
          <p:nvPr/>
        </p:nvSpPr>
        <p:spPr bwMode="auto">
          <a:xfrm>
            <a:off x="4717098" y="5370514"/>
            <a:ext cx="1135062"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High</a:t>
            </a:r>
            <a:endParaRPr kumimoji="1" lang="en-US" altLang="zh-CN" sz="1400">
              <a:latin typeface="Times New Roman" panose="02020603050405020304" charset="0"/>
            </a:endParaRPr>
          </a:p>
        </p:txBody>
      </p:sp>
      <p:sp>
        <p:nvSpPr>
          <p:cNvPr id="75792" name="Rectangle 155"/>
          <p:cNvSpPr>
            <a:spLocks noChangeArrowheads="1"/>
          </p:cNvSpPr>
          <p:nvPr/>
        </p:nvSpPr>
        <p:spPr bwMode="auto">
          <a:xfrm>
            <a:off x="3582036" y="5370514"/>
            <a:ext cx="1135063"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Cold</a:t>
            </a:r>
            <a:endParaRPr kumimoji="1" lang="en-US" altLang="zh-CN" sz="1400">
              <a:latin typeface="Times New Roman" panose="02020603050405020304" charset="0"/>
            </a:endParaRPr>
          </a:p>
        </p:txBody>
      </p:sp>
      <p:sp>
        <p:nvSpPr>
          <p:cNvPr id="75793" name="Rectangle 154"/>
          <p:cNvSpPr>
            <a:spLocks noChangeArrowheads="1"/>
          </p:cNvSpPr>
          <p:nvPr/>
        </p:nvSpPr>
        <p:spPr bwMode="auto">
          <a:xfrm>
            <a:off x="2446973" y="5370514"/>
            <a:ext cx="1135062"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Rainy</a:t>
            </a:r>
            <a:endParaRPr kumimoji="1" lang="en-US" altLang="zh-CN" sz="1400">
              <a:latin typeface="Times New Roman" panose="02020603050405020304" charset="0"/>
            </a:endParaRPr>
          </a:p>
        </p:txBody>
      </p:sp>
      <p:sp>
        <p:nvSpPr>
          <p:cNvPr id="75794" name="Rectangle 153"/>
          <p:cNvSpPr>
            <a:spLocks noChangeArrowheads="1"/>
          </p:cNvSpPr>
          <p:nvPr/>
        </p:nvSpPr>
        <p:spPr bwMode="auto">
          <a:xfrm>
            <a:off x="1311911" y="5370514"/>
            <a:ext cx="1135063"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3</a:t>
            </a:r>
            <a:endParaRPr kumimoji="1" lang="en-US" altLang="zh-CN" sz="1400">
              <a:latin typeface="Times New Roman" panose="02020603050405020304" charset="0"/>
            </a:endParaRPr>
          </a:p>
        </p:txBody>
      </p:sp>
      <p:sp>
        <p:nvSpPr>
          <p:cNvPr id="75795" name="Rectangle 152"/>
          <p:cNvSpPr>
            <a:spLocks noChangeArrowheads="1"/>
          </p:cNvSpPr>
          <p:nvPr/>
        </p:nvSpPr>
        <p:spPr bwMode="auto">
          <a:xfrm>
            <a:off x="9257348" y="4973639"/>
            <a:ext cx="11350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Yes</a:t>
            </a:r>
            <a:endParaRPr kumimoji="1" lang="en-US" altLang="zh-CN" sz="1400">
              <a:latin typeface="Times New Roman" panose="02020603050405020304" charset="0"/>
            </a:endParaRPr>
          </a:p>
        </p:txBody>
      </p:sp>
      <p:sp>
        <p:nvSpPr>
          <p:cNvPr id="75796" name="Rectangle 151"/>
          <p:cNvSpPr>
            <a:spLocks noChangeArrowheads="1"/>
          </p:cNvSpPr>
          <p:nvPr/>
        </p:nvSpPr>
        <p:spPr bwMode="auto">
          <a:xfrm>
            <a:off x="8122286" y="4973639"/>
            <a:ext cx="11350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Same</a:t>
            </a:r>
            <a:endParaRPr kumimoji="1" lang="en-US" altLang="zh-CN" sz="1400">
              <a:latin typeface="Times New Roman" panose="02020603050405020304" charset="0"/>
            </a:endParaRPr>
          </a:p>
        </p:txBody>
      </p:sp>
      <p:sp>
        <p:nvSpPr>
          <p:cNvPr id="75797" name="Rectangle 150"/>
          <p:cNvSpPr>
            <a:spLocks noChangeArrowheads="1"/>
          </p:cNvSpPr>
          <p:nvPr/>
        </p:nvSpPr>
        <p:spPr bwMode="auto">
          <a:xfrm>
            <a:off x="6987223" y="4973639"/>
            <a:ext cx="11350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Warm</a:t>
            </a:r>
            <a:endParaRPr kumimoji="1" lang="en-US" altLang="zh-CN" sz="1400">
              <a:latin typeface="Times New Roman" panose="02020603050405020304" charset="0"/>
            </a:endParaRPr>
          </a:p>
        </p:txBody>
      </p:sp>
      <p:sp>
        <p:nvSpPr>
          <p:cNvPr id="75798" name="Rectangle 149"/>
          <p:cNvSpPr>
            <a:spLocks noChangeArrowheads="1"/>
          </p:cNvSpPr>
          <p:nvPr/>
        </p:nvSpPr>
        <p:spPr bwMode="auto">
          <a:xfrm>
            <a:off x="5852161" y="4973639"/>
            <a:ext cx="11350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Strong</a:t>
            </a:r>
            <a:endParaRPr kumimoji="1" lang="en-US" altLang="zh-CN" sz="1400">
              <a:latin typeface="Times New Roman" panose="02020603050405020304" charset="0"/>
            </a:endParaRPr>
          </a:p>
        </p:txBody>
      </p:sp>
      <p:sp>
        <p:nvSpPr>
          <p:cNvPr id="75799" name="Rectangle 148"/>
          <p:cNvSpPr>
            <a:spLocks noChangeArrowheads="1"/>
          </p:cNvSpPr>
          <p:nvPr/>
        </p:nvSpPr>
        <p:spPr bwMode="auto">
          <a:xfrm>
            <a:off x="4717098" y="4973639"/>
            <a:ext cx="11350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High</a:t>
            </a:r>
            <a:endParaRPr kumimoji="1" lang="en-US" altLang="zh-CN" sz="1400">
              <a:latin typeface="Times New Roman" panose="02020603050405020304" charset="0"/>
            </a:endParaRPr>
          </a:p>
        </p:txBody>
      </p:sp>
      <p:sp>
        <p:nvSpPr>
          <p:cNvPr id="75800" name="Rectangle 147"/>
          <p:cNvSpPr>
            <a:spLocks noChangeArrowheads="1"/>
          </p:cNvSpPr>
          <p:nvPr/>
        </p:nvSpPr>
        <p:spPr bwMode="auto">
          <a:xfrm>
            <a:off x="3582036" y="4973639"/>
            <a:ext cx="11350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Warm</a:t>
            </a:r>
            <a:endParaRPr kumimoji="1" lang="en-US" altLang="zh-CN" sz="1400">
              <a:latin typeface="Times New Roman" panose="02020603050405020304" charset="0"/>
            </a:endParaRPr>
          </a:p>
        </p:txBody>
      </p:sp>
      <p:sp>
        <p:nvSpPr>
          <p:cNvPr id="75801" name="Rectangle 146"/>
          <p:cNvSpPr>
            <a:spLocks noChangeArrowheads="1"/>
          </p:cNvSpPr>
          <p:nvPr/>
        </p:nvSpPr>
        <p:spPr bwMode="auto">
          <a:xfrm>
            <a:off x="2446973" y="4973639"/>
            <a:ext cx="11350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Sunny</a:t>
            </a:r>
            <a:endParaRPr kumimoji="1" lang="en-US" altLang="zh-CN" sz="1400">
              <a:latin typeface="Times New Roman" panose="02020603050405020304" charset="0"/>
            </a:endParaRPr>
          </a:p>
        </p:txBody>
      </p:sp>
      <p:sp>
        <p:nvSpPr>
          <p:cNvPr id="75802" name="Rectangle 145"/>
          <p:cNvSpPr>
            <a:spLocks noChangeArrowheads="1"/>
          </p:cNvSpPr>
          <p:nvPr/>
        </p:nvSpPr>
        <p:spPr bwMode="auto">
          <a:xfrm>
            <a:off x="1311911" y="4973639"/>
            <a:ext cx="11350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2</a:t>
            </a:r>
            <a:endParaRPr kumimoji="1" lang="en-US" altLang="zh-CN" sz="1400">
              <a:latin typeface="Times New Roman" panose="02020603050405020304" charset="0"/>
            </a:endParaRPr>
          </a:p>
        </p:txBody>
      </p:sp>
      <p:sp>
        <p:nvSpPr>
          <p:cNvPr id="75803" name="Rectangle 144"/>
          <p:cNvSpPr>
            <a:spLocks noChangeArrowheads="1"/>
          </p:cNvSpPr>
          <p:nvPr/>
        </p:nvSpPr>
        <p:spPr bwMode="auto">
          <a:xfrm>
            <a:off x="9257348" y="4578350"/>
            <a:ext cx="1135062"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Yes</a:t>
            </a:r>
            <a:endParaRPr kumimoji="1" lang="en-US" altLang="zh-CN" sz="1400">
              <a:latin typeface="Times New Roman" panose="02020603050405020304" charset="0"/>
            </a:endParaRPr>
          </a:p>
        </p:txBody>
      </p:sp>
      <p:sp>
        <p:nvSpPr>
          <p:cNvPr id="75804" name="Rectangle 143"/>
          <p:cNvSpPr>
            <a:spLocks noChangeArrowheads="1"/>
          </p:cNvSpPr>
          <p:nvPr/>
        </p:nvSpPr>
        <p:spPr bwMode="auto">
          <a:xfrm>
            <a:off x="8122286" y="4578350"/>
            <a:ext cx="1135063"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Same</a:t>
            </a:r>
            <a:endParaRPr kumimoji="1" lang="en-US" altLang="zh-CN" sz="1400">
              <a:latin typeface="Times New Roman" panose="02020603050405020304" charset="0"/>
            </a:endParaRPr>
          </a:p>
        </p:txBody>
      </p:sp>
      <p:sp>
        <p:nvSpPr>
          <p:cNvPr id="75805" name="Rectangle 142"/>
          <p:cNvSpPr>
            <a:spLocks noChangeArrowheads="1"/>
          </p:cNvSpPr>
          <p:nvPr/>
        </p:nvSpPr>
        <p:spPr bwMode="auto">
          <a:xfrm>
            <a:off x="6987223" y="4578350"/>
            <a:ext cx="1135062"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Warm</a:t>
            </a:r>
            <a:endParaRPr kumimoji="1" lang="en-US" altLang="zh-CN" sz="1400">
              <a:latin typeface="Times New Roman" panose="02020603050405020304" charset="0"/>
            </a:endParaRPr>
          </a:p>
        </p:txBody>
      </p:sp>
      <p:sp>
        <p:nvSpPr>
          <p:cNvPr id="75806" name="Rectangle 141"/>
          <p:cNvSpPr>
            <a:spLocks noChangeArrowheads="1"/>
          </p:cNvSpPr>
          <p:nvPr/>
        </p:nvSpPr>
        <p:spPr bwMode="auto">
          <a:xfrm>
            <a:off x="5852161" y="4578350"/>
            <a:ext cx="1135063"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Strong</a:t>
            </a:r>
            <a:endParaRPr kumimoji="1" lang="en-US" altLang="zh-CN" sz="1400">
              <a:latin typeface="Times New Roman" panose="02020603050405020304" charset="0"/>
            </a:endParaRPr>
          </a:p>
        </p:txBody>
      </p:sp>
      <p:sp>
        <p:nvSpPr>
          <p:cNvPr id="75807" name="Rectangle 140"/>
          <p:cNvSpPr>
            <a:spLocks noChangeArrowheads="1"/>
          </p:cNvSpPr>
          <p:nvPr/>
        </p:nvSpPr>
        <p:spPr bwMode="auto">
          <a:xfrm>
            <a:off x="4717098" y="4578350"/>
            <a:ext cx="1135062"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dirty="0">
                <a:latin typeface="Times New Roman" panose="02020603050405020304" charset="0"/>
              </a:rPr>
              <a:t>Normal</a:t>
            </a:r>
            <a:endParaRPr kumimoji="1" lang="en-US" altLang="zh-CN" sz="1400" dirty="0">
              <a:latin typeface="Times New Roman" panose="02020603050405020304" charset="0"/>
            </a:endParaRPr>
          </a:p>
        </p:txBody>
      </p:sp>
      <p:sp>
        <p:nvSpPr>
          <p:cNvPr id="75808" name="Rectangle 139"/>
          <p:cNvSpPr>
            <a:spLocks noChangeArrowheads="1"/>
          </p:cNvSpPr>
          <p:nvPr/>
        </p:nvSpPr>
        <p:spPr bwMode="auto">
          <a:xfrm>
            <a:off x="3582036" y="4578350"/>
            <a:ext cx="1135063"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Warm</a:t>
            </a:r>
            <a:endParaRPr kumimoji="1" lang="en-US" altLang="zh-CN" sz="1400">
              <a:latin typeface="Times New Roman" panose="02020603050405020304" charset="0"/>
            </a:endParaRPr>
          </a:p>
        </p:txBody>
      </p:sp>
      <p:sp>
        <p:nvSpPr>
          <p:cNvPr id="75809" name="Rectangle 138"/>
          <p:cNvSpPr>
            <a:spLocks noChangeArrowheads="1"/>
          </p:cNvSpPr>
          <p:nvPr/>
        </p:nvSpPr>
        <p:spPr bwMode="auto">
          <a:xfrm>
            <a:off x="2446973" y="4578350"/>
            <a:ext cx="1135062"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Sunny</a:t>
            </a:r>
            <a:endParaRPr kumimoji="1" lang="en-US" altLang="zh-CN" sz="1400">
              <a:latin typeface="Times New Roman" panose="02020603050405020304" charset="0"/>
            </a:endParaRPr>
          </a:p>
        </p:txBody>
      </p:sp>
      <p:sp>
        <p:nvSpPr>
          <p:cNvPr id="75810" name="Rectangle 137"/>
          <p:cNvSpPr>
            <a:spLocks noChangeArrowheads="1"/>
          </p:cNvSpPr>
          <p:nvPr/>
        </p:nvSpPr>
        <p:spPr bwMode="auto">
          <a:xfrm>
            <a:off x="1311911" y="4578350"/>
            <a:ext cx="1135063"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1</a:t>
            </a:r>
            <a:endParaRPr kumimoji="1" lang="en-US" altLang="zh-CN" sz="1400">
              <a:latin typeface="Times New Roman" panose="02020603050405020304" charset="0"/>
            </a:endParaRPr>
          </a:p>
        </p:txBody>
      </p:sp>
      <p:sp>
        <p:nvSpPr>
          <p:cNvPr id="75811" name="Rectangle 136"/>
          <p:cNvSpPr>
            <a:spLocks noChangeArrowheads="1"/>
          </p:cNvSpPr>
          <p:nvPr/>
        </p:nvSpPr>
        <p:spPr bwMode="auto">
          <a:xfrm>
            <a:off x="9257348" y="4197350"/>
            <a:ext cx="12763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EnjoySport</a:t>
            </a:r>
            <a:endParaRPr kumimoji="1" lang="en-US" altLang="zh-CN" sz="1400">
              <a:latin typeface="Times New Roman" panose="02020603050405020304" charset="0"/>
            </a:endParaRPr>
          </a:p>
        </p:txBody>
      </p:sp>
      <p:sp>
        <p:nvSpPr>
          <p:cNvPr id="75812" name="Rectangle 135"/>
          <p:cNvSpPr>
            <a:spLocks noChangeArrowheads="1"/>
          </p:cNvSpPr>
          <p:nvPr/>
        </p:nvSpPr>
        <p:spPr bwMode="auto">
          <a:xfrm>
            <a:off x="8122286" y="4197350"/>
            <a:ext cx="113506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Forecast</a:t>
            </a:r>
            <a:endParaRPr kumimoji="1" lang="en-US" altLang="zh-CN" sz="1400">
              <a:latin typeface="Times New Roman" panose="02020603050405020304" charset="0"/>
            </a:endParaRPr>
          </a:p>
        </p:txBody>
      </p:sp>
      <p:sp>
        <p:nvSpPr>
          <p:cNvPr id="75813" name="Rectangle 134"/>
          <p:cNvSpPr>
            <a:spLocks noChangeArrowheads="1"/>
          </p:cNvSpPr>
          <p:nvPr/>
        </p:nvSpPr>
        <p:spPr bwMode="auto">
          <a:xfrm>
            <a:off x="6987223" y="4197350"/>
            <a:ext cx="1135062"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Water</a:t>
            </a:r>
            <a:endParaRPr kumimoji="1" lang="en-US" altLang="zh-CN" sz="1400">
              <a:latin typeface="Times New Roman" panose="02020603050405020304" charset="0"/>
            </a:endParaRPr>
          </a:p>
        </p:txBody>
      </p:sp>
      <p:sp>
        <p:nvSpPr>
          <p:cNvPr id="75814" name="Rectangle 133"/>
          <p:cNvSpPr>
            <a:spLocks noChangeArrowheads="1"/>
          </p:cNvSpPr>
          <p:nvPr/>
        </p:nvSpPr>
        <p:spPr bwMode="auto">
          <a:xfrm>
            <a:off x="5852161" y="4197350"/>
            <a:ext cx="113506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Wind</a:t>
            </a:r>
            <a:endParaRPr kumimoji="1" lang="en-US" altLang="zh-CN" sz="1400">
              <a:latin typeface="Times New Roman" panose="02020603050405020304" charset="0"/>
            </a:endParaRPr>
          </a:p>
        </p:txBody>
      </p:sp>
      <p:sp>
        <p:nvSpPr>
          <p:cNvPr id="75815" name="Rectangle 132"/>
          <p:cNvSpPr>
            <a:spLocks noChangeArrowheads="1"/>
          </p:cNvSpPr>
          <p:nvPr/>
        </p:nvSpPr>
        <p:spPr bwMode="auto">
          <a:xfrm>
            <a:off x="4717098" y="4197350"/>
            <a:ext cx="1135062"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Humidity</a:t>
            </a:r>
            <a:endParaRPr kumimoji="1" lang="en-US" altLang="zh-CN" sz="1400">
              <a:latin typeface="Times New Roman" panose="02020603050405020304" charset="0"/>
            </a:endParaRPr>
          </a:p>
        </p:txBody>
      </p:sp>
      <p:sp>
        <p:nvSpPr>
          <p:cNvPr id="75816" name="Rectangle 131"/>
          <p:cNvSpPr>
            <a:spLocks noChangeArrowheads="1"/>
          </p:cNvSpPr>
          <p:nvPr/>
        </p:nvSpPr>
        <p:spPr bwMode="auto">
          <a:xfrm>
            <a:off x="3582036" y="4197350"/>
            <a:ext cx="113506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AirTemp</a:t>
            </a:r>
            <a:endParaRPr kumimoji="1" lang="en-US" altLang="zh-CN" sz="1400">
              <a:latin typeface="Times New Roman" panose="02020603050405020304" charset="0"/>
            </a:endParaRPr>
          </a:p>
        </p:txBody>
      </p:sp>
      <p:sp>
        <p:nvSpPr>
          <p:cNvPr id="75817" name="Rectangle 130"/>
          <p:cNvSpPr>
            <a:spLocks noChangeArrowheads="1"/>
          </p:cNvSpPr>
          <p:nvPr/>
        </p:nvSpPr>
        <p:spPr bwMode="auto">
          <a:xfrm>
            <a:off x="2446973" y="4197350"/>
            <a:ext cx="1135062"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Sky</a:t>
            </a:r>
            <a:endParaRPr kumimoji="1" lang="en-US" altLang="zh-CN" sz="1400">
              <a:latin typeface="Times New Roman" panose="02020603050405020304" charset="0"/>
            </a:endParaRPr>
          </a:p>
        </p:txBody>
      </p:sp>
      <p:sp>
        <p:nvSpPr>
          <p:cNvPr id="75818" name="Rectangle 129"/>
          <p:cNvSpPr>
            <a:spLocks noChangeArrowheads="1"/>
          </p:cNvSpPr>
          <p:nvPr/>
        </p:nvSpPr>
        <p:spPr bwMode="auto">
          <a:xfrm>
            <a:off x="1311911" y="4197350"/>
            <a:ext cx="113506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Example</a:t>
            </a:r>
            <a:endParaRPr kumimoji="1" lang="en-US" altLang="zh-CN" sz="1400">
              <a:latin typeface="Times New Roman" panose="02020603050405020304" charset="0"/>
            </a:endParaRPr>
          </a:p>
        </p:txBody>
      </p:sp>
      <p:sp>
        <p:nvSpPr>
          <p:cNvPr id="75819" name="Line 169"/>
          <p:cNvSpPr>
            <a:spLocks noChangeShapeType="1"/>
          </p:cNvSpPr>
          <p:nvPr/>
        </p:nvSpPr>
        <p:spPr bwMode="auto">
          <a:xfrm>
            <a:off x="1311910" y="4197350"/>
            <a:ext cx="9080500" cy="0"/>
          </a:xfrm>
          <a:prstGeom prst="line">
            <a:avLst/>
          </a:prstGeom>
          <a:noFill/>
          <a:ln w="28575" cap="sq">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5820" name="Line 170"/>
          <p:cNvSpPr>
            <a:spLocks noChangeShapeType="1"/>
          </p:cNvSpPr>
          <p:nvPr/>
        </p:nvSpPr>
        <p:spPr bwMode="auto">
          <a:xfrm>
            <a:off x="1311910" y="4578350"/>
            <a:ext cx="9080500"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5821" name="Line 174"/>
          <p:cNvSpPr>
            <a:spLocks noChangeShapeType="1"/>
          </p:cNvSpPr>
          <p:nvPr/>
        </p:nvSpPr>
        <p:spPr bwMode="auto">
          <a:xfrm>
            <a:off x="1311910" y="6162675"/>
            <a:ext cx="9080500" cy="0"/>
          </a:xfrm>
          <a:prstGeom prst="line">
            <a:avLst/>
          </a:prstGeom>
          <a:noFill/>
          <a:ln w="28575" cap="sq">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8" name="文本框 7"/>
          <p:cNvSpPr txBox="1"/>
          <p:nvPr/>
        </p:nvSpPr>
        <p:spPr>
          <a:xfrm>
            <a:off x="744220" y="3827780"/>
            <a:ext cx="1014730" cy="306705"/>
          </a:xfrm>
          <a:prstGeom prst="rect">
            <a:avLst/>
          </a:prstGeom>
          <a:noFill/>
        </p:spPr>
        <p:txBody>
          <a:bodyPr wrap="square" rtlCol="0" anchor="t">
            <a:spAutoFit/>
          </a:bodyPr>
          <a:lstStyle/>
          <a:p>
            <a:r>
              <a:rPr lang="zh-CN" altLang="en-US" sz="1400">
                <a:sym typeface="+mn-ea"/>
              </a:rPr>
              <a:t>样例集</a:t>
            </a:r>
            <a:r>
              <a:rPr lang="en-US" altLang="zh-CN" sz="1400">
                <a:sym typeface="+mn-ea"/>
              </a:rPr>
              <a:t>D</a:t>
            </a:r>
            <a:r>
              <a:rPr lang="zh-CN" altLang="en-US" sz="1400">
                <a:sym typeface="+mn-ea"/>
              </a:rPr>
              <a:t>：</a:t>
            </a:r>
            <a:endParaRPr lang="zh-CN" altLang="en-US" sz="1400">
              <a:sym typeface="+mn-ea"/>
            </a:endParaRPr>
          </a:p>
        </p:txBody>
      </p:sp>
      <p:pic>
        <p:nvPicPr>
          <p:cNvPr id="10" name="图片 9" descr="水上运动"/>
          <p:cNvPicPr>
            <a:picLocks noChangeAspect="1"/>
          </p:cNvPicPr>
          <p:nvPr/>
        </p:nvPicPr>
        <p:blipFill>
          <a:blip r:embed="rId1"/>
          <a:stretch>
            <a:fillRect/>
          </a:stretch>
        </p:blipFill>
        <p:spPr>
          <a:xfrm>
            <a:off x="8034020" y="1435735"/>
            <a:ext cx="3589655" cy="227901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3643630" cy="583565"/>
          </a:xfrm>
          <a:prstGeom prst="rect">
            <a:avLst/>
          </a:prstGeom>
          <a:noFill/>
        </p:spPr>
        <p:txBody>
          <a:bodyPr wrap="square" rtlCol="0">
            <a:spAutoFit/>
            <a:scene3d>
              <a:camera prst="orthographicFront"/>
              <a:lightRig rig="threePt" dir="t"/>
            </a:scene3d>
          </a:bodyPr>
          <a:lstStyle/>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什么是概念学习？</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
        <p:nvSpPr>
          <p:cNvPr id="5" name="文本框 4"/>
          <p:cNvSpPr txBox="1"/>
          <p:nvPr/>
        </p:nvSpPr>
        <p:spPr>
          <a:xfrm>
            <a:off x="360045" y="1270000"/>
            <a:ext cx="7167880" cy="953135"/>
          </a:xfrm>
          <a:prstGeom prst="rect">
            <a:avLst/>
          </a:prstGeom>
          <a:noFill/>
        </p:spPr>
        <p:txBody>
          <a:bodyPr wrap="square" rtlCol="0">
            <a:spAutoFit/>
          </a:bodyPr>
          <a:lstStyle/>
          <a:p>
            <a:r>
              <a:rPr lang="zh-CN" altLang="en-US" sz="2000"/>
              <a:t>学习过程：</a:t>
            </a:r>
            <a:endParaRPr lang="zh-CN" altLang="en-US" sz="2000"/>
          </a:p>
          <a:p>
            <a:endParaRPr lang="zh-CN" altLang="en-US"/>
          </a:p>
          <a:p>
            <a:r>
              <a:rPr lang="en-US" altLang="zh-CN">
                <a:solidFill>
                  <a:schemeClr val="accent5">
                    <a:lumMod val="75000"/>
                  </a:schemeClr>
                </a:solidFill>
              </a:rPr>
              <a:t>1</a:t>
            </a:r>
            <a:r>
              <a:rPr lang="zh-CN" altLang="en-US">
                <a:solidFill>
                  <a:schemeClr val="accent5">
                    <a:lumMod val="75000"/>
                  </a:schemeClr>
                </a:solidFill>
              </a:rPr>
              <a:t>）设定假设空间</a:t>
            </a:r>
            <a:r>
              <a:rPr lang="en-US" altLang="zh-CN">
                <a:solidFill>
                  <a:schemeClr val="accent5">
                    <a:lumMod val="75000"/>
                  </a:schemeClr>
                </a:solidFill>
              </a:rPr>
              <a:t>H</a:t>
            </a:r>
            <a:r>
              <a:rPr lang="zh-CN" altLang="en-US">
                <a:solidFill>
                  <a:schemeClr val="accent5">
                    <a:lumMod val="75000"/>
                  </a:schemeClr>
                </a:solidFill>
              </a:rPr>
              <a:t>，假设空间</a:t>
            </a:r>
            <a:r>
              <a:rPr lang="en-US" altLang="zh-CN">
                <a:solidFill>
                  <a:schemeClr val="accent5">
                    <a:lumMod val="75000"/>
                  </a:schemeClr>
                </a:solidFill>
              </a:rPr>
              <a:t>H</a:t>
            </a:r>
            <a:r>
              <a:rPr lang="zh-CN" altLang="en-US">
                <a:solidFill>
                  <a:schemeClr val="accent5">
                    <a:lumMod val="75000"/>
                  </a:schemeClr>
                </a:solidFill>
              </a:rPr>
              <a:t>中有许多假设</a:t>
            </a:r>
            <a:r>
              <a:rPr lang="en-US" altLang="zh-CN">
                <a:solidFill>
                  <a:schemeClr val="accent5">
                    <a:lumMod val="75000"/>
                  </a:schemeClr>
                </a:solidFill>
              </a:rPr>
              <a:t>h</a:t>
            </a:r>
            <a:endParaRPr lang="en-US" altLang="zh-CN">
              <a:solidFill>
                <a:schemeClr val="accent5">
                  <a:lumMod val="75000"/>
                </a:schemeClr>
              </a:solidFill>
            </a:endParaRPr>
          </a:p>
        </p:txBody>
      </p:sp>
      <p:sp>
        <p:nvSpPr>
          <p:cNvPr id="6" name="文本框 5"/>
          <p:cNvSpPr txBox="1"/>
          <p:nvPr/>
        </p:nvSpPr>
        <p:spPr>
          <a:xfrm>
            <a:off x="523240" y="2353310"/>
            <a:ext cx="9171305" cy="1558290"/>
          </a:xfrm>
          <a:prstGeom prst="rect">
            <a:avLst/>
          </a:prstGeom>
          <a:noFill/>
        </p:spPr>
        <p:txBody>
          <a:bodyPr wrap="square" rtlCol="0" anchor="t">
            <a:spAutoFit/>
          </a:bodyPr>
          <a:lstStyle/>
          <a:p>
            <a:pPr lvl="1" eaLnBrk="1" hangingPunct="1">
              <a:defRPr/>
            </a:pPr>
            <a:r>
              <a:rPr lang="zh-CN" altLang="en-US" dirty="0">
                <a:sym typeface="+mn-ea"/>
              </a:rPr>
              <a:t>令每个假设为</a:t>
            </a:r>
            <a:r>
              <a:rPr lang="en-US" altLang="zh-CN" dirty="0">
                <a:sym typeface="+mn-ea"/>
              </a:rPr>
              <a:t>6</a:t>
            </a:r>
            <a:r>
              <a:rPr lang="zh-CN" altLang="en-US" dirty="0">
                <a:sym typeface="+mn-ea"/>
              </a:rPr>
              <a:t>个约束（或变量）的向量，每个约束对应一个属性可取值范围，</a:t>
            </a:r>
            <a:endParaRPr lang="zh-CN" altLang="en-US" dirty="0">
              <a:sym typeface="+mn-ea"/>
            </a:endParaRPr>
          </a:p>
          <a:p>
            <a:pPr lvl="1" eaLnBrk="1" hangingPunct="1">
              <a:lnSpc>
                <a:spcPct val="40000"/>
              </a:lnSpc>
              <a:defRPr/>
            </a:pPr>
            <a:endParaRPr lang="zh-CN" altLang="en-US" b="1" dirty="0">
              <a:sym typeface="+mn-ea"/>
            </a:endParaRPr>
          </a:p>
          <a:p>
            <a:pPr lvl="1" eaLnBrk="1" hangingPunct="1">
              <a:defRPr/>
            </a:pPr>
            <a:r>
              <a:rPr lang="en-US" altLang="zh-CN" b="1" dirty="0">
                <a:sym typeface="+mn-ea"/>
              </a:rPr>
              <a:t>--</a:t>
            </a:r>
            <a:r>
              <a:rPr lang="zh-CN" altLang="en-US" b="1" dirty="0">
                <a:sym typeface="+mn-ea"/>
              </a:rPr>
              <a:t>？</a:t>
            </a:r>
            <a:r>
              <a:rPr lang="en-US" altLang="zh-CN" b="1" dirty="0">
                <a:sym typeface="+mn-ea"/>
              </a:rPr>
              <a:t>                </a:t>
            </a:r>
            <a:r>
              <a:rPr lang="zh-CN" altLang="en-US" dirty="0">
                <a:sym typeface="+mn-ea"/>
              </a:rPr>
              <a:t>代表属于该概念的成员在该属性可接受任意的值</a:t>
            </a:r>
            <a:endParaRPr lang="zh-CN" altLang="en-US" dirty="0">
              <a:sym typeface="+mn-ea"/>
            </a:endParaRPr>
          </a:p>
          <a:p>
            <a:pPr lvl="1" eaLnBrk="1" hangingPunct="1">
              <a:lnSpc>
                <a:spcPct val="40000"/>
              </a:lnSpc>
              <a:defRPr/>
            </a:pPr>
            <a:endParaRPr lang="zh-CN" altLang="en-US" dirty="0">
              <a:sym typeface="+mn-ea"/>
            </a:endParaRPr>
          </a:p>
          <a:p>
            <a:pPr lvl="1" eaLnBrk="1" hangingPunct="1">
              <a:defRPr/>
            </a:pPr>
            <a:r>
              <a:rPr lang="en-US" altLang="zh-CN" b="1" dirty="0">
                <a:sym typeface="+mn-ea"/>
              </a:rPr>
              <a:t>--attribute</a:t>
            </a:r>
            <a:r>
              <a:rPr lang="en-US" altLang="zh-CN" dirty="0">
                <a:sym typeface="+mn-ea"/>
              </a:rPr>
              <a:t>    </a:t>
            </a:r>
            <a:r>
              <a:rPr lang="zh-CN" altLang="en-US" dirty="0">
                <a:sym typeface="+mn-ea"/>
              </a:rPr>
              <a:t>代表属于该概念的成员在该属性只接受明确指定的属性值</a:t>
            </a:r>
            <a:endParaRPr lang="zh-CN" altLang="en-US" dirty="0">
              <a:sym typeface="+mn-ea"/>
            </a:endParaRPr>
          </a:p>
          <a:p>
            <a:pPr lvl="1" eaLnBrk="1" hangingPunct="1">
              <a:lnSpc>
                <a:spcPct val="50000"/>
              </a:lnSpc>
              <a:defRPr/>
            </a:pPr>
            <a:endParaRPr lang="zh-CN" altLang="en-US" dirty="0">
              <a:sym typeface="+mn-ea"/>
            </a:endParaRPr>
          </a:p>
          <a:p>
            <a:pPr lvl="1" eaLnBrk="1" hangingPunct="1">
              <a:defRPr/>
            </a:pPr>
            <a:r>
              <a:rPr lang="en-US" altLang="zh-CN" b="1" dirty="0">
                <a:sym typeface="+mn-ea"/>
              </a:rPr>
              <a:t>--</a:t>
            </a:r>
            <a:r>
              <a:rPr lang="zh-CN" altLang="en-US" b="1" dirty="0">
                <a:sym typeface="Symbol" panose="05050102010706020507" pitchFamily="18" charset="2"/>
              </a:rPr>
              <a:t></a:t>
            </a:r>
            <a:r>
              <a:rPr lang="zh-CN" altLang="en-US" dirty="0">
                <a:sym typeface="Symbol" panose="05050102010706020507" pitchFamily="18" charset="2"/>
              </a:rPr>
              <a:t> </a:t>
            </a:r>
            <a:r>
              <a:rPr lang="en-US" altLang="zh-CN" dirty="0">
                <a:sym typeface="Symbol" panose="05050102010706020507" pitchFamily="18" charset="2"/>
              </a:rPr>
              <a:t>                 </a:t>
            </a:r>
            <a:r>
              <a:rPr lang="zh-CN" altLang="en-US" dirty="0">
                <a:sym typeface="Symbol" panose="05050102010706020507" pitchFamily="18" charset="2"/>
              </a:rPr>
              <a:t>代表</a:t>
            </a:r>
            <a:r>
              <a:rPr lang="zh-CN" altLang="en-US" dirty="0">
                <a:sym typeface="+mn-ea"/>
              </a:rPr>
              <a:t>属于该概念的成员在该属性</a:t>
            </a:r>
            <a:r>
              <a:rPr lang="zh-CN" altLang="en-US" dirty="0">
                <a:sym typeface="Symbol" panose="05050102010706020507" pitchFamily="18" charset="2"/>
              </a:rPr>
              <a:t>不接受任何值</a:t>
            </a:r>
            <a:endParaRPr lang="zh-CN" altLang="en-US" dirty="0">
              <a:sym typeface="Symbol" panose="05050102010706020507" pitchFamily="18" charset="2"/>
            </a:endParaRPr>
          </a:p>
        </p:txBody>
      </p:sp>
      <p:sp>
        <p:nvSpPr>
          <p:cNvPr id="7" name="文本框 6"/>
          <p:cNvSpPr txBox="1"/>
          <p:nvPr/>
        </p:nvSpPr>
        <p:spPr>
          <a:xfrm>
            <a:off x="523240" y="4483100"/>
            <a:ext cx="10425430" cy="1614805"/>
          </a:xfrm>
          <a:prstGeom prst="rect">
            <a:avLst/>
          </a:prstGeom>
          <a:noFill/>
        </p:spPr>
        <p:txBody>
          <a:bodyPr wrap="square" rtlCol="0" anchor="t">
            <a:spAutoFit/>
          </a:bodyPr>
          <a:lstStyle/>
          <a:p>
            <a:pPr lvl="1" eaLnBrk="1" hangingPunct="1">
              <a:defRPr/>
            </a:pPr>
            <a:r>
              <a:rPr lang="zh-CN" altLang="en-US" dirty="0">
                <a:sym typeface="+mn-ea"/>
              </a:rPr>
              <a:t>假设的例子：</a:t>
            </a:r>
            <a:endParaRPr lang="zh-CN" altLang="en-US" dirty="0">
              <a:sym typeface="+mn-ea"/>
            </a:endParaRPr>
          </a:p>
          <a:p>
            <a:pPr lvl="1" eaLnBrk="1" hangingPunct="1">
              <a:lnSpc>
                <a:spcPct val="50000"/>
              </a:lnSpc>
              <a:defRPr/>
            </a:pPr>
            <a:endParaRPr lang="zh-CN" altLang="en-US" dirty="0"/>
          </a:p>
          <a:p>
            <a:pPr lvl="2" eaLnBrk="1" hangingPunct="1">
              <a:defRPr/>
            </a:pPr>
            <a:r>
              <a:rPr lang="en-US" altLang="zh-CN" dirty="0">
                <a:sym typeface="+mn-ea"/>
              </a:rPr>
              <a:t>h1</a:t>
            </a:r>
            <a:r>
              <a:rPr lang="zh-CN" altLang="en-US" dirty="0">
                <a:sym typeface="+mn-ea"/>
              </a:rPr>
              <a:t>：</a:t>
            </a:r>
            <a:r>
              <a:rPr lang="en-US" altLang="zh-CN" dirty="0">
                <a:sym typeface="+mn-ea"/>
              </a:rPr>
              <a:t>&lt;?, Cold, High, ?, ?, ?&gt;            // </a:t>
            </a:r>
            <a:r>
              <a:rPr lang="zh-CN" altLang="en-US" dirty="0">
                <a:sym typeface="+mn-ea"/>
              </a:rPr>
              <a:t>第二个属性</a:t>
            </a:r>
            <a:r>
              <a:rPr lang="en-US" altLang="zh-CN" dirty="0">
                <a:sym typeface="+mn-ea"/>
              </a:rPr>
              <a:t>=Cold </a:t>
            </a:r>
            <a:r>
              <a:rPr lang="zh-CN" altLang="en-US" dirty="0">
                <a:sym typeface="+mn-ea"/>
              </a:rPr>
              <a:t>且</a:t>
            </a:r>
            <a:r>
              <a:rPr lang="en-US" altLang="zh-CN" dirty="0">
                <a:sym typeface="+mn-ea"/>
              </a:rPr>
              <a:t> </a:t>
            </a:r>
            <a:r>
              <a:rPr lang="zh-CN" altLang="en-US" dirty="0">
                <a:sym typeface="+mn-ea"/>
              </a:rPr>
              <a:t>第三个属性</a:t>
            </a:r>
            <a:r>
              <a:rPr lang="en-US" altLang="zh-CN" dirty="0">
                <a:sym typeface="+mn-ea"/>
              </a:rPr>
              <a:t>=High</a:t>
            </a:r>
            <a:r>
              <a:rPr lang="zh-CN" altLang="en-US" dirty="0">
                <a:sym typeface="+mn-ea"/>
              </a:rPr>
              <a:t>的样例</a:t>
            </a:r>
            <a:r>
              <a:rPr lang="en-US" altLang="zh-CN" dirty="0">
                <a:sym typeface="+mn-ea"/>
              </a:rPr>
              <a:t> EnjoySport=Yes</a:t>
            </a:r>
            <a:endParaRPr lang="en-US" altLang="zh-CN" dirty="0">
              <a:sym typeface="+mn-ea"/>
            </a:endParaRPr>
          </a:p>
          <a:p>
            <a:pPr lvl="2" eaLnBrk="1" hangingPunct="1">
              <a:lnSpc>
                <a:spcPct val="50000"/>
              </a:lnSpc>
              <a:defRPr/>
            </a:pPr>
            <a:endParaRPr lang="en-US" altLang="zh-CN" dirty="0"/>
          </a:p>
          <a:p>
            <a:pPr lvl="2" eaLnBrk="1" hangingPunct="1">
              <a:defRPr/>
            </a:pPr>
            <a:r>
              <a:rPr lang="en-US" altLang="zh-CN" dirty="0">
                <a:sym typeface="+mn-ea"/>
              </a:rPr>
              <a:t>h2</a:t>
            </a:r>
            <a:r>
              <a:rPr lang="zh-CN" altLang="en-US" dirty="0">
                <a:sym typeface="+mn-ea"/>
              </a:rPr>
              <a:t>：</a:t>
            </a:r>
            <a:r>
              <a:rPr lang="en-US" altLang="zh-CN" dirty="0">
                <a:sym typeface="+mn-ea"/>
              </a:rPr>
              <a:t>&lt;?, ?, ?, ?, ?, ?&gt;	       // </a:t>
            </a:r>
            <a:r>
              <a:rPr lang="zh-CN" altLang="en-US" dirty="0">
                <a:sym typeface="+mn-ea"/>
              </a:rPr>
              <a:t>所有的样例</a:t>
            </a:r>
            <a:r>
              <a:rPr lang="en-US" altLang="zh-CN" dirty="0">
                <a:sym typeface="+mn-ea"/>
              </a:rPr>
              <a:t> EnjoySport=Yes</a:t>
            </a:r>
            <a:endParaRPr lang="en-US" altLang="zh-CN" dirty="0">
              <a:sym typeface="+mn-ea"/>
            </a:endParaRPr>
          </a:p>
          <a:p>
            <a:pPr lvl="2" eaLnBrk="1" hangingPunct="1">
              <a:lnSpc>
                <a:spcPct val="50000"/>
              </a:lnSpc>
              <a:defRPr/>
            </a:pPr>
            <a:endParaRPr lang="zh-CN" altLang="en-US" b="1" dirty="0"/>
          </a:p>
          <a:p>
            <a:pPr lvl="2" eaLnBrk="1" hangingPunct="1">
              <a:defRPr/>
            </a:pPr>
            <a:r>
              <a:rPr lang="en-US" altLang="zh-CN" dirty="0">
                <a:sym typeface="+mn-ea"/>
              </a:rPr>
              <a:t>h3</a:t>
            </a:r>
            <a:r>
              <a:rPr lang="zh-CN" altLang="en-US" dirty="0">
                <a:sym typeface="+mn-ea"/>
              </a:rPr>
              <a:t>：</a:t>
            </a:r>
            <a:r>
              <a:rPr lang="en-US" altLang="zh-CN" dirty="0">
                <a:sym typeface="+mn-ea"/>
              </a:rPr>
              <a:t>&lt; </a:t>
            </a:r>
            <a:r>
              <a:rPr lang="en-US" altLang="zh-CN" dirty="0">
                <a:sym typeface="Symbol" panose="05050102010706020507" pitchFamily="18" charset="2"/>
              </a:rPr>
              <a:t>, , , , , &gt;	       // </a:t>
            </a:r>
            <a:r>
              <a:rPr lang="zh-CN" altLang="en-US" dirty="0">
                <a:sym typeface="Symbol" panose="05050102010706020507" pitchFamily="18" charset="2"/>
              </a:rPr>
              <a:t>所有的样例</a:t>
            </a:r>
            <a:r>
              <a:rPr lang="en-US" altLang="zh-CN" dirty="0">
                <a:sym typeface="Symbol" panose="05050102010706020507" pitchFamily="18" charset="2"/>
              </a:rPr>
              <a:t> EnjoySport=No</a:t>
            </a:r>
            <a:endParaRPr lang="en-US" altLang="zh-CN" dirty="0">
              <a:sym typeface="Symbol" panose="05050102010706020507" pitchFamily="18" charset="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3643630" cy="583565"/>
          </a:xfrm>
          <a:prstGeom prst="rect">
            <a:avLst/>
          </a:prstGeom>
          <a:noFill/>
        </p:spPr>
        <p:txBody>
          <a:bodyPr wrap="square" rtlCol="0">
            <a:spAutoFit/>
            <a:scene3d>
              <a:camera prst="orthographicFront"/>
              <a:lightRig rig="threePt" dir="t"/>
            </a:scene3d>
          </a:bodyPr>
          <a:lstStyle/>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什么是概念学习？</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mc:AlternateContent xmlns:mc="http://schemas.openxmlformats.org/markup-compatibility/2006">
        <mc:Choice xmlns:a14="http://schemas.microsoft.com/office/drawing/2010/main" Requires="a14">
          <p:sp>
            <p:nvSpPr>
              <p:cNvPr id="5" name="文本框 4"/>
              <p:cNvSpPr txBox="1"/>
              <p:nvPr/>
            </p:nvSpPr>
            <p:spPr>
              <a:xfrm>
                <a:off x="326390" y="1320800"/>
                <a:ext cx="11240770" cy="2548255"/>
              </a:xfrm>
              <a:prstGeom prst="rect">
                <a:avLst/>
              </a:prstGeom>
              <a:noFill/>
            </p:spPr>
            <p:txBody>
              <a:bodyPr wrap="square" rtlCol="0">
                <a:spAutoFit/>
              </a:bodyPr>
              <a:lstStyle/>
              <a:p>
                <a:r>
                  <a:rPr lang="zh-CN" altLang="en-US" sz="2000"/>
                  <a:t>学习过程：</a:t>
                </a:r>
                <a:endParaRPr lang="zh-CN" altLang="en-US" sz="2000"/>
              </a:p>
              <a:p>
                <a:endParaRPr lang="zh-CN" altLang="en-US" sz="2000"/>
              </a:p>
              <a:p>
                <a:endParaRPr lang="zh-CN" altLang="en-US"/>
              </a:p>
              <a:p>
                <a:pPr algn="l">
                  <a:buClrTx/>
                  <a:buSzTx/>
                  <a:buFontTx/>
                </a:pPr>
                <a:r>
                  <a:rPr lang="en-US" altLang="zh-CN">
                    <a:solidFill>
                      <a:schemeClr val="accent5">
                        <a:lumMod val="75000"/>
                      </a:schemeClr>
                    </a:solidFill>
                  </a:rPr>
                  <a:t>2）从假设空间H中获得满足样例集D的最佳假设h</a:t>
                </a:r>
                <a:r>
                  <a:rPr lang="en-US" altLang="zh-CN" baseline="-25000">
                    <a:solidFill>
                      <a:schemeClr val="accent5">
                        <a:lumMod val="75000"/>
                      </a:schemeClr>
                    </a:solidFill>
                  </a:rPr>
                  <a:t>optimal</a:t>
                </a:r>
                <a:endParaRPr lang="en-US" altLang="zh-CN">
                  <a:solidFill>
                    <a:schemeClr val="accent5">
                      <a:lumMod val="75000"/>
                    </a:schemeClr>
                  </a:solidFill>
                </a:endParaRPr>
              </a:p>
              <a:p>
                <a:endParaRPr lang="en-US" altLang="zh-CN" baseline="-25000"/>
              </a:p>
              <a:p>
                <a:r>
                  <a:rPr lang="en-US" altLang="zh-CN"/>
                  <a:t>      </a:t>
                </a:r>
                <a:endParaRPr lang="en-US" altLang="zh-CN"/>
              </a:p>
              <a:p>
                <a:r>
                  <a:rPr lang="en-US" altLang="zh-CN"/>
                  <a:t>      </a:t>
                </a:r>
                <a:r>
                  <a:rPr lang="zh-CN" altLang="en-US">
                    <a:sym typeface="+mn-ea"/>
                  </a:rPr>
                  <a:t>通过样例集</a:t>
                </a:r>
                <a:r>
                  <a:rPr lang="en-US" altLang="zh-CN">
                    <a:sym typeface="+mn-ea"/>
                  </a:rPr>
                  <a:t>D</a:t>
                </a:r>
                <a:r>
                  <a:rPr lang="zh-CN" altLang="en-US">
                    <a:sym typeface="+mn-ea"/>
                  </a:rPr>
                  <a:t>中的样例</a:t>
                </a:r>
                <a:r>
                  <a:rPr lang="en-US" altLang="zh-CN">
                    <a:sym typeface="+mn-ea"/>
                  </a:rPr>
                  <a:t>d</a:t>
                </a:r>
                <a:r>
                  <a:rPr lang="zh-CN" altLang="en-US">
                    <a:sym typeface="+mn-ea"/>
                  </a:rPr>
                  <a:t>，</a:t>
                </a:r>
                <a:r>
                  <a:rPr lang="zh-CN" altLang="en-US"/>
                  <a:t>基于概念学习算法从假设空间</a:t>
                </a:r>
                <a:r>
                  <a:rPr lang="en-US" altLang="zh-CN"/>
                  <a:t>H</a:t>
                </a:r>
                <a:r>
                  <a:rPr lang="zh-CN" altLang="en-US"/>
                  <a:t>中获取一个假设</a:t>
                </a:r>
                <a:r>
                  <a:rPr lang="en-US" altLang="zh-CN"/>
                  <a:t>h</a:t>
                </a:r>
                <a:r>
                  <a:rPr lang="en-US" altLang="zh-CN" baseline="-25000">
                    <a:sym typeface="+mn-ea"/>
                  </a:rPr>
                  <a:t>opt</a:t>
                </a:r>
                <a:r>
                  <a:rPr lang="zh-CN" altLang="en-US"/>
                  <a:t>，</a:t>
                </a:r>
                <a:endParaRPr lang="zh-CN" altLang="en-US"/>
              </a:p>
              <a:p>
                <a:pPr>
                  <a:lnSpc>
                    <a:spcPct val="50000"/>
                  </a:lnSpc>
                </a:pPr>
                <a:endParaRPr lang="zh-CN" altLang="en-US"/>
              </a:p>
              <a:p>
                <a:pPr>
                  <a:lnSpc>
                    <a:spcPct val="50000"/>
                  </a:lnSpc>
                </a:pPr>
                <a:endParaRPr lang="zh-CN" altLang="en-US"/>
              </a:p>
              <a:p>
                <a:r>
                  <a:rPr lang="zh-CN" altLang="en-US"/>
                  <a:t> </a:t>
                </a:r>
                <a:r>
                  <a:rPr lang="en-US" altLang="zh-CN"/>
                  <a:t>     </a:t>
                </a:r>
                <a:r>
                  <a:rPr lang="zh-CN" altLang="en-US"/>
                  <a:t>满足对于任意</a:t>
                </a:r>
                <a14:m>
                  <m:oMath xmlns:m="http://schemas.openxmlformats.org/officeDocument/2006/math">
                    <m:r>
                      <a:rPr lang="zh-CN" altLang="en-US" dirty="0">
                        <a:latin typeface="Cambria Math" panose="02040503050406030204" pitchFamily="18" charset="0"/>
                      </a:rPr>
                      <m:t>𝒙</m:t>
                    </m:r>
                  </m:oMath>
                </a14:m>
                <a:r>
                  <a:rPr lang="zh-CN" altLang="en-US"/>
                  <a:t>，</a:t>
                </a:r>
                <a:r>
                  <a:rPr lang="en-US" altLang="zh-CN"/>
                  <a:t>h</a:t>
                </a:r>
                <a:r>
                  <a:rPr lang="en-US" altLang="zh-CN" baseline="-25000">
                    <a:sym typeface="+mn-ea"/>
                  </a:rPr>
                  <a:t>opt</a:t>
                </a:r>
                <a:r>
                  <a:rPr lang="en-US" altLang="zh-CN">
                    <a:sym typeface="+mn-ea"/>
                  </a:rPr>
                  <a:t>(</a:t>
                </a:r>
                <a14:m>
                  <m:oMath xmlns:m="http://schemas.openxmlformats.org/officeDocument/2006/math">
                    <m:r>
                      <a:rPr lang="zh-CN" altLang="en-US" dirty="0">
                        <a:latin typeface="Cambria Math" panose="02040503050406030204" pitchFamily="18" charset="0"/>
                      </a:rPr>
                      <m:t>𝒙</m:t>
                    </m:r>
                  </m:oMath>
                </a14:m>
                <a:r>
                  <a:rPr lang="en-US" altLang="zh-CN">
                    <a:sym typeface="+mn-ea"/>
                  </a:rPr>
                  <a:t>)=c(</a:t>
                </a:r>
                <a14:m>
                  <m:oMath xmlns:m="http://schemas.openxmlformats.org/officeDocument/2006/math">
                    <m:r>
                      <a:rPr lang="zh-CN" altLang="en-US" dirty="0">
                        <a:latin typeface="Cambria Math" panose="02040503050406030204" pitchFamily="18" charset="0"/>
                      </a:rPr>
                      <m:t>𝒙</m:t>
                    </m:r>
                  </m:oMath>
                </a14:m>
                <a:r>
                  <a:rPr lang="en-US" altLang="zh-CN">
                    <a:sym typeface="+mn-ea"/>
                  </a:rPr>
                  <a:t>)</a:t>
                </a:r>
                <a:r>
                  <a:rPr lang="zh-CN" altLang="en-US">
                    <a:sym typeface="+mn-ea"/>
                  </a:rPr>
                  <a:t>，其中</a:t>
                </a:r>
                <a:r>
                  <a:rPr lang="en-US" altLang="zh-CN">
                    <a:sym typeface="+mn-ea"/>
                  </a:rPr>
                  <a:t>c</a:t>
                </a:r>
                <a:r>
                  <a:rPr lang="zh-CN" altLang="en-US">
                    <a:sym typeface="+mn-ea"/>
                  </a:rPr>
                  <a:t>为目标概念，</a:t>
                </a:r>
                <a14:m>
                  <m:oMath xmlns:m="http://schemas.openxmlformats.org/officeDocument/2006/math">
                    <m:r>
                      <a:rPr lang="zh-CN" altLang="en-US" dirty="0">
                        <a:latin typeface="Cambria Math" panose="02040503050406030204" pitchFamily="18" charset="0"/>
                      </a:rPr>
                      <m:t>𝒙</m:t>
                    </m:r>
                  </m:oMath>
                </a14:m>
                <a:r>
                  <a:rPr lang="zh-CN" altLang="en-US">
                    <a:sym typeface="+mn-ea"/>
                  </a:rPr>
                  <a:t>为实例集</a:t>
                </a:r>
                <a14:m>
                  <m:oMath xmlns:m="http://schemas.openxmlformats.org/officeDocument/2006/math">
                    <m:r>
                      <a:rPr lang="en-US" altLang="zh-CN" b="1" i="1" dirty="0" smtClean="0">
                        <a:latin typeface="Cambria Math" panose="02040503050406030204" pitchFamily="18" charset="0"/>
                      </a:rPr>
                      <m:t>𝑿</m:t>
                    </m:r>
                  </m:oMath>
                </a14:m>
                <a:r>
                  <a:rPr lang="zh-CN" altLang="en-US">
                    <a:sym typeface="+mn-ea"/>
                  </a:rPr>
                  <a:t>中的一个实例</a:t>
                </a:r>
                <a:endParaRPr lang="zh-CN" altLang="en-US">
                  <a:sym typeface="+mn-ea"/>
                </a:endParaRPr>
              </a:p>
            </p:txBody>
          </p:sp>
        </mc:Choice>
        <mc:Fallback>
          <p:sp>
            <p:nvSpPr>
              <p:cNvPr id="5" name="文本框 4"/>
              <p:cNvSpPr txBox="1">
                <a:spLocks noRot="1" noChangeAspect="1" noMove="1" noResize="1" noEditPoints="1" noAdjustHandles="1" noChangeArrowheads="1" noChangeShapeType="1" noTextEdit="1"/>
              </p:cNvSpPr>
              <p:nvPr/>
            </p:nvSpPr>
            <p:spPr>
              <a:xfrm>
                <a:off x="326390" y="1320800"/>
                <a:ext cx="11240770" cy="2548255"/>
              </a:xfrm>
              <a:prstGeom prst="rect">
                <a:avLst/>
              </a:prstGeom>
              <a:blipFill rotWithShape="1">
                <a:blip r:embed="rId1"/>
                <a:stretch>
                  <a:fillRect/>
                </a:stretch>
              </a:blipFill>
            </p:spPr>
            <p:txBody>
              <a:bodyPr/>
              <a:lstStyle/>
              <a:p>
                <a:r>
                  <a:rPr lang="zh-CN" altLang="en-US">
                    <a:noFill/>
                  </a:rPr>
                  <a:t> </a:t>
                </a:r>
              </a:p>
            </p:txBody>
          </p:sp>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3643630" cy="583565"/>
          </a:xfrm>
          <a:prstGeom prst="rect">
            <a:avLst/>
          </a:prstGeom>
          <a:noFill/>
        </p:spPr>
        <p:txBody>
          <a:bodyPr wrap="square" rtlCol="0">
            <a:spAutoFit/>
            <a:scene3d>
              <a:camera prst="orthographicFront"/>
              <a:lightRig rig="threePt" dir="t"/>
            </a:scene3d>
          </a:bodyPr>
          <a:lstStyle/>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什么是概念学习？</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mc:AlternateContent xmlns:mc="http://schemas.openxmlformats.org/markup-compatibility/2006">
        <mc:Choice xmlns:a14="http://schemas.microsoft.com/office/drawing/2010/main" Requires="a14">
          <p:sp>
            <p:nvSpPr>
              <p:cNvPr id="9219" name="Rectangle 3"/>
              <p:cNvSpPr>
                <a:spLocks noGrp="1" noChangeArrowheads="1"/>
              </p:cNvSpPr>
              <p:nvPr>
                <p:ph idx="1"/>
              </p:nvPr>
            </p:nvSpPr>
            <p:spPr>
              <a:xfrm>
                <a:off x="301625" y="1398905"/>
                <a:ext cx="10515600" cy="4351338"/>
              </a:xfrm>
            </p:spPr>
            <p:txBody>
              <a:bodyPr/>
              <a:lstStyle/>
              <a:p>
                <a:pPr eaLnBrk="1" hangingPunct="1">
                  <a:buFontTx/>
                  <a:buNone/>
                  <a:defRPr/>
                </a:pPr>
                <a:r>
                  <a:rPr lang="zh-CN" altLang="en-US" sz="2400" u="sng" dirty="0">
                    <a:solidFill>
                      <a:srgbClr val="FF0000"/>
                    </a:solidFill>
                    <a:effectLst>
                      <a:outerShdw blurRad="38100" dist="38100" dir="2700000" algn="tl">
                        <a:srgbClr val="C0C0C0"/>
                      </a:outerShdw>
                    </a:effectLst>
                  </a:rPr>
                  <a:t>形式化描述</a:t>
                </a:r>
                <a:r>
                  <a:rPr lang="zh-CN" altLang="en-US" sz="2400" dirty="0">
                    <a:solidFill>
                      <a:srgbClr val="FF0000"/>
                    </a:solidFill>
                    <a:effectLst>
                      <a:outerShdw blurRad="38100" dist="38100" dir="2700000" algn="tl">
                        <a:srgbClr val="C0C0C0"/>
                      </a:outerShdw>
                    </a:effectLst>
                  </a:rPr>
                  <a:t>：</a:t>
                </a:r>
                <a:endParaRPr lang="zh-CN" altLang="en-US" sz="2400" dirty="0">
                  <a:solidFill>
                    <a:srgbClr val="FF0000"/>
                  </a:solidFill>
                  <a:effectLst>
                    <a:outerShdw blurRad="38100" dist="38100" dir="2700000" algn="tl">
                      <a:srgbClr val="C0C0C0"/>
                    </a:outerShdw>
                  </a:effectLst>
                </a:endParaRPr>
              </a:p>
              <a:p>
                <a:pPr eaLnBrk="1" hangingPunct="1">
                  <a:lnSpc>
                    <a:spcPct val="0"/>
                  </a:lnSpc>
                  <a:buFontTx/>
                  <a:buNone/>
                  <a:defRPr/>
                </a:pPr>
                <a:endParaRPr lang="zh-CN" altLang="en-US" sz="2400" dirty="0">
                  <a:solidFill>
                    <a:srgbClr val="FF0000"/>
                  </a:solidFill>
                  <a:effectLst>
                    <a:outerShdw blurRad="38100" dist="38100" dir="2700000" algn="tl">
                      <a:srgbClr val="C0C0C0"/>
                    </a:outerShdw>
                  </a:effectLst>
                </a:endParaRPr>
              </a:p>
              <a:p>
                <a:pPr algn="l" eaLnBrk="1" hangingPunct="1">
                  <a:buClrTx/>
                  <a:buSzTx/>
                  <a:defRPr/>
                </a:pPr>
                <a:r>
                  <a:rPr lang="zh-CN" altLang="en-US" sz="2000" dirty="0"/>
                  <a:t>已知</a:t>
                </a:r>
                <a:endParaRPr lang="zh-CN" altLang="en-US" sz="2000" dirty="0"/>
              </a:p>
              <a:p>
                <a:pPr lvl="1" eaLnBrk="1" hangingPunct="1">
                  <a:defRPr/>
                </a:pPr>
                <a:r>
                  <a:rPr lang="zh-CN" altLang="en-US" sz="1800" b="1" dirty="0"/>
                  <a:t>实例集</a:t>
                </a:r>
                <a14:m>
                  <m:oMath xmlns:m="http://schemas.openxmlformats.org/officeDocument/2006/math">
                    <m:r>
                      <a:rPr lang="en-US" altLang="zh-CN" sz="1800" b="1" i="1" dirty="0" smtClean="0">
                        <a:latin typeface="Cambria Math" panose="02040503050406030204" pitchFamily="18" charset="0"/>
                      </a:rPr>
                      <m:t>𝑿</m:t>
                    </m:r>
                  </m:oMath>
                </a14:m>
                <a:r>
                  <a:rPr lang="en-US" altLang="zh-CN" sz="2000" dirty="0"/>
                  <a:t>: </a:t>
                </a:r>
                <a:r>
                  <a:rPr lang="zh-CN" altLang="en-US" sz="1800" dirty="0"/>
                  <a:t>每个实例</a:t>
                </a:r>
                <a14:m>
                  <m:oMath xmlns:m="http://schemas.openxmlformats.org/officeDocument/2006/math">
                    <m:r>
                      <a:rPr lang="zh-CN" altLang="en-US" sz="1800" dirty="0">
                        <a:latin typeface="Cambria Math" panose="02040503050406030204" pitchFamily="18" charset="0"/>
                      </a:rPr>
                      <m:t>𝒙</m:t>
                    </m:r>
                  </m:oMath>
                </a14:m>
                <a:r>
                  <a:rPr lang="zh-CN" altLang="en-US" sz="1800" dirty="0"/>
                  <a:t>由6个属性描述，每个属性的取值范围已确定</a:t>
                </a:r>
                <a:endParaRPr lang="zh-CN" altLang="en-US" sz="1800" dirty="0"/>
              </a:p>
              <a:p>
                <a:pPr lvl="1" eaLnBrk="1" hangingPunct="1">
                  <a:lnSpc>
                    <a:spcPct val="10000"/>
                  </a:lnSpc>
                  <a:defRPr/>
                </a:pPr>
                <a:endParaRPr lang="zh-CN" altLang="en-US" sz="1800" dirty="0"/>
              </a:p>
              <a:p>
                <a:pPr lvl="1" eaLnBrk="1" hangingPunct="1">
                  <a:defRPr/>
                </a:pPr>
                <a:r>
                  <a:rPr lang="zh-CN" altLang="en-US" sz="1800" b="1" dirty="0"/>
                  <a:t>假设集</a:t>
                </a:r>
                <a14:m>
                  <m:oMath xmlns:m="http://schemas.openxmlformats.org/officeDocument/2006/math">
                    <m:r>
                      <a:rPr lang="en-US" altLang="zh-CN" sz="1800" b="1" i="1" dirty="0" smtClean="0">
                        <a:latin typeface="Cambria Math" panose="02040503050406030204" pitchFamily="18" charset="0"/>
                      </a:rPr>
                      <m:t>𝑯</m:t>
                    </m:r>
                  </m:oMath>
                </a14:m>
                <a:r>
                  <a:rPr lang="en-US" altLang="zh-CN" sz="2000" dirty="0"/>
                  <a:t>: </a:t>
                </a:r>
                <a:r>
                  <a:rPr lang="zh-CN" altLang="en-US" sz="1800" dirty="0"/>
                  <a:t>每个假设h描述为6个属性的取值约束的合取</a:t>
                </a:r>
                <a:endParaRPr lang="zh-CN" altLang="en-US" sz="1800" dirty="0"/>
              </a:p>
              <a:p>
                <a:pPr lvl="1" eaLnBrk="1" hangingPunct="1">
                  <a:lnSpc>
                    <a:spcPct val="10000"/>
                  </a:lnSpc>
                  <a:defRPr/>
                </a:pPr>
                <a:endParaRPr lang="zh-CN" altLang="en-US" sz="1800" dirty="0"/>
              </a:p>
              <a:p>
                <a:pPr lvl="1" eaLnBrk="1" hangingPunct="1">
                  <a:defRPr/>
                </a:pPr>
                <a:r>
                  <a:rPr lang="zh-CN" altLang="en-US" sz="1800" b="1" dirty="0"/>
                  <a:t>目标概念</a:t>
                </a:r>
                <a:r>
                  <a:rPr lang="en-US" altLang="zh-CN" sz="1800" b="1" dirty="0"/>
                  <a:t>c</a:t>
                </a:r>
                <a:r>
                  <a:rPr lang="en-US" altLang="zh-CN" sz="1800" dirty="0">
                    <a:sym typeface="+mn-ea"/>
                  </a:rPr>
                  <a:t>: </a:t>
                </a:r>
                <a:r>
                  <a:rPr lang="zh-CN" altLang="en-US" sz="1800" dirty="0"/>
                  <a:t>一个布尔函数，变量为确定值</a:t>
                </a:r>
                <a:endParaRPr lang="zh-CN" altLang="en-US" sz="1800" dirty="0"/>
              </a:p>
              <a:p>
                <a:pPr lvl="1" eaLnBrk="1" hangingPunct="1">
                  <a:lnSpc>
                    <a:spcPct val="10000"/>
                  </a:lnSpc>
                  <a:defRPr/>
                </a:pPr>
                <a:endParaRPr lang="zh-CN" altLang="en-US" sz="1800" dirty="0"/>
              </a:p>
              <a:p>
                <a:pPr lvl="1" eaLnBrk="1" hangingPunct="1">
                  <a:defRPr/>
                </a:pPr>
                <a:r>
                  <a:rPr lang="zh-CN" altLang="en-US" sz="1800" b="1" dirty="0"/>
                  <a:t>训练样例集</a:t>
                </a:r>
                <a:r>
                  <a:rPr lang="en-US" altLang="zh-CN" sz="1800" b="1" dirty="0"/>
                  <a:t>D</a:t>
                </a:r>
                <a:r>
                  <a:rPr lang="en-US" altLang="zh-CN" sz="2000" dirty="0">
                    <a:sym typeface="+mn-ea"/>
                  </a:rPr>
                  <a:t>: </a:t>
                </a:r>
                <a:r>
                  <a:rPr lang="zh-CN" altLang="en-US" sz="1800" dirty="0"/>
                  <a:t>目标函数（或目标概念）的正例和反例</a:t>
                </a:r>
                <a:endParaRPr lang="zh-CN" altLang="en-US" sz="1800" dirty="0"/>
              </a:p>
              <a:p>
                <a:pPr lvl="1" eaLnBrk="1" hangingPunct="1">
                  <a:lnSpc>
                    <a:spcPct val="10000"/>
                  </a:lnSpc>
                  <a:defRPr/>
                </a:pPr>
                <a:endParaRPr lang="zh-CN" altLang="en-US" sz="1800" dirty="0"/>
              </a:p>
              <a:p>
                <a:pPr algn="l" eaLnBrk="1" hangingPunct="1">
                  <a:buClrTx/>
                  <a:buSzTx/>
                  <a:defRPr/>
                </a:pPr>
                <a:r>
                  <a:rPr lang="zh-CN" altLang="en-US" sz="2000" dirty="0"/>
                  <a:t>求解</a:t>
                </a:r>
                <a:endParaRPr lang="zh-CN" altLang="en-US" sz="2000" dirty="0"/>
              </a:p>
              <a:p>
                <a:pPr lvl="1" eaLnBrk="1" hangingPunct="1">
                  <a:defRPr/>
                </a:pPr>
                <a:r>
                  <a:rPr lang="en-US" altLang="zh-CN" sz="2000" dirty="0"/>
                  <a:t>H</a:t>
                </a:r>
                <a:r>
                  <a:rPr lang="zh-CN" altLang="en-US" sz="2000" dirty="0"/>
                  <a:t>中的一假设</a:t>
                </a:r>
                <a:r>
                  <a:rPr lang="en-US" altLang="zh-CN" sz="2000" dirty="0"/>
                  <a:t>h, </a:t>
                </a:r>
                <a:r>
                  <a:rPr lang="zh-CN" altLang="en-US" sz="2000" dirty="0"/>
                  <a:t>使对于</a:t>
                </a:r>
                <a:r>
                  <a:rPr lang="en-US" altLang="zh-CN" sz="2000" i="1" dirty="0">
                    <a:latin typeface="Cambria Math" panose="02040503050406030204" pitchFamily="18" charset="0"/>
                  </a:rPr>
                  <a:t>X </a:t>
                </a:r>
                <a:r>
                  <a:rPr lang="zh-CN" altLang="en-US" sz="2000" dirty="0"/>
                  <a:t>中任意</a:t>
                </a:r>
                <a14:m>
                  <m:oMath xmlns:m="http://schemas.openxmlformats.org/officeDocument/2006/math">
                    <m:r>
                      <a:rPr lang="en-US" altLang="zh-CN" sz="2000" i="1" dirty="0" smtClean="0">
                        <a:latin typeface="Cambria Math" panose="02040503050406030204" pitchFamily="18" charset="0"/>
                      </a:rPr>
                      <m:t>𝑥</m:t>
                    </m:r>
                  </m:oMath>
                </a14:m>
                <a:r>
                  <a:rPr lang="en-US" altLang="zh-CN" sz="2000" dirty="0"/>
                  <a:t>, </a:t>
                </a:r>
                <a14:m>
                  <m:oMath xmlns:m="http://schemas.openxmlformats.org/officeDocument/2006/math">
                    <m:r>
                      <a:rPr lang="en-US" altLang="zh-CN" sz="2000" i="1" dirty="0" smtClean="0">
                        <a:latin typeface="Cambria Math" panose="02040503050406030204" pitchFamily="18" charset="0"/>
                      </a:rPr>
                      <m:t>ℎ</m:t>
                    </m:r>
                    <m:r>
                      <a:rPr lang="en-US" altLang="zh-CN" sz="2000" i="1" dirty="0" smtClean="0">
                        <a:latin typeface="Cambria Math" panose="02040503050406030204" pitchFamily="18" charset="0"/>
                      </a:rPr>
                      <m:t>(</m:t>
                    </m:r>
                    <m:r>
                      <a:rPr lang="en-US" altLang="zh-CN" sz="2000" i="1" dirty="0" smtClean="0">
                        <a:latin typeface="Cambria Math" panose="02040503050406030204" pitchFamily="18" charset="0"/>
                      </a:rPr>
                      <m:t>𝑥</m:t>
                    </m:r>
                    <m:r>
                      <a:rPr lang="en-US" altLang="zh-CN" sz="2000" i="1" dirty="0" smtClean="0">
                        <a:latin typeface="Cambria Math" panose="02040503050406030204" pitchFamily="18" charset="0"/>
                      </a:rPr>
                      <m:t>)=</m:t>
                    </m:r>
                    <m:r>
                      <a:rPr lang="en-US" altLang="zh-CN" sz="2000" i="1" dirty="0" smtClean="0">
                        <a:latin typeface="Cambria Math" panose="02040503050406030204" pitchFamily="18" charset="0"/>
                      </a:rPr>
                      <m:t>𝑐</m:t>
                    </m:r>
                    <m:r>
                      <a:rPr lang="en-US" altLang="zh-CN" sz="2000" i="1" dirty="0" smtClean="0">
                        <a:latin typeface="Cambria Math" panose="02040503050406030204" pitchFamily="18" charset="0"/>
                      </a:rPr>
                      <m:t>(</m:t>
                    </m:r>
                    <m:r>
                      <a:rPr lang="en-US" altLang="zh-CN" sz="2000" i="1" dirty="0" smtClean="0">
                        <a:latin typeface="Cambria Math" panose="02040503050406030204" pitchFamily="18" charset="0"/>
                      </a:rPr>
                      <m:t>𝑥</m:t>
                    </m:r>
                    <m:r>
                      <a:rPr lang="en-US" altLang="zh-CN" sz="2000" i="1" dirty="0" smtClean="0">
                        <a:latin typeface="Cambria Math" panose="02040503050406030204" pitchFamily="18" charset="0"/>
                      </a:rPr>
                      <m:t>)</m:t>
                    </m:r>
                  </m:oMath>
                </a14:m>
                <a:endParaRPr lang="en-US" altLang="zh-CN" sz="2000" i="1" dirty="0">
                  <a:latin typeface="Cambria Math" panose="02040503050406030204" pitchFamily="18" charset="0"/>
                </a:endParaRPr>
              </a:p>
            </p:txBody>
          </p:sp>
        </mc:Choice>
        <mc:Fallback>
          <p:sp>
            <p:nvSpPr>
              <p:cNvPr id="9219" name="Rectangle 3"/>
              <p:cNvSpPr>
                <a:spLocks noRot="1" noChangeAspect="1" noMove="1" noResize="1" noEditPoints="1" noAdjustHandles="1" noChangeArrowheads="1" noChangeShapeType="1" noTextEdit="1"/>
              </p:cNvSpPr>
              <p:nvPr>
                <p:ph idx="1"/>
              </p:nvPr>
            </p:nvSpPr>
            <p:spPr>
              <a:xfrm>
                <a:off x="301625" y="1398905"/>
                <a:ext cx="10515600" cy="4351338"/>
              </a:xfrm>
              <a:blipFill rotWithShape="1">
                <a:blip r:embed="rId1"/>
                <a:stretch>
                  <a:fillRect t="-248" b="7"/>
                </a:stretch>
              </a:blipFill>
            </p:spPr>
            <p:txBody>
              <a:bodyPr/>
              <a:lstStyle/>
              <a:p>
                <a:r>
                  <a:rPr lang="zh-CN" altLang="en-US">
                    <a:noFill/>
                  </a:rPr>
                  <a:t> </a:t>
                </a:r>
              </a:p>
            </p:txBody>
          </p:sp>
        </mc:Fallback>
      </mc:AlternateContent>
      <p:sp>
        <p:nvSpPr>
          <p:cNvPr id="5" name="文本框 4"/>
          <p:cNvSpPr txBox="1"/>
          <p:nvPr/>
        </p:nvSpPr>
        <p:spPr>
          <a:xfrm>
            <a:off x="419735" y="5211445"/>
            <a:ext cx="2552065" cy="398780"/>
          </a:xfrm>
          <a:prstGeom prst="rect">
            <a:avLst/>
          </a:prstGeom>
          <a:noFill/>
        </p:spPr>
        <p:txBody>
          <a:bodyPr wrap="square" rtlCol="0">
            <a:spAutoFit/>
          </a:bodyPr>
          <a:lstStyle/>
          <a:p>
            <a:r>
              <a:rPr lang="zh-CN" altLang="en-US" sz="2000" u="sng"/>
              <a:t>概念学习</a:t>
            </a:r>
            <a:r>
              <a:rPr lang="en-US" altLang="zh-CN" sz="2000" u="sng"/>
              <a:t>∈</a:t>
            </a:r>
            <a:r>
              <a:rPr lang="zh-CN" altLang="en-US" sz="2000" u="sng"/>
              <a:t>归纳学习</a:t>
            </a:r>
            <a:endParaRPr lang="zh-CN" altLang="en-US" sz="2000" u="sng"/>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3643630" cy="583565"/>
          </a:xfrm>
          <a:prstGeom prst="rect">
            <a:avLst/>
          </a:prstGeom>
          <a:noFill/>
        </p:spPr>
        <p:txBody>
          <a:bodyPr wrap="square" rtlCol="0">
            <a:spAutoFit/>
            <a:scene3d>
              <a:camera prst="orthographicFront"/>
              <a:lightRig rig="threePt" dir="t"/>
            </a:scene3d>
          </a:bodyPr>
          <a:lstStyle/>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什么是概念学习？</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
        <p:nvSpPr>
          <p:cNvPr id="10243" name="Rectangle 3"/>
          <p:cNvSpPr>
            <a:spLocks noGrp="1" noChangeArrowheads="1"/>
          </p:cNvSpPr>
          <p:nvPr>
            <p:ph idx="1"/>
          </p:nvPr>
        </p:nvSpPr>
        <p:spPr>
          <a:xfrm>
            <a:off x="579120" y="1686560"/>
            <a:ext cx="10515600" cy="4525010"/>
          </a:xfrm>
        </p:spPr>
        <p:txBody>
          <a:bodyPr>
            <a:normAutofit lnSpcReduction="20000"/>
          </a:bodyPr>
          <a:lstStyle/>
          <a:p>
            <a:pPr marL="0" indent="0" eaLnBrk="1" hangingPunct="1">
              <a:buNone/>
              <a:defRPr/>
            </a:pPr>
            <a:r>
              <a:rPr lang="zh-CN" altLang="en-US" sz="2000" b="1" dirty="0"/>
              <a:t>什么是归纳学习？</a:t>
            </a:r>
            <a:endParaRPr lang="zh-CN" altLang="en-US" sz="2000" b="1" dirty="0"/>
          </a:p>
          <a:p>
            <a:pPr marL="0" indent="0" eaLnBrk="1" hangingPunct="1">
              <a:lnSpc>
                <a:spcPct val="40000"/>
              </a:lnSpc>
              <a:buNone/>
              <a:defRPr/>
            </a:pPr>
            <a:endParaRPr lang="zh-CN" altLang="en-US" sz="2000" dirty="0"/>
          </a:p>
          <a:p>
            <a:pPr marL="457200" lvl="1" indent="0" eaLnBrk="1" hangingPunct="1">
              <a:buNone/>
              <a:defRPr/>
            </a:pPr>
            <a:r>
              <a:rPr lang="en-US" altLang="zh-CN" sz="2000" dirty="0"/>
              <a:t>--</a:t>
            </a:r>
            <a:r>
              <a:rPr lang="zh-CN" altLang="en-US" sz="2000" dirty="0"/>
              <a:t>从特殊的样例得到普遍的规律（</a:t>
            </a:r>
            <a:r>
              <a:rPr lang="zh-CN" altLang="en-US" sz="2000" u="sng" dirty="0">
                <a:solidFill>
                  <a:srgbClr val="FF0000"/>
                </a:solidFill>
                <a:effectLst>
                  <a:outerShdw blurRad="38100" dist="38100" dir="2700000" algn="tl">
                    <a:srgbClr val="C0C0C0"/>
                  </a:outerShdw>
                </a:effectLst>
              </a:rPr>
              <a:t>从特殊到一般</a:t>
            </a:r>
            <a:r>
              <a:rPr lang="zh-CN" altLang="en-US" sz="2000" dirty="0"/>
              <a:t>）</a:t>
            </a:r>
            <a:endParaRPr lang="zh-CN" altLang="en-US" sz="2000" dirty="0"/>
          </a:p>
          <a:p>
            <a:pPr marL="457200" lvl="1" indent="0" eaLnBrk="1" hangingPunct="1">
              <a:lnSpc>
                <a:spcPct val="40000"/>
              </a:lnSpc>
              <a:buNone/>
              <a:defRPr/>
            </a:pPr>
            <a:endParaRPr lang="zh-CN" altLang="en-US" sz="2000" dirty="0"/>
          </a:p>
          <a:p>
            <a:pPr lvl="1" eaLnBrk="1" hangingPunct="1">
              <a:lnSpc>
                <a:spcPct val="0"/>
              </a:lnSpc>
              <a:defRPr/>
            </a:pPr>
            <a:endParaRPr lang="zh-CN" altLang="en-US" sz="2000" dirty="0"/>
          </a:p>
          <a:p>
            <a:pPr marL="0" indent="0" eaLnBrk="1" hangingPunct="1">
              <a:buNone/>
              <a:defRPr/>
            </a:pPr>
            <a:r>
              <a:rPr lang="zh-CN" altLang="en-US" sz="2000" b="1" dirty="0"/>
              <a:t>归纳</a:t>
            </a:r>
            <a:endParaRPr lang="zh-CN" altLang="en-US" sz="2000" b="1" dirty="0"/>
          </a:p>
          <a:p>
            <a:pPr marL="0" indent="0" eaLnBrk="1" hangingPunct="1">
              <a:lnSpc>
                <a:spcPct val="40000"/>
              </a:lnSpc>
              <a:buNone/>
              <a:defRPr/>
            </a:pPr>
            <a:endParaRPr lang="zh-CN" altLang="en-US" sz="2000" dirty="0"/>
          </a:p>
          <a:p>
            <a:pPr marL="457200" lvl="1" indent="0" eaLnBrk="1" hangingPunct="1">
              <a:buNone/>
              <a:defRPr/>
            </a:pPr>
            <a:r>
              <a:rPr lang="en-US" altLang="zh-CN" sz="2000" dirty="0"/>
              <a:t>--</a:t>
            </a:r>
            <a:r>
              <a:rPr lang="zh-CN" altLang="en-US" sz="2000" dirty="0"/>
              <a:t>只能保证输出的假设能与训练样例相拟合</a:t>
            </a:r>
            <a:endParaRPr lang="zh-CN" altLang="en-US" sz="2000" dirty="0"/>
          </a:p>
          <a:p>
            <a:pPr marL="457200" lvl="1" indent="0" eaLnBrk="1" hangingPunct="1">
              <a:lnSpc>
                <a:spcPct val="40000"/>
              </a:lnSpc>
              <a:buNone/>
              <a:defRPr/>
            </a:pPr>
            <a:endParaRPr lang="zh-CN" altLang="en-US" sz="2000" dirty="0"/>
          </a:p>
          <a:p>
            <a:pPr lvl="1" eaLnBrk="1" hangingPunct="1">
              <a:lnSpc>
                <a:spcPct val="40000"/>
              </a:lnSpc>
              <a:defRPr/>
            </a:pPr>
            <a:endParaRPr lang="zh-CN" altLang="en-US" sz="2000" dirty="0"/>
          </a:p>
          <a:p>
            <a:pPr marL="0" indent="0" eaLnBrk="1" hangingPunct="1">
              <a:buNone/>
              <a:defRPr/>
            </a:pPr>
            <a:r>
              <a:rPr lang="zh-CN" altLang="en-US" sz="2000" b="1" dirty="0"/>
              <a:t>归纳假设的一个基本假定</a:t>
            </a:r>
            <a:endParaRPr lang="zh-CN" altLang="en-US" sz="2000" b="1" dirty="0"/>
          </a:p>
          <a:p>
            <a:pPr marL="0" indent="0" eaLnBrk="1" hangingPunct="1">
              <a:lnSpc>
                <a:spcPct val="40000"/>
              </a:lnSpc>
              <a:buNone/>
              <a:defRPr/>
            </a:pPr>
            <a:endParaRPr lang="zh-CN" altLang="en-US" sz="2400" dirty="0"/>
          </a:p>
          <a:p>
            <a:pPr marL="457200" lvl="1" indent="0" eaLnBrk="1" hangingPunct="1">
              <a:lnSpc>
                <a:spcPct val="90000"/>
              </a:lnSpc>
              <a:buNone/>
              <a:defRPr/>
            </a:pPr>
            <a:r>
              <a:rPr lang="en-US" altLang="zh-CN" sz="2000" dirty="0"/>
              <a:t>--</a:t>
            </a:r>
            <a:r>
              <a:rPr lang="zh-CN" altLang="en-US" sz="2000" dirty="0"/>
              <a:t>对于未见实例最好的假设就是</a:t>
            </a:r>
            <a:r>
              <a:rPr lang="zh-CN" altLang="en-US" sz="2000" dirty="0">
                <a:solidFill>
                  <a:srgbClr val="FF0000"/>
                </a:solidFill>
                <a:effectLst>
                  <a:outerShdw blurRad="38100" dist="38100" dir="2700000" algn="tl">
                    <a:srgbClr val="000000">
                      <a:alpha val="43137"/>
                    </a:srgbClr>
                  </a:outerShdw>
                </a:effectLst>
              </a:rPr>
              <a:t>与训练数据最佳拟合的假设</a:t>
            </a:r>
            <a:endParaRPr lang="zh-CN" altLang="en-US" sz="2000" dirty="0">
              <a:solidFill>
                <a:srgbClr val="FF0000"/>
              </a:solidFill>
              <a:effectLst>
                <a:outerShdw blurRad="38100" dist="38100" dir="2700000" algn="tl">
                  <a:srgbClr val="000000">
                    <a:alpha val="43137"/>
                  </a:srgbClr>
                </a:outerShdw>
              </a:effectLst>
            </a:endParaRPr>
          </a:p>
          <a:p>
            <a:pPr lvl="1" eaLnBrk="1" hangingPunct="1">
              <a:lnSpc>
                <a:spcPct val="40000"/>
              </a:lnSpc>
              <a:defRPr/>
            </a:pPr>
            <a:endParaRPr lang="zh-CN" altLang="en-US" sz="2000" dirty="0">
              <a:solidFill>
                <a:srgbClr val="FF0000"/>
              </a:solidFill>
              <a:effectLst>
                <a:outerShdw blurRad="38100" dist="38100" dir="2700000" algn="tl">
                  <a:srgbClr val="000000">
                    <a:alpha val="43137"/>
                  </a:srgbClr>
                </a:outerShdw>
              </a:effectLst>
            </a:endParaRPr>
          </a:p>
          <a:p>
            <a:pPr marL="0" indent="0" eaLnBrk="1" hangingPunct="1">
              <a:buNone/>
              <a:defRPr/>
            </a:pPr>
            <a:r>
              <a:rPr lang="zh-CN" altLang="en-US" sz="2000" b="1" dirty="0"/>
              <a:t>归纳学习假设</a:t>
            </a:r>
            <a:endParaRPr lang="zh-CN" altLang="en-US" sz="2000" b="1" dirty="0"/>
          </a:p>
          <a:p>
            <a:pPr marL="0" indent="0" eaLnBrk="1" hangingPunct="1">
              <a:lnSpc>
                <a:spcPct val="40000"/>
              </a:lnSpc>
              <a:buNone/>
              <a:defRPr/>
            </a:pPr>
            <a:endParaRPr lang="en-US" altLang="zh-CN" sz="2000" dirty="0"/>
          </a:p>
          <a:p>
            <a:pPr marL="457200" lvl="1" indent="0" eaLnBrk="1" hangingPunct="1">
              <a:buNone/>
              <a:defRPr/>
            </a:pPr>
            <a:r>
              <a:rPr lang="en-US" altLang="zh-CN" sz="2000" dirty="0"/>
              <a:t>--</a:t>
            </a:r>
            <a:r>
              <a:rPr lang="zh-CN" altLang="en-US" sz="2000" dirty="0"/>
              <a:t>任一假设如果在足够大的训练样例集中很好地逼近目标函数，它也能在未见实例中很</a:t>
            </a:r>
            <a:endParaRPr lang="zh-CN" altLang="en-US" sz="2000" dirty="0"/>
          </a:p>
          <a:p>
            <a:pPr marL="457200" lvl="1" indent="0" eaLnBrk="1" hangingPunct="1">
              <a:buNone/>
              <a:defRPr/>
            </a:pPr>
            <a:r>
              <a:rPr lang="en-US" altLang="zh-CN" sz="2000" dirty="0"/>
              <a:t>   </a:t>
            </a:r>
            <a:r>
              <a:rPr lang="zh-CN" altLang="en-US" sz="2000" dirty="0"/>
              <a:t>好地逼近目标函数</a:t>
            </a:r>
            <a:endParaRPr lang="zh-CN" altLang="en-US" sz="2000" dirty="0"/>
          </a:p>
        </p:txBody>
      </p:sp>
      <p:sp>
        <p:nvSpPr>
          <p:cNvPr id="8" name="文本框 7"/>
          <p:cNvSpPr txBox="1"/>
          <p:nvPr/>
        </p:nvSpPr>
        <p:spPr>
          <a:xfrm>
            <a:off x="313055" y="1028700"/>
            <a:ext cx="6096000" cy="460375"/>
          </a:xfrm>
          <a:prstGeom prst="rect">
            <a:avLst/>
          </a:prstGeom>
          <a:noFill/>
        </p:spPr>
        <p:txBody>
          <a:bodyPr wrap="square" rtlCol="0" anchor="t">
            <a:spAutoFit/>
          </a:bodyPr>
          <a:lstStyle/>
          <a:p>
            <a:r>
              <a:rPr lang="zh-CN" altLang="en-US" sz="2400">
                <a:solidFill>
                  <a:schemeClr val="accent5">
                    <a:lumMod val="75000"/>
                  </a:schemeClr>
                </a:solidFill>
                <a:sym typeface="+mn-ea"/>
              </a:rPr>
              <a:t>归纳学习</a:t>
            </a:r>
            <a:endParaRPr lang="zh-CN" altLang="en-US" sz="2400">
              <a:solidFill>
                <a:schemeClr val="accent5">
                  <a:lumMod val="75000"/>
                </a:schemeClr>
              </a:solidFill>
              <a:sym typeface="+mn-ea"/>
            </a:endParaRPr>
          </a:p>
        </p:txBody>
      </p:sp>
      <p:sp>
        <p:nvSpPr>
          <p:cNvPr id="9" name="文本框 8"/>
          <p:cNvSpPr txBox="1"/>
          <p:nvPr/>
        </p:nvSpPr>
        <p:spPr>
          <a:xfrm>
            <a:off x="3700780" y="5823585"/>
            <a:ext cx="4491990" cy="460375"/>
          </a:xfrm>
          <a:prstGeom prst="rect">
            <a:avLst/>
          </a:prstGeom>
          <a:noFill/>
        </p:spPr>
        <p:txBody>
          <a:bodyPr wrap="square" rtlCol="0">
            <a:spAutoFit/>
          </a:bodyPr>
          <a:lstStyle/>
          <a:p>
            <a:r>
              <a:rPr lang="zh-CN" altLang="en-US" sz="2400" u="sng">
                <a:solidFill>
                  <a:schemeClr val="accent5">
                    <a:lumMod val="75000"/>
                  </a:schemeClr>
                </a:solidFill>
              </a:rPr>
              <a:t>训练数据的数量与质量至关重要</a:t>
            </a:r>
            <a:endParaRPr lang="zh-CN" altLang="en-US" sz="2400" u="sng">
              <a:solidFill>
                <a:schemeClr val="accent5">
                  <a:lumMod val="75000"/>
                </a:schemeClr>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3643630" cy="583565"/>
          </a:xfrm>
          <a:prstGeom prst="rect">
            <a:avLst/>
          </a:prstGeom>
          <a:noFill/>
        </p:spPr>
        <p:txBody>
          <a:bodyPr wrap="square" rtlCol="0">
            <a:spAutoFit/>
            <a:scene3d>
              <a:camera prst="orthographicFront"/>
              <a:lightRig rig="threePt" dir="t"/>
            </a:scene3d>
          </a:bodyPr>
          <a:lstStyle/>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什么是概念学习？</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
        <p:nvSpPr>
          <p:cNvPr id="363564" name="Text Box 44"/>
          <p:cNvSpPr txBox="1">
            <a:spLocks noChangeArrowheads="1"/>
          </p:cNvSpPr>
          <p:nvPr/>
        </p:nvSpPr>
        <p:spPr bwMode="auto">
          <a:xfrm>
            <a:off x="7773989" y="5062539"/>
            <a:ext cx="1068219" cy="371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en-US" altLang="zh-CN">
                <a:ea typeface="宋体" panose="02010600030101010101" pitchFamily="2" charset="-122"/>
              </a:rPr>
              <a:t>Negative</a:t>
            </a:r>
            <a:endParaRPr lang="en-US" altLang="zh-CN">
              <a:ea typeface="宋体" panose="02010600030101010101" pitchFamily="2" charset="-122"/>
            </a:endParaRPr>
          </a:p>
        </p:txBody>
      </p:sp>
      <p:grpSp>
        <p:nvGrpSpPr>
          <p:cNvPr id="363567" name="Group 47"/>
          <p:cNvGrpSpPr/>
          <p:nvPr/>
        </p:nvGrpSpPr>
        <p:grpSpPr bwMode="auto">
          <a:xfrm>
            <a:off x="7815264" y="2038350"/>
            <a:ext cx="954087" cy="2006600"/>
            <a:chOff x="4730" y="1014"/>
            <a:chExt cx="601" cy="1264"/>
          </a:xfrm>
        </p:grpSpPr>
        <p:pic>
          <p:nvPicPr>
            <p:cNvPr id="363562" name="Picture 42" descr="albino-zebra"/>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730" y="1014"/>
              <a:ext cx="601" cy="902"/>
            </a:xfrm>
            <a:prstGeom prst="rect">
              <a:avLst/>
            </a:prstGeom>
            <a:noFill/>
            <a:extLst>
              <a:ext uri="{909E8E84-426E-40DD-AFC4-6F175D3DCCD1}">
                <a14:hiddenFill xmlns:a14="http://schemas.microsoft.com/office/drawing/2010/main">
                  <a:solidFill>
                    <a:srgbClr val="FFFFFF"/>
                  </a:solidFill>
                </a14:hiddenFill>
              </a:ext>
            </a:extLst>
          </p:spPr>
        </p:pic>
        <p:sp>
          <p:nvSpPr>
            <p:cNvPr id="363566" name="AutoShape 46"/>
            <p:cNvSpPr>
              <a:spLocks noChangeArrowheads="1"/>
            </p:cNvSpPr>
            <p:nvPr/>
          </p:nvSpPr>
          <p:spPr bwMode="auto">
            <a:xfrm>
              <a:off x="4991" y="1917"/>
              <a:ext cx="228" cy="361"/>
            </a:xfrm>
            <a:prstGeom prst="downArrow">
              <a:avLst>
                <a:gd name="adj1" fmla="val 50000"/>
                <a:gd name="adj2" fmla="val 112941"/>
              </a:avLst>
            </a:prstGeom>
            <a:solidFill>
              <a:srgbClr val="008000"/>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grpSp>
      <p:grpSp>
        <p:nvGrpSpPr>
          <p:cNvPr id="363542" name="Group 22"/>
          <p:cNvGrpSpPr/>
          <p:nvPr/>
        </p:nvGrpSpPr>
        <p:grpSpPr bwMode="auto">
          <a:xfrm>
            <a:off x="4864100" y="3905254"/>
            <a:ext cx="2000250" cy="738188"/>
            <a:chOff x="2112" y="2191"/>
            <a:chExt cx="1260" cy="465"/>
          </a:xfrm>
        </p:grpSpPr>
        <p:sp>
          <p:nvSpPr>
            <p:cNvPr id="363534" name="Rectangle 14"/>
            <p:cNvSpPr>
              <a:spLocks noChangeArrowheads="1"/>
            </p:cNvSpPr>
            <p:nvPr/>
          </p:nvSpPr>
          <p:spPr bwMode="auto">
            <a:xfrm>
              <a:off x="2542" y="2305"/>
              <a:ext cx="115" cy="234"/>
            </a:xfrm>
            <a:prstGeom prst="rect">
              <a:avLst/>
            </a:prstGeom>
            <a:solidFill>
              <a:srgbClr val="99CCFF"/>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363535" name="Text Box 15"/>
            <p:cNvSpPr txBox="1">
              <a:spLocks noChangeArrowheads="1"/>
            </p:cNvSpPr>
            <p:nvPr/>
          </p:nvSpPr>
          <p:spPr bwMode="auto">
            <a:xfrm>
              <a:off x="2632" y="2289"/>
              <a:ext cx="740" cy="2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en-US" altLang="zh-CN" sz="2400">
                  <a:ea typeface="宋体" panose="02010600030101010101" pitchFamily="2" charset="-122"/>
                </a:rPr>
                <a:t>Learner</a:t>
              </a:r>
              <a:endParaRPr lang="en-US" altLang="zh-CN" sz="2400">
                <a:ea typeface="宋体" panose="02010600030101010101" pitchFamily="2" charset="-122"/>
              </a:endParaRPr>
            </a:p>
          </p:txBody>
        </p:sp>
        <p:sp>
          <p:nvSpPr>
            <p:cNvPr id="363537" name="AutoShape 17"/>
            <p:cNvSpPr>
              <a:spLocks noChangeArrowheads="1"/>
            </p:cNvSpPr>
            <p:nvPr/>
          </p:nvSpPr>
          <p:spPr bwMode="auto">
            <a:xfrm>
              <a:off x="2112" y="2191"/>
              <a:ext cx="228" cy="465"/>
            </a:xfrm>
            <a:prstGeom prst="rightArrow">
              <a:avLst>
                <a:gd name="adj1" fmla="val 50000"/>
                <a:gd name="adj2" fmla="val 127976"/>
              </a:avLst>
            </a:prstGeom>
            <a:solidFill>
              <a:srgbClr val="008000"/>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grpSp>
      <p:grpSp>
        <p:nvGrpSpPr>
          <p:cNvPr id="363543" name="Group 23"/>
          <p:cNvGrpSpPr/>
          <p:nvPr/>
        </p:nvGrpSpPr>
        <p:grpSpPr bwMode="auto">
          <a:xfrm>
            <a:off x="7016751" y="3862390"/>
            <a:ext cx="1776413" cy="738188"/>
            <a:chOff x="3468" y="2164"/>
            <a:chExt cx="1119" cy="465"/>
          </a:xfrm>
        </p:grpSpPr>
        <p:sp>
          <p:nvSpPr>
            <p:cNvPr id="363538" name="AutoShape 18"/>
            <p:cNvSpPr>
              <a:spLocks noChangeArrowheads="1"/>
            </p:cNvSpPr>
            <p:nvPr/>
          </p:nvSpPr>
          <p:spPr bwMode="auto">
            <a:xfrm>
              <a:off x="3468" y="2164"/>
              <a:ext cx="228" cy="465"/>
            </a:xfrm>
            <a:prstGeom prst="rightArrow">
              <a:avLst>
                <a:gd name="adj1" fmla="val 50000"/>
                <a:gd name="adj2" fmla="val 127976"/>
              </a:avLst>
            </a:prstGeom>
            <a:solidFill>
              <a:srgbClr val="008000"/>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363539" name="Rectangle 19"/>
            <p:cNvSpPr>
              <a:spLocks noChangeArrowheads="1"/>
            </p:cNvSpPr>
            <p:nvPr/>
          </p:nvSpPr>
          <p:spPr bwMode="auto">
            <a:xfrm>
              <a:off x="3927" y="2287"/>
              <a:ext cx="660" cy="234"/>
            </a:xfrm>
            <a:prstGeom prst="rect">
              <a:avLst/>
            </a:prstGeom>
            <a:solidFill>
              <a:srgbClr val="FF9999"/>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algn="ctr"/>
              <a:r>
                <a:rPr lang="en-US" altLang="zh-CN">
                  <a:ea typeface="宋体" panose="02010600030101010101" pitchFamily="2" charset="-122"/>
                </a:rPr>
                <a:t>Classifier</a:t>
              </a:r>
              <a:endParaRPr lang="en-US" altLang="zh-CN">
                <a:ea typeface="宋体" panose="02010600030101010101" pitchFamily="2" charset="-122"/>
              </a:endParaRPr>
            </a:p>
          </p:txBody>
        </p:sp>
      </p:grpSp>
      <p:grpSp>
        <p:nvGrpSpPr>
          <p:cNvPr id="363555" name="Group 35"/>
          <p:cNvGrpSpPr/>
          <p:nvPr/>
        </p:nvGrpSpPr>
        <p:grpSpPr bwMode="auto">
          <a:xfrm>
            <a:off x="7734300" y="2697164"/>
            <a:ext cx="1009650" cy="1322388"/>
            <a:chOff x="3897" y="1698"/>
            <a:chExt cx="636" cy="833"/>
          </a:xfrm>
        </p:grpSpPr>
        <p:pic>
          <p:nvPicPr>
            <p:cNvPr id="363544" name="Picture 24" descr="zebra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97" y="1698"/>
              <a:ext cx="636" cy="450"/>
            </a:xfrm>
            <a:prstGeom prst="rect">
              <a:avLst/>
            </a:prstGeom>
            <a:noFill/>
            <a:extLst>
              <a:ext uri="{909E8E84-426E-40DD-AFC4-6F175D3DCCD1}">
                <a14:hiddenFill xmlns:a14="http://schemas.microsoft.com/office/drawing/2010/main">
                  <a:solidFill>
                    <a:srgbClr val="FFFFFF"/>
                  </a:solidFill>
                </a14:hiddenFill>
              </a:ext>
            </a:extLst>
          </p:spPr>
        </p:pic>
        <p:sp>
          <p:nvSpPr>
            <p:cNvPr id="363545" name="AutoShape 25"/>
            <p:cNvSpPr>
              <a:spLocks noChangeArrowheads="1"/>
            </p:cNvSpPr>
            <p:nvPr/>
          </p:nvSpPr>
          <p:spPr bwMode="auto">
            <a:xfrm>
              <a:off x="4208" y="2170"/>
              <a:ext cx="228" cy="361"/>
            </a:xfrm>
            <a:prstGeom prst="downArrow">
              <a:avLst>
                <a:gd name="adj1" fmla="val 50000"/>
                <a:gd name="adj2" fmla="val 112941"/>
              </a:avLst>
            </a:prstGeom>
            <a:solidFill>
              <a:srgbClr val="008000"/>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grpSp>
      <p:grpSp>
        <p:nvGrpSpPr>
          <p:cNvPr id="363552" name="Group 32"/>
          <p:cNvGrpSpPr/>
          <p:nvPr/>
        </p:nvGrpSpPr>
        <p:grpSpPr bwMode="auto">
          <a:xfrm>
            <a:off x="2168525" y="1660525"/>
            <a:ext cx="2571750" cy="2401888"/>
            <a:chOff x="406" y="1046"/>
            <a:chExt cx="1620" cy="1513"/>
          </a:xfrm>
        </p:grpSpPr>
        <p:grpSp>
          <p:nvGrpSpPr>
            <p:cNvPr id="363541" name="Group 21"/>
            <p:cNvGrpSpPr/>
            <p:nvPr/>
          </p:nvGrpSpPr>
          <p:grpSpPr bwMode="auto">
            <a:xfrm>
              <a:off x="406" y="1315"/>
              <a:ext cx="1620" cy="1244"/>
              <a:chOff x="506" y="1883"/>
              <a:chExt cx="1620" cy="1244"/>
            </a:xfrm>
          </p:grpSpPr>
          <p:pic>
            <p:nvPicPr>
              <p:cNvPr id="363524" name="Picture 4" descr="imag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1" y="1883"/>
                <a:ext cx="726" cy="600"/>
              </a:xfrm>
              <a:prstGeom prst="rect">
                <a:avLst/>
              </a:prstGeom>
              <a:noFill/>
              <a:extLst>
                <a:ext uri="{909E8E84-426E-40DD-AFC4-6F175D3DCCD1}">
                  <a14:hiddenFill xmlns:a14="http://schemas.microsoft.com/office/drawing/2010/main">
                    <a:solidFill>
                      <a:srgbClr val="FFFFFF"/>
                    </a:solidFill>
                  </a14:hiddenFill>
                </a:ext>
              </a:extLst>
            </p:spPr>
          </p:pic>
          <p:pic>
            <p:nvPicPr>
              <p:cNvPr id="363525" name="Picture 5" descr="zebra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6" y="2485"/>
                <a:ext cx="630" cy="642"/>
              </a:xfrm>
              <a:prstGeom prst="rect">
                <a:avLst/>
              </a:prstGeom>
              <a:noFill/>
              <a:extLst>
                <a:ext uri="{909E8E84-426E-40DD-AFC4-6F175D3DCCD1}">
                  <a14:hiddenFill xmlns:a14="http://schemas.microsoft.com/office/drawing/2010/main">
                    <a:solidFill>
                      <a:srgbClr val="FFFFFF"/>
                    </a:solidFill>
                  </a14:hiddenFill>
                </a:ext>
              </a:extLst>
            </p:spPr>
          </p:pic>
          <p:pic>
            <p:nvPicPr>
              <p:cNvPr id="363526" name="Picture 6" descr="zebra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88" y="1903"/>
                <a:ext cx="786" cy="528"/>
              </a:xfrm>
              <a:prstGeom prst="rect">
                <a:avLst/>
              </a:prstGeom>
              <a:noFill/>
              <a:extLst>
                <a:ext uri="{909E8E84-426E-40DD-AFC4-6F175D3DCCD1}">
                  <a14:hiddenFill xmlns:a14="http://schemas.microsoft.com/office/drawing/2010/main">
                    <a:solidFill>
                      <a:srgbClr val="FFFFFF"/>
                    </a:solidFill>
                  </a14:hiddenFill>
                </a:ext>
              </a:extLst>
            </p:spPr>
          </p:pic>
          <p:pic>
            <p:nvPicPr>
              <p:cNvPr id="363527" name="Picture 7" descr="zebra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68" y="2457"/>
                <a:ext cx="858" cy="588"/>
              </a:xfrm>
              <a:prstGeom prst="rect">
                <a:avLst/>
              </a:prstGeom>
              <a:noFill/>
              <a:extLst>
                <a:ext uri="{909E8E84-426E-40DD-AFC4-6F175D3DCCD1}">
                  <a14:hiddenFill xmlns:a14="http://schemas.microsoft.com/office/drawing/2010/main">
                    <a:solidFill>
                      <a:srgbClr val="FFFFFF"/>
                    </a:solidFill>
                  </a14:hiddenFill>
                </a:ext>
              </a:extLst>
            </p:spPr>
          </p:pic>
        </p:grpSp>
        <p:sp>
          <p:nvSpPr>
            <p:cNvPr id="363546" name="Text Box 26"/>
            <p:cNvSpPr txBox="1">
              <a:spLocks noChangeArrowheads="1"/>
            </p:cNvSpPr>
            <p:nvPr/>
          </p:nvSpPr>
          <p:spPr bwMode="auto">
            <a:xfrm>
              <a:off x="926" y="1046"/>
              <a:ext cx="591" cy="2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en-US" altLang="zh-CN">
                  <a:ea typeface="宋体" panose="02010600030101010101" pitchFamily="2" charset="-122"/>
                </a:rPr>
                <a:t>Positive</a:t>
              </a:r>
              <a:endParaRPr lang="en-US" altLang="zh-CN">
                <a:ea typeface="宋体" panose="02010600030101010101" pitchFamily="2" charset="-122"/>
              </a:endParaRPr>
            </a:p>
          </p:txBody>
        </p:sp>
      </p:grpSp>
      <p:grpSp>
        <p:nvGrpSpPr>
          <p:cNvPr id="363554" name="Group 34"/>
          <p:cNvGrpSpPr/>
          <p:nvPr/>
        </p:nvGrpSpPr>
        <p:grpSpPr bwMode="auto">
          <a:xfrm>
            <a:off x="2032000" y="4216400"/>
            <a:ext cx="2673350" cy="2457450"/>
            <a:chOff x="320" y="2656"/>
            <a:chExt cx="1684" cy="1548"/>
          </a:xfrm>
        </p:grpSpPr>
        <p:sp>
          <p:nvSpPr>
            <p:cNvPr id="363547" name="Text Box 27"/>
            <p:cNvSpPr txBox="1">
              <a:spLocks noChangeArrowheads="1"/>
            </p:cNvSpPr>
            <p:nvPr/>
          </p:nvSpPr>
          <p:spPr bwMode="auto">
            <a:xfrm>
              <a:off x="877" y="2656"/>
              <a:ext cx="673" cy="2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en-US" altLang="zh-CN">
                  <a:ea typeface="宋体" panose="02010600030101010101" pitchFamily="2" charset="-122"/>
                </a:rPr>
                <a:t>Negative</a:t>
              </a:r>
              <a:endParaRPr lang="en-US" altLang="zh-CN">
                <a:ea typeface="宋体" panose="02010600030101010101" pitchFamily="2" charset="-122"/>
              </a:endParaRPr>
            </a:p>
          </p:txBody>
        </p:sp>
        <p:pic>
          <p:nvPicPr>
            <p:cNvPr id="363548" name="Picture 28" descr="horse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5" y="3002"/>
              <a:ext cx="666" cy="450"/>
            </a:xfrm>
            <a:prstGeom prst="rect">
              <a:avLst/>
            </a:prstGeom>
            <a:noFill/>
            <a:extLst>
              <a:ext uri="{909E8E84-426E-40DD-AFC4-6F175D3DCCD1}">
                <a14:hiddenFill xmlns:a14="http://schemas.microsoft.com/office/drawing/2010/main">
                  <a:solidFill>
                    <a:srgbClr val="FFFFFF"/>
                  </a:solidFill>
                </a14:hiddenFill>
              </a:ext>
            </a:extLst>
          </p:spPr>
        </p:pic>
        <p:pic>
          <p:nvPicPr>
            <p:cNvPr id="363549" name="Picture 29" descr="horse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08" y="2913"/>
              <a:ext cx="780" cy="660"/>
            </a:xfrm>
            <a:prstGeom prst="rect">
              <a:avLst/>
            </a:prstGeom>
            <a:noFill/>
            <a:extLst>
              <a:ext uri="{909E8E84-426E-40DD-AFC4-6F175D3DCCD1}">
                <a14:hiddenFill xmlns:a14="http://schemas.microsoft.com/office/drawing/2010/main">
                  <a:solidFill>
                    <a:srgbClr val="FFFFFF"/>
                  </a:solidFill>
                </a14:hiddenFill>
              </a:ext>
            </a:extLst>
          </p:spPr>
        </p:pic>
        <p:pic>
          <p:nvPicPr>
            <p:cNvPr id="363550" name="Picture 30" descr="horse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0" y="3501"/>
              <a:ext cx="744" cy="666"/>
            </a:xfrm>
            <a:prstGeom prst="rect">
              <a:avLst/>
            </a:prstGeom>
            <a:noFill/>
            <a:extLst>
              <a:ext uri="{909E8E84-426E-40DD-AFC4-6F175D3DCCD1}">
                <a14:hiddenFill xmlns:a14="http://schemas.microsoft.com/office/drawing/2010/main">
                  <a:solidFill>
                    <a:srgbClr val="FFFFFF"/>
                  </a:solidFill>
                </a14:hiddenFill>
              </a:ext>
            </a:extLst>
          </p:spPr>
        </p:pic>
        <p:pic>
          <p:nvPicPr>
            <p:cNvPr id="363551" name="Picture 31" descr="horse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46" y="3562"/>
              <a:ext cx="858" cy="642"/>
            </a:xfrm>
            <a:prstGeom prst="rect">
              <a:avLst/>
            </a:prstGeom>
            <a:noFill/>
            <a:extLst>
              <a:ext uri="{909E8E84-426E-40DD-AFC4-6F175D3DCCD1}">
                <a14:hiddenFill xmlns:a14="http://schemas.microsoft.com/office/drawing/2010/main">
                  <a:solidFill>
                    <a:srgbClr val="FFFFFF"/>
                  </a:solidFill>
                </a14:hiddenFill>
              </a:ext>
            </a:extLst>
          </p:spPr>
        </p:pic>
      </p:grpSp>
      <p:sp>
        <p:nvSpPr>
          <p:cNvPr id="363558" name="AutoShape 38"/>
          <p:cNvSpPr>
            <a:spLocks noChangeArrowheads="1"/>
          </p:cNvSpPr>
          <p:nvPr/>
        </p:nvSpPr>
        <p:spPr bwMode="auto">
          <a:xfrm>
            <a:off x="8208964" y="4474554"/>
            <a:ext cx="361183" cy="572719"/>
          </a:xfrm>
          <a:prstGeom prst="downArrow">
            <a:avLst>
              <a:gd name="adj1" fmla="val 50000"/>
              <a:gd name="adj2" fmla="val 112942"/>
            </a:avLst>
          </a:prstGeom>
          <a:solidFill>
            <a:srgbClr val="008000"/>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363559" name="Text Box 39"/>
          <p:cNvSpPr txBox="1">
            <a:spLocks noChangeArrowheads="1"/>
          </p:cNvSpPr>
          <p:nvPr/>
        </p:nvSpPr>
        <p:spPr bwMode="auto">
          <a:xfrm>
            <a:off x="7748589" y="5060951"/>
            <a:ext cx="938375" cy="371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en-US" altLang="zh-CN" dirty="0">
                <a:ea typeface="宋体" panose="02010600030101010101" pitchFamily="2" charset="-122"/>
              </a:rPr>
              <a:t>Positive</a:t>
            </a:r>
            <a:endParaRPr lang="en-US" altLang="zh-CN" dirty="0">
              <a:ea typeface="宋体" panose="02010600030101010101" pitchFamily="2" charset="-122"/>
            </a:endParaRPr>
          </a:p>
        </p:txBody>
      </p:sp>
      <p:sp>
        <p:nvSpPr>
          <p:cNvPr id="363561" name="WordArt 41"/>
          <p:cNvSpPr>
            <a:spLocks noChangeArrowheads="1" noChangeShapeType="1" noTextEdit="1"/>
          </p:cNvSpPr>
          <p:nvPr/>
        </p:nvSpPr>
        <p:spPr bwMode="auto">
          <a:xfrm>
            <a:off x="7756525" y="5707063"/>
            <a:ext cx="990600" cy="571500"/>
          </a:xfrm>
          <a:prstGeom prst="rect">
            <a:avLst/>
          </a:prstGeom>
        </p:spPr>
        <p:txBody>
          <a:bodyPr wrap="none" fromWordArt="1">
            <a:prstTxWarp prst="textPlain">
              <a:avLst>
                <a:gd name="adj" fmla="val 50000"/>
              </a:avLst>
            </a:prstTxWarp>
          </a:bodyPr>
          <a:lstStyle/>
          <a:p>
            <a:pPr algn="ctr"/>
            <a:r>
              <a:rPr lang="en-US" altLang="zh-CN" sz="3600" kern="10">
                <a:ln w="19050">
                  <a:solidFill>
                    <a:srgbClr val="99CCFF"/>
                  </a:solidFill>
                  <a:round/>
                </a:ln>
                <a:solidFill>
                  <a:srgbClr val="0066CC"/>
                </a:solidFill>
                <a:effectLst>
                  <a:outerShdw dist="35921" dir="2700000" algn="ctr" rotWithShape="0">
                    <a:srgbClr val="990000"/>
                  </a:outerShdw>
                </a:effectLst>
                <a:latin typeface="Impact" panose="020B0806030902050204" pitchFamily="34" charset="0"/>
              </a:rPr>
              <a:t>Right!</a:t>
            </a:r>
            <a:endParaRPr lang="zh-CN" altLang="en-US" sz="3600" kern="10">
              <a:ln w="19050">
                <a:solidFill>
                  <a:srgbClr val="99CCFF"/>
                </a:solidFill>
                <a:round/>
              </a:ln>
              <a:solidFill>
                <a:srgbClr val="0066CC"/>
              </a:solidFill>
              <a:effectLst>
                <a:outerShdw dist="35921" dir="2700000" algn="ctr" rotWithShape="0">
                  <a:srgbClr val="990000"/>
                </a:outerShdw>
              </a:effectLst>
              <a:latin typeface="Impact" panose="020B0806030902050204" pitchFamily="34" charset="0"/>
            </a:endParaRPr>
          </a:p>
        </p:txBody>
      </p:sp>
      <p:sp>
        <p:nvSpPr>
          <p:cNvPr id="363565" name="WordArt 45"/>
          <p:cNvSpPr>
            <a:spLocks noChangeArrowheads="1" noChangeShapeType="1" noTextEdit="1"/>
          </p:cNvSpPr>
          <p:nvPr/>
        </p:nvSpPr>
        <p:spPr bwMode="auto">
          <a:xfrm>
            <a:off x="7561264" y="5603876"/>
            <a:ext cx="1362075" cy="657225"/>
          </a:xfrm>
          <a:prstGeom prst="rect">
            <a:avLst/>
          </a:prstGeom>
        </p:spPr>
        <p:txBody>
          <a:bodyPr wrap="none" fromWordArt="1">
            <a:prstTxWarp prst="textDoubleWave1">
              <a:avLst>
                <a:gd name="adj1" fmla="val 6500"/>
                <a:gd name="adj2" fmla="val 0"/>
              </a:avLst>
            </a:prstTxWarp>
          </a:bodyPr>
          <a:lstStyle/>
          <a:p>
            <a:pPr algn="ctr"/>
            <a:r>
              <a:rPr lang="en-US" altLang="zh-CN" sz="3600" kern="10" spc="-360">
                <a:ln w="12700">
                  <a:solidFill>
                    <a:srgbClr val="000099"/>
                  </a:solidFill>
                  <a:round/>
                </a:ln>
                <a:solidFill>
                  <a:srgbClr val="33CCFF"/>
                </a:solidFill>
                <a:effectLst>
                  <a:outerShdw dist="125724" dir="18900000" algn="ctr" rotWithShape="0">
                    <a:srgbClr val="000099"/>
                  </a:outerShdw>
                </a:effectLst>
                <a:latin typeface="Impact" panose="020B0806030902050204" pitchFamily="34" charset="0"/>
              </a:rPr>
              <a:t>Wrong!</a:t>
            </a:r>
            <a:endParaRPr lang="zh-CN" altLang="en-US" sz="3600" kern="10" spc="-360">
              <a:ln w="12700">
                <a:solidFill>
                  <a:srgbClr val="000099"/>
                </a:solidFill>
                <a:round/>
              </a:ln>
              <a:solidFill>
                <a:srgbClr val="33CCFF"/>
              </a:solidFill>
              <a:effectLst>
                <a:outerShdw dist="125724" dir="18900000" algn="ctr" rotWithShape="0">
                  <a:srgbClr val="000099"/>
                </a:outerShdw>
              </a:effectLst>
              <a:latin typeface="Impact" panose="020B0806030902050204" pitchFamily="34" charset="0"/>
            </a:endParaRPr>
          </a:p>
        </p:txBody>
      </p:sp>
      <p:sp>
        <p:nvSpPr>
          <p:cNvPr id="7" name="文本框 6"/>
          <p:cNvSpPr txBox="1"/>
          <p:nvPr/>
        </p:nvSpPr>
        <p:spPr>
          <a:xfrm>
            <a:off x="301625" y="1112520"/>
            <a:ext cx="9709785" cy="460375"/>
          </a:xfrm>
          <a:prstGeom prst="rect">
            <a:avLst/>
          </a:prstGeom>
          <a:noFill/>
        </p:spPr>
        <p:txBody>
          <a:bodyPr wrap="square" rtlCol="0" anchor="t">
            <a:spAutoFit/>
          </a:bodyPr>
          <a:lstStyle/>
          <a:p>
            <a:r>
              <a:rPr lang="zh-CN" altLang="en-US" sz="2400">
                <a:solidFill>
                  <a:schemeClr val="accent5">
                    <a:lumMod val="75000"/>
                  </a:schemeClr>
                </a:solidFill>
                <a:sym typeface="+mn-ea"/>
              </a:rPr>
              <a:t>有限的训练数据只能使模型学习到大致的概念而无法学习到准确的概念</a:t>
            </a:r>
            <a:endParaRPr lang="zh-CN" altLang="en-US" sz="2400">
              <a:solidFill>
                <a:schemeClr val="accent5">
                  <a:lumMod val="75000"/>
                </a:schemeClr>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35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6355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6354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6354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6355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6355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6355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3" presetClass="entr" presetSubtype="5" fill="hold" nodeType="clickEffect">
                                  <p:stCondLst>
                                    <p:cond delay="0"/>
                                  </p:stCondLst>
                                  <p:childTnLst>
                                    <p:set>
                                      <p:cBhvr>
                                        <p:cTn id="32" dur="1" fill="hold">
                                          <p:stCondLst>
                                            <p:cond delay="0"/>
                                          </p:stCondLst>
                                        </p:cTn>
                                        <p:tgtEl>
                                          <p:spTgt spid="36356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9" presetClass="exit" presetSubtype="0" fill="hold" nodeType="clickEffect">
                                  <p:stCondLst>
                                    <p:cond delay="0"/>
                                  </p:stCondLst>
                                  <p:childTnLst>
                                    <p:animEffect transition="out" filter="dissolve">
                                      <p:cBhvr>
                                        <p:cTn id="36" dur="500"/>
                                        <p:tgtEl>
                                          <p:spTgt spid="363555"/>
                                        </p:tgtEl>
                                      </p:cBhvr>
                                    </p:animEffect>
                                    <p:set>
                                      <p:cBhvr>
                                        <p:cTn id="37" dur="1" fill="hold">
                                          <p:stCondLst>
                                            <p:cond delay="499"/>
                                          </p:stCondLst>
                                        </p:cTn>
                                        <p:tgtEl>
                                          <p:spTgt spid="363555"/>
                                        </p:tgtEl>
                                        <p:attrNameLst>
                                          <p:attrName>style.visibility</p:attrName>
                                        </p:attrNameLst>
                                      </p:cBhvr>
                                      <p:to>
                                        <p:strVal val="hidden"/>
                                      </p:to>
                                    </p:set>
                                  </p:childTnLst>
                                </p:cTn>
                              </p:par>
                              <p:par>
                                <p:cTn id="38" presetID="9" presetClass="exit" presetSubtype="0" fill="hold" nodeType="withEffect">
                                  <p:stCondLst>
                                    <p:cond delay="0"/>
                                  </p:stCondLst>
                                  <p:childTnLst>
                                    <p:animEffect transition="out" filter="dissolve">
                                      <p:cBhvr>
                                        <p:cTn id="39" dur="500"/>
                                        <p:tgtEl>
                                          <p:spTgt spid="363558"/>
                                        </p:tgtEl>
                                      </p:cBhvr>
                                    </p:animEffect>
                                    <p:set>
                                      <p:cBhvr>
                                        <p:cTn id="40" dur="1" fill="hold">
                                          <p:stCondLst>
                                            <p:cond delay="499"/>
                                          </p:stCondLst>
                                        </p:cTn>
                                        <p:tgtEl>
                                          <p:spTgt spid="363558"/>
                                        </p:tgtEl>
                                        <p:attrNameLst>
                                          <p:attrName>style.visibility</p:attrName>
                                        </p:attrNameLst>
                                      </p:cBhvr>
                                      <p:to>
                                        <p:strVal val="hidden"/>
                                      </p:to>
                                    </p:set>
                                  </p:childTnLst>
                                </p:cTn>
                              </p:par>
                              <p:par>
                                <p:cTn id="41" presetID="9" presetClass="exit" presetSubtype="0" fill="hold" grpId="1" nodeType="withEffect">
                                  <p:stCondLst>
                                    <p:cond delay="0"/>
                                  </p:stCondLst>
                                  <p:childTnLst>
                                    <p:animEffect transition="out" filter="dissolve">
                                      <p:cBhvr>
                                        <p:cTn id="42" dur="500"/>
                                        <p:tgtEl>
                                          <p:spTgt spid="363559"/>
                                        </p:tgtEl>
                                      </p:cBhvr>
                                    </p:animEffect>
                                    <p:set>
                                      <p:cBhvr>
                                        <p:cTn id="43" dur="1" fill="hold">
                                          <p:stCondLst>
                                            <p:cond delay="499"/>
                                          </p:stCondLst>
                                        </p:cTn>
                                        <p:tgtEl>
                                          <p:spTgt spid="363559"/>
                                        </p:tgtEl>
                                        <p:attrNameLst>
                                          <p:attrName>style.visibility</p:attrName>
                                        </p:attrNameLst>
                                      </p:cBhvr>
                                      <p:to>
                                        <p:strVal val="hidden"/>
                                      </p:to>
                                    </p:set>
                                  </p:childTnLst>
                                </p:cTn>
                              </p:par>
                              <p:par>
                                <p:cTn id="44" presetID="9" presetClass="exit" presetSubtype="0" fill="hold" nodeType="withEffect">
                                  <p:stCondLst>
                                    <p:cond delay="0"/>
                                  </p:stCondLst>
                                  <p:childTnLst>
                                    <p:animEffect transition="out" filter="dissolve">
                                      <p:cBhvr>
                                        <p:cTn id="45" dur="500"/>
                                        <p:tgtEl>
                                          <p:spTgt spid="363561"/>
                                        </p:tgtEl>
                                      </p:cBhvr>
                                    </p:animEffect>
                                    <p:set>
                                      <p:cBhvr>
                                        <p:cTn id="46" dur="1" fill="hold">
                                          <p:stCondLst>
                                            <p:cond delay="499"/>
                                          </p:stCondLst>
                                        </p:cTn>
                                        <p:tgtEl>
                                          <p:spTgt spid="363561"/>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6356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63564"/>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363558"/>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3" presetClass="entr" presetSubtype="5" fill="hold" nodeType="clickEffect">
                                  <p:stCondLst>
                                    <p:cond delay="0"/>
                                  </p:stCondLst>
                                  <p:childTnLst>
                                    <p:set>
                                      <p:cBhvr>
                                        <p:cTn id="60" dur="1" fill="hold">
                                          <p:stCondLst>
                                            <p:cond delay="0"/>
                                          </p:stCondLst>
                                        </p:cTn>
                                        <p:tgtEl>
                                          <p:spTgt spid="3635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3564" grpId="0" bldLvl="0" animBg="1"/>
      <p:bldP spid="363559" grpId="0" bldLvl="0" animBg="1"/>
      <p:bldP spid="363559" grpId="1" bldLvl="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3643630" cy="583565"/>
          </a:xfrm>
          <a:prstGeom prst="rect">
            <a:avLst/>
          </a:prstGeom>
          <a:noFill/>
        </p:spPr>
        <p:txBody>
          <a:bodyPr wrap="square" rtlCol="0">
            <a:spAutoFit/>
            <a:scene3d>
              <a:camera prst="orthographicFront"/>
              <a:lightRig rig="threePt" dir="t"/>
            </a:scene3d>
          </a:bodyPr>
          <a:lstStyle/>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什么是概念学习？</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
        <p:nvSpPr>
          <p:cNvPr id="7" name="文本框 6"/>
          <p:cNvSpPr txBox="1"/>
          <p:nvPr/>
        </p:nvSpPr>
        <p:spPr>
          <a:xfrm>
            <a:off x="301625" y="1096010"/>
            <a:ext cx="7566660" cy="460375"/>
          </a:xfrm>
          <a:prstGeom prst="rect">
            <a:avLst/>
          </a:prstGeom>
          <a:noFill/>
        </p:spPr>
        <p:txBody>
          <a:bodyPr wrap="square" rtlCol="0" anchor="t">
            <a:spAutoFit/>
          </a:bodyPr>
          <a:lstStyle/>
          <a:p>
            <a:r>
              <a:rPr lang="zh-CN" altLang="en-US" sz="2400">
                <a:solidFill>
                  <a:schemeClr val="accent5">
                    <a:lumMod val="75000"/>
                  </a:schemeClr>
                </a:solidFill>
                <a:sym typeface="+mn-ea"/>
              </a:rPr>
              <a:t>存在问题的训练数据甚至不能使模型学习到大致的概念</a:t>
            </a:r>
            <a:endParaRPr lang="zh-CN" altLang="en-US" sz="2400">
              <a:solidFill>
                <a:schemeClr val="accent5">
                  <a:lumMod val="75000"/>
                </a:schemeClr>
              </a:solidFill>
              <a:sym typeface="+mn-ea"/>
            </a:endParaRPr>
          </a:p>
        </p:txBody>
      </p:sp>
      <p:sp>
        <p:nvSpPr>
          <p:cNvPr id="6" name="Content Placeholder 1"/>
          <p:cNvSpPr>
            <a:spLocks noGrp="1"/>
          </p:cNvSpPr>
          <p:nvPr>
            <p:ph idx="1"/>
          </p:nvPr>
        </p:nvSpPr>
        <p:spPr/>
        <p:txBody>
          <a:bodyPr/>
          <a:lstStyle/>
          <a:p>
            <a:endParaRPr lang="en-GB"/>
          </a:p>
        </p:txBody>
      </p:sp>
      <p:grpSp>
        <p:nvGrpSpPr>
          <p:cNvPr id="364551" name="Group 7"/>
          <p:cNvGrpSpPr/>
          <p:nvPr/>
        </p:nvGrpSpPr>
        <p:grpSpPr bwMode="auto">
          <a:xfrm>
            <a:off x="4864100" y="3905254"/>
            <a:ext cx="2000250" cy="738188"/>
            <a:chOff x="2112" y="2191"/>
            <a:chExt cx="1260" cy="465"/>
          </a:xfrm>
        </p:grpSpPr>
        <p:sp>
          <p:nvSpPr>
            <p:cNvPr id="364552" name="Rectangle 8"/>
            <p:cNvSpPr>
              <a:spLocks noChangeArrowheads="1"/>
            </p:cNvSpPr>
            <p:nvPr/>
          </p:nvSpPr>
          <p:spPr bwMode="auto">
            <a:xfrm>
              <a:off x="2542" y="2305"/>
              <a:ext cx="115" cy="234"/>
            </a:xfrm>
            <a:prstGeom prst="rect">
              <a:avLst/>
            </a:prstGeom>
            <a:solidFill>
              <a:srgbClr val="99CCFF"/>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364553" name="Text Box 9"/>
            <p:cNvSpPr txBox="1">
              <a:spLocks noChangeArrowheads="1"/>
            </p:cNvSpPr>
            <p:nvPr/>
          </p:nvSpPr>
          <p:spPr bwMode="auto">
            <a:xfrm>
              <a:off x="2632" y="2289"/>
              <a:ext cx="740" cy="2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en-US" altLang="zh-CN" sz="2400">
                  <a:ea typeface="宋体" panose="02010600030101010101" pitchFamily="2" charset="-122"/>
                </a:rPr>
                <a:t>Learner</a:t>
              </a:r>
              <a:endParaRPr lang="en-US" altLang="zh-CN" sz="2400">
                <a:ea typeface="宋体" panose="02010600030101010101" pitchFamily="2" charset="-122"/>
              </a:endParaRPr>
            </a:p>
          </p:txBody>
        </p:sp>
        <p:sp>
          <p:nvSpPr>
            <p:cNvPr id="364554" name="AutoShape 10"/>
            <p:cNvSpPr>
              <a:spLocks noChangeArrowheads="1"/>
            </p:cNvSpPr>
            <p:nvPr/>
          </p:nvSpPr>
          <p:spPr bwMode="auto">
            <a:xfrm>
              <a:off x="2112" y="2191"/>
              <a:ext cx="228" cy="465"/>
            </a:xfrm>
            <a:prstGeom prst="rightArrow">
              <a:avLst>
                <a:gd name="adj1" fmla="val 50000"/>
                <a:gd name="adj2" fmla="val 127976"/>
              </a:avLst>
            </a:prstGeom>
            <a:solidFill>
              <a:srgbClr val="008000"/>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grpSp>
      <p:grpSp>
        <p:nvGrpSpPr>
          <p:cNvPr id="364555" name="Group 11"/>
          <p:cNvGrpSpPr/>
          <p:nvPr/>
        </p:nvGrpSpPr>
        <p:grpSpPr bwMode="auto">
          <a:xfrm>
            <a:off x="7016751" y="3862390"/>
            <a:ext cx="1776413" cy="738188"/>
            <a:chOff x="3468" y="2164"/>
            <a:chExt cx="1119" cy="465"/>
          </a:xfrm>
        </p:grpSpPr>
        <p:sp>
          <p:nvSpPr>
            <p:cNvPr id="364556" name="AutoShape 12"/>
            <p:cNvSpPr>
              <a:spLocks noChangeArrowheads="1"/>
            </p:cNvSpPr>
            <p:nvPr/>
          </p:nvSpPr>
          <p:spPr bwMode="auto">
            <a:xfrm>
              <a:off x="3468" y="2164"/>
              <a:ext cx="228" cy="465"/>
            </a:xfrm>
            <a:prstGeom prst="rightArrow">
              <a:avLst>
                <a:gd name="adj1" fmla="val 50000"/>
                <a:gd name="adj2" fmla="val 127976"/>
              </a:avLst>
            </a:prstGeom>
            <a:solidFill>
              <a:srgbClr val="008000"/>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364557" name="Rectangle 13"/>
            <p:cNvSpPr>
              <a:spLocks noChangeArrowheads="1"/>
            </p:cNvSpPr>
            <p:nvPr/>
          </p:nvSpPr>
          <p:spPr bwMode="auto">
            <a:xfrm>
              <a:off x="3927" y="2287"/>
              <a:ext cx="660" cy="234"/>
            </a:xfrm>
            <a:prstGeom prst="rect">
              <a:avLst/>
            </a:prstGeom>
            <a:solidFill>
              <a:srgbClr val="FF9999"/>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algn="ctr"/>
              <a:r>
                <a:rPr lang="en-US" altLang="zh-CN">
                  <a:ea typeface="宋体" panose="02010600030101010101" pitchFamily="2" charset="-122"/>
                </a:rPr>
                <a:t>Classifier</a:t>
              </a:r>
              <a:endParaRPr lang="en-US" altLang="zh-CN">
                <a:ea typeface="宋体" panose="02010600030101010101" pitchFamily="2" charset="-122"/>
              </a:endParaRPr>
            </a:p>
          </p:txBody>
        </p:sp>
      </p:grpSp>
      <p:grpSp>
        <p:nvGrpSpPr>
          <p:cNvPr id="364568" name="Group 24"/>
          <p:cNvGrpSpPr/>
          <p:nvPr/>
        </p:nvGrpSpPr>
        <p:grpSpPr bwMode="auto">
          <a:xfrm>
            <a:off x="2032000" y="4216400"/>
            <a:ext cx="2673350" cy="2457450"/>
            <a:chOff x="320" y="2656"/>
            <a:chExt cx="1684" cy="1548"/>
          </a:xfrm>
        </p:grpSpPr>
        <p:sp>
          <p:nvSpPr>
            <p:cNvPr id="364569" name="Text Box 25"/>
            <p:cNvSpPr txBox="1">
              <a:spLocks noChangeArrowheads="1"/>
            </p:cNvSpPr>
            <p:nvPr/>
          </p:nvSpPr>
          <p:spPr bwMode="auto">
            <a:xfrm>
              <a:off x="877" y="2656"/>
              <a:ext cx="673" cy="2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en-US" altLang="zh-CN">
                  <a:ea typeface="宋体" panose="02010600030101010101" pitchFamily="2" charset="-122"/>
                </a:rPr>
                <a:t>Negative</a:t>
              </a:r>
              <a:endParaRPr lang="en-US" altLang="zh-CN">
                <a:ea typeface="宋体" panose="02010600030101010101" pitchFamily="2" charset="-122"/>
              </a:endParaRPr>
            </a:p>
          </p:txBody>
        </p:sp>
        <p:pic>
          <p:nvPicPr>
            <p:cNvPr id="364570" name="Picture 26" descr="horse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65" y="3002"/>
              <a:ext cx="666" cy="450"/>
            </a:xfrm>
            <a:prstGeom prst="rect">
              <a:avLst/>
            </a:prstGeom>
            <a:noFill/>
            <a:extLst>
              <a:ext uri="{909E8E84-426E-40DD-AFC4-6F175D3DCCD1}">
                <a14:hiddenFill xmlns:a14="http://schemas.microsoft.com/office/drawing/2010/main">
                  <a:solidFill>
                    <a:srgbClr val="FFFFFF"/>
                  </a:solidFill>
                </a14:hiddenFill>
              </a:ext>
            </a:extLst>
          </p:spPr>
        </p:pic>
        <p:pic>
          <p:nvPicPr>
            <p:cNvPr id="364571" name="Picture 27" descr="horse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8" y="2913"/>
              <a:ext cx="780" cy="660"/>
            </a:xfrm>
            <a:prstGeom prst="rect">
              <a:avLst/>
            </a:prstGeom>
            <a:noFill/>
            <a:extLst>
              <a:ext uri="{909E8E84-426E-40DD-AFC4-6F175D3DCCD1}">
                <a14:hiddenFill xmlns:a14="http://schemas.microsoft.com/office/drawing/2010/main">
                  <a:solidFill>
                    <a:srgbClr val="FFFFFF"/>
                  </a:solidFill>
                </a14:hiddenFill>
              </a:ext>
            </a:extLst>
          </p:spPr>
        </p:pic>
        <p:pic>
          <p:nvPicPr>
            <p:cNvPr id="364572" name="Picture 28" descr="horse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 y="3501"/>
              <a:ext cx="744" cy="666"/>
            </a:xfrm>
            <a:prstGeom prst="rect">
              <a:avLst/>
            </a:prstGeom>
            <a:noFill/>
            <a:extLst>
              <a:ext uri="{909E8E84-426E-40DD-AFC4-6F175D3DCCD1}">
                <a14:hiddenFill xmlns:a14="http://schemas.microsoft.com/office/drawing/2010/main">
                  <a:solidFill>
                    <a:srgbClr val="FFFFFF"/>
                  </a:solidFill>
                </a14:hiddenFill>
              </a:ext>
            </a:extLst>
          </p:spPr>
        </p:pic>
        <p:pic>
          <p:nvPicPr>
            <p:cNvPr id="364573" name="Picture 29" descr="horse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6" y="3562"/>
              <a:ext cx="858" cy="64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64584" name="Group 40"/>
          <p:cNvGrpSpPr/>
          <p:nvPr/>
        </p:nvGrpSpPr>
        <p:grpSpPr bwMode="auto">
          <a:xfrm>
            <a:off x="2603501" y="1514476"/>
            <a:ext cx="1552575" cy="2759075"/>
            <a:chOff x="680" y="954"/>
            <a:chExt cx="978" cy="1738"/>
          </a:xfrm>
        </p:grpSpPr>
        <p:sp>
          <p:nvSpPr>
            <p:cNvPr id="364567" name="Text Box 23"/>
            <p:cNvSpPr txBox="1">
              <a:spLocks noChangeArrowheads="1"/>
            </p:cNvSpPr>
            <p:nvPr/>
          </p:nvSpPr>
          <p:spPr bwMode="auto">
            <a:xfrm>
              <a:off x="942" y="954"/>
              <a:ext cx="591" cy="2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en-US" altLang="zh-CN">
                  <a:ea typeface="宋体" panose="02010600030101010101" pitchFamily="2" charset="-122"/>
                </a:rPr>
                <a:t>Positive</a:t>
              </a:r>
              <a:endParaRPr lang="en-US" altLang="zh-CN">
                <a:ea typeface="宋体" panose="02010600030101010101" pitchFamily="2" charset="-122"/>
              </a:endParaRPr>
            </a:p>
          </p:txBody>
        </p:sp>
        <p:pic>
          <p:nvPicPr>
            <p:cNvPr id="364578" name="Picture 34" descr="albino-zebra"/>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91" y="1285"/>
              <a:ext cx="471" cy="707"/>
            </a:xfrm>
            <a:prstGeom prst="rect">
              <a:avLst/>
            </a:prstGeom>
            <a:noFill/>
            <a:extLst>
              <a:ext uri="{909E8E84-426E-40DD-AFC4-6F175D3DCCD1}">
                <a14:hiddenFill xmlns:a14="http://schemas.microsoft.com/office/drawing/2010/main">
                  <a:solidFill>
                    <a:srgbClr val="FFFFFF"/>
                  </a:solidFill>
                </a14:hiddenFill>
              </a:ext>
            </a:extLst>
          </p:spPr>
        </p:pic>
        <p:pic>
          <p:nvPicPr>
            <p:cNvPr id="364581" name="Picture 37" descr="albino-zebra"/>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80" y="1985"/>
              <a:ext cx="471" cy="707"/>
            </a:xfrm>
            <a:prstGeom prst="rect">
              <a:avLst/>
            </a:prstGeom>
            <a:noFill/>
            <a:extLst>
              <a:ext uri="{909E8E84-426E-40DD-AFC4-6F175D3DCCD1}">
                <a14:hiddenFill xmlns:a14="http://schemas.microsoft.com/office/drawing/2010/main">
                  <a:solidFill>
                    <a:srgbClr val="FFFFFF"/>
                  </a:solidFill>
                </a14:hiddenFill>
              </a:ext>
            </a:extLst>
          </p:spPr>
        </p:pic>
        <p:pic>
          <p:nvPicPr>
            <p:cNvPr id="364582" name="Picture 38" descr="albino-zebra"/>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83" y="1261"/>
              <a:ext cx="471" cy="707"/>
            </a:xfrm>
            <a:prstGeom prst="rect">
              <a:avLst/>
            </a:prstGeom>
            <a:noFill/>
            <a:extLst>
              <a:ext uri="{909E8E84-426E-40DD-AFC4-6F175D3DCCD1}">
                <a14:hiddenFill xmlns:a14="http://schemas.microsoft.com/office/drawing/2010/main">
                  <a:solidFill>
                    <a:srgbClr val="FFFFFF"/>
                  </a:solidFill>
                </a14:hiddenFill>
              </a:ext>
            </a:extLst>
          </p:spPr>
        </p:pic>
        <p:pic>
          <p:nvPicPr>
            <p:cNvPr id="364583" name="Picture 39" descr="albino-zebra"/>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87" y="1971"/>
              <a:ext cx="471" cy="707"/>
            </a:xfrm>
            <a:prstGeom prst="rect">
              <a:avLst/>
            </a:prstGeom>
            <a:noFill/>
            <a:extLst>
              <a:ext uri="{909E8E84-426E-40DD-AFC4-6F175D3DCCD1}">
                <a14:hiddenFill xmlns:a14="http://schemas.microsoft.com/office/drawing/2010/main">
                  <a:solidFill>
                    <a:srgbClr val="FFFFFF"/>
                  </a:solidFill>
                </a14:hiddenFill>
              </a:ext>
            </a:extLst>
          </p:spPr>
        </p:pic>
      </p:grpSp>
      <p:pic>
        <p:nvPicPr>
          <p:cNvPr id="364588" name="Picture 44" descr="zebra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740651" y="2446339"/>
            <a:ext cx="1000125" cy="1019175"/>
          </a:xfrm>
          <a:prstGeom prst="rect">
            <a:avLst/>
          </a:prstGeom>
          <a:noFill/>
          <a:extLst>
            <a:ext uri="{909E8E84-426E-40DD-AFC4-6F175D3DCCD1}">
              <a14:hiddenFill xmlns:a14="http://schemas.microsoft.com/office/drawing/2010/main">
                <a:solidFill>
                  <a:srgbClr val="FFFFFF"/>
                </a:solidFill>
              </a14:hiddenFill>
            </a:ext>
          </a:extLst>
        </p:spPr>
      </p:pic>
      <p:sp>
        <p:nvSpPr>
          <p:cNvPr id="364592" name="AutoShape 48"/>
          <p:cNvSpPr>
            <a:spLocks noChangeArrowheads="1"/>
          </p:cNvSpPr>
          <p:nvPr/>
        </p:nvSpPr>
        <p:spPr bwMode="auto">
          <a:xfrm>
            <a:off x="8196264" y="3414104"/>
            <a:ext cx="361183" cy="572719"/>
          </a:xfrm>
          <a:prstGeom prst="downArrow">
            <a:avLst>
              <a:gd name="adj1" fmla="val 50000"/>
              <a:gd name="adj2" fmla="val 112942"/>
            </a:avLst>
          </a:prstGeom>
          <a:solidFill>
            <a:srgbClr val="008000"/>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364593" name="AutoShape 49"/>
          <p:cNvSpPr>
            <a:spLocks noChangeArrowheads="1"/>
          </p:cNvSpPr>
          <p:nvPr/>
        </p:nvSpPr>
        <p:spPr bwMode="auto">
          <a:xfrm>
            <a:off x="8177214" y="4469791"/>
            <a:ext cx="361183" cy="572719"/>
          </a:xfrm>
          <a:prstGeom prst="downArrow">
            <a:avLst>
              <a:gd name="adj1" fmla="val 50000"/>
              <a:gd name="adj2" fmla="val 112942"/>
            </a:avLst>
          </a:prstGeom>
          <a:solidFill>
            <a:srgbClr val="008000"/>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endParaRPr lang="zh-CN" altLang="en-US"/>
          </a:p>
        </p:txBody>
      </p:sp>
      <p:sp>
        <p:nvSpPr>
          <p:cNvPr id="364594" name="Text Box 50"/>
          <p:cNvSpPr txBox="1">
            <a:spLocks noChangeArrowheads="1"/>
          </p:cNvSpPr>
          <p:nvPr/>
        </p:nvSpPr>
        <p:spPr bwMode="auto">
          <a:xfrm>
            <a:off x="7748589" y="5060951"/>
            <a:ext cx="1068219" cy="371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en-US" altLang="zh-CN">
                <a:ea typeface="宋体" panose="02010600030101010101" pitchFamily="2" charset="-122"/>
              </a:rPr>
              <a:t>Negative</a:t>
            </a:r>
            <a:endParaRPr lang="en-US" altLang="zh-CN">
              <a:ea typeface="宋体" panose="02010600030101010101" pitchFamily="2" charset="-122"/>
            </a:endParaRPr>
          </a:p>
        </p:txBody>
      </p:sp>
      <p:sp>
        <p:nvSpPr>
          <p:cNvPr id="364595" name="Text Box 51"/>
          <p:cNvSpPr txBox="1">
            <a:spLocks noChangeArrowheads="1"/>
          </p:cNvSpPr>
          <p:nvPr/>
        </p:nvSpPr>
        <p:spPr bwMode="auto">
          <a:xfrm>
            <a:off x="7756526" y="5054601"/>
            <a:ext cx="938375" cy="371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en-US" altLang="zh-CN">
                <a:ea typeface="宋体" panose="02010600030101010101" pitchFamily="2" charset="-122"/>
              </a:rPr>
              <a:t>Positive</a:t>
            </a:r>
            <a:endParaRPr lang="en-US" altLang="zh-CN">
              <a:ea typeface="宋体" panose="02010600030101010101" pitchFamily="2" charset="-122"/>
            </a:endParaRPr>
          </a:p>
        </p:txBody>
      </p:sp>
      <p:sp>
        <p:nvSpPr>
          <p:cNvPr id="364596" name="WordArt 52"/>
          <p:cNvSpPr>
            <a:spLocks noChangeArrowheads="1" noChangeShapeType="1" noTextEdit="1"/>
          </p:cNvSpPr>
          <p:nvPr/>
        </p:nvSpPr>
        <p:spPr bwMode="auto">
          <a:xfrm>
            <a:off x="7713664" y="5756276"/>
            <a:ext cx="1362075" cy="657225"/>
          </a:xfrm>
          <a:prstGeom prst="rect">
            <a:avLst/>
          </a:prstGeom>
        </p:spPr>
        <p:txBody>
          <a:bodyPr wrap="none" fromWordArt="1">
            <a:prstTxWarp prst="textDoubleWave1">
              <a:avLst>
                <a:gd name="adj1" fmla="val 6500"/>
                <a:gd name="adj2" fmla="val 0"/>
              </a:avLst>
            </a:prstTxWarp>
          </a:bodyPr>
          <a:lstStyle/>
          <a:p>
            <a:pPr algn="ctr"/>
            <a:r>
              <a:rPr lang="en-US" altLang="zh-CN" sz="3600" kern="10" spc="-360">
                <a:ln w="12700">
                  <a:solidFill>
                    <a:srgbClr val="000099"/>
                  </a:solidFill>
                  <a:round/>
                </a:ln>
                <a:solidFill>
                  <a:srgbClr val="33CCFF"/>
                </a:solidFill>
                <a:effectLst>
                  <a:outerShdw dist="125724" dir="18900000" algn="ctr" rotWithShape="0">
                    <a:srgbClr val="000099"/>
                  </a:outerShdw>
                </a:effectLst>
                <a:latin typeface="Impact" panose="020B0806030902050204" pitchFamily="34" charset="0"/>
              </a:rPr>
              <a:t>Wrong!</a:t>
            </a:r>
            <a:endParaRPr lang="zh-CN" altLang="en-US" sz="3600" kern="10" spc="-360">
              <a:ln w="12700">
                <a:solidFill>
                  <a:srgbClr val="000099"/>
                </a:solidFill>
                <a:round/>
              </a:ln>
              <a:solidFill>
                <a:srgbClr val="33CCFF"/>
              </a:solidFill>
              <a:effectLst>
                <a:outerShdw dist="125724" dir="18900000" algn="ctr" rotWithShape="0">
                  <a:srgbClr val="000099"/>
                </a:outerShdw>
              </a:effectLst>
              <a:latin typeface="Impact" panose="020B0806030902050204" pitchFamily="34" charset="0"/>
            </a:endParaRPr>
          </a:p>
        </p:txBody>
      </p:sp>
      <p:pic>
        <p:nvPicPr>
          <p:cNvPr id="364597" name="Picture 53" descr="horse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46975" y="2239964"/>
            <a:ext cx="1390650" cy="11334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458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6456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6455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6455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6458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6459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6459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6459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3" presetClass="entr" presetSubtype="5" fill="hold" nodeType="clickEffect">
                                  <p:stCondLst>
                                    <p:cond delay="0"/>
                                  </p:stCondLst>
                                  <p:childTnLst>
                                    <p:set>
                                      <p:cBhvr>
                                        <p:cTn id="34" dur="1" fill="hold">
                                          <p:stCondLst>
                                            <p:cond delay="0"/>
                                          </p:stCondLst>
                                        </p:cTn>
                                        <p:tgtEl>
                                          <p:spTgt spid="36459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9" presetClass="exit" presetSubtype="0" fill="hold" nodeType="clickEffect">
                                  <p:stCondLst>
                                    <p:cond delay="0"/>
                                  </p:stCondLst>
                                  <p:childTnLst>
                                    <p:animEffect transition="out" filter="dissolve">
                                      <p:cBhvr>
                                        <p:cTn id="38" dur="500"/>
                                        <p:tgtEl>
                                          <p:spTgt spid="364588"/>
                                        </p:tgtEl>
                                      </p:cBhvr>
                                    </p:animEffect>
                                    <p:set>
                                      <p:cBhvr>
                                        <p:cTn id="39" dur="1" fill="hold">
                                          <p:stCondLst>
                                            <p:cond delay="499"/>
                                          </p:stCondLst>
                                        </p:cTn>
                                        <p:tgtEl>
                                          <p:spTgt spid="364588"/>
                                        </p:tgtEl>
                                        <p:attrNameLst>
                                          <p:attrName>style.visibility</p:attrName>
                                        </p:attrNameLst>
                                      </p:cBhvr>
                                      <p:to>
                                        <p:strVal val="hidden"/>
                                      </p:to>
                                    </p:set>
                                  </p:childTnLst>
                                </p:cTn>
                              </p:par>
                              <p:par>
                                <p:cTn id="40" presetID="9" presetClass="exit" presetSubtype="0" fill="hold" nodeType="withEffect">
                                  <p:stCondLst>
                                    <p:cond delay="0"/>
                                  </p:stCondLst>
                                  <p:childTnLst>
                                    <p:animEffect transition="out" filter="dissolve">
                                      <p:cBhvr>
                                        <p:cTn id="41" dur="500"/>
                                        <p:tgtEl>
                                          <p:spTgt spid="364592"/>
                                        </p:tgtEl>
                                      </p:cBhvr>
                                    </p:animEffect>
                                    <p:set>
                                      <p:cBhvr>
                                        <p:cTn id="42" dur="1" fill="hold">
                                          <p:stCondLst>
                                            <p:cond delay="499"/>
                                          </p:stCondLst>
                                        </p:cTn>
                                        <p:tgtEl>
                                          <p:spTgt spid="364592"/>
                                        </p:tgtEl>
                                        <p:attrNameLst>
                                          <p:attrName>style.visibility</p:attrName>
                                        </p:attrNameLst>
                                      </p:cBhvr>
                                      <p:to>
                                        <p:strVal val="hidden"/>
                                      </p:to>
                                    </p:set>
                                  </p:childTnLst>
                                </p:cTn>
                              </p:par>
                              <p:par>
                                <p:cTn id="43" presetID="9" presetClass="exit" presetSubtype="0" fill="hold" nodeType="withEffect">
                                  <p:stCondLst>
                                    <p:cond delay="0"/>
                                  </p:stCondLst>
                                  <p:childTnLst>
                                    <p:animEffect transition="out" filter="dissolve">
                                      <p:cBhvr>
                                        <p:cTn id="44" dur="500"/>
                                        <p:tgtEl>
                                          <p:spTgt spid="364593"/>
                                        </p:tgtEl>
                                      </p:cBhvr>
                                    </p:animEffect>
                                    <p:set>
                                      <p:cBhvr>
                                        <p:cTn id="45" dur="1" fill="hold">
                                          <p:stCondLst>
                                            <p:cond delay="499"/>
                                          </p:stCondLst>
                                        </p:cTn>
                                        <p:tgtEl>
                                          <p:spTgt spid="364593"/>
                                        </p:tgtEl>
                                        <p:attrNameLst>
                                          <p:attrName>style.visibility</p:attrName>
                                        </p:attrNameLst>
                                      </p:cBhvr>
                                      <p:to>
                                        <p:strVal val="hidden"/>
                                      </p:to>
                                    </p:set>
                                  </p:childTnLst>
                                </p:cTn>
                              </p:par>
                              <p:par>
                                <p:cTn id="46" presetID="9" presetClass="exit" presetSubtype="0" fill="hold" grpId="1" nodeType="withEffect">
                                  <p:stCondLst>
                                    <p:cond delay="0"/>
                                  </p:stCondLst>
                                  <p:childTnLst>
                                    <p:animEffect transition="out" filter="dissolve">
                                      <p:cBhvr>
                                        <p:cTn id="47" dur="500"/>
                                        <p:tgtEl>
                                          <p:spTgt spid="364594"/>
                                        </p:tgtEl>
                                      </p:cBhvr>
                                    </p:animEffect>
                                    <p:set>
                                      <p:cBhvr>
                                        <p:cTn id="48" dur="1" fill="hold">
                                          <p:stCondLst>
                                            <p:cond delay="499"/>
                                          </p:stCondLst>
                                        </p:cTn>
                                        <p:tgtEl>
                                          <p:spTgt spid="364594"/>
                                        </p:tgtEl>
                                        <p:attrNameLst>
                                          <p:attrName>style.visibility</p:attrName>
                                        </p:attrNameLst>
                                      </p:cBhvr>
                                      <p:to>
                                        <p:strVal val="hidden"/>
                                      </p:to>
                                    </p:set>
                                  </p:childTnLst>
                                </p:cTn>
                              </p:par>
                              <p:par>
                                <p:cTn id="49" presetID="9" presetClass="exit" presetSubtype="0" fill="hold" nodeType="withEffect">
                                  <p:stCondLst>
                                    <p:cond delay="0"/>
                                  </p:stCondLst>
                                  <p:childTnLst>
                                    <p:animEffect transition="out" filter="dissolve">
                                      <p:cBhvr>
                                        <p:cTn id="50" dur="500"/>
                                        <p:tgtEl>
                                          <p:spTgt spid="364596"/>
                                        </p:tgtEl>
                                      </p:cBhvr>
                                    </p:animEffect>
                                    <p:set>
                                      <p:cBhvr>
                                        <p:cTn id="51" dur="1" fill="hold">
                                          <p:stCondLst>
                                            <p:cond delay="499"/>
                                          </p:stCondLst>
                                        </p:cTn>
                                        <p:tgtEl>
                                          <p:spTgt spid="364596"/>
                                        </p:tgtEl>
                                        <p:attrNameLst>
                                          <p:attrName>style.visibility</p:attrName>
                                        </p:attrNameLst>
                                      </p:cBhvr>
                                      <p:to>
                                        <p:strVal val="hidden"/>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nodeType="clickEffect">
                                  <p:stCondLst>
                                    <p:cond delay="0"/>
                                  </p:stCondLst>
                                  <p:childTnLst>
                                    <p:set>
                                      <p:cBhvr>
                                        <p:cTn id="55" dur="1" fill="hold">
                                          <p:stCondLst>
                                            <p:cond delay="0"/>
                                          </p:stCondLst>
                                        </p:cTn>
                                        <p:tgtEl>
                                          <p:spTgt spid="364597"/>
                                        </p:tgtEl>
                                        <p:attrNameLst>
                                          <p:attrName>style.visibility</p:attrName>
                                        </p:attrNameLst>
                                      </p:cBhvr>
                                      <p:to>
                                        <p:strVal val="visible"/>
                                      </p:to>
                                    </p:set>
                                  </p:childTnLst>
                                </p:cTn>
                              </p:par>
                              <p:par>
                                <p:cTn id="56" presetID="1" presetClass="entr" presetSubtype="0" fill="hold" nodeType="withEffect">
                                  <p:stCondLst>
                                    <p:cond delay="0"/>
                                  </p:stCondLst>
                                  <p:childTnLst>
                                    <p:set>
                                      <p:cBhvr>
                                        <p:cTn id="57" dur="1" fill="hold">
                                          <p:stCondLst>
                                            <p:cond delay="0"/>
                                          </p:stCondLst>
                                        </p:cTn>
                                        <p:tgtEl>
                                          <p:spTgt spid="364592"/>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364595"/>
                                        </p:tgtEl>
                                        <p:attrNameLst>
                                          <p:attrName>style.visibility</p:attrName>
                                        </p:attrNameLst>
                                      </p:cBhvr>
                                      <p:to>
                                        <p:strVal val="visible"/>
                                      </p:to>
                                    </p:set>
                                  </p:childTnLst>
                                </p:cTn>
                              </p:par>
                              <p:par>
                                <p:cTn id="62" presetID="1" presetClass="entr" presetSubtype="0" fill="hold" nodeType="withEffect">
                                  <p:stCondLst>
                                    <p:cond delay="0"/>
                                  </p:stCondLst>
                                  <p:childTnLst>
                                    <p:set>
                                      <p:cBhvr>
                                        <p:cTn id="63" dur="1" fill="hold">
                                          <p:stCondLst>
                                            <p:cond delay="0"/>
                                          </p:stCondLst>
                                        </p:cTn>
                                        <p:tgtEl>
                                          <p:spTgt spid="364593"/>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3" presetClass="entr" presetSubtype="5" fill="hold" nodeType="clickEffect">
                                  <p:stCondLst>
                                    <p:cond delay="0"/>
                                  </p:stCondLst>
                                  <p:childTnLst>
                                    <p:set>
                                      <p:cBhvr>
                                        <p:cTn id="67" dur="1" fill="hold">
                                          <p:stCondLst>
                                            <p:cond delay="0"/>
                                          </p:stCondLst>
                                        </p:cTn>
                                        <p:tgtEl>
                                          <p:spTgt spid="3645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4594" grpId="0" bldLvl="0" animBg="1"/>
      <p:bldP spid="364594" grpId="1" bldLvl="0" animBg="1"/>
      <p:bldP spid="364595" grpId="0" bldLvl="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3643630" cy="583565"/>
          </a:xfrm>
          <a:prstGeom prst="rect">
            <a:avLst/>
          </a:prstGeom>
          <a:noFill/>
        </p:spPr>
        <p:txBody>
          <a:bodyPr wrap="square" rtlCol="0">
            <a:spAutoFit/>
            <a:scene3d>
              <a:camera prst="orthographicFront"/>
              <a:lightRig rig="threePt" dir="t"/>
            </a:scene3d>
          </a:bodyPr>
          <a:lstStyle/>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什么是概念学习？</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
        <p:nvSpPr>
          <p:cNvPr id="5" name="文本框 4"/>
          <p:cNvSpPr txBox="1"/>
          <p:nvPr/>
        </p:nvSpPr>
        <p:spPr>
          <a:xfrm>
            <a:off x="358775" y="1565910"/>
            <a:ext cx="11264900" cy="860425"/>
          </a:xfrm>
          <a:prstGeom prst="rect">
            <a:avLst/>
          </a:prstGeom>
          <a:noFill/>
        </p:spPr>
        <p:txBody>
          <a:bodyPr wrap="square" rtlCol="0">
            <a:spAutoFit/>
          </a:bodyPr>
          <a:lstStyle/>
          <a:p>
            <a:r>
              <a:rPr lang="zh-CN" altLang="en-US" sz="2000">
                <a:solidFill>
                  <a:schemeClr val="accent5">
                    <a:lumMod val="75000"/>
                  </a:schemeClr>
                </a:solidFill>
              </a:rPr>
              <a:t>如果我们具有较好的训练数据，那么如何通过训练数据去获取假设空间中最优的假设呢？</a:t>
            </a:r>
            <a:endParaRPr lang="zh-CN" altLang="en-US" sz="2000">
              <a:solidFill>
                <a:schemeClr val="accent5">
                  <a:lumMod val="75000"/>
                </a:schemeClr>
              </a:solidFill>
            </a:endParaRPr>
          </a:p>
          <a:p>
            <a:pPr>
              <a:lnSpc>
                <a:spcPct val="50000"/>
              </a:lnSpc>
            </a:pPr>
            <a:endParaRPr lang="zh-CN" altLang="en-US" sz="2000">
              <a:solidFill>
                <a:schemeClr val="accent5">
                  <a:lumMod val="75000"/>
                </a:schemeClr>
              </a:solidFill>
            </a:endParaRPr>
          </a:p>
          <a:p>
            <a:pPr indent="457200"/>
            <a:r>
              <a:rPr lang="en-US" altLang="zh-CN" sz="2000">
                <a:solidFill>
                  <a:schemeClr val="accent5">
                    <a:lumMod val="75000"/>
                  </a:schemeClr>
                </a:solidFill>
              </a:rPr>
              <a:t>-- </a:t>
            </a:r>
            <a:r>
              <a:rPr lang="zh-CN" altLang="en-US" sz="2000">
                <a:solidFill>
                  <a:schemeClr val="accent5">
                    <a:lumMod val="75000"/>
                  </a:schemeClr>
                </a:solidFill>
              </a:rPr>
              <a:t>将概念学习看作一个</a:t>
            </a:r>
            <a:r>
              <a:rPr lang="zh-CN" altLang="en-US" sz="2000">
                <a:solidFill>
                  <a:srgbClr val="FF0000"/>
                </a:solidFill>
              </a:rPr>
              <a:t>搜索</a:t>
            </a:r>
            <a:r>
              <a:rPr lang="zh-CN" altLang="en-US" sz="2000">
                <a:solidFill>
                  <a:schemeClr val="accent5">
                    <a:lumMod val="75000"/>
                  </a:schemeClr>
                </a:solidFill>
              </a:rPr>
              <a:t>的过程</a:t>
            </a:r>
            <a:endParaRPr lang="zh-CN" altLang="en-US" sz="2000">
              <a:solidFill>
                <a:schemeClr val="accent5">
                  <a:lumMod val="75000"/>
                </a:schemeClr>
              </a:solidFill>
            </a:endParaRPr>
          </a:p>
        </p:txBody>
      </p:sp>
      <p:sp>
        <p:nvSpPr>
          <p:cNvPr id="8" name="文本框 7"/>
          <p:cNvSpPr txBox="1"/>
          <p:nvPr/>
        </p:nvSpPr>
        <p:spPr>
          <a:xfrm>
            <a:off x="596900" y="2801620"/>
            <a:ext cx="11214735" cy="860425"/>
          </a:xfrm>
          <a:prstGeom prst="rect">
            <a:avLst/>
          </a:prstGeom>
          <a:noFill/>
        </p:spPr>
        <p:txBody>
          <a:bodyPr wrap="square" rtlCol="0">
            <a:spAutoFit/>
          </a:bodyPr>
          <a:lstStyle/>
          <a:p>
            <a:r>
              <a:rPr lang="zh-CN" altLang="en-US" sz="2000"/>
              <a:t>搜索范围：整个</a:t>
            </a:r>
            <a:r>
              <a:rPr lang="zh-CN" altLang="en-US" sz="2000">
                <a:solidFill>
                  <a:schemeClr val="accent2">
                    <a:lumMod val="50000"/>
                  </a:schemeClr>
                </a:solidFill>
              </a:rPr>
              <a:t>假设空间</a:t>
            </a:r>
            <a:r>
              <a:rPr lang="en-US" altLang="zh-CN" sz="2000">
                <a:solidFill>
                  <a:schemeClr val="accent2">
                    <a:lumMod val="50000"/>
                  </a:schemeClr>
                </a:solidFill>
              </a:rPr>
              <a:t>H</a:t>
            </a:r>
            <a:endParaRPr lang="en-US" altLang="zh-CN" sz="2000">
              <a:solidFill>
                <a:schemeClr val="accent2">
                  <a:lumMod val="50000"/>
                </a:schemeClr>
              </a:solidFill>
            </a:endParaRPr>
          </a:p>
          <a:p>
            <a:pPr>
              <a:lnSpc>
                <a:spcPct val="50000"/>
              </a:lnSpc>
            </a:pPr>
            <a:endParaRPr lang="en-US" altLang="zh-CN" sz="2000"/>
          </a:p>
          <a:p>
            <a:r>
              <a:rPr lang="zh-CN" altLang="en-US" sz="2000"/>
              <a:t>搜索目标：能够最好地拟合训练样例的假设</a:t>
            </a:r>
            <a:r>
              <a:rPr lang="en-US" altLang="zh-CN" sz="2000"/>
              <a:t>h</a:t>
            </a:r>
            <a:r>
              <a:rPr lang="en-US" altLang="zh-CN" sz="2000" baseline="-25000"/>
              <a:t>opt</a:t>
            </a:r>
            <a:endParaRPr lang="en-US" altLang="zh-CN" sz="2000" baseline="-25000"/>
          </a:p>
        </p:txBody>
      </p:sp>
      <p:sp>
        <p:nvSpPr>
          <p:cNvPr id="9" name="文本框 8"/>
          <p:cNvSpPr txBox="1"/>
          <p:nvPr/>
        </p:nvSpPr>
        <p:spPr>
          <a:xfrm>
            <a:off x="358775" y="4082415"/>
            <a:ext cx="11264900" cy="860425"/>
          </a:xfrm>
          <a:prstGeom prst="rect">
            <a:avLst/>
          </a:prstGeom>
          <a:noFill/>
        </p:spPr>
        <p:txBody>
          <a:bodyPr wrap="square" rtlCol="0">
            <a:spAutoFit/>
          </a:bodyPr>
          <a:lstStyle/>
          <a:p>
            <a:r>
              <a:rPr lang="zh-CN" altLang="en-US" sz="2000">
                <a:solidFill>
                  <a:schemeClr val="accent5">
                    <a:lumMod val="75000"/>
                  </a:schemeClr>
                </a:solidFill>
              </a:rPr>
              <a:t>如何确定</a:t>
            </a:r>
            <a:r>
              <a:rPr lang="zh-CN" altLang="en-US" sz="2000">
                <a:solidFill>
                  <a:schemeClr val="accent2">
                    <a:lumMod val="50000"/>
                  </a:schemeClr>
                </a:solidFill>
              </a:rPr>
              <a:t>假设空间</a:t>
            </a:r>
            <a:r>
              <a:rPr lang="en-US" altLang="zh-CN" sz="2000">
                <a:solidFill>
                  <a:schemeClr val="accent2">
                    <a:lumMod val="50000"/>
                  </a:schemeClr>
                </a:solidFill>
              </a:rPr>
              <a:t>H</a:t>
            </a:r>
            <a:r>
              <a:rPr lang="zh-CN" altLang="en-US" sz="2000">
                <a:solidFill>
                  <a:schemeClr val="accent5">
                    <a:lumMod val="75000"/>
                  </a:schemeClr>
                </a:solidFill>
              </a:rPr>
              <a:t>？</a:t>
            </a:r>
            <a:endParaRPr lang="zh-CN" altLang="en-US" sz="2000">
              <a:solidFill>
                <a:schemeClr val="accent5">
                  <a:lumMod val="75000"/>
                </a:schemeClr>
              </a:solidFill>
            </a:endParaRPr>
          </a:p>
          <a:p>
            <a:pPr>
              <a:lnSpc>
                <a:spcPct val="50000"/>
              </a:lnSpc>
            </a:pPr>
            <a:endParaRPr lang="zh-CN" altLang="en-US" sz="2000">
              <a:solidFill>
                <a:schemeClr val="accent5">
                  <a:lumMod val="75000"/>
                </a:schemeClr>
              </a:solidFill>
            </a:endParaRPr>
          </a:p>
          <a:p>
            <a:pPr indent="457200"/>
            <a:r>
              <a:rPr lang="en-US" altLang="zh-CN" sz="2000">
                <a:solidFill>
                  <a:schemeClr val="accent5">
                    <a:lumMod val="75000"/>
                  </a:schemeClr>
                </a:solidFill>
              </a:rPr>
              <a:t>-- </a:t>
            </a:r>
            <a:r>
              <a:rPr lang="zh-CN" altLang="en-US" sz="2000">
                <a:solidFill>
                  <a:schemeClr val="accent5">
                    <a:lumMod val="75000"/>
                  </a:schemeClr>
                </a:solidFill>
              </a:rPr>
              <a:t>确定假设的表示形式后，便隐含地为学习算法确定了</a:t>
            </a:r>
            <a:r>
              <a:rPr lang="zh-CN" altLang="en-US" sz="2000">
                <a:solidFill>
                  <a:schemeClr val="accent2">
                    <a:lumMod val="50000"/>
                  </a:schemeClr>
                </a:solidFill>
              </a:rPr>
              <a:t>假设空间</a:t>
            </a:r>
            <a:r>
              <a:rPr lang="en-US" altLang="zh-CN" sz="2000">
                <a:solidFill>
                  <a:schemeClr val="accent2">
                    <a:lumMod val="50000"/>
                  </a:schemeClr>
                </a:solidFill>
              </a:rPr>
              <a:t>H</a:t>
            </a:r>
            <a:endParaRPr lang="en-US" altLang="zh-CN" sz="2000">
              <a:solidFill>
                <a:schemeClr val="accent2">
                  <a:lumMod val="50000"/>
                </a:schemeClr>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3643630" cy="583565"/>
          </a:xfrm>
          <a:prstGeom prst="rect">
            <a:avLst/>
          </a:prstGeom>
          <a:noFill/>
        </p:spPr>
        <p:txBody>
          <a:bodyPr wrap="square" rtlCol="0">
            <a:spAutoFit/>
            <a:scene3d>
              <a:camera prst="orthographicFront"/>
              <a:lightRig rig="threePt" dir="t"/>
            </a:scene3d>
          </a:bodyPr>
          <a:lstStyle/>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什么是概念学习？</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
        <p:nvSpPr>
          <p:cNvPr id="75779" name="Rectangle 168"/>
          <p:cNvSpPr>
            <a:spLocks noChangeArrowheads="1"/>
          </p:cNvSpPr>
          <p:nvPr/>
        </p:nvSpPr>
        <p:spPr bwMode="auto">
          <a:xfrm>
            <a:off x="9362758" y="3074671"/>
            <a:ext cx="11350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Yes</a:t>
            </a:r>
            <a:endParaRPr kumimoji="1" lang="en-US" altLang="zh-CN" sz="1400">
              <a:latin typeface="Times New Roman" panose="02020603050405020304" charset="0"/>
            </a:endParaRPr>
          </a:p>
        </p:txBody>
      </p:sp>
      <p:sp>
        <p:nvSpPr>
          <p:cNvPr id="75780" name="Rectangle 167"/>
          <p:cNvSpPr>
            <a:spLocks noChangeArrowheads="1"/>
          </p:cNvSpPr>
          <p:nvPr/>
        </p:nvSpPr>
        <p:spPr bwMode="auto">
          <a:xfrm>
            <a:off x="8227696" y="3074671"/>
            <a:ext cx="11350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Change</a:t>
            </a:r>
            <a:endParaRPr kumimoji="1" lang="en-US" altLang="zh-CN" sz="1400">
              <a:latin typeface="Times New Roman" panose="02020603050405020304" charset="0"/>
            </a:endParaRPr>
          </a:p>
        </p:txBody>
      </p:sp>
      <p:sp>
        <p:nvSpPr>
          <p:cNvPr id="75781" name="Rectangle 166"/>
          <p:cNvSpPr>
            <a:spLocks noChangeArrowheads="1"/>
          </p:cNvSpPr>
          <p:nvPr/>
        </p:nvSpPr>
        <p:spPr bwMode="auto">
          <a:xfrm>
            <a:off x="7092633" y="3074671"/>
            <a:ext cx="11350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Cool</a:t>
            </a:r>
            <a:endParaRPr kumimoji="1" lang="en-US" altLang="zh-CN" sz="1400">
              <a:latin typeface="Times New Roman" panose="02020603050405020304" charset="0"/>
            </a:endParaRPr>
          </a:p>
        </p:txBody>
      </p:sp>
      <p:sp>
        <p:nvSpPr>
          <p:cNvPr id="75782" name="Rectangle 165"/>
          <p:cNvSpPr>
            <a:spLocks noChangeArrowheads="1"/>
          </p:cNvSpPr>
          <p:nvPr/>
        </p:nvSpPr>
        <p:spPr bwMode="auto">
          <a:xfrm>
            <a:off x="5957571" y="3074671"/>
            <a:ext cx="11350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Strong</a:t>
            </a:r>
            <a:endParaRPr kumimoji="1" lang="en-US" altLang="zh-CN" sz="1400">
              <a:latin typeface="Times New Roman" panose="02020603050405020304" charset="0"/>
            </a:endParaRPr>
          </a:p>
        </p:txBody>
      </p:sp>
      <p:sp>
        <p:nvSpPr>
          <p:cNvPr id="75783" name="Rectangle 164"/>
          <p:cNvSpPr>
            <a:spLocks noChangeArrowheads="1"/>
          </p:cNvSpPr>
          <p:nvPr/>
        </p:nvSpPr>
        <p:spPr bwMode="auto">
          <a:xfrm>
            <a:off x="4822508" y="3074671"/>
            <a:ext cx="11350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High</a:t>
            </a:r>
            <a:endParaRPr kumimoji="1" lang="en-US" altLang="zh-CN" sz="1400">
              <a:latin typeface="Times New Roman" panose="02020603050405020304" charset="0"/>
            </a:endParaRPr>
          </a:p>
        </p:txBody>
      </p:sp>
      <p:sp>
        <p:nvSpPr>
          <p:cNvPr id="75784" name="Rectangle 163"/>
          <p:cNvSpPr>
            <a:spLocks noChangeArrowheads="1"/>
          </p:cNvSpPr>
          <p:nvPr/>
        </p:nvSpPr>
        <p:spPr bwMode="auto">
          <a:xfrm>
            <a:off x="3687446" y="3074671"/>
            <a:ext cx="11350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Warm</a:t>
            </a:r>
            <a:endParaRPr kumimoji="1" lang="en-US" altLang="zh-CN" sz="1400">
              <a:latin typeface="Times New Roman" panose="02020603050405020304" charset="0"/>
            </a:endParaRPr>
          </a:p>
        </p:txBody>
      </p:sp>
      <p:sp>
        <p:nvSpPr>
          <p:cNvPr id="75785" name="Rectangle 162"/>
          <p:cNvSpPr>
            <a:spLocks noChangeArrowheads="1"/>
          </p:cNvSpPr>
          <p:nvPr/>
        </p:nvSpPr>
        <p:spPr bwMode="auto">
          <a:xfrm>
            <a:off x="2552383" y="3074671"/>
            <a:ext cx="11350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Sunny</a:t>
            </a:r>
            <a:endParaRPr kumimoji="1" lang="en-US" altLang="zh-CN" sz="1400">
              <a:latin typeface="Times New Roman" panose="02020603050405020304" charset="0"/>
            </a:endParaRPr>
          </a:p>
        </p:txBody>
      </p:sp>
      <p:sp>
        <p:nvSpPr>
          <p:cNvPr id="75786" name="Rectangle 161"/>
          <p:cNvSpPr>
            <a:spLocks noChangeArrowheads="1"/>
          </p:cNvSpPr>
          <p:nvPr/>
        </p:nvSpPr>
        <p:spPr bwMode="auto">
          <a:xfrm>
            <a:off x="1417321" y="3074671"/>
            <a:ext cx="11350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4</a:t>
            </a:r>
            <a:endParaRPr kumimoji="1" lang="en-US" altLang="zh-CN" sz="1400">
              <a:latin typeface="Times New Roman" panose="02020603050405020304" charset="0"/>
            </a:endParaRPr>
          </a:p>
        </p:txBody>
      </p:sp>
      <p:sp>
        <p:nvSpPr>
          <p:cNvPr id="75787" name="Rectangle 160"/>
          <p:cNvSpPr>
            <a:spLocks noChangeArrowheads="1"/>
          </p:cNvSpPr>
          <p:nvPr/>
        </p:nvSpPr>
        <p:spPr bwMode="auto">
          <a:xfrm>
            <a:off x="9362758" y="2679384"/>
            <a:ext cx="1135062"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No</a:t>
            </a:r>
            <a:endParaRPr kumimoji="1" lang="en-US" altLang="zh-CN" sz="1400">
              <a:latin typeface="Times New Roman" panose="02020603050405020304" charset="0"/>
            </a:endParaRPr>
          </a:p>
        </p:txBody>
      </p:sp>
      <p:sp>
        <p:nvSpPr>
          <p:cNvPr id="75788" name="Rectangle 159"/>
          <p:cNvSpPr>
            <a:spLocks noChangeArrowheads="1"/>
          </p:cNvSpPr>
          <p:nvPr/>
        </p:nvSpPr>
        <p:spPr bwMode="auto">
          <a:xfrm>
            <a:off x="8227696" y="2679384"/>
            <a:ext cx="1135063"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Change</a:t>
            </a:r>
            <a:endParaRPr kumimoji="1" lang="en-US" altLang="zh-CN" sz="1400">
              <a:latin typeface="Times New Roman" panose="02020603050405020304" charset="0"/>
            </a:endParaRPr>
          </a:p>
        </p:txBody>
      </p:sp>
      <p:sp>
        <p:nvSpPr>
          <p:cNvPr id="75789" name="Rectangle 158"/>
          <p:cNvSpPr>
            <a:spLocks noChangeArrowheads="1"/>
          </p:cNvSpPr>
          <p:nvPr/>
        </p:nvSpPr>
        <p:spPr bwMode="auto">
          <a:xfrm>
            <a:off x="7092633" y="2679384"/>
            <a:ext cx="1135062"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Warm</a:t>
            </a:r>
            <a:endParaRPr kumimoji="1" lang="en-US" altLang="zh-CN" sz="1400">
              <a:latin typeface="Times New Roman" panose="02020603050405020304" charset="0"/>
            </a:endParaRPr>
          </a:p>
        </p:txBody>
      </p:sp>
      <p:sp>
        <p:nvSpPr>
          <p:cNvPr id="75790" name="Rectangle 157"/>
          <p:cNvSpPr>
            <a:spLocks noChangeArrowheads="1"/>
          </p:cNvSpPr>
          <p:nvPr/>
        </p:nvSpPr>
        <p:spPr bwMode="auto">
          <a:xfrm>
            <a:off x="5957571" y="2679384"/>
            <a:ext cx="1135063"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Strong</a:t>
            </a:r>
            <a:endParaRPr kumimoji="1" lang="en-US" altLang="zh-CN" sz="1400">
              <a:latin typeface="Times New Roman" panose="02020603050405020304" charset="0"/>
            </a:endParaRPr>
          </a:p>
        </p:txBody>
      </p:sp>
      <p:sp>
        <p:nvSpPr>
          <p:cNvPr id="75791" name="Rectangle 156"/>
          <p:cNvSpPr>
            <a:spLocks noChangeArrowheads="1"/>
          </p:cNvSpPr>
          <p:nvPr/>
        </p:nvSpPr>
        <p:spPr bwMode="auto">
          <a:xfrm>
            <a:off x="4822508" y="2679384"/>
            <a:ext cx="1135062"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High</a:t>
            </a:r>
            <a:endParaRPr kumimoji="1" lang="en-US" altLang="zh-CN" sz="1400">
              <a:latin typeface="Times New Roman" panose="02020603050405020304" charset="0"/>
            </a:endParaRPr>
          </a:p>
        </p:txBody>
      </p:sp>
      <p:sp>
        <p:nvSpPr>
          <p:cNvPr id="75792" name="Rectangle 155"/>
          <p:cNvSpPr>
            <a:spLocks noChangeArrowheads="1"/>
          </p:cNvSpPr>
          <p:nvPr/>
        </p:nvSpPr>
        <p:spPr bwMode="auto">
          <a:xfrm>
            <a:off x="3687446" y="2679384"/>
            <a:ext cx="1135063"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Cold</a:t>
            </a:r>
            <a:endParaRPr kumimoji="1" lang="en-US" altLang="zh-CN" sz="1400">
              <a:latin typeface="Times New Roman" panose="02020603050405020304" charset="0"/>
            </a:endParaRPr>
          </a:p>
        </p:txBody>
      </p:sp>
      <p:sp>
        <p:nvSpPr>
          <p:cNvPr id="75793" name="Rectangle 154"/>
          <p:cNvSpPr>
            <a:spLocks noChangeArrowheads="1"/>
          </p:cNvSpPr>
          <p:nvPr/>
        </p:nvSpPr>
        <p:spPr bwMode="auto">
          <a:xfrm>
            <a:off x="2552383" y="2679384"/>
            <a:ext cx="1135062"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Rainy</a:t>
            </a:r>
            <a:endParaRPr kumimoji="1" lang="en-US" altLang="zh-CN" sz="1400">
              <a:latin typeface="Times New Roman" panose="02020603050405020304" charset="0"/>
            </a:endParaRPr>
          </a:p>
        </p:txBody>
      </p:sp>
      <p:sp>
        <p:nvSpPr>
          <p:cNvPr id="75794" name="Rectangle 153"/>
          <p:cNvSpPr>
            <a:spLocks noChangeArrowheads="1"/>
          </p:cNvSpPr>
          <p:nvPr/>
        </p:nvSpPr>
        <p:spPr bwMode="auto">
          <a:xfrm>
            <a:off x="1417321" y="2679384"/>
            <a:ext cx="1135063"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3</a:t>
            </a:r>
            <a:endParaRPr kumimoji="1" lang="en-US" altLang="zh-CN" sz="1400">
              <a:latin typeface="Times New Roman" panose="02020603050405020304" charset="0"/>
            </a:endParaRPr>
          </a:p>
        </p:txBody>
      </p:sp>
      <p:sp>
        <p:nvSpPr>
          <p:cNvPr id="75795" name="Rectangle 152"/>
          <p:cNvSpPr>
            <a:spLocks noChangeArrowheads="1"/>
          </p:cNvSpPr>
          <p:nvPr/>
        </p:nvSpPr>
        <p:spPr bwMode="auto">
          <a:xfrm>
            <a:off x="9362758" y="2282509"/>
            <a:ext cx="11350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Yes</a:t>
            </a:r>
            <a:endParaRPr kumimoji="1" lang="en-US" altLang="zh-CN" sz="1400">
              <a:latin typeface="Times New Roman" panose="02020603050405020304" charset="0"/>
            </a:endParaRPr>
          </a:p>
        </p:txBody>
      </p:sp>
      <p:sp>
        <p:nvSpPr>
          <p:cNvPr id="75796" name="Rectangle 151"/>
          <p:cNvSpPr>
            <a:spLocks noChangeArrowheads="1"/>
          </p:cNvSpPr>
          <p:nvPr/>
        </p:nvSpPr>
        <p:spPr bwMode="auto">
          <a:xfrm>
            <a:off x="8227696" y="2282509"/>
            <a:ext cx="11350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Same</a:t>
            </a:r>
            <a:endParaRPr kumimoji="1" lang="en-US" altLang="zh-CN" sz="1400">
              <a:latin typeface="Times New Roman" panose="02020603050405020304" charset="0"/>
            </a:endParaRPr>
          </a:p>
        </p:txBody>
      </p:sp>
      <p:sp>
        <p:nvSpPr>
          <p:cNvPr id="75797" name="Rectangle 150"/>
          <p:cNvSpPr>
            <a:spLocks noChangeArrowheads="1"/>
          </p:cNvSpPr>
          <p:nvPr/>
        </p:nvSpPr>
        <p:spPr bwMode="auto">
          <a:xfrm>
            <a:off x="7092633" y="2282509"/>
            <a:ext cx="11350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Warm</a:t>
            </a:r>
            <a:endParaRPr kumimoji="1" lang="en-US" altLang="zh-CN" sz="1400">
              <a:latin typeface="Times New Roman" panose="02020603050405020304" charset="0"/>
            </a:endParaRPr>
          </a:p>
        </p:txBody>
      </p:sp>
      <p:sp>
        <p:nvSpPr>
          <p:cNvPr id="75798" name="Rectangle 149"/>
          <p:cNvSpPr>
            <a:spLocks noChangeArrowheads="1"/>
          </p:cNvSpPr>
          <p:nvPr/>
        </p:nvSpPr>
        <p:spPr bwMode="auto">
          <a:xfrm>
            <a:off x="5957571" y="2282509"/>
            <a:ext cx="11350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Strong</a:t>
            </a:r>
            <a:endParaRPr kumimoji="1" lang="en-US" altLang="zh-CN" sz="1400">
              <a:latin typeface="Times New Roman" panose="02020603050405020304" charset="0"/>
            </a:endParaRPr>
          </a:p>
        </p:txBody>
      </p:sp>
      <p:sp>
        <p:nvSpPr>
          <p:cNvPr id="75799" name="Rectangle 148"/>
          <p:cNvSpPr>
            <a:spLocks noChangeArrowheads="1"/>
          </p:cNvSpPr>
          <p:nvPr/>
        </p:nvSpPr>
        <p:spPr bwMode="auto">
          <a:xfrm>
            <a:off x="4822508" y="2282509"/>
            <a:ext cx="11350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High</a:t>
            </a:r>
            <a:endParaRPr kumimoji="1" lang="en-US" altLang="zh-CN" sz="1400">
              <a:latin typeface="Times New Roman" panose="02020603050405020304" charset="0"/>
            </a:endParaRPr>
          </a:p>
        </p:txBody>
      </p:sp>
      <p:sp>
        <p:nvSpPr>
          <p:cNvPr id="75800" name="Rectangle 147"/>
          <p:cNvSpPr>
            <a:spLocks noChangeArrowheads="1"/>
          </p:cNvSpPr>
          <p:nvPr/>
        </p:nvSpPr>
        <p:spPr bwMode="auto">
          <a:xfrm>
            <a:off x="3687446" y="2282509"/>
            <a:ext cx="11350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Warm</a:t>
            </a:r>
            <a:endParaRPr kumimoji="1" lang="en-US" altLang="zh-CN" sz="1400">
              <a:latin typeface="Times New Roman" panose="02020603050405020304" charset="0"/>
            </a:endParaRPr>
          </a:p>
        </p:txBody>
      </p:sp>
      <p:sp>
        <p:nvSpPr>
          <p:cNvPr id="75801" name="Rectangle 146"/>
          <p:cNvSpPr>
            <a:spLocks noChangeArrowheads="1"/>
          </p:cNvSpPr>
          <p:nvPr/>
        </p:nvSpPr>
        <p:spPr bwMode="auto">
          <a:xfrm>
            <a:off x="2552383" y="2282509"/>
            <a:ext cx="11350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Sunny</a:t>
            </a:r>
            <a:endParaRPr kumimoji="1" lang="en-US" altLang="zh-CN" sz="1400">
              <a:latin typeface="Times New Roman" panose="02020603050405020304" charset="0"/>
            </a:endParaRPr>
          </a:p>
        </p:txBody>
      </p:sp>
      <p:sp>
        <p:nvSpPr>
          <p:cNvPr id="75802" name="Rectangle 145"/>
          <p:cNvSpPr>
            <a:spLocks noChangeArrowheads="1"/>
          </p:cNvSpPr>
          <p:nvPr/>
        </p:nvSpPr>
        <p:spPr bwMode="auto">
          <a:xfrm>
            <a:off x="1417321" y="2282509"/>
            <a:ext cx="11350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2</a:t>
            </a:r>
            <a:endParaRPr kumimoji="1" lang="en-US" altLang="zh-CN" sz="1400">
              <a:latin typeface="Times New Roman" panose="02020603050405020304" charset="0"/>
            </a:endParaRPr>
          </a:p>
        </p:txBody>
      </p:sp>
      <p:sp>
        <p:nvSpPr>
          <p:cNvPr id="75803" name="Rectangle 144"/>
          <p:cNvSpPr>
            <a:spLocks noChangeArrowheads="1"/>
          </p:cNvSpPr>
          <p:nvPr/>
        </p:nvSpPr>
        <p:spPr bwMode="auto">
          <a:xfrm>
            <a:off x="9362758" y="1887220"/>
            <a:ext cx="1135062"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Yes</a:t>
            </a:r>
            <a:endParaRPr kumimoji="1" lang="en-US" altLang="zh-CN" sz="1400">
              <a:latin typeface="Times New Roman" panose="02020603050405020304" charset="0"/>
            </a:endParaRPr>
          </a:p>
        </p:txBody>
      </p:sp>
      <p:sp>
        <p:nvSpPr>
          <p:cNvPr id="75804" name="Rectangle 143"/>
          <p:cNvSpPr>
            <a:spLocks noChangeArrowheads="1"/>
          </p:cNvSpPr>
          <p:nvPr/>
        </p:nvSpPr>
        <p:spPr bwMode="auto">
          <a:xfrm>
            <a:off x="8227696" y="1887220"/>
            <a:ext cx="1135063"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Same</a:t>
            </a:r>
            <a:endParaRPr kumimoji="1" lang="en-US" altLang="zh-CN" sz="1400">
              <a:latin typeface="Times New Roman" panose="02020603050405020304" charset="0"/>
            </a:endParaRPr>
          </a:p>
        </p:txBody>
      </p:sp>
      <p:sp>
        <p:nvSpPr>
          <p:cNvPr id="75805" name="Rectangle 142"/>
          <p:cNvSpPr>
            <a:spLocks noChangeArrowheads="1"/>
          </p:cNvSpPr>
          <p:nvPr/>
        </p:nvSpPr>
        <p:spPr bwMode="auto">
          <a:xfrm>
            <a:off x="7092633" y="1887220"/>
            <a:ext cx="1135062"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Warm</a:t>
            </a:r>
            <a:endParaRPr kumimoji="1" lang="en-US" altLang="zh-CN" sz="1400">
              <a:latin typeface="Times New Roman" panose="02020603050405020304" charset="0"/>
            </a:endParaRPr>
          </a:p>
        </p:txBody>
      </p:sp>
      <p:sp>
        <p:nvSpPr>
          <p:cNvPr id="75806" name="Rectangle 141"/>
          <p:cNvSpPr>
            <a:spLocks noChangeArrowheads="1"/>
          </p:cNvSpPr>
          <p:nvPr/>
        </p:nvSpPr>
        <p:spPr bwMode="auto">
          <a:xfrm>
            <a:off x="5957571" y="1887220"/>
            <a:ext cx="1135063"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Strong</a:t>
            </a:r>
            <a:endParaRPr kumimoji="1" lang="en-US" altLang="zh-CN" sz="1400">
              <a:latin typeface="Times New Roman" panose="02020603050405020304" charset="0"/>
            </a:endParaRPr>
          </a:p>
        </p:txBody>
      </p:sp>
      <p:sp>
        <p:nvSpPr>
          <p:cNvPr id="75807" name="Rectangle 140"/>
          <p:cNvSpPr>
            <a:spLocks noChangeArrowheads="1"/>
          </p:cNvSpPr>
          <p:nvPr/>
        </p:nvSpPr>
        <p:spPr bwMode="auto">
          <a:xfrm>
            <a:off x="4822508" y="1887220"/>
            <a:ext cx="1135062"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dirty="0">
                <a:latin typeface="Times New Roman" panose="02020603050405020304" charset="0"/>
              </a:rPr>
              <a:t>Normal</a:t>
            </a:r>
            <a:endParaRPr kumimoji="1" lang="en-US" altLang="zh-CN" sz="1400" dirty="0">
              <a:latin typeface="Times New Roman" panose="02020603050405020304" charset="0"/>
            </a:endParaRPr>
          </a:p>
        </p:txBody>
      </p:sp>
      <p:sp>
        <p:nvSpPr>
          <p:cNvPr id="75808" name="Rectangle 139"/>
          <p:cNvSpPr>
            <a:spLocks noChangeArrowheads="1"/>
          </p:cNvSpPr>
          <p:nvPr/>
        </p:nvSpPr>
        <p:spPr bwMode="auto">
          <a:xfrm>
            <a:off x="3687446" y="1887220"/>
            <a:ext cx="1135063"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Warm</a:t>
            </a:r>
            <a:endParaRPr kumimoji="1" lang="en-US" altLang="zh-CN" sz="1400">
              <a:latin typeface="Times New Roman" panose="02020603050405020304" charset="0"/>
            </a:endParaRPr>
          </a:p>
        </p:txBody>
      </p:sp>
      <p:sp>
        <p:nvSpPr>
          <p:cNvPr id="75809" name="Rectangle 138"/>
          <p:cNvSpPr>
            <a:spLocks noChangeArrowheads="1"/>
          </p:cNvSpPr>
          <p:nvPr/>
        </p:nvSpPr>
        <p:spPr bwMode="auto">
          <a:xfrm>
            <a:off x="2552383" y="1887220"/>
            <a:ext cx="1135062"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Sunny</a:t>
            </a:r>
            <a:endParaRPr kumimoji="1" lang="en-US" altLang="zh-CN" sz="1400">
              <a:latin typeface="Times New Roman" panose="02020603050405020304" charset="0"/>
            </a:endParaRPr>
          </a:p>
        </p:txBody>
      </p:sp>
      <p:sp>
        <p:nvSpPr>
          <p:cNvPr id="75810" name="Rectangle 137"/>
          <p:cNvSpPr>
            <a:spLocks noChangeArrowheads="1"/>
          </p:cNvSpPr>
          <p:nvPr/>
        </p:nvSpPr>
        <p:spPr bwMode="auto">
          <a:xfrm>
            <a:off x="1417321" y="1887220"/>
            <a:ext cx="1135063"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1</a:t>
            </a:r>
            <a:endParaRPr kumimoji="1" lang="en-US" altLang="zh-CN" sz="1400">
              <a:latin typeface="Times New Roman" panose="02020603050405020304" charset="0"/>
            </a:endParaRPr>
          </a:p>
        </p:txBody>
      </p:sp>
      <p:sp>
        <p:nvSpPr>
          <p:cNvPr id="75811" name="Rectangle 136"/>
          <p:cNvSpPr>
            <a:spLocks noChangeArrowheads="1"/>
          </p:cNvSpPr>
          <p:nvPr/>
        </p:nvSpPr>
        <p:spPr bwMode="auto">
          <a:xfrm>
            <a:off x="9362758" y="1506220"/>
            <a:ext cx="12763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EnjoySport</a:t>
            </a:r>
            <a:endParaRPr kumimoji="1" lang="en-US" altLang="zh-CN" sz="1400">
              <a:latin typeface="Times New Roman" panose="02020603050405020304" charset="0"/>
            </a:endParaRPr>
          </a:p>
        </p:txBody>
      </p:sp>
      <p:sp>
        <p:nvSpPr>
          <p:cNvPr id="75812" name="Rectangle 135"/>
          <p:cNvSpPr>
            <a:spLocks noChangeArrowheads="1"/>
          </p:cNvSpPr>
          <p:nvPr/>
        </p:nvSpPr>
        <p:spPr bwMode="auto">
          <a:xfrm>
            <a:off x="8227696" y="1506220"/>
            <a:ext cx="113506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Forecast</a:t>
            </a:r>
            <a:endParaRPr kumimoji="1" lang="en-US" altLang="zh-CN" sz="1400">
              <a:latin typeface="Times New Roman" panose="02020603050405020304" charset="0"/>
            </a:endParaRPr>
          </a:p>
        </p:txBody>
      </p:sp>
      <p:sp>
        <p:nvSpPr>
          <p:cNvPr id="75813" name="Rectangle 134"/>
          <p:cNvSpPr>
            <a:spLocks noChangeArrowheads="1"/>
          </p:cNvSpPr>
          <p:nvPr/>
        </p:nvSpPr>
        <p:spPr bwMode="auto">
          <a:xfrm>
            <a:off x="7092633" y="1506220"/>
            <a:ext cx="1135062"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Water</a:t>
            </a:r>
            <a:endParaRPr kumimoji="1" lang="en-US" altLang="zh-CN" sz="1400">
              <a:latin typeface="Times New Roman" panose="02020603050405020304" charset="0"/>
            </a:endParaRPr>
          </a:p>
        </p:txBody>
      </p:sp>
      <p:sp>
        <p:nvSpPr>
          <p:cNvPr id="75814" name="Rectangle 133"/>
          <p:cNvSpPr>
            <a:spLocks noChangeArrowheads="1"/>
          </p:cNvSpPr>
          <p:nvPr/>
        </p:nvSpPr>
        <p:spPr bwMode="auto">
          <a:xfrm>
            <a:off x="5957571" y="1506220"/>
            <a:ext cx="113506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Wind</a:t>
            </a:r>
            <a:endParaRPr kumimoji="1" lang="en-US" altLang="zh-CN" sz="1400">
              <a:latin typeface="Times New Roman" panose="02020603050405020304" charset="0"/>
            </a:endParaRPr>
          </a:p>
        </p:txBody>
      </p:sp>
      <p:sp>
        <p:nvSpPr>
          <p:cNvPr id="75815" name="Rectangle 132"/>
          <p:cNvSpPr>
            <a:spLocks noChangeArrowheads="1"/>
          </p:cNvSpPr>
          <p:nvPr/>
        </p:nvSpPr>
        <p:spPr bwMode="auto">
          <a:xfrm>
            <a:off x="4822508" y="1506220"/>
            <a:ext cx="1135062"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Humidity</a:t>
            </a:r>
            <a:endParaRPr kumimoji="1" lang="en-US" altLang="zh-CN" sz="1400">
              <a:latin typeface="Times New Roman" panose="02020603050405020304" charset="0"/>
            </a:endParaRPr>
          </a:p>
        </p:txBody>
      </p:sp>
      <p:sp>
        <p:nvSpPr>
          <p:cNvPr id="75816" name="Rectangle 131"/>
          <p:cNvSpPr>
            <a:spLocks noChangeArrowheads="1"/>
          </p:cNvSpPr>
          <p:nvPr/>
        </p:nvSpPr>
        <p:spPr bwMode="auto">
          <a:xfrm>
            <a:off x="3687446" y="1506220"/>
            <a:ext cx="113506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AirTemp</a:t>
            </a:r>
            <a:endParaRPr kumimoji="1" lang="en-US" altLang="zh-CN" sz="1400">
              <a:latin typeface="Times New Roman" panose="02020603050405020304" charset="0"/>
            </a:endParaRPr>
          </a:p>
        </p:txBody>
      </p:sp>
      <p:sp>
        <p:nvSpPr>
          <p:cNvPr id="75817" name="Rectangle 130"/>
          <p:cNvSpPr>
            <a:spLocks noChangeArrowheads="1"/>
          </p:cNvSpPr>
          <p:nvPr/>
        </p:nvSpPr>
        <p:spPr bwMode="auto">
          <a:xfrm>
            <a:off x="2552383" y="1506220"/>
            <a:ext cx="1135062"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Sky</a:t>
            </a:r>
            <a:endParaRPr kumimoji="1" lang="en-US" altLang="zh-CN" sz="1400">
              <a:latin typeface="Times New Roman" panose="02020603050405020304" charset="0"/>
            </a:endParaRPr>
          </a:p>
        </p:txBody>
      </p:sp>
      <p:sp>
        <p:nvSpPr>
          <p:cNvPr id="75818" name="Rectangle 129"/>
          <p:cNvSpPr>
            <a:spLocks noChangeArrowheads="1"/>
          </p:cNvSpPr>
          <p:nvPr/>
        </p:nvSpPr>
        <p:spPr bwMode="auto">
          <a:xfrm>
            <a:off x="1417321" y="1506220"/>
            <a:ext cx="113506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Example</a:t>
            </a:r>
            <a:endParaRPr kumimoji="1" lang="en-US" altLang="zh-CN" sz="1400">
              <a:latin typeface="Times New Roman" panose="02020603050405020304" charset="0"/>
            </a:endParaRPr>
          </a:p>
        </p:txBody>
      </p:sp>
      <p:sp>
        <p:nvSpPr>
          <p:cNvPr id="75819" name="Line 169"/>
          <p:cNvSpPr>
            <a:spLocks noChangeShapeType="1"/>
          </p:cNvSpPr>
          <p:nvPr/>
        </p:nvSpPr>
        <p:spPr bwMode="auto">
          <a:xfrm>
            <a:off x="1417320" y="1506220"/>
            <a:ext cx="9080500" cy="0"/>
          </a:xfrm>
          <a:prstGeom prst="line">
            <a:avLst/>
          </a:prstGeom>
          <a:noFill/>
          <a:ln w="28575" cap="sq">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5820" name="Line 170"/>
          <p:cNvSpPr>
            <a:spLocks noChangeShapeType="1"/>
          </p:cNvSpPr>
          <p:nvPr/>
        </p:nvSpPr>
        <p:spPr bwMode="auto">
          <a:xfrm>
            <a:off x="1417320" y="1887220"/>
            <a:ext cx="9080500"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5821" name="Line 174"/>
          <p:cNvSpPr>
            <a:spLocks noChangeShapeType="1"/>
          </p:cNvSpPr>
          <p:nvPr/>
        </p:nvSpPr>
        <p:spPr bwMode="auto">
          <a:xfrm>
            <a:off x="1417320" y="3471545"/>
            <a:ext cx="9080500" cy="0"/>
          </a:xfrm>
          <a:prstGeom prst="line">
            <a:avLst/>
          </a:prstGeom>
          <a:noFill/>
          <a:ln w="28575" cap="sq">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mc:AlternateContent xmlns:mc="http://schemas.openxmlformats.org/markup-compatibility/2006">
        <mc:Choice xmlns:a14="http://schemas.microsoft.com/office/drawing/2010/main" Requires="a14">
          <p:sp>
            <p:nvSpPr>
              <p:cNvPr id="6" name="文本框 5"/>
              <p:cNvSpPr txBox="1"/>
              <p:nvPr/>
            </p:nvSpPr>
            <p:spPr>
              <a:xfrm>
                <a:off x="638175" y="3826510"/>
                <a:ext cx="11049000" cy="2555875"/>
              </a:xfrm>
              <a:prstGeom prst="rect">
                <a:avLst/>
              </a:prstGeom>
              <a:noFill/>
            </p:spPr>
            <p:txBody>
              <a:bodyPr wrap="square" rtlCol="0">
                <a:spAutoFit/>
              </a:bodyPr>
              <a:lstStyle/>
              <a:p>
                <a:r>
                  <a:rPr lang="zh-CN" altLang="en-US"/>
                  <a:t>对于</a:t>
                </a:r>
                <a:r>
                  <a:rPr lang="en-US" altLang="zh-CN"/>
                  <a:t>EnjoySport</a:t>
                </a:r>
                <a:r>
                  <a:rPr lang="zh-CN" altLang="en-US"/>
                  <a:t>的假设空间，若属性</a:t>
                </a:r>
                <a:r>
                  <a:rPr lang="en-US" altLang="zh-CN"/>
                  <a:t>Sky</a:t>
                </a:r>
                <a:r>
                  <a:rPr lang="zh-CN" altLang="en-US"/>
                  <a:t>有</a:t>
                </a:r>
                <a:r>
                  <a:rPr lang="en-US" altLang="zh-CN"/>
                  <a:t>{Sunny, Rainy, Cloudy}</a:t>
                </a:r>
                <a:r>
                  <a:rPr lang="zh-CN" altLang="en-US"/>
                  <a:t>三种属性值，而</a:t>
                </a:r>
                <a:r>
                  <a:rPr lang="en-US" altLang="zh-CN"/>
                  <a:t>AirTemp</a:t>
                </a:r>
                <a:r>
                  <a:rPr lang="zh-CN" altLang="en-US"/>
                  <a:t>、</a:t>
                </a:r>
                <a:r>
                  <a:rPr lang="en-US" altLang="zh-CN"/>
                  <a:t>Humidity</a:t>
                </a:r>
                <a:r>
                  <a:rPr lang="zh-CN" altLang="en-US"/>
                  <a:t>、</a:t>
                </a:r>
                <a:endParaRPr lang="zh-CN" altLang="en-US"/>
              </a:p>
              <a:p>
                <a:pPr>
                  <a:lnSpc>
                    <a:spcPct val="40000"/>
                  </a:lnSpc>
                </a:pPr>
                <a:endParaRPr lang="zh-CN" altLang="en-US"/>
              </a:p>
              <a:p>
                <a:r>
                  <a:rPr lang="en-US" altLang="zh-CN"/>
                  <a:t>Wind</a:t>
                </a:r>
                <a:r>
                  <a:rPr lang="zh-CN" altLang="en-US"/>
                  <a:t>、</a:t>
                </a:r>
                <a:r>
                  <a:rPr lang="en-US" altLang="zh-CN"/>
                  <a:t>Water</a:t>
                </a:r>
                <a:r>
                  <a:rPr lang="zh-CN" altLang="en-US"/>
                  <a:t>、</a:t>
                </a:r>
                <a:r>
                  <a:rPr lang="en-US" altLang="zh-CN"/>
                  <a:t>Forecast</a:t>
                </a:r>
                <a:r>
                  <a:rPr lang="zh-CN" altLang="en-US"/>
                  <a:t>均只有表中所示两种属性值，则</a:t>
                </a:r>
                <a:endParaRPr lang="zh-CN" altLang="en-US"/>
              </a:p>
              <a:p>
                <a:endParaRPr lang="zh-CN" altLang="en-US"/>
              </a:p>
              <a:p>
                <a:pPr indent="457200"/>
                <a:r>
                  <a:rPr lang="zh-CN" altLang="en-US" b="1"/>
                  <a:t>实例空间</a:t>
                </a:r>
                <a14:m>
                  <m:oMath xmlns:m="http://schemas.openxmlformats.org/officeDocument/2006/math">
                    <m:r>
                      <a:rPr lang="en-US" altLang="zh-CN" b="1" i="1" dirty="0" smtClean="0">
                        <a:latin typeface="Cambria Math" panose="02040503050406030204" pitchFamily="18" charset="0"/>
                      </a:rPr>
                      <m:t>𝑿</m:t>
                    </m:r>
                  </m:oMath>
                </a14:m>
                <a:r>
                  <a:rPr lang="zh-CN" altLang="en-US" dirty="0">
                    <a:latin typeface="Cambria Math" panose="02040503050406030204" pitchFamily="18" charset="0"/>
                  </a:rPr>
                  <a:t>包含</a:t>
                </a:r>
                <a:r>
                  <a:rPr lang="en-US" altLang="zh-CN" dirty="0">
                    <a:latin typeface="Cambria Math" panose="02040503050406030204" pitchFamily="18" charset="0"/>
                  </a:rPr>
                  <a:t>3</a:t>
                </a:r>
                <a:r>
                  <a:rPr lang="zh-CN" altLang="en-US" dirty="0">
                    <a:latin typeface="Cambria Math" panose="02040503050406030204" pitchFamily="18" charset="0"/>
                  </a:rPr>
                  <a:t>×</a:t>
                </a:r>
                <a:r>
                  <a:rPr lang="en-US" altLang="zh-CN" dirty="0">
                    <a:latin typeface="Cambria Math" panose="02040503050406030204" pitchFamily="18" charset="0"/>
                  </a:rPr>
                  <a:t>2</a:t>
                </a:r>
                <a:r>
                  <a:rPr lang="zh-CN" altLang="en-US" dirty="0">
                    <a:latin typeface="Cambria Math" panose="02040503050406030204" pitchFamily="18" charset="0"/>
                  </a:rPr>
                  <a:t>×</a:t>
                </a:r>
                <a:r>
                  <a:rPr lang="en-US" altLang="zh-CN" dirty="0">
                    <a:latin typeface="Cambria Math" panose="02040503050406030204" pitchFamily="18" charset="0"/>
                  </a:rPr>
                  <a:t>2</a:t>
                </a:r>
                <a:r>
                  <a:rPr lang="zh-CN" altLang="en-US" dirty="0">
                    <a:latin typeface="Cambria Math" panose="02040503050406030204" pitchFamily="18" charset="0"/>
                  </a:rPr>
                  <a:t>×</a:t>
                </a:r>
                <a:r>
                  <a:rPr lang="en-US" altLang="zh-CN" dirty="0">
                    <a:latin typeface="Cambria Math" panose="02040503050406030204" pitchFamily="18" charset="0"/>
                  </a:rPr>
                  <a:t>2</a:t>
                </a:r>
                <a:r>
                  <a:rPr lang="zh-CN" altLang="en-US" dirty="0">
                    <a:latin typeface="Cambria Math" panose="02040503050406030204" pitchFamily="18" charset="0"/>
                  </a:rPr>
                  <a:t>×</a:t>
                </a:r>
                <a:r>
                  <a:rPr lang="en-US" altLang="zh-CN" dirty="0">
                    <a:latin typeface="Cambria Math" panose="02040503050406030204" pitchFamily="18" charset="0"/>
                  </a:rPr>
                  <a:t>2</a:t>
                </a:r>
                <a:r>
                  <a:rPr lang="zh-CN" altLang="en-US" dirty="0">
                    <a:latin typeface="Cambria Math" panose="02040503050406030204" pitchFamily="18" charset="0"/>
                  </a:rPr>
                  <a:t>×</a:t>
                </a:r>
                <a:r>
                  <a:rPr lang="en-US" altLang="zh-CN" dirty="0">
                    <a:latin typeface="Cambria Math" panose="02040503050406030204" pitchFamily="18" charset="0"/>
                  </a:rPr>
                  <a:t>2=96</a:t>
                </a:r>
                <a:r>
                  <a:rPr lang="zh-CN" altLang="en-US" dirty="0">
                    <a:latin typeface="Cambria Math" panose="02040503050406030204" pitchFamily="18" charset="0"/>
                  </a:rPr>
                  <a:t>种不同的实例</a:t>
                </a:r>
                <a14:m>
                  <m:oMath xmlns:m="http://schemas.openxmlformats.org/officeDocument/2006/math">
                    <m:r>
                      <a:rPr lang="zh-CN" altLang="en-US" dirty="0">
                        <a:latin typeface="Cambria Math" panose="02040503050406030204" pitchFamily="18" charset="0"/>
                      </a:rPr>
                      <m:t>𝒙</m:t>
                    </m:r>
                  </m:oMath>
                </a14:m>
                <a:endParaRPr lang="zh-CN" altLang="en-US" dirty="0">
                  <a:latin typeface="Cambria Math" panose="02040503050406030204" pitchFamily="18" charset="0"/>
                </a:endParaRPr>
              </a:p>
              <a:p>
                <a:pPr indent="457200">
                  <a:lnSpc>
                    <a:spcPct val="50000"/>
                  </a:lnSpc>
                </a:pPr>
                <a:endParaRPr lang="zh-CN" altLang="en-US" dirty="0">
                  <a:latin typeface="Cambria Math" panose="02040503050406030204" pitchFamily="18" charset="0"/>
                </a:endParaRPr>
              </a:p>
              <a:p>
                <a:pPr indent="457200"/>
                <a:r>
                  <a:rPr lang="zh-CN" altLang="en-US" b="1" dirty="0">
                    <a:latin typeface="Cambria Math" panose="02040503050406030204" pitchFamily="18" charset="0"/>
                  </a:rPr>
                  <a:t>假设空间</a:t>
                </a:r>
                <a:r>
                  <a:rPr lang="en-US" altLang="zh-CN" b="1" dirty="0">
                    <a:latin typeface="Cambria Math" panose="02040503050406030204" pitchFamily="18" charset="0"/>
                  </a:rPr>
                  <a:t>H</a:t>
                </a:r>
                <a:r>
                  <a:rPr lang="zh-CN" altLang="en-US" dirty="0">
                    <a:latin typeface="Cambria Math" panose="02040503050406030204" pitchFamily="18" charset="0"/>
                  </a:rPr>
                  <a:t>包含</a:t>
                </a:r>
                <a:r>
                  <a:rPr lang="en-US" altLang="zh-CN" dirty="0">
                    <a:latin typeface="Cambria Math" panose="02040503050406030204" pitchFamily="18" charset="0"/>
                  </a:rPr>
                  <a:t>5</a:t>
                </a:r>
                <a:r>
                  <a:rPr lang="zh-CN" altLang="en-US" dirty="0">
                    <a:latin typeface="Cambria Math" panose="02040503050406030204" pitchFamily="18" charset="0"/>
                    <a:sym typeface="+mn-ea"/>
                  </a:rPr>
                  <a:t>×</a:t>
                </a:r>
                <a:r>
                  <a:rPr lang="en-US" altLang="zh-CN" dirty="0">
                    <a:latin typeface="Cambria Math" panose="02040503050406030204" pitchFamily="18" charset="0"/>
                    <a:sym typeface="+mn-ea"/>
                  </a:rPr>
                  <a:t>4</a:t>
                </a:r>
                <a:r>
                  <a:rPr lang="zh-CN" altLang="en-US" dirty="0">
                    <a:latin typeface="Cambria Math" panose="02040503050406030204" pitchFamily="18" charset="0"/>
                    <a:sym typeface="+mn-ea"/>
                  </a:rPr>
                  <a:t>×</a:t>
                </a:r>
                <a:r>
                  <a:rPr lang="en-US" altLang="zh-CN" dirty="0">
                    <a:latin typeface="Cambria Math" panose="02040503050406030204" pitchFamily="18" charset="0"/>
                    <a:sym typeface="+mn-ea"/>
                  </a:rPr>
                  <a:t>4</a:t>
                </a:r>
                <a:r>
                  <a:rPr lang="zh-CN" altLang="en-US" dirty="0">
                    <a:latin typeface="Cambria Math" panose="02040503050406030204" pitchFamily="18" charset="0"/>
                    <a:sym typeface="+mn-ea"/>
                  </a:rPr>
                  <a:t>×</a:t>
                </a:r>
                <a:r>
                  <a:rPr lang="en-US" altLang="zh-CN" dirty="0">
                    <a:latin typeface="Cambria Math" panose="02040503050406030204" pitchFamily="18" charset="0"/>
                    <a:sym typeface="+mn-ea"/>
                  </a:rPr>
                  <a:t>4</a:t>
                </a:r>
                <a:r>
                  <a:rPr lang="zh-CN" altLang="en-US" dirty="0">
                    <a:latin typeface="Cambria Math" panose="02040503050406030204" pitchFamily="18" charset="0"/>
                    <a:sym typeface="+mn-ea"/>
                  </a:rPr>
                  <a:t>×</a:t>
                </a:r>
                <a:r>
                  <a:rPr lang="en-US" altLang="zh-CN" dirty="0">
                    <a:latin typeface="Cambria Math" panose="02040503050406030204" pitchFamily="18" charset="0"/>
                    <a:sym typeface="+mn-ea"/>
                  </a:rPr>
                  <a:t>4</a:t>
                </a:r>
                <a:r>
                  <a:rPr lang="zh-CN" altLang="en-US" dirty="0">
                    <a:latin typeface="Cambria Math" panose="02040503050406030204" pitchFamily="18" charset="0"/>
                    <a:sym typeface="+mn-ea"/>
                  </a:rPr>
                  <a:t>×</a:t>
                </a:r>
                <a:r>
                  <a:rPr lang="en-US" altLang="zh-CN" dirty="0">
                    <a:latin typeface="Cambria Math" panose="02040503050406030204" pitchFamily="18" charset="0"/>
                    <a:sym typeface="+mn-ea"/>
                  </a:rPr>
                  <a:t>4=5120</a:t>
                </a:r>
                <a:r>
                  <a:rPr lang="zh-CN" altLang="en-US" dirty="0">
                    <a:latin typeface="Cambria Math" panose="02040503050406030204" pitchFamily="18" charset="0"/>
                    <a:sym typeface="+mn-ea"/>
                  </a:rPr>
                  <a:t>种</a:t>
                </a:r>
                <a:r>
                  <a:rPr lang="zh-CN" altLang="en-US" u="sng" dirty="0">
                    <a:latin typeface="Cambria Math" panose="02040503050406030204" pitchFamily="18" charset="0"/>
                    <a:sym typeface="+mn-ea"/>
                  </a:rPr>
                  <a:t>语法</a:t>
                </a:r>
                <a:r>
                  <a:rPr lang="zh-CN" altLang="en-US" dirty="0">
                    <a:latin typeface="Cambria Math" panose="02040503050406030204" pitchFamily="18" charset="0"/>
                    <a:sym typeface="+mn-ea"/>
                  </a:rPr>
                  <a:t>不同的假设</a:t>
                </a:r>
                <a:r>
                  <a:rPr lang="en-US" altLang="zh-CN" dirty="0">
                    <a:latin typeface="Cambria Math" panose="02040503050406030204" pitchFamily="18" charset="0"/>
                    <a:sym typeface="+mn-ea"/>
                  </a:rPr>
                  <a:t>h (</a:t>
                </a:r>
                <a:r>
                  <a:rPr lang="zh-CN" altLang="en-US" dirty="0">
                    <a:latin typeface="Cambria Math" panose="02040503050406030204" pitchFamily="18" charset="0"/>
                    <a:sym typeface="+mn-ea"/>
                  </a:rPr>
                  <a:t>每个属性除了本身的属性值还有</a:t>
                </a:r>
                <a:r>
                  <a:rPr lang="en-US" altLang="zh-CN" dirty="0">
                    <a:latin typeface="Cambria Math" panose="02040503050406030204" pitchFamily="18" charset="0"/>
                    <a:sym typeface="+mn-ea"/>
                  </a:rPr>
                  <a:t>?</a:t>
                </a:r>
                <a:r>
                  <a:rPr lang="zh-CN" altLang="en-US" dirty="0">
                    <a:latin typeface="Cambria Math" panose="02040503050406030204" pitchFamily="18" charset="0"/>
                    <a:sym typeface="+mn-ea"/>
                  </a:rPr>
                  <a:t>和</a:t>
                </a:r>
                <a:r>
                  <a:rPr lang="zh-CN" altLang="en-US" dirty="0">
                    <a:sym typeface="Symbol" panose="05050102010706020507" pitchFamily="18" charset="2"/>
                  </a:rPr>
                  <a:t></a:t>
                </a:r>
                <a:r>
                  <a:rPr lang="en-US" altLang="zh-CN" dirty="0">
                    <a:sym typeface="Symbol" panose="05050102010706020507" pitchFamily="18" charset="2"/>
                  </a:rPr>
                  <a:t>)</a:t>
                </a:r>
                <a:endParaRPr lang="en-US" altLang="zh-CN" dirty="0">
                  <a:latin typeface="Cambria Math" panose="02040503050406030204" pitchFamily="18" charset="0"/>
                  <a:sym typeface="+mn-ea"/>
                </a:endParaRPr>
              </a:p>
              <a:p>
                <a:pPr indent="457200">
                  <a:lnSpc>
                    <a:spcPct val="50000"/>
                  </a:lnSpc>
                </a:pPr>
                <a:endParaRPr lang="en-US" altLang="zh-CN" dirty="0">
                  <a:latin typeface="Cambria Math" panose="02040503050406030204" pitchFamily="18" charset="0"/>
                  <a:sym typeface="+mn-ea"/>
                </a:endParaRPr>
              </a:p>
              <a:p>
                <a:pPr indent="457200"/>
                <a:r>
                  <a:rPr lang="en-US" altLang="zh-CN" dirty="0">
                    <a:latin typeface="Cambria Math" panose="02040503050406030204" pitchFamily="18" charset="0"/>
                    <a:sym typeface="+mn-ea"/>
                  </a:rPr>
                  <a:t>     </a:t>
                </a:r>
                <a:r>
                  <a:rPr lang="zh-CN" altLang="en-US" dirty="0">
                    <a:latin typeface="Cambria Math" panose="02040503050406030204" pitchFamily="18" charset="0"/>
                    <a:sym typeface="+mn-ea"/>
                  </a:rPr>
                  <a:t>由于包含</a:t>
                </a:r>
                <a:r>
                  <a:rPr lang="zh-CN" altLang="en-US" dirty="0">
                    <a:sym typeface="Symbol" panose="05050102010706020507" pitchFamily="18" charset="2"/>
                  </a:rPr>
                  <a:t></a:t>
                </a:r>
                <a:r>
                  <a:rPr lang="zh-CN" altLang="en-US" dirty="0">
                    <a:sym typeface="+mn-ea"/>
                  </a:rPr>
                  <a:t>符号的假设无论是所有属性均为</a:t>
                </a:r>
                <a:r>
                  <a:rPr lang="zh-CN" altLang="en-US" dirty="0">
                    <a:sym typeface="Symbol" panose="05050102010706020507" pitchFamily="18" charset="2"/>
                  </a:rPr>
                  <a:t>还是只有一个属性为，均将每个实例都分类为反例，</a:t>
                </a:r>
                <a:endParaRPr lang="zh-CN" altLang="en-US" dirty="0">
                  <a:sym typeface="Symbol" panose="05050102010706020507" pitchFamily="18" charset="2"/>
                </a:endParaRPr>
              </a:p>
              <a:p>
                <a:pPr indent="457200">
                  <a:lnSpc>
                    <a:spcPct val="50000"/>
                  </a:lnSpc>
                </a:pPr>
                <a:endParaRPr lang="zh-CN" altLang="en-US" dirty="0">
                  <a:latin typeface="Cambria Math" panose="02040503050406030204" pitchFamily="18" charset="0"/>
                  <a:sym typeface="+mn-ea"/>
                </a:endParaRPr>
              </a:p>
              <a:p>
                <a:pPr marL="457200" lvl="1" indent="457200"/>
                <a:r>
                  <a:rPr lang="en-US" altLang="zh-CN" dirty="0">
                    <a:latin typeface="Cambria Math" panose="02040503050406030204" pitchFamily="18" charset="0"/>
                    <a:sym typeface="+mn-ea"/>
                  </a:rPr>
                  <a:t> </a:t>
                </a:r>
                <a:r>
                  <a:rPr lang="zh-CN" altLang="en-US" dirty="0">
                    <a:latin typeface="Cambria Math" panose="02040503050406030204" pitchFamily="18" charset="0"/>
                    <a:sym typeface="+mn-ea"/>
                  </a:rPr>
                  <a:t>因此，假设空间</a:t>
                </a:r>
                <a:r>
                  <a:rPr lang="en-US" altLang="zh-CN" dirty="0">
                    <a:latin typeface="Cambria Math" panose="02040503050406030204" pitchFamily="18" charset="0"/>
                    <a:sym typeface="+mn-ea"/>
                  </a:rPr>
                  <a:t>H</a:t>
                </a:r>
                <a:r>
                  <a:rPr lang="zh-CN" altLang="en-US" dirty="0">
                    <a:latin typeface="Cambria Math" panose="02040503050406030204" pitchFamily="18" charset="0"/>
                    <a:sym typeface="+mn-ea"/>
                  </a:rPr>
                  <a:t>包含</a:t>
                </a:r>
                <a:r>
                  <a:rPr lang="en-US" altLang="zh-CN" dirty="0">
                    <a:latin typeface="Cambria Math" panose="02040503050406030204" pitchFamily="18" charset="0"/>
                    <a:sym typeface="+mn-ea"/>
                  </a:rPr>
                  <a:t>4</a:t>
                </a:r>
                <a:r>
                  <a:rPr lang="zh-CN" altLang="en-US" dirty="0">
                    <a:latin typeface="Cambria Math" panose="02040503050406030204" pitchFamily="18" charset="0"/>
                    <a:sym typeface="+mn-ea"/>
                  </a:rPr>
                  <a:t>×</a:t>
                </a:r>
                <a:r>
                  <a:rPr lang="en-US" altLang="zh-CN" dirty="0">
                    <a:latin typeface="Cambria Math" panose="02040503050406030204" pitchFamily="18" charset="0"/>
                    <a:sym typeface="+mn-ea"/>
                  </a:rPr>
                  <a:t>3</a:t>
                </a:r>
                <a:r>
                  <a:rPr lang="zh-CN" altLang="en-US" dirty="0">
                    <a:latin typeface="Cambria Math" panose="02040503050406030204" pitchFamily="18" charset="0"/>
                    <a:sym typeface="+mn-ea"/>
                  </a:rPr>
                  <a:t>×</a:t>
                </a:r>
                <a:r>
                  <a:rPr lang="en-US" altLang="zh-CN" dirty="0">
                    <a:latin typeface="Cambria Math" panose="02040503050406030204" pitchFamily="18" charset="0"/>
                    <a:sym typeface="+mn-ea"/>
                  </a:rPr>
                  <a:t>3</a:t>
                </a:r>
                <a:r>
                  <a:rPr lang="zh-CN" altLang="en-US" dirty="0">
                    <a:latin typeface="Cambria Math" panose="02040503050406030204" pitchFamily="18" charset="0"/>
                    <a:sym typeface="+mn-ea"/>
                  </a:rPr>
                  <a:t>×</a:t>
                </a:r>
                <a:r>
                  <a:rPr lang="en-US" altLang="zh-CN" dirty="0">
                    <a:latin typeface="Cambria Math" panose="02040503050406030204" pitchFamily="18" charset="0"/>
                    <a:sym typeface="+mn-ea"/>
                  </a:rPr>
                  <a:t>3</a:t>
                </a:r>
                <a:r>
                  <a:rPr lang="zh-CN" altLang="en-US" dirty="0">
                    <a:latin typeface="Cambria Math" panose="02040503050406030204" pitchFamily="18" charset="0"/>
                    <a:sym typeface="+mn-ea"/>
                  </a:rPr>
                  <a:t>×</a:t>
                </a:r>
                <a:r>
                  <a:rPr lang="en-US" altLang="zh-CN" dirty="0">
                    <a:latin typeface="Cambria Math" panose="02040503050406030204" pitchFamily="18" charset="0"/>
                    <a:sym typeface="+mn-ea"/>
                  </a:rPr>
                  <a:t>3</a:t>
                </a:r>
                <a:r>
                  <a:rPr lang="zh-CN" altLang="en-US" dirty="0">
                    <a:latin typeface="Cambria Math" panose="02040503050406030204" pitchFamily="18" charset="0"/>
                    <a:sym typeface="+mn-ea"/>
                  </a:rPr>
                  <a:t>×</a:t>
                </a:r>
                <a:r>
                  <a:rPr lang="en-US" altLang="zh-CN" dirty="0">
                    <a:latin typeface="Cambria Math" panose="02040503050406030204" pitchFamily="18" charset="0"/>
                    <a:sym typeface="+mn-ea"/>
                  </a:rPr>
                  <a:t>3+1=973</a:t>
                </a:r>
                <a:r>
                  <a:rPr lang="zh-CN" altLang="en-US" dirty="0">
                    <a:latin typeface="Cambria Math" panose="02040503050406030204" pitchFamily="18" charset="0"/>
                    <a:sym typeface="+mn-ea"/>
                  </a:rPr>
                  <a:t>种</a:t>
                </a:r>
                <a:r>
                  <a:rPr lang="zh-CN" altLang="en-US" u="sng" dirty="0">
                    <a:latin typeface="Cambria Math" panose="02040503050406030204" pitchFamily="18" charset="0"/>
                    <a:sym typeface="+mn-ea"/>
                  </a:rPr>
                  <a:t>语义</a:t>
                </a:r>
                <a:r>
                  <a:rPr lang="zh-CN" altLang="en-US" dirty="0">
                    <a:latin typeface="Cambria Math" panose="02040503050406030204" pitchFamily="18" charset="0"/>
                    <a:sym typeface="+mn-ea"/>
                  </a:rPr>
                  <a:t>不同的假设</a:t>
                </a:r>
                <a:endParaRPr lang="zh-CN" altLang="en-US" dirty="0">
                  <a:latin typeface="Cambria Math" panose="02040503050406030204" pitchFamily="18" charset="0"/>
                  <a:sym typeface="+mn-ea"/>
                </a:endParaRPr>
              </a:p>
            </p:txBody>
          </p:sp>
        </mc:Choice>
        <mc:Fallback>
          <p:sp>
            <p:nvSpPr>
              <p:cNvPr id="6" name="文本框 5"/>
              <p:cNvSpPr txBox="1">
                <a:spLocks noRot="1" noChangeAspect="1" noMove="1" noResize="1" noEditPoints="1" noAdjustHandles="1" noChangeArrowheads="1" noChangeShapeType="1" noTextEdit="1"/>
              </p:cNvSpPr>
              <p:nvPr/>
            </p:nvSpPr>
            <p:spPr>
              <a:xfrm>
                <a:off x="638175" y="3826510"/>
                <a:ext cx="11049000" cy="2555875"/>
              </a:xfrm>
              <a:prstGeom prst="rect">
                <a:avLst/>
              </a:prstGeom>
              <a:blipFill rotWithShape="1">
                <a:blip r:embed="rId1"/>
                <a:stretch>
                  <a:fillRect/>
                </a:stretch>
              </a:blipFill>
            </p:spPr>
            <p:txBody>
              <a:bodyPr/>
              <a:lstStyle/>
              <a:p>
                <a:r>
                  <a:rPr lang="zh-CN" altLang="en-US">
                    <a:noFill/>
                  </a:rPr>
                  <a:t> </a:t>
                </a:r>
              </a:p>
            </p:txBody>
          </p:sp>
        </mc:Fallback>
      </mc:AlternateContent>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3643630" cy="583565"/>
          </a:xfrm>
          <a:prstGeom prst="rect">
            <a:avLst/>
          </a:prstGeom>
          <a:noFill/>
        </p:spPr>
        <p:txBody>
          <a:bodyPr wrap="square" rtlCol="0">
            <a:spAutoFit/>
            <a:scene3d>
              <a:camera prst="orthographicFront"/>
              <a:lightRig rig="threePt" dir="t"/>
            </a:scene3d>
          </a:bodyPr>
          <a:lstStyle/>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什么是概念学习？</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
        <p:nvSpPr>
          <p:cNvPr id="5" name="文本框 4"/>
          <p:cNvSpPr txBox="1"/>
          <p:nvPr/>
        </p:nvSpPr>
        <p:spPr>
          <a:xfrm>
            <a:off x="301625" y="1368425"/>
            <a:ext cx="11264900" cy="860425"/>
          </a:xfrm>
          <a:prstGeom prst="rect">
            <a:avLst/>
          </a:prstGeom>
          <a:noFill/>
        </p:spPr>
        <p:txBody>
          <a:bodyPr wrap="square" rtlCol="0">
            <a:spAutoFit/>
          </a:bodyPr>
          <a:lstStyle/>
          <a:p>
            <a:r>
              <a:rPr lang="zh-CN" altLang="en-US" sz="2000">
                <a:solidFill>
                  <a:schemeClr val="accent5">
                    <a:lumMod val="75000"/>
                  </a:schemeClr>
                </a:solidFill>
              </a:rPr>
              <a:t>获得假设空间后，怎样有效地搜索非常大的或无限大的假设空间，以找到最佳拟合训练数据的假设？</a:t>
            </a:r>
            <a:endParaRPr lang="zh-CN" altLang="en-US" sz="2000">
              <a:solidFill>
                <a:schemeClr val="accent5">
                  <a:lumMod val="75000"/>
                </a:schemeClr>
              </a:solidFill>
            </a:endParaRPr>
          </a:p>
          <a:p>
            <a:pPr>
              <a:lnSpc>
                <a:spcPct val="50000"/>
              </a:lnSpc>
            </a:pPr>
            <a:endParaRPr lang="zh-CN" altLang="en-US" sz="2000">
              <a:solidFill>
                <a:schemeClr val="accent5">
                  <a:lumMod val="75000"/>
                </a:schemeClr>
              </a:solidFill>
            </a:endParaRPr>
          </a:p>
          <a:p>
            <a:pPr indent="457200"/>
            <a:r>
              <a:rPr lang="en-US" altLang="zh-CN" sz="2000">
                <a:solidFill>
                  <a:schemeClr val="accent5">
                    <a:lumMod val="75000"/>
                  </a:schemeClr>
                </a:solidFill>
                <a:sym typeface="+mn-ea"/>
              </a:rPr>
              <a:t>-- </a:t>
            </a:r>
            <a:r>
              <a:rPr lang="zh-CN" altLang="en-US" sz="2000">
                <a:solidFill>
                  <a:schemeClr val="accent5">
                    <a:lumMod val="75000"/>
                  </a:schemeClr>
                </a:solidFill>
                <a:sym typeface="+mn-ea"/>
              </a:rPr>
              <a:t>利用假设空间的一般到特殊序结构</a:t>
            </a:r>
            <a:endParaRPr lang="zh-CN" altLang="en-US" sz="2000">
              <a:solidFill>
                <a:schemeClr val="accent5">
                  <a:lumMod val="75000"/>
                </a:schemeClr>
              </a:solidFill>
              <a:sym typeface="+mn-ea"/>
            </a:endParaRPr>
          </a:p>
        </p:txBody>
      </p:sp>
      <p:sp>
        <p:nvSpPr>
          <p:cNvPr id="7" name="文本框 6"/>
          <p:cNvSpPr txBox="1"/>
          <p:nvPr/>
        </p:nvSpPr>
        <p:spPr>
          <a:xfrm>
            <a:off x="462280" y="2559685"/>
            <a:ext cx="10955655" cy="2459990"/>
          </a:xfrm>
          <a:prstGeom prst="rect">
            <a:avLst/>
          </a:prstGeom>
          <a:noFill/>
        </p:spPr>
        <p:txBody>
          <a:bodyPr wrap="square" rtlCol="0">
            <a:spAutoFit/>
          </a:bodyPr>
          <a:lstStyle/>
          <a:p>
            <a:r>
              <a:rPr lang="zh-CN" altLang="en-US" sz="2000" b="1"/>
              <a:t>假设的一般到特殊序关系</a:t>
            </a:r>
            <a:endParaRPr lang="zh-CN" altLang="en-US" sz="2000"/>
          </a:p>
          <a:p>
            <a:pPr>
              <a:lnSpc>
                <a:spcPct val="30000"/>
              </a:lnSpc>
            </a:pPr>
            <a:endParaRPr lang="zh-CN" altLang="en-US" sz="2000"/>
          </a:p>
          <a:p>
            <a:r>
              <a:rPr lang="zh-CN" altLang="en-US" sz="2000"/>
              <a:t> </a:t>
            </a:r>
            <a:r>
              <a:rPr lang="en-US" altLang="zh-CN" sz="2000"/>
              <a:t>    </a:t>
            </a:r>
            <a:r>
              <a:rPr lang="zh-CN" altLang="en-US"/>
              <a:t>考虑下面两个假设：</a:t>
            </a:r>
            <a:endParaRPr lang="zh-CN" altLang="en-US"/>
          </a:p>
          <a:p>
            <a:pPr>
              <a:lnSpc>
                <a:spcPct val="20000"/>
              </a:lnSpc>
            </a:pPr>
            <a:endParaRPr lang="zh-CN" altLang="en-US"/>
          </a:p>
          <a:p>
            <a:pPr indent="457200"/>
            <a:r>
              <a:rPr lang="en-US" altLang="zh-CN"/>
              <a:t>-- h</a:t>
            </a:r>
            <a:r>
              <a:rPr lang="en-US" altLang="zh-CN" baseline="-25000"/>
              <a:t>1</a:t>
            </a:r>
            <a:r>
              <a:rPr lang="en-US" altLang="zh-CN"/>
              <a:t> = &lt;Sunny, ?, ?, Strong, ?, ?&gt;</a:t>
            </a:r>
            <a:endParaRPr lang="en-US" altLang="zh-CN"/>
          </a:p>
          <a:p>
            <a:pPr indent="457200">
              <a:lnSpc>
                <a:spcPct val="40000"/>
              </a:lnSpc>
            </a:pPr>
            <a:endParaRPr lang="zh-CN" altLang="en-US"/>
          </a:p>
          <a:p>
            <a:pPr indent="457200"/>
            <a:r>
              <a:rPr lang="en-US" altLang="zh-CN"/>
              <a:t>-- h</a:t>
            </a:r>
            <a:r>
              <a:rPr lang="en-US" altLang="zh-CN" baseline="-25000"/>
              <a:t>2</a:t>
            </a:r>
            <a:r>
              <a:rPr lang="en-US" altLang="zh-CN"/>
              <a:t> = &lt;Sunny, ?, ?, ? ,?, ?&gt;</a:t>
            </a:r>
            <a:endParaRPr lang="en-US" altLang="zh-CN"/>
          </a:p>
          <a:p>
            <a:pPr indent="457200">
              <a:lnSpc>
                <a:spcPct val="80000"/>
              </a:lnSpc>
            </a:pPr>
            <a:endParaRPr lang="zh-CN" altLang="en-US"/>
          </a:p>
          <a:p>
            <a:pPr indent="457200"/>
            <a:r>
              <a:rPr lang="zh-CN" altLang="en-US"/>
              <a:t>任何被</a:t>
            </a:r>
            <a:r>
              <a:rPr lang="en-US" altLang="zh-CN"/>
              <a:t>h</a:t>
            </a:r>
            <a:r>
              <a:rPr lang="en-US" altLang="zh-CN" baseline="-25000"/>
              <a:t>1</a:t>
            </a:r>
            <a:r>
              <a:rPr lang="zh-CN" altLang="en-US"/>
              <a:t>划分为正例的实例都会被</a:t>
            </a:r>
            <a:r>
              <a:rPr lang="en-US" altLang="zh-CN"/>
              <a:t>h</a:t>
            </a:r>
            <a:r>
              <a:rPr lang="en-US" altLang="zh-CN" baseline="-25000"/>
              <a:t>2</a:t>
            </a:r>
            <a:r>
              <a:rPr lang="zh-CN" altLang="en-US"/>
              <a:t>划分为正例，因此</a:t>
            </a:r>
            <a:r>
              <a:rPr lang="en-US" altLang="zh-CN"/>
              <a:t>h</a:t>
            </a:r>
            <a:r>
              <a:rPr lang="en-US" altLang="zh-CN" baseline="-25000"/>
              <a:t>2</a:t>
            </a:r>
            <a:r>
              <a:rPr lang="zh-CN" altLang="en-US"/>
              <a:t>相较于</a:t>
            </a:r>
            <a:r>
              <a:rPr lang="en-US" altLang="zh-CN"/>
              <a:t>h</a:t>
            </a:r>
            <a:r>
              <a:rPr lang="en-US" altLang="zh-CN" baseline="-25000"/>
              <a:t>1</a:t>
            </a:r>
            <a:r>
              <a:rPr lang="zh-CN" altLang="en-US"/>
              <a:t>是更一般的假设</a:t>
            </a:r>
            <a:endParaRPr lang="zh-CN" altLang="en-US"/>
          </a:p>
          <a:p>
            <a:pPr indent="457200">
              <a:lnSpc>
                <a:spcPct val="60000"/>
              </a:lnSpc>
            </a:pPr>
            <a:endParaRPr lang="zh-CN" altLang="en-US"/>
          </a:p>
          <a:p>
            <a:pPr indent="457200"/>
            <a:r>
              <a:rPr lang="zh-CN" altLang="en-US"/>
              <a:t>利用这个关系，无需列举所有假设，就能在无限的假设空间中进行彻底的搜索</a:t>
            </a:r>
            <a:endParaRPr lang="zh-CN"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3643630" cy="583565"/>
          </a:xfrm>
          <a:prstGeom prst="rect">
            <a:avLst/>
          </a:prstGeom>
          <a:noFill/>
        </p:spPr>
        <p:txBody>
          <a:bodyPr wrap="square" rtlCol="0">
            <a:spAutoFit/>
            <a:scene3d>
              <a:camera prst="orthographicFront"/>
              <a:lightRig rig="threePt" dir="t"/>
            </a:scene3d>
          </a:bodyPr>
          <a:lstStyle/>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什么是概念学习？</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
        <p:nvSpPr>
          <p:cNvPr id="88066" name="Text Box 12"/>
          <p:cNvSpPr txBox="1">
            <a:spLocks noChangeArrowheads="1"/>
          </p:cNvSpPr>
          <p:nvPr/>
        </p:nvSpPr>
        <p:spPr bwMode="auto">
          <a:xfrm>
            <a:off x="6200140" y="5342890"/>
            <a:ext cx="2846705"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eaLnBrk="1" hangingPunct="1">
              <a:spcBef>
                <a:spcPct val="50000"/>
              </a:spcBef>
              <a:buSzTx/>
              <a:buFontTx/>
              <a:buNone/>
            </a:pPr>
            <a:r>
              <a:rPr kumimoji="1" lang="en-US" altLang="zh-CN" i="1" dirty="0">
                <a:latin typeface="Times New Roman" panose="02020603050405020304" charset="0"/>
              </a:rPr>
              <a:t>h</a:t>
            </a:r>
            <a:r>
              <a:rPr kumimoji="1" lang="en-US" altLang="zh-CN" i="1" baseline="-25000" dirty="0">
                <a:latin typeface="Times New Roman" panose="02020603050405020304" charset="0"/>
              </a:rPr>
              <a:t>1</a:t>
            </a:r>
            <a:r>
              <a:rPr kumimoji="1" lang="en-US" altLang="zh-CN" i="1" dirty="0">
                <a:latin typeface="Times New Roman" panose="02020603050405020304" charset="0"/>
              </a:rPr>
              <a:t>=&lt;Sunny ? ? Strong ? ? &gt;</a:t>
            </a:r>
            <a:endParaRPr kumimoji="1" lang="en-US" altLang="zh-CN" i="1" dirty="0">
              <a:latin typeface="Times New Roman" panose="02020603050405020304" charset="0"/>
            </a:endParaRPr>
          </a:p>
          <a:p>
            <a:pPr eaLnBrk="1" hangingPunct="1">
              <a:spcBef>
                <a:spcPct val="50000"/>
              </a:spcBef>
              <a:buSzTx/>
              <a:buFontTx/>
              <a:buNone/>
            </a:pPr>
            <a:r>
              <a:rPr kumimoji="1" lang="en-US" altLang="zh-CN" i="1" dirty="0">
                <a:latin typeface="Times New Roman" panose="02020603050405020304" charset="0"/>
              </a:rPr>
              <a:t>h</a:t>
            </a:r>
            <a:r>
              <a:rPr kumimoji="1" lang="en-US" altLang="zh-CN" i="1" baseline="-25000" dirty="0">
                <a:latin typeface="Times New Roman" panose="02020603050405020304" charset="0"/>
              </a:rPr>
              <a:t>2</a:t>
            </a:r>
            <a:r>
              <a:rPr kumimoji="1" lang="en-US" altLang="zh-CN" i="1" dirty="0">
                <a:latin typeface="Times New Roman" panose="02020603050405020304" charset="0"/>
              </a:rPr>
              <a:t> =&lt;Sunny ? ? ? ? ? &gt;</a:t>
            </a:r>
            <a:endParaRPr kumimoji="1" lang="en-US" altLang="zh-CN" i="1" dirty="0">
              <a:latin typeface="Times New Roman" panose="02020603050405020304" charset="0"/>
            </a:endParaRPr>
          </a:p>
          <a:p>
            <a:pPr eaLnBrk="1" hangingPunct="1">
              <a:spcBef>
                <a:spcPct val="50000"/>
              </a:spcBef>
              <a:buSzTx/>
              <a:buFontTx/>
              <a:buNone/>
            </a:pPr>
            <a:r>
              <a:rPr kumimoji="1" lang="en-US" altLang="zh-CN" i="1" dirty="0">
                <a:latin typeface="Times New Roman" panose="02020603050405020304" charset="0"/>
              </a:rPr>
              <a:t>h</a:t>
            </a:r>
            <a:r>
              <a:rPr kumimoji="1" lang="en-US" altLang="zh-CN" i="1" baseline="-25000" dirty="0">
                <a:latin typeface="Times New Roman" panose="02020603050405020304" charset="0"/>
              </a:rPr>
              <a:t>3</a:t>
            </a:r>
            <a:r>
              <a:rPr kumimoji="1" lang="en-US" altLang="zh-CN" i="1" dirty="0">
                <a:latin typeface="Times New Roman" panose="02020603050405020304" charset="0"/>
              </a:rPr>
              <a:t> =&lt;Sunny ? ? ? ?Cool? &gt;</a:t>
            </a:r>
            <a:endParaRPr kumimoji="1" lang="en-US" altLang="zh-CN" i="1" dirty="0">
              <a:latin typeface="Times New Roman" panose="02020603050405020304" charset="0"/>
            </a:endParaRPr>
          </a:p>
        </p:txBody>
      </p:sp>
      <p:sp>
        <p:nvSpPr>
          <p:cNvPr id="88067" name="Text Box 13"/>
          <p:cNvSpPr txBox="1">
            <a:spLocks noChangeArrowheads="1"/>
          </p:cNvSpPr>
          <p:nvPr/>
        </p:nvSpPr>
        <p:spPr bwMode="auto">
          <a:xfrm>
            <a:off x="1241425" y="5540767"/>
            <a:ext cx="5149850" cy="729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eaLnBrk="1" hangingPunct="1">
              <a:spcBef>
                <a:spcPct val="50000"/>
              </a:spcBef>
              <a:buSzTx/>
              <a:buFontTx/>
              <a:buNone/>
            </a:pPr>
            <a:r>
              <a:rPr kumimoji="1" lang="en-US" altLang="zh-CN" i="1" dirty="0">
                <a:latin typeface="Times New Roman" panose="02020603050405020304" charset="0"/>
              </a:rPr>
              <a:t>x</a:t>
            </a:r>
            <a:r>
              <a:rPr kumimoji="1" lang="en-US" altLang="zh-CN" i="1" baseline="-25000" dirty="0">
                <a:latin typeface="Times New Roman" panose="02020603050405020304" charset="0"/>
              </a:rPr>
              <a:t>1</a:t>
            </a:r>
            <a:r>
              <a:rPr kumimoji="1" lang="en-US" altLang="zh-CN" i="1" dirty="0">
                <a:latin typeface="Times New Roman" panose="02020603050405020304" charset="0"/>
              </a:rPr>
              <a:t>=&lt;Sunny Warm High Strong Cool Same &gt;</a:t>
            </a:r>
            <a:endParaRPr kumimoji="1" lang="en-US" altLang="zh-CN" i="1" dirty="0">
              <a:latin typeface="Times New Roman" panose="02020603050405020304" charset="0"/>
            </a:endParaRPr>
          </a:p>
          <a:p>
            <a:pPr eaLnBrk="1" hangingPunct="1">
              <a:spcBef>
                <a:spcPct val="50000"/>
              </a:spcBef>
              <a:buSzTx/>
              <a:buFontTx/>
              <a:buNone/>
            </a:pPr>
            <a:r>
              <a:rPr kumimoji="1" lang="en-US" altLang="zh-CN" i="1" dirty="0">
                <a:latin typeface="Times New Roman" panose="02020603050405020304" charset="0"/>
              </a:rPr>
              <a:t>x</a:t>
            </a:r>
            <a:r>
              <a:rPr kumimoji="1" lang="en-US" altLang="zh-CN" i="1" baseline="-25000" dirty="0">
                <a:latin typeface="Times New Roman" panose="02020603050405020304" charset="0"/>
              </a:rPr>
              <a:t>2</a:t>
            </a:r>
            <a:r>
              <a:rPr kumimoji="1" lang="en-US" altLang="zh-CN" i="1" dirty="0">
                <a:latin typeface="Times New Roman" panose="02020603050405020304" charset="0"/>
              </a:rPr>
              <a:t> =&lt;Sunny Warm High Light Warm Same &gt;</a:t>
            </a:r>
            <a:endParaRPr kumimoji="1" lang="en-US" altLang="zh-CN" i="1" dirty="0">
              <a:latin typeface="Times New Roman" panose="02020603050405020304" charset="0"/>
            </a:endParaRPr>
          </a:p>
        </p:txBody>
      </p:sp>
      <p:pic>
        <p:nvPicPr>
          <p:cNvPr id="5" name="Picture 4"/>
          <p:cNvPicPr>
            <a:picLocks noChangeAspect="1"/>
          </p:cNvPicPr>
          <p:nvPr/>
        </p:nvPicPr>
        <p:blipFill>
          <a:blip r:embed="rId1"/>
          <a:stretch>
            <a:fillRect/>
          </a:stretch>
        </p:blipFill>
        <p:spPr>
          <a:xfrm>
            <a:off x="1812009" y="973295"/>
            <a:ext cx="8268647" cy="4369682"/>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0" y="426070"/>
            <a:ext cx="1473958" cy="573206"/>
            <a:chOff x="0" y="696036"/>
            <a:chExt cx="1473958" cy="573206"/>
          </a:xfrm>
        </p:grpSpPr>
        <p:sp>
          <p:nvSpPr>
            <p:cNvPr id="5" name="矩形 4"/>
            <p:cNvSpPr/>
            <p:nvPr/>
          </p:nvSpPr>
          <p:spPr>
            <a:xfrm>
              <a:off x="0" y="696036"/>
              <a:ext cx="1473958" cy="573206"/>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6" name="文本框 5"/>
            <p:cNvSpPr txBox="1"/>
            <p:nvPr/>
          </p:nvSpPr>
          <p:spPr>
            <a:xfrm>
              <a:off x="69215" y="752551"/>
              <a:ext cx="1404620" cy="460375"/>
            </a:xfrm>
            <a:prstGeom prst="rect">
              <a:avLst/>
            </a:prstGeom>
            <a:noFill/>
          </p:spPr>
          <p:txBody>
            <a:bodyPr wrap="square" rtlCol="0">
              <a:spAutoFit/>
            </a:bodyPr>
            <a:lstStyle/>
            <a:p>
              <a:pPr algn="r"/>
              <a:r>
                <a:rPr lang="zh-CN" altLang="en-US" sz="2400" dirty="0">
                  <a:solidFill>
                    <a:schemeClr val="bg1"/>
                  </a:solidFill>
                </a:rPr>
                <a:t>本节内容</a:t>
              </a:r>
              <a:endParaRPr lang="zh-CN" altLang="en-US" sz="2400" dirty="0">
                <a:solidFill>
                  <a:schemeClr val="bg1"/>
                </a:solidFill>
              </a:endParaRPr>
            </a:p>
          </p:txBody>
        </p:sp>
      </p:grpSp>
      <p:sp>
        <p:nvSpPr>
          <p:cNvPr id="7" name="文本框 6"/>
          <p:cNvSpPr txBox="1"/>
          <p:nvPr/>
        </p:nvSpPr>
        <p:spPr>
          <a:xfrm>
            <a:off x="1528549" y="324737"/>
            <a:ext cx="2565779" cy="707886"/>
          </a:xfrm>
          <a:prstGeom prst="rect">
            <a:avLst/>
          </a:prstGeom>
          <a:noFill/>
        </p:spPr>
        <p:txBody>
          <a:bodyPr wrap="square" rtlCol="0">
            <a:spAutoFit/>
          </a:bodyPr>
          <a:lstStyle/>
          <a:p>
            <a:r>
              <a:rPr lang="en-US" altLang="zh-CN" sz="4000" b="1" dirty="0">
                <a:solidFill>
                  <a:schemeClr val="accent1">
                    <a:lumMod val="75000"/>
                  </a:schemeClr>
                </a:solidFill>
              </a:rPr>
              <a:t>C</a:t>
            </a:r>
            <a:r>
              <a:rPr lang="en-US" altLang="zh-CN" sz="2000" b="1" dirty="0">
                <a:solidFill>
                  <a:schemeClr val="accent1">
                    <a:lumMod val="75000"/>
                  </a:schemeClr>
                </a:solidFill>
              </a:rPr>
              <a:t>ONTENT</a:t>
            </a:r>
            <a:endParaRPr lang="zh-CN" altLang="en-US" sz="2000" b="1" dirty="0">
              <a:solidFill>
                <a:schemeClr val="accent1">
                  <a:lumMod val="75000"/>
                </a:schemeClr>
              </a:solidFill>
            </a:endParaRPr>
          </a:p>
        </p:txBody>
      </p:sp>
      <p:cxnSp>
        <p:nvCxnSpPr>
          <p:cNvPr id="8" name="直接连接符 7"/>
          <p:cNvCxnSpPr/>
          <p:nvPr/>
        </p:nvCxnSpPr>
        <p:spPr>
          <a:xfrm>
            <a:off x="3828732" y="1411646"/>
            <a:ext cx="0" cy="4326424"/>
          </a:xfrm>
          <a:prstGeom prst="line">
            <a:avLst/>
          </a:prstGeom>
          <a:ln w="38100"/>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1309207" y="2164617"/>
            <a:ext cx="1920554" cy="1870488"/>
            <a:chOff x="4796805" y="-215900"/>
            <a:chExt cx="2093913" cy="2122488"/>
          </a:xfrm>
          <a:solidFill>
            <a:srgbClr val="0070C0"/>
          </a:solidFill>
        </p:grpSpPr>
        <p:sp>
          <p:nvSpPr>
            <p:cNvPr id="10" name="Freeform 6"/>
            <p:cNvSpPr>
              <a:spLocks noEditPoints="1"/>
            </p:cNvSpPr>
            <p:nvPr/>
          </p:nvSpPr>
          <p:spPr bwMode="auto">
            <a:xfrm>
              <a:off x="4796805" y="-215900"/>
              <a:ext cx="2093913" cy="2122488"/>
            </a:xfrm>
            <a:custGeom>
              <a:avLst/>
              <a:gdLst>
                <a:gd name="T0" fmla="*/ 1391 w 2783"/>
                <a:gd name="T1" fmla="*/ 0 h 2783"/>
                <a:gd name="T2" fmla="*/ 0 w 2783"/>
                <a:gd name="T3" fmla="*/ 1391 h 2783"/>
                <a:gd name="T4" fmla="*/ 1391 w 2783"/>
                <a:gd name="T5" fmla="*/ 2783 h 2783"/>
                <a:gd name="T6" fmla="*/ 2783 w 2783"/>
                <a:gd name="T7" fmla="*/ 1391 h 2783"/>
                <a:gd name="T8" fmla="*/ 1391 w 2783"/>
                <a:gd name="T9" fmla="*/ 0 h 2783"/>
                <a:gd name="T10" fmla="*/ 1391 w 2783"/>
                <a:gd name="T11" fmla="*/ 55 h 2783"/>
                <a:gd name="T12" fmla="*/ 55 w 2783"/>
                <a:gd name="T13" fmla="*/ 1391 h 2783"/>
                <a:gd name="T14" fmla="*/ 1391 w 2783"/>
                <a:gd name="T15" fmla="*/ 2728 h 2783"/>
                <a:gd name="T16" fmla="*/ 2728 w 2783"/>
                <a:gd name="T17" fmla="*/ 1391 h 2783"/>
                <a:gd name="T18" fmla="*/ 1391 w 2783"/>
                <a:gd name="T19" fmla="*/ 55 h 27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83" h="2783">
                  <a:moveTo>
                    <a:pt x="1391" y="0"/>
                  </a:moveTo>
                  <a:cubicBezTo>
                    <a:pt x="623" y="0"/>
                    <a:pt x="0" y="623"/>
                    <a:pt x="0" y="1391"/>
                  </a:cubicBezTo>
                  <a:cubicBezTo>
                    <a:pt x="0" y="2160"/>
                    <a:pt x="623" y="2783"/>
                    <a:pt x="1391" y="2783"/>
                  </a:cubicBezTo>
                  <a:cubicBezTo>
                    <a:pt x="2160" y="2783"/>
                    <a:pt x="2783" y="2160"/>
                    <a:pt x="2783" y="1391"/>
                  </a:cubicBezTo>
                  <a:cubicBezTo>
                    <a:pt x="2783" y="623"/>
                    <a:pt x="2160" y="0"/>
                    <a:pt x="1391" y="0"/>
                  </a:cubicBezTo>
                  <a:close/>
                  <a:moveTo>
                    <a:pt x="1391" y="55"/>
                  </a:moveTo>
                  <a:cubicBezTo>
                    <a:pt x="654" y="55"/>
                    <a:pt x="55" y="654"/>
                    <a:pt x="55" y="1391"/>
                  </a:cubicBezTo>
                  <a:cubicBezTo>
                    <a:pt x="55" y="2129"/>
                    <a:pt x="654" y="2728"/>
                    <a:pt x="1391" y="2728"/>
                  </a:cubicBezTo>
                  <a:cubicBezTo>
                    <a:pt x="2129" y="2728"/>
                    <a:pt x="2728" y="2129"/>
                    <a:pt x="2728" y="1391"/>
                  </a:cubicBezTo>
                  <a:cubicBezTo>
                    <a:pt x="2728" y="654"/>
                    <a:pt x="2129" y="55"/>
                    <a:pt x="1391" y="55"/>
                  </a:cubicBezTo>
                  <a:close/>
                </a:path>
              </a:pathLst>
            </a:custGeom>
            <a:grpFill/>
            <a:ln>
              <a:solidFill>
                <a:srgbClr val="002060"/>
              </a:solidFill>
            </a:ln>
          </p:spPr>
          <p:txBody>
            <a:bodyPr vert="horz" wrap="square" lIns="91440" tIns="45720" rIns="91440" bIns="45720" numCol="1" anchor="t" anchorCtr="0" compatLnSpc="1"/>
            <a:lstStyle/>
            <a:p>
              <a:endParaRPr lang="zh-CN" altLang="en-US" dirty="0">
                <a:solidFill>
                  <a:srgbClr val="21A3D0"/>
                </a:solidFill>
              </a:endParaRPr>
            </a:p>
          </p:txBody>
        </p:sp>
        <p:sp>
          <p:nvSpPr>
            <p:cNvPr id="11" name="Freeform 7"/>
            <p:cNvSpPr>
              <a:spLocks noEditPoints="1"/>
            </p:cNvSpPr>
            <p:nvPr/>
          </p:nvSpPr>
          <p:spPr bwMode="auto">
            <a:xfrm>
              <a:off x="5168280" y="0"/>
              <a:ext cx="1360488" cy="1641475"/>
            </a:xfrm>
            <a:custGeom>
              <a:avLst/>
              <a:gdLst>
                <a:gd name="T0" fmla="*/ 870 w 1809"/>
                <a:gd name="T1" fmla="*/ 879 h 2152"/>
                <a:gd name="T2" fmla="*/ 870 w 1809"/>
                <a:gd name="T3" fmla="*/ 2152 h 2152"/>
                <a:gd name="T4" fmla="*/ 1809 w 1809"/>
                <a:gd name="T5" fmla="*/ 1820 h 2152"/>
                <a:gd name="T6" fmla="*/ 1809 w 1809"/>
                <a:gd name="T7" fmla="*/ 547 h 2152"/>
                <a:gd name="T8" fmla="*/ 870 w 1809"/>
                <a:gd name="T9" fmla="*/ 879 h 2152"/>
                <a:gd name="T10" fmla="*/ 785 w 1809"/>
                <a:gd name="T11" fmla="*/ 961 h 2152"/>
                <a:gd name="T12" fmla="*/ 785 w 1809"/>
                <a:gd name="T13" fmla="*/ 1138 h 2152"/>
                <a:gd name="T14" fmla="*/ 613 w 1809"/>
                <a:gd name="T15" fmla="*/ 1053 h 2152"/>
                <a:gd name="T16" fmla="*/ 613 w 1809"/>
                <a:gd name="T17" fmla="*/ 864 h 2152"/>
                <a:gd name="T18" fmla="*/ 785 w 1809"/>
                <a:gd name="T19" fmla="*/ 961 h 2152"/>
                <a:gd name="T20" fmla="*/ 1555 w 1809"/>
                <a:gd name="T21" fmla="*/ 410 h 2152"/>
                <a:gd name="T22" fmla="*/ 1507 w 1809"/>
                <a:gd name="T23" fmla="*/ 386 h 2152"/>
                <a:gd name="T24" fmla="*/ 602 w 1809"/>
                <a:gd name="T25" fmla="*/ 700 h 2152"/>
                <a:gd name="T26" fmla="*/ 576 w 1809"/>
                <a:gd name="T27" fmla="*/ 724 h 2152"/>
                <a:gd name="T28" fmla="*/ 576 w 1809"/>
                <a:gd name="T29" fmla="*/ 2017 h 2152"/>
                <a:gd name="T30" fmla="*/ 822 w 1809"/>
                <a:gd name="T31" fmla="*/ 2149 h 2152"/>
                <a:gd name="T32" fmla="*/ 822 w 1809"/>
                <a:gd name="T33" fmla="*/ 879 h 2152"/>
                <a:gd name="T34" fmla="*/ 622 w 1809"/>
                <a:gd name="T35" fmla="*/ 772 h 2152"/>
                <a:gd name="T36" fmla="*/ 625 w 1809"/>
                <a:gd name="T37" fmla="*/ 772 h 2152"/>
                <a:gd name="T38" fmla="*/ 1531 w 1809"/>
                <a:gd name="T39" fmla="*/ 457 h 2152"/>
                <a:gd name="T40" fmla="*/ 1555 w 1809"/>
                <a:gd name="T41" fmla="*/ 410 h 2152"/>
                <a:gd name="T42" fmla="*/ 209 w 1809"/>
                <a:gd name="T43" fmla="*/ 581 h 2152"/>
                <a:gd name="T44" fmla="*/ 209 w 1809"/>
                <a:gd name="T45" fmla="*/ 758 h 2152"/>
                <a:gd name="T46" fmla="*/ 37 w 1809"/>
                <a:gd name="T47" fmla="*/ 673 h 2152"/>
                <a:gd name="T48" fmla="*/ 37 w 1809"/>
                <a:gd name="T49" fmla="*/ 484 h 2152"/>
                <a:gd name="T50" fmla="*/ 209 w 1809"/>
                <a:gd name="T51" fmla="*/ 581 h 2152"/>
                <a:gd name="T52" fmla="*/ 978 w 1809"/>
                <a:gd name="T53" fmla="*/ 30 h 2152"/>
                <a:gd name="T54" fmla="*/ 931 w 1809"/>
                <a:gd name="T55" fmla="*/ 6 h 2152"/>
                <a:gd name="T56" fmla="*/ 25 w 1809"/>
                <a:gd name="T57" fmla="*/ 321 h 2152"/>
                <a:gd name="T58" fmla="*/ 0 w 1809"/>
                <a:gd name="T59" fmla="*/ 344 h 2152"/>
                <a:gd name="T60" fmla="*/ 0 w 1809"/>
                <a:gd name="T61" fmla="*/ 1638 h 2152"/>
                <a:gd name="T62" fmla="*/ 246 w 1809"/>
                <a:gd name="T63" fmla="*/ 1770 h 2152"/>
                <a:gd name="T64" fmla="*/ 246 w 1809"/>
                <a:gd name="T65" fmla="*/ 500 h 2152"/>
                <a:gd name="T66" fmla="*/ 46 w 1809"/>
                <a:gd name="T67" fmla="*/ 393 h 2152"/>
                <a:gd name="T68" fmla="*/ 49 w 1809"/>
                <a:gd name="T69" fmla="*/ 392 h 2152"/>
                <a:gd name="T70" fmla="*/ 954 w 1809"/>
                <a:gd name="T71" fmla="*/ 77 h 2152"/>
                <a:gd name="T72" fmla="*/ 978 w 1809"/>
                <a:gd name="T73" fmla="*/ 30 h 2152"/>
                <a:gd name="T74" fmla="*/ 497 w 1809"/>
                <a:gd name="T75" fmla="*/ 781 h 2152"/>
                <a:gd name="T76" fmla="*/ 497 w 1809"/>
                <a:gd name="T77" fmla="*/ 958 h 2152"/>
                <a:gd name="T78" fmla="*/ 325 w 1809"/>
                <a:gd name="T79" fmla="*/ 873 h 2152"/>
                <a:gd name="T80" fmla="*/ 325 w 1809"/>
                <a:gd name="T81" fmla="*/ 684 h 2152"/>
                <a:gd name="T82" fmla="*/ 497 w 1809"/>
                <a:gd name="T83" fmla="*/ 781 h 2152"/>
                <a:gd name="T84" fmla="*/ 1266 w 1809"/>
                <a:gd name="T85" fmla="*/ 230 h 2152"/>
                <a:gd name="T86" fmla="*/ 1219 w 1809"/>
                <a:gd name="T87" fmla="*/ 206 h 2152"/>
                <a:gd name="T88" fmla="*/ 313 w 1809"/>
                <a:gd name="T89" fmla="*/ 520 h 2152"/>
                <a:gd name="T90" fmla="*/ 288 w 1809"/>
                <a:gd name="T91" fmla="*/ 544 h 2152"/>
                <a:gd name="T92" fmla="*/ 288 w 1809"/>
                <a:gd name="T93" fmla="*/ 1837 h 2152"/>
                <a:gd name="T94" fmla="*/ 534 w 1809"/>
                <a:gd name="T95" fmla="*/ 1969 h 2152"/>
                <a:gd name="T96" fmla="*/ 534 w 1809"/>
                <a:gd name="T97" fmla="*/ 699 h 2152"/>
                <a:gd name="T98" fmla="*/ 334 w 1809"/>
                <a:gd name="T99" fmla="*/ 592 h 2152"/>
                <a:gd name="T100" fmla="*/ 337 w 1809"/>
                <a:gd name="T101" fmla="*/ 592 h 2152"/>
                <a:gd name="T102" fmla="*/ 1243 w 1809"/>
                <a:gd name="T103" fmla="*/ 277 h 2152"/>
                <a:gd name="T104" fmla="*/ 1266 w 1809"/>
                <a:gd name="T105" fmla="*/ 230 h 2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809" h="2152">
                  <a:moveTo>
                    <a:pt x="870" y="879"/>
                  </a:moveTo>
                  <a:lnTo>
                    <a:pt x="870" y="2152"/>
                  </a:lnTo>
                  <a:lnTo>
                    <a:pt x="1809" y="1820"/>
                  </a:lnTo>
                  <a:lnTo>
                    <a:pt x="1809" y="547"/>
                  </a:lnTo>
                  <a:lnTo>
                    <a:pt x="870" y="879"/>
                  </a:lnTo>
                  <a:close/>
                  <a:moveTo>
                    <a:pt x="785" y="961"/>
                  </a:moveTo>
                  <a:lnTo>
                    <a:pt x="785" y="1138"/>
                  </a:lnTo>
                  <a:cubicBezTo>
                    <a:pt x="699" y="1121"/>
                    <a:pt x="613" y="1053"/>
                    <a:pt x="613" y="1053"/>
                  </a:cubicBezTo>
                  <a:lnTo>
                    <a:pt x="613" y="864"/>
                  </a:lnTo>
                  <a:cubicBezTo>
                    <a:pt x="719" y="950"/>
                    <a:pt x="785" y="961"/>
                    <a:pt x="785" y="961"/>
                  </a:cubicBezTo>
                  <a:close/>
                  <a:moveTo>
                    <a:pt x="1555" y="410"/>
                  </a:moveTo>
                  <a:cubicBezTo>
                    <a:pt x="1548" y="390"/>
                    <a:pt x="1527" y="379"/>
                    <a:pt x="1507" y="386"/>
                  </a:cubicBezTo>
                  <a:lnTo>
                    <a:pt x="602" y="700"/>
                  </a:lnTo>
                  <a:cubicBezTo>
                    <a:pt x="590" y="704"/>
                    <a:pt x="580" y="713"/>
                    <a:pt x="576" y="724"/>
                  </a:cubicBezTo>
                  <a:lnTo>
                    <a:pt x="576" y="2017"/>
                  </a:lnTo>
                  <a:cubicBezTo>
                    <a:pt x="608" y="2080"/>
                    <a:pt x="741" y="2149"/>
                    <a:pt x="822" y="2149"/>
                  </a:cubicBezTo>
                  <a:lnTo>
                    <a:pt x="822" y="879"/>
                  </a:lnTo>
                  <a:cubicBezTo>
                    <a:pt x="779" y="873"/>
                    <a:pt x="682" y="822"/>
                    <a:pt x="622" y="772"/>
                  </a:cubicBezTo>
                  <a:cubicBezTo>
                    <a:pt x="623" y="772"/>
                    <a:pt x="624" y="772"/>
                    <a:pt x="625" y="772"/>
                  </a:cubicBezTo>
                  <a:lnTo>
                    <a:pt x="1531" y="457"/>
                  </a:lnTo>
                  <a:cubicBezTo>
                    <a:pt x="1550" y="450"/>
                    <a:pt x="1561" y="429"/>
                    <a:pt x="1555" y="410"/>
                  </a:cubicBezTo>
                  <a:close/>
                  <a:moveTo>
                    <a:pt x="209" y="581"/>
                  </a:moveTo>
                  <a:lnTo>
                    <a:pt x="209" y="758"/>
                  </a:lnTo>
                  <a:cubicBezTo>
                    <a:pt x="123" y="742"/>
                    <a:pt x="37" y="673"/>
                    <a:pt x="37" y="673"/>
                  </a:cubicBezTo>
                  <a:lnTo>
                    <a:pt x="37" y="484"/>
                  </a:lnTo>
                  <a:cubicBezTo>
                    <a:pt x="143" y="570"/>
                    <a:pt x="209" y="581"/>
                    <a:pt x="209" y="581"/>
                  </a:cubicBezTo>
                  <a:close/>
                  <a:moveTo>
                    <a:pt x="978" y="30"/>
                  </a:moveTo>
                  <a:cubicBezTo>
                    <a:pt x="972" y="11"/>
                    <a:pt x="951" y="0"/>
                    <a:pt x="931" y="6"/>
                  </a:cubicBezTo>
                  <a:lnTo>
                    <a:pt x="25" y="321"/>
                  </a:lnTo>
                  <a:cubicBezTo>
                    <a:pt x="14" y="325"/>
                    <a:pt x="3" y="334"/>
                    <a:pt x="0" y="344"/>
                  </a:cubicBezTo>
                  <a:lnTo>
                    <a:pt x="0" y="1638"/>
                  </a:lnTo>
                  <a:cubicBezTo>
                    <a:pt x="32" y="1700"/>
                    <a:pt x="165" y="1770"/>
                    <a:pt x="246" y="1770"/>
                  </a:cubicBezTo>
                  <a:lnTo>
                    <a:pt x="246" y="500"/>
                  </a:lnTo>
                  <a:cubicBezTo>
                    <a:pt x="203" y="493"/>
                    <a:pt x="106" y="443"/>
                    <a:pt x="46" y="393"/>
                  </a:cubicBezTo>
                  <a:cubicBezTo>
                    <a:pt x="47" y="393"/>
                    <a:pt x="48" y="392"/>
                    <a:pt x="49" y="392"/>
                  </a:cubicBezTo>
                  <a:lnTo>
                    <a:pt x="954" y="77"/>
                  </a:lnTo>
                  <a:cubicBezTo>
                    <a:pt x="974" y="71"/>
                    <a:pt x="985" y="50"/>
                    <a:pt x="978" y="30"/>
                  </a:cubicBezTo>
                  <a:close/>
                  <a:moveTo>
                    <a:pt x="497" y="781"/>
                  </a:moveTo>
                  <a:lnTo>
                    <a:pt x="497" y="958"/>
                  </a:lnTo>
                  <a:cubicBezTo>
                    <a:pt x="411" y="941"/>
                    <a:pt x="325" y="873"/>
                    <a:pt x="325" y="873"/>
                  </a:cubicBezTo>
                  <a:lnTo>
                    <a:pt x="325" y="684"/>
                  </a:lnTo>
                  <a:cubicBezTo>
                    <a:pt x="431" y="770"/>
                    <a:pt x="497" y="781"/>
                    <a:pt x="497" y="781"/>
                  </a:cubicBezTo>
                  <a:close/>
                  <a:moveTo>
                    <a:pt x="1266" y="230"/>
                  </a:moveTo>
                  <a:cubicBezTo>
                    <a:pt x="1260" y="210"/>
                    <a:pt x="1239" y="199"/>
                    <a:pt x="1219" y="206"/>
                  </a:cubicBezTo>
                  <a:lnTo>
                    <a:pt x="313" y="520"/>
                  </a:lnTo>
                  <a:cubicBezTo>
                    <a:pt x="302" y="524"/>
                    <a:pt x="291" y="533"/>
                    <a:pt x="288" y="544"/>
                  </a:cubicBezTo>
                  <a:lnTo>
                    <a:pt x="288" y="1837"/>
                  </a:lnTo>
                  <a:cubicBezTo>
                    <a:pt x="320" y="1900"/>
                    <a:pt x="453" y="1969"/>
                    <a:pt x="534" y="1969"/>
                  </a:cubicBezTo>
                  <a:lnTo>
                    <a:pt x="534" y="699"/>
                  </a:lnTo>
                  <a:cubicBezTo>
                    <a:pt x="491" y="693"/>
                    <a:pt x="394" y="642"/>
                    <a:pt x="334" y="592"/>
                  </a:cubicBezTo>
                  <a:cubicBezTo>
                    <a:pt x="335" y="592"/>
                    <a:pt x="336" y="592"/>
                    <a:pt x="337" y="592"/>
                  </a:cubicBezTo>
                  <a:lnTo>
                    <a:pt x="1243" y="277"/>
                  </a:lnTo>
                  <a:cubicBezTo>
                    <a:pt x="1262" y="270"/>
                    <a:pt x="1273" y="249"/>
                    <a:pt x="1266" y="230"/>
                  </a:cubicBezTo>
                  <a:close/>
                </a:path>
              </a:pathLst>
            </a:custGeom>
            <a:solidFill>
              <a:srgbClr val="002060"/>
            </a:solidFill>
            <a:ln>
              <a:noFill/>
            </a:ln>
          </p:spPr>
          <p:txBody>
            <a:bodyPr vert="horz" wrap="square" lIns="91440" tIns="45720" rIns="91440" bIns="45720" numCol="1" anchor="t" anchorCtr="0" compatLnSpc="1"/>
            <a:lstStyle/>
            <a:p>
              <a:endParaRPr lang="zh-CN" altLang="en-US" dirty="0">
                <a:solidFill>
                  <a:srgbClr val="21A3D0"/>
                </a:solidFill>
              </a:endParaRPr>
            </a:p>
          </p:txBody>
        </p:sp>
      </p:grpSp>
      <p:sp>
        <p:nvSpPr>
          <p:cNvPr id="2" name="文本框 1"/>
          <p:cNvSpPr txBox="1"/>
          <p:nvPr/>
        </p:nvSpPr>
        <p:spPr>
          <a:xfrm>
            <a:off x="4150995" y="1659890"/>
            <a:ext cx="5157470" cy="3538220"/>
          </a:xfrm>
          <a:prstGeom prst="rect">
            <a:avLst/>
          </a:prstGeom>
          <a:noFill/>
        </p:spPr>
        <p:txBody>
          <a:bodyPr wrap="square" rtlCol="0">
            <a:spAutoFit/>
            <a:scene3d>
              <a:camera prst="orthographicFront"/>
              <a:lightRig rig="threePt" dir="t"/>
            </a:scene3d>
          </a:bodyPr>
          <a:lstStyle/>
          <a:p>
            <a:r>
              <a:rPr lang="zh-CN" altLang="en-US" sz="3200" b="1" spc="200" dirty="0">
                <a:uFillTx/>
                <a:latin typeface="宋体" panose="02010600030101010101" pitchFamily="2" charset="-122"/>
                <a:ea typeface="宋体" panose="02010600030101010101" pitchFamily="2" charset="-122"/>
                <a:cs typeface="+mj-cs"/>
              </a:rPr>
              <a:t>什么是概念学习</a:t>
            </a:r>
            <a:endParaRPr lang="zh-CN" altLang="en-US" sz="3200" b="1" spc="200" dirty="0">
              <a:uFillTx/>
              <a:latin typeface="宋体" panose="02010600030101010101" pitchFamily="2" charset="-122"/>
              <a:ea typeface="宋体" panose="02010600030101010101" pitchFamily="2" charset="-122"/>
              <a:cs typeface="+mj-cs"/>
            </a:endParaRPr>
          </a:p>
          <a:p>
            <a:endParaRPr lang="zh-CN" altLang="en-US" sz="3200" b="1" spc="200" dirty="0">
              <a:solidFill>
                <a:schemeClr val="accent1"/>
              </a:solidFill>
              <a:uFillTx/>
              <a:latin typeface="宋体" panose="02010600030101010101" pitchFamily="2" charset="-122"/>
              <a:ea typeface="宋体" panose="02010600030101010101" pitchFamily="2" charset="-122"/>
              <a:cs typeface="+mj-cs"/>
            </a:endParaRPr>
          </a:p>
          <a:p>
            <a:pPr algn="l">
              <a:buClrTx/>
              <a:buSzTx/>
              <a:buFontTx/>
            </a:pPr>
            <a:r>
              <a:rPr lang="zh-CN" altLang="en-US" sz="3200" b="1" spc="200" dirty="0">
                <a:solidFill>
                  <a:schemeClr val="accent1"/>
                </a:solidFill>
                <a:uFillTx/>
                <a:latin typeface="宋体" panose="02010600030101010101" pitchFamily="2" charset="-122"/>
                <a:ea typeface="宋体" panose="02010600030101010101" pitchFamily="2" charset="-122"/>
                <a:cs typeface="+mj-cs"/>
              </a:rPr>
              <a:t>概念学习算法</a:t>
            </a:r>
            <a:endParaRPr lang="zh-CN" altLang="en-US" sz="3200" b="1" spc="200" dirty="0">
              <a:solidFill>
                <a:schemeClr val="accent1"/>
              </a:solidFill>
              <a:uFillTx/>
              <a:latin typeface="宋体" panose="02010600030101010101" pitchFamily="2" charset="-122"/>
              <a:ea typeface="宋体" panose="02010600030101010101" pitchFamily="2" charset="-122"/>
              <a:cs typeface="+mj-cs"/>
            </a:endParaRPr>
          </a:p>
          <a:p>
            <a:endParaRPr lang="zh-CN" altLang="en-US" sz="3200" b="1" spc="200" dirty="0">
              <a:solidFill>
                <a:schemeClr val="tx1"/>
              </a:solidFill>
              <a:uFillTx/>
              <a:latin typeface="宋体" panose="02010600030101010101" pitchFamily="2" charset="-122"/>
              <a:ea typeface="宋体" panose="02010600030101010101" pitchFamily="2" charset="-122"/>
              <a:cs typeface="+mj-cs"/>
            </a:endParaRPr>
          </a:p>
          <a:p>
            <a:r>
              <a:rPr lang="zh-CN" altLang="en-US" sz="3200" b="1" spc="200" dirty="0">
                <a:solidFill>
                  <a:schemeClr val="tx1"/>
                </a:solidFill>
                <a:uFillTx/>
                <a:latin typeface="宋体" panose="02010600030101010101" pitchFamily="2" charset="-122"/>
                <a:ea typeface="宋体" panose="02010600030101010101" pitchFamily="2" charset="-122"/>
                <a:cs typeface="+mj-cs"/>
              </a:rPr>
              <a:t>概念学习的历史与应用</a:t>
            </a:r>
            <a:endParaRPr lang="zh-CN" altLang="en-US" sz="3200" b="1" spc="200" dirty="0">
              <a:solidFill>
                <a:schemeClr val="tx1"/>
              </a:solidFill>
              <a:uFillTx/>
              <a:latin typeface="宋体" panose="02010600030101010101" pitchFamily="2" charset="-122"/>
              <a:ea typeface="宋体" panose="02010600030101010101" pitchFamily="2" charset="-122"/>
              <a:cs typeface="+mj-cs"/>
            </a:endParaRPr>
          </a:p>
          <a:p>
            <a:endParaRPr lang="zh-CN" altLang="en-US" sz="3200" b="1" spc="200" dirty="0">
              <a:solidFill>
                <a:schemeClr val="tx1"/>
              </a:solidFill>
              <a:uFillTx/>
              <a:latin typeface="宋体" panose="02010600030101010101" pitchFamily="2" charset="-122"/>
              <a:ea typeface="宋体" panose="02010600030101010101" pitchFamily="2" charset="-122"/>
              <a:cs typeface="+mj-cs"/>
            </a:endParaRPr>
          </a:p>
          <a:p>
            <a:r>
              <a:rPr lang="zh-CN" altLang="en-US" sz="3200" b="1" spc="200" dirty="0">
                <a:solidFill>
                  <a:schemeClr val="tx1"/>
                </a:solidFill>
                <a:uFillTx/>
                <a:latin typeface="宋体" panose="02010600030101010101" pitchFamily="2" charset="-122"/>
                <a:ea typeface="宋体" panose="02010600030101010101" pitchFamily="2" charset="-122"/>
                <a:cs typeface="+mj-cs"/>
              </a:rPr>
              <a:t>思考题</a:t>
            </a:r>
            <a:endParaRPr lang="zh-CN" altLang="en-US" sz="3200" b="1" spc="200" dirty="0">
              <a:solidFill>
                <a:schemeClr val="tx1"/>
              </a:solidFill>
              <a:uFillTx/>
              <a:latin typeface="宋体" panose="02010600030101010101" pitchFamily="2" charset="-122"/>
              <a:ea typeface="宋体" panose="02010600030101010101" pitchFamily="2" charset="-122"/>
              <a:cs typeface="+mj-c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419735" y="291465"/>
            <a:ext cx="2863215" cy="583565"/>
          </a:xfrm>
          <a:prstGeom prst="rect">
            <a:avLst/>
          </a:prstGeom>
          <a:noFill/>
        </p:spPr>
        <p:txBody>
          <a:bodyPr wrap="square" rtlCol="0">
            <a:spAutoFit/>
            <a:scene3d>
              <a:camera prst="orthographicFront"/>
              <a:lightRig rig="threePt" dir="t"/>
            </a:scene3d>
          </a:bodyPr>
          <a:lstStyle/>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概念学习算法</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
        <p:nvSpPr>
          <p:cNvPr id="6" name="文本框 5"/>
          <p:cNvSpPr txBox="1"/>
          <p:nvPr/>
        </p:nvSpPr>
        <p:spPr>
          <a:xfrm>
            <a:off x="1414780" y="3235960"/>
            <a:ext cx="2383155" cy="521970"/>
          </a:xfrm>
          <a:prstGeom prst="rect">
            <a:avLst/>
          </a:prstGeom>
          <a:noFill/>
        </p:spPr>
        <p:txBody>
          <a:bodyPr wrap="square" rtlCol="0">
            <a:spAutoFit/>
          </a:bodyPr>
          <a:lstStyle/>
          <a:p>
            <a:r>
              <a:rPr lang="zh-CN" altLang="en-US" sz="2800" b="1"/>
              <a:t>概念学习算法</a:t>
            </a:r>
            <a:endParaRPr lang="zh-CN" altLang="en-US" sz="2800" b="1"/>
          </a:p>
        </p:txBody>
      </p:sp>
      <p:sp>
        <p:nvSpPr>
          <p:cNvPr id="7" name="左大括号 6"/>
          <p:cNvSpPr/>
          <p:nvPr/>
        </p:nvSpPr>
        <p:spPr>
          <a:xfrm>
            <a:off x="3869055" y="2202815"/>
            <a:ext cx="379730" cy="2587625"/>
          </a:xfrm>
          <a:prstGeom prst="leftBrace">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sp>
        <p:nvSpPr>
          <p:cNvPr id="8" name="文本框 7"/>
          <p:cNvSpPr txBox="1"/>
          <p:nvPr/>
        </p:nvSpPr>
        <p:spPr>
          <a:xfrm>
            <a:off x="4319905" y="1929765"/>
            <a:ext cx="2040890" cy="583565"/>
          </a:xfrm>
          <a:prstGeom prst="rect">
            <a:avLst/>
          </a:prstGeom>
          <a:noFill/>
        </p:spPr>
        <p:txBody>
          <a:bodyPr wrap="square" rtlCol="0">
            <a:spAutoFit/>
          </a:bodyPr>
          <a:lstStyle/>
          <a:p>
            <a:r>
              <a:rPr lang="en-US" altLang="zh-CN" sz="3200"/>
              <a:t>Find-S </a:t>
            </a:r>
            <a:r>
              <a:rPr lang="zh-CN" altLang="en-US" sz="2800"/>
              <a:t>算法</a:t>
            </a:r>
            <a:endParaRPr lang="zh-CN" altLang="en-US" sz="2800"/>
          </a:p>
        </p:txBody>
      </p:sp>
      <p:sp>
        <p:nvSpPr>
          <p:cNvPr id="9" name="文本框 8"/>
          <p:cNvSpPr txBox="1"/>
          <p:nvPr/>
        </p:nvSpPr>
        <p:spPr>
          <a:xfrm>
            <a:off x="4319905" y="4496435"/>
            <a:ext cx="4162425" cy="521970"/>
          </a:xfrm>
          <a:prstGeom prst="rect">
            <a:avLst/>
          </a:prstGeom>
          <a:noFill/>
        </p:spPr>
        <p:txBody>
          <a:bodyPr wrap="square" rtlCol="0" anchor="t">
            <a:spAutoFit/>
          </a:bodyPr>
          <a:lstStyle/>
          <a:p>
            <a:pPr algn="l">
              <a:buClrTx/>
              <a:buSzTx/>
              <a:buFontTx/>
            </a:pPr>
            <a:r>
              <a:rPr lang="en-US" altLang="zh-CN" sz="2800"/>
              <a:t>候选消除算法和变型空间</a:t>
            </a:r>
            <a:endParaRPr lang="en-US" altLang="zh-CN" sz="28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dirty="0">
              <a:latin typeface="Times New Roman" panose="02020603050405020304" charset="0"/>
              <a:cs typeface="Times New Roman" panose="02020603050405020304" charset="0"/>
            </a:endParaRPr>
          </a:p>
        </p:txBody>
      </p:sp>
      <p:sp>
        <p:nvSpPr>
          <p:cNvPr id="5" name="文本框 4"/>
          <p:cNvSpPr txBox="1"/>
          <p:nvPr/>
        </p:nvSpPr>
        <p:spPr>
          <a:xfrm>
            <a:off x="419735" y="291465"/>
            <a:ext cx="4638040" cy="583565"/>
          </a:xfrm>
          <a:prstGeom prst="rect">
            <a:avLst/>
          </a:prstGeom>
          <a:noFill/>
        </p:spPr>
        <p:txBody>
          <a:bodyPr wrap="square" rtlCol="0">
            <a:spAutoFit/>
            <a:scene3d>
              <a:camera prst="orthographicFront"/>
              <a:lightRig rig="threePt" dir="t"/>
            </a:scene3d>
          </a:bodyPr>
          <a:lstStyle/>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概念学习算法：</a:t>
            </a:r>
            <a:r>
              <a:rPr lang="en-US" altLang="zh-CN" sz="3200" b="1" spc="200" dirty="0">
                <a:solidFill>
                  <a:schemeClr val="accent1"/>
                </a:solidFill>
                <a:uFillTx/>
                <a:latin typeface="微软雅黑 Light" panose="020B0502040204020203" pitchFamily="34" charset="-122"/>
                <a:ea typeface="微软雅黑" panose="020B0503020204020204" charset="-122"/>
                <a:cs typeface="+mj-cs"/>
              </a:rPr>
              <a:t>Find-S</a:t>
            </a:r>
            <a:endParaRPr lang="en-US" altLang="zh-CN" sz="3200" b="1" spc="200" dirty="0">
              <a:solidFill>
                <a:schemeClr val="accent1"/>
              </a:solidFill>
              <a:uFillTx/>
              <a:latin typeface="微软雅黑 Light" panose="020B0502040204020203" pitchFamily="34" charset="-122"/>
              <a:ea typeface="微软雅黑" panose="020B0503020204020204" charset="-122"/>
              <a:cs typeface="+mj-cs"/>
            </a:endParaRPr>
          </a:p>
        </p:txBody>
      </p:sp>
      <p:sp>
        <p:nvSpPr>
          <p:cNvPr id="8" name="文本框 7"/>
          <p:cNvSpPr txBox="1"/>
          <p:nvPr/>
        </p:nvSpPr>
        <p:spPr>
          <a:xfrm>
            <a:off x="269240" y="1195070"/>
            <a:ext cx="7039610" cy="645160"/>
          </a:xfrm>
          <a:prstGeom prst="rect">
            <a:avLst/>
          </a:prstGeom>
          <a:noFill/>
        </p:spPr>
        <p:txBody>
          <a:bodyPr wrap="square" rtlCol="0">
            <a:spAutoFit/>
          </a:bodyPr>
          <a:lstStyle/>
          <a:p>
            <a:r>
              <a:rPr lang="en-US" altLang="zh-CN" sz="3600">
                <a:solidFill>
                  <a:schemeClr val="accent5">
                    <a:lumMod val="75000"/>
                  </a:schemeClr>
                </a:solidFill>
              </a:rPr>
              <a:t>Find-S </a:t>
            </a:r>
            <a:r>
              <a:rPr lang="zh-CN" altLang="en-US" sz="3600">
                <a:solidFill>
                  <a:schemeClr val="accent5">
                    <a:lumMod val="75000"/>
                  </a:schemeClr>
                </a:solidFill>
              </a:rPr>
              <a:t>：</a:t>
            </a:r>
            <a:r>
              <a:rPr lang="zh-CN" altLang="en-US" sz="3200">
                <a:solidFill>
                  <a:schemeClr val="accent5">
                    <a:lumMod val="75000"/>
                  </a:schemeClr>
                </a:solidFill>
              </a:rPr>
              <a:t>寻找极大特殊假设</a:t>
            </a:r>
            <a:endParaRPr lang="zh-CN" altLang="en-US" sz="3200">
              <a:solidFill>
                <a:schemeClr val="accent5">
                  <a:lumMod val="75000"/>
                </a:schemeClr>
              </a:solidFill>
            </a:endParaRPr>
          </a:p>
        </p:txBody>
      </p:sp>
      <p:sp>
        <p:nvSpPr>
          <p:cNvPr id="6" name="文本框 5"/>
          <p:cNvSpPr txBox="1"/>
          <p:nvPr/>
        </p:nvSpPr>
        <p:spPr>
          <a:xfrm>
            <a:off x="419735" y="1967230"/>
            <a:ext cx="11141075" cy="3505835"/>
          </a:xfrm>
          <a:prstGeom prst="rect">
            <a:avLst/>
          </a:prstGeom>
          <a:noFill/>
        </p:spPr>
        <p:txBody>
          <a:bodyPr wrap="square" rtlCol="0" anchor="t">
            <a:spAutoFit/>
          </a:bodyPr>
          <a:lstStyle/>
          <a:p>
            <a:r>
              <a:rPr lang="zh-CN" altLang="en-US" sz="2000"/>
              <a:t>从H中最特殊假设开始，然后在假设覆盖正例失败时将其一般化</a:t>
            </a:r>
            <a:endParaRPr lang="zh-CN" altLang="en-US" sz="2000"/>
          </a:p>
          <a:p>
            <a:endParaRPr lang="zh-CN" altLang="en-US" sz="2000"/>
          </a:p>
          <a:p>
            <a:pPr indent="457200"/>
            <a:r>
              <a:rPr lang="zh-CN" altLang="en-US" sz="2000" b="1"/>
              <a:t>算法步骤：</a:t>
            </a:r>
            <a:endParaRPr lang="zh-CN" altLang="en-US" sz="2000" b="1"/>
          </a:p>
          <a:p>
            <a:pPr indent="457200">
              <a:lnSpc>
                <a:spcPct val="70000"/>
              </a:lnSpc>
            </a:pPr>
            <a:endParaRPr lang="zh-CN" altLang="en-US"/>
          </a:p>
          <a:p>
            <a:pPr marL="457200" lvl="1" indent="457200"/>
            <a:r>
              <a:rPr lang="en-US" altLang="zh-CN"/>
              <a:t>1</a:t>
            </a:r>
            <a:r>
              <a:rPr lang="zh-CN" altLang="en-US"/>
              <a:t>）将</a:t>
            </a:r>
            <a:r>
              <a:rPr lang="en-US" altLang="zh-CN"/>
              <a:t>h</a:t>
            </a:r>
            <a:r>
              <a:rPr lang="zh-CN" altLang="en-US"/>
              <a:t>初始化为H中最特殊假设</a:t>
            </a:r>
            <a:r>
              <a:rPr lang="en-US" altLang="zh-CN"/>
              <a:t> (</a:t>
            </a:r>
            <a:r>
              <a:rPr lang="zh-CN" altLang="en-US"/>
              <a:t>即所有属性均为</a:t>
            </a:r>
            <a:r>
              <a:rPr lang="zh-CN" altLang="en-US" b="1" dirty="0">
                <a:sym typeface="Symbol" panose="05050102010706020507" pitchFamily="18" charset="2"/>
              </a:rPr>
              <a:t></a:t>
            </a:r>
            <a:r>
              <a:rPr lang="zh-CN" altLang="en-US" dirty="0">
                <a:sym typeface="Symbol" panose="05050102010706020507" pitchFamily="18" charset="2"/>
              </a:rPr>
              <a:t> </a:t>
            </a:r>
            <a:r>
              <a:rPr lang="en-US" altLang="zh-CN"/>
              <a:t>)</a:t>
            </a:r>
            <a:endParaRPr lang="zh-CN" altLang="en-US"/>
          </a:p>
          <a:p>
            <a:pPr marL="457200" lvl="1" indent="457200">
              <a:lnSpc>
                <a:spcPct val="70000"/>
              </a:lnSpc>
            </a:pPr>
            <a:endParaRPr lang="zh-CN" altLang="en-US"/>
          </a:p>
          <a:p>
            <a:pPr marL="457200" lvl="1" indent="457200"/>
            <a:r>
              <a:rPr lang="en-US" altLang="zh-CN"/>
              <a:t>2</a:t>
            </a:r>
            <a:r>
              <a:rPr lang="zh-CN" altLang="en-US"/>
              <a:t>）对训练样例集D中的每个正样例</a:t>
            </a:r>
            <a:r>
              <a:rPr lang="en-US" altLang="zh-CN"/>
              <a:t>d+</a:t>
            </a:r>
            <a:r>
              <a:rPr lang="zh-CN" altLang="en-US"/>
              <a:t>:</a:t>
            </a:r>
            <a:endParaRPr lang="zh-CN" altLang="en-US"/>
          </a:p>
          <a:p>
            <a:pPr marL="457200" lvl="1" indent="457200">
              <a:lnSpc>
                <a:spcPct val="30000"/>
              </a:lnSpc>
            </a:pPr>
            <a:endParaRPr lang="zh-CN" altLang="en-US"/>
          </a:p>
          <a:p>
            <a:pPr marL="914400" lvl="2" indent="457200"/>
            <a:r>
              <a:rPr lang="en-US" altLang="zh-CN"/>
              <a:t>--</a:t>
            </a:r>
            <a:r>
              <a:rPr lang="zh-CN" altLang="en-US"/>
              <a:t>对h的每个属性约束a</a:t>
            </a:r>
            <a:r>
              <a:rPr lang="zh-CN" altLang="en-US" baseline="-25000"/>
              <a:t>i</a:t>
            </a:r>
            <a:endParaRPr lang="zh-CN" altLang="en-US" baseline="-25000"/>
          </a:p>
          <a:p>
            <a:pPr marL="914400" lvl="2" indent="457200">
              <a:lnSpc>
                <a:spcPct val="30000"/>
              </a:lnSpc>
            </a:pPr>
            <a:endParaRPr lang="zh-CN" altLang="en-US"/>
          </a:p>
          <a:p>
            <a:pPr marL="914400" lvl="2" indent="457200"/>
            <a:r>
              <a:rPr lang="en-US" altLang="zh-CN"/>
              <a:t>--</a:t>
            </a:r>
            <a:r>
              <a:rPr lang="zh-CN" altLang="en-US"/>
              <a:t>如果x满足ai，那么不做任何处理</a:t>
            </a:r>
            <a:endParaRPr lang="zh-CN" altLang="en-US"/>
          </a:p>
          <a:p>
            <a:pPr marL="914400" lvl="2" indent="457200">
              <a:lnSpc>
                <a:spcPct val="30000"/>
              </a:lnSpc>
            </a:pPr>
            <a:endParaRPr lang="zh-CN" altLang="en-US"/>
          </a:p>
          <a:p>
            <a:pPr marL="914400" lvl="2" indent="457200"/>
            <a:r>
              <a:rPr lang="en-US" altLang="zh-CN"/>
              <a:t>--</a:t>
            </a:r>
            <a:r>
              <a:rPr lang="zh-CN" altLang="en-US"/>
              <a:t>否则将h中ai替换为x满足的另一个更一般约束</a:t>
            </a:r>
            <a:endParaRPr lang="zh-CN" altLang="en-US"/>
          </a:p>
          <a:p>
            <a:pPr marL="914400" lvl="2" indent="457200">
              <a:lnSpc>
                <a:spcPct val="70000"/>
              </a:lnSpc>
            </a:pPr>
            <a:endParaRPr lang="zh-CN" altLang="en-US"/>
          </a:p>
          <a:p>
            <a:pPr marL="457200" lvl="1" indent="457200"/>
            <a:r>
              <a:rPr lang="en-US" altLang="zh-CN"/>
              <a:t>3</a:t>
            </a:r>
            <a:r>
              <a:rPr lang="zh-CN" altLang="en-US"/>
              <a:t>）输出假设ℎ</a:t>
            </a:r>
            <a:endParaRPr lang="zh-CN"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dirty="0">
              <a:latin typeface="Times New Roman" panose="02020603050405020304" charset="0"/>
              <a:cs typeface="Times New Roman" panose="02020603050405020304" charset="0"/>
            </a:endParaRPr>
          </a:p>
        </p:txBody>
      </p:sp>
      <p:sp>
        <p:nvSpPr>
          <p:cNvPr id="6" name="文本框 5"/>
          <p:cNvSpPr txBox="1"/>
          <p:nvPr/>
        </p:nvSpPr>
        <p:spPr>
          <a:xfrm>
            <a:off x="419735" y="291465"/>
            <a:ext cx="4638040" cy="583565"/>
          </a:xfrm>
          <a:prstGeom prst="rect">
            <a:avLst/>
          </a:prstGeom>
          <a:noFill/>
        </p:spPr>
        <p:txBody>
          <a:bodyPr wrap="square" rtlCol="0">
            <a:spAutoFit/>
            <a:scene3d>
              <a:camera prst="orthographicFront"/>
              <a:lightRig rig="threePt" dir="t"/>
            </a:scene3d>
          </a:bodyPr>
          <a:lstStyle/>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概念学习算法：</a:t>
            </a:r>
            <a:r>
              <a:rPr lang="en-US" altLang="zh-CN" sz="3200" b="1" spc="200" dirty="0">
                <a:solidFill>
                  <a:schemeClr val="accent1"/>
                </a:solidFill>
                <a:uFillTx/>
                <a:latin typeface="微软雅黑 Light" panose="020B0502040204020203" pitchFamily="34" charset="-122"/>
                <a:ea typeface="微软雅黑" panose="020B0503020204020204" charset="-122"/>
                <a:cs typeface="+mj-cs"/>
              </a:rPr>
              <a:t>Find-S</a:t>
            </a:r>
            <a:endParaRPr lang="en-US" altLang="zh-CN" sz="3200" b="1" spc="200" dirty="0">
              <a:solidFill>
                <a:schemeClr val="accent1"/>
              </a:solidFill>
              <a:uFillTx/>
              <a:latin typeface="微软雅黑 Light" panose="020B0502040204020203" pitchFamily="34" charset="-122"/>
              <a:ea typeface="微软雅黑" panose="020B0503020204020204" charset="-122"/>
              <a:cs typeface="+mj-cs"/>
            </a:endParaRPr>
          </a:p>
        </p:txBody>
      </p:sp>
      <p:sp>
        <p:nvSpPr>
          <p:cNvPr id="75779" name="Rectangle 168"/>
          <p:cNvSpPr>
            <a:spLocks noChangeArrowheads="1"/>
          </p:cNvSpPr>
          <p:nvPr/>
        </p:nvSpPr>
        <p:spPr bwMode="auto">
          <a:xfrm>
            <a:off x="9501188" y="3514091"/>
            <a:ext cx="11350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Yes</a:t>
            </a:r>
            <a:endParaRPr kumimoji="1" lang="en-US" altLang="zh-CN" sz="1400">
              <a:latin typeface="Times New Roman" panose="02020603050405020304" charset="0"/>
            </a:endParaRPr>
          </a:p>
        </p:txBody>
      </p:sp>
      <p:sp>
        <p:nvSpPr>
          <p:cNvPr id="75780" name="Rectangle 167"/>
          <p:cNvSpPr>
            <a:spLocks noChangeArrowheads="1"/>
          </p:cNvSpPr>
          <p:nvPr/>
        </p:nvSpPr>
        <p:spPr bwMode="auto">
          <a:xfrm>
            <a:off x="8366126" y="3514091"/>
            <a:ext cx="11350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Change</a:t>
            </a:r>
            <a:endParaRPr kumimoji="1" lang="en-US" altLang="zh-CN" sz="1400">
              <a:latin typeface="Times New Roman" panose="02020603050405020304" charset="0"/>
            </a:endParaRPr>
          </a:p>
        </p:txBody>
      </p:sp>
      <p:sp>
        <p:nvSpPr>
          <p:cNvPr id="75781" name="Rectangle 166"/>
          <p:cNvSpPr>
            <a:spLocks noChangeArrowheads="1"/>
          </p:cNvSpPr>
          <p:nvPr/>
        </p:nvSpPr>
        <p:spPr bwMode="auto">
          <a:xfrm>
            <a:off x="7231063" y="3514091"/>
            <a:ext cx="11350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Cool</a:t>
            </a:r>
            <a:endParaRPr kumimoji="1" lang="en-US" altLang="zh-CN" sz="1400">
              <a:latin typeface="Times New Roman" panose="02020603050405020304" charset="0"/>
            </a:endParaRPr>
          </a:p>
        </p:txBody>
      </p:sp>
      <p:sp>
        <p:nvSpPr>
          <p:cNvPr id="75782" name="Rectangle 165"/>
          <p:cNvSpPr>
            <a:spLocks noChangeArrowheads="1"/>
          </p:cNvSpPr>
          <p:nvPr/>
        </p:nvSpPr>
        <p:spPr bwMode="auto">
          <a:xfrm>
            <a:off x="6096001" y="3514091"/>
            <a:ext cx="11350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Strong</a:t>
            </a:r>
            <a:endParaRPr kumimoji="1" lang="en-US" altLang="zh-CN" sz="1400">
              <a:latin typeface="Times New Roman" panose="02020603050405020304" charset="0"/>
            </a:endParaRPr>
          </a:p>
        </p:txBody>
      </p:sp>
      <p:sp>
        <p:nvSpPr>
          <p:cNvPr id="75783" name="Rectangle 164"/>
          <p:cNvSpPr>
            <a:spLocks noChangeArrowheads="1"/>
          </p:cNvSpPr>
          <p:nvPr/>
        </p:nvSpPr>
        <p:spPr bwMode="auto">
          <a:xfrm>
            <a:off x="4960938" y="3514091"/>
            <a:ext cx="11350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High</a:t>
            </a:r>
            <a:endParaRPr kumimoji="1" lang="en-US" altLang="zh-CN" sz="1400">
              <a:latin typeface="Times New Roman" panose="02020603050405020304" charset="0"/>
            </a:endParaRPr>
          </a:p>
        </p:txBody>
      </p:sp>
      <p:sp>
        <p:nvSpPr>
          <p:cNvPr id="75784" name="Rectangle 163"/>
          <p:cNvSpPr>
            <a:spLocks noChangeArrowheads="1"/>
          </p:cNvSpPr>
          <p:nvPr/>
        </p:nvSpPr>
        <p:spPr bwMode="auto">
          <a:xfrm>
            <a:off x="3825876" y="3514091"/>
            <a:ext cx="11350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Warm</a:t>
            </a:r>
            <a:endParaRPr kumimoji="1" lang="en-US" altLang="zh-CN" sz="1400">
              <a:latin typeface="Times New Roman" panose="02020603050405020304" charset="0"/>
            </a:endParaRPr>
          </a:p>
        </p:txBody>
      </p:sp>
      <p:sp>
        <p:nvSpPr>
          <p:cNvPr id="75785" name="Rectangle 162"/>
          <p:cNvSpPr>
            <a:spLocks noChangeArrowheads="1"/>
          </p:cNvSpPr>
          <p:nvPr/>
        </p:nvSpPr>
        <p:spPr bwMode="auto">
          <a:xfrm>
            <a:off x="2690813" y="3514091"/>
            <a:ext cx="11350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Sunny</a:t>
            </a:r>
            <a:endParaRPr kumimoji="1" lang="en-US" altLang="zh-CN" sz="1400">
              <a:latin typeface="Times New Roman" panose="02020603050405020304" charset="0"/>
            </a:endParaRPr>
          </a:p>
        </p:txBody>
      </p:sp>
      <p:sp>
        <p:nvSpPr>
          <p:cNvPr id="75786" name="Rectangle 161"/>
          <p:cNvSpPr>
            <a:spLocks noChangeArrowheads="1"/>
          </p:cNvSpPr>
          <p:nvPr/>
        </p:nvSpPr>
        <p:spPr bwMode="auto">
          <a:xfrm>
            <a:off x="1555751" y="3514091"/>
            <a:ext cx="11350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4</a:t>
            </a:r>
            <a:endParaRPr kumimoji="1" lang="en-US" altLang="zh-CN" sz="1400">
              <a:latin typeface="Times New Roman" panose="02020603050405020304" charset="0"/>
            </a:endParaRPr>
          </a:p>
        </p:txBody>
      </p:sp>
      <p:sp>
        <p:nvSpPr>
          <p:cNvPr id="75787" name="Rectangle 160"/>
          <p:cNvSpPr>
            <a:spLocks noChangeArrowheads="1"/>
          </p:cNvSpPr>
          <p:nvPr/>
        </p:nvSpPr>
        <p:spPr bwMode="auto">
          <a:xfrm>
            <a:off x="9501188" y="3118804"/>
            <a:ext cx="1135062"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No</a:t>
            </a:r>
            <a:endParaRPr kumimoji="1" lang="en-US" altLang="zh-CN" sz="1400">
              <a:latin typeface="Times New Roman" panose="02020603050405020304" charset="0"/>
            </a:endParaRPr>
          </a:p>
        </p:txBody>
      </p:sp>
      <p:sp>
        <p:nvSpPr>
          <p:cNvPr id="75788" name="Rectangle 159"/>
          <p:cNvSpPr>
            <a:spLocks noChangeArrowheads="1"/>
          </p:cNvSpPr>
          <p:nvPr/>
        </p:nvSpPr>
        <p:spPr bwMode="auto">
          <a:xfrm>
            <a:off x="8366126" y="3118804"/>
            <a:ext cx="1135063"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Change</a:t>
            </a:r>
            <a:endParaRPr kumimoji="1" lang="en-US" altLang="zh-CN" sz="1400">
              <a:latin typeface="Times New Roman" panose="02020603050405020304" charset="0"/>
            </a:endParaRPr>
          </a:p>
        </p:txBody>
      </p:sp>
      <p:sp>
        <p:nvSpPr>
          <p:cNvPr id="75789" name="Rectangle 158"/>
          <p:cNvSpPr>
            <a:spLocks noChangeArrowheads="1"/>
          </p:cNvSpPr>
          <p:nvPr/>
        </p:nvSpPr>
        <p:spPr bwMode="auto">
          <a:xfrm>
            <a:off x="7231063" y="3118804"/>
            <a:ext cx="1135062"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Warm</a:t>
            </a:r>
            <a:endParaRPr kumimoji="1" lang="en-US" altLang="zh-CN" sz="1400">
              <a:latin typeface="Times New Roman" panose="02020603050405020304" charset="0"/>
            </a:endParaRPr>
          </a:p>
        </p:txBody>
      </p:sp>
      <p:sp>
        <p:nvSpPr>
          <p:cNvPr id="75790" name="Rectangle 157"/>
          <p:cNvSpPr>
            <a:spLocks noChangeArrowheads="1"/>
          </p:cNvSpPr>
          <p:nvPr/>
        </p:nvSpPr>
        <p:spPr bwMode="auto">
          <a:xfrm>
            <a:off x="6096001" y="3118804"/>
            <a:ext cx="1135063"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Strong</a:t>
            </a:r>
            <a:endParaRPr kumimoji="1" lang="en-US" altLang="zh-CN" sz="1400">
              <a:latin typeface="Times New Roman" panose="02020603050405020304" charset="0"/>
            </a:endParaRPr>
          </a:p>
        </p:txBody>
      </p:sp>
      <p:sp>
        <p:nvSpPr>
          <p:cNvPr id="75791" name="Rectangle 156"/>
          <p:cNvSpPr>
            <a:spLocks noChangeArrowheads="1"/>
          </p:cNvSpPr>
          <p:nvPr/>
        </p:nvSpPr>
        <p:spPr bwMode="auto">
          <a:xfrm>
            <a:off x="4960938" y="3118804"/>
            <a:ext cx="1135062"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High</a:t>
            </a:r>
            <a:endParaRPr kumimoji="1" lang="en-US" altLang="zh-CN" sz="1400">
              <a:latin typeface="Times New Roman" panose="02020603050405020304" charset="0"/>
            </a:endParaRPr>
          </a:p>
        </p:txBody>
      </p:sp>
      <p:sp>
        <p:nvSpPr>
          <p:cNvPr id="75792" name="Rectangle 155"/>
          <p:cNvSpPr>
            <a:spLocks noChangeArrowheads="1"/>
          </p:cNvSpPr>
          <p:nvPr/>
        </p:nvSpPr>
        <p:spPr bwMode="auto">
          <a:xfrm>
            <a:off x="3825876" y="3118804"/>
            <a:ext cx="1135063"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Cold</a:t>
            </a:r>
            <a:endParaRPr kumimoji="1" lang="en-US" altLang="zh-CN" sz="1400">
              <a:latin typeface="Times New Roman" panose="02020603050405020304" charset="0"/>
            </a:endParaRPr>
          </a:p>
        </p:txBody>
      </p:sp>
      <p:sp>
        <p:nvSpPr>
          <p:cNvPr id="75793" name="Rectangle 154"/>
          <p:cNvSpPr>
            <a:spLocks noChangeArrowheads="1"/>
          </p:cNvSpPr>
          <p:nvPr/>
        </p:nvSpPr>
        <p:spPr bwMode="auto">
          <a:xfrm>
            <a:off x="2690813" y="3118804"/>
            <a:ext cx="1135062"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Rainy</a:t>
            </a:r>
            <a:endParaRPr kumimoji="1" lang="en-US" altLang="zh-CN" sz="1400">
              <a:latin typeface="Times New Roman" panose="02020603050405020304" charset="0"/>
            </a:endParaRPr>
          </a:p>
        </p:txBody>
      </p:sp>
      <p:sp>
        <p:nvSpPr>
          <p:cNvPr id="75794" name="Rectangle 153"/>
          <p:cNvSpPr>
            <a:spLocks noChangeArrowheads="1"/>
          </p:cNvSpPr>
          <p:nvPr/>
        </p:nvSpPr>
        <p:spPr bwMode="auto">
          <a:xfrm>
            <a:off x="1555751" y="3118804"/>
            <a:ext cx="1135063"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3</a:t>
            </a:r>
            <a:endParaRPr kumimoji="1" lang="en-US" altLang="zh-CN" sz="1400">
              <a:latin typeface="Times New Roman" panose="02020603050405020304" charset="0"/>
            </a:endParaRPr>
          </a:p>
        </p:txBody>
      </p:sp>
      <p:sp>
        <p:nvSpPr>
          <p:cNvPr id="75795" name="Rectangle 152"/>
          <p:cNvSpPr>
            <a:spLocks noChangeArrowheads="1"/>
          </p:cNvSpPr>
          <p:nvPr/>
        </p:nvSpPr>
        <p:spPr bwMode="auto">
          <a:xfrm>
            <a:off x="9501188" y="2721929"/>
            <a:ext cx="11350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Yes</a:t>
            </a:r>
            <a:endParaRPr kumimoji="1" lang="en-US" altLang="zh-CN" sz="1400">
              <a:latin typeface="Times New Roman" panose="02020603050405020304" charset="0"/>
            </a:endParaRPr>
          </a:p>
        </p:txBody>
      </p:sp>
      <p:sp>
        <p:nvSpPr>
          <p:cNvPr id="75796" name="Rectangle 151"/>
          <p:cNvSpPr>
            <a:spLocks noChangeArrowheads="1"/>
          </p:cNvSpPr>
          <p:nvPr/>
        </p:nvSpPr>
        <p:spPr bwMode="auto">
          <a:xfrm>
            <a:off x="8366126" y="2721929"/>
            <a:ext cx="11350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Same</a:t>
            </a:r>
            <a:endParaRPr kumimoji="1" lang="en-US" altLang="zh-CN" sz="1400">
              <a:latin typeface="Times New Roman" panose="02020603050405020304" charset="0"/>
            </a:endParaRPr>
          </a:p>
        </p:txBody>
      </p:sp>
      <p:sp>
        <p:nvSpPr>
          <p:cNvPr id="75797" name="Rectangle 150"/>
          <p:cNvSpPr>
            <a:spLocks noChangeArrowheads="1"/>
          </p:cNvSpPr>
          <p:nvPr/>
        </p:nvSpPr>
        <p:spPr bwMode="auto">
          <a:xfrm>
            <a:off x="7231063" y="2721929"/>
            <a:ext cx="11350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Warm</a:t>
            </a:r>
            <a:endParaRPr kumimoji="1" lang="en-US" altLang="zh-CN" sz="1400">
              <a:latin typeface="Times New Roman" panose="02020603050405020304" charset="0"/>
            </a:endParaRPr>
          </a:p>
        </p:txBody>
      </p:sp>
      <p:sp>
        <p:nvSpPr>
          <p:cNvPr id="75798" name="Rectangle 149"/>
          <p:cNvSpPr>
            <a:spLocks noChangeArrowheads="1"/>
          </p:cNvSpPr>
          <p:nvPr/>
        </p:nvSpPr>
        <p:spPr bwMode="auto">
          <a:xfrm>
            <a:off x="6096001" y="2721929"/>
            <a:ext cx="11350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Strong</a:t>
            </a:r>
            <a:endParaRPr kumimoji="1" lang="en-US" altLang="zh-CN" sz="1400">
              <a:latin typeface="Times New Roman" panose="02020603050405020304" charset="0"/>
            </a:endParaRPr>
          </a:p>
        </p:txBody>
      </p:sp>
      <p:sp>
        <p:nvSpPr>
          <p:cNvPr id="75799" name="Rectangle 148"/>
          <p:cNvSpPr>
            <a:spLocks noChangeArrowheads="1"/>
          </p:cNvSpPr>
          <p:nvPr/>
        </p:nvSpPr>
        <p:spPr bwMode="auto">
          <a:xfrm>
            <a:off x="4960938" y="2721929"/>
            <a:ext cx="11350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High</a:t>
            </a:r>
            <a:endParaRPr kumimoji="1" lang="en-US" altLang="zh-CN" sz="1400">
              <a:latin typeface="Times New Roman" panose="02020603050405020304" charset="0"/>
            </a:endParaRPr>
          </a:p>
        </p:txBody>
      </p:sp>
      <p:sp>
        <p:nvSpPr>
          <p:cNvPr id="75800" name="Rectangle 147"/>
          <p:cNvSpPr>
            <a:spLocks noChangeArrowheads="1"/>
          </p:cNvSpPr>
          <p:nvPr/>
        </p:nvSpPr>
        <p:spPr bwMode="auto">
          <a:xfrm>
            <a:off x="3825876" y="2721929"/>
            <a:ext cx="11350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Warm</a:t>
            </a:r>
            <a:endParaRPr kumimoji="1" lang="en-US" altLang="zh-CN" sz="1400">
              <a:latin typeface="Times New Roman" panose="02020603050405020304" charset="0"/>
            </a:endParaRPr>
          </a:p>
        </p:txBody>
      </p:sp>
      <p:sp>
        <p:nvSpPr>
          <p:cNvPr id="75801" name="Rectangle 146"/>
          <p:cNvSpPr>
            <a:spLocks noChangeArrowheads="1"/>
          </p:cNvSpPr>
          <p:nvPr/>
        </p:nvSpPr>
        <p:spPr bwMode="auto">
          <a:xfrm>
            <a:off x="2690813" y="2721929"/>
            <a:ext cx="11350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Sunny</a:t>
            </a:r>
            <a:endParaRPr kumimoji="1" lang="en-US" altLang="zh-CN" sz="1400">
              <a:latin typeface="Times New Roman" panose="02020603050405020304" charset="0"/>
            </a:endParaRPr>
          </a:p>
        </p:txBody>
      </p:sp>
      <p:sp>
        <p:nvSpPr>
          <p:cNvPr id="75802" name="Rectangle 145"/>
          <p:cNvSpPr>
            <a:spLocks noChangeArrowheads="1"/>
          </p:cNvSpPr>
          <p:nvPr/>
        </p:nvSpPr>
        <p:spPr bwMode="auto">
          <a:xfrm>
            <a:off x="1555751" y="2721929"/>
            <a:ext cx="11350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2</a:t>
            </a:r>
            <a:endParaRPr kumimoji="1" lang="en-US" altLang="zh-CN" sz="1400">
              <a:latin typeface="Times New Roman" panose="02020603050405020304" charset="0"/>
            </a:endParaRPr>
          </a:p>
        </p:txBody>
      </p:sp>
      <p:sp>
        <p:nvSpPr>
          <p:cNvPr id="75803" name="Rectangle 144"/>
          <p:cNvSpPr>
            <a:spLocks noChangeArrowheads="1"/>
          </p:cNvSpPr>
          <p:nvPr/>
        </p:nvSpPr>
        <p:spPr bwMode="auto">
          <a:xfrm>
            <a:off x="9501188" y="2326640"/>
            <a:ext cx="1135062"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Yes</a:t>
            </a:r>
            <a:endParaRPr kumimoji="1" lang="en-US" altLang="zh-CN" sz="1400">
              <a:latin typeface="Times New Roman" panose="02020603050405020304" charset="0"/>
            </a:endParaRPr>
          </a:p>
        </p:txBody>
      </p:sp>
      <p:sp>
        <p:nvSpPr>
          <p:cNvPr id="75804" name="Rectangle 143"/>
          <p:cNvSpPr>
            <a:spLocks noChangeArrowheads="1"/>
          </p:cNvSpPr>
          <p:nvPr/>
        </p:nvSpPr>
        <p:spPr bwMode="auto">
          <a:xfrm>
            <a:off x="8366126" y="2326640"/>
            <a:ext cx="1135063"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Same</a:t>
            </a:r>
            <a:endParaRPr kumimoji="1" lang="en-US" altLang="zh-CN" sz="1400">
              <a:latin typeface="Times New Roman" panose="02020603050405020304" charset="0"/>
            </a:endParaRPr>
          </a:p>
        </p:txBody>
      </p:sp>
      <p:sp>
        <p:nvSpPr>
          <p:cNvPr id="75805" name="Rectangle 142"/>
          <p:cNvSpPr>
            <a:spLocks noChangeArrowheads="1"/>
          </p:cNvSpPr>
          <p:nvPr/>
        </p:nvSpPr>
        <p:spPr bwMode="auto">
          <a:xfrm>
            <a:off x="7231063" y="2326640"/>
            <a:ext cx="1135062"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Warm</a:t>
            </a:r>
            <a:endParaRPr kumimoji="1" lang="en-US" altLang="zh-CN" sz="1400">
              <a:latin typeface="Times New Roman" panose="02020603050405020304" charset="0"/>
            </a:endParaRPr>
          </a:p>
        </p:txBody>
      </p:sp>
      <p:sp>
        <p:nvSpPr>
          <p:cNvPr id="75806" name="Rectangle 141"/>
          <p:cNvSpPr>
            <a:spLocks noChangeArrowheads="1"/>
          </p:cNvSpPr>
          <p:nvPr/>
        </p:nvSpPr>
        <p:spPr bwMode="auto">
          <a:xfrm>
            <a:off x="6096001" y="2326640"/>
            <a:ext cx="1135063"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Strong</a:t>
            </a:r>
            <a:endParaRPr kumimoji="1" lang="en-US" altLang="zh-CN" sz="1400">
              <a:latin typeface="Times New Roman" panose="02020603050405020304" charset="0"/>
            </a:endParaRPr>
          </a:p>
        </p:txBody>
      </p:sp>
      <p:sp>
        <p:nvSpPr>
          <p:cNvPr id="75807" name="Rectangle 140"/>
          <p:cNvSpPr>
            <a:spLocks noChangeArrowheads="1"/>
          </p:cNvSpPr>
          <p:nvPr/>
        </p:nvSpPr>
        <p:spPr bwMode="auto">
          <a:xfrm>
            <a:off x="4960938" y="2326640"/>
            <a:ext cx="1135062"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dirty="0">
                <a:latin typeface="Times New Roman" panose="02020603050405020304" charset="0"/>
              </a:rPr>
              <a:t>Normal</a:t>
            </a:r>
            <a:endParaRPr kumimoji="1" lang="en-US" altLang="zh-CN" sz="1400" dirty="0">
              <a:latin typeface="Times New Roman" panose="02020603050405020304" charset="0"/>
            </a:endParaRPr>
          </a:p>
        </p:txBody>
      </p:sp>
      <p:sp>
        <p:nvSpPr>
          <p:cNvPr id="75808" name="Rectangle 139"/>
          <p:cNvSpPr>
            <a:spLocks noChangeArrowheads="1"/>
          </p:cNvSpPr>
          <p:nvPr/>
        </p:nvSpPr>
        <p:spPr bwMode="auto">
          <a:xfrm>
            <a:off x="3825876" y="2326640"/>
            <a:ext cx="1135063"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Warm</a:t>
            </a:r>
            <a:endParaRPr kumimoji="1" lang="en-US" altLang="zh-CN" sz="1400">
              <a:latin typeface="Times New Roman" panose="02020603050405020304" charset="0"/>
            </a:endParaRPr>
          </a:p>
        </p:txBody>
      </p:sp>
      <p:sp>
        <p:nvSpPr>
          <p:cNvPr id="75809" name="Rectangle 138"/>
          <p:cNvSpPr>
            <a:spLocks noChangeArrowheads="1"/>
          </p:cNvSpPr>
          <p:nvPr/>
        </p:nvSpPr>
        <p:spPr bwMode="auto">
          <a:xfrm>
            <a:off x="2690813" y="2326640"/>
            <a:ext cx="1135062"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Sunny</a:t>
            </a:r>
            <a:endParaRPr kumimoji="1" lang="en-US" altLang="zh-CN" sz="1400">
              <a:latin typeface="Times New Roman" panose="02020603050405020304" charset="0"/>
            </a:endParaRPr>
          </a:p>
        </p:txBody>
      </p:sp>
      <p:sp>
        <p:nvSpPr>
          <p:cNvPr id="75810" name="Rectangle 137"/>
          <p:cNvSpPr>
            <a:spLocks noChangeArrowheads="1"/>
          </p:cNvSpPr>
          <p:nvPr/>
        </p:nvSpPr>
        <p:spPr bwMode="auto">
          <a:xfrm>
            <a:off x="1555751" y="2326640"/>
            <a:ext cx="1135063"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1</a:t>
            </a:r>
            <a:endParaRPr kumimoji="1" lang="en-US" altLang="zh-CN" sz="1400">
              <a:latin typeface="Times New Roman" panose="02020603050405020304" charset="0"/>
            </a:endParaRPr>
          </a:p>
        </p:txBody>
      </p:sp>
      <p:sp>
        <p:nvSpPr>
          <p:cNvPr id="75811" name="Rectangle 136"/>
          <p:cNvSpPr>
            <a:spLocks noChangeArrowheads="1"/>
          </p:cNvSpPr>
          <p:nvPr/>
        </p:nvSpPr>
        <p:spPr bwMode="auto">
          <a:xfrm>
            <a:off x="9501188" y="1945640"/>
            <a:ext cx="12763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EnjoySport</a:t>
            </a:r>
            <a:endParaRPr kumimoji="1" lang="en-US" altLang="zh-CN" sz="1400">
              <a:latin typeface="Times New Roman" panose="02020603050405020304" charset="0"/>
            </a:endParaRPr>
          </a:p>
        </p:txBody>
      </p:sp>
      <p:sp>
        <p:nvSpPr>
          <p:cNvPr id="75812" name="Rectangle 135"/>
          <p:cNvSpPr>
            <a:spLocks noChangeArrowheads="1"/>
          </p:cNvSpPr>
          <p:nvPr/>
        </p:nvSpPr>
        <p:spPr bwMode="auto">
          <a:xfrm>
            <a:off x="8366126" y="1945640"/>
            <a:ext cx="113506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Forecast</a:t>
            </a:r>
            <a:endParaRPr kumimoji="1" lang="en-US" altLang="zh-CN" sz="1400">
              <a:latin typeface="Times New Roman" panose="02020603050405020304" charset="0"/>
            </a:endParaRPr>
          </a:p>
        </p:txBody>
      </p:sp>
      <p:sp>
        <p:nvSpPr>
          <p:cNvPr id="75813" name="Rectangle 134"/>
          <p:cNvSpPr>
            <a:spLocks noChangeArrowheads="1"/>
          </p:cNvSpPr>
          <p:nvPr/>
        </p:nvSpPr>
        <p:spPr bwMode="auto">
          <a:xfrm>
            <a:off x="7231063" y="1945640"/>
            <a:ext cx="1135062"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Water</a:t>
            </a:r>
            <a:endParaRPr kumimoji="1" lang="en-US" altLang="zh-CN" sz="1400">
              <a:latin typeface="Times New Roman" panose="02020603050405020304" charset="0"/>
            </a:endParaRPr>
          </a:p>
        </p:txBody>
      </p:sp>
      <p:sp>
        <p:nvSpPr>
          <p:cNvPr id="75814" name="Rectangle 133"/>
          <p:cNvSpPr>
            <a:spLocks noChangeArrowheads="1"/>
          </p:cNvSpPr>
          <p:nvPr/>
        </p:nvSpPr>
        <p:spPr bwMode="auto">
          <a:xfrm>
            <a:off x="6096001" y="1945640"/>
            <a:ext cx="113506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Wind</a:t>
            </a:r>
            <a:endParaRPr kumimoji="1" lang="en-US" altLang="zh-CN" sz="1400">
              <a:latin typeface="Times New Roman" panose="02020603050405020304" charset="0"/>
            </a:endParaRPr>
          </a:p>
        </p:txBody>
      </p:sp>
      <p:sp>
        <p:nvSpPr>
          <p:cNvPr id="75815" name="Rectangle 132"/>
          <p:cNvSpPr>
            <a:spLocks noChangeArrowheads="1"/>
          </p:cNvSpPr>
          <p:nvPr/>
        </p:nvSpPr>
        <p:spPr bwMode="auto">
          <a:xfrm>
            <a:off x="4960938" y="1945640"/>
            <a:ext cx="1135062"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Humidity</a:t>
            </a:r>
            <a:endParaRPr kumimoji="1" lang="en-US" altLang="zh-CN" sz="1400">
              <a:latin typeface="Times New Roman" panose="02020603050405020304" charset="0"/>
            </a:endParaRPr>
          </a:p>
        </p:txBody>
      </p:sp>
      <p:sp>
        <p:nvSpPr>
          <p:cNvPr id="75816" name="Rectangle 131"/>
          <p:cNvSpPr>
            <a:spLocks noChangeArrowheads="1"/>
          </p:cNvSpPr>
          <p:nvPr/>
        </p:nvSpPr>
        <p:spPr bwMode="auto">
          <a:xfrm>
            <a:off x="3825876" y="1945640"/>
            <a:ext cx="113506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AirTemp</a:t>
            </a:r>
            <a:endParaRPr kumimoji="1" lang="en-US" altLang="zh-CN" sz="1400">
              <a:latin typeface="Times New Roman" panose="02020603050405020304" charset="0"/>
            </a:endParaRPr>
          </a:p>
        </p:txBody>
      </p:sp>
      <p:sp>
        <p:nvSpPr>
          <p:cNvPr id="75817" name="Rectangle 130"/>
          <p:cNvSpPr>
            <a:spLocks noChangeArrowheads="1"/>
          </p:cNvSpPr>
          <p:nvPr/>
        </p:nvSpPr>
        <p:spPr bwMode="auto">
          <a:xfrm>
            <a:off x="2690813" y="1945640"/>
            <a:ext cx="1135062"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Sky</a:t>
            </a:r>
            <a:endParaRPr kumimoji="1" lang="en-US" altLang="zh-CN" sz="1400">
              <a:latin typeface="Times New Roman" panose="02020603050405020304" charset="0"/>
            </a:endParaRPr>
          </a:p>
        </p:txBody>
      </p:sp>
      <p:sp>
        <p:nvSpPr>
          <p:cNvPr id="75818" name="Rectangle 129"/>
          <p:cNvSpPr>
            <a:spLocks noChangeArrowheads="1"/>
          </p:cNvSpPr>
          <p:nvPr/>
        </p:nvSpPr>
        <p:spPr bwMode="auto">
          <a:xfrm>
            <a:off x="1555751" y="1945640"/>
            <a:ext cx="113506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Example</a:t>
            </a:r>
            <a:endParaRPr kumimoji="1" lang="en-US" altLang="zh-CN" sz="1400">
              <a:latin typeface="Times New Roman" panose="02020603050405020304" charset="0"/>
            </a:endParaRPr>
          </a:p>
        </p:txBody>
      </p:sp>
      <p:sp>
        <p:nvSpPr>
          <p:cNvPr id="75819" name="Line 169"/>
          <p:cNvSpPr>
            <a:spLocks noChangeShapeType="1"/>
          </p:cNvSpPr>
          <p:nvPr/>
        </p:nvSpPr>
        <p:spPr bwMode="auto">
          <a:xfrm>
            <a:off x="1555750" y="1945640"/>
            <a:ext cx="9080500" cy="0"/>
          </a:xfrm>
          <a:prstGeom prst="line">
            <a:avLst/>
          </a:prstGeom>
          <a:noFill/>
          <a:ln w="28575" cap="sq">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5820" name="Line 170"/>
          <p:cNvSpPr>
            <a:spLocks noChangeShapeType="1"/>
          </p:cNvSpPr>
          <p:nvPr/>
        </p:nvSpPr>
        <p:spPr bwMode="auto">
          <a:xfrm>
            <a:off x="1555750" y="2326640"/>
            <a:ext cx="9080500"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5821" name="Line 174"/>
          <p:cNvSpPr>
            <a:spLocks noChangeShapeType="1"/>
          </p:cNvSpPr>
          <p:nvPr/>
        </p:nvSpPr>
        <p:spPr bwMode="auto">
          <a:xfrm>
            <a:off x="1555750" y="3910965"/>
            <a:ext cx="9080500" cy="0"/>
          </a:xfrm>
          <a:prstGeom prst="line">
            <a:avLst/>
          </a:prstGeom>
          <a:noFill/>
          <a:ln w="28575" cap="sq">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mc:AlternateContent xmlns:mc="http://schemas.openxmlformats.org/markup-compatibility/2006">
        <mc:Choice xmlns:a14="http://schemas.microsoft.com/office/drawing/2010/main" Requires="a14">
          <p:sp>
            <p:nvSpPr>
              <p:cNvPr id="7" name="文本框 6"/>
              <p:cNvSpPr txBox="1"/>
              <p:nvPr/>
            </p:nvSpPr>
            <p:spPr>
              <a:xfrm>
                <a:off x="1555750" y="4177665"/>
                <a:ext cx="9080500" cy="1945640"/>
              </a:xfrm>
              <a:prstGeom prst="rect">
                <a:avLst/>
              </a:prstGeom>
              <a:noFill/>
            </p:spPr>
            <p:txBody>
              <a:bodyPr wrap="square" rtlCol="0" anchor="t">
                <a:spAutoFit/>
              </a:bodyPr>
              <a:lstStyle/>
              <a:p>
                <a:r>
                  <a:rPr lang="zh-CN" altLang="en-US"/>
                  <a:t>初始化最特殊假设：</a:t>
                </a:r>
                <a:r>
                  <a:rPr lang="en-US" altLang="zh-CN"/>
                  <a:t>h</a:t>
                </a:r>
                <a14:m>
                  <m:oMath xmlns:m="http://schemas.openxmlformats.org/officeDocument/2006/math">
                    <m:r>
                      <a:rPr lang="en-US" altLang="zh-CN" i="1" dirty="0" smtClean="0">
                        <a:latin typeface="Cambria Math" panose="02040503050406030204" pitchFamily="18" charset="0"/>
                        <a:sym typeface="Symbol" panose="05050102010706020507" pitchFamily="18" charset="2"/>
                      </a:rPr>
                      <m:t> </m:t>
                    </m:r>
                  </m:oMath>
                </a14:m>
                <a:r>
                  <a:rPr lang="en-US" altLang="zh-CN"/>
                  <a:t> &lt;</a:t>
                </a:r>
                <a14:m>
                  <m:oMath xmlns:m="http://schemas.openxmlformats.org/officeDocument/2006/math">
                    <m:r>
                      <a:rPr lang="en-US" altLang="zh-CN" i="1" dirty="0" smtClean="0">
                        <a:latin typeface="Cambria Math" panose="02040503050406030204" pitchFamily="18" charset="0"/>
                        <a:sym typeface="Symbol" panose="05050102010706020507" pitchFamily="18" charset="2"/>
                      </a:rPr>
                      <m:t>, , , , , </m:t>
                    </m:r>
                  </m:oMath>
                </a14:m>
                <a:r>
                  <a:rPr lang="en-US" altLang="zh-CN"/>
                  <a:t>&gt;</a:t>
                </a:r>
                <a:endParaRPr lang="en-US" altLang="zh-CN"/>
              </a:p>
              <a:p>
                <a:pPr>
                  <a:lnSpc>
                    <a:spcPct val="20000"/>
                  </a:lnSpc>
                </a:pPr>
                <a:endParaRPr lang="zh-CN" altLang="en-US"/>
              </a:p>
              <a:p>
                <a:r>
                  <a:rPr lang="zh-CN" altLang="en-US"/>
                  <a:t>输入正样例</a:t>
                </a:r>
                <a:r>
                  <a:rPr lang="en-US" altLang="zh-CN"/>
                  <a:t>1</a:t>
                </a:r>
                <a:r>
                  <a:rPr lang="zh-CN" altLang="en-US"/>
                  <a:t>，一般化假设：</a:t>
                </a:r>
                <a:r>
                  <a:rPr lang="en-US" altLang="zh-CN"/>
                  <a:t>h </a:t>
                </a:r>
                <a14:m>
                  <m:oMath xmlns:m="http://schemas.openxmlformats.org/officeDocument/2006/math">
                    <m:r>
                      <a:rPr lang="en-US" altLang="zh-CN" i="1" dirty="0" smtClean="0">
                        <a:latin typeface="Cambria Math" panose="02040503050406030204" pitchFamily="18" charset="0"/>
                        <a:sym typeface="Symbol" panose="05050102010706020507" pitchFamily="18" charset="2"/>
                      </a:rPr>
                      <m:t></m:t>
                    </m:r>
                  </m:oMath>
                </a14:m>
                <a:r>
                  <a:rPr lang="en-US" altLang="zh-CN"/>
                  <a:t> </a:t>
                </a:r>
                <a:r>
                  <a:rPr lang="zh-CN" altLang="en-US"/>
                  <a:t>&lt;Sunny, Warm, Normal, Strong, Warm, Same&gt;</a:t>
                </a:r>
                <a:endParaRPr lang="zh-CN" altLang="en-US"/>
              </a:p>
              <a:p>
                <a:pPr>
                  <a:lnSpc>
                    <a:spcPct val="20000"/>
                  </a:lnSpc>
                </a:pPr>
                <a:endParaRPr lang="zh-CN" altLang="en-US"/>
              </a:p>
              <a:p>
                <a:r>
                  <a:rPr lang="zh-CN" altLang="en-US"/>
                  <a:t>输入正样例</a:t>
                </a:r>
                <a:r>
                  <a:rPr lang="en-US" altLang="zh-CN"/>
                  <a:t>2</a:t>
                </a:r>
                <a:r>
                  <a:rPr lang="zh-CN" altLang="en-US"/>
                  <a:t>，一般化假设：</a:t>
                </a:r>
                <a:r>
                  <a:rPr lang="en-US" altLang="zh-CN"/>
                  <a:t>h </a:t>
                </a:r>
                <a14:m>
                  <m:oMath xmlns:m="http://schemas.openxmlformats.org/officeDocument/2006/math">
                    <m:r>
                      <a:rPr lang="en-US" altLang="zh-CN" i="1" dirty="0" smtClean="0">
                        <a:latin typeface="Cambria Math" panose="02040503050406030204" pitchFamily="18" charset="0"/>
                        <a:sym typeface="Symbol" panose="05050102010706020507" pitchFamily="18" charset="2"/>
                      </a:rPr>
                      <m:t></m:t>
                    </m:r>
                  </m:oMath>
                </a14:m>
                <a:r>
                  <a:rPr lang="en-US" altLang="zh-CN"/>
                  <a:t> </a:t>
                </a:r>
                <a:r>
                  <a:rPr lang="zh-CN" altLang="en-US"/>
                  <a:t>&lt;Sunny, Warm, ?, Strong, Warm, Same&gt;</a:t>
                </a:r>
                <a:endParaRPr lang="zh-CN" altLang="en-US"/>
              </a:p>
              <a:p>
                <a:pPr>
                  <a:lnSpc>
                    <a:spcPct val="20000"/>
                  </a:lnSpc>
                </a:pPr>
                <a:endParaRPr lang="zh-CN" altLang="en-US"/>
              </a:p>
              <a:p>
                <a:r>
                  <a:rPr lang="zh-CN" altLang="en-US"/>
                  <a:t>输入反样例</a:t>
                </a:r>
                <a:r>
                  <a:rPr lang="en-US" altLang="zh-CN"/>
                  <a:t>3</a:t>
                </a:r>
                <a:r>
                  <a:rPr lang="zh-CN" altLang="en-US"/>
                  <a:t>，假设</a:t>
                </a:r>
                <a:r>
                  <a:rPr lang="en-US" altLang="zh-CN"/>
                  <a:t>h</a:t>
                </a:r>
                <a:r>
                  <a:rPr lang="zh-CN" altLang="en-US"/>
                  <a:t>保持不变（</a:t>
                </a:r>
                <a:r>
                  <a:rPr lang="en-US" altLang="zh-CN"/>
                  <a:t>h</a:t>
                </a:r>
                <a:r>
                  <a:rPr lang="zh-CN" altLang="en-US"/>
                  <a:t>已经能够正确地识别反例）</a:t>
                </a:r>
                <a:endParaRPr lang="zh-CN" altLang="en-US"/>
              </a:p>
              <a:p>
                <a:pPr>
                  <a:lnSpc>
                    <a:spcPct val="20000"/>
                  </a:lnSpc>
                </a:pPr>
                <a:endParaRPr lang="zh-CN" altLang="en-US"/>
              </a:p>
              <a:p>
                <a:r>
                  <a:rPr lang="zh-CN" altLang="en-US">
                    <a:sym typeface="+mn-ea"/>
                  </a:rPr>
                  <a:t>输入正样例</a:t>
                </a:r>
                <a:r>
                  <a:rPr lang="en-US" altLang="zh-CN">
                    <a:sym typeface="+mn-ea"/>
                  </a:rPr>
                  <a:t>4</a:t>
                </a:r>
                <a:r>
                  <a:rPr lang="zh-CN" altLang="en-US">
                    <a:sym typeface="+mn-ea"/>
                  </a:rPr>
                  <a:t>，一般化假设：</a:t>
                </a:r>
                <a:r>
                  <a:rPr lang="en-US" altLang="zh-CN">
                    <a:sym typeface="+mn-ea"/>
                  </a:rPr>
                  <a:t>h </a:t>
                </a:r>
                <a14:m>
                  <m:oMath xmlns:m="http://schemas.openxmlformats.org/officeDocument/2006/math">
                    <m:r>
                      <a:rPr lang="en-US" altLang="zh-CN" i="1" dirty="0" smtClean="0">
                        <a:latin typeface="Cambria Math" panose="02040503050406030204" pitchFamily="18" charset="0"/>
                        <a:sym typeface="Symbol" panose="05050102010706020507" pitchFamily="18" charset="2"/>
                      </a:rPr>
                      <m:t></m:t>
                    </m:r>
                  </m:oMath>
                </a14:m>
                <a:r>
                  <a:rPr lang="en-US" altLang="zh-CN"/>
                  <a:t> </a:t>
                </a:r>
                <a:r>
                  <a:rPr lang="zh-CN" altLang="en-US"/>
                  <a:t>&lt;Sunny, Warm, ?, Strong, ?, ?&gt;</a:t>
                </a:r>
                <a:endParaRPr lang="zh-CN" altLang="en-US"/>
              </a:p>
            </p:txBody>
          </p:sp>
        </mc:Choice>
        <mc:Fallback>
          <p:sp>
            <p:nvSpPr>
              <p:cNvPr id="7" name="文本框 6"/>
              <p:cNvSpPr txBox="1">
                <a:spLocks noRot="1" noChangeAspect="1" noMove="1" noResize="1" noEditPoints="1" noAdjustHandles="1" noChangeArrowheads="1" noChangeShapeType="1" noTextEdit="1"/>
              </p:cNvSpPr>
              <p:nvPr/>
            </p:nvSpPr>
            <p:spPr>
              <a:xfrm>
                <a:off x="1555750" y="4177665"/>
                <a:ext cx="9080500" cy="1945640"/>
              </a:xfrm>
              <a:prstGeom prst="rect">
                <a:avLst/>
              </a:prstGeom>
              <a:blipFill rotWithShape="1">
                <a:blip r:embed="rId1"/>
                <a:stretch>
                  <a:fillRect/>
                </a:stretch>
              </a:blipFill>
            </p:spPr>
            <p:txBody>
              <a:bodyPr/>
              <a:lstStyle/>
              <a:p>
                <a:r>
                  <a:rPr lang="zh-CN" altLang="en-US">
                    <a:noFill/>
                  </a:rPr>
                  <a:t> </a:t>
                </a:r>
              </a:p>
            </p:txBody>
          </p:sp>
        </mc:Fallback>
      </mc:AlternateContent>
      <p:sp>
        <p:nvSpPr>
          <p:cNvPr id="8" name="文本框 7"/>
          <p:cNvSpPr txBox="1"/>
          <p:nvPr/>
        </p:nvSpPr>
        <p:spPr>
          <a:xfrm>
            <a:off x="419735" y="1043305"/>
            <a:ext cx="8730615" cy="521970"/>
          </a:xfrm>
          <a:prstGeom prst="rect">
            <a:avLst/>
          </a:prstGeom>
          <a:noFill/>
        </p:spPr>
        <p:txBody>
          <a:bodyPr wrap="square" rtlCol="0">
            <a:spAutoFit/>
          </a:bodyPr>
          <a:lstStyle/>
          <a:p>
            <a:r>
              <a:rPr lang="zh-CN" altLang="en-US" sz="2400">
                <a:solidFill>
                  <a:schemeClr val="accent5">
                    <a:lumMod val="75000"/>
                  </a:schemeClr>
                </a:solidFill>
              </a:rPr>
              <a:t>运用</a:t>
            </a:r>
            <a:r>
              <a:rPr lang="en-US" altLang="zh-CN" sz="2800">
                <a:solidFill>
                  <a:schemeClr val="accent5">
                    <a:lumMod val="75000"/>
                  </a:schemeClr>
                </a:solidFill>
              </a:rPr>
              <a:t>Find-S</a:t>
            </a:r>
            <a:r>
              <a:rPr lang="zh-CN" altLang="en-US" sz="2400">
                <a:solidFill>
                  <a:schemeClr val="accent5">
                    <a:lumMod val="75000"/>
                  </a:schemeClr>
                </a:solidFill>
              </a:rPr>
              <a:t>算法解决</a:t>
            </a:r>
            <a:r>
              <a:rPr lang="en-US" altLang="zh-CN" sz="2400">
                <a:solidFill>
                  <a:schemeClr val="accent5">
                    <a:lumMod val="75000"/>
                  </a:schemeClr>
                </a:solidFill>
              </a:rPr>
              <a:t>Emma</a:t>
            </a:r>
            <a:r>
              <a:rPr lang="zh-CN" altLang="en-US" sz="2400">
                <a:solidFill>
                  <a:schemeClr val="accent5">
                    <a:lumMod val="75000"/>
                  </a:schemeClr>
                </a:solidFill>
              </a:rPr>
              <a:t>是否享受水上运动问题</a:t>
            </a:r>
            <a:endParaRPr lang="zh-CN" altLang="en-US" sz="2400">
              <a:solidFill>
                <a:schemeClr val="accent5">
                  <a:lumMod val="75000"/>
                </a:schemeClr>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dirty="0">
              <a:latin typeface="Times New Roman" panose="02020603050405020304" charset="0"/>
              <a:cs typeface="Times New Roman" panose="02020603050405020304" charset="0"/>
            </a:endParaRPr>
          </a:p>
        </p:txBody>
      </p:sp>
      <p:sp>
        <p:nvSpPr>
          <p:cNvPr id="6" name="文本框 5"/>
          <p:cNvSpPr txBox="1"/>
          <p:nvPr/>
        </p:nvSpPr>
        <p:spPr>
          <a:xfrm>
            <a:off x="419735" y="291465"/>
            <a:ext cx="4638040" cy="583565"/>
          </a:xfrm>
          <a:prstGeom prst="rect">
            <a:avLst/>
          </a:prstGeom>
          <a:noFill/>
        </p:spPr>
        <p:txBody>
          <a:bodyPr wrap="square" rtlCol="0">
            <a:spAutoFit/>
            <a:scene3d>
              <a:camera prst="orthographicFront"/>
              <a:lightRig rig="threePt" dir="t"/>
            </a:scene3d>
          </a:bodyPr>
          <a:lstStyle/>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概念学习算法：</a:t>
            </a:r>
            <a:r>
              <a:rPr lang="en-US" altLang="zh-CN" sz="3200" b="1" spc="200" dirty="0">
                <a:solidFill>
                  <a:schemeClr val="accent1"/>
                </a:solidFill>
                <a:uFillTx/>
                <a:latin typeface="微软雅黑 Light" panose="020B0502040204020203" pitchFamily="34" charset="-122"/>
                <a:ea typeface="微软雅黑" panose="020B0503020204020204" charset="-122"/>
                <a:cs typeface="+mj-cs"/>
              </a:rPr>
              <a:t>Find-S</a:t>
            </a:r>
            <a:endParaRPr lang="en-US" altLang="zh-CN" sz="3200" b="1" spc="200" dirty="0">
              <a:solidFill>
                <a:schemeClr val="accent1"/>
              </a:solidFill>
              <a:uFillTx/>
              <a:latin typeface="微软雅黑 Light" panose="020B0502040204020203" pitchFamily="34" charset="-122"/>
              <a:ea typeface="微软雅黑" panose="020B0503020204020204" charset="-122"/>
              <a:cs typeface="+mj-cs"/>
            </a:endParaRPr>
          </a:p>
        </p:txBody>
      </p:sp>
      <p:pic>
        <p:nvPicPr>
          <p:cNvPr id="7" name="Picture 4"/>
          <p:cNvPicPr>
            <a:picLocks noChangeAspect="1"/>
          </p:cNvPicPr>
          <p:nvPr/>
        </p:nvPicPr>
        <p:blipFill rotWithShape="1">
          <a:blip r:embed="rId1"/>
          <a:srcRect r="514"/>
          <a:stretch>
            <a:fillRect/>
          </a:stretch>
        </p:blipFill>
        <p:spPr>
          <a:xfrm>
            <a:off x="2040890" y="1026160"/>
            <a:ext cx="8110855" cy="542417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dirty="0">
              <a:latin typeface="Times New Roman" panose="02020603050405020304" charset="0"/>
              <a:cs typeface="Times New Roman" panose="02020603050405020304" charset="0"/>
            </a:endParaRPr>
          </a:p>
        </p:txBody>
      </p:sp>
      <p:sp>
        <p:nvSpPr>
          <p:cNvPr id="4" name="文本框 3"/>
          <p:cNvSpPr txBox="1"/>
          <p:nvPr/>
        </p:nvSpPr>
        <p:spPr>
          <a:xfrm>
            <a:off x="529590" y="1522730"/>
            <a:ext cx="10800715" cy="1076325"/>
          </a:xfrm>
          <a:prstGeom prst="rect">
            <a:avLst/>
          </a:prstGeom>
          <a:noFill/>
        </p:spPr>
        <p:txBody>
          <a:bodyPr wrap="square" rtlCol="0" anchor="t">
            <a:spAutoFit/>
          </a:bodyPr>
          <a:lstStyle/>
          <a:p>
            <a:r>
              <a:rPr lang="zh-CN" altLang="en-US" sz="2400"/>
              <a:t>Find-S</a:t>
            </a:r>
            <a:r>
              <a:rPr lang="zh-CN" altLang="en-US" sz="2000"/>
              <a:t>算法演示了一种利用</a:t>
            </a:r>
            <a:r>
              <a:rPr lang="zh-CN" altLang="en-US" sz="2400"/>
              <a:t>more_general_than</a:t>
            </a:r>
            <a:r>
              <a:rPr lang="zh-CN" altLang="en-US" sz="2000"/>
              <a:t>偏序来搜索假设空间的方法，沿着偏序链从较特殊的假设逐渐转移到较一般的假设。因此，每一步得到的假设都是在那一点上与训练样例一致的最特殊的假设</a:t>
            </a:r>
            <a:endParaRPr lang="zh-CN" altLang="en-US" sz="2000"/>
          </a:p>
        </p:txBody>
      </p:sp>
      <p:sp>
        <p:nvSpPr>
          <p:cNvPr id="6" name="文本框 5"/>
          <p:cNvSpPr txBox="1"/>
          <p:nvPr/>
        </p:nvSpPr>
        <p:spPr>
          <a:xfrm>
            <a:off x="419735" y="291465"/>
            <a:ext cx="4638040" cy="583565"/>
          </a:xfrm>
          <a:prstGeom prst="rect">
            <a:avLst/>
          </a:prstGeom>
          <a:noFill/>
        </p:spPr>
        <p:txBody>
          <a:bodyPr wrap="square" rtlCol="0">
            <a:spAutoFit/>
            <a:scene3d>
              <a:camera prst="orthographicFront"/>
              <a:lightRig rig="threePt" dir="t"/>
            </a:scene3d>
          </a:bodyPr>
          <a:lstStyle/>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概念学习算法：</a:t>
            </a:r>
            <a:r>
              <a:rPr lang="en-US" altLang="zh-CN" sz="3200" b="1" spc="200" dirty="0">
                <a:solidFill>
                  <a:schemeClr val="accent1"/>
                </a:solidFill>
                <a:uFillTx/>
                <a:latin typeface="微软雅黑 Light" panose="020B0502040204020203" pitchFamily="34" charset="-122"/>
                <a:ea typeface="微软雅黑" panose="020B0503020204020204" charset="-122"/>
                <a:cs typeface="+mj-cs"/>
              </a:rPr>
              <a:t>Find-S</a:t>
            </a:r>
            <a:endParaRPr lang="en-US" altLang="zh-CN" sz="3200" b="1" spc="200" dirty="0">
              <a:solidFill>
                <a:schemeClr val="accent1"/>
              </a:solidFill>
              <a:uFillTx/>
              <a:latin typeface="微软雅黑 Light" panose="020B0502040204020203" pitchFamily="34" charset="-122"/>
              <a:ea typeface="微软雅黑" panose="020B0503020204020204" charset="-122"/>
              <a:cs typeface="+mj-cs"/>
            </a:endParaRPr>
          </a:p>
        </p:txBody>
      </p:sp>
      <p:sp>
        <p:nvSpPr>
          <p:cNvPr id="7" name="文本框 6"/>
          <p:cNvSpPr txBox="1"/>
          <p:nvPr/>
        </p:nvSpPr>
        <p:spPr>
          <a:xfrm>
            <a:off x="768985" y="2821940"/>
            <a:ext cx="10088245" cy="1782445"/>
          </a:xfrm>
          <a:prstGeom prst="rect">
            <a:avLst/>
          </a:prstGeom>
          <a:noFill/>
        </p:spPr>
        <p:txBody>
          <a:bodyPr wrap="square" rtlCol="0" anchor="t">
            <a:spAutoFit/>
          </a:bodyPr>
          <a:lstStyle/>
          <a:p>
            <a:r>
              <a:rPr lang="zh-CN" altLang="en-US">
                <a:solidFill>
                  <a:schemeClr val="accent5">
                    <a:lumMod val="75000"/>
                  </a:schemeClr>
                </a:solidFill>
              </a:rPr>
              <a:t>存在的问题：</a:t>
            </a:r>
            <a:endParaRPr lang="zh-CN" altLang="en-US">
              <a:solidFill>
                <a:schemeClr val="accent5">
                  <a:lumMod val="75000"/>
                </a:schemeClr>
              </a:solidFill>
            </a:endParaRPr>
          </a:p>
          <a:p>
            <a:pPr>
              <a:lnSpc>
                <a:spcPct val="30000"/>
              </a:lnSpc>
            </a:pPr>
            <a:endParaRPr lang="zh-CN" altLang="en-US">
              <a:solidFill>
                <a:schemeClr val="accent5">
                  <a:lumMod val="75000"/>
                </a:schemeClr>
              </a:solidFill>
            </a:endParaRPr>
          </a:p>
          <a:p>
            <a:r>
              <a:rPr lang="en-US" altLang="zh-CN"/>
              <a:t>--</a:t>
            </a:r>
            <a:r>
              <a:rPr lang="zh-CN" altLang="en-US"/>
              <a:t>收敛性问题，</a:t>
            </a:r>
            <a:r>
              <a:rPr lang="en-US" altLang="zh-CN" sz="2000"/>
              <a:t>Find-S</a:t>
            </a:r>
            <a:r>
              <a:rPr lang="zh-CN" altLang="en-US"/>
              <a:t>算法无法确定是否拟合到目标概念</a:t>
            </a:r>
            <a:endParaRPr lang="zh-CN" altLang="en-US"/>
          </a:p>
          <a:p>
            <a:pPr>
              <a:lnSpc>
                <a:spcPct val="20000"/>
              </a:lnSpc>
            </a:pPr>
            <a:endParaRPr lang="zh-CN" altLang="en-US"/>
          </a:p>
          <a:p>
            <a:r>
              <a:rPr lang="en-US" altLang="zh-CN"/>
              <a:t>--</a:t>
            </a:r>
            <a:r>
              <a:rPr lang="en-US" altLang="zh-CN">
                <a:sym typeface="+mn-ea"/>
              </a:rPr>
              <a:t>Find-S</a:t>
            </a:r>
            <a:r>
              <a:rPr lang="zh-CN" altLang="en-US">
                <a:sym typeface="+mn-ea"/>
              </a:rPr>
              <a:t>算法找到的是满足训练样例集</a:t>
            </a:r>
            <a:r>
              <a:rPr lang="en-US" altLang="zh-CN">
                <a:sym typeface="+mn-ea"/>
              </a:rPr>
              <a:t>D</a:t>
            </a:r>
            <a:r>
              <a:rPr lang="zh-CN" altLang="en-US">
                <a:sym typeface="+mn-ea"/>
              </a:rPr>
              <a:t>的最特殊假设</a:t>
            </a:r>
            <a:r>
              <a:rPr lang="en-US" altLang="zh-CN">
                <a:sym typeface="+mn-ea"/>
              </a:rPr>
              <a:t>h</a:t>
            </a:r>
            <a:r>
              <a:rPr lang="zh-CN" altLang="en-US">
                <a:sym typeface="+mn-ea"/>
              </a:rPr>
              <a:t>，而没有考虑满足条件的最一般假设和介于二</a:t>
            </a:r>
            <a:endParaRPr lang="zh-CN" altLang="en-US">
              <a:sym typeface="+mn-ea"/>
            </a:endParaRPr>
          </a:p>
          <a:p>
            <a:r>
              <a:rPr lang="zh-CN" altLang="en-US">
                <a:sym typeface="+mn-ea"/>
              </a:rPr>
              <a:t> </a:t>
            </a:r>
            <a:r>
              <a:rPr lang="en-US" altLang="zh-CN">
                <a:sym typeface="+mn-ea"/>
              </a:rPr>
              <a:t>  </a:t>
            </a:r>
            <a:r>
              <a:rPr lang="zh-CN" altLang="en-US">
                <a:sym typeface="+mn-ea"/>
              </a:rPr>
              <a:t>者之间的其他假设</a:t>
            </a:r>
            <a:endParaRPr lang="zh-CN" altLang="en-US"/>
          </a:p>
          <a:p>
            <a:pPr>
              <a:lnSpc>
                <a:spcPct val="20000"/>
              </a:lnSpc>
            </a:pPr>
            <a:endParaRPr lang="zh-CN" altLang="en-US"/>
          </a:p>
          <a:p>
            <a:r>
              <a:rPr lang="en-US" altLang="zh-CN"/>
              <a:t>--</a:t>
            </a:r>
            <a:r>
              <a:rPr lang="zh-CN" altLang="en-US"/>
              <a:t>算法健壮性较差，当训练样例集</a:t>
            </a:r>
            <a:r>
              <a:rPr lang="en-US" altLang="zh-CN"/>
              <a:t>D</a:t>
            </a:r>
            <a:r>
              <a:rPr lang="zh-CN" altLang="en-US"/>
              <a:t>中出现错误样例时，会严重破坏算法</a:t>
            </a:r>
            <a:endParaRPr lang="zh-CN" altLang="en-US"/>
          </a:p>
          <a:p>
            <a:pPr>
              <a:lnSpc>
                <a:spcPct val="30000"/>
              </a:lnSpc>
            </a:pPr>
            <a:endParaRPr lang="zh-CN"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dirty="0">
              <a:latin typeface="Times New Roman" panose="02020603050405020304" charset="0"/>
              <a:cs typeface="Times New Roman" panose="02020603050405020304" charset="0"/>
            </a:endParaRPr>
          </a:p>
        </p:txBody>
      </p:sp>
      <p:sp>
        <p:nvSpPr>
          <p:cNvPr id="6" name="文本框 5"/>
          <p:cNvSpPr txBox="1"/>
          <p:nvPr/>
        </p:nvSpPr>
        <p:spPr>
          <a:xfrm>
            <a:off x="419735" y="291465"/>
            <a:ext cx="8637905" cy="583565"/>
          </a:xfrm>
          <a:prstGeom prst="rect">
            <a:avLst/>
          </a:prstGeom>
          <a:noFill/>
        </p:spPr>
        <p:txBody>
          <a:bodyPr wrap="square" rtlCol="0">
            <a:spAutoFit/>
            <a:scene3d>
              <a:camera prst="orthographicFront"/>
              <a:lightRig rig="threePt" dir="t"/>
            </a:scene3d>
          </a:bodyPr>
          <a:lstStyle/>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概念学习算法：</a:t>
            </a:r>
            <a:r>
              <a:rPr lang="zh-CN" altLang="en-US" sz="3200" b="1" spc="200" dirty="0">
                <a:solidFill>
                  <a:schemeClr val="accent1"/>
                </a:solidFill>
                <a:uFillTx/>
                <a:latin typeface="微软雅黑 Light" panose="020B0502040204020203" pitchFamily="34" charset="-122"/>
                <a:ea typeface="微软雅黑" panose="020B0503020204020204" charset="-122"/>
                <a:cs typeface="+mj-cs"/>
                <a:sym typeface="+mn-ea"/>
              </a:rPr>
              <a:t>候选消除算法及</a:t>
            </a:r>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变型空间</a:t>
            </a:r>
            <a:endParaRPr lang="en-US" altLang="zh-CN" sz="3200" b="1" spc="200" dirty="0">
              <a:solidFill>
                <a:schemeClr val="accent1"/>
              </a:solidFill>
              <a:uFillTx/>
              <a:latin typeface="微软雅黑 Light" panose="020B0502040204020203" pitchFamily="34" charset="-122"/>
              <a:ea typeface="微软雅黑" panose="020B0503020204020204" charset="-122"/>
              <a:cs typeface="+mj-cs"/>
            </a:endParaRPr>
          </a:p>
        </p:txBody>
      </p:sp>
      <p:sp>
        <p:nvSpPr>
          <p:cNvPr id="4" name="矩形 3"/>
          <p:cNvSpPr/>
          <p:nvPr/>
        </p:nvSpPr>
        <p:spPr>
          <a:xfrm>
            <a:off x="396042" y="1055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dirty="0">
              <a:latin typeface="Times New Roman" panose="02020603050405020304" charset="0"/>
              <a:cs typeface="Times New Roman" panose="02020603050405020304" charset="0"/>
            </a:endParaRPr>
          </a:p>
        </p:txBody>
      </p:sp>
      <p:sp>
        <p:nvSpPr>
          <p:cNvPr id="8" name="文本框 7"/>
          <p:cNvSpPr txBox="1"/>
          <p:nvPr/>
        </p:nvSpPr>
        <p:spPr>
          <a:xfrm>
            <a:off x="269240" y="1195070"/>
            <a:ext cx="11481435" cy="583565"/>
          </a:xfrm>
          <a:prstGeom prst="rect">
            <a:avLst/>
          </a:prstGeom>
          <a:noFill/>
        </p:spPr>
        <p:txBody>
          <a:bodyPr wrap="square" rtlCol="0">
            <a:spAutoFit/>
          </a:bodyPr>
          <a:lstStyle/>
          <a:p>
            <a:r>
              <a:rPr lang="zh-CN" altLang="en-US" sz="3200">
                <a:solidFill>
                  <a:schemeClr val="accent5">
                    <a:lumMod val="75000"/>
                  </a:schemeClr>
                </a:solidFill>
              </a:rPr>
              <a:t>变型空间和候选消除算法</a:t>
            </a:r>
            <a:endParaRPr lang="zh-CN" altLang="en-US" sz="3200">
              <a:solidFill>
                <a:schemeClr val="accent5">
                  <a:lumMod val="75000"/>
                </a:schemeClr>
              </a:solidFill>
            </a:endParaRPr>
          </a:p>
        </p:txBody>
      </p:sp>
      <p:sp>
        <p:nvSpPr>
          <p:cNvPr id="5" name="文本框 4"/>
          <p:cNvSpPr txBox="1"/>
          <p:nvPr/>
        </p:nvSpPr>
        <p:spPr>
          <a:xfrm>
            <a:off x="419735" y="1967230"/>
            <a:ext cx="11141075" cy="1198880"/>
          </a:xfrm>
          <a:prstGeom prst="rect">
            <a:avLst/>
          </a:prstGeom>
          <a:noFill/>
        </p:spPr>
        <p:txBody>
          <a:bodyPr wrap="square" rtlCol="0" anchor="t">
            <a:spAutoFit/>
          </a:bodyPr>
          <a:lstStyle/>
          <a:p>
            <a:r>
              <a:rPr lang="zh-CN" altLang="en-US" sz="2400" b="1"/>
              <a:t>变型空间：</a:t>
            </a:r>
            <a:r>
              <a:rPr lang="zh-CN" altLang="en-US" sz="2400"/>
              <a:t>与训练样例一致的所有假设的集合，即变型空间中任意一个假设都能</a:t>
            </a:r>
            <a:endParaRPr lang="zh-CN" altLang="en-US" sz="2400"/>
          </a:p>
          <a:p>
            <a:r>
              <a:rPr lang="zh-CN" altLang="en-US" sz="2400"/>
              <a:t> </a:t>
            </a:r>
            <a:r>
              <a:rPr lang="en-US" altLang="zh-CN" sz="2400"/>
              <a:t>                     </a:t>
            </a:r>
            <a:r>
              <a:rPr lang="zh-CN" altLang="en-US" sz="2400"/>
              <a:t>覆盖所有的正例并排斥所有的反例。变型空间一般用极大一般假设</a:t>
            </a:r>
            <a:r>
              <a:rPr lang="en-US" altLang="zh-CN" sz="2400"/>
              <a:t>G</a:t>
            </a:r>
            <a:r>
              <a:rPr lang="zh-CN" altLang="en-US" sz="2400"/>
              <a:t>和</a:t>
            </a:r>
            <a:r>
              <a:rPr lang="en-US" altLang="zh-CN" sz="2400"/>
              <a:t> </a:t>
            </a:r>
            <a:endParaRPr lang="en-US" altLang="zh-CN" sz="2400"/>
          </a:p>
          <a:p>
            <a:r>
              <a:rPr lang="en-US" altLang="zh-CN" sz="2400"/>
              <a:t>                      </a:t>
            </a:r>
            <a:r>
              <a:rPr lang="zh-CN" altLang="en-US" sz="2400"/>
              <a:t>极大特殊假设</a:t>
            </a:r>
            <a:r>
              <a:rPr lang="en-US" altLang="zh-CN" sz="2400"/>
              <a:t>S</a:t>
            </a:r>
            <a:r>
              <a:rPr lang="zh-CN" altLang="en-US" sz="2400"/>
              <a:t>来表示，所有位于</a:t>
            </a:r>
            <a:r>
              <a:rPr lang="en-US" altLang="zh-CN" sz="2400"/>
              <a:t>G</a:t>
            </a:r>
            <a:r>
              <a:rPr lang="zh-CN" altLang="en-US" sz="2400"/>
              <a:t>和</a:t>
            </a:r>
            <a:r>
              <a:rPr lang="en-US" altLang="zh-CN" sz="2400"/>
              <a:t>S</a:t>
            </a:r>
            <a:r>
              <a:rPr lang="zh-CN" altLang="en-US" sz="2400"/>
              <a:t>之间的假设都在变型空间内</a:t>
            </a:r>
            <a:endParaRPr lang="zh-CN" altLang="en-US" sz="2400"/>
          </a:p>
        </p:txBody>
      </p:sp>
      <p:sp>
        <p:nvSpPr>
          <p:cNvPr id="7" name="椭圆 6"/>
          <p:cNvSpPr/>
          <p:nvPr/>
        </p:nvSpPr>
        <p:spPr>
          <a:xfrm>
            <a:off x="1520190" y="3354705"/>
            <a:ext cx="8853170" cy="3179445"/>
          </a:xfrm>
          <a:prstGeom prst="ellipse">
            <a:avLst/>
          </a:prstGeom>
          <a:ln w="19050">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9" name="椭圆 8"/>
          <p:cNvSpPr/>
          <p:nvPr/>
        </p:nvSpPr>
        <p:spPr>
          <a:xfrm>
            <a:off x="3253105" y="3773170"/>
            <a:ext cx="5086985" cy="2342515"/>
          </a:xfrm>
          <a:prstGeom prst="ellipse">
            <a:avLst/>
          </a:prstGeom>
          <a:ln w="19050">
            <a:solidFill>
              <a:schemeClr val="accent6">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10" name="椭圆 9"/>
          <p:cNvSpPr/>
          <p:nvPr/>
        </p:nvSpPr>
        <p:spPr>
          <a:xfrm>
            <a:off x="4918075" y="4159885"/>
            <a:ext cx="1756410" cy="1581150"/>
          </a:xfrm>
          <a:prstGeom prst="ellipse">
            <a:avLst/>
          </a:prstGeom>
          <a:ln w="19050">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11" name="文本框 10"/>
          <p:cNvSpPr txBox="1"/>
          <p:nvPr/>
        </p:nvSpPr>
        <p:spPr>
          <a:xfrm>
            <a:off x="1671955" y="4616450"/>
            <a:ext cx="1463040" cy="460375"/>
          </a:xfrm>
          <a:prstGeom prst="rect">
            <a:avLst/>
          </a:prstGeom>
          <a:noFill/>
        </p:spPr>
        <p:txBody>
          <a:bodyPr wrap="square" rtlCol="0">
            <a:spAutoFit/>
          </a:bodyPr>
          <a:lstStyle/>
          <a:p>
            <a:r>
              <a:rPr lang="zh-CN" altLang="en-US" sz="2400">
                <a:solidFill>
                  <a:srgbClr val="C00000"/>
                </a:solidFill>
              </a:rPr>
              <a:t>假设空间</a:t>
            </a:r>
            <a:endParaRPr lang="zh-CN" altLang="en-US" sz="2400">
              <a:solidFill>
                <a:srgbClr val="C00000"/>
              </a:solidFill>
            </a:endParaRPr>
          </a:p>
        </p:txBody>
      </p:sp>
      <p:sp>
        <p:nvSpPr>
          <p:cNvPr id="12" name="文本框 11"/>
          <p:cNvSpPr txBox="1"/>
          <p:nvPr/>
        </p:nvSpPr>
        <p:spPr>
          <a:xfrm>
            <a:off x="8458200" y="4370070"/>
            <a:ext cx="1389380" cy="706755"/>
          </a:xfrm>
          <a:prstGeom prst="rect">
            <a:avLst/>
          </a:prstGeom>
          <a:noFill/>
        </p:spPr>
        <p:txBody>
          <a:bodyPr wrap="square" rtlCol="0">
            <a:spAutoFit/>
          </a:bodyPr>
          <a:lstStyle/>
          <a:p>
            <a:pPr algn="ctr"/>
            <a:r>
              <a:rPr lang="zh-CN" altLang="en-US" sz="2000">
                <a:solidFill>
                  <a:schemeClr val="accent6">
                    <a:lumMod val="75000"/>
                  </a:schemeClr>
                </a:solidFill>
              </a:rPr>
              <a:t>极大一般假设边界</a:t>
            </a:r>
            <a:r>
              <a:rPr lang="en-US" altLang="zh-CN" sz="2000">
                <a:solidFill>
                  <a:schemeClr val="accent6">
                    <a:lumMod val="75000"/>
                  </a:schemeClr>
                </a:solidFill>
              </a:rPr>
              <a:t>G</a:t>
            </a:r>
            <a:endParaRPr lang="en-US" altLang="zh-CN" sz="2000">
              <a:solidFill>
                <a:schemeClr val="accent6">
                  <a:lumMod val="75000"/>
                </a:schemeClr>
              </a:solidFill>
            </a:endParaRPr>
          </a:p>
        </p:txBody>
      </p:sp>
      <p:sp>
        <p:nvSpPr>
          <p:cNvPr id="13" name="文本框 12"/>
          <p:cNvSpPr txBox="1"/>
          <p:nvPr/>
        </p:nvSpPr>
        <p:spPr>
          <a:xfrm>
            <a:off x="4918075" y="4429125"/>
            <a:ext cx="1389380" cy="706755"/>
          </a:xfrm>
          <a:prstGeom prst="rect">
            <a:avLst/>
          </a:prstGeom>
          <a:noFill/>
        </p:spPr>
        <p:txBody>
          <a:bodyPr wrap="square" rtlCol="0">
            <a:spAutoFit/>
          </a:bodyPr>
          <a:lstStyle/>
          <a:p>
            <a:pPr algn="ctr"/>
            <a:r>
              <a:rPr lang="zh-CN" altLang="en-US" sz="2000">
                <a:solidFill>
                  <a:schemeClr val="accent5">
                    <a:lumMod val="75000"/>
                  </a:schemeClr>
                </a:solidFill>
              </a:rPr>
              <a:t>极大特殊假设边界</a:t>
            </a:r>
            <a:r>
              <a:rPr lang="en-US" altLang="zh-CN" sz="2000">
                <a:solidFill>
                  <a:schemeClr val="accent5">
                    <a:lumMod val="75000"/>
                  </a:schemeClr>
                </a:solidFill>
              </a:rPr>
              <a:t>S</a:t>
            </a:r>
            <a:endParaRPr lang="en-US" altLang="zh-CN" sz="2000">
              <a:solidFill>
                <a:schemeClr val="accent5">
                  <a:lumMod val="75000"/>
                </a:schemeClr>
              </a:solidFill>
            </a:endParaRPr>
          </a:p>
        </p:txBody>
      </p:sp>
      <p:cxnSp>
        <p:nvCxnSpPr>
          <p:cNvPr id="14" name="直接连接符 13"/>
          <p:cNvCxnSpPr>
            <a:stCxn id="9" idx="1"/>
            <a:endCxn id="13" idx="1"/>
          </p:cNvCxnSpPr>
          <p:nvPr/>
        </p:nvCxnSpPr>
        <p:spPr>
          <a:xfrm>
            <a:off x="3997960" y="4116070"/>
            <a:ext cx="920115" cy="666750"/>
          </a:xfrm>
          <a:prstGeom prst="line">
            <a:avLst/>
          </a:prstGeom>
          <a:ln w="190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a:endCxn id="9" idx="4"/>
          </p:cNvCxnSpPr>
          <p:nvPr/>
        </p:nvCxnSpPr>
        <p:spPr>
          <a:xfrm>
            <a:off x="3529965" y="4429125"/>
            <a:ext cx="2266950" cy="1686560"/>
          </a:xfrm>
          <a:prstGeom prst="line">
            <a:avLst/>
          </a:prstGeom>
          <a:ln w="190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3253105" y="4958080"/>
            <a:ext cx="1341120" cy="1001395"/>
          </a:xfrm>
          <a:prstGeom prst="line">
            <a:avLst/>
          </a:prstGeom>
          <a:ln w="190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6134100" y="5666740"/>
            <a:ext cx="518795" cy="384810"/>
          </a:xfrm>
          <a:prstGeom prst="line">
            <a:avLst/>
          </a:prstGeom>
          <a:ln w="190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4810760" y="3857625"/>
            <a:ext cx="544830" cy="394970"/>
          </a:xfrm>
          <a:prstGeom prst="line">
            <a:avLst/>
          </a:prstGeom>
          <a:ln w="190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6601460" y="5292725"/>
            <a:ext cx="770890" cy="566420"/>
          </a:xfrm>
          <a:prstGeom prst="line">
            <a:avLst/>
          </a:prstGeom>
          <a:ln w="190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5796915" y="3773170"/>
            <a:ext cx="2270125" cy="1667510"/>
          </a:xfrm>
          <a:prstGeom prst="line">
            <a:avLst/>
          </a:prstGeom>
          <a:ln w="190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7137400" y="3949065"/>
            <a:ext cx="1188720" cy="889000"/>
          </a:xfrm>
          <a:prstGeom prst="line">
            <a:avLst/>
          </a:prstGeom>
          <a:ln w="190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p:nvPr/>
        </p:nvCxnSpPr>
        <p:spPr>
          <a:xfrm flipV="1">
            <a:off x="7405370" y="3767455"/>
            <a:ext cx="2878455" cy="803275"/>
          </a:xfrm>
          <a:prstGeom prst="straightConnector1">
            <a:avLst/>
          </a:prstGeom>
          <a:ln w="28575">
            <a:solidFill>
              <a:srgbClr val="7030A0"/>
            </a:solidFill>
            <a:tailEnd type="arrow"/>
          </a:ln>
        </p:spPr>
        <p:style>
          <a:lnRef idx="1">
            <a:schemeClr val="accent1"/>
          </a:lnRef>
          <a:fillRef idx="0">
            <a:schemeClr val="accent1"/>
          </a:fillRef>
          <a:effectRef idx="0">
            <a:schemeClr val="accent1"/>
          </a:effectRef>
          <a:fontRef idx="minor">
            <a:schemeClr val="tx1"/>
          </a:fontRef>
        </p:style>
      </p:cxnSp>
      <p:sp>
        <p:nvSpPr>
          <p:cNvPr id="23" name="文本框 22"/>
          <p:cNvSpPr txBox="1"/>
          <p:nvPr/>
        </p:nvSpPr>
        <p:spPr>
          <a:xfrm>
            <a:off x="10283825" y="3397250"/>
            <a:ext cx="1548130" cy="460375"/>
          </a:xfrm>
          <a:prstGeom prst="rect">
            <a:avLst/>
          </a:prstGeom>
          <a:noFill/>
        </p:spPr>
        <p:txBody>
          <a:bodyPr wrap="square" rtlCol="0">
            <a:spAutoFit/>
          </a:bodyPr>
          <a:lstStyle/>
          <a:p>
            <a:r>
              <a:rPr lang="zh-CN" altLang="en-US" sz="2400" b="1">
                <a:solidFill>
                  <a:srgbClr val="7030A0"/>
                </a:solidFill>
              </a:rPr>
              <a:t>变型空间</a:t>
            </a:r>
            <a:endParaRPr lang="zh-CN" altLang="en-US" sz="2400" b="1">
              <a:solidFill>
                <a:srgbClr val="7030A0"/>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dirty="0">
              <a:latin typeface="Times New Roman" panose="02020603050405020304" charset="0"/>
              <a:cs typeface="Times New Roman" panose="02020603050405020304" charset="0"/>
            </a:endParaRPr>
          </a:p>
        </p:txBody>
      </p:sp>
      <p:sp>
        <p:nvSpPr>
          <p:cNvPr id="6" name="文本框 5"/>
          <p:cNvSpPr txBox="1"/>
          <p:nvPr/>
        </p:nvSpPr>
        <p:spPr>
          <a:xfrm>
            <a:off x="419735" y="291465"/>
            <a:ext cx="8637905" cy="583565"/>
          </a:xfrm>
          <a:prstGeom prst="rect">
            <a:avLst/>
          </a:prstGeom>
          <a:noFill/>
        </p:spPr>
        <p:txBody>
          <a:bodyPr wrap="square" rtlCol="0">
            <a:spAutoFit/>
            <a:scene3d>
              <a:camera prst="orthographicFront"/>
              <a:lightRig rig="threePt" dir="t"/>
            </a:scene3d>
          </a:bodyPr>
          <a:lstStyle/>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概念学习算法：</a:t>
            </a:r>
            <a:r>
              <a:rPr lang="zh-CN" altLang="en-US" sz="3200" b="1" spc="200" dirty="0">
                <a:solidFill>
                  <a:schemeClr val="accent1"/>
                </a:solidFill>
                <a:uFillTx/>
                <a:latin typeface="微软雅黑 Light" panose="020B0502040204020203" pitchFamily="34" charset="-122"/>
                <a:ea typeface="微软雅黑" panose="020B0503020204020204" charset="-122"/>
                <a:cs typeface="+mj-cs"/>
                <a:sym typeface="+mn-ea"/>
              </a:rPr>
              <a:t>候选消除算法及变型空间</a:t>
            </a:r>
            <a:endParaRPr lang="en-US" altLang="zh-CN" sz="3200" b="1" spc="200" dirty="0">
              <a:solidFill>
                <a:schemeClr val="accent1"/>
              </a:solidFill>
              <a:uFillTx/>
              <a:latin typeface="微软雅黑 Light" panose="020B0502040204020203" pitchFamily="34" charset="-122"/>
              <a:ea typeface="微软雅黑" panose="020B0503020204020204" charset="-122"/>
              <a:cs typeface="+mj-cs"/>
            </a:endParaRPr>
          </a:p>
        </p:txBody>
      </p:sp>
      <p:sp>
        <p:nvSpPr>
          <p:cNvPr id="8" name="文本框 7"/>
          <p:cNvSpPr txBox="1"/>
          <p:nvPr/>
        </p:nvSpPr>
        <p:spPr>
          <a:xfrm>
            <a:off x="269240" y="1195070"/>
            <a:ext cx="11481435" cy="583565"/>
          </a:xfrm>
          <a:prstGeom prst="rect">
            <a:avLst/>
          </a:prstGeom>
          <a:noFill/>
        </p:spPr>
        <p:txBody>
          <a:bodyPr wrap="square" rtlCol="0">
            <a:spAutoFit/>
          </a:bodyPr>
          <a:lstStyle/>
          <a:p>
            <a:r>
              <a:rPr lang="zh-CN" altLang="en-US" sz="3200">
                <a:solidFill>
                  <a:schemeClr val="accent5">
                    <a:lumMod val="75000"/>
                  </a:schemeClr>
                </a:solidFill>
              </a:rPr>
              <a:t>变型空间和候选消除算法</a:t>
            </a:r>
            <a:endParaRPr lang="zh-CN" altLang="en-US" sz="3200">
              <a:solidFill>
                <a:schemeClr val="accent5">
                  <a:lumMod val="75000"/>
                </a:schemeClr>
              </a:solidFill>
            </a:endParaRPr>
          </a:p>
        </p:txBody>
      </p:sp>
      <p:sp>
        <p:nvSpPr>
          <p:cNvPr id="5" name="文本框 4"/>
          <p:cNvSpPr txBox="1"/>
          <p:nvPr/>
        </p:nvSpPr>
        <p:spPr>
          <a:xfrm>
            <a:off x="419735" y="2098675"/>
            <a:ext cx="11141075" cy="2736215"/>
          </a:xfrm>
          <a:prstGeom prst="rect">
            <a:avLst/>
          </a:prstGeom>
          <a:noFill/>
        </p:spPr>
        <p:txBody>
          <a:bodyPr wrap="square" rtlCol="0" anchor="t">
            <a:spAutoFit/>
          </a:bodyPr>
          <a:lstStyle/>
          <a:p>
            <a:r>
              <a:rPr lang="zh-CN" altLang="en-US" sz="2400" b="1">
                <a:sym typeface="+mn-ea"/>
              </a:rPr>
              <a:t>候选消除算法</a:t>
            </a:r>
            <a:endParaRPr lang="zh-CN" altLang="en-US" sz="2400" b="1">
              <a:sym typeface="+mn-ea"/>
            </a:endParaRPr>
          </a:p>
          <a:p>
            <a:endParaRPr lang="zh-CN" altLang="en-US" sz="2000"/>
          </a:p>
          <a:p>
            <a:pPr indent="457200"/>
            <a:r>
              <a:rPr lang="zh-CN" altLang="en-US" sz="2000" b="1"/>
              <a:t>算法步骤：</a:t>
            </a:r>
            <a:endParaRPr lang="zh-CN" altLang="en-US" sz="2000" b="1"/>
          </a:p>
          <a:p>
            <a:pPr indent="457200">
              <a:lnSpc>
                <a:spcPct val="70000"/>
              </a:lnSpc>
            </a:pPr>
            <a:endParaRPr lang="zh-CN" altLang="en-US"/>
          </a:p>
          <a:p>
            <a:pPr marL="0" lvl="1" indent="457200"/>
            <a:r>
              <a:rPr lang="en-US" altLang="zh-CN"/>
              <a:t>         1</a:t>
            </a:r>
            <a:r>
              <a:rPr lang="zh-CN" altLang="en-US"/>
              <a:t>）初始化</a:t>
            </a:r>
            <a:r>
              <a:rPr lang="en-US" altLang="zh-CN" b="1"/>
              <a:t>G</a:t>
            </a:r>
            <a:r>
              <a:rPr lang="en-US" altLang="zh-CN">
                <a:sym typeface="+mn-ea"/>
              </a:rPr>
              <a:t> (</a:t>
            </a:r>
            <a:r>
              <a:rPr lang="zh-CN" altLang="en-US">
                <a:sym typeface="+mn-ea"/>
              </a:rPr>
              <a:t>所有属性均为</a:t>
            </a:r>
            <a:r>
              <a:rPr lang="en-US" altLang="zh-CN" b="1" dirty="0">
                <a:sym typeface="Symbol" panose="05050102010706020507" pitchFamily="18" charset="2"/>
              </a:rPr>
              <a:t>?</a:t>
            </a:r>
            <a:r>
              <a:rPr lang="zh-CN" altLang="en-US" dirty="0">
                <a:sym typeface="Symbol" panose="05050102010706020507" pitchFamily="18" charset="2"/>
              </a:rPr>
              <a:t> </a:t>
            </a:r>
            <a:r>
              <a:rPr lang="en-US" altLang="zh-CN">
                <a:sym typeface="+mn-ea"/>
              </a:rPr>
              <a:t>)</a:t>
            </a:r>
            <a:r>
              <a:rPr lang="zh-CN" altLang="en-US"/>
              <a:t>；</a:t>
            </a:r>
            <a:r>
              <a:rPr lang="zh-CN"/>
              <a:t>初始化</a:t>
            </a:r>
            <a:r>
              <a:rPr lang="en-US" altLang="zh-CN" b="1"/>
              <a:t>S</a:t>
            </a:r>
            <a:r>
              <a:rPr lang="en-US" altLang="zh-CN"/>
              <a:t> (</a:t>
            </a:r>
            <a:r>
              <a:rPr lang="zh-CN" altLang="en-US"/>
              <a:t>所有属性均为</a:t>
            </a:r>
            <a:r>
              <a:rPr lang="zh-CN" altLang="en-US" b="1" dirty="0">
                <a:sym typeface="Symbol" panose="05050102010706020507" pitchFamily="18" charset="2"/>
              </a:rPr>
              <a:t></a:t>
            </a:r>
            <a:r>
              <a:rPr lang="zh-CN" altLang="en-US" dirty="0">
                <a:sym typeface="Symbol" panose="05050102010706020507" pitchFamily="18" charset="2"/>
              </a:rPr>
              <a:t> </a:t>
            </a:r>
            <a:r>
              <a:rPr lang="en-US" altLang="zh-CN"/>
              <a:t>)</a:t>
            </a:r>
            <a:endParaRPr lang="en-US" altLang="zh-CN"/>
          </a:p>
          <a:p>
            <a:pPr marL="0" lvl="1" indent="457200">
              <a:lnSpc>
                <a:spcPct val="30000"/>
              </a:lnSpc>
            </a:pPr>
            <a:endParaRPr lang="zh-CN" altLang="en-US"/>
          </a:p>
          <a:p>
            <a:pPr marL="457200" lvl="1" indent="457200">
              <a:lnSpc>
                <a:spcPct val="70000"/>
              </a:lnSpc>
            </a:pPr>
            <a:endParaRPr lang="en-US" altLang="zh-CN"/>
          </a:p>
          <a:p>
            <a:pPr marL="457200" lvl="1" indent="457200">
              <a:lnSpc>
                <a:spcPct val="70000"/>
              </a:lnSpc>
            </a:pPr>
            <a:r>
              <a:rPr lang="en-US" altLang="zh-CN"/>
              <a:t>2</a:t>
            </a:r>
            <a:r>
              <a:rPr lang="zh-CN" altLang="en-US"/>
              <a:t>）对训练样例集D中的每个正样例</a:t>
            </a:r>
            <a:r>
              <a:rPr lang="en-US" altLang="zh-CN"/>
              <a:t>d+</a:t>
            </a:r>
            <a:r>
              <a:rPr lang="zh-CN" altLang="en-US"/>
              <a:t>：一般化</a:t>
            </a:r>
            <a:r>
              <a:rPr lang="en-US" altLang="zh-CN"/>
              <a:t>S</a:t>
            </a:r>
            <a:endParaRPr lang="en-US" altLang="zh-CN"/>
          </a:p>
          <a:p>
            <a:pPr marL="457200" lvl="1" indent="457200">
              <a:lnSpc>
                <a:spcPct val="30000"/>
              </a:lnSpc>
            </a:pPr>
            <a:endParaRPr lang="zh-CN" altLang="en-US"/>
          </a:p>
          <a:p>
            <a:pPr marL="457200" lvl="1" indent="457200"/>
            <a:r>
              <a:rPr lang="en-US" altLang="zh-CN"/>
              <a:t>       </a:t>
            </a:r>
            <a:r>
              <a:rPr lang="zh-CN" altLang="en-US"/>
              <a:t>对训练样例集</a:t>
            </a:r>
            <a:r>
              <a:rPr lang="en-US" altLang="zh-CN"/>
              <a:t>D</a:t>
            </a:r>
            <a:r>
              <a:rPr lang="zh-CN" altLang="en-US"/>
              <a:t>中的每个负样例</a:t>
            </a:r>
            <a:r>
              <a:rPr lang="en-US" altLang="zh-CN"/>
              <a:t>d-</a:t>
            </a:r>
            <a:r>
              <a:rPr lang="zh-CN" altLang="en-US"/>
              <a:t>：特殊化</a:t>
            </a:r>
            <a:r>
              <a:rPr lang="en-US" altLang="zh-CN"/>
              <a:t>G</a:t>
            </a:r>
            <a:endParaRPr lang="en-US" altLang="zh-CN"/>
          </a:p>
          <a:p>
            <a:pPr marL="457200" lvl="1" indent="457200">
              <a:lnSpc>
                <a:spcPct val="30000"/>
              </a:lnSpc>
            </a:pPr>
            <a:endParaRPr lang="en-US" altLang="zh-CN"/>
          </a:p>
          <a:p>
            <a:pPr marL="457200" lvl="1" indent="457200"/>
            <a:r>
              <a:rPr lang="en-US" altLang="zh-CN"/>
              <a:t>    </a:t>
            </a:r>
            <a:r>
              <a:rPr lang="zh-CN" altLang="en-US" b="1"/>
              <a:t>（在更新</a:t>
            </a:r>
            <a:r>
              <a:rPr lang="en-US" altLang="zh-CN" b="1"/>
              <a:t>S</a:t>
            </a:r>
            <a:r>
              <a:rPr lang="zh-CN" altLang="en-US" b="1"/>
              <a:t>和</a:t>
            </a:r>
            <a:r>
              <a:rPr lang="en-US" altLang="zh-CN" b="1"/>
              <a:t>G</a:t>
            </a:r>
            <a:r>
              <a:rPr lang="zh-CN" altLang="en-US" b="1"/>
              <a:t>时，每一步均需要保证</a:t>
            </a:r>
            <a:r>
              <a:rPr lang="en-US" altLang="zh-CN" b="1"/>
              <a:t>G</a:t>
            </a:r>
            <a:r>
              <a:rPr lang="zh-CN" altLang="en-US" b="1"/>
              <a:t>包含</a:t>
            </a:r>
            <a:r>
              <a:rPr lang="en-US" altLang="zh-CN" b="1"/>
              <a:t>S</a:t>
            </a:r>
            <a:r>
              <a:rPr lang="zh-CN" altLang="en-US" b="1"/>
              <a:t>）</a:t>
            </a:r>
            <a:endParaRPr lang="zh-CN" altLang="en-US" b="1"/>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dirty="0">
              <a:latin typeface="Times New Roman" panose="02020603050405020304" charset="0"/>
              <a:cs typeface="Times New Roman" panose="02020603050405020304" charset="0"/>
            </a:endParaRPr>
          </a:p>
        </p:txBody>
      </p:sp>
      <p:sp>
        <p:nvSpPr>
          <p:cNvPr id="6" name="文本框 5"/>
          <p:cNvSpPr txBox="1"/>
          <p:nvPr/>
        </p:nvSpPr>
        <p:spPr>
          <a:xfrm>
            <a:off x="419735" y="291465"/>
            <a:ext cx="8637905" cy="583565"/>
          </a:xfrm>
          <a:prstGeom prst="rect">
            <a:avLst/>
          </a:prstGeom>
          <a:noFill/>
        </p:spPr>
        <p:txBody>
          <a:bodyPr wrap="square" rtlCol="0">
            <a:spAutoFit/>
            <a:scene3d>
              <a:camera prst="orthographicFront"/>
              <a:lightRig rig="threePt" dir="t"/>
            </a:scene3d>
          </a:bodyPr>
          <a:lstStyle/>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概念学习算法：</a:t>
            </a:r>
            <a:r>
              <a:rPr lang="zh-CN" altLang="en-US" sz="3200" b="1" spc="200" dirty="0">
                <a:solidFill>
                  <a:schemeClr val="accent1"/>
                </a:solidFill>
                <a:uFillTx/>
                <a:latin typeface="微软雅黑 Light" panose="020B0502040204020203" pitchFamily="34" charset="-122"/>
                <a:ea typeface="微软雅黑" panose="020B0503020204020204" charset="-122"/>
                <a:cs typeface="+mj-cs"/>
                <a:sym typeface="+mn-ea"/>
              </a:rPr>
              <a:t>候选消除算法及变型空间</a:t>
            </a:r>
            <a:endParaRPr lang="en-US" altLang="zh-CN" sz="3200" b="1" spc="200" dirty="0">
              <a:solidFill>
                <a:schemeClr val="accent1"/>
              </a:solidFill>
              <a:uFillTx/>
              <a:latin typeface="微软雅黑 Light" panose="020B0502040204020203" pitchFamily="34" charset="-122"/>
              <a:ea typeface="微软雅黑" panose="020B0503020204020204" charset="-122"/>
              <a:cs typeface="+mj-cs"/>
            </a:endParaRPr>
          </a:p>
        </p:txBody>
      </p:sp>
      <p:sp>
        <p:nvSpPr>
          <p:cNvPr id="7" name="文本框 6"/>
          <p:cNvSpPr txBox="1"/>
          <p:nvPr/>
        </p:nvSpPr>
        <p:spPr>
          <a:xfrm>
            <a:off x="301625" y="1336040"/>
            <a:ext cx="8730615" cy="460375"/>
          </a:xfrm>
          <a:prstGeom prst="rect">
            <a:avLst/>
          </a:prstGeom>
          <a:noFill/>
        </p:spPr>
        <p:txBody>
          <a:bodyPr wrap="square" rtlCol="0">
            <a:spAutoFit/>
          </a:bodyPr>
          <a:lstStyle/>
          <a:p>
            <a:r>
              <a:rPr lang="zh-CN" altLang="en-US" sz="2400">
                <a:solidFill>
                  <a:schemeClr val="accent5">
                    <a:lumMod val="75000"/>
                  </a:schemeClr>
                </a:solidFill>
              </a:rPr>
              <a:t>运用候选消除算法解决</a:t>
            </a:r>
            <a:r>
              <a:rPr lang="en-US" altLang="zh-CN" sz="2400">
                <a:solidFill>
                  <a:schemeClr val="accent5">
                    <a:lumMod val="75000"/>
                  </a:schemeClr>
                </a:solidFill>
              </a:rPr>
              <a:t>Emma</a:t>
            </a:r>
            <a:r>
              <a:rPr lang="zh-CN" altLang="en-US" sz="2400">
                <a:solidFill>
                  <a:schemeClr val="accent5">
                    <a:lumMod val="75000"/>
                  </a:schemeClr>
                </a:solidFill>
              </a:rPr>
              <a:t>是否享受水上运动问题</a:t>
            </a:r>
            <a:endParaRPr lang="zh-CN" altLang="en-US" sz="2400">
              <a:solidFill>
                <a:schemeClr val="accent5">
                  <a:lumMod val="75000"/>
                </a:schemeClr>
              </a:solidFill>
            </a:endParaRPr>
          </a:p>
        </p:txBody>
      </p:sp>
      <p:sp>
        <p:nvSpPr>
          <p:cNvPr id="75779" name="Rectangle 168"/>
          <p:cNvSpPr>
            <a:spLocks noChangeArrowheads="1"/>
          </p:cNvSpPr>
          <p:nvPr/>
        </p:nvSpPr>
        <p:spPr bwMode="auto">
          <a:xfrm>
            <a:off x="9501188" y="4317366"/>
            <a:ext cx="11350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Yes</a:t>
            </a:r>
            <a:endParaRPr kumimoji="1" lang="en-US" altLang="zh-CN" sz="1400">
              <a:latin typeface="Times New Roman" panose="02020603050405020304" charset="0"/>
            </a:endParaRPr>
          </a:p>
        </p:txBody>
      </p:sp>
      <p:sp>
        <p:nvSpPr>
          <p:cNvPr id="75780" name="Rectangle 167"/>
          <p:cNvSpPr>
            <a:spLocks noChangeArrowheads="1"/>
          </p:cNvSpPr>
          <p:nvPr/>
        </p:nvSpPr>
        <p:spPr bwMode="auto">
          <a:xfrm>
            <a:off x="8366126" y="4317366"/>
            <a:ext cx="11350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Change</a:t>
            </a:r>
            <a:endParaRPr kumimoji="1" lang="en-US" altLang="zh-CN" sz="1400">
              <a:latin typeface="Times New Roman" panose="02020603050405020304" charset="0"/>
            </a:endParaRPr>
          </a:p>
        </p:txBody>
      </p:sp>
      <p:sp>
        <p:nvSpPr>
          <p:cNvPr id="75781" name="Rectangle 166"/>
          <p:cNvSpPr>
            <a:spLocks noChangeArrowheads="1"/>
          </p:cNvSpPr>
          <p:nvPr/>
        </p:nvSpPr>
        <p:spPr bwMode="auto">
          <a:xfrm>
            <a:off x="7231063" y="4317366"/>
            <a:ext cx="11350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Cool</a:t>
            </a:r>
            <a:endParaRPr kumimoji="1" lang="en-US" altLang="zh-CN" sz="1400">
              <a:latin typeface="Times New Roman" panose="02020603050405020304" charset="0"/>
            </a:endParaRPr>
          </a:p>
        </p:txBody>
      </p:sp>
      <p:sp>
        <p:nvSpPr>
          <p:cNvPr id="75782" name="Rectangle 165"/>
          <p:cNvSpPr>
            <a:spLocks noChangeArrowheads="1"/>
          </p:cNvSpPr>
          <p:nvPr/>
        </p:nvSpPr>
        <p:spPr bwMode="auto">
          <a:xfrm>
            <a:off x="6096001" y="4317366"/>
            <a:ext cx="11350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Strong</a:t>
            </a:r>
            <a:endParaRPr kumimoji="1" lang="en-US" altLang="zh-CN" sz="1400">
              <a:latin typeface="Times New Roman" panose="02020603050405020304" charset="0"/>
            </a:endParaRPr>
          </a:p>
        </p:txBody>
      </p:sp>
      <p:sp>
        <p:nvSpPr>
          <p:cNvPr id="75783" name="Rectangle 164"/>
          <p:cNvSpPr>
            <a:spLocks noChangeArrowheads="1"/>
          </p:cNvSpPr>
          <p:nvPr/>
        </p:nvSpPr>
        <p:spPr bwMode="auto">
          <a:xfrm>
            <a:off x="4960938" y="4317366"/>
            <a:ext cx="11350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High</a:t>
            </a:r>
            <a:endParaRPr kumimoji="1" lang="en-US" altLang="zh-CN" sz="1400">
              <a:latin typeface="Times New Roman" panose="02020603050405020304" charset="0"/>
            </a:endParaRPr>
          </a:p>
        </p:txBody>
      </p:sp>
      <p:sp>
        <p:nvSpPr>
          <p:cNvPr id="75784" name="Rectangle 163"/>
          <p:cNvSpPr>
            <a:spLocks noChangeArrowheads="1"/>
          </p:cNvSpPr>
          <p:nvPr/>
        </p:nvSpPr>
        <p:spPr bwMode="auto">
          <a:xfrm>
            <a:off x="3825876" y="4317366"/>
            <a:ext cx="11350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Warm</a:t>
            </a:r>
            <a:endParaRPr kumimoji="1" lang="en-US" altLang="zh-CN" sz="1400">
              <a:latin typeface="Times New Roman" panose="02020603050405020304" charset="0"/>
            </a:endParaRPr>
          </a:p>
        </p:txBody>
      </p:sp>
      <p:sp>
        <p:nvSpPr>
          <p:cNvPr id="75785" name="Rectangle 162"/>
          <p:cNvSpPr>
            <a:spLocks noChangeArrowheads="1"/>
          </p:cNvSpPr>
          <p:nvPr/>
        </p:nvSpPr>
        <p:spPr bwMode="auto">
          <a:xfrm>
            <a:off x="2690813" y="4317366"/>
            <a:ext cx="11350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Sunny</a:t>
            </a:r>
            <a:endParaRPr kumimoji="1" lang="en-US" altLang="zh-CN" sz="1400">
              <a:latin typeface="Times New Roman" panose="02020603050405020304" charset="0"/>
            </a:endParaRPr>
          </a:p>
        </p:txBody>
      </p:sp>
      <p:sp>
        <p:nvSpPr>
          <p:cNvPr id="75786" name="Rectangle 161"/>
          <p:cNvSpPr>
            <a:spLocks noChangeArrowheads="1"/>
          </p:cNvSpPr>
          <p:nvPr/>
        </p:nvSpPr>
        <p:spPr bwMode="auto">
          <a:xfrm>
            <a:off x="1555751" y="4317366"/>
            <a:ext cx="11350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4</a:t>
            </a:r>
            <a:endParaRPr kumimoji="1" lang="en-US" altLang="zh-CN" sz="1400">
              <a:latin typeface="Times New Roman" panose="02020603050405020304" charset="0"/>
            </a:endParaRPr>
          </a:p>
        </p:txBody>
      </p:sp>
      <p:sp>
        <p:nvSpPr>
          <p:cNvPr id="75787" name="Rectangle 160"/>
          <p:cNvSpPr>
            <a:spLocks noChangeArrowheads="1"/>
          </p:cNvSpPr>
          <p:nvPr/>
        </p:nvSpPr>
        <p:spPr bwMode="auto">
          <a:xfrm>
            <a:off x="9501188" y="3922079"/>
            <a:ext cx="1135062"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No</a:t>
            </a:r>
            <a:endParaRPr kumimoji="1" lang="en-US" altLang="zh-CN" sz="1400">
              <a:latin typeface="Times New Roman" panose="02020603050405020304" charset="0"/>
            </a:endParaRPr>
          </a:p>
        </p:txBody>
      </p:sp>
      <p:sp>
        <p:nvSpPr>
          <p:cNvPr id="75788" name="Rectangle 159"/>
          <p:cNvSpPr>
            <a:spLocks noChangeArrowheads="1"/>
          </p:cNvSpPr>
          <p:nvPr/>
        </p:nvSpPr>
        <p:spPr bwMode="auto">
          <a:xfrm>
            <a:off x="8366126" y="3922079"/>
            <a:ext cx="1135063"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Change</a:t>
            </a:r>
            <a:endParaRPr kumimoji="1" lang="en-US" altLang="zh-CN" sz="1400">
              <a:latin typeface="Times New Roman" panose="02020603050405020304" charset="0"/>
            </a:endParaRPr>
          </a:p>
        </p:txBody>
      </p:sp>
      <p:sp>
        <p:nvSpPr>
          <p:cNvPr id="75789" name="Rectangle 158"/>
          <p:cNvSpPr>
            <a:spLocks noChangeArrowheads="1"/>
          </p:cNvSpPr>
          <p:nvPr/>
        </p:nvSpPr>
        <p:spPr bwMode="auto">
          <a:xfrm>
            <a:off x="7231063" y="3922079"/>
            <a:ext cx="1135062"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Warm</a:t>
            </a:r>
            <a:endParaRPr kumimoji="1" lang="en-US" altLang="zh-CN" sz="1400">
              <a:latin typeface="Times New Roman" panose="02020603050405020304" charset="0"/>
            </a:endParaRPr>
          </a:p>
        </p:txBody>
      </p:sp>
      <p:sp>
        <p:nvSpPr>
          <p:cNvPr id="75790" name="Rectangle 157"/>
          <p:cNvSpPr>
            <a:spLocks noChangeArrowheads="1"/>
          </p:cNvSpPr>
          <p:nvPr/>
        </p:nvSpPr>
        <p:spPr bwMode="auto">
          <a:xfrm>
            <a:off x="6096001" y="3922079"/>
            <a:ext cx="1135063"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Strong</a:t>
            </a:r>
            <a:endParaRPr kumimoji="1" lang="en-US" altLang="zh-CN" sz="1400">
              <a:latin typeface="Times New Roman" panose="02020603050405020304" charset="0"/>
            </a:endParaRPr>
          </a:p>
        </p:txBody>
      </p:sp>
      <p:sp>
        <p:nvSpPr>
          <p:cNvPr id="75791" name="Rectangle 156"/>
          <p:cNvSpPr>
            <a:spLocks noChangeArrowheads="1"/>
          </p:cNvSpPr>
          <p:nvPr/>
        </p:nvSpPr>
        <p:spPr bwMode="auto">
          <a:xfrm>
            <a:off x="4960938" y="3922079"/>
            <a:ext cx="1135062"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High</a:t>
            </a:r>
            <a:endParaRPr kumimoji="1" lang="en-US" altLang="zh-CN" sz="1400">
              <a:latin typeface="Times New Roman" panose="02020603050405020304" charset="0"/>
            </a:endParaRPr>
          </a:p>
        </p:txBody>
      </p:sp>
      <p:sp>
        <p:nvSpPr>
          <p:cNvPr id="75792" name="Rectangle 155"/>
          <p:cNvSpPr>
            <a:spLocks noChangeArrowheads="1"/>
          </p:cNvSpPr>
          <p:nvPr/>
        </p:nvSpPr>
        <p:spPr bwMode="auto">
          <a:xfrm>
            <a:off x="3825876" y="3922079"/>
            <a:ext cx="1135063"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Cold</a:t>
            </a:r>
            <a:endParaRPr kumimoji="1" lang="en-US" altLang="zh-CN" sz="1400">
              <a:latin typeface="Times New Roman" panose="02020603050405020304" charset="0"/>
            </a:endParaRPr>
          </a:p>
        </p:txBody>
      </p:sp>
      <p:sp>
        <p:nvSpPr>
          <p:cNvPr id="75793" name="Rectangle 154"/>
          <p:cNvSpPr>
            <a:spLocks noChangeArrowheads="1"/>
          </p:cNvSpPr>
          <p:nvPr/>
        </p:nvSpPr>
        <p:spPr bwMode="auto">
          <a:xfrm>
            <a:off x="2690813" y="3922079"/>
            <a:ext cx="1135062"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Rainy</a:t>
            </a:r>
            <a:endParaRPr kumimoji="1" lang="en-US" altLang="zh-CN" sz="1400">
              <a:latin typeface="Times New Roman" panose="02020603050405020304" charset="0"/>
            </a:endParaRPr>
          </a:p>
        </p:txBody>
      </p:sp>
      <p:sp>
        <p:nvSpPr>
          <p:cNvPr id="75794" name="Rectangle 153"/>
          <p:cNvSpPr>
            <a:spLocks noChangeArrowheads="1"/>
          </p:cNvSpPr>
          <p:nvPr/>
        </p:nvSpPr>
        <p:spPr bwMode="auto">
          <a:xfrm>
            <a:off x="1555751" y="3922079"/>
            <a:ext cx="1135063"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3</a:t>
            </a:r>
            <a:endParaRPr kumimoji="1" lang="en-US" altLang="zh-CN" sz="1400">
              <a:latin typeface="Times New Roman" panose="02020603050405020304" charset="0"/>
            </a:endParaRPr>
          </a:p>
        </p:txBody>
      </p:sp>
      <p:sp>
        <p:nvSpPr>
          <p:cNvPr id="75795" name="Rectangle 152"/>
          <p:cNvSpPr>
            <a:spLocks noChangeArrowheads="1"/>
          </p:cNvSpPr>
          <p:nvPr/>
        </p:nvSpPr>
        <p:spPr bwMode="auto">
          <a:xfrm>
            <a:off x="9501188" y="3525204"/>
            <a:ext cx="11350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Yes</a:t>
            </a:r>
            <a:endParaRPr kumimoji="1" lang="en-US" altLang="zh-CN" sz="1400">
              <a:latin typeface="Times New Roman" panose="02020603050405020304" charset="0"/>
            </a:endParaRPr>
          </a:p>
        </p:txBody>
      </p:sp>
      <p:sp>
        <p:nvSpPr>
          <p:cNvPr id="75796" name="Rectangle 151"/>
          <p:cNvSpPr>
            <a:spLocks noChangeArrowheads="1"/>
          </p:cNvSpPr>
          <p:nvPr/>
        </p:nvSpPr>
        <p:spPr bwMode="auto">
          <a:xfrm>
            <a:off x="8366126" y="3525204"/>
            <a:ext cx="11350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Same</a:t>
            </a:r>
            <a:endParaRPr kumimoji="1" lang="en-US" altLang="zh-CN" sz="1400">
              <a:latin typeface="Times New Roman" panose="02020603050405020304" charset="0"/>
            </a:endParaRPr>
          </a:p>
        </p:txBody>
      </p:sp>
      <p:sp>
        <p:nvSpPr>
          <p:cNvPr id="75797" name="Rectangle 150"/>
          <p:cNvSpPr>
            <a:spLocks noChangeArrowheads="1"/>
          </p:cNvSpPr>
          <p:nvPr/>
        </p:nvSpPr>
        <p:spPr bwMode="auto">
          <a:xfrm>
            <a:off x="7231063" y="3525204"/>
            <a:ext cx="11350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Warm</a:t>
            </a:r>
            <a:endParaRPr kumimoji="1" lang="en-US" altLang="zh-CN" sz="1400">
              <a:latin typeface="Times New Roman" panose="02020603050405020304" charset="0"/>
            </a:endParaRPr>
          </a:p>
        </p:txBody>
      </p:sp>
      <p:sp>
        <p:nvSpPr>
          <p:cNvPr id="75798" name="Rectangle 149"/>
          <p:cNvSpPr>
            <a:spLocks noChangeArrowheads="1"/>
          </p:cNvSpPr>
          <p:nvPr/>
        </p:nvSpPr>
        <p:spPr bwMode="auto">
          <a:xfrm>
            <a:off x="6096001" y="3525204"/>
            <a:ext cx="11350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Strong</a:t>
            </a:r>
            <a:endParaRPr kumimoji="1" lang="en-US" altLang="zh-CN" sz="1400">
              <a:latin typeface="Times New Roman" panose="02020603050405020304" charset="0"/>
            </a:endParaRPr>
          </a:p>
        </p:txBody>
      </p:sp>
      <p:sp>
        <p:nvSpPr>
          <p:cNvPr id="75799" name="Rectangle 148"/>
          <p:cNvSpPr>
            <a:spLocks noChangeArrowheads="1"/>
          </p:cNvSpPr>
          <p:nvPr/>
        </p:nvSpPr>
        <p:spPr bwMode="auto">
          <a:xfrm>
            <a:off x="4960938" y="3525204"/>
            <a:ext cx="11350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High</a:t>
            </a:r>
            <a:endParaRPr kumimoji="1" lang="en-US" altLang="zh-CN" sz="1400">
              <a:latin typeface="Times New Roman" panose="02020603050405020304" charset="0"/>
            </a:endParaRPr>
          </a:p>
        </p:txBody>
      </p:sp>
      <p:sp>
        <p:nvSpPr>
          <p:cNvPr id="75800" name="Rectangle 147"/>
          <p:cNvSpPr>
            <a:spLocks noChangeArrowheads="1"/>
          </p:cNvSpPr>
          <p:nvPr/>
        </p:nvSpPr>
        <p:spPr bwMode="auto">
          <a:xfrm>
            <a:off x="3825876" y="3525204"/>
            <a:ext cx="11350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Warm</a:t>
            </a:r>
            <a:endParaRPr kumimoji="1" lang="en-US" altLang="zh-CN" sz="1400">
              <a:latin typeface="Times New Roman" panose="02020603050405020304" charset="0"/>
            </a:endParaRPr>
          </a:p>
        </p:txBody>
      </p:sp>
      <p:sp>
        <p:nvSpPr>
          <p:cNvPr id="75801" name="Rectangle 146"/>
          <p:cNvSpPr>
            <a:spLocks noChangeArrowheads="1"/>
          </p:cNvSpPr>
          <p:nvPr/>
        </p:nvSpPr>
        <p:spPr bwMode="auto">
          <a:xfrm>
            <a:off x="2690813" y="3525204"/>
            <a:ext cx="11350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Sunny</a:t>
            </a:r>
            <a:endParaRPr kumimoji="1" lang="en-US" altLang="zh-CN" sz="1400">
              <a:latin typeface="Times New Roman" panose="02020603050405020304" charset="0"/>
            </a:endParaRPr>
          </a:p>
        </p:txBody>
      </p:sp>
      <p:sp>
        <p:nvSpPr>
          <p:cNvPr id="75802" name="Rectangle 145"/>
          <p:cNvSpPr>
            <a:spLocks noChangeArrowheads="1"/>
          </p:cNvSpPr>
          <p:nvPr/>
        </p:nvSpPr>
        <p:spPr bwMode="auto">
          <a:xfrm>
            <a:off x="1555751" y="3525204"/>
            <a:ext cx="11350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2</a:t>
            </a:r>
            <a:endParaRPr kumimoji="1" lang="en-US" altLang="zh-CN" sz="1400">
              <a:latin typeface="Times New Roman" panose="02020603050405020304" charset="0"/>
            </a:endParaRPr>
          </a:p>
        </p:txBody>
      </p:sp>
      <p:sp>
        <p:nvSpPr>
          <p:cNvPr id="75803" name="Rectangle 144"/>
          <p:cNvSpPr>
            <a:spLocks noChangeArrowheads="1"/>
          </p:cNvSpPr>
          <p:nvPr/>
        </p:nvSpPr>
        <p:spPr bwMode="auto">
          <a:xfrm>
            <a:off x="9501188" y="3129915"/>
            <a:ext cx="1135062"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Yes</a:t>
            </a:r>
            <a:endParaRPr kumimoji="1" lang="en-US" altLang="zh-CN" sz="1400">
              <a:latin typeface="Times New Roman" panose="02020603050405020304" charset="0"/>
            </a:endParaRPr>
          </a:p>
        </p:txBody>
      </p:sp>
      <p:sp>
        <p:nvSpPr>
          <p:cNvPr id="75804" name="Rectangle 143"/>
          <p:cNvSpPr>
            <a:spLocks noChangeArrowheads="1"/>
          </p:cNvSpPr>
          <p:nvPr/>
        </p:nvSpPr>
        <p:spPr bwMode="auto">
          <a:xfrm>
            <a:off x="8366126" y="3129915"/>
            <a:ext cx="1135063"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Same</a:t>
            </a:r>
            <a:endParaRPr kumimoji="1" lang="en-US" altLang="zh-CN" sz="1400">
              <a:latin typeface="Times New Roman" panose="02020603050405020304" charset="0"/>
            </a:endParaRPr>
          </a:p>
        </p:txBody>
      </p:sp>
      <p:sp>
        <p:nvSpPr>
          <p:cNvPr id="75805" name="Rectangle 142"/>
          <p:cNvSpPr>
            <a:spLocks noChangeArrowheads="1"/>
          </p:cNvSpPr>
          <p:nvPr/>
        </p:nvSpPr>
        <p:spPr bwMode="auto">
          <a:xfrm>
            <a:off x="7231063" y="3129915"/>
            <a:ext cx="1135062"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Warm</a:t>
            </a:r>
            <a:endParaRPr kumimoji="1" lang="en-US" altLang="zh-CN" sz="1400">
              <a:latin typeface="Times New Roman" panose="02020603050405020304" charset="0"/>
            </a:endParaRPr>
          </a:p>
        </p:txBody>
      </p:sp>
      <p:sp>
        <p:nvSpPr>
          <p:cNvPr id="75806" name="Rectangle 141"/>
          <p:cNvSpPr>
            <a:spLocks noChangeArrowheads="1"/>
          </p:cNvSpPr>
          <p:nvPr/>
        </p:nvSpPr>
        <p:spPr bwMode="auto">
          <a:xfrm>
            <a:off x="6096001" y="3129915"/>
            <a:ext cx="1135063"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Strong</a:t>
            </a:r>
            <a:endParaRPr kumimoji="1" lang="en-US" altLang="zh-CN" sz="1400">
              <a:latin typeface="Times New Roman" panose="02020603050405020304" charset="0"/>
            </a:endParaRPr>
          </a:p>
        </p:txBody>
      </p:sp>
      <p:sp>
        <p:nvSpPr>
          <p:cNvPr id="75807" name="Rectangle 140"/>
          <p:cNvSpPr>
            <a:spLocks noChangeArrowheads="1"/>
          </p:cNvSpPr>
          <p:nvPr/>
        </p:nvSpPr>
        <p:spPr bwMode="auto">
          <a:xfrm>
            <a:off x="4960938" y="3129915"/>
            <a:ext cx="1135062"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dirty="0">
                <a:latin typeface="Times New Roman" panose="02020603050405020304" charset="0"/>
              </a:rPr>
              <a:t>Normal</a:t>
            </a:r>
            <a:endParaRPr kumimoji="1" lang="en-US" altLang="zh-CN" sz="1400" dirty="0">
              <a:latin typeface="Times New Roman" panose="02020603050405020304" charset="0"/>
            </a:endParaRPr>
          </a:p>
        </p:txBody>
      </p:sp>
      <p:sp>
        <p:nvSpPr>
          <p:cNvPr id="75808" name="Rectangle 139"/>
          <p:cNvSpPr>
            <a:spLocks noChangeArrowheads="1"/>
          </p:cNvSpPr>
          <p:nvPr/>
        </p:nvSpPr>
        <p:spPr bwMode="auto">
          <a:xfrm>
            <a:off x="3825876" y="3129915"/>
            <a:ext cx="1135063"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Warm</a:t>
            </a:r>
            <a:endParaRPr kumimoji="1" lang="en-US" altLang="zh-CN" sz="1400">
              <a:latin typeface="Times New Roman" panose="02020603050405020304" charset="0"/>
            </a:endParaRPr>
          </a:p>
        </p:txBody>
      </p:sp>
      <p:sp>
        <p:nvSpPr>
          <p:cNvPr id="75809" name="Rectangle 138"/>
          <p:cNvSpPr>
            <a:spLocks noChangeArrowheads="1"/>
          </p:cNvSpPr>
          <p:nvPr/>
        </p:nvSpPr>
        <p:spPr bwMode="auto">
          <a:xfrm>
            <a:off x="2690813" y="3129915"/>
            <a:ext cx="1135062"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Sunny</a:t>
            </a:r>
            <a:endParaRPr kumimoji="1" lang="en-US" altLang="zh-CN" sz="1400">
              <a:latin typeface="Times New Roman" panose="02020603050405020304" charset="0"/>
            </a:endParaRPr>
          </a:p>
        </p:txBody>
      </p:sp>
      <p:sp>
        <p:nvSpPr>
          <p:cNvPr id="75810" name="Rectangle 137"/>
          <p:cNvSpPr>
            <a:spLocks noChangeArrowheads="1"/>
          </p:cNvSpPr>
          <p:nvPr/>
        </p:nvSpPr>
        <p:spPr bwMode="auto">
          <a:xfrm>
            <a:off x="1555751" y="3129915"/>
            <a:ext cx="1135063"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1</a:t>
            </a:r>
            <a:endParaRPr kumimoji="1" lang="en-US" altLang="zh-CN" sz="1400">
              <a:latin typeface="Times New Roman" panose="02020603050405020304" charset="0"/>
            </a:endParaRPr>
          </a:p>
        </p:txBody>
      </p:sp>
      <p:sp>
        <p:nvSpPr>
          <p:cNvPr id="75811" name="Rectangle 136"/>
          <p:cNvSpPr>
            <a:spLocks noChangeArrowheads="1"/>
          </p:cNvSpPr>
          <p:nvPr/>
        </p:nvSpPr>
        <p:spPr bwMode="auto">
          <a:xfrm>
            <a:off x="9501188" y="2748915"/>
            <a:ext cx="12763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EnjoySport</a:t>
            </a:r>
            <a:endParaRPr kumimoji="1" lang="en-US" altLang="zh-CN" sz="1400">
              <a:latin typeface="Times New Roman" panose="02020603050405020304" charset="0"/>
            </a:endParaRPr>
          </a:p>
        </p:txBody>
      </p:sp>
      <p:sp>
        <p:nvSpPr>
          <p:cNvPr id="75812" name="Rectangle 135"/>
          <p:cNvSpPr>
            <a:spLocks noChangeArrowheads="1"/>
          </p:cNvSpPr>
          <p:nvPr/>
        </p:nvSpPr>
        <p:spPr bwMode="auto">
          <a:xfrm>
            <a:off x="8366126" y="2748915"/>
            <a:ext cx="113506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Forecast</a:t>
            </a:r>
            <a:endParaRPr kumimoji="1" lang="en-US" altLang="zh-CN" sz="1400">
              <a:latin typeface="Times New Roman" panose="02020603050405020304" charset="0"/>
            </a:endParaRPr>
          </a:p>
        </p:txBody>
      </p:sp>
      <p:sp>
        <p:nvSpPr>
          <p:cNvPr id="75813" name="Rectangle 134"/>
          <p:cNvSpPr>
            <a:spLocks noChangeArrowheads="1"/>
          </p:cNvSpPr>
          <p:nvPr/>
        </p:nvSpPr>
        <p:spPr bwMode="auto">
          <a:xfrm>
            <a:off x="7231063" y="2748915"/>
            <a:ext cx="1135062"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Water</a:t>
            </a:r>
            <a:endParaRPr kumimoji="1" lang="en-US" altLang="zh-CN" sz="1400">
              <a:latin typeface="Times New Roman" panose="02020603050405020304" charset="0"/>
            </a:endParaRPr>
          </a:p>
        </p:txBody>
      </p:sp>
      <p:sp>
        <p:nvSpPr>
          <p:cNvPr id="75814" name="Rectangle 133"/>
          <p:cNvSpPr>
            <a:spLocks noChangeArrowheads="1"/>
          </p:cNvSpPr>
          <p:nvPr/>
        </p:nvSpPr>
        <p:spPr bwMode="auto">
          <a:xfrm>
            <a:off x="6096001" y="2748915"/>
            <a:ext cx="113506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Wind</a:t>
            </a:r>
            <a:endParaRPr kumimoji="1" lang="en-US" altLang="zh-CN" sz="1400">
              <a:latin typeface="Times New Roman" panose="02020603050405020304" charset="0"/>
            </a:endParaRPr>
          </a:p>
        </p:txBody>
      </p:sp>
      <p:sp>
        <p:nvSpPr>
          <p:cNvPr id="75815" name="Rectangle 132"/>
          <p:cNvSpPr>
            <a:spLocks noChangeArrowheads="1"/>
          </p:cNvSpPr>
          <p:nvPr/>
        </p:nvSpPr>
        <p:spPr bwMode="auto">
          <a:xfrm>
            <a:off x="4960938" y="2748915"/>
            <a:ext cx="1135062"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Humidity</a:t>
            </a:r>
            <a:endParaRPr kumimoji="1" lang="en-US" altLang="zh-CN" sz="1400">
              <a:latin typeface="Times New Roman" panose="02020603050405020304" charset="0"/>
            </a:endParaRPr>
          </a:p>
        </p:txBody>
      </p:sp>
      <p:sp>
        <p:nvSpPr>
          <p:cNvPr id="75816" name="Rectangle 131"/>
          <p:cNvSpPr>
            <a:spLocks noChangeArrowheads="1"/>
          </p:cNvSpPr>
          <p:nvPr/>
        </p:nvSpPr>
        <p:spPr bwMode="auto">
          <a:xfrm>
            <a:off x="3825876" y="2748915"/>
            <a:ext cx="113506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AirTemp</a:t>
            </a:r>
            <a:endParaRPr kumimoji="1" lang="en-US" altLang="zh-CN" sz="1400">
              <a:latin typeface="Times New Roman" panose="02020603050405020304" charset="0"/>
            </a:endParaRPr>
          </a:p>
        </p:txBody>
      </p:sp>
      <p:sp>
        <p:nvSpPr>
          <p:cNvPr id="75817" name="Rectangle 130"/>
          <p:cNvSpPr>
            <a:spLocks noChangeArrowheads="1"/>
          </p:cNvSpPr>
          <p:nvPr/>
        </p:nvSpPr>
        <p:spPr bwMode="auto">
          <a:xfrm>
            <a:off x="2690813" y="2748915"/>
            <a:ext cx="1135062"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Sky</a:t>
            </a:r>
            <a:endParaRPr kumimoji="1" lang="en-US" altLang="zh-CN" sz="1400">
              <a:latin typeface="Times New Roman" panose="02020603050405020304" charset="0"/>
            </a:endParaRPr>
          </a:p>
        </p:txBody>
      </p:sp>
      <p:sp>
        <p:nvSpPr>
          <p:cNvPr id="75818" name="Rectangle 129"/>
          <p:cNvSpPr>
            <a:spLocks noChangeArrowheads="1"/>
          </p:cNvSpPr>
          <p:nvPr/>
        </p:nvSpPr>
        <p:spPr bwMode="auto">
          <a:xfrm>
            <a:off x="1555751" y="2748915"/>
            <a:ext cx="113506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Example</a:t>
            </a:r>
            <a:endParaRPr kumimoji="1" lang="en-US" altLang="zh-CN" sz="1400">
              <a:latin typeface="Times New Roman" panose="02020603050405020304" charset="0"/>
            </a:endParaRPr>
          </a:p>
        </p:txBody>
      </p:sp>
      <p:sp>
        <p:nvSpPr>
          <p:cNvPr id="75819" name="Line 169"/>
          <p:cNvSpPr>
            <a:spLocks noChangeShapeType="1"/>
          </p:cNvSpPr>
          <p:nvPr/>
        </p:nvSpPr>
        <p:spPr bwMode="auto">
          <a:xfrm>
            <a:off x="1555750" y="2748915"/>
            <a:ext cx="9080500" cy="0"/>
          </a:xfrm>
          <a:prstGeom prst="line">
            <a:avLst/>
          </a:prstGeom>
          <a:noFill/>
          <a:ln w="28575" cap="sq">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5820" name="Line 170"/>
          <p:cNvSpPr>
            <a:spLocks noChangeShapeType="1"/>
          </p:cNvSpPr>
          <p:nvPr/>
        </p:nvSpPr>
        <p:spPr bwMode="auto">
          <a:xfrm>
            <a:off x="1555750" y="3129915"/>
            <a:ext cx="9080500"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5821" name="Line 174"/>
          <p:cNvSpPr>
            <a:spLocks noChangeShapeType="1"/>
          </p:cNvSpPr>
          <p:nvPr/>
        </p:nvSpPr>
        <p:spPr bwMode="auto">
          <a:xfrm>
            <a:off x="1555750" y="4714240"/>
            <a:ext cx="9080500" cy="0"/>
          </a:xfrm>
          <a:prstGeom prst="line">
            <a:avLst/>
          </a:prstGeom>
          <a:noFill/>
          <a:ln w="28575" cap="sq">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dirty="0">
              <a:latin typeface="Times New Roman" panose="02020603050405020304" charset="0"/>
              <a:cs typeface="Times New Roman" panose="02020603050405020304" charset="0"/>
            </a:endParaRPr>
          </a:p>
        </p:txBody>
      </p:sp>
      <p:sp>
        <p:nvSpPr>
          <p:cNvPr id="6" name="文本框 5"/>
          <p:cNvSpPr txBox="1"/>
          <p:nvPr/>
        </p:nvSpPr>
        <p:spPr>
          <a:xfrm>
            <a:off x="419735" y="291465"/>
            <a:ext cx="8637905" cy="583565"/>
          </a:xfrm>
          <a:prstGeom prst="rect">
            <a:avLst/>
          </a:prstGeom>
          <a:noFill/>
        </p:spPr>
        <p:txBody>
          <a:bodyPr wrap="square" rtlCol="0">
            <a:spAutoFit/>
            <a:scene3d>
              <a:camera prst="orthographicFront"/>
              <a:lightRig rig="threePt" dir="t"/>
            </a:scene3d>
          </a:bodyPr>
          <a:lstStyle/>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概念学习算法：</a:t>
            </a:r>
            <a:r>
              <a:rPr lang="zh-CN" altLang="en-US" sz="3200" b="1" spc="200" dirty="0">
                <a:solidFill>
                  <a:schemeClr val="accent1"/>
                </a:solidFill>
                <a:uFillTx/>
                <a:latin typeface="微软雅黑 Light" panose="020B0502040204020203" pitchFamily="34" charset="-122"/>
                <a:ea typeface="微软雅黑" panose="020B0503020204020204" charset="-122"/>
                <a:cs typeface="+mj-cs"/>
                <a:sym typeface="+mn-ea"/>
              </a:rPr>
              <a:t>候选消除算法及变型空间</a:t>
            </a:r>
            <a:endParaRPr lang="en-US" altLang="zh-CN" sz="3200" b="1" spc="200" dirty="0">
              <a:solidFill>
                <a:schemeClr val="accent1"/>
              </a:solidFill>
              <a:uFillTx/>
              <a:latin typeface="微软雅黑 Light" panose="020B0502040204020203" pitchFamily="34" charset="-122"/>
              <a:ea typeface="微软雅黑" panose="020B0503020204020204" charset="-122"/>
              <a:cs typeface="+mj-cs"/>
            </a:endParaRPr>
          </a:p>
        </p:txBody>
      </p:sp>
      <p:sp>
        <p:nvSpPr>
          <p:cNvPr id="4" name="文本框 3"/>
          <p:cNvSpPr txBox="1"/>
          <p:nvPr/>
        </p:nvSpPr>
        <p:spPr>
          <a:xfrm>
            <a:off x="419735" y="1130935"/>
            <a:ext cx="2696210" cy="398780"/>
          </a:xfrm>
          <a:prstGeom prst="rect">
            <a:avLst/>
          </a:prstGeom>
          <a:noFill/>
        </p:spPr>
        <p:txBody>
          <a:bodyPr wrap="square" rtlCol="0">
            <a:spAutoFit/>
          </a:bodyPr>
          <a:lstStyle/>
          <a:p>
            <a:r>
              <a:rPr lang="zh-CN" altLang="en-US" sz="2000" b="1"/>
              <a:t>步骤</a:t>
            </a:r>
            <a:r>
              <a:rPr lang="en-US" altLang="zh-CN" sz="2000" b="1"/>
              <a:t>0--</a:t>
            </a:r>
            <a:r>
              <a:rPr lang="zh-CN" altLang="en-US" sz="2000" b="1"/>
              <a:t>初始化</a:t>
            </a:r>
            <a:r>
              <a:rPr lang="en-US" altLang="zh-CN" sz="2000" b="1"/>
              <a:t>G</a:t>
            </a:r>
            <a:r>
              <a:rPr lang="en-US" altLang="zh-CN" sz="2000" b="1" baseline="-25000"/>
              <a:t>0</a:t>
            </a:r>
            <a:r>
              <a:rPr lang="zh-CN" altLang="en-US" sz="2000" b="1"/>
              <a:t>和</a:t>
            </a:r>
            <a:r>
              <a:rPr lang="en-US" altLang="zh-CN" sz="2000" b="1"/>
              <a:t>S</a:t>
            </a:r>
            <a:r>
              <a:rPr lang="en-US" altLang="zh-CN" sz="2000" b="1" baseline="-25000"/>
              <a:t>0</a:t>
            </a:r>
            <a:endParaRPr lang="en-US" altLang="zh-CN" sz="2000" b="1" baseline="-25000"/>
          </a:p>
        </p:txBody>
      </p:sp>
      <p:pic>
        <p:nvPicPr>
          <p:cNvPr id="5" name="Picture 2"/>
          <p:cNvPicPr>
            <a:picLocks noChangeAspect="1"/>
          </p:cNvPicPr>
          <p:nvPr/>
        </p:nvPicPr>
        <p:blipFill>
          <a:blip r:embed="rId1"/>
          <a:stretch>
            <a:fillRect/>
          </a:stretch>
        </p:blipFill>
        <p:spPr>
          <a:xfrm>
            <a:off x="3413893" y="1821815"/>
            <a:ext cx="5065498" cy="4610514"/>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dirty="0">
              <a:latin typeface="Times New Roman" panose="02020603050405020304" charset="0"/>
              <a:cs typeface="Times New Roman" panose="02020603050405020304" charset="0"/>
            </a:endParaRPr>
          </a:p>
        </p:txBody>
      </p:sp>
      <p:sp>
        <p:nvSpPr>
          <p:cNvPr id="6" name="文本框 5"/>
          <p:cNvSpPr txBox="1"/>
          <p:nvPr/>
        </p:nvSpPr>
        <p:spPr>
          <a:xfrm>
            <a:off x="419735" y="291465"/>
            <a:ext cx="8637905" cy="583565"/>
          </a:xfrm>
          <a:prstGeom prst="rect">
            <a:avLst/>
          </a:prstGeom>
          <a:noFill/>
        </p:spPr>
        <p:txBody>
          <a:bodyPr wrap="square" rtlCol="0">
            <a:spAutoFit/>
            <a:scene3d>
              <a:camera prst="orthographicFront"/>
              <a:lightRig rig="threePt" dir="t"/>
            </a:scene3d>
          </a:bodyPr>
          <a:lstStyle/>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概念学习算法：</a:t>
            </a:r>
            <a:r>
              <a:rPr lang="zh-CN" altLang="en-US" sz="3200" b="1" spc="200" dirty="0">
                <a:solidFill>
                  <a:schemeClr val="accent1"/>
                </a:solidFill>
                <a:uFillTx/>
                <a:latin typeface="微软雅黑 Light" panose="020B0502040204020203" pitchFamily="34" charset="-122"/>
                <a:ea typeface="微软雅黑" panose="020B0503020204020204" charset="-122"/>
                <a:cs typeface="+mj-cs"/>
                <a:sym typeface="+mn-ea"/>
              </a:rPr>
              <a:t>候选消除算法及变型空间</a:t>
            </a:r>
            <a:endParaRPr lang="en-US" altLang="zh-CN" sz="3200" b="1" spc="200" dirty="0">
              <a:solidFill>
                <a:schemeClr val="accent1"/>
              </a:solidFill>
              <a:uFillTx/>
              <a:latin typeface="微软雅黑 Light" panose="020B0502040204020203" pitchFamily="34" charset="-122"/>
              <a:ea typeface="微软雅黑" panose="020B0503020204020204" charset="-122"/>
              <a:cs typeface="+mj-cs"/>
            </a:endParaRPr>
          </a:p>
        </p:txBody>
      </p:sp>
      <p:sp>
        <p:nvSpPr>
          <p:cNvPr id="4" name="文本框 3"/>
          <p:cNvSpPr txBox="1"/>
          <p:nvPr/>
        </p:nvSpPr>
        <p:spPr>
          <a:xfrm>
            <a:off x="419735" y="1089660"/>
            <a:ext cx="10427335" cy="398780"/>
          </a:xfrm>
          <a:prstGeom prst="rect">
            <a:avLst/>
          </a:prstGeom>
          <a:noFill/>
        </p:spPr>
        <p:txBody>
          <a:bodyPr wrap="square" rtlCol="0">
            <a:spAutoFit/>
          </a:bodyPr>
          <a:lstStyle/>
          <a:p>
            <a:r>
              <a:rPr lang="zh-CN" altLang="en-US" sz="2000" b="1"/>
              <a:t>步骤</a:t>
            </a:r>
            <a:r>
              <a:rPr lang="en-US" altLang="zh-CN" sz="2000" b="1"/>
              <a:t>1--</a:t>
            </a:r>
            <a:r>
              <a:rPr lang="zh-CN" altLang="en-US" sz="2000" b="1"/>
              <a:t>根据训练样例集D中正样例</a:t>
            </a:r>
            <a:r>
              <a:rPr lang="en-US" altLang="zh-CN" sz="2000" b="1"/>
              <a:t>1</a:t>
            </a:r>
            <a:r>
              <a:rPr lang="zh-CN" altLang="en-US" sz="2000" b="1"/>
              <a:t>：一般化S</a:t>
            </a:r>
            <a:r>
              <a:rPr lang="en-US" altLang="zh-CN" sz="2000" b="1" baseline="-25000"/>
              <a:t>0</a:t>
            </a:r>
            <a:r>
              <a:rPr lang="en-US" altLang="zh-CN" sz="2000" b="1"/>
              <a:t>→S</a:t>
            </a:r>
            <a:r>
              <a:rPr lang="en-US" altLang="zh-CN" sz="2000" b="1" baseline="-25000"/>
              <a:t>1</a:t>
            </a:r>
            <a:r>
              <a:rPr lang="en-US" altLang="zh-CN" sz="2000" b="1"/>
              <a:t> </a:t>
            </a:r>
            <a:r>
              <a:rPr lang="zh-CN" altLang="en-US" sz="2000" b="1"/>
              <a:t>；</a:t>
            </a:r>
            <a:r>
              <a:rPr lang="en-US" altLang="zh-CN" sz="2000" b="1"/>
              <a:t>G</a:t>
            </a:r>
            <a:r>
              <a:rPr lang="en-US" altLang="zh-CN" sz="2000" b="1" baseline="-25000"/>
              <a:t>0</a:t>
            </a:r>
            <a:r>
              <a:rPr lang="zh-CN" altLang="en-US" sz="2000" b="1"/>
              <a:t>仍包含</a:t>
            </a:r>
            <a:r>
              <a:rPr lang="en-US" altLang="zh-CN" sz="2000" b="1"/>
              <a:t>S</a:t>
            </a:r>
            <a:r>
              <a:rPr lang="en-US" altLang="zh-CN" sz="2000" b="1" baseline="-25000"/>
              <a:t>1</a:t>
            </a:r>
            <a:r>
              <a:rPr lang="zh-CN" altLang="en-US" sz="2000" b="1"/>
              <a:t>，保持不变</a:t>
            </a:r>
            <a:r>
              <a:rPr lang="en-US" altLang="zh-CN" sz="2000" b="1"/>
              <a:t>(G</a:t>
            </a:r>
            <a:r>
              <a:rPr lang="en-US" altLang="zh-CN" sz="2000" b="1" baseline="-25000"/>
              <a:t>0</a:t>
            </a:r>
            <a:r>
              <a:rPr lang="en-US" altLang="zh-CN" sz="2000" b="1"/>
              <a:t>=G</a:t>
            </a:r>
            <a:r>
              <a:rPr lang="en-US" altLang="zh-CN" sz="2000" b="1" baseline="-25000"/>
              <a:t>1</a:t>
            </a:r>
            <a:r>
              <a:rPr lang="en-US" altLang="zh-CN" sz="2000" b="1"/>
              <a:t>)</a:t>
            </a:r>
            <a:endParaRPr lang="zh-CN" altLang="en-US" sz="2000" b="1"/>
          </a:p>
        </p:txBody>
      </p:sp>
      <p:pic>
        <p:nvPicPr>
          <p:cNvPr id="26" name="Picture 25"/>
          <p:cNvPicPr>
            <a:picLocks noChangeAspect="1"/>
          </p:cNvPicPr>
          <p:nvPr/>
        </p:nvPicPr>
        <p:blipFill>
          <a:blip r:embed="rId1"/>
          <a:stretch>
            <a:fillRect/>
          </a:stretch>
        </p:blipFill>
        <p:spPr>
          <a:xfrm>
            <a:off x="3714523" y="1703055"/>
            <a:ext cx="4463150" cy="4062269"/>
          </a:xfrm>
          <a:prstGeom prst="rect">
            <a:avLst/>
          </a:prstGeom>
        </p:spPr>
      </p:pic>
      <p:pic>
        <p:nvPicPr>
          <p:cNvPr id="5" name="Picture 2"/>
          <p:cNvPicPr>
            <a:picLocks noChangeAspect="1"/>
          </p:cNvPicPr>
          <p:nvPr/>
        </p:nvPicPr>
        <p:blipFill>
          <a:blip r:embed="rId2"/>
          <a:stretch>
            <a:fillRect/>
          </a:stretch>
        </p:blipFill>
        <p:spPr>
          <a:xfrm>
            <a:off x="1394142" y="5765324"/>
            <a:ext cx="5700713" cy="426456"/>
          </a:xfrm>
          <a:prstGeom prst="rect">
            <a:avLst/>
          </a:prstGeom>
        </p:spPr>
      </p:pic>
      <p:sp>
        <p:nvSpPr>
          <p:cNvPr id="8" name="Text Box 6"/>
          <p:cNvSpPr txBox="1">
            <a:spLocks noChangeArrowheads="1"/>
          </p:cNvSpPr>
          <p:nvPr/>
        </p:nvSpPr>
        <p:spPr bwMode="auto">
          <a:xfrm>
            <a:off x="3714523" y="2473325"/>
            <a:ext cx="5538788" cy="369332"/>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50000"/>
              </a:spcBef>
              <a:buSzTx/>
              <a:buFontTx/>
              <a:buNone/>
            </a:pPr>
            <a:r>
              <a:rPr kumimoji="1" lang="en-US" altLang="zh-CN" sz="2000" i="1">
                <a:latin typeface="Times New Roman" panose="02020603050405020304" charset="0"/>
              </a:rPr>
              <a:t>{&lt;Sunny Warm Normal Strong Warm Same&gt;}</a:t>
            </a:r>
            <a:endParaRPr kumimoji="1" lang="en-US" altLang="zh-CN" sz="2000" i="1">
              <a:latin typeface="Times New Roman" panose="02020603050405020304" charset="0"/>
            </a:endParaRPr>
          </a:p>
        </p:txBody>
      </p:sp>
      <p:sp>
        <p:nvSpPr>
          <p:cNvPr id="9" name="Text Box 8"/>
          <p:cNvSpPr txBox="1">
            <a:spLocks noChangeArrowheads="1"/>
          </p:cNvSpPr>
          <p:nvPr/>
        </p:nvSpPr>
        <p:spPr bwMode="auto">
          <a:xfrm>
            <a:off x="2855687" y="2473325"/>
            <a:ext cx="7016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eaLnBrk="1" hangingPunct="1">
              <a:spcBef>
                <a:spcPct val="50000"/>
              </a:spcBef>
              <a:buSzTx/>
              <a:buFontTx/>
              <a:buNone/>
            </a:pPr>
            <a:r>
              <a:rPr kumimoji="1" lang="en-US" altLang="zh-CN" sz="2000">
                <a:latin typeface="Times New Roman" panose="02020603050405020304" charset="0"/>
              </a:rPr>
              <a:t>S</a:t>
            </a:r>
            <a:r>
              <a:rPr kumimoji="1" lang="en-US" altLang="zh-CN" sz="2000" baseline="-25000">
                <a:latin typeface="Times New Roman" panose="02020603050405020304" charset="0"/>
              </a:rPr>
              <a:t>1</a:t>
            </a:r>
            <a:r>
              <a:rPr kumimoji="1" lang="en-US" altLang="zh-CN" sz="2000">
                <a:latin typeface="Times New Roman" panose="02020603050405020304" charset="0"/>
              </a:rPr>
              <a:t>:</a:t>
            </a:r>
            <a:endParaRPr kumimoji="1" lang="en-US" altLang="zh-CN" sz="2000" baseline="-25000">
              <a:latin typeface="Times New Roman" panose="02020603050405020304" charset="0"/>
            </a:endParaRPr>
          </a:p>
        </p:txBody>
      </p:sp>
      <p:sp>
        <p:nvSpPr>
          <p:cNvPr id="10" name="Line 24"/>
          <p:cNvSpPr>
            <a:spLocks noChangeShapeType="1"/>
          </p:cNvSpPr>
          <p:nvPr/>
        </p:nvSpPr>
        <p:spPr bwMode="auto">
          <a:xfrm>
            <a:off x="6365648" y="2328863"/>
            <a:ext cx="0" cy="144462"/>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 name="Text Box 23"/>
          <p:cNvSpPr txBox="1">
            <a:spLocks noChangeArrowheads="1"/>
          </p:cNvSpPr>
          <p:nvPr/>
        </p:nvSpPr>
        <p:spPr bwMode="auto">
          <a:xfrm>
            <a:off x="3962083" y="5139055"/>
            <a:ext cx="1092200"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eaLnBrk="1" hangingPunct="1">
              <a:spcBef>
                <a:spcPct val="50000"/>
              </a:spcBef>
              <a:buSzTx/>
              <a:buFontTx/>
              <a:buNone/>
            </a:pPr>
            <a:r>
              <a:rPr kumimoji="1" lang="en-US" altLang="zh-CN" sz="2000" dirty="0">
                <a:latin typeface="Times New Roman" panose="02020603050405020304" charset="0"/>
              </a:rPr>
              <a:t>G</a:t>
            </a:r>
            <a:r>
              <a:rPr kumimoji="1" lang="en-US" altLang="zh-CN" sz="2000" baseline="-25000" dirty="0">
                <a:latin typeface="Times New Roman" panose="02020603050405020304" charset="0"/>
              </a:rPr>
              <a:t>0</a:t>
            </a:r>
            <a:r>
              <a:rPr kumimoji="1" lang="en-US" altLang="zh-CN" sz="2000" dirty="0">
                <a:latin typeface="Times New Roman" panose="02020603050405020304" charset="0"/>
              </a:rPr>
              <a:t> G</a:t>
            </a:r>
            <a:r>
              <a:rPr kumimoji="1" lang="en-US" altLang="zh-CN" sz="2000" baseline="-25000" dirty="0">
                <a:latin typeface="Times New Roman" panose="02020603050405020304" charset="0"/>
              </a:rPr>
              <a:t>1</a:t>
            </a:r>
            <a:r>
              <a:rPr kumimoji="1" lang="en-US" altLang="zh-CN" sz="2000" dirty="0">
                <a:latin typeface="Times New Roman" panose="02020603050405020304" charset="0"/>
              </a:rPr>
              <a:t>:</a:t>
            </a:r>
            <a:endParaRPr kumimoji="1" lang="en-US" altLang="zh-CN" sz="2000" dirty="0">
              <a:latin typeface="Times New Roman" panose="020206030504050203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9" grpId="0"/>
      <p:bldP spid="11" grpId="0" bldLvl="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dirty="0">
              <a:latin typeface="Times New Roman" panose="02020603050405020304" charset="0"/>
              <a:cs typeface="Times New Roman" panose="02020603050405020304" charset="0"/>
            </a:endParaRPr>
          </a:p>
        </p:txBody>
      </p:sp>
      <p:sp>
        <p:nvSpPr>
          <p:cNvPr id="6" name="文本框 5"/>
          <p:cNvSpPr txBox="1"/>
          <p:nvPr/>
        </p:nvSpPr>
        <p:spPr>
          <a:xfrm>
            <a:off x="419735" y="291465"/>
            <a:ext cx="8637905" cy="583565"/>
          </a:xfrm>
          <a:prstGeom prst="rect">
            <a:avLst/>
          </a:prstGeom>
          <a:noFill/>
        </p:spPr>
        <p:txBody>
          <a:bodyPr wrap="square" rtlCol="0">
            <a:spAutoFit/>
            <a:scene3d>
              <a:camera prst="orthographicFront"/>
              <a:lightRig rig="threePt" dir="t"/>
            </a:scene3d>
          </a:bodyPr>
          <a:lstStyle/>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概念学习算法：</a:t>
            </a:r>
            <a:r>
              <a:rPr lang="zh-CN" altLang="en-US" sz="3200" b="1" spc="200" dirty="0">
                <a:solidFill>
                  <a:schemeClr val="accent1"/>
                </a:solidFill>
                <a:uFillTx/>
                <a:latin typeface="微软雅黑 Light" panose="020B0502040204020203" pitchFamily="34" charset="-122"/>
                <a:ea typeface="微软雅黑" panose="020B0503020204020204" charset="-122"/>
                <a:cs typeface="+mj-cs"/>
                <a:sym typeface="+mn-ea"/>
              </a:rPr>
              <a:t>候选消除算法及变型空间</a:t>
            </a:r>
            <a:endParaRPr lang="en-US" altLang="zh-CN" sz="3200" b="1" spc="200" dirty="0">
              <a:solidFill>
                <a:schemeClr val="accent1"/>
              </a:solidFill>
              <a:uFillTx/>
              <a:latin typeface="微软雅黑 Light" panose="020B0502040204020203" pitchFamily="34" charset="-122"/>
              <a:ea typeface="微软雅黑" panose="020B0503020204020204" charset="-122"/>
              <a:cs typeface="+mj-cs"/>
            </a:endParaRPr>
          </a:p>
        </p:txBody>
      </p:sp>
      <p:sp>
        <p:nvSpPr>
          <p:cNvPr id="4" name="文本框 3"/>
          <p:cNvSpPr txBox="1"/>
          <p:nvPr/>
        </p:nvSpPr>
        <p:spPr>
          <a:xfrm>
            <a:off x="419735" y="1114425"/>
            <a:ext cx="9649460" cy="398780"/>
          </a:xfrm>
          <a:prstGeom prst="rect">
            <a:avLst/>
          </a:prstGeom>
          <a:noFill/>
        </p:spPr>
        <p:txBody>
          <a:bodyPr wrap="square" rtlCol="0">
            <a:spAutoFit/>
          </a:bodyPr>
          <a:lstStyle/>
          <a:p>
            <a:r>
              <a:rPr lang="zh-CN" altLang="en-US" sz="2000" b="1"/>
              <a:t>步骤</a:t>
            </a:r>
            <a:r>
              <a:rPr lang="en-US" altLang="zh-CN" sz="2000" b="1"/>
              <a:t>2--</a:t>
            </a:r>
            <a:r>
              <a:rPr lang="zh-CN" altLang="en-US" sz="2000" b="1">
                <a:sym typeface="+mn-ea"/>
              </a:rPr>
              <a:t>根据训练样例集D中正样例</a:t>
            </a:r>
            <a:r>
              <a:rPr lang="en-US" altLang="zh-CN" sz="2000" b="1">
                <a:sym typeface="+mn-ea"/>
              </a:rPr>
              <a:t>2</a:t>
            </a:r>
            <a:r>
              <a:rPr lang="zh-CN" altLang="en-US" sz="2000" b="1">
                <a:sym typeface="+mn-ea"/>
              </a:rPr>
              <a:t>：一般化S</a:t>
            </a:r>
            <a:r>
              <a:rPr lang="en-US" altLang="zh-CN" sz="2000" b="1" baseline="-25000">
                <a:sym typeface="+mn-ea"/>
              </a:rPr>
              <a:t>1</a:t>
            </a:r>
            <a:r>
              <a:rPr lang="en-US" altLang="zh-CN" sz="2000" b="1">
                <a:sym typeface="+mn-ea"/>
              </a:rPr>
              <a:t>→S</a:t>
            </a:r>
            <a:r>
              <a:rPr lang="en-US" altLang="zh-CN" sz="2000" b="1" baseline="-25000">
                <a:sym typeface="+mn-ea"/>
              </a:rPr>
              <a:t>2</a:t>
            </a:r>
            <a:r>
              <a:rPr lang="en-US" altLang="zh-CN" sz="2000" b="1">
                <a:sym typeface="+mn-ea"/>
              </a:rPr>
              <a:t> </a:t>
            </a:r>
            <a:r>
              <a:rPr lang="zh-CN" altLang="en-US" sz="2000" b="1">
                <a:sym typeface="+mn-ea"/>
              </a:rPr>
              <a:t>；</a:t>
            </a:r>
            <a:r>
              <a:rPr lang="en-US" altLang="zh-CN" sz="2000" b="1">
                <a:sym typeface="+mn-ea"/>
              </a:rPr>
              <a:t>G</a:t>
            </a:r>
            <a:r>
              <a:rPr lang="en-US" altLang="zh-CN" sz="2000" b="1" baseline="-25000">
                <a:sym typeface="+mn-ea"/>
              </a:rPr>
              <a:t>1</a:t>
            </a:r>
            <a:r>
              <a:rPr lang="zh-CN" altLang="en-US" sz="2000" b="1">
                <a:sym typeface="+mn-ea"/>
              </a:rPr>
              <a:t>仍包含</a:t>
            </a:r>
            <a:r>
              <a:rPr lang="en-US" altLang="zh-CN" sz="2000" b="1">
                <a:sym typeface="+mn-ea"/>
              </a:rPr>
              <a:t>S</a:t>
            </a:r>
            <a:r>
              <a:rPr lang="en-US" altLang="zh-CN" sz="2000" b="1" baseline="-25000">
                <a:sym typeface="+mn-ea"/>
              </a:rPr>
              <a:t>2</a:t>
            </a:r>
            <a:r>
              <a:rPr lang="zh-CN" altLang="en-US" sz="2000" b="1">
                <a:sym typeface="+mn-ea"/>
              </a:rPr>
              <a:t>，保持不变</a:t>
            </a:r>
            <a:r>
              <a:rPr lang="en-US" altLang="zh-CN" sz="2000" b="1">
                <a:sym typeface="+mn-ea"/>
              </a:rPr>
              <a:t>(G</a:t>
            </a:r>
            <a:r>
              <a:rPr lang="en-US" altLang="zh-CN" sz="2000" b="1" baseline="-25000">
                <a:sym typeface="+mn-ea"/>
              </a:rPr>
              <a:t>1</a:t>
            </a:r>
            <a:r>
              <a:rPr lang="en-US" altLang="zh-CN" sz="2000" b="1">
                <a:sym typeface="+mn-ea"/>
              </a:rPr>
              <a:t>=G</a:t>
            </a:r>
            <a:r>
              <a:rPr lang="en-US" altLang="zh-CN" sz="2000" b="1" baseline="-25000">
                <a:sym typeface="+mn-ea"/>
              </a:rPr>
              <a:t>2</a:t>
            </a:r>
            <a:r>
              <a:rPr lang="en-US" altLang="zh-CN" sz="2000" b="1">
                <a:sym typeface="+mn-ea"/>
              </a:rPr>
              <a:t>)</a:t>
            </a:r>
            <a:endParaRPr lang="zh-CN" altLang="en-US" sz="2000" b="1"/>
          </a:p>
        </p:txBody>
      </p:sp>
      <p:pic>
        <p:nvPicPr>
          <p:cNvPr id="26" name="Picture 25"/>
          <p:cNvPicPr>
            <a:picLocks noChangeAspect="1"/>
          </p:cNvPicPr>
          <p:nvPr/>
        </p:nvPicPr>
        <p:blipFill>
          <a:blip r:embed="rId1"/>
          <a:stretch>
            <a:fillRect/>
          </a:stretch>
        </p:blipFill>
        <p:spPr>
          <a:xfrm>
            <a:off x="3518308" y="1528430"/>
            <a:ext cx="4463150" cy="4062269"/>
          </a:xfrm>
          <a:prstGeom prst="rect">
            <a:avLst/>
          </a:prstGeom>
        </p:spPr>
      </p:pic>
      <p:pic>
        <p:nvPicPr>
          <p:cNvPr id="5" name="Picture 2"/>
          <p:cNvPicPr>
            <a:picLocks noChangeAspect="1"/>
          </p:cNvPicPr>
          <p:nvPr/>
        </p:nvPicPr>
        <p:blipFill>
          <a:blip r:embed="rId2"/>
          <a:stretch>
            <a:fillRect/>
          </a:stretch>
        </p:blipFill>
        <p:spPr>
          <a:xfrm>
            <a:off x="1197927" y="5590699"/>
            <a:ext cx="5700713" cy="426456"/>
          </a:xfrm>
          <a:prstGeom prst="rect">
            <a:avLst/>
          </a:prstGeom>
        </p:spPr>
      </p:pic>
      <p:sp>
        <p:nvSpPr>
          <p:cNvPr id="8" name="Text Box 6"/>
          <p:cNvSpPr txBox="1">
            <a:spLocks noChangeArrowheads="1"/>
          </p:cNvSpPr>
          <p:nvPr/>
        </p:nvSpPr>
        <p:spPr bwMode="auto">
          <a:xfrm>
            <a:off x="3518308" y="2298700"/>
            <a:ext cx="5538788" cy="369332"/>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50000"/>
              </a:spcBef>
              <a:buSzTx/>
              <a:buFontTx/>
              <a:buNone/>
            </a:pPr>
            <a:r>
              <a:rPr kumimoji="1" lang="en-US" altLang="zh-CN" sz="2000" i="1">
                <a:latin typeface="Times New Roman" panose="02020603050405020304" charset="0"/>
              </a:rPr>
              <a:t>{&lt;Sunny Warm Normal Strong Warm Same&gt;}</a:t>
            </a:r>
            <a:endParaRPr kumimoji="1" lang="en-US" altLang="zh-CN" sz="2000" i="1">
              <a:latin typeface="Times New Roman" panose="02020603050405020304" charset="0"/>
            </a:endParaRPr>
          </a:p>
        </p:txBody>
      </p:sp>
      <p:sp>
        <p:nvSpPr>
          <p:cNvPr id="9" name="Text Box 8"/>
          <p:cNvSpPr txBox="1">
            <a:spLocks noChangeArrowheads="1"/>
          </p:cNvSpPr>
          <p:nvPr/>
        </p:nvSpPr>
        <p:spPr bwMode="auto">
          <a:xfrm>
            <a:off x="2659472" y="2298700"/>
            <a:ext cx="7016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eaLnBrk="1" hangingPunct="1">
              <a:spcBef>
                <a:spcPct val="50000"/>
              </a:spcBef>
              <a:buSzTx/>
              <a:buFontTx/>
              <a:buNone/>
            </a:pPr>
            <a:r>
              <a:rPr kumimoji="1" lang="en-US" altLang="zh-CN" sz="2000">
                <a:latin typeface="Times New Roman" panose="02020603050405020304" charset="0"/>
              </a:rPr>
              <a:t>S</a:t>
            </a:r>
            <a:r>
              <a:rPr kumimoji="1" lang="en-US" altLang="zh-CN" sz="2000" baseline="-25000">
                <a:latin typeface="Times New Roman" panose="02020603050405020304" charset="0"/>
              </a:rPr>
              <a:t>1</a:t>
            </a:r>
            <a:r>
              <a:rPr kumimoji="1" lang="en-US" altLang="zh-CN" sz="2000">
                <a:latin typeface="Times New Roman" panose="02020603050405020304" charset="0"/>
              </a:rPr>
              <a:t>:</a:t>
            </a:r>
            <a:endParaRPr kumimoji="1" lang="en-US" altLang="zh-CN" sz="2000" baseline="-25000">
              <a:latin typeface="Times New Roman" panose="02020603050405020304" charset="0"/>
            </a:endParaRPr>
          </a:p>
        </p:txBody>
      </p:sp>
      <p:sp>
        <p:nvSpPr>
          <p:cNvPr id="10" name="Line 24"/>
          <p:cNvSpPr>
            <a:spLocks noChangeShapeType="1"/>
          </p:cNvSpPr>
          <p:nvPr/>
        </p:nvSpPr>
        <p:spPr bwMode="auto">
          <a:xfrm>
            <a:off x="6169433" y="2154238"/>
            <a:ext cx="0" cy="144462"/>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 name="Text Box 23"/>
          <p:cNvSpPr txBox="1">
            <a:spLocks noChangeArrowheads="1"/>
          </p:cNvSpPr>
          <p:nvPr/>
        </p:nvSpPr>
        <p:spPr bwMode="auto">
          <a:xfrm>
            <a:off x="3765868" y="4964430"/>
            <a:ext cx="1092200"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eaLnBrk="1" hangingPunct="1">
              <a:spcBef>
                <a:spcPct val="50000"/>
              </a:spcBef>
              <a:buSzTx/>
              <a:buFontTx/>
              <a:buNone/>
            </a:pPr>
            <a:r>
              <a:rPr kumimoji="1" lang="en-US" altLang="zh-CN" sz="2000" dirty="0">
                <a:latin typeface="Times New Roman" panose="02020603050405020304" charset="0"/>
              </a:rPr>
              <a:t>G</a:t>
            </a:r>
            <a:r>
              <a:rPr kumimoji="1" lang="en-US" altLang="zh-CN" sz="2000" baseline="-25000" dirty="0">
                <a:latin typeface="Times New Roman" panose="02020603050405020304" charset="0"/>
              </a:rPr>
              <a:t>0</a:t>
            </a:r>
            <a:r>
              <a:rPr kumimoji="1" lang="en-US" altLang="zh-CN" sz="2000" dirty="0">
                <a:latin typeface="Times New Roman" panose="02020603050405020304" charset="0"/>
              </a:rPr>
              <a:t> G</a:t>
            </a:r>
            <a:r>
              <a:rPr kumimoji="1" lang="en-US" altLang="zh-CN" sz="2000" baseline="-25000" dirty="0">
                <a:latin typeface="Times New Roman" panose="02020603050405020304" charset="0"/>
              </a:rPr>
              <a:t>1</a:t>
            </a:r>
            <a:r>
              <a:rPr kumimoji="1" lang="en-US" altLang="zh-CN" sz="2000" dirty="0">
                <a:latin typeface="Times New Roman" panose="02020603050405020304" charset="0"/>
              </a:rPr>
              <a:t>:</a:t>
            </a:r>
            <a:endParaRPr kumimoji="1" lang="en-US" altLang="zh-CN" sz="2000" dirty="0">
              <a:latin typeface="Times New Roman" panose="02020603050405020304" charset="0"/>
            </a:endParaRPr>
          </a:p>
        </p:txBody>
      </p:sp>
      <p:pic>
        <p:nvPicPr>
          <p:cNvPr id="12" name="Picture 3"/>
          <p:cNvPicPr>
            <a:picLocks noChangeAspect="1"/>
          </p:cNvPicPr>
          <p:nvPr/>
        </p:nvPicPr>
        <p:blipFill>
          <a:blip r:embed="rId3"/>
          <a:stretch>
            <a:fillRect/>
          </a:stretch>
        </p:blipFill>
        <p:spPr>
          <a:xfrm>
            <a:off x="1116647" y="6089956"/>
            <a:ext cx="5522609" cy="440568"/>
          </a:xfrm>
          <a:prstGeom prst="rect">
            <a:avLst/>
          </a:prstGeom>
        </p:spPr>
      </p:pic>
      <p:sp>
        <p:nvSpPr>
          <p:cNvPr id="13" name="Text Box 7"/>
          <p:cNvSpPr txBox="1">
            <a:spLocks noChangeArrowheads="1"/>
          </p:cNvSpPr>
          <p:nvPr/>
        </p:nvSpPr>
        <p:spPr bwMode="auto">
          <a:xfrm>
            <a:off x="3522345" y="2814003"/>
            <a:ext cx="5538788" cy="369332"/>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50000"/>
              </a:spcBef>
              <a:buSzTx/>
              <a:buFontTx/>
              <a:buNone/>
            </a:pPr>
            <a:r>
              <a:rPr kumimoji="1" lang="en-US" altLang="zh-CN" sz="2000" i="1">
                <a:latin typeface="Times New Roman" panose="02020603050405020304" charset="0"/>
              </a:rPr>
              <a:t>{&lt;Sunny Warm ? Strong Warm Same&gt;}</a:t>
            </a:r>
            <a:endParaRPr kumimoji="1" lang="en-US" altLang="zh-CN" sz="2000" i="1">
              <a:latin typeface="Times New Roman" panose="02020603050405020304" charset="0"/>
            </a:endParaRPr>
          </a:p>
        </p:txBody>
      </p:sp>
      <p:sp>
        <p:nvSpPr>
          <p:cNvPr id="14" name="Text Box 9"/>
          <p:cNvSpPr txBox="1">
            <a:spLocks noChangeArrowheads="1"/>
          </p:cNvSpPr>
          <p:nvPr/>
        </p:nvSpPr>
        <p:spPr bwMode="auto">
          <a:xfrm>
            <a:off x="2663509" y="2814003"/>
            <a:ext cx="7016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eaLnBrk="1" hangingPunct="1">
              <a:spcBef>
                <a:spcPct val="50000"/>
              </a:spcBef>
              <a:buSzTx/>
              <a:buFontTx/>
              <a:buNone/>
            </a:pPr>
            <a:r>
              <a:rPr kumimoji="1" lang="en-US" altLang="zh-CN" sz="2000">
                <a:latin typeface="Times New Roman" panose="02020603050405020304" charset="0"/>
              </a:rPr>
              <a:t>S</a:t>
            </a:r>
            <a:r>
              <a:rPr kumimoji="1" lang="en-US" altLang="zh-CN" sz="2000" baseline="-25000">
                <a:latin typeface="Times New Roman" panose="02020603050405020304" charset="0"/>
              </a:rPr>
              <a:t>2</a:t>
            </a:r>
            <a:r>
              <a:rPr kumimoji="1" lang="en-US" altLang="zh-CN" sz="2000">
                <a:latin typeface="Times New Roman" panose="02020603050405020304" charset="0"/>
              </a:rPr>
              <a:t>:</a:t>
            </a:r>
            <a:endParaRPr kumimoji="1" lang="en-US" altLang="zh-CN" sz="2000" baseline="-25000">
              <a:latin typeface="Times New Roman" panose="02020603050405020304" charset="0"/>
            </a:endParaRPr>
          </a:p>
        </p:txBody>
      </p:sp>
      <p:sp>
        <p:nvSpPr>
          <p:cNvPr id="15" name="Line 25"/>
          <p:cNvSpPr>
            <a:spLocks noChangeShapeType="1"/>
          </p:cNvSpPr>
          <p:nvPr/>
        </p:nvSpPr>
        <p:spPr bwMode="auto">
          <a:xfrm>
            <a:off x="6173470" y="2669541"/>
            <a:ext cx="0" cy="144463"/>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 name="Text Box 15"/>
          <p:cNvSpPr txBox="1">
            <a:spLocks noChangeArrowheads="1"/>
          </p:cNvSpPr>
          <p:nvPr/>
        </p:nvSpPr>
        <p:spPr bwMode="auto">
          <a:xfrm>
            <a:off x="3210793" y="4964430"/>
            <a:ext cx="1638300"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eaLnBrk="1" hangingPunct="1">
              <a:spcBef>
                <a:spcPct val="50000"/>
              </a:spcBef>
              <a:buSzTx/>
              <a:buFontTx/>
              <a:buNone/>
            </a:pPr>
            <a:r>
              <a:rPr kumimoji="1" lang="en-US" altLang="zh-CN" sz="2000" dirty="0">
                <a:latin typeface="Times New Roman" panose="02020603050405020304" charset="0"/>
              </a:rPr>
              <a:t>G</a:t>
            </a:r>
            <a:r>
              <a:rPr kumimoji="1" lang="en-US" altLang="zh-CN" sz="2000" baseline="-25000" dirty="0">
                <a:latin typeface="Times New Roman" panose="02020603050405020304" charset="0"/>
              </a:rPr>
              <a:t>0</a:t>
            </a:r>
            <a:r>
              <a:rPr kumimoji="1" lang="en-US" altLang="zh-CN" sz="2000" dirty="0">
                <a:latin typeface="Times New Roman" panose="02020603050405020304" charset="0"/>
              </a:rPr>
              <a:t> G</a:t>
            </a:r>
            <a:r>
              <a:rPr kumimoji="1" lang="en-US" altLang="zh-CN" sz="2000" baseline="-25000" dirty="0">
                <a:latin typeface="Times New Roman" panose="02020603050405020304" charset="0"/>
              </a:rPr>
              <a:t>1 </a:t>
            </a:r>
            <a:r>
              <a:rPr kumimoji="1" lang="en-US" altLang="zh-CN" sz="2000" dirty="0">
                <a:latin typeface="Times New Roman" panose="02020603050405020304" charset="0"/>
              </a:rPr>
              <a:t>G</a:t>
            </a:r>
            <a:r>
              <a:rPr kumimoji="1" lang="en-US" altLang="zh-CN" sz="2000" baseline="-25000" dirty="0">
                <a:latin typeface="Times New Roman" panose="02020603050405020304" charset="0"/>
              </a:rPr>
              <a:t>2</a:t>
            </a:r>
            <a:r>
              <a:rPr kumimoji="1" lang="en-US" altLang="zh-CN" sz="2000" dirty="0">
                <a:latin typeface="Times New Roman" panose="02020603050405020304" charset="0"/>
              </a:rPr>
              <a:t> :</a:t>
            </a:r>
            <a:endParaRPr kumimoji="1" lang="en-US" altLang="zh-CN" sz="2000" dirty="0">
              <a:latin typeface="Times New Roman" panose="020206030504050203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13"/>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grpId="0" nodeType="after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ldLvl="0" animBg="1"/>
      <p:bldP spid="14" grpId="0"/>
      <p:bldP spid="16" grpId="0" bldLvl="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dirty="0">
              <a:latin typeface="Times New Roman" panose="02020603050405020304" charset="0"/>
              <a:cs typeface="Times New Roman" panose="02020603050405020304" charset="0"/>
            </a:endParaRPr>
          </a:p>
        </p:txBody>
      </p:sp>
      <p:sp>
        <p:nvSpPr>
          <p:cNvPr id="6" name="文本框 5"/>
          <p:cNvSpPr txBox="1"/>
          <p:nvPr/>
        </p:nvSpPr>
        <p:spPr>
          <a:xfrm>
            <a:off x="419735" y="291465"/>
            <a:ext cx="8637905" cy="583565"/>
          </a:xfrm>
          <a:prstGeom prst="rect">
            <a:avLst/>
          </a:prstGeom>
          <a:noFill/>
        </p:spPr>
        <p:txBody>
          <a:bodyPr wrap="square" rtlCol="0">
            <a:spAutoFit/>
            <a:scene3d>
              <a:camera prst="orthographicFront"/>
              <a:lightRig rig="threePt" dir="t"/>
            </a:scene3d>
          </a:bodyPr>
          <a:lstStyle/>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概念学习算法：</a:t>
            </a:r>
            <a:r>
              <a:rPr lang="zh-CN" altLang="en-US" sz="3200" b="1" spc="200" dirty="0">
                <a:solidFill>
                  <a:schemeClr val="accent1"/>
                </a:solidFill>
                <a:uFillTx/>
                <a:latin typeface="微软雅黑 Light" panose="020B0502040204020203" pitchFamily="34" charset="-122"/>
                <a:ea typeface="微软雅黑" panose="020B0503020204020204" charset="-122"/>
                <a:cs typeface="+mj-cs"/>
                <a:sym typeface="+mn-ea"/>
              </a:rPr>
              <a:t>候选消除算法及变型空间</a:t>
            </a:r>
            <a:endParaRPr lang="en-US" altLang="zh-CN" sz="3200" b="1" spc="200" dirty="0">
              <a:solidFill>
                <a:schemeClr val="accent1"/>
              </a:solidFill>
              <a:uFillTx/>
              <a:latin typeface="微软雅黑 Light" panose="020B0502040204020203" pitchFamily="34" charset="-122"/>
              <a:ea typeface="微软雅黑" panose="020B0503020204020204" charset="-122"/>
              <a:cs typeface="+mj-cs"/>
            </a:endParaRPr>
          </a:p>
        </p:txBody>
      </p:sp>
      <p:sp>
        <p:nvSpPr>
          <p:cNvPr id="4" name="文本框 3"/>
          <p:cNvSpPr txBox="1"/>
          <p:nvPr/>
        </p:nvSpPr>
        <p:spPr>
          <a:xfrm>
            <a:off x="301625" y="1106170"/>
            <a:ext cx="11452860" cy="398780"/>
          </a:xfrm>
          <a:prstGeom prst="rect">
            <a:avLst/>
          </a:prstGeom>
          <a:noFill/>
        </p:spPr>
        <p:txBody>
          <a:bodyPr wrap="square" rtlCol="0">
            <a:spAutoFit/>
          </a:bodyPr>
          <a:lstStyle/>
          <a:p>
            <a:r>
              <a:rPr lang="zh-CN" altLang="en-US" sz="2000" b="1"/>
              <a:t>步骤</a:t>
            </a:r>
            <a:r>
              <a:rPr lang="en-US" altLang="zh-CN" sz="2000" b="1"/>
              <a:t>3--</a:t>
            </a:r>
            <a:r>
              <a:rPr lang="zh-CN" altLang="en-US" sz="2000" b="1">
                <a:sym typeface="+mn-ea"/>
              </a:rPr>
              <a:t>根据训练样例集D中负样例</a:t>
            </a:r>
            <a:r>
              <a:rPr lang="en-US" altLang="zh-CN" sz="2000" b="1">
                <a:sym typeface="+mn-ea"/>
              </a:rPr>
              <a:t>3</a:t>
            </a:r>
            <a:r>
              <a:rPr lang="zh-CN" altLang="en-US" sz="2000" b="1">
                <a:sym typeface="+mn-ea"/>
              </a:rPr>
              <a:t>：保持</a:t>
            </a:r>
            <a:r>
              <a:rPr lang="en-US" altLang="zh-CN" sz="2000" b="1">
                <a:sym typeface="+mn-ea"/>
              </a:rPr>
              <a:t>S</a:t>
            </a:r>
            <a:r>
              <a:rPr lang="en-US" altLang="zh-CN" sz="2000" b="1" baseline="-25000">
                <a:sym typeface="+mn-ea"/>
              </a:rPr>
              <a:t>2</a:t>
            </a:r>
            <a:r>
              <a:rPr lang="zh-CN" altLang="en-US" sz="2000" b="1">
                <a:sym typeface="+mn-ea"/>
              </a:rPr>
              <a:t>不变</a:t>
            </a:r>
            <a:r>
              <a:rPr lang="en-US" altLang="zh-CN" sz="2000" b="1">
                <a:sym typeface="+mn-ea"/>
              </a:rPr>
              <a:t>(S</a:t>
            </a:r>
            <a:r>
              <a:rPr lang="en-US" altLang="zh-CN" sz="2000" b="1" baseline="-25000">
                <a:sym typeface="+mn-ea"/>
              </a:rPr>
              <a:t>2</a:t>
            </a:r>
            <a:r>
              <a:rPr lang="en-US" altLang="zh-CN" sz="2000" b="1">
                <a:sym typeface="+mn-ea"/>
              </a:rPr>
              <a:t>=S</a:t>
            </a:r>
            <a:r>
              <a:rPr lang="en-US" altLang="zh-CN" sz="2000" b="1" baseline="-25000">
                <a:sym typeface="+mn-ea"/>
              </a:rPr>
              <a:t>3</a:t>
            </a:r>
            <a:r>
              <a:rPr lang="en-US" altLang="zh-CN" sz="2000" b="1">
                <a:sym typeface="+mn-ea"/>
              </a:rPr>
              <a:t>) </a:t>
            </a:r>
            <a:r>
              <a:rPr lang="zh-CN" altLang="en-US" sz="2000" b="1">
                <a:sym typeface="+mn-ea"/>
              </a:rPr>
              <a:t>并特殊化</a:t>
            </a:r>
            <a:r>
              <a:rPr lang="en-US" altLang="zh-CN" sz="2000" b="1">
                <a:sym typeface="+mn-ea"/>
              </a:rPr>
              <a:t>G</a:t>
            </a:r>
            <a:r>
              <a:rPr lang="en-US" altLang="zh-CN" sz="2000" b="1" baseline="-25000">
                <a:sym typeface="+mn-ea"/>
              </a:rPr>
              <a:t>2</a:t>
            </a:r>
            <a:r>
              <a:rPr lang="en-US" altLang="zh-CN" sz="2000" b="1">
                <a:sym typeface="+mn-ea"/>
              </a:rPr>
              <a:t>→G</a:t>
            </a:r>
            <a:r>
              <a:rPr lang="en-US" altLang="zh-CN" sz="2000" b="1" baseline="-25000">
                <a:sym typeface="+mn-ea"/>
              </a:rPr>
              <a:t>3</a:t>
            </a:r>
            <a:r>
              <a:rPr lang="en-US" altLang="zh-CN" sz="2000" b="1">
                <a:sym typeface="+mn-ea"/>
              </a:rPr>
              <a:t>(</a:t>
            </a:r>
            <a:r>
              <a:rPr lang="zh-CN" altLang="en-US" sz="2000" b="1">
                <a:sym typeface="+mn-ea"/>
              </a:rPr>
              <a:t>需保证特殊化后的G</a:t>
            </a:r>
            <a:r>
              <a:rPr lang="en-US" altLang="zh-CN" sz="2000" b="1" baseline="-25000">
                <a:sym typeface="+mn-ea"/>
              </a:rPr>
              <a:t>3</a:t>
            </a:r>
            <a:r>
              <a:rPr lang="zh-CN" altLang="en-US" sz="2000" b="1">
                <a:sym typeface="+mn-ea"/>
              </a:rPr>
              <a:t>仍包含S</a:t>
            </a:r>
            <a:r>
              <a:rPr lang="en-US" altLang="zh-CN" sz="2000" b="1" baseline="-25000">
                <a:sym typeface="+mn-ea"/>
              </a:rPr>
              <a:t>3</a:t>
            </a:r>
            <a:r>
              <a:rPr lang="en-US" altLang="zh-CN" sz="2000" b="1">
                <a:sym typeface="+mn-ea"/>
              </a:rPr>
              <a:t>)</a:t>
            </a:r>
            <a:endParaRPr lang="en-US" altLang="zh-CN" sz="2000" b="1">
              <a:sym typeface="+mn-ea"/>
            </a:endParaRPr>
          </a:p>
        </p:txBody>
      </p:sp>
      <p:pic>
        <p:nvPicPr>
          <p:cNvPr id="26" name="Picture 25"/>
          <p:cNvPicPr>
            <a:picLocks noChangeAspect="1"/>
          </p:cNvPicPr>
          <p:nvPr/>
        </p:nvPicPr>
        <p:blipFill>
          <a:blip r:embed="rId1"/>
          <a:stretch>
            <a:fillRect/>
          </a:stretch>
        </p:blipFill>
        <p:spPr>
          <a:xfrm>
            <a:off x="3714523" y="1504935"/>
            <a:ext cx="4463150" cy="4062269"/>
          </a:xfrm>
          <a:prstGeom prst="rect">
            <a:avLst/>
          </a:prstGeom>
        </p:spPr>
      </p:pic>
      <p:pic>
        <p:nvPicPr>
          <p:cNvPr id="5" name="Picture 2"/>
          <p:cNvPicPr>
            <a:picLocks noChangeAspect="1"/>
          </p:cNvPicPr>
          <p:nvPr/>
        </p:nvPicPr>
        <p:blipFill>
          <a:blip r:embed="rId2"/>
          <a:stretch>
            <a:fillRect/>
          </a:stretch>
        </p:blipFill>
        <p:spPr>
          <a:xfrm>
            <a:off x="1394142" y="5516404"/>
            <a:ext cx="5700713" cy="426456"/>
          </a:xfrm>
          <a:prstGeom prst="rect">
            <a:avLst/>
          </a:prstGeom>
        </p:spPr>
      </p:pic>
      <p:sp>
        <p:nvSpPr>
          <p:cNvPr id="8" name="Text Box 6"/>
          <p:cNvSpPr txBox="1">
            <a:spLocks noChangeArrowheads="1"/>
          </p:cNvSpPr>
          <p:nvPr/>
        </p:nvSpPr>
        <p:spPr bwMode="auto">
          <a:xfrm>
            <a:off x="3714523" y="2275205"/>
            <a:ext cx="5538788" cy="369332"/>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50000"/>
              </a:spcBef>
              <a:buSzTx/>
              <a:buFontTx/>
              <a:buNone/>
            </a:pPr>
            <a:r>
              <a:rPr kumimoji="1" lang="en-US" altLang="zh-CN" sz="2000" i="1">
                <a:latin typeface="Times New Roman" panose="02020603050405020304" charset="0"/>
              </a:rPr>
              <a:t>{&lt;Sunny Warm Normal Strong Warm Same&gt;}</a:t>
            </a:r>
            <a:endParaRPr kumimoji="1" lang="en-US" altLang="zh-CN" sz="2000" i="1">
              <a:latin typeface="Times New Roman" panose="02020603050405020304" charset="0"/>
            </a:endParaRPr>
          </a:p>
        </p:txBody>
      </p:sp>
      <p:sp>
        <p:nvSpPr>
          <p:cNvPr id="9" name="Text Box 8"/>
          <p:cNvSpPr txBox="1">
            <a:spLocks noChangeArrowheads="1"/>
          </p:cNvSpPr>
          <p:nvPr/>
        </p:nvSpPr>
        <p:spPr bwMode="auto">
          <a:xfrm>
            <a:off x="2855687" y="2275205"/>
            <a:ext cx="7016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eaLnBrk="1" hangingPunct="1">
              <a:spcBef>
                <a:spcPct val="50000"/>
              </a:spcBef>
              <a:buSzTx/>
              <a:buFontTx/>
              <a:buNone/>
            </a:pPr>
            <a:r>
              <a:rPr kumimoji="1" lang="en-US" altLang="zh-CN" sz="2000">
                <a:latin typeface="Times New Roman" panose="02020603050405020304" charset="0"/>
              </a:rPr>
              <a:t>S</a:t>
            </a:r>
            <a:r>
              <a:rPr kumimoji="1" lang="en-US" altLang="zh-CN" sz="2000" baseline="-25000">
                <a:latin typeface="Times New Roman" panose="02020603050405020304" charset="0"/>
              </a:rPr>
              <a:t>1</a:t>
            </a:r>
            <a:r>
              <a:rPr kumimoji="1" lang="en-US" altLang="zh-CN" sz="2000">
                <a:latin typeface="Times New Roman" panose="02020603050405020304" charset="0"/>
              </a:rPr>
              <a:t>:</a:t>
            </a:r>
            <a:endParaRPr kumimoji="1" lang="en-US" altLang="zh-CN" sz="2000" baseline="-25000">
              <a:latin typeface="Times New Roman" panose="02020603050405020304" charset="0"/>
            </a:endParaRPr>
          </a:p>
        </p:txBody>
      </p:sp>
      <p:sp>
        <p:nvSpPr>
          <p:cNvPr id="10" name="Line 24"/>
          <p:cNvSpPr>
            <a:spLocks noChangeShapeType="1"/>
          </p:cNvSpPr>
          <p:nvPr/>
        </p:nvSpPr>
        <p:spPr bwMode="auto">
          <a:xfrm>
            <a:off x="6365648" y="2130743"/>
            <a:ext cx="0" cy="144462"/>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 name="Text Box 23"/>
          <p:cNvSpPr txBox="1">
            <a:spLocks noChangeArrowheads="1"/>
          </p:cNvSpPr>
          <p:nvPr/>
        </p:nvSpPr>
        <p:spPr bwMode="auto">
          <a:xfrm>
            <a:off x="3962083" y="4940935"/>
            <a:ext cx="1092200"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eaLnBrk="1" hangingPunct="1">
              <a:spcBef>
                <a:spcPct val="50000"/>
              </a:spcBef>
              <a:buSzTx/>
              <a:buFontTx/>
              <a:buNone/>
            </a:pPr>
            <a:r>
              <a:rPr kumimoji="1" lang="en-US" altLang="zh-CN" sz="2000" dirty="0">
                <a:latin typeface="Times New Roman" panose="02020603050405020304" charset="0"/>
              </a:rPr>
              <a:t>G</a:t>
            </a:r>
            <a:r>
              <a:rPr kumimoji="1" lang="en-US" altLang="zh-CN" sz="2000" baseline="-25000" dirty="0">
                <a:latin typeface="Times New Roman" panose="02020603050405020304" charset="0"/>
              </a:rPr>
              <a:t>0</a:t>
            </a:r>
            <a:r>
              <a:rPr kumimoji="1" lang="en-US" altLang="zh-CN" sz="2000" dirty="0">
                <a:latin typeface="Times New Roman" panose="02020603050405020304" charset="0"/>
              </a:rPr>
              <a:t> G</a:t>
            </a:r>
            <a:r>
              <a:rPr kumimoji="1" lang="en-US" altLang="zh-CN" sz="2000" baseline="-25000" dirty="0">
                <a:latin typeface="Times New Roman" panose="02020603050405020304" charset="0"/>
              </a:rPr>
              <a:t>1</a:t>
            </a:r>
            <a:r>
              <a:rPr kumimoji="1" lang="en-US" altLang="zh-CN" sz="2000" dirty="0">
                <a:latin typeface="Times New Roman" panose="02020603050405020304" charset="0"/>
              </a:rPr>
              <a:t>:</a:t>
            </a:r>
            <a:endParaRPr kumimoji="1" lang="en-US" altLang="zh-CN" sz="2000" dirty="0">
              <a:latin typeface="Times New Roman" panose="02020603050405020304" charset="0"/>
            </a:endParaRPr>
          </a:p>
        </p:txBody>
      </p:sp>
      <p:pic>
        <p:nvPicPr>
          <p:cNvPr id="12" name="Picture 3"/>
          <p:cNvPicPr>
            <a:picLocks noChangeAspect="1"/>
          </p:cNvPicPr>
          <p:nvPr/>
        </p:nvPicPr>
        <p:blipFill>
          <a:blip r:embed="rId3"/>
          <a:stretch>
            <a:fillRect/>
          </a:stretch>
        </p:blipFill>
        <p:spPr>
          <a:xfrm>
            <a:off x="1333182" y="6015661"/>
            <a:ext cx="5522609" cy="440568"/>
          </a:xfrm>
          <a:prstGeom prst="rect">
            <a:avLst/>
          </a:prstGeom>
        </p:spPr>
      </p:pic>
      <p:sp>
        <p:nvSpPr>
          <p:cNvPr id="13" name="Text Box 7"/>
          <p:cNvSpPr txBox="1">
            <a:spLocks noChangeArrowheads="1"/>
          </p:cNvSpPr>
          <p:nvPr/>
        </p:nvSpPr>
        <p:spPr bwMode="auto">
          <a:xfrm>
            <a:off x="3718560" y="2790508"/>
            <a:ext cx="5538788" cy="369332"/>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50000"/>
              </a:spcBef>
              <a:buSzTx/>
              <a:buFontTx/>
              <a:buNone/>
            </a:pPr>
            <a:r>
              <a:rPr kumimoji="1" lang="en-US" altLang="zh-CN" sz="2000" i="1">
                <a:latin typeface="Times New Roman" panose="02020603050405020304" charset="0"/>
              </a:rPr>
              <a:t>{&lt;Sunny Warm ? Strong Warm Same&gt;}</a:t>
            </a:r>
            <a:endParaRPr kumimoji="1" lang="en-US" altLang="zh-CN" sz="2000" i="1">
              <a:latin typeface="Times New Roman" panose="02020603050405020304" charset="0"/>
            </a:endParaRPr>
          </a:p>
        </p:txBody>
      </p:sp>
      <p:sp>
        <p:nvSpPr>
          <p:cNvPr id="14" name="Text Box 9"/>
          <p:cNvSpPr txBox="1">
            <a:spLocks noChangeArrowheads="1"/>
          </p:cNvSpPr>
          <p:nvPr/>
        </p:nvSpPr>
        <p:spPr bwMode="auto">
          <a:xfrm>
            <a:off x="2859724" y="2790508"/>
            <a:ext cx="7016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eaLnBrk="1" hangingPunct="1">
              <a:spcBef>
                <a:spcPct val="50000"/>
              </a:spcBef>
              <a:buSzTx/>
              <a:buFontTx/>
              <a:buNone/>
            </a:pPr>
            <a:r>
              <a:rPr kumimoji="1" lang="en-US" altLang="zh-CN" sz="2000" dirty="0">
                <a:latin typeface="Times New Roman" panose="02020603050405020304" charset="0"/>
              </a:rPr>
              <a:t>S</a:t>
            </a:r>
            <a:r>
              <a:rPr kumimoji="1" lang="en-US" altLang="zh-CN" sz="2000" baseline="-25000" dirty="0">
                <a:latin typeface="Times New Roman" panose="02020603050405020304" charset="0"/>
              </a:rPr>
              <a:t>2</a:t>
            </a:r>
            <a:r>
              <a:rPr kumimoji="1" lang="en-US" altLang="zh-CN" sz="2000" dirty="0">
                <a:latin typeface="Times New Roman" panose="02020603050405020304" charset="0"/>
              </a:rPr>
              <a:t>:</a:t>
            </a:r>
            <a:endParaRPr kumimoji="1" lang="en-US" altLang="zh-CN" sz="2000" baseline="-25000" dirty="0">
              <a:latin typeface="Times New Roman" panose="02020603050405020304" charset="0"/>
            </a:endParaRPr>
          </a:p>
        </p:txBody>
      </p:sp>
      <p:sp>
        <p:nvSpPr>
          <p:cNvPr id="15" name="Line 25"/>
          <p:cNvSpPr>
            <a:spLocks noChangeShapeType="1"/>
          </p:cNvSpPr>
          <p:nvPr/>
        </p:nvSpPr>
        <p:spPr bwMode="auto">
          <a:xfrm>
            <a:off x="6369685" y="2646046"/>
            <a:ext cx="0" cy="144463"/>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 name="Text Box 15"/>
          <p:cNvSpPr txBox="1">
            <a:spLocks noChangeArrowheads="1"/>
          </p:cNvSpPr>
          <p:nvPr/>
        </p:nvSpPr>
        <p:spPr bwMode="auto">
          <a:xfrm>
            <a:off x="3407008" y="4940935"/>
            <a:ext cx="1638300"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eaLnBrk="1" hangingPunct="1">
              <a:spcBef>
                <a:spcPct val="50000"/>
              </a:spcBef>
              <a:buSzTx/>
              <a:buFontTx/>
              <a:buNone/>
            </a:pPr>
            <a:r>
              <a:rPr kumimoji="1" lang="en-US" altLang="zh-CN" sz="2000" dirty="0">
                <a:latin typeface="Times New Roman" panose="02020603050405020304" charset="0"/>
              </a:rPr>
              <a:t>G</a:t>
            </a:r>
            <a:r>
              <a:rPr kumimoji="1" lang="en-US" altLang="zh-CN" sz="2000" baseline="-25000" dirty="0">
                <a:latin typeface="Times New Roman" panose="02020603050405020304" charset="0"/>
              </a:rPr>
              <a:t>0</a:t>
            </a:r>
            <a:r>
              <a:rPr kumimoji="1" lang="en-US" altLang="zh-CN" sz="2000" dirty="0">
                <a:latin typeface="Times New Roman" panose="02020603050405020304" charset="0"/>
              </a:rPr>
              <a:t> G</a:t>
            </a:r>
            <a:r>
              <a:rPr kumimoji="1" lang="en-US" altLang="zh-CN" sz="2000" baseline="-25000" dirty="0">
                <a:latin typeface="Times New Roman" panose="02020603050405020304" charset="0"/>
              </a:rPr>
              <a:t>1 </a:t>
            </a:r>
            <a:r>
              <a:rPr kumimoji="1" lang="en-US" altLang="zh-CN" sz="2000" dirty="0">
                <a:latin typeface="Times New Roman" panose="02020603050405020304" charset="0"/>
              </a:rPr>
              <a:t>G</a:t>
            </a:r>
            <a:r>
              <a:rPr kumimoji="1" lang="en-US" altLang="zh-CN" sz="2000" baseline="-25000" dirty="0">
                <a:latin typeface="Times New Roman" panose="02020603050405020304" charset="0"/>
              </a:rPr>
              <a:t>2</a:t>
            </a:r>
            <a:r>
              <a:rPr kumimoji="1" lang="en-US" altLang="zh-CN" sz="2000" dirty="0">
                <a:latin typeface="Times New Roman" panose="02020603050405020304" charset="0"/>
              </a:rPr>
              <a:t> :</a:t>
            </a:r>
            <a:endParaRPr kumimoji="1" lang="en-US" altLang="zh-CN" sz="2000" dirty="0">
              <a:latin typeface="Times New Roman" panose="02020603050405020304" charset="0"/>
            </a:endParaRPr>
          </a:p>
        </p:txBody>
      </p:sp>
      <p:pic>
        <p:nvPicPr>
          <p:cNvPr id="17" name="Picture 4"/>
          <p:cNvPicPr>
            <a:picLocks noChangeAspect="1"/>
          </p:cNvPicPr>
          <p:nvPr/>
        </p:nvPicPr>
        <p:blipFill>
          <a:blip r:embed="rId4"/>
          <a:stretch>
            <a:fillRect/>
          </a:stretch>
        </p:blipFill>
        <p:spPr>
          <a:xfrm>
            <a:off x="1373822" y="6409250"/>
            <a:ext cx="5522609" cy="433023"/>
          </a:xfrm>
          <a:prstGeom prst="rect">
            <a:avLst/>
          </a:prstGeom>
        </p:spPr>
      </p:pic>
      <p:sp>
        <p:nvSpPr>
          <p:cNvPr id="18" name="Text Box 16"/>
          <p:cNvSpPr txBox="1">
            <a:spLocks noChangeArrowheads="1"/>
          </p:cNvSpPr>
          <p:nvPr/>
        </p:nvSpPr>
        <p:spPr bwMode="auto">
          <a:xfrm>
            <a:off x="2665095" y="4303395"/>
            <a:ext cx="7564438" cy="424732"/>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50000"/>
              </a:spcBef>
              <a:buSzTx/>
              <a:buFontTx/>
              <a:buNone/>
            </a:pPr>
            <a:r>
              <a:rPr kumimoji="1" lang="en-US" altLang="zh-CN" sz="2000" i="1">
                <a:latin typeface="Times New Roman" panose="02020603050405020304" charset="0"/>
              </a:rPr>
              <a:t>{</a:t>
            </a:r>
            <a:r>
              <a:rPr kumimoji="1" lang="en-US" altLang="zh-CN" sz="2400" i="1">
                <a:latin typeface="Times New Roman" panose="02020603050405020304" charset="0"/>
              </a:rPr>
              <a:t>&lt;Sunny ? ? ? ? ?&gt;</a:t>
            </a:r>
            <a:r>
              <a:rPr kumimoji="1" lang="en-US" altLang="zh-CN" sz="2400">
                <a:latin typeface="Times New Roman" panose="02020603050405020304" charset="0"/>
              </a:rPr>
              <a:t> &lt;</a:t>
            </a:r>
            <a:r>
              <a:rPr kumimoji="1" lang="en-US" altLang="zh-CN" sz="2400" i="1">
                <a:latin typeface="Times New Roman" panose="02020603050405020304" charset="0"/>
              </a:rPr>
              <a:t>? Warm ? ? ? ?&gt;</a:t>
            </a:r>
            <a:r>
              <a:rPr kumimoji="1" lang="en-US" altLang="zh-CN" sz="2400">
                <a:latin typeface="Times New Roman" panose="02020603050405020304" charset="0"/>
              </a:rPr>
              <a:t> </a:t>
            </a:r>
            <a:r>
              <a:rPr kumimoji="1" lang="en-US" altLang="zh-CN" sz="2000" i="1">
                <a:latin typeface="Times New Roman" panose="02020603050405020304" charset="0"/>
              </a:rPr>
              <a:t>&lt;? ? ? ? ? Same&gt;}</a:t>
            </a:r>
            <a:endParaRPr kumimoji="1" lang="en-US" altLang="zh-CN" sz="2000" i="1">
              <a:latin typeface="Times New Roman" panose="02020603050405020304" charset="0"/>
            </a:endParaRPr>
          </a:p>
        </p:txBody>
      </p:sp>
      <p:sp>
        <p:nvSpPr>
          <p:cNvPr id="19" name="Text Box 17"/>
          <p:cNvSpPr txBox="1">
            <a:spLocks noChangeArrowheads="1"/>
          </p:cNvSpPr>
          <p:nvPr/>
        </p:nvSpPr>
        <p:spPr bwMode="auto">
          <a:xfrm>
            <a:off x="2039620" y="4303395"/>
            <a:ext cx="5476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eaLnBrk="1" hangingPunct="1">
              <a:spcBef>
                <a:spcPct val="50000"/>
              </a:spcBef>
              <a:buSzTx/>
              <a:buFontTx/>
              <a:buNone/>
            </a:pPr>
            <a:r>
              <a:rPr kumimoji="1" lang="en-US" altLang="zh-CN" sz="2000" dirty="0">
                <a:latin typeface="Times New Roman" panose="02020603050405020304" charset="0"/>
              </a:rPr>
              <a:t>G</a:t>
            </a:r>
            <a:r>
              <a:rPr kumimoji="1" lang="en-US" altLang="zh-CN" sz="2000" baseline="-25000" dirty="0">
                <a:latin typeface="Times New Roman" panose="02020603050405020304" charset="0"/>
              </a:rPr>
              <a:t>3</a:t>
            </a:r>
            <a:r>
              <a:rPr kumimoji="1" lang="en-US" altLang="zh-CN" sz="2000" dirty="0">
                <a:latin typeface="Times New Roman" panose="02020603050405020304" charset="0"/>
              </a:rPr>
              <a:t>:</a:t>
            </a:r>
            <a:endParaRPr kumimoji="1" lang="en-US" altLang="zh-CN" sz="2000" dirty="0">
              <a:latin typeface="Times New Roman" panose="02020603050405020304" charset="0"/>
            </a:endParaRPr>
          </a:p>
        </p:txBody>
      </p:sp>
      <p:sp>
        <p:nvSpPr>
          <p:cNvPr id="20" name="Line 27"/>
          <p:cNvSpPr>
            <a:spLocks noChangeShapeType="1"/>
          </p:cNvSpPr>
          <p:nvPr/>
        </p:nvSpPr>
        <p:spPr bwMode="auto">
          <a:xfrm flipV="1">
            <a:off x="6329045" y="4757420"/>
            <a:ext cx="0" cy="2159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 name="Text Box 18"/>
          <p:cNvSpPr txBox="1">
            <a:spLocks noChangeArrowheads="1"/>
          </p:cNvSpPr>
          <p:nvPr/>
        </p:nvSpPr>
        <p:spPr bwMode="auto">
          <a:xfrm>
            <a:off x="2700112" y="2674673"/>
            <a:ext cx="857250" cy="4247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eaLnBrk="1" hangingPunct="1">
              <a:spcBef>
                <a:spcPct val="50000"/>
              </a:spcBef>
              <a:buSzTx/>
              <a:buFontTx/>
              <a:buNone/>
            </a:pPr>
            <a:r>
              <a:rPr kumimoji="1" lang="en-US" altLang="zh-CN" sz="2000" dirty="0">
                <a:latin typeface="Times New Roman" panose="02020603050405020304" charset="0"/>
              </a:rPr>
              <a:t>S</a:t>
            </a:r>
            <a:r>
              <a:rPr kumimoji="1" lang="en-US" altLang="zh-CN" sz="2000" baseline="-25000" dirty="0">
                <a:latin typeface="Times New Roman" panose="02020603050405020304" charset="0"/>
              </a:rPr>
              <a:t>2 </a:t>
            </a:r>
            <a:r>
              <a:rPr kumimoji="1" lang="en-US" altLang="zh-CN" sz="2000" dirty="0">
                <a:latin typeface="Times New Roman" panose="02020603050405020304" charset="0"/>
              </a:rPr>
              <a:t>S</a:t>
            </a:r>
            <a:r>
              <a:rPr kumimoji="1" lang="en-US" altLang="zh-CN" sz="2000" baseline="-25000" dirty="0">
                <a:latin typeface="Times New Roman" panose="02020603050405020304" charset="0"/>
              </a:rPr>
              <a:t>3</a:t>
            </a:r>
            <a:r>
              <a:rPr kumimoji="1" lang="en-US" altLang="zh-CN" sz="2400" dirty="0">
                <a:latin typeface="Times New Roman" panose="02020603050405020304" charset="0"/>
              </a:rPr>
              <a:t> </a:t>
            </a:r>
            <a:r>
              <a:rPr kumimoji="1" lang="en-US" altLang="zh-CN" sz="2000" dirty="0">
                <a:latin typeface="Times New Roman" panose="02020603050405020304" charset="0"/>
              </a:rPr>
              <a:t>:</a:t>
            </a:r>
            <a:endParaRPr kumimoji="1" lang="en-US" altLang="zh-CN" sz="2000" dirty="0">
              <a:latin typeface="Times New Roman" panose="020206030504050203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18"/>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grpId="0" nodeType="after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ldLvl="0" animBg="1"/>
      <p:bldP spid="19" grpId="0"/>
      <p:bldP spid="21" grpId="0" bldLvl="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dirty="0">
              <a:latin typeface="Times New Roman" panose="02020603050405020304" charset="0"/>
              <a:cs typeface="Times New Roman" panose="02020603050405020304" charset="0"/>
            </a:endParaRPr>
          </a:p>
        </p:txBody>
      </p:sp>
      <p:sp>
        <p:nvSpPr>
          <p:cNvPr id="6" name="文本框 5"/>
          <p:cNvSpPr txBox="1"/>
          <p:nvPr/>
        </p:nvSpPr>
        <p:spPr>
          <a:xfrm>
            <a:off x="419735" y="291465"/>
            <a:ext cx="8637905" cy="583565"/>
          </a:xfrm>
          <a:prstGeom prst="rect">
            <a:avLst/>
          </a:prstGeom>
          <a:noFill/>
        </p:spPr>
        <p:txBody>
          <a:bodyPr wrap="square" rtlCol="0">
            <a:spAutoFit/>
            <a:scene3d>
              <a:camera prst="orthographicFront"/>
              <a:lightRig rig="threePt" dir="t"/>
            </a:scene3d>
          </a:bodyPr>
          <a:lstStyle/>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概念学习算法：</a:t>
            </a:r>
            <a:r>
              <a:rPr lang="zh-CN" altLang="en-US" sz="3200" b="1" spc="200" dirty="0">
                <a:solidFill>
                  <a:schemeClr val="accent1"/>
                </a:solidFill>
                <a:uFillTx/>
                <a:latin typeface="微软雅黑 Light" panose="020B0502040204020203" pitchFamily="34" charset="-122"/>
                <a:ea typeface="微软雅黑" panose="020B0503020204020204" charset="-122"/>
                <a:cs typeface="+mj-cs"/>
                <a:sym typeface="+mn-ea"/>
              </a:rPr>
              <a:t>候选消除算法及变型空间</a:t>
            </a:r>
            <a:endParaRPr lang="en-US" altLang="zh-CN" sz="3200" b="1" spc="200" dirty="0">
              <a:solidFill>
                <a:schemeClr val="accent1"/>
              </a:solidFill>
              <a:uFillTx/>
              <a:latin typeface="微软雅黑 Light" panose="020B0502040204020203" pitchFamily="34" charset="-122"/>
              <a:ea typeface="微软雅黑" panose="020B0503020204020204" charset="-122"/>
              <a:cs typeface="+mj-cs"/>
            </a:endParaRPr>
          </a:p>
        </p:txBody>
      </p:sp>
      <p:sp>
        <p:nvSpPr>
          <p:cNvPr id="4" name="文本框 3"/>
          <p:cNvSpPr txBox="1"/>
          <p:nvPr/>
        </p:nvSpPr>
        <p:spPr>
          <a:xfrm>
            <a:off x="419735" y="1122680"/>
            <a:ext cx="10576560" cy="398780"/>
          </a:xfrm>
          <a:prstGeom prst="rect">
            <a:avLst/>
          </a:prstGeom>
          <a:noFill/>
        </p:spPr>
        <p:txBody>
          <a:bodyPr wrap="square" rtlCol="0">
            <a:spAutoFit/>
          </a:bodyPr>
          <a:lstStyle/>
          <a:p>
            <a:r>
              <a:rPr lang="zh-CN" altLang="en-US" sz="2000" b="1"/>
              <a:t>步骤</a:t>
            </a:r>
            <a:r>
              <a:rPr lang="en-US" altLang="zh-CN" sz="2000" b="1"/>
              <a:t>4--</a:t>
            </a:r>
            <a:r>
              <a:rPr lang="zh-CN" altLang="en-US" sz="2000" b="1">
                <a:sym typeface="+mn-ea"/>
              </a:rPr>
              <a:t>根据训练样例集D中正样例</a:t>
            </a:r>
            <a:r>
              <a:rPr lang="en-US" altLang="zh-CN" sz="2000" b="1">
                <a:sym typeface="+mn-ea"/>
              </a:rPr>
              <a:t>4</a:t>
            </a:r>
            <a:r>
              <a:rPr lang="zh-CN" altLang="en-US" sz="2000" b="1">
                <a:sym typeface="+mn-ea"/>
              </a:rPr>
              <a:t>：一般化S</a:t>
            </a:r>
            <a:r>
              <a:rPr lang="en-US" altLang="zh-CN" sz="2000" b="1" baseline="-25000">
                <a:sym typeface="+mn-ea"/>
              </a:rPr>
              <a:t>3</a:t>
            </a:r>
            <a:r>
              <a:rPr lang="en-US" altLang="zh-CN" sz="2000" b="1">
                <a:sym typeface="+mn-ea"/>
              </a:rPr>
              <a:t>→S</a:t>
            </a:r>
            <a:r>
              <a:rPr lang="en-US" altLang="zh-CN" sz="2000" b="1" baseline="-25000">
                <a:sym typeface="+mn-ea"/>
              </a:rPr>
              <a:t>4</a:t>
            </a:r>
            <a:r>
              <a:rPr lang="en-US" altLang="zh-CN" sz="2000" b="1">
                <a:sym typeface="+mn-ea"/>
              </a:rPr>
              <a:t> </a:t>
            </a:r>
            <a:r>
              <a:rPr lang="zh-CN" sz="2000" b="1">
                <a:sym typeface="+mn-ea"/>
              </a:rPr>
              <a:t>；</a:t>
            </a:r>
            <a:r>
              <a:rPr lang="en-US" altLang="zh-CN" sz="2000" b="1">
                <a:sym typeface="+mn-ea"/>
              </a:rPr>
              <a:t>G</a:t>
            </a:r>
            <a:r>
              <a:rPr lang="en-US" altLang="zh-CN" sz="2000" b="1" baseline="-25000">
                <a:sym typeface="+mn-ea"/>
              </a:rPr>
              <a:t>3</a:t>
            </a:r>
            <a:r>
              <a:rPr lang="zh-CN" altLang="en-US" sz="2000" b="1">
                <a:sym typeface="+mn-ea"/>
              </a:rPr>
              <a:t>中最后一个假设空间不再包含</a:t>
            </a:r>
            <a:r>
              <a:rPr lang="en-US" altLang="zh-CN" sz="2000" b="1">
                <a:sym typeface="+mn-ea"/>
              </a:rPr>
              <a:t>S</a:t>
            </a:r>
            <a:r>
              <a:rPr lang="en-US" altLang="zh-CN" sz="2000" b="1" baseline="-25000">
                <a:sym typeface="+mn-ea"/>
              </a:rPr>
              <a:t>4</a:t>
            </a:r>
            <a:r>
              <a:rPr lang="zh-CN" altLang="en-US" sz="2000" b="1">
                <a:sym typeface="+mn-ea"/>
              </a:rPr>
              <a:t>，去除</a:t>
            </a:r>
            <a:endParaRPr lang="en-US" altLang="zh-CN" sz="2000" b="1" baseline="-25000">
              <a:sym typeface="+mn-ea"/>
            </a:endParaRPr>
          </a:p>
        </p:txBody>
      </p:sp>
      <p:pic>
        <p:nvPicPr>
          <p:cNvPr id="26" name="Picture 25"/>
          <p:cNvPicPr>
            <a:picLocks noChangeAspect="1"/>
          </p:cNvPicPr>
          <p:nvPr/>
        </p:nvPicPr>
        <p:blipFill>
          <a:blip r:embed="rId1"/>
          <a:stretch>
            <a:fillRect/>
          </a:stretch>
        </p:blipFill>
        <p:spPr>
          <a:xfrm>
            <a:off x="3714523" y="1598280"/>
            <a:ext cx="4463150" cy="4062269"/>
          </a:xfrm>
          <a:prstGeom prst="rect">
            <a:avLst/>
          </a:prstGeom>
        </p:spPr>
      </p:pic>
      <p:pic>
        <p:nvPicPr>
          <p:cNvPr id="5" name="Picture 2"/>
          <p:cNvPicPr>
            <a:picLocks noChangeAspect="1"/>
          </p:cNvPicPr>
          <p:nvPr/>
        </p:nvPicPr>
        <p:blipFill>
          <a:blip r:embed="rId2"/>
          <a:stretch>
            <a:fillRect/>
          </a:stretch>
        </p:blipFill>
        <p:spPr>
          <a:xfrm>
            <a:off x="1302068" y="5724623"/>
            <a:ext cx="4971505" cy="371906"/>
          </a:xfrm>
          <a:prstGeom prst="rect">
            <a:avLst/>
          </a:prstGeom>
        </p:spPr>
      </p:pic>
      <p:sp>
        <p:nvSpPr>
          <p:cNvPr id="8" name="Text Box 6"/>
          <p:cNvSpPr txBox="1">
            <a:spLocks noChangeArrowheads="1"/>
          </p:cNvSpPr>
          <p:nvPr/>
        </p:nvSpPr>
        <p:spPr bwMode="auto">
          <a:xfrm>
            <a:off x="3622448" y="2318385"/>
            <a:ext cx="5538788" cy="369332"/>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50000"/>
              </a:spcBef>
              <a:buSzTx/>
              <a:buFontTx/>
              <a:buNone/>
            </a:pPr>
            <a:r>
              <a:rPr kumimoji="1" lang="en-US" altLang="zh-CN" sz="2000" i="1">
                <a:latin typeface="Times New Roman" panose="02020603050405020304" charset="0"/>
              </a:rPr>
              <a:t>{&lt;Sunny Warm Normal Strong Warm Same&gt;}</a:t>
            </a:r>
            <a:endParaRPr kumimoji="1" lang="en-US" altLang="zh-CN" sz="2000" i="1">
              <a:latin typeface="Times New Roman" panose="02020603050405020304" charset="0"/>
            </a:endParaRPr>
          </a:p>
        </p:txBody>
      </p:sp>
      <p:sp>
        <p:nvSpPr>
          <p:cNvPr id="9" name="Text Box 8"/>
          <p:cNvSpPr txBox="1">
            <a:spLocks noChangeArrowheads="1"/>
          </p:cNvSpPr>
          <p:nvPr/>
        </p:nvSpPr>
        <p:spPr bwMode="auto">
          <a:xfrm>
            <a:off x="2763612" y="2318385"/>
            <a:ext cx="7016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eaLnBrk="1" hangingPunct="1">
              <a:spcBef>
                <a:spcPct val="50000"/>
              </a:spcBef>
              <a:buSzTx/>
              <a:buFontTx/>
              <a:buNone/>
            </a:pPr>
            <a:r>
              <a:rPr kumimoji="1" lang="en-US" altLang="zh-CN" sz="2000">
                <a:latin typeface="Times New Roman" panose="02020603050405020304" charset="0"/>
              </a:rPr>
              <a:t>S</a:t>
            </a:r>
            <a:r>
              <a:rPr kumimoji="1" lang="en-US" altLang="zh-CN" sz="2000" baseline="-25000">
                <a:latin typeface="Times New Roman" panose="02020603050405020304" charset="0"/>
              </a:rPr>
              <a:t>1</a:t>
            </a:r>
            <a:r>
              <a:rPr kumimoji="1" lang="en-US" altLang="zh-CN" sz="2000">
                <a:latin typeface="Times New Roman" panose="02020603050405020304" charset="0"/>
              </a:rPr>
              <a:t>:</a:t>
            </a:r>
            <a:endParaRPr kumimoji="1" lang="en-US" altLang="zh-CN" sz="2000" baseline="-25000">
              <a:latin typeface="Times New Roman" panose="02020603050405020304" charset="0"/>
            </a:endParaRPr>
          </a:p>
        </p:txBody>
      </p:sp>
      <p:sp>
        <p:nvSpPr>
          <p:cNvPr id="10" name="Line 24"/>
          <p:cNvSpPr>
            <a:spLocks noChangeShapeType="1"/>
          </p:cNvSpPr>
          <p:nvPr/>
        </p:nvSpPr>
        <p:spPr bwMode="auto">
          <a:xfrm>
            <a:off x="6273573" y="2173923"/>
            <a:ext cx="0" cy="144462"/>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 name="Text Box 23"/>
          <p:cNvSpPr txBox="1">
            <a:spLocks noChangeArrowheads="1"/>
          </p:cNvSpPr>
          <p:nvPr/>
        </p:nvSpPr>
        <p:spPr bwMode="auto">
          <a:xfrm>
            <a:off x="3870008" y="4984115"/>
            <a:ext cx="1092200"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eaLnBrk="1" hangingPunct="1">
              <a:spcBef>
                <a:spcPct val="50000"/>
              </a:spcBef>
              <a:buSzTx/>
              <a:buFontTx/>
              <a:buNone/>
            </a:pPr>
            <a:r>
              <a:rPr kumimoji="1" lang="en-US" altLang="zh-CN" sz="2000" dirty="0">
                <a:latin typeface="Times New Roman" panose="02020603050405020304" charset="0"/>
              </a:rPr>
              <a:t>G</a:t>
            </a:r>
            <a:r>
              <a:rPr kumimoji="1" lang="en-US" altLang="zh-CN" sz="2000" baseline="-25000" dirty="0">
                <a:latin typeface="Times New Roman" panose="02020603050405020304" charset="0"/>
              </a:rPr>
              <a:t>0</a:t>
            </a:r>
            <a:r>
              <a:rPr kumimoji="1" lang="en-US" altLang="zh-CN" sz="2000" dirty="0">
                <a:latin typeface="Times New Roman" panose="02020603050405020304" charset="0"/>
              </a:rPr>
              <a:t> G</a:t>
            </a:r>
            <a:r>
              <a:rPr kumimoji="1" lang="en-US" altLang="zh-CN" sz="2000" baseline="-25000" dirty="0">
                <a:latin typeface="Times New Roman" panose="02020603050405020304" charset="0"/>
              </a:rPr>
              <a:t>1</a:t>
            </a:r>
            <a:r>
              <a:rPr kumimoji="1" lang="en-US" altLang="zh-CN" sz="2000" dirty="0">
                <a:latin typeface="Times New Roman" panose="02020603050405020304" charset="0"/>
              </a:rPr>
              <a:t>:</a:t>
            </a:r>
            <a:endParaRPr kumimoji="1" lang="en-US" altLang="zh-CN" sz="2000" dirty="0">
              <a:latin typeface="Times New Roman" panose="02020603050405020304" charset="0"/>
            </a:endParaRPr>
          </a:p>
        </p:txBody>
      </p:sp>
      <p:pic>
        <p:nvPicPr>
          <p:cNvPr id="12" name="Picture 3"/>
          <p:cNvPicPr>
            <a:picLocks noChangeAspect="1"/>
          </p:cNvPicPr>
          <p:nvPr/>
        </p:nvPicPr>
        <p:blipFill>
          <a:blip r:embed="rId3"/>
          <a:stretch>
            <a:fillRect/>
          </a:stretch>
        </p:blipFill>
        <p:spPr>
          <a:xfrm>
            <a:off x="1241107" y="6225687"/>
            <a:ext cx="4816183" cy="384212"/>
          </a:xfrm>
          <a:prstGeom prst="rect">
            <a:avLst/>
          </a:prstGeom>
        </p:spPr>
      </p:pic>
      <p:sp>
        <p:nvSpPr>
          <p:cNvPr id="13" name="Text Box 7"/>
          <p:cNvSpPr txBox="1">
            <a:spLocks noChangeArrowheads="1"/>
          </p:cNvSpPr>
          <p:nvPr/>
        </p:nvSpPr>
        <p:spPr bwMode="auto">
          <a:xfrm>
            <a:off x="3626485" y="2833688"/>
            <a:ext cx="5538788" cy="369332"/>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50000"/>
              </a:spcBef>
              <a:buSzTx/>
              <a:buFontTx/>
              <a:buNone/>
            </a:pPr>
            <a:r>
              <a:rPr kumimoji="1" lang="en-US" altLang="zh-CN" sz="2000" i="1">
                <a:latin typeface="Times New Roman" panose="02020603050405020304" charset="0"/>
              </a:rPr>
              <a:t>{&lt;Sunny Warm ? Strong Warm Same&gt;}</a:t>
            </a:r>
            <a:endParaRPr kumimoji="1" lang="en-US" altLang="zh-CN" sz="2000" i="1">
              <a:latin typeface="Times New Roman" panose="02020603050405020304" charset="0"/>
            </a:endParaRPr>
          </a:p>
        </p:txBody>
      </p:sp>
      <p:sp>
        <p:nvSpPr>
          <p:cNvPr id="14" name="Text Box 9"/>
          <p:cNvSpPr txBox="1">
            <a:spLocks noChangeArrowheads="1"/>
          </p:cNvSpPr>
          <p:nvPr/>
        </p:nvSpPr>
        <p:spPr bwMode="auto">
          <a:xfrm>
            <a:off x="2767649" y="2833688"/>
            <a:ext cx="7016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eaLnBrk="1" hangingPunct="1">
              <a:spcBef>
                <a:spcPct val="50000"/>
              </a:spcBef>
              <a:buSzTx/>
              <a:buFontTx/>
              <a:buNone/>
            </a:pPr>
            <a:r>
              <a:rPr kumimoji="1" lang="en-US" altLang="zh-CN" sz="2000" dirty="0">
                <a:latin typeface="Times New Roman" panose="02020603050405020304" charset="0"/>
              </a:rPr>
              <a:t>S</a:t>
            </a:r>
            <a:r>
              <a:rPr kumimoji="1" lang="en-US" altLang="zh-CN" sz="2000" baseline="-25000" dirty="0">
                <a:latin typeface="Times New Roman" panose="02020603050405020304" charset="0"/>
              </a:rPr>
              <a:t>2</a:t>
            </a:r>
            <a:r>
              <a:rPr kumimoji="1" lang="en-US" altLang="zh-CN" sz="2000" dirty="0">
                <a:latin typeface="Times New Roman" panose="02020603050405020304" charset="0"/>
              </a:rPr>
              <a:t>:</a:t>
            </a:r>
            <a:endParaRPr kumimoji="1" lang="en-US" altLang="zh-CN" sz="2000" baseline="-25000" dirty="0">
              <a:latin typeface="Times New Roman" panose="02020603050405020304" charset="0"/>
            </a:endParaRPr>
          </a:p>
        </p:txBody>
      </p:sp>
      <p:sp>
        <p:nvSpPr>
          <p:cNvPr id="15" name="Line 25"/>
          <p:cNvSpPr>
            <a:spLocks noChangeShapeType="1"/>
          </p:cNvSpPr>
          <p:nvPr/>
        </p:nvSpPr>
        <p:spPr bwMode="auto">
          <a:xfrm>
            <a:off x="6277610" y="2689226"/>
            <a:ext cx="0" cy="144463"/>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 name="Text Box 15"/>
          <p:cNvSpPr txBox="1">
            <a:spLocks noChangeArrowheads="1"/>
          </p:cNvSpPr>
          <p:nvPr/>
        </p:nvSpPr>
        <p:spPr bwMode="auto">
          <a:xfrm>
            <a:off x="3314933" y="4984115"/>
            <a:ext cx="1638300"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eaLnBrk="1" hangingPunct="1">
              <a:spcBef>
                <a:spcPct val="50000"/>
              </a:spcBef>
              <a:buSzTx/>
              <a:buFontTx/>
              <a:buNone/>
            </a:pPr>
            <a:r>
              <a:rPr kumimoji="1" lang="en-US" altLang="zh-CN" sz="2000" dirty="0">
                <a:latin typeface="Times New Roman" panose="02020603050405020304" charset="0"/>
              </a:rPr>
              <a:t>G</a:t>
            </a:r>
            <a:r>
              <a:rPr kumimoji="1" lang="en-US" altLang="zh-CN" sz="2000" baseline="-25000" dirty="0">
                <a:latin typeface="Times New Roman" panose="02020603050405020304" charset="0"/>
              </a:rPr>
              <a:t>0</a:t>
            </a:r>
            <a:r>
              <a:rPr kumimoji="1" lang="en-US" altLang="zh-CN" sz="2000" dirty="0">
                <a:latin typeface="Times New Roman" panose="02020603050405020304" charset="0"/>
              </a:rPr>
              <a:t> G</a:t>
            </a:r>
            <a:r>
              <a:rPr kumimoji="1" lang="en-US" altLang="zh-CN" sz="2000" baseline="-25000" dirty="0">
                <a:latin typeface="Times New Roman" panose="02020603050405020304" charset="0"/>
              </a:rPr>
              <a:t>1 </a:t>
            </a:r>
            <a:r>
              <a:rPr kumimoji="1" lang="en-US" altLang="zh-CN" sz="2000" dirty="0">
                <a:latin typeface="Times New Roman" panose="02020603050405020304" charset="0"/>
              </a:rPr>
              <a:t>G</a:t>
            </a:r>
            <a:r>
              <a:rPr kumimoji="1" lang="en-US" altLang="zh-CN" sz="2000" baseline="-25000" dirty="0">
                <a:latin typeface="Times New Roman" panose="02020603050405020304" charset="0"/>
              </a:rPr>
              <a:t>2</a:t>
            </a:r>
            <a:r>
              <a:rPr kumimoji="1" lang="en-US" altLang="zh-CN" sz="2000" dirty="0">
                <a:latin typeface="Times New Roman" panose="02020603050405020304" charset="0"/>
              </a:rPr>
              <a:t> :</a:t>
            </a:r>
            <a:endParaRPr kumimoji="1" lang="en-US" altLang="zh-CN" sz="2000" dirty="0">
              <a:latin typeface="Times New Roman" panose="02020603050405020304" charset="0"/>
            </a:endParaRPr>
          </a:p>
        </p:txBody>
      </p:sp>
      <p:pic>
        <p:nvPicPr>
          <p:cNvPr id="17" name="Picture 4"/>
          <p:cNvPicPr>
            <a:picLocks noChangeAspect="1"/>
          </p:cNvPicPr>
          <p:nvPr/>
        </p:nvPicPr>
        <p:blipFill>
          <a:blip r:embed="rId4"/>
          <a:stretch>
            <a:fillRect/>
          </a:stretch>
        </p:blipFill>
        <p:spPr>
          <a:xfrm>
            <a:off x="6519863" y="5737156"/>
            <a:ext cx="4670252" cy="366191"/>
          </a:xfrm>
          <a:prstGeom prst="rect">
            <a:avLst/>
          </a:prstGeom>
        </p:spPr>
      </p:pic>
      <p:sp>
        <p:nvSpPr>
          <p:cNvPr id="18" name="Text Box 16"/>
          <p:cNvSpPr txBox="1">
            <a:spLocks noChangeArrowheads="1"/>
          </p:cNvSpPr>
          <p:nvPr/>
        </p:nvSpPr>
        <p:spPr bwMode="auto">
          <a:xfrm>
            <a:off x="2763612" y="4461106"/>
            <a:ext cx="7051038" cy="369332"/>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50000"/>
              </a:spcBef>
              <a:buSzTx/>
              <a:buFontTx/>
              <a:buNone/>
            </a:pPr>
            <a:r>
              <a:rPr kumimoji="1" lang="en-US" altLang="zh-CN" i="1">
                <a:latin typeface="Times New Roman" panose="02020603050405020304" charset="0"/>
              </a:rPr>
              <a:t>{</a:t>
            </a:r>
            <a:r>
              <a:rPr kumimoji="1" lang="en-US" altLang="zh-CN" sz="2000" i="1">
                <a:latin typeface="Times New Roman" panose="02020603050405020304" charset="0"/>
              </a:rPr>
              <a:t>&lt;Sunny ? ? ? ? ?&gt;</a:t>
            </a:r>
            <a:r>
              <a:rPr kumimoji="1" lang="en-US" altLang="zh-CN" sz="2000">
                <a:latin typeface="Times New Roman" panose="02020603050405020304" charset="0"/>
              </a:rPr>
              <a:t> &lt;</a:t>
            </a:r>
            <a:r>
              <a:rPr kumimoji="1" lang="en-US" altLang="zh-CN" sz="2000" i="1">
                <a:latin typeface="Times New Roman" panose="02020603050405020304" charset="0"/>
              </a:rPr>
              <a:t>? Warm ? ? ? ?&gt;</a:t>
            </a:r>
            <a:r>
              <a:rPr kumimoji="1" lang="en-US" altLang="zh-CN" sz="2000">
                <a:latin typeface="Times New Roman" panose="02020603050405020304" charset="0"/>
              </a:rPr>
              <a:t> </a:t>
            </a:r>
            <a:r>
              <a:rPr kumimoji="1" lang="en-US" altLang="zh-CN" i="1">
                <a:latin typeface="Times New Roman" panose="02020603050405020304" charset="0"/>
              </a:rPr>
              <a:t>&lt;? ? ? ? ? Same&gt;}</a:t>
            </a:r>
            <a:endParaRPr kumimoji="1" lang="en-US" altLang="zh-CN" i="1">
              <a:latin typeface="Times New Roman" panose="02020603050405020304" charset="0"/>
            </a:endParaRPr>
          </a:p>
        </p:txBody>
      </p:sp>
      <p:sp>
        <p:nvSpPr>
          <p:cNvPr id="19" name="Text Box 17"/>
          <p:cNvSpPr txBox="1">
            <a:spLocks noChangeArrowheads="1"/>
          </p:cNvSpPr>
          <p:nvPr/>
        </p:nvSpPr>
        <p:spPr bwMode="auto">
          <a:xfrm>
            <a:off x="1971407" y="4434026"/>
            <a:ext cx="5476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eaLnBrk="1" hangingPunct="1">
              <a:spcBef>
                <a:spcPct val="50000"/>
              </a:spcBef>
              <a:buSzTx/>
              <a:buFontTx/>
              <a:buNone/>
            </a:pPr>
            <a:r>
              <a:rPr kumimoji="1" lang="en-US" altLang="zh-CN" sz="2000" dirty="0">
                <a:latin typeface="Times New Roman" panose="02020603050405020304" charset="0"/>
              </a:rPr>
              <a:t>G</a:t>
            </a:r>
            <a:r>
              <a:rPr kumimoji="1" lang="en-US" altLang="zh-CN" sz="2000" baseline="-25000" dirty="0">
                <a:latin typeface="Times New Roman" panose="02020603050405020304" charset="0"/>
              </a:rPr>
              <a:t>3</a:t>
            </a:r>
            <a:r>
              <a:rPr kumimoji="1" lang="en-US" altLang="zh-CN" sz="2000" dirty="0">
                <a:latin typeface="Times New Roman" panose="02020603050405020304" charset="0"/>
              </a:rPr>
              <a:t>:</a:t>
            </a:r>
            <a:endParaRPr kumimoji="1" lang="en-US" altLang="zh-CN" sz="2000" dirty="0">
              <a:latin typeface="Times New Roman" panose="02020603050405020304" charset="0"/>
            </a:endParaRPr>
          </a:p>
        </p:txBody>
      </p:sp>
      <p:sp>
        <p:nvSpPr>
          <p:cNvPr id="20" name="Line 27"/>
          <p:cNvSpPr>
            <a:spLocks noChangeShapeType="1"/>
          </p:cNvSpPr>
          <p:nvPr/>
        </p:nvSpPr>
        <p:spPr bwMode="auto">
          <a:xfrm flipV="1">
            <a:off x="6236970" y="4800600"/>
            <a:ext cx="0" cy="2159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 name="Text Box 18"/>
          <p:cNvSpPr txBox="1">
            <a:spLocks noChangeArrowheads="1"/>
          </p:cNvSpPr>
          <p:nvPr/>
        </p:nvSpPr>
        <p:spPr bwMode="auto">
          <a:xfrm>
            <a:off x="2608037" y="2717853"/>
            <a:ext cx="857250" cy="4247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eaLnBrk="1" hangingPunct="1">
              <a:spcBef>
                <a:spcPct val="50000"/>
              </a:spcBef>
              <a:buSzTx/>
              <a:buFontTx/>
              <a:buNone/>
            </a:pPr>
            <a:r>
              <a:rPr kumimoji="1" lang="en-US" altLang="zh-CN" sz="2000" dirty="0">
                <a:latin typeface="Times New Roman" panose="02020603050405020304" charset="0"/>
              </a:rPr>
              <a:t>S</a:t>
            </a:r>
            <a:r>
              <a:rPr kumimoji="1" lang="en-US" altLang="zh-CN" sz="2000" baseline="-25000" dirty="0">
                <a:latin typeface="Times New Roman" panose="02020603050405020304" charset="0"/>
              </a:rPr>
              <a:t>2 </a:t>
            </a:r>
            <a:r>
              <a:rPr kumimoji="1" lang="en-US" altLang="zh-CN" sz="2000" dirty="0">
                <a:latin typeface="Times New Roman" panose="02020603050405020304" charset="0"/>
              </a:rPr>
              <a:t>S</a:t>
            </a:r>
            <a:r>
              <a:rPr kumimoji="1" lang="en-US" altLang="zh-CN" sz="2000" baseline="-25000" dirty="0">
                <a:latin typeface="Times New Roman" panose="02020603050405020304" charset="0"/>
              </a:rPr>
              <a:t>3</a:t>
            </a:r>
            <a:r>
              <a:rPr kumimoji="1" lang="en-US" altLang="zh-CN" sz="2400" dirty="0">
                <a:latin typeface="Times New Roman" panose="02020603050405020304" charset="0"/>
              </a:rPr>
              <a:t> </a:t>
            </a:r>
            <a:r>
              <a:rPr kumimoji="1" lang="en-US" altLang="zh-CN" sz="2000" dirty="0">
                <a:latin typeface="Times New Roman" panose="02020603050405020304" charset="0"/>
              </a:rPr>
              <a:t>:</a:t>
            </a:r>
            <a:endParaRPr kumimoji="1" lang="en-US" altLang="zh-CN" sz="2000" dirty="0">
              <a:latin typeface="Times New Roman" panose="02020603050405020304" charset="0"/>
            </a:endParaRPr>
          </a:p>
        </p:txBody>
      </p:sp>
      <p:pic>
        <p:nvPicPr>
          <p:cNvPr id="22" name="Picture 9"/>
          <p:cNvPicPr>
            <a:picLocks noChangeAspect="1"/>
          </p:cNvPicPr>
          <p:nvPr/>
        </p:nvPicPr>
        <p:blipFill>
          <a:blip r:embed="rId5"/>
          <a:stretch>
            <a:fillRect/>
          </a:stretch>
        </p:blipFill>
        <p:spPr>
          <a:xfrm>
            <a:off x="6520497" y="6144186"/>
            <a:ext cx="4448743" cy="465392"/>
          </a:xfrm>
          <a:prstGeom prst="rect">
            <a:avLst/>
          </a:prstGeom>
        </p:spPr>
      </p:pic>
      <p:sp>
        <p:nvSpPr>
          <p:cNvPr id="23" name="Text Box 19"/>
          <p:cNvSpPr txBox="1">
            <a:spLocks noChangeArrowheads="1"/>
          </p:cNvSpPr>
          <p:nvPr/>
        </p:nvSpPr>
        <p:spPr bwMode="auto">
          <a:xfrm>
            <a:off x="3616325" y="3298190"/>
            <a:ext cx="5538788" cy="369332"/>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50000"/>
              </a:spcBef>
              <a:buSzTx/>
              <a:buFontTx/>
              <a:buNone/>
            </a:pPr>
            <a:r>
              <a:rPr kumimoji="1" lang="en-US" altLang="zh-CN" sz="2000" i="1">
                <a:latin typeface="Times New Roman" panose="02020603050405020304" charset="0"/>
              </a:rPr>
              <a:t>{&lt;Sunny Warm ? Strong ? ?&gt;}</a:t>
            </a:r>
            <a:endParaRPr kumimoji="1" lang="en-US" altLang="zh-CN" sz="2000" i="1">
              <a:latin typeface="Times New Roman" panose="02020603050405020304" charset="0"/>
            </a:endParaRPr>
          </a:p>
        </p:txBody>
      </p:sp>
      <p:sp>
        <p:nvSpPr>
          <p:cNvPr id="24" name="Text Box 20"/>
          <p:cNvSpPr txBox="1">
            <a:spLocks noChangeArrowheads="1"/>
          </p:cNvSpPr>
          <p:nvPr/>
        </p:nvSpPr>
        <p:spPr bwMode="auto">
          <a:xfrm>
            <a:off x="2757489" y="3298190"/>
            <a:ext cx="7016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eaLnBrk="1" hangingPunct="1">
              <a:spcBef>
                <a:spcPct val="50000"/>
              </a:spcBef>
              <a:buSzTx/>
              <a:buFontTx/>
              <a:buNone/>
            </a:pPr>
            <a:r>
              <a:rPr kumimoji="1" lang="en-US" altLang="zh-CN" sz="2000">
                <a:latin typeface="Times New Roman" panose="02020603050405020304" charset="0"/>
              </a:rPr>
              <a:t>S</a:t>
            </a:r>
            <a:r>
              <a:rPr kumimoji="1" lang="en-US" altLang="zh-CN" sz="2000" baseline="-25000">
                <a:latin typeface="Times New Roman" panose="02020603050405020304" charset="0"/>
              </a:rPr>
              <a:t>4</a:t>
            </a:r>
            <a:r>
              <a:rPr kumimoji="1" lang="en-US" altLang="zh-CN" sz="2000">
                <a:latin typeface="Times New Roman" panose="02020603050405020304" charset="0"/>
              </a:rPr>
              <a:t>:</a:t>
            </a:r>
            <a:endParaRPr kumimoji="1" lang="en-US" altLang="zh-CN" sz="2000" baseline="-25000">
              <a:latin typeface="Times New Roman" panose="02020603050405020304" charset="0"/>
            </a:endParaRPr>
          </a:p>
        </p:txBody>
      </p:sp>
      <p:sp>
        <p:nvSpPr>
          <p:cNvPr id="25" name="Line 26"/>
          <p:cNvSpPr>
            <a:spLocks noChangeShapeType="1"/>
          </p:cNvSpPr>
          <p:nvPr/>
        </p:nvSpPr>
        <p:spPr bwMode="auto">
          <a:xfrm>
            <a:off x="6267450" y="3153728"/>
            <a:ext cx="0" cy="144462"/>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 name="Text Box 21"/>
          <p:cNvSpPr txBox="1">
            <a:spLocks noChangeArrowheads="1"/>
          </p:cNvSpPr>
          <p:nvPr/>
        </p:nvSpPr>
        <p:spPr bwMode="auto">
          <a:xfrm>
            <a:off x="3348673" y="3908663"/>
            <a:ext cx="6488744" cy="369332"/>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50000"/>
              </a:spcBef>
              <a:buSzTx/>
              <a:buFontTx/>
              <a:buNone/>
            </a:pPr>
            <a:r>
              <a:rPr kumimoji="1" lang="en-US" altLang="zh-CN" i="1">
                <a:latin typeface="Times New Roman" panose="02020603050405020304" charset="0"/>
              </a:rPr>
              <a:t>{</a:t>
            </a:r>
            <a:r>
              <a:rPr kumimoji="1" lang="en-US" altLang="zh-CN" sz="2000" i="1">
                <a:latin typeface="Times New Roman" panose="02020603050405020304" charset="0"/>
              </a:rPr>
              <a:t>&lt;Sunny ? ? ? ? ?&gt;</a:t>
            </a:r>
            <a:r>
              <a:rPr kumimoji="1" lang="en-US" altLang="zh-CN" sz="2000">
                <a:latin typeface="Times New Roman" panose="02020603050405020304" charset="0"/>
              </a:rPr>
              <a:t> &lt;</a:t>
            </a:r>
            <a:r>
              <a:rPr kumimoji="1" lang="en-US" altLang="zh-CN" sz="2000" i="1">
                <a:latin typeface="Times New Roman" panose="02020603050405020304" charset="0"/>
              </a:rPr>
              <a:t>? Warm ? ? ? ?&gt;</a:t>
            </a:r>
            <a:r>
              <a:rPr kumimoji="1" lang="en-US" altLang="zh-CN" i="1">
                <a:latin typeface="Times New Roman" panose="02020603050405020304" charset="0"/>
              </a:rPr>
              <a:t>}</a:t>
            </a:r>
            <a:endParaRPr kumimoji="1" lang="en-US" altLang="zh-CN" i="1">
              <a:latin typeface="Times New Roman" panose="02020603050405020304" charset="0"/>
            </a:endParaRPr>
          </a:p>
        </p:txBody>
      </p:sp>
      <p:sp>
        <p:nvSpPr>
          <p:cNvPr id="29" name="Text Box 22"/>
          <p:cNvSpPr txBox="1">
            <a:spLocks noChangeArrowheads="1"/>
          </p:cNvSpPr>
          <p:nvPr/>
        </p:nvSpPr>
        <p:spPr bwMode="auto">
          <a:xfrm>
            <a:off x="2489835" y="3936088"/>
            <a:ext cx="52365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eaLnBrk="1" hangingPunct="1">
              <a:spcBef>
                <a:spcPct val="50000"/>
              </a:spcBef>
              <a:buSzTx/>
              <a:buFontTx/>
              <a:buNone/>
            </a:pPr>
            <a:r>
              <a:rPr kumimoji="1" lang="en-US" altLang="zh-CN" sz="2000">
                <a:latin typeface="Times New Roman" panose="02020603050405020304" charset="0"/>
              </a:rPr>
              <a:t>G</a:t>
            </a:r>
            <a:r>
              <a:rPr kumimoji="1" lang="en-US" altLang="zh-CN" sz="2000" baseline="-25000">
                <a:latin typeface="Times New Roman" panose="02020603050405020304" charset="0"/>
              </a:rPr>
              <a:t>4</a:t>
            </a:r>
            <a:r>
              <a:rPr kumimoji="1" lang="en-US" altLang="zh-CN" sz="2000">
                <a:latin typeface="Times New Roman" panose="02020603050405020304" charset="0"/>
              </a:rPr>
              <a:t>:</a:t>
            </a:r>
            <a:endParaRPr kumimoji="1" lang="en-US" altLang="zh-CN" sz="2000">
              <a:latin typeface="Times New Roman" panose="020206030504050203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ldLvl="0" animBg="1"/>
      <p:bldP spid="24" grpId="0"/>
      <p:bldP spid="28" grpId="0" bldLvl="0" animBg="1"/>
      <p:bldP spid="29"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dirty="0">
              <a:latin typeface="Times New Roman" panose="02020603050405020304" charset="0"/>
              <a:cs typeface="Times New Roman" panose="02020603050405020304" charset="0"/>
            </a:endParaRPr>
          </a:p>
        </p:txBody>
      </p:sp>
      <p:sp>
        <p:nvSpPr>
          <p:cNvPr id="6" name="文本框 5"/>
          <p:cNvSpPr txBox="1"/>
          <p:nvPr/>
        </p:nvSpPr>
        <p:spPr>
          <a:xfrm>
            <a:off x="419735" y="291465"/>
            <a:ext cx="8637905" cy="583565"/>
          </a:xfrm>
          <a:prstGeom prst="rect">
            <a:avLst/>
          </a:prstGeom>
          <a:noFill/>
        </p:spPr>
        <p:txBody>
          <a:bodyPr wrap="square" rtlCol="0">
            <a:spAutoFit/>
            <a:scene3d>
              <a:camera prst="orthographicFront"/>
              <a:lightRig rig="threePt" dir="t"/>
            </a:scene3d>
          </a:bodyPr>
          <a:lstStyle/>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概念学习算法：</a:t>
            </a:r>
            <a:r>
              <a:rPr lang="zh-CN" altLang="en-US" sz="3200" b="1" spc="200" dirty="0">
                <a:solidFill>
                  <a:schemeClr val="accent1"/>
                </a:solidFill>
                <a:uFillTx/>
                <a:latin typeface="微软雅黑 Light" panose="020B0502040204020203" pitchFamily="34" charset="-122"/>
                <a:ea typeface="微软雅黑" panose="020B0503020204020204" charset="-122"/>
                <a:cs typeface="+mj-cs"/>
                <a:sym typeface="+mn-ea"/>
              </a:rPr>
              <a:t>候选消除算法及变型空间</a:t>
            </a:r>
            <a:endParaRPr lang="en-US" altLang="zh-CN" sz="3200" b="1" spc="200" dirty="0">
              <a:solidFill>
                <a:schemeClr val="accent1"/>
              </a:solidFill>
              <a:uFillTx/>
              <a:latin typeface="微软雅黑 Light" panose="020B0502040204020203" pitchFamily="34" charset="-122"/>
              <a:ea typeface="微软雅黑" panose="020B0503020204020204" charset="-122"/>
              <a:cs typeface="+mj-cs"/>
            </a:endParaRPr>
          </a:p>
        </p:txBody>
      </p:sp>
      <p:pic>
        <p:nvPicPr>
          <p:cNvPr id="5" name="Picture 4"/>
          <p:cNvPicPr>
            <a:picLocks noChangeAspect="1"/>
          </p:cNvPicPr>
          <p:nvPr/>
        </p:nvPicPr>
        <p:blipFill>
          <a:blip r:embed="rId1"/>
          <a:stretch>
            <a:fillRect/>
          </a:stretch>
        </p:blipFill>
        <p:spPr>
          <a:xfrm>
            <a:off x="1581113" y="1376680"/>
            <a:ext cx="9674262" cy="4366260"/>
          </a:xfrm>
          <a:prstGeom prst="rect">
            <a:avLst/>
          </a:prstGeom>
        </p:spPr>
      </p:pic>
      <p:sp>
        <p:nvSpPr>
          <p:cNvPr id="4" name="文本框 3"/>
          <p:cNvSpPr txBox="1"/>
          <p:nvPr/>
        </p:nvSpPr>
        <p:spPr>
          <a:xfrm>
            <a:off x="419735" y="1195070"/>
            <a:ext cx="11203305" cy="398780"/>
          </a:xfrm>
          <a:prstGeom prst="rect">
            <a:avLst/>
          </a:prstGeom>
          <a:noFill/>
        </p:spPr>
        <p:txBody>
          <a:bodyPr wrap="square" rtlCol="0">
            <a:spAutoFit/>
          </a:bodyPr>
          <a:lstStyle/>
          <a:p>
            <a:r>
              <a:rPr lang="zh-CN" altLang="en-US" sz="2000" b="1"/>
              <a:t>步骤</a:t>
            </a:r>
            <a:r>
              <a:rPr lang="en-US" altLang="zh-CN" sz="2000" b="1"/>
              <a:t>5--</a:t>
            </a:r>
            <a:r>
              <a:rPr lang="zh-CN" altLang="en-US" sz="2000" b="1"/>
              <a:t>获取</a:t>
            </a:r>
            <a:r>
              <a:rPr lang="en-US" altLang="zh-CN" sz="2000" b="1"/>
              <a:t>S</a:t>
            </a:r>
            <a:r>
              <a:rPr lang="en-US" altLang="zh-CN" sz="2000" b="1" baseline="-25000"/>
              <a:t>4</a:t>
            </a:r>
            <a:r>
              <a:rPr lang="zh-CN" altLang="en-US" sz="2000" b="1"/>
              <a:t>与</a:t>
            </a:r>
            <a:r>
              <a:rPr lang="en-US" altLang="zh-CN" sz="2000" b="1"/>
              <a:t>G</a:t>
            </a:r>
            <a:r>
              <a:rPr lang="en-US" altLang="zh-CN" sz="2000" b="1" baseline="-25000"/>
              <a:t>4</a:t>
            </a:r>
            <a:r>
              <a:rPr lang="zh-CN" altLang="en-US" sz="2000" b="1"/>
              <a:t>之间的变型空间</a:t>
            </a:r>
            <a:endParaRPr lang="zh-CN" altLang="en-US" sz="2000" b="1"/>
          </a:p>
        </p:txBody>
      </p:sp>
      <p:sp>
        <p:nvSpPr>
          <p:cNvPr id="103427" name="Text Box 5"/>
          <p:cNvSpPr txBox="1">
            <a:spLocks noChangeArrowheads="1"/>
          </p:cNvSpPr>
          <p:nvPr/>
        </p:nvSpPr>
        <p:spPr bwMode="auto">
          <a:xfrm>
            <a:off x="4261486" y="5990908"/>
            <a:ext cx="4056063"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50000"/>
              </a:spcBef>
              <a:buSzTx/>
              <a:buFontTx/>
              <a:buNone/>
            </a:pPr>
            <a:r>
              <a:rPr kumimoji="1" lang="zh-CN" altLang="en-US" sz="2400" dirty="0">
                <a:latin typeface="Times New Roman" panose="02020603050405020304" charset="0"/>
              </a:rPr>
              <a:t>最终变型空间</a:t>
            </a:r>
            <a:endParaRPr kumimoji="1" lang="zh-CN" altLang="en-US" sz="2400" dirty="0">
              <a:latin typeface="Times New Roman" panose="02020603050405020304"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dirty="0">
              <a:latin typeface="Times New Roman" panose="02020603050405020304" charset="0"/>
              <a:cs typeface="Times New Roman" panose="02020603050405020304" charset="0"/>
            </a:endParaRPr>
          </a:p>
        </p:txBody>
      </p:sp>
      <p:sp>
        <p:nvSpPr>
          <p:cNvPr id="6" name="文本框 5"/>
          <p:cNvSpPr txBox="1"/>
          <p:nvPr/>
        </p:nvSpPr>
        <p:spPr>
          <a:xfrm>
            <a:off x="419735" y="291465"/>
            <a:ext cx="8637905" cy="583565"/>
          </a:xfrm>
          <a:prstGeom prst="rect">
            <a:avLst/>
          </a:prstGeom>
          <a:noFill/>
        </p:spPr>
        <p:txBody>
          <a:bodyPr wrap="square" rtlCol="0">
            <a:spAutoFit/>
            <a:scene3d>
              <a:camera prst="orthographicFront"/>
              <a:lightRig rig="threePt" dir="t"/>
            </a:scene3d>
          </a:bodyPr>
          <a:lstStyle/>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概念学习算法：</a:t>
            </a:r>
            <a:r>
              <a:rPr lang="zh-CN" altLang="en-US" sz="3200" b="1" spc="200" dirty="0">
                <a:solidFill>
                  <a:schemeClr val="accent1"/>
                </a:solidFill>
                <a:uFillTx/>
                <a:latin typeface="微软雅黑 Light" panose="020B0502040204020203" pitchFamily="34" charset="-122"/>
                <a:ea typeface="微软雅黑" panose="020B0503020204020204" charset="-122"/>
                <a:cs typeface="+mj-cs"/>
                <a:sym typeface="+mn-ea"/>
              </a:rPr>
              <a:t>候选消除算法及变型空间</a:t>
            </a:r>
            <a:endParaRPr lang="en-US" altLang="zh-CN" sz="3200" b="1" spc="200" dirty="0">
              <a:solidFill>
                <a:schemeClr val="accent1"/>
              </a:solidFill>
              <a:uFillTx/>
              <a:latin typeface="微软雅黑 Light" panose="020B0502040204020203" pitchFamily="34" charset="-122"/>
              <a:ea typeface="微软雅黑" panose="020B0503020204020204" charset="-122"/>
              <a:cs typeface="+mj-cs"/>
            </a:endParaRPr>
          </a:p>
        </p:txBody>
      </p:sp>
      <mc:AlternateContent xmlns:mc="http://schemas.openxmlformats.org/markup-compatibility/2006">
        <mc:Choice xmlns:a14="http://schemas.microsoft.com/office/drawing/2010/main" Requires="a14">
          <p:sp>
            <p:nvSpPr>
              <p:cNvPr id="104451" name="Rectangle 3"/>
              <p:cNvSpPr>
                <a:spLocks noGrp="1" noChangeArrowheads="1"/>
              </p:cNvSpPr>
              <p:nvPr>
                <p:ph idx="1"/>
              </p:nvPr>
            </p:nvSpPr>
            <p:spPr>
              <a:xfrm>
                <a:off x="269240" y="1306830"/>
                <a:ext cx="11203940" cy="4485005"/>
              </a:xfrm>
            </p:spPr>
            <p:txBody>
              <a:bodyPr>
                <a:normAutofit lnSpcReduction="20000"/>
              </a:bodyPr>
              <a:lstStyle/>
              <a:p>
                <a:pPr eaLnBrk="1" hangingPunct="1">
                  <a:lnSpc>
                    <a:spcPct val="120000"/>
                  </a:lnSpc>
                </a:pPr>
                <a:r>
                  <a:rPr lang="zh-CN" altLang="en-US" sz="2400" dirty="0"/>
                  <a:t>候选消除算法收敛到正确的假设</a:t>
                </a:r>
                <a:endParaRPr lang="zh-CN" altLang="en-US" sz="2400" dirty="0"/>
              </a:p>
              <a:p>
                <a:pPr lvl="1" eaLnBrk="1" hangingPunct="1">
                  <a:lnSpc>
                    <a:spcPct val="120000"/>
                  </a:lnSpc>
                </a:pPr>
                <a:r>
                  <a:rPr lang="zh-CN" altLang="en-US" sz="2000" dirty="0"/>
                  <a:t>训练样例中没有错误</a:t>
                </a:r>
                <a:endParaRPr lang="zh-CN" altLang="en-US" sz="2000" dirty="0"/>
              </a:p>
              <a:p>
                <a:pPr lvl="1" eaLnBrk="1" hangingPunct="1">
                  <a:lnSpc>
                    <a:spcPct val="120000"/>
                  </a:lnSpc>
                </a:pPr>
                <a14:m>
                  <m:oMath xmlns:m="http://schemas.openxmlformats.org/officeDocument/2006/math">
                    <m:r>
                      <a:rPr lang="en-US" altLang="zh-CN" sz="2000" i="1" dirty="0" smtClean="0">
                        <a:latin typeface="Cambria Math" panose="02040503050406030204" pitchFamily="18" charset="0"/>
                      </a:rPr>
                      <m:t>𝐻</m:t>
                    </m:r>
                  </m:oMath>
                </a14:m>
                <a:r>
                  <a:rPr lang="zh-CN" altLang="en-US" sz="2000" dirty="0"/>
                  <a:t>中确实包含描述目标概念的正确假设</a:t>
                </a:r>
                <a:endParaRPr lang="zh-CN" altLang="en-US" sz="2000" dirty="0"/>
              </a:p>
              <a:p>
                <a:pPr marL="457200" lvl="1" indent="0" eaLnBrk="1" hangingPunct="1">
                  <a:lnSpc>
                    <a:spcPct val="120000"/>
                  </a:lnSpc>
                  <a:buNone/>
                </a:pPr>
                <a:endParaRPr lang="zh-CN" altLang="en-US" sz="2000" dirty="0"/>
              </a:p>
              <a:p>
                <a:pPr eaLnBrk="1" hangingPunct="1">
                  <a:lnSpc>
                    <a:spcPct val="120000"/>
                  </a:lnSpc>
                </a:pPr>
                <a:r>
                  <a:rPr lang="zh-CN" altLang="en-US" sz="2400" dirty="0"/>
                  <a:t>如果样例中存在错误</a:t>
                </a:r>
                <a:endParaRPr lang="zh-CN" altLang="en-US" sz="2400" dirty="0"/>
              </a:p>
              <a:p>
                <a:pPr lvl="1" eaLnBrk="1" hangingPunct="1">
                  <a:lnSpc>
                    <a:spcPct val="120000"/>
                  </a:lnSpc>
                </a:pPr>
                <a:r>
                  <a:rPr lang="zh-CN" altLang="en-US" sz="2000" dirty="0"/>
                  <a:t>如果给定足够的训练数据，我们会发现</a:t>
                </a:r>
                <a14:m>
                  <m:oMath xmlns:m="http://schemas.openxmlformats.org/officeDocument/2006/math">
                    <m:r>
                      <a:rPr lang="en-US" altLang="zh-CN" sz="2000" i="1" dirty="0" smtClean="0">
                        <a:latin typeface="Cambria Math" panose="02040503050406030204" pitchFamily="18" charset="0"/>
                      </a:rPr>
                      <m:t>𝑆</m:t>
                    </m:r>
                  </m:oMath>
                </a14:m>
                <a:r>
                  <a:rPr lang="zh-CN" altLang="en-US" sz="2000" dirty="0"/>
                  <a:t>和</a:t>
                </a:r>
                <a14:m>
                  <m:oMath xmlns:m="http://schemas.openxmlformats.org/officeDocument/2006/math">
                    <m:r>
                      <a:rPr lang="en-US" altLang="zh-CN" sz="2000" i="1" dirty="0" smtClean="0">
                        <a:latin typeface="Cambria Math" panose="02040503050406030204" pitchFamily="18" charset="0"/>
                      </a:rPr>
                      <m:t>𝐺</m:t>
                    </m:r>
                  </m:oMath>
                </a14:m>
                <a:r>
                  <a:rPr lang="zh-CN" altLang="en-US" sz="2000" dirty="0"/>
                  <a:t>边界收敛得到一个空的变型空间</a:t>
                </a:r>
                <a:endParaRPr lang="zh-CN" altLang="en-US" sz="2000" dirty="0"/>
              </a:p>
              <a:p>
                <a:pPr eaLnBrk="1" hangingPunct="1">
                  <a:lnSpc>
                    <a:spcPct val="120000"/>
                  </a:lnSpc>
                </a:pPr>
                <a:endParaRPr lang="zh-CN" altLang="en-US" sz="2000" dirty="0">
                  <a:sym typeface="+mn-ea"/>
                </a:endParaRPr>
              </a:p>
              <a:p>
                <a:pPr eaLnBrk="1" hangingPunct="1">
                  <a:lnSpc>
                    <a:spcPct val="120000"/>
                  </a:lnSpc>
                </a:pPr>
                <a:r>
                  <a:rPr lang="zh-CN" altLang="en-US" sz="2400" dirty="0">
                    <a:sym typeface="+mn-ea"/>
                  </a:rPr>
                  <a:t>如果目标概念不能由假设表示方式所描述</a:t>
                </a:r>
                <a:endParaRPr lang="zh-CN" altLang="en-US" sz="2400" dirty="0"/>
              </a:p>
              <a:p>
                <a:pPr lvl="1" eaLnBrk="1" hangingPunct="1">
                  <a:lnSpc>
                    <a:spcPct val="120000"/>
                  </a:lnSpc>
                </a:pPr>
                <a:r>
                  <a:rPr lang="zh-CN" altLang="en-US" sz="2000" dirty="0">
                    <a:sym typeface="+mn-ea"/>
                  </a:rPr>
                  <a:t>比如是约束的析取</a:t>
                </a:r>
                <a:endParaRPr lang="zh-CN" altLang="en-US" sz="2000" dirty="0"/>
              </a:p>
              <a:p>
                <a:pPr lvl="1" eaLnBrk="1" hangingPunct="1">
                  <a:lnSpc>
                    <a:spcPct val="120000"/>
                  </a:lnSpc>
                </a:pPr>
                <a14:m>
                  <m:oMath xmlns:m="http://schemas.openxmlformats.org/officeDocument/2006/math">
                    <m:r>
                      <a:rPr lang="en-US" altLang="zh-CN" sz="2000" i="1" dirty="0" smtClean="0">
                        <a:latin typeface="Cambria Math" panose="02040503050406030204" pitchFamily="18" charset="0"/>
                      </a:rPr>
                      <m:t>&lt;</m:t>
                    </m:r>
                    <m:r>
                      <a:rPr lang="en-US" altLang="zh-CN" sz="2000" i="1" dirty="0" smtClean="0">
                        <a:latin typeface="Cambria Math" panose="02040503050406030204" pitchFamily="18" charset="0"/>
                      </a:rPr>
                      <m:t>𝑆𝑢𝑛𝑛𝑦</m:t>
                    </m:r>
                    <m:r>
                      <a:rPr lang="en-US" altLang="zh-CN" sz="2000" i="1" dirty="0" smtClean="0">
                        <a:latin typeface="Cambria Math" panose="02040503050406030204" pitchFamily="18" charset="0"/>
                      </a:rPr>
                      <m:t>, ?, ?, ?, ?, ?&gt; ∨ &lt;</m:t>
                    </m:r>
                    <m:r>
                      <a:rPr lang="en-US" altLang="zh-CN" sz="2000" i="1" dirty="0" smtClean="0">
                        <a:latin typeface="Cambria Math" panose="02040503050406030204" pitchFamily="18" charset="0"/>
                      </a:rPr>
                      <m:t>𝐶𝑙𝑜𝑢𝑑𝑦</m:t>
                    </m:r>
                    <m:r>
                      <a:rPr lang="en-US" altLang="zh-CN" sz="2000" i="1" dirty="0" smtClean="0">
                        <a:latin typeface="Cambria Math" panose="02040503050406030204" pitchFamily="18" charset="0"/>
                      </a:rPr>
                      <m:t>, ?, ?, ?, ?, ?&gt;</m:t>
                    </m:r>
                  </m:oMath>
                </a14:m>
                <a:endParaRPr lang="en-US" altLang="zh-CN" sz="2000" dirty="0"/>
              </a:p>
              <a:p>
                <a:pPr marL="0" indent="0" eaLnBrk="1" hangingPunct="1">
                  <a:lnSpc>
                    <a:spcPct val="120000"/>
                  </a:lnSpc>
                  <a:buNone/>
                </a:pPr>
                <a:endParaRPr lang="zh-CN" altLang="en-US" sz="2000" dirty="0"/>
              </a:p>
            </p:txBody>
          </p:sp>
        </mc:Choice>
        <mc:Fallback>
          <p:sp>
            <p:nvSpPr>
              <p:cNvPr id="104451" name="Rectangle 3"/>
              <p:cNvSpPr>
                <a:spLocks noRot="1" noChangeAspect="1" noMove="1" noResize="1" noEditPoints="1" noAdjustHandles="1" noChangeArrowheads="1" noChangeShapeType="1" noTextEdit="1"/>
              </p:cNvSpPr>
              <p:nvPr>
                <p:ph idx="1"/>
              </p:nvPr>
            </p:nvSpPr>
            <p:spPr>
              <a:xfrm>
                <a:off x="269240" y="1306830"/>
                <a:ext cx="11203940" cy="4485005"/>
              </a:xfrm>
              <a:blipFill rotWithShape="1">
                <a:blip r:embed="rId1"/>
                <a:stretch>
                  <a:fillRect/>
                </a:stretch>
              </a:blipFill>
            </p:spPr>
            <p:txBody>
              <a:bodyPr/>
              <a:lstStyle/>
              <a:p>
                <a:r>
                  <a:rPr lang="zh-CN" altLang="en-US">
                    <a:noFill/>
                  </a:rPr>
                  <a:t> </a:t>
                </a:r>
              </a:p>
            </p:txBody>
          </p:sp>
        </mc:Fallback>
      </mc:AlternateContent>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dirty="0">
              <a:latin typeface="Times New Roman" panose="02020603050405020304" charset="0"/>
              <a:cs typeface="Times New Roman" panose="02020603050405020304" charset="0"/>
            </a:endParaRPr>
          </a:p>
        </p:txBody>
      </p:sp>
      <p:sp>
        <p:nvSpPr>
          <p:cNvPr id="6" name="文本框 5"/>
          <p:cNvSpPr txBox="1"/>
          <p:nvPr/>
        </p:nvSpPr>
        <p:spPr>
          <a:xfrm>
            <a:off x="419735" y="291465"/>
            <a:ext cx="8637905" cy="583565"/>
          </a:xfrm>
          <a:prstGeom prst="rect">
            <a:avLst/>
          </a:prstGeom>
          <a:noFill/>
        </p:spPr>
        <p:txBody>
          <a:bodyPr wrap="square" rtlCol="0">
            <a:spAutoFit/>
            <a:scene3d>
              <a:camera prst="orthographicFront"/>
              <a:lightRig rig="threePt" dir="t"/>
            </a:scene3d>
          </a:bodyPr>
          <a:lstStyle/>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概念学习算法：</a:t>
            </a:r>
            <a:r>
              <a:rPr lang="zh-CN" altLang="en-US" sz="3200" b="1" spc="200" dirty="0">
                <a:solidFill>
                  <a:schemeClr val="accent1"/>
                </a:solidFill>
                <a:uFillTx/>
                <a:latin typeface="微软雅黑 Light" panose="020B0502040204020203" pitchFamily="34" charset="-122"/>
                <a:ea typeface="微软雅黑" panose="020B0503020204020204" charset="-122"/>
                <a:cs typeface="+mj-cs"/>
                <a:sym typeface="+mn-ea"/>
              </a:rPr>
              <a:t>候选消除算法及变型空间</a:t>
            </a:r>
            <a:endParaRPr lang="en-US" altLang="zh-CN" sz="3200" b="1" spc="200" dirty="0">
              <a:solidFill>
                <a:schemeClr val="accent1"/>
              </a:solidFill>
              <a:uFillTx/>
              <a:latin typeface="微软雅黑 Light" panose="020B0502040204020203" pitchFamily="34" charset="-122"/>
              <a:ea typeface="微软雅黑" panose="020B0503020204020204" charset="-122"/>
              <a:cs typeface="+mj-cs"/>
            </a:endParaRPr>
          </a:p>
        </p:txBody>
      </p:sp>
      <p:pic>
        <p:nvPicPr>
          <p:cNvPr id="7" name="Picture 3"/>
          <p:cNvPicPr>
            <a:picLocks noChangeAspect="1"/>
          </p:cNvPicPr>
          <p:nvPr>
            <p:custDataLst>
              <p:tags r:id="rId1"/>
            </p:custDataLst>
          </p:nvPr>
        </p:nvPicPr>
        <p:blipFill>
          <a:blip r:embed="rId2"/>
          <a:stretch>
            <a:fillRect/>
          </a:stretch>
        </p:blipFill>
        <p:spPr>
          <a:xfrm>
            <a:off x="5584825" y="1481455"/>
            <a:ext cx="6096635" cy="5099050"/>
          </a:xfrm>
          <a:prstGeom prst="rect">
            <a:avLst/>
          </a:prstGeom>
        </p:spPr>
      </p:pic>
      <p:sp>
        <p:nvSpPr>
          <p:cNvPr id="5" name="文本框 4"/>
          <p:cNvSpPr txBox="1"/>
          <p:nvPr/>
        </p:nvSpPr>
        <p:spPr>
          <a:xfrm>
            <a:off x="301625" y="1035050"/>
            <a:ext cx="6096000" cy="534035"/>
          </a:xfrm>
          <a:prstGeom prst="rect">
            <a:avLst/>
          </a:prstGeom>
          <a:noFill/>
        </p:spPr>
        <p:txBody>
          <a:bodyPr wrap="square" rtlCol="0" anchor="t">
            <a:spAutoFit/>
          </a:bodyPr>
          <a:lstStyle/>
          <a:p>
            <a:pPr eaLnBrk="1" hangingPunct="1">
              <a:lnSpc>
                <a:spcPct val="120000"/>
              </a:lnSpc>
            </a:pPr>
            <a:r>
              <a:rPr lang="zh-CN" altLang="en-US" sz="2400" dirty="0">
                <a:sym typeface="+mn-ea"/>
              </a:rPr>
              <a:t>当目标概念不能由假设表示方式所描述时</a:t>
            </a:r>
            <a:endParaRPr lang="zh-CN" altLang="en-US" sz="2400" dirty="0">
              <a:sym typeface="+mn-ea"/>
            </a:endParaRPr>
          </a:p>
        </p:txBody>
      </p:sp>
      <p:sp>
        <p:nvSpPr>
          <p:cNvPr id="106499" name="Rectangle 3"/>
          <p:cNvSpPr>
            <a:spLocks noGrp="1" noChangeArrowheads="1"/>
          </p:cNvSpPr>
          <p:nvPr>
            <p:ph idx="1"/>
          </p:nvPr>
        </p:nvSpPr>
        <p:spPr>
          <a:xfrm>
            <a:off x="728980" y="1630680"/>
            <a:ext cx="3632835" cy="519430"/>
          </a:xfrm>
        </p:spPr>
        <p:txBody>
          <a:bodyPr/>
          <a:lstStyle/>
          <a:p>
            <a:pPr marL="0" indent="0" eaLnBrk="1" hangingPunct="1">
              <a:lnSpc>
                <a:spcPct val="120000"/>
              </a:lnSpc>
              <a:buNone/>
            </a:pPr>
            <a:r>
              <a:rPr lang="en-US" altLang="zh-CN" sz="2000" dirty="0"/>
              <a:t>-- </a:t>
            </a:r>
            <a:r>
              <a:rPr lang="zh-CN" altLang="en-US" sz="2000" dirty="0"/>
              <a:t>使用不完全学习概念</a:t>
            </a:r>
            <a:endParaRPr lang="zh-CN" altLang="en-US" sz="2000" dirty="0"/>
          </a:p>
        </p:txBody>
      </p:sp>
      <p:sp>
        <p:nvSpPr>
          <p:cNvPr id="108547" name="Rectangle 5"/>
          <p:cNvSpPr>
            <a:spLocks noGrp="1" noChangeArrowheads="1"/>
          </p:cNvSpPr>
          <p:nvPr/>
        </p:nvSpPr>
        <p:spPr>
          <a:xfrm>
            <a:off x="831850" y="2989580"/>
            <a:ext cx="4292600" cy="2083435"/>
          </a:xfrm>
          <a:prstGeom prst="rect">
            <a:avLst/>
          </a:prstGeom>
          <a:noFill/>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Font typeface="Wingdings" panose="05000000000000000000" pitchFamily="2" charset="2"/>
              <a:buChar char="§"/>
              <a:defRPr kumimoji="0" lang="zh-CN" altLang="en-US" sz="2000" b="0" i="0" u="none" strike="noStrike" kern="1200" cap="none" spc="150" normalizeH="0" baseline="0" noProof="1" dirty="0">
                <a:solidFill>
                  <a:schemeClr val="tx1">
                    <a:lumMod val="75000"/>
                    <a:lumOff val="25000"/>
                  </a:schemeClr>
                </a:solidFill>
                <a:uFillTx/>
                <a:latin typeface="微软雅黑 Light" panose="020B0502040204020203" pitchFamily="34" charset="-122"/>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800" b="0" i="0" u="none" strike="noStrike" kern="1200" cap="none" spc="150" normalizeH="0" baseline="0" noProof="1" dirty="0">
                <a:solidFill>
                  <a:schemeClr val="tx1">
                    <a:lumMod val="75000"/>
                    <a:lumOff val="25000"/>
                  </a:schemeClr>
                </a:solidFill>
                <a:uFillTx/>
                <a:latin typeface="微软雅黑 Light" panose="020B0502040204020203" pitchFamily="34" charset="-122"/>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75000"/>
                    <a:lumOff val="25000"/>
                  </a:schemeClr>
                </a:solidFill>
                <a:uFillTx/>
                <a:latin typeface="微软雅黑 Light" panose="020B0502040204020203" pitchFamily="34" charset="-122"/>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75000"/>
                    <a:lumOff val="25000"/>
                  </a:schemeClr>
                </a:solidFill>
                <a:uFillTx/>
                <a:latin typeface="微软雅黑 Light" panose="020B0502040204020203" pitchFamily="34" charset="-122"/>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75000"/>
                    <a:lumOff val="25000"/>
                  </a:schemeClr>
                </a:solidFill>
                <a:uFillTx/>
                <a:latin typeface="微软雅黑 Light" panose="020B0502040204020203" pitchFamily="34" charset="-122"/>
                <a:ea typeface="微软雅黑" panose="020B0503020204020204" charset="-122"/>
                <a:cs typeface="+mn-cs"/>
                <a:sym typeface="+mn-ea"/>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eaLnBrk="1" hangingPunct="1"/>
            <a:r>
              <a:rPr lang="zh-CN" altLang="en-US"/>
              <a:t>判断是否是正例</a:t>
            </a:r>
            <a:endParaRPr lang="zh-CN" altLang="en-US"/>
          </a:p>
          <a:p>
            <a:pPr lvl="1" eaLnBrk="1" hangingPunct="1"/>
            <a:r>
              <a:rPr lang="zh-CN" altLang="en-US"/>
              <a:t>判断是否满足</a:t>
            </a:r>
            <a:r>
              <a:rPr lang="en-US" altLang="zh-CN"/>
              <a:t>S</a:t>
            </a:r>
            <a:r>
              <a:rPr lang="zh-CN" altLang="en-US"/>
              <a:t>中的每个假设</a:t>
            </a:r>
            <a:endParaRPr lang="zh-CN" altLang="en-US"/>
          </a:p>
          <a:p>
            <a:pPr eaLnBrk="1" hangingPunct="1"/>
            <a:r>
              <a:rPr lang="zh-CN" altLang="en-US"/>
              <a:t>判断是否是反例</a:t>
            </a:r>
            <a:endParaRPr lang="zh-CN" altLang="en-US"/>
          </a:p>
          <a:p>
            <a:pPr lvl="1" eaLnBrk="1" hangingPunct="1"/>
            <a:r>
              <a:rPr lang="zh-CN" altLang="en-US"/>
              <a:t>判断是否不满足</a:t>
            </a:r>
            <a:r>
              <a:rPr lang="en-US" altLang="zh-CN"/>
              <a:t>G</a:t>
            </a:r>
            <a:r>
              <a:rPr lang="zh-CN" altLang="en-US"/>
              <a:t>中的每个假设</a:t>
            </a:r>
            <a:endParaRPr lang="zh-CN" alt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dirty="0">
              <a:latin typeface="Times New Roman" panose="02020603050405020304" charset="0"/>
              <a:cs typeface="Times New Roman" panose="02020603050405020304" charset="0"/>
            </a:endParaRPr>
          </a:p>
        </p:txBody>
      </p:sp>
      <p:sp>
        <p:nvSpPr>
          <p:cNvPr id="6" name="文本框 5"/>
          <p:cNvSpPr txBox="1"/>
          <p:nvPr/>
        </p:nvSpPr>
        <p:spPr>
          <a:xfrm>
            <a:off x="419735" y="291465"/>
            <a:ext cx="8637905" cy="583565"/>
          </a:xfrm>
          <a:prstGeom prst="rect">
            <a:avLst/>
          </a:prstGeom>
          <a:noFill/>
        </p:spPr>
        <p:txBody>
          <a:bodyPr wrap="square" rtlCol="0">
            <a:spAutoFit/>
            <a:scene3d>
              <a:camera prst="orthographicFront"/>
              <a:lightRig rig="threePt" dir="t"/>
            </a:scene3d>
          </a:bodyPr>
          <a:lstStyle/>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概念学习算法：归纳偏置</a:t>
            </a:r>
            <a:endParaRPr lang="en-US" altLang="zh-CN" sz="3200" b="1" spc="200" dirty="0">
              <a:solidFill>
                <a:schemeClr val="accent1"/>
              </a:solidFill>
              <a:uFillTx/>
              <a:latin typeface="微软雅黑 Light" panose="020B0502040204020203" pitchFamily="34" charset="-122"/>
              <a:ea typeface="微软雅黑" panose="020B0503020204020204" charset="-122"/>
              <a:cs typeface="+mj-cs"/>
            </a:endParaRPr>
          </a:p>
        </p:txBody>
      </p:sp>
      <p:sp>
        <p:nvSpPr>
          <p:cNvPr id="4" name="文本框 3"/>
          <p:cNvSpPr txBox="1"/>
          <p:nvPr/>
        </p:nvSpPr>
        <p:spPr>
          <a:xfrm>
            <a:off x="367665" y="1499235"/>
            <a:ext cx="7339330" cy="1198880"/>
          </a:xfrm>
          <a:prstGeom prst="rect">
            <a:avLst/>
          </a:prstGeom>
          <a:noFill/>
        </p:spPr>
        <p:txBody>
          <a:bodyPr wrap="square" rtlCol="0">
            <a:spAutoFit/>
          </a:bodyPr>
          <a:lstStyle/>
          <a:p>
            <a:r>
              <a:rPr lang="zh-CN" altLang="en-US" sz="2400" b="1"/>
              <a:t>有偏假设空间：</a:t>
            </a:r>
            <a:r>
              <a:rPr lang="zh-CN" altLang="en-US" sz="2400"/>
              <a:t>假设空间限制为只包含属性值的合取</a:t>
            </a:r>
            <a:endParaRPr lang="zh-CN" altLang="en-US" sz="2400"/>
          </a:p>
          <a:p>
            <a:endParaRPr lang="zh-CN" altLang="en-US" sz="2400"/>
          </a:p>
          <a:p>
            <a:r>
              <a:rPr lang="zh-CN" altLang="en-US" sz="2400" b="1"/>
              <a:t>无偏假设空间：</a:t>
            </a:r>
            <a:r>
              <a:rPr lang="zh-CN" altLang="en-US" sz="2400"/>
              <a:t>可表达所有可教授概念的假设空间</a:t>
            </a:r>
            <a:endParaRPr lang="zh-CN" altLang="en-US" sz="2400"/>
          </a:p>
        </p:txBody>
      </p:sp>
      <p:sp>
        <p:nvSpPr>
          <p:cNvPr id="5" name="文本框 4"/>
          <p:cNvSpPr txBox="1"/>
          <p:nvPr/>
        </p:nvSpPr>
        <p:spPr>
          <a:xfrm>
            <a:off x="572770" y="3482340"/>
            <a:ext cx="11046460" cy="1938020"/>
          </a:xfrm>
          <a:prstGeom prst="rect">
            <a:avLst/>
          </a:prstGeom>
          <a:noFill/>
        </p:spPr>
        <p:txBody>
          <a:bodyPr wrap="square" rtlCol="0">
            <a:spAutoFit/>
          </a:bodyPr>
          <a:lstStyle/>
          <a:p>
            <a:r>
              <a:rPr lang="zh-CN" altLang="en-US" sz="2000"/>
              <a:t>对于Emma是否享受水上运动问题，规定的假设空间为有偏假设空间，该空间由六个属性变量所组成，即</a:t>
            </a:r>
            <a:r>
              <a:rPr lang="en-US" altLang="zh-CN" sz="2000"/>
              <a:t> &lt;Sky=?, AirTemp=?, Humidity=?, Wind=?, Water=?, Forecast=?&gt;</a:t>
            </a:r>
            <a:r>
              <a:rPr lang="zh-CN" altLang="en-US" sz="2000"/>
              <a:t>，然而实际情况可能存在更多的属性变量会影响最终</a:t>
            </a:r>
            <a:r>
              <a:rPr lang="en-US" altLang="zh-CN" sz="2000"/>
              <a:t>EnjoySport</a:t>
            </a:r>
            <a:r>
              <a:rPr lang="zh-CN" altLang="en-US" sz="2000"/>
              <a:t>的值</a:t>
            </a:r>
            <a:endParaRPr lang="zh-CN" altLang="en-US" sz="2000"/>
          </a:p>
          <a:p>
            <a:endParaRPr lang="zh-CN" altLang="en-US" sz="2000"/>
          </a:p>
          <a:p>
            <a:r>
              <a:rPr lang="zh-CN" altLang="en-US" sz="2000"/>
              <a:t>因此，基于有偏假设空间训练得到的模型在遇到不在有偏假设空间内的新的数据时</a:t>
            </a:r>
            <a:r>
              <a:rPr lang="en-US" altLang="zh-CN" sz="2000"/>
              <a:t>(</a:t>
            </a:r>
            <a:r>
              <a:rPr lang="zh-CN" altLang="en-US" sz="2000"/>
              <a:t>例如多了一个</a:t>
            </a:r>
            <a:endParaRPr lang="zh-CN" altLang="en-US" sz="2000"/>
          </a:p>
          <a:p>
            <a:r>
              <a:rPr lang="en-US" altLang="zh-CN" sz="2000"/>
              <a:t>{</a:t>
            </a:r>
            <a:r>
              <a:rPr lang="zh-CN" altLang="en-US" sz="2000"/>
              <a:t>当天游客人数多少</a:t>
            </a:r>
            <a:r>
              <a:rPr lang="en-US" altLang="zh-CN" sz="2000"/>
              <a:t>}</a:t>
            </a:r>
            <a:r>
              <a:rPr lang="zh-CN" altLang="en-US" sz="2000"/>
              <a:t>属性</a:t>
            </a:r>
            <a:r>
              <a:rPr lang="en-US" altLang="zh-CN" sz="2000"/>
              <a:t>)</a:t>
            </a:r>
            <a:r>
              <a:rPr lang="zh-CN" altLang="en-US" sz="2000"/>
              <a:t>，会无法判断，此时归纳偏置便产生了作用</a:t>
            </a:r>
            <a:endParaRPr lang="zh-CN" altLang="en-US" sz="200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dirty="0">
              <a:latin typeface="Times New Roman" panose="02020603050405020304" charset="0"/>
              <a:cs typeface="Times New Roman" panose="02020603050405020304" charset="0"/>
            </a:endParaRPr>
          </a:p>
        </p:txBody>
      </p:sp>
      <p:sp>
        <p:nvSpPr>
          <p:cNvPr id="6" name="文本框 5"/>
          <p:cNvSpPr txBox="1"/>
          <p:nvPr/>
        </p:nvSpPr>
        <p:spPr>
          <a:xfrm>
            <a:off x="419735" y="291465"/>
            <a:ext cx="8637905" cy="583565"/>
          </a:xfrm>
          <a:prstGeom prst="rect">
            <a:avLst/>
          </a:prstGeom>
          <a:noFill/>
        </p:spPr>
        <p:txBody>
          <a:bodyPr wrap="square" rtlCol="0">
            <a:spAutoFit/>
            <a:scene3d>
              <a:camera prst="orthographicFront"/>
              <a:lightRig rig="threePt" dir="t"/>
            </a:scene3d>
          </a:bodyPr>
          <a:lstStyle/>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概念学习算法：归纳偏置</a:t>
            </a:r>
            <a:endParaRPr lang="en-US" altLang="zh-CN" sz="3200" b="1" spc="200" dirty="0">
              <a:solidFill>
                <a:schemeClr val="accent1"/>
              </a:solidFill>
              <a:uFillTx/>
              <a:latin typeface="微软雅黑 Light" panose="020B0502040204020203" pitchFamily="34" charset="-122"/>
              <a:ea typeface="微软雅黑" panose="020B0503020204020204" charset="-122"/>
              <a:cs typeface="+mj-cs"/>
            </a:endParaRPr>
          </a:p>
        </p:txBody>
      </p:sp>
      <p:sp>
        <p:nvSpPr>
          <p:cNvPr id="8" name="文本框 7"/>
          <p:cNvSpPr txBox="1"/>
          <p:nvPr/>
        </p:nvSpPr>
        <p:spPr>
          <a:xfrm>
            <a:off x="753110" y="2493645"/>
            <a:ext cx="10617200" cy="1445260"/>
          </a:xfrm>
          <a:prstGeom prst="rect">
            <a:avLst/>
          </a:prstGeom>
          <a:noFill/>
        </p:spPr>
        <p:txBody>
          <a:bodyPr wrap="square" rtlCol="0" anchor="t">
            <a:spAutoFit/>
          </a:bodyPr>
          <a:lstStyle/>
          <a:p>
            <a:r>
              <a:rPr lang="zh-CN" altLang="en-US" sz="2400" b="1"/>
              <a:t>Find-S</a:t>
            </a:r>
            <a:r>
              <a:rPr lang="zh-CN" altLang="en-US" sz="2000"/>
              <a:t>算法的归纳偏置：</a:t>
            </a:r>
            <a:endParaRPr lang="zh-CN" altLang="en-US" sz="2000"/>
          </a:p>
          <a:p>
            <a:pPr>
              <a:lnSpc>
                <a:spcPct val="20000"/>
              </a:lnSpc>
            </a:pPr>
            <a:endParaRPr lang="zh-CN" altLang="en-US" sz="2000"/>
          </a:p>
          <a:p>
            <a:pPr indent="457200"/>
            <a:r>
              <a:rPr lang="en-US" altLang="zh-CN" sz="2000"/>
              <a:t>1</a:t>
            </a:r>
            <a:r>
              <a:rPr lang="zh-CN" altLang="en-US" sz="2000"/>
              <a:t>）假定目标概念必须在假设空间中</a:t>
            </a:r>
            <a:endParaRPr lang="zh-CN" altLang="en-US" sz="2000"/>
          </a:p>
          <a:p>
            <a:pPr indent="457200"/>
            <a:r>
              <a:rPr lang="en-US" altLang="zh-CN" sz="2000"/>
              <a:t>2</a:t>
            </a:r>
            <a:r>
              <a:rPr lang="zh-CN" altLang="en-US" sz="2000"/>
              <a:t>）对于任何实例来说，若不符合最特殊假设，除非其为正例可由其他知识逻辑推出,否则</a:t>
            </a:r>
            <a:endParaRPr lang="zh-CN" altLang="en-US" sz="2000"/>
          </a:p>
          <a:p>
            <a:pPr indent="457200"/>
            <a:r>
              <a:rPr lang="zh-CN" altLang="en-US" sz="2000"/>
              <a:t> </a:t>
            </a:r>
            <a:r>
              <a:rPr lang="en-US" altLang="zh-CN" sz="2000"/>
              <a:t>      </a:t>
            </a:r>
            <a:r>
              <a:rPr lang="zh-CN" altLang="en-US" sz="2000"/>
              <a:t>均判别为反例</a:t>
            </a:r>
            <a:endParaRPr lang="zh-CN" altLang="en-US" sz="2000"/>
          </a:p>
        </p:txBody>
      </p:sp>
      <p:sp>
        <p:nvSpPr>
          <p:cNvPr id="9" name="文本框 8"/>
          <p:cNvSpPr txBox="1"/>
          <p:nvPr/>
        </p:nvSpPr>
        <p:spPr>
          <a:xfrm>
            <a:off x="495935" y="1269365"/>
            <a:ext cx="11057890" cy="829945"/>
          </a:xfrm>
          <a:prstGeom prst="rect">
            <a:avLst/>
          </a:prstGeom>
          <a:noFill/>
        </p:spPr>
        <p:txBody>
          <a:bodyPr wrap="square" rtlCol="0" anchor="t">
            <a:spAutoFit/>
          </a:bodyPr>
          <a:lstStyle/>
          <a:p>
            <a:r>
              <a:rPr lang="zh-CN" altLang="en-US" sz="2000" b="1"/>
              <a:t>归纳偏置：</a:t>
            </a:r>
            <a:r>
              <a:rPr lang="zh-CN" altLang="en-US" sz="2000"/>
              <a:t>当学习器去预测其未遇到过的输入的结果时，会做一些假设，而学习算法中归纳偏置</a:t>
            </a:r>
            <a:endParaRPr lang="zh-CN" altLang="en-US" sz="2000"/>
          </a:p>
          <a:p>
            <a:pPr>
              <a:lnSpc>
                <a:spcPct val="40000"/>
              </a:lnSpc>
            </a:pPr>
            <a:endParaRPr lang="zh-CN" altLang="en-US" sz="2000"/>
          </a:p>
          <a:p>
            <a:r>
              <a:rPr lang="en-US" altLang="zh-CN" sz="2000"/>
              <a:t>                      </a:t>
            </a:r>
            <a:r>
              <a:rPr lang="zh-CN" altLang="en-US" sz="2000"/>
              <a:t>则是这些假设的集合。</a:t>
            </a:r>
            <a:endParaRPr lang="zh-CN" altLang="en-US" sz="2000"/>
          </a:p>
        </p:txBody>
      </p:sp>
      <p:sp>
        <p:nvSpPr>
          <p:cNvPr id="10" name="文本框 9"/>
          <p:cNvSpPr txBox="1"/>
          <p:nvPr/>
        </p:nvSpPr>
        <p:spPr>
          <a:xfrm>
            <a:off x="787400" y="4201795"/>
            <a:ext cx="10617200" cy="1414780"/>
          </a:xfrm>
          <a:prstGeom prst="rect">
            <a:avLst/>
          </a:prstGeom>
          <a:noFill/>
        </p:spPr>
        <p:txBody>
          <a:bodyPr wrap="square" rtlCol="0" anchor="t">
            <a:spAutoFit/>
          </a:bodyPr>
          <a:lstStyle/>
          <a:p>
            <a:r>
              <a:rPr lang="zh-CN" altLang="en-US" sz="2000" b="1"/>
              <a:t>候选消除</a:t>
            </a:r>
            <a:r>
              <a:rPr lang="zh-CN" altLang="en-US" sz="2000"/>
              <a:t>算法的归纳偏置：</a:t>
            </a:r>
            <a:endParaRPr lang="zh-CN" altLang="en-US" sz="2000"/>
          </a:p>
          <a:p>
            <a:pPr>
              <a:lnSpc>
                <a:spcPct val="30000"/>
              </a:lnSpc>
            </a:pPr>
            <a:endParaRPr lang="zh-CN" altLang="en-US" sz="2000"/>
          </a:p>
          <a:p>
            <a:pPr indent="457200"/>
            <a:r>
              <a:rPr lang="en-US" altLang="zh-CN" sz="2000"/>
              <a:t>1</a:t>
            </a:r>
            <a:r>
              <a:rPr lang="zh-CN" altLang="en-US" sz="2000"/>
              <a:t>）假定目标概念必须在假设空间中</a:t>
            </a:r>
            <a:endParaRPr lang="zh-CN" altLang="en-US" sz="2000"/>
          </a:p>
          <a:p>
            <a:pPr indent="457200"/>
            <a:r>
              <a:rPr lang="en-US" altLang="zh-CN" sz="2000">
                <a:sym typeface="+mn-ea"/>
              </a:rPr>
              <a:t>2</a:t>
            </a:r>
            <a:r>
              <a:rPr lang="zh-CN" altLang="en-US" sz="2000">
                <a:sym typeface="+mn-ea"/>
              </a:rPr>
              <a:t>）对于任何实例来说，若不在变型空间中，除非其为正例可由其他知识逻辑推出,否则</a:t>
            </a:r>
            <a:endParaRPr lang="zh-CN" altLang="en-US" sz="2000">
              <a:sym typeface="+mn-ea"/>
            </a:endParaRPr>
          </a:p>
          <a:p>
            <a:pPr indent="457200"/>
            <a:r>
              <a:rPr lang="zh-CN" altLang="en-US" sz="2000">
                <a:sym typeface="+mn-ea"/>
              </a:rPr>
              <a:t> </a:t>
            </a:r>
            <a:r>
              <a:rPr lang="en-US" altLang="zh-CN" sz="2000">
                <a:sym typeface="+mn-ea"/>
              </a:rPr>
              <a:t>      </a:t>
            </a:r>
            <a:r>
              <a:rPr lang="zh-CN" altLang="en-US" sz="2000">
                <a:sym typeface="+mn-ea"/>
              </a:rPr>
              <a:t>均判别为</a:t>
            </a:r>
            <a:r>
              <a:rPr lang="en-US" altLang="zh-CN" sz="2000">
                <a:sym typeface="+mn-ea"/>
              </a:rPr>
              <a:t>’new instance’</a:t>
            </a:r>
            <a:r>
              <a:rPr lang="zh-CN" altLang="en-US" sz="2000">
                <a:sym typeface="+mn-ea"/>
              </a:rPr>
              <a:t>或</a:t>
            </a:r>
            <a:r>
              <a:rPr lang="en-US" altLang="zh-CN" sz="2000">
                <a:sym typeface="+mn-ea"/>
              </a:rPr>
              <a:t>’don’t know’</a:t>
            </a:r>
            <a:endParaRPr lang="en-US" altLang="zh-CN" sz="2000">
              <a:sym typeface="+mn-ea"/>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0" y="426070"/>
            <a:ext cx="1473958" cy="573206"/>
            <a:chOff x="0" y="696036"/>
            <a:chExt cx="1473958" cy="573206"/>
          </a:xfrm>
        </p:grpSpPr>
        <p:sp>
          <p:nvSpPr>
            <p:cNvPr id="5" name="矩形 4"/>
            <p:cNvSpPr/>
            <p:nvPr/>
          </p:nvSpPr>
          <p:spPr>
            <a:xfrm>
              <a:off x="0" y="696036"/>
              <a:ext cx="1473958" cy="573206"/>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6" name="文本框 5"/>
            <p:cNvSpPr txBox="1"/>
            <p:nvPr/>
          </p:nvSpPr>
          <p:spPr>
            <a:xfrm>
              <a:off x="69215" y="752551"/>
              <a:ext cx="1404620" cy="460375"/>
            </a:xfrm>
            <a:prstGeom prst="rect">
              <a:avLst/>
            </a:prstGeom>
            <a:noFill/>
          </p:spPr>
          <p:txBody>
            <a:bodyPr wrap="square" rtlCol="0">
              <a:spAutoFit/>
            </a:bodyPr>
            <a:lstStyle/>
            <a:p>
              <a:pPr algn="r"/>
              <a:r>
                <a:rPr lang="zh-CN" altLang="en-US" sz="2400" dirty="0">
                  <a:solidFill>
                    <a:schemeClr val="bg1"/>
                  </a:solidFill>
                </a:rPr>
                <a:t>本节内容</a:t>
              </a:r>
              <a:endParaRPr lang="zh-CN" altLang="en-US" sz="2400" dirty="0">
                <a:solidFill>
                  <a:schemeClr val="bg1"/>
                </a:solidFill>
              </a:endParaRPr>
            </a:p>
          </p:txBody>
        </p:sp>
      </p:grpSp>
      <p:sp>
        <p:nvSpPr>
          <p:cNvPr id="7" name="文本框 6"/>
          <p:cNvSpPr txBox="1"/>
          <p:nvPr/>
        </p:nvSpPr>
        <p:spPr>
          <a:xfrm>
            <a:off x="1528549" y="324737"/>
            <a:ext cx="2565779" cy="707886"/>
          </a:xfrm>
          <a:prstGeom prst="rect">
            <a:avLst/>
          </a:prstGeom>
          <a:noFill/>
        </p:spPr>
        <p:txBody>
          <a:bodyPr wrap="square" rtlCol="0">
            <a:spAutoFit/>
          </a:bodyPr>
          <a:lstStyle/>
          <a:p>
            <a:r>
              <a:rPr lang="en-US" altLang="zh-CN" sz="4000" b="1" dirty="0">
                <a:solidFill>
                  <a:schemeClr val="accent1">
                    <a:lumMod val="75000"/>
                  </a:schemeClr>
                </a:solidFill>
              </a:rPr>
              <a:t>C</a:t>
            </a:r>
            <a:r>
              <a:rPr lang="en-US" altLang="zh-CN" sz="2000" b="1" dirty="0">
                <a:solidFill>
                  <a:schemeClr val="accent1">
                    <a:lumMod val="75000"/>
                  </a:schemeClr>
                </a:solidFill>
              </a:rPr>
              <a:t>ONTENT</a:t>
            </a:r>
            <a:endParaRPr lang="zh-CN" altLang="en-US" sz="2000" b="1" dirty="0">
              <a:solidFill>
                <a:schemeClr val="accent1">
                  <a:lumMod val="75000"/>
                </a:schemeClr>
              </a:solidFill>
            </a:endParaRPr>
          </a:p>
        </p:txBody>
      </p:sp>
      <p:cxnSp>
        <p:nvCxnSpPr>
          <p:cNvPr id="8" name="直接连接符 7"/>
          <p:cNvCxnSpPr/>
          <p:nvPr/>
        </p:nvCxnSpPr>
        <p:spPr>
          <a:xfrm>
            <a:off x="3828732" y="1411646"/>
            <a:ext cx="0" cy="4326424"/>
          </a:xfrm>
          <a:prstGeom prst="line">
            <a:avLst/>
          </a:prstGeom>
          <a:ln w="38100"/>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1309207" y="2164617"/>
            <a:ext cx="1920554" cy="1870488"/>
            <a:chOff x="4796805" y="-215900"/>
            <a:chExt cx="2093913" cy="2122488"/>
          </a:xfrm>
          <a:solidFill>
            <a:srgbClr val="0070C0"/>
          </a:solidFill>
        </p:grpSpPr>
        <p:sp>
          <p:nvSpPr>
            <p:cNvPr id="10" name="Freeform 6"/>
            <p:cNvSpPr>
              <a:spLocks noEditPoints="1"/>
            </p:cNvSpPr>
            <p:nvPr/>
          </p:nvSpPr>
          <p:spPr bwMode="auto">
            <a:xfrm>
              <a:off x="4796805" y="-215900"/>
              <a:ext cx="2093913" cy="2122488"/>
            </a:xfrm>
            <a:custGeom>
              <a:avLst/>
              <a:gdLst>
                <a:gd name="T0" fmla="*/ 1391 w 2783"/>
                <a:gd name="T1" fmla="*/ 0 h 2783"/>
                <a:gd name="T2" fmla="*/ 0 w 2783"/>
                <a:gd name="T3" fmla="*/ 1391 h 2783"/>
                <a:gd name="T4" fmla="*/ 1391 w 2783"/>
                <a:gd name="T5" fmla="*/ 2783 h 2783"/>
                <a:gd name="T6" fmla="*/ 2783 w 2783"/>
                <a:gd name="T7" fmla="*/ 1391 h 2783"/>
                <a:gd name="T8" fmla="*/ 1391 w 2783"/>
                <a:gd name="T9" fmla="*/ 0 h 2783"/>
                <a:gd name="T10" fmla="*/ 1391 w 2783"/>
                <a:gd name="T11" fmla="*/ 55 h 2783"/>
                <a:gd name="T12" fmla="*/ 55 w 2783"/>
                <a:gd name="T13" fmla="*/ 1391 h 2783"/>
                <a:gd name="T14" fmla="*/ 1391 w 2783"/>
                <a:gd name="T15" fmla="*/ 2728 h 2783"/>
                <a:gd name="T16" fmla="*/ 2728 w 2783"/>
                <a:gd name="T17" fmla="*/ 1391 h 2783"/>
                <a:gd name="T18" fmla="*/ 1391 w 2783"/>
                <a:gd name="T19" fmla="*/ 55 h 27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83" h="2783">
                  <a:moveTo>
                    <a:pt x="1391" y="0"/>
                  </a:moveTo>
                  <a:cubicBezTo>
                    <a:pt x="623" y="0"/>
                    <a:pt x="0" y="623"/>
                    <a:pt x="0" y="1391"/>
                  </a:cubicBezTo>
                  <a:cubicBezTo>
                    <a:pt x="0" y="2160"/>
                    <a:pt x="623" y="2783"/>
                    <a:pt x="1391" y="2783"/>
                  </a:cubicBezTo>
                  <a:cubicBezTo>
                    <a:pt x="2160" y="2783"/>
                    <a:pt x="2783" y="2160"/>
                    <a:pt x="2783" y="1391"/>
                  </a:cubicBezTo>
                  <a:cubicBezTo>
                    <a:pt x="2783" y="623"/>
                    <a:pt x="2160" y="0"/>
                    <a:pt x="1391" y="0"/>
                  </a:cubicBezTo>
                  <a:close/>
                  <a:moveTo>
                    <a:pt x="1391" y="55"/>
                  </a:moveTo>
                  <a:cubicBezTo>
                    <a:pt x="654" y="55"/>
                    <a:pt x="55" y="654"/>
                    <a:pt x="55" y="1391"/>
                  </a:cubicBezTo>
                  <a:cubicBezTo>
                    <a:pt x="55" y="2129"/>
                    <a:pt x="654" y="2728"/>
                    <a:pt x="1391" y="2728"/>
                  </a:cubicBezTo>
                  <a:cubicBezTo>
                    <a:pt x="2129" y="2728"/>
                    <a:pt x="2728" y="2129"/>
                    <a:pt x="2728" y="1391"/>
                  </a:cubicBezTo>
                  <a:cubicBezTo>
                    <a:pt x="2728" y="654"/>
                    <a:pt x="2129" y="55"/>
                    <a:pt x="1391" y="55"/>
                  </a:cubicBezTo>
                  <a:close/>
                </a:path>
              </a:pathLst>
            </a:custGeom>
            <a:grpFill/>
            <a:ln>
              <a:solidFill>
                <a:srgbClr val="002060"/>
              </a:solidFill>
            </a:ln>
          </p:spPr>
          <p:txBody>
            <a:bodyPr vert="horz" wrap="square" lIns="91440" tIns="45720" rIns="91440" bIns="45720" numCol="1" anchor="t" anchorCtr="0" compatLnSpc="1"/>
            <a:lstStyle/>
            <a:p>
              <a:endParaRPr lang="zh-CN" altLang="en-US" dirty="0">
                <a:solidFill>
                  <a:srgbClr val="21A3D0"/>
                </a:solidFill>
              </a:endParaRPr>
            </a:p>
          </p:txBody>
        </p:sp>
        <p:sp>
          <p:nvSpPr>
            <p:cNvPr id="11" name="Freeform 7"/>
            <p:cNvSpPr>
              <a:spLocks noEditPoints="1"/>
            </p:cNvSpPr>
            <p:nvPr/>
          </p:nvSpPr>
          <p:spPr bwMode="auto">
            <a:xfrm>
              <a:off x="5168280" y="0"/>
              <a:ext cx="1360488" cy="1641475"/>
            </a:xfrm>
            <a:custGeom>
              <a:avLst/>
              <a:gdLst>
                <a:gd name="T0" fmla="*/ 870 w 1809"/>
                <a:gd name="T1" fmla="*/ 879 h 2152"/>
                <a:gd name="T2" fmla="*/ 870 w 1809"/>
                <a:gd name="T3" fmla="*/ 2152 h 2152"/>
                <a:gd name="T4" fmla="*/ 1809 w 1809"/>
                <a:gd name="T5" fmla="*/ 1820 h 2152"/>
                <a:gd name="T6" fmla="*/ 1809 w 1809"/>
                <a:gd name="T7" fmla="*/ 547 h 2152"/>
                <a:gd name="T8" fmla="*/ 870 w 1809"/>
                <a:gd name="T9" fmla="*/ 879 h 2152"/>
                <a:gd name="T10" fmla="*/ 785 w 1809"/>
                <a:gd name="T11" fmla="*/ 961 h 2152"/>
                <a:gd name="T12" fmla="*/ 785 w 1809"/>
                <a:gd name="T13" fmla="*/ 1138 h 2152"/>
                <a:gd name="T14" fmla="*/ 613 w 1809"/>
                <a:gd name="T15" fmla="*/ 1053 h 2152"/>
                <a:gd name="T16" fmla="*/ 613 w 1809"/>
                <a:gd name="T17" fmla="*/ 864 h 2152"/>
                <a:gd name="T18" fmla="*/ 785 w 1809"/>
                <a:gd name="T19" fmla="*/ 961 h 2152"/>
                <a:gd name="T20" fmla="*/ 1555 w 1809"/>
                <a:gd name="T21" fmla="*/ 410 h 2152"/>
                <a:gd name="T22" fmla="*/ 1507 w 1809"/>
                <a:gd name="T23" fmla="*/ 386 h 2152"/>
                <a:gd name="T24" fmla="*/ 602 w 1809"/>
                <a:gd name="T25" fmla="*/ 700 h 2152"/>
                <a:gd name="T26" fmla="*/ 576 w 1809"/>
                <a:gd name="T27" fmla="*/ 724 h 2152"/>
                <a:gd name="T28" fmla="*/ 576 w 1809"/>
                <a:gd name="T29" fmla="*/ 2017 h 2152"/>
                <a:gd name="T30" fmla="*/ 822 w 1809"/>
                <a:gd name="T31" fmla="*/ 2149 h 2152"/>
                <a:gd name="T32" fmla="*/ 822 w 1809"/>
                <a:gd name="T33" fmla="*/ 879 h 2152"/>
                <a:gd name="T34" fmla="*/ 622 w 1809"/>
                <a:gd name="T35" fmla="*/ 772 h 2152"/>
                <a:gd name="T36" fmla="*/ 625 w 1809"/>
                <a:gd name="T37" fmla="*/ 772 h 2152"/>
                <a:gd name="T38" fmla="*/ 1531 w 1809"/>
                <a:gd name="T39" fmla="*/ 457 h 2152"/>
                <a:gd name="T40" fmla="*/ 1555 w 1809"/>
                <a:gd name="T41" fmla="*/ 410 h 2152"/>
                <a:gd name="T42" fmla="*/ 209 w 1809"/>
                <a:gd name="T43" fmla="*/ 581 h 2152"/>
                <a:gd name="T44" fmla="*/ 209 w 1809"/>
                <a:gd name="T45" fmla="*/ 758 h 2152"/>
                <a:gd name="T46" fmla="*/ 37 w 1809"/>
                <a:gd name="T47" fmla="*/ 673 h 2152"/>
                <a:gd name="T48" fmla="*/ 37 w 1809"/>
                <a:gd name="T49" fmla="*/ 484 h 2152"/>
                <a:gd name="T50" fmla="*/ 209 w 1809"/>
                <a:gd name="T51" fmla="*/ 581 h 2152"/>
                <a:gd name="T52" fmla="*/ 978 w 1809"/>
                <a:gd name="T53" fmla="*/ 30 h 2152"/>
                <a:gd name="T54" fmla="*/ 931 w 1809"/>
                <a:gd name="T55" fmla="*/ 6 h 2152"/>
                <a:gd name="T56" fmla="*/ 25 w 1809"/>
                <a:gd name="T57" fmla="*/ 321 h 2152"/>
                <a:gd name="T58" fmla="*/ 0 w 1809"/>
                <a:gd name="T59" fmla="*/ 344 h 2152"/>
                <a:gd name="T60" fmla="*/ 0 w 1809"/>
                <a:gd name="T61" fmla="*/ 1638 h 2152"/>
                <a:gd name="T62" fmla="*/ 246 w 1809"/>
                <a:gd name="T63" fmla="*/ 1770 h 2152"/>
                <a:gd name="T64" fmla="*/ 246 w 1809"/>
                <a:gd name="T65" fmla="*/ 500 h 2152"/>
                <a:gd name="T66" fmla="*/ 46 w 1809"/>
                <a:gd name="T67" fmla="*/ 393 h 2152"/>
                <a:gd name="T68" fmla="*/ 49 w 1809"/>
                <a:gd name="T69" fmla="*/ 392 h 2152"/>
                <a:gd name="T70" fmla="*/ 954 w 1809"/>
                <a:gd name="T71" fmla="*/ 77 h 2152"/>
                <a:gd name="T72" fmla="*/ 978 w 1809"/>
                <a:gd name="T73" fmla="*/ 30 h 2152"/>
                <a:gd name="T74" fmla="*/ 497 w 1809"/>
                <a:gd name="T75" fmla="*/ 781 h 2152"/>
                <a:gd name="T76" fmla="*/ 497 w 1809"/>
                <a:gd name="T77" fmla="*/ 958 h 2152"/>
                <a:gd name="T78" fmla="*/ 325 w 1809"/>
                <a:gd name="T79" fmla="*/ 873 h 2152"/>
                <a:gd name="T80" fmla="*/ 325 w 1809"/>
                <a:gd name="T81" fmla="*/ 684 h 2152"/>
                <a:gd name="T82" fmla="*/ 497 w 1809"/>
                <a:gd name="T83" fmla="*/ 781 h 2152"/>
                <a:gd name="T84" fmla="*/ 1266 w 1809"/>
                <a:gd name="T85" fmla="*/ 230 h 2152"/>
                <a:gd name="T86" fmla="*/ 1219 w 1809"/>
                <a:gd name="T87" fmla="*/ 206 h 2152"/>
                <a:gd name="T88" fmla="*/ 313 w 1809"/>
                <a:gd name="T89" fmla="*/ 520 h 2152"/>
                <a:gd name="T90" fmla="*/ 288 w 1809"/>
                <a:gd name="T91" fmla="*/ 544 h 2152"/>
                <a:gd name="T92" fmla="*/ 288 w 1809"/>
                <a:gd name="T93" fmla="*/ 1837 h 2152"/>
                <a:gd name="T94" fmla="*/ 534 w 1809"/>
                <a:gd name="T95" fmla="*/ 1969 h 2152"/>
                <a:gd name="T96" fmla="*/ 534 w 1809"/>
                <a:gd name="T97" fmla="*/ 699 h 2152"/>
                <a:gd name="T98" fmla="*/ 334 w 1809"/>
                <a:gd name="T99" fmla="*/ 592 h 2152"/>
                <a:gd name="T100" fmla="*/ 337 w 1809"/>
                <a:gd name="T101" fmla="*/ 592 h 2152"/>
                <a:gd name="T102" fmla="*/ 1243 w 1809"/>
                <a:gd name="T103" fmla="*/ 277 h 2152"/>
                <a:gd name="T104" fmla="*/ 1266 w 1809"/>
                <a:gd name="T105" fmla="*/ 230 h 2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809" h="2152">
                  <a:moveTo>
                    <a:pt x="870" y="879"/>
                  </a:moveTo>
                  <a:lnTo>
                    <a:pt x="870" y="2152"/>
                  </a:lnTo>
                  <a:lnTo>
                    <a:pt x="1809" y="1820"/>
                  </a:lnTo>
                  <a:lnTo>
                    <a:pt x="1809" y="547"/>
                  </a:lnTo>
                  <a:lnTo>
                    <a:pt x="870" y="879"/>
                  </a:lnTo>
                  <a:close/>
                  <a:moveTo>
                    <a:pt x="785" y="961"/>
                  </a:moveTo>
                  <a:lnTo>
                    <a:pt x="785" y="1138"/>
                  </a:lnTo>
                  <a:cubicBezTo>
                    <a:pt x="699" y="1121"/>
                    <a:pt x="613" y="1053"/>
                    <a:pt x="613" y="1053"/>
                  </a:cubicBezTo>
                  <a:lnTo>
                    <a:pt x="613" y="864"/>
                  </a:lnTo>
                  <a:cubicBezTo>
                    <a:pt x="719" y="950"/>
                    <a:pt x="785" y="961"/>
                    <a:pt x="785" y="961"/>
                  </a:cubicBezTo>
                  <a:close/>
                  <a:moveTo>
                    <a:pt x="1555" y="410"/>
                  </a:moveTo>
                  <a:cubicBezTo>
                    <a:pt x="1548" y="390"/>
                    <a:pt x="1527" y="379"/>
                    <a:pt x="1507" y="386"/>
                  </a:cubicBezTo>
                  <a:lnTo>
                    <a:pt x="602" y="700"/>
                  </a:lnTo>
                  <a:cubicBezTo>
                    <a:pt x="590" y="704"/>
                    <a:pt x="580" y="713"/>
                    <a:pt x="576" y="724"/>
                  </a:cubicBezTo>
                  <a:lnTo>
                    <a:pt x="576" y="2017"/>
                  </a:lnTo>
                  <a:cubicBezTo>
                    <a:pt x="608" y="2080"/>
                    <a:pt x="741" y="2149"/>
                    <a:pt x="822" y="2149"/>
                  </a:cubicBezTo>
                  <a:lnTo>
                    <a:pt x="822" y="879"/>
                  </a:lnTo>
                  <a:cubicBezTo>
                    <a:pt x="779" y="873"/>
                    <a:pt x="682" y="822"/>
                    <a:pt x="622" y="772"/>
                  </a:cubicBezTo>
                  <a:cubicBezTo>
                    <a:pt x="623" y="772"/>
                    <a:pt x="624" y="772"/>
                    <a:pt x="625" y="772"/>
                  </a:cubicBezTo>
                  <a:lnTo>
                    <a:pt x="1531" y="457"/>
                  </a:lnTo>
                  <a:cubicBezTo>
                    <a:pt x="1550" y="450"/>
                    <a:pt x="1561" y="429"/>
                    <a:pt x="1555" y="410"/>
                  </a:cubicBezTo>
                  <a:close/>
                  <a:moveTo>
                    <a:pt x="209" y="581"/>
                  </a:moveTo>
                  <a:lnTo>
                    <a:pt x="209" y="758"/>
                  </a:lnTo>
                  <a:cubicBezTo>
                    <a:pt x="123" y="742"/>
                    <a:pt x="37" y="673"/>
                    <a:pt x="37" y="673"/>
                  </a:cubicBezTo>
                  <a:lnTo>
                    <a:pt x="37" y="484"/>
                  </a:lnTo>
                  <a:cubicBezTo>
                    <a:pt x="143" y="570"/>
                    <a:pt x="209" y="581"/>
                    <a:pt x="209" y="581"/>
                  </a:cubicBezTo>
                  <a:close/>
                  <a:moveTo>
                    <a:pt x="978" y="30"/>
                  </a:moveTo>
                  <a:cubicBezTo>
                    <a:pt x="972" y="11"/>
                    <a:pt x="951" y="0"/>
                    <a:pt x="931" y="6"/>
                  </a:cubicBezTo>
                  <a:lnTo>
                    <a:pt x="25" y="321"/>
                  </a:lnTo>
                  <a:cubicBezTo>
                    <a:pt x="14" y="325"/>
                    <a:pt x="3" y="334"/>
                    <a:pt x="0" y="344"/>
                  </a:cubicBezTo>
                  <a:lnTo>
                    <a:pt x="0" y="1638"/>
                  </a:lnTo>
                  <a:cubicBezTo>
                    <a:pt x="32" y="1700"/>
                    <a:pt x="165" y="1770"/>
                    <a:pt x="246" y="1770"/>
                  </a:cubicBezTo>
                  <a:lnTo>
                    <a:pt x="246" y="500"/>
                  </a:lnTo>
                  <a:cubicBezTo>
                    <a:pt x="203" y="493"/>
                    <a:pt x="106" y="443"/>
                    <a:pt x="46" y="393"/>
                  </a:cubicBezTo>
                  <a:cubicBezTo>
                    <a:pt x="47" y="393"/>
                    <a:pt x="48" y="392"/>
                    <a:pt x="49" y="392"/>
                  </a:cubicBezTo>
                  <a:lnTo>
                    <a:pt x="954" y="77"/>
                  </a:lnTo>
                  <a:cubicBezTo>
                    <a:pt x="974" y="71"/>
                    <a:pt x="985" y="50"/>
                    <a:pt x="978" y="30"/>
                  </a:cubicBezTo>
                  <a:close/>
                  <a:moveTo>
                    <a:pt x="497" y="781"/>
                  </a:moveTo>
                  <a:lnTo>
                    <a:pt x="497" y="958"/>
                  </a:lnTo>
                  <a:cubicBezTo>
                    <a:pt x="411" y="941"/>
                    <a:pt x="325" y="873"/>
                    <a:pt x="325" y="873"/>
                  </a:cubicBezTo>
                  <a:lnTo>
                    <a:pt x="325" y="684"/>
                  </a:lnTo>
                  <a:cubicBezTo>
                    <a:pt x="431" y="770"/>
                    <a:pt x="497" y="781"/>
                    <a:pt x="497" y="781"/>
                  </a:cubicBezTo>
                  <a:close/>
                  <a:moveTo>
                    <a:pt x="1266" y="230"/>
                  </a:moveTo>
                  <a:cubicBezTo>
                    <a:pt x="1260" y="210"/>
                    <a:pt x="1239" y="199"/>
                    <a:pt x="1219" y="206"/>
                  </a:cubicBezTo>
                  <a:lnTo>
                    <a:pt x="313" y="520"/>
                  </a:lnTo>
                  <a:cubicBezTo>
                    <a:pt x="302" y="524"/>
                    <a:pt x="291" y="533"/>
                    <a:pt x="288" y="544"/>
                  </a:cubicBezTo>
                  <a:lnTo>
                    <a:pt x="288" y="1837"/>
                  </a:lnTo>
                  <a:cubicBezTo>
                    <a:pt x="320" y="1900"/>
                    <a:pt x="453" y="1969"/>
                    <a:pt x="534" y="1969"/>
                  </a:cubicBezTo>
                  <a:lnTo>
                    <a:pt x="534" y="699"/>
                  </a:lnTo>
                  <a:cubicBezTo>
                    <a:pt x="491" y="693"/>
                    <a:pt x="394" y="642"/>
                    <a:pt x="334" y="592"/>
                  </a:cubicBezTo>
                  <a:cubicBezTo>
                    <a:pt x="335" y="592"/>
                    <a:pt x="336" y="592"/>
                    <a:pt x="337" y="592"/>
                  </a:cubicBezTo>
                  <a:lnTo>
                    <a:pt x="1243" y="277"/>
                  </a:lnTo>
                  <a:cubicBezTo>
                    <a:pt x="1262" y="270"/>
                    <a:pt x="1273" y="249"/>
                    <a:pt x="1266" y="230"/>
                  </a:cubicBezTo>
                  <a:close/>
                </a:path>
              </a:pathLst>
            </a:custGeom>
            <a:solidFill>
              <a:srgbClr val="002060"/>
            </a:solidFill>
            <a:ln>
              <a:noFill/>
            </a:ln>
          </p:spPr>
          <p:txBody>
            <a:bodyPr vert="horz" wrap="square" lIns="91440" tIns="45720" rIns="91440" bIns="45720" numCol="1" anchor="t" anchorCtr="0" compatLnSpc="1"/>
            <a:lstStyle/>
            <a:p>
              <a:endParaRPr lang="zh-CN" altLang="en-US" dirty="0">
                <a:solidFill>
                  <a:srgbClr val="21A3D0"/>
                </a:solidFill>
              </a:endParaRPr>
            </a:p>
          </p:txBody>
        </p:sp>
      </p:grpSp>
      <p:sp>
        <p:nvSpPr>
          <p:cNvPr id="2" name="文本框 1"/>
          <p:cNvSpPr txBox="1"/>
          <p:nvPr/>
        </p:nvSpPr>
        <p:spPr>
          <a:xfrm>
            <a:off x="4150995" y="1659890"/>
            <a:ext cx="5157470" cy="3538220"/>
          </a:xfrm>
          <a:prstGeom prst="rect">
            <a:avLst/>
          </a:prstGeom>
          <a:noFill/>
        </p:spPr>
        <p:txBody>
          <a:bodyPr wrap="square" rtlCol="0">
            <a:spAutoFit/>
            <a:scene3d>
              <a:camera prst="orthographicFront"/>
              <a:lightRig rig="threePt" dir="t"/>
            </a:scene3d>
          </a:bodyPr>
          <a:lstStyle/>
          <a:p>
            <a:pPr algn="l">
              <a:buClrTx/>
              <a:buSzTx/>
              <a:buFontTx/>
            </a:pPr>
            <a:r>
              <a:rPr lang="zh-CN" altLang="en-US" sz="3200" b="1" spc="200" dirty="0">
                <a:uFillTx/>
                <a:latin typeface="宋体" panose="02010600030101010101" pitchFamily="2" charset="-122"/>
                <a:ea typeface="宋体" panose="02010600030101010101" pitchFamily="2" charset="-122"/>
                <a:cs typeface="+mj-cs"/>
              </a:rPr>
              <a:t>什么是概念学习</a:t>
            </a:r>
            <a:endParaRPr lang="zh-CN" altLang="en-US" sz="3200" b="1" spc="200" dirty="0">
              <a:uFillTx/>
              <a:latin typeface="宋体" panose="02010600030101010101" pitchFamily="2" charset="-122"/>
              <a:ea typeface="宋体" panose="02010600030101010101" pitchFamily="2" charset="-122"/>
              <a:cs typeface="+mj-cs"/>
            </a:endParaRPr>
          </a:p>
          <a:p>
            <a:endParaRPr lang="zh-CN" altLang="en-US" sz="3200" b="1" spc="200" dirty="0">
              <a:solidFill>
                <a:schemeClr val="accent1"/>
              </a:solidFill>
              <a:uFillTx/>
              <a:latin typeface="宋体" panose="02010600030101010101" pitchFamily="2" charset="-122"/>
              <a:ea typeface="宋体" panose="02010600030101010101" pitchFamily="2" charset="-122"/>
              <a:cs typeface="+mj-cs"/>
            </a:endParaRPr>
          </a:p>
          <a:p>
            <a:r>
              <a:rPr lang="zh-CN" altLang="en-US" sz="3200" b="1" spc="200" dirty="0">
                <a:solidFill>
                  <a:schemeClr val="tx1"/>
                </a:solidFill>
                <a:uFillTx/>
                <a:latin typeface="宋体" panose="02010600030101010101" pitchFamily="2" charset="-122"/>
                <a:ea typeface="宋体" panose="02010600030101010101" pitchFamily="2" charset="-122"/>
                <a:cs typeface="+mj-cs"/>
              </a:rPr>
              <a:t>概念学习算法</a:t>
            </a:r>
            <a:endParaRPr lang="zh-CN" altLang="en-US" sz="3200" b="1" spc="200" dirty="0">
              <a:solidFill>
                <a:schemeClr val="tx1"/>
              </a:solidFill>
              <a:uFillTx/>
              <a:latin typeface="宋体" panose="02010600030101010101" pitchFamily="2" charset="-122"/>
              <a:ea typeface="宋体" panose="02010600030101010101" pitchFamily="2" charset="-122"/>
              <a:cs typeface="+mj-cs"/>
            </a:endParaRPr>
          </a:p>
          <a:p>
            <a:endParaRPr lang="zh-CN" altLang="en-US" sz="3200" b="1" spc="200" dirty="0">
              <a:solidFill>
                <a:schemeClr val="tx1"/>
              </a:solidFill>
              <a:uFillTx/>
              <a:latin typeface="宋体" panose="02010600030101010101" pitchFamily="2" charset="-122"/>
              <a:ea typeface="宋体" panose="02010600030101010101" pitchFamily="2" charset="-122"/>
              <a:cs typeface="+mj-cs"/>
            </a:endParaRPr>
          </a:p>
          <a:p>
            <a:pPr algn="l">
              <a:buClrTx/>
              <a:buSzTx/>
              <a:buFontTx/>
            </a:pPr>
            <a:r>
              <a:rPr lang="zh-CN" altLang="en-US" sz="3200" b="1" spc="200" dirty="0">
                <a:solidFill>
                  <a:schemeClr val="accent1"/>
                </a:solidFill>
                <a:uFillTx/>
                <a:latin typeface="宋体" panose="02010600030101010101" pitchFamily="2" charset="-122"/>
                <a:ea typeface="宋体" panose="02010600030101010101" pitchFamily="2" charset="-122"/>
                <a:cs typeface="+mj-cs"/>
              </a:rPr>
              <a:t>概念学习的历史与应用</a:t>
            </a:r>
            <a:endParaRPr lang="zh-CN" altLang="en-US" sz="3200" b="1" spc="200" dirty="0">
              <a:solidFill>
                <a:schemeClr val="accent1"/>
              </a:solidFill>
              <a:uFillTx/>
              <a:latin typeface="宋体" panose="02010600030101010101" pitchFamily="2" charset="-122"/>
              <a:ea typeface="宋体" panose="02010600030101010101" pitchFamily="2" charset="-122"/>
              <a:cs typeface="+mj-cs"/>
            </a:endParaRPr>
          </a:p>
          <a:p>
            <a:endParaRPr lang="zh-CN" altLang="en-US" sz="3200" b="1" spc="200" dirty="0">
              <a:solidFill>
                <a:schemeClr val="tx1"/>
              </a:solidFill>
              <a:uFillTx/>
              <a:latin typeface="宋体" panose="02010600030101010101" pitchFamily="2" charset="-122"/>
              <a:ea typeface="宋体" panose="02010600030101010101" pitchFamily="2" charset="-122"/>
              <a:cs typeface="+mj-cs"/>
            </a:endParaRPr>
          </a:p>
          <a:p>
            <a:r>
              <a:rPr lang="zh-CN" altLang="en-US" sz="3200" b="1" spc="200" dirty="0">
                <a:solidFill>
                  <a:schemeClr val="tx1"/>
                </a:solidFill>
                <a:uFillTx/>
                <a:latin typeface="宋体" panose="02010600030101010101" pitchFamily="2" charset="-122"/>
                <a:ea typeface="宋体" panose="02010600030101010101" pitchFamily="2" charset="-122"/>
                <a:cs typeface="+mj-cs"/>
              </a:rPr>
              <a:t>思考题</a:t>
            </a:r>
            <a:endParaRPr lang="zh-CN" altLang="en-US" sz="3200" b="1" spc="200" dirty="0">
              <a:solidFill>
                <a:schemeClr val="tx1"/>
              </a:solidFill>
              <a:uFillTx/>
              <a:latin typeface="宋体" panose="02010600030101010101" pitchFamily="2" charset="-122"/>
              <a:ea typeface="宋体" panose="02010600030101010101" pitchFamily="2" charset="-122"/>
              <a:cs typeface="+mj-cs"/>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dirty="0">
              <a:latin typeface="Times New Roman" panose="02020603050405020304" charset="0"/>
              <a:cs typeface="Times New Roman" panose="02020603050405020304" charset="0"/>
            </a:endParaRPr>
          </a:p>
        </p:txBody>
      </p:sp>
      <p:sp>
        <p:nvSpPr>
          <p:cNvPr id="6" name="文本框 5"/>
          <p:cNvSpPr txBox="1"/>
          <p:nvPr/>
        </p:nvSpPr>
        <p:spPr>
          <a:xfrm>
            <a:off x="419735" y="291465"/>
            <a:ext cx="8637905" cy="583565"/>
          </a:xfrm>
          <a:prstGeom prst="rect">
            <a:avLst/>
          </a:prstGeom>
          <a:noFill/>
        </p:spPr>
        <p:txBody>
          <a:bodyPr wrap="square" rtlCol="0">
            <a:spAutoFit/>
            <a:scene3d>
              <a:camera prst="orthographicFront"/>
              <a:lightRig rig="threePt" dir="t"/>
            </a:scene3d>
          </a:bodyPr>
          <a:lstStyle/>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概念学习的历史与应用</a:t>
            </a:r>
            <a:endParaRPr lang="en-US" altLang="zh-CN" sz="3200" b="1" spc="200" dirty="0">
              <a:solidFill>
                <a:schemeClr val="accent1"/>
              </a:solidFill>
              <a:uFillTx/>
              <a:latin typeface="微软雅黑 Light" panose="020B0502040204020203" pitchFamily="34" charset="-122"/>
              <a:ea typeface="微软雅黑" panose="020B0503020204020204" charset="-122"/>
              <a:cs typeface="+mj-cs"/>
            </a:endParaRPr>
          </a:p>
        </p:txBody>
      </p:sp>
      <p:sp>
        <p:nvSpPr>
          <p:cNvPr id="4" name="文本框 3"/>
          <p:cNvSpPr txBox="1"/>
          <p:nvPr/>
        </p:nvSpPr>
        <p:spPr>
          <a:xfrm>
            <a:off x="447675" y="1433195"/>
            <a:ext cx="11296650" cy="4777740"/>
          </a:xfrm>
          <a:prstGeom prst="rect">
            <a:avLst/>
          </a:prstGeom>
          <a:noFill/>
        </p:spPr>
        <p:txBody>
          <a:bodyPr wrap="square" rtlCol="0">
            <a:spAutoFit/>
          </a:bodyPr>
          <a:lstStyle/>
          <a:p>
            <a:r>
              <a:rPr lang="zh-CN" altLang="en-US" sz="2400"/>
              <a:t>概念学习的发展历史：</a:t>
            </a:r>
            <a:endParaRPr lang="zh-CN" altLang="en-US" sz="2400"/>
          </a:p>
          <a:p>
            <a:pPr>
              <a:lnSpc>
                <a:spcPct val="40000"/>
              </a:lnSpc>
            </a:pPr>
            <a:endParaRPr lang="zh-CN" altLang="en-US" sz="2400"/>
          </a:p>
          <a:p>
            <a:pPr>
              <a:lnSpc>
                <a:spcPct val="20000"/>
              </a:lnSpc>
            </a:pPr>
            <a:endParaRPr lang="zh-CN" altLang="en-US" sz="2400"/>
          </a:p>
          <a:p>
            <a:pPr indent="457200"/>
            <a:r>
              <a:rPr lang="en-US" altLang="zh-CN" sz="2400"/>
              <a:t>-- 1957</a:t>
            </a:r>
            <a:r>
              <a:rPr lang="zh-CN" altLang="en-US" sz="2400"/>
              <a:t>年，Bruner et al</a:t>
            </a:r>
            <a:r>
              <a:rPr lang="en-US" altLang="zh-CN" sz="2400"/>
              <a:t>. </a:t>
            </a:r>
            <a:r>
              <a:rPr lang="zh-CN" altLang="en-US" sz="2400"/>
              <a:t>研究了人类的概念学习</a:t>
            </a:r>
            <a:endParaRPr lang="zh-CN" altLang="en-US" sz="2400"/>
          </a:p>
          <a:p>
            <a:pPr indent="457200">
              <a:lnSpc>
                <a:spcPct val="30000"/>
              </a:lnSpc>
            </a:pPr>
            <a:endParaRPr lang="zh-CN" altLang="en-US" sz="2400"/>
          </a:p>
          <a:p>
            <a:pPr indent="457200"/>
            <a:r>
              <a:rPr lang="en-US" altLang="zh-CN" sz="2400"/>
              <a:t>-- 1963</a:t>
            </a:r>
            <a:r>
              <a:rPr lang="zh-CN" altLang="en-US" sz="2400"/>
              <a:t>年，</a:t>
            </a:r>
            <a:r>
              <a:rPr lang="en-US" altLang="zh-CN" sz="2400"/>
              <a:t>Hunt &amp; Hovland </a:t>
            </a:r>
            <a:r>
              <a:rPr lang="zh-CN" altLang="en-US" sz="2400"/>
              <a:t>将人类的概念学习自动化</a:t>
            </a:r>
            <a:endParaRPr lang="zh-CN" altLang="en-US" sz="2400"/>
          </a:p>
          <a:p>
            <a:pPr indent="457200">
              <a:lnSpc>
                <a:spcPct val="30000"/>
              </a:lnSpc>
            </a:pPr>
            <a:endParaRPr lang="zh-CN" altLang="en-US" sz="2400"/>
          </a:p>
          <a:p>
            <a:pPr indent="457200"/>
            <a:r>
              <a:rPr lang="en-US" altLang="zh-CN" sz="2400"/>
              <a:t>-- 1970</a:t>
            </a:r>
            <a:r>
              <a:rPr lang="zh-CN" altLang="en-US" sz="2400"/>
              <a:t>年，</a:t>
            </a:r>
            <a:r>
              <a:rPr lang="en-US" altLang="zh-CN" sz="2400"/>
              <a:t>Winston</a:t>
            </a:r>
            <a:r>
              <a:rPr lang="zh-CN" altLang="en-US" sz="2400"/>
              <a:t>在其博士论文中将概念学习看作是包含泛化和特殊化操作的</a:t>
            </a:r>
            <a:endParaRPr lang="zh-CN" altLang="en-US" sz="2400"/>
          </a:p>
          <a:p>
            <a:pPr indent="457200"/>
            <a:r>
              <a:rPr lang="zh-CN" altLang="en-US" sz="2400"/>
              <a:t> </a:t>
            </a:r>
            <a:r>
              <a:rPr lang="en-US" altLang="zh-CN" sz="2400"/>
              <a:t>                    </a:t>
            </a:r>
            <a:r>
              <a:rPr lang="zh-CN" altLang="en-US" sz="2400"/>
              <a:t>搜索过程</a:t>
            </a:r>
            <a:endParaRPr lang="zh-CN" altLang="en-US" sz="2400"/>
          </a:p>
          <a:p>
            <a:pPr indent="457200">
              <a:lnSpc>
                <a:spcPct val="30000"/>
              </a:lnSpc>
            </a:pPr>
            <a:endParaRPr lang="zh-CN" altLang="en-US" sz="2400"/>
          </a:p>
          <a:p>
            <a:pPr indent="457200"/>
            <a:r>
              <a:rPr lang="en-US" altLang="zh-CN" sz="2400"/>
              <a:t>-- 1971</a:t>
            </a:r>
            <a:r>
              <a:rPr lang="zh-CN" altLang="en-US" sz="2400"/>
              <a:t>年，</a:t>
            </a:r>
            <a:r>
              <a:rPr lang="en-US" altLang="zh-CN" sz="2400"/>
              <a:t>Plotin</a:t>
            </a:r>
            <a:r>
              <a:rPr lang="zh-CN" altLang="en-US" sz="2400"/>
              <a:t>提供了形式化的</a:t>
            </a:r>
            <a:r>
              <a:rPr lang="en-US" altLang="zh-CN" sz="2400"/>
              <a:t>more general than</a:t>
            </a:r>
            <a:r>
              <a:rPr lang="zh-CN" altLang="en-US" sz="2400"/>
              <a:t>关系以及相关概念</a:t>
            </a:r>
            <a:r>
              <a:rPr lang="en-US" altLang="zh-CN" sz="2400"/>
              <a:t>θ-</a:t>
            </a:r>
            <a:r>
              <a:rPr lang="zh-CN" altLang="en-US" sz="2400"/>
              <a:t>包容</a:t>
            </a:r>
            <a:endParaRPr lang="zh-CN" altLang="en-US" sz="2400"/>
          </a:p>
          <a:p>
            <a:pPr indent="457200">
              <a:lnSpc>
                <a:spcPct val="30000"/>
              </a:lnSpc>
            </a:pPr>
            <a:endParaRPr lang="zh-CN" altLang="en-US" sz="2400"/>
          </a:p>
          <a:p>
            <a:pPr indent="457200"/>
            <a:r>
              <a:rPr lang="en-US" altLang="zh-CN" sz="2400"/>
              <a:t>-- 1973</a:t>
            </a:r>
            <a:r>
              <a:rPr lang="zh-CN" altLang="en-US" sz="2400"/>
              <a:t>年，</a:t>
            </a:r>
            <a:r>
              <a:rPr lang="en-US" altLang="zh-CN" sz="2400"/>
              <a:t>Simon &amp; Lea</a:t>
            </a:r>
            <a:r>
              <a:rPr lang="zh-CN" altLang="en-US" sz="2400"/>
              <a:t>将概念学习过程看作是在假设空间中搜索的过程</a:t>
            </a:r>
            <a:endParaRPr lang="zh-CN" altLang="en-US" sz="2400"/>
          </a:p>
          <a:p>
            <a:pPr indent="457200">
              <a:lnSpc>
                <a:spcPct val="30000"/>
              </a:lnSpc>
            </a:pPr>
            <a:endParaRPr lang="zh-CN" altLang="en-US" sz="2400"/>
          </a:p>
          <a:p>
            <a:pPr indent="457200"/>
            <a:r>
              <a:rPr lang="en-US" altLang="zh-CN" sz="2400"/>
              <a:t>-- 1977</a:t>
            </a:r>
            <a:r>
              <a:rPr lang="zh-CN" altLang="en-US" sz="2400"/>
              <a:t>年，</a:t>
            </a:r>
            <a:r>
              <a:rPr lang="en-US" altLang="zh-CN" sz="2400"/>
              <a:t>Mitchell</a:t>
            </a:r>
            <a:r>
              <a:rPr lang="zh-CN" altLang="en-US" sz="2400"/>
              <a:t>提出变型空间和候选消除算法</a:t>
            </a:r>
            <a:endParaRPr lang="zh-CN" altLang="en-US" sz="2400"/>
          </a:p>
          <a:p>
            <a:pPr indent="457200">
              <a:lnSpc>
                <a:spcPct val="30000"/>
              </a:lnSpc>
            </a:pPr>
            <a:endParaRPr lang="zh-CN" altLang="en-US" sz="2400"/>
          </a:p>
          <a:p>
            <a:pPr indent="457200"/>
            <a:r>
              <a:rPr lang="en-US" altLang="zh-CN" sz="2400"/>
              <a:t>-- 1989</a:t>
            </a:r>
            <a:r>
              <a:rPr lang="zh-CN" altLang="en-US" sz="2400"/>
              <a:t>年，</a:t>
            </a:r>
            <a:r>
              <a:rPr lang="en-US" altLang="zh-CN" sz="2400"/>
              <a:t>Clerk &amp; Niblett</a:t>
            </a:r>
            <a:r>
              <a:rPr lang="zh-CN" altLang="en-US" sz="2400"/>
              <a:t>提出</a:t>
            </a:r>
            <a:r>
              <a:rPr lang="en-US" altLang="zh-CN" sz="2400"/>
              <a:t>LEARN ONE RULE</a:t>
            </a:r>
            <a:r>
              <a:rPr lang="zh-CN" altLang="en-US" sz="2400"/>
              <a:t>算法</a:t>
            </a:r>
            <a:endParaRPr lang="zh-CN" altLang="en-US" sz="2400"/>
          </a:p>
          <a:p>
            <a:pPr indent="457200">
              <a:lnSpc>
                <a:spcPct val="30000"/>
              </a:lnSpc>
            </a:pPr>
            <a:endParaRPr lang="zh-CN" altLang="en-US" sz="2400"/>
          </a:p>
          <a:p>
            <a:pPr indent="457200"/>
            <a:r>
              <a:rPr lang="en-US" altLang="zh-CN" sz="2400"/>
              <a:t>-- 1990</a:t>
            </a:r>
            <a:r>
              <a:rPr lang="zh-CN" altLang="en-US" sz="2400"/>
              <a:t>年，</a:t>
            </a:r>
            <a:r>
              <a:rPr lang="en-US" altLang="zh-CN" sz="2400"/>
              <a:t>Quinlan</a:t>
            </a:r>
            <a:r>
              <a:rPr lang="zh-CN" altLang="en-US" sz="2400"/>
              <a:t>提出</a:t>
            </a:r>
            <a:r>
              <a:rPr lang="en-US" altLang="zh-CN" sz="2400"/>
              <a:t>FOIL</a:t>
            </a:r>
            <a:r>
              <a:rPr lang="zh-CN" altLang="en-US" sz="2400"/>
              <a:t>算法</a:t>
            </a:r>
            <a:endParaRPr lang="zh-CN" altLang="en-US" sz="240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dirty="0">
              <a:latin typeface="Times New Roman" panose="02020603050405020304" charset="0"/>
              <a:cs typeface="Times New Roman" panose="02020603050405020304" charset="0"/>
            </a:endParaRPr>
          </a:p>
        </p:txBody>
      </p:sp>
      <p:sp>
        <p:nvSpPr>
          <p:cNvPr id="6" name="文本框 5"/>
          <p:cNvSpPr txBox="1"/>
          <p:nvPr/>
        </p:nvSpPr>
        <p:spPr>
          <a:xfrm>
            <a:off x="419735" y="291465"/>
            <a:ext cx="8637905" cy="583565"/>
          </a:xfrm>
          <a:prstGeom prst="rect">
            <a:avLst/>
          </a:prstGeom>
          <a:noFill/>
        </p:spPr>
        <p:txBody>
          <a:bodyPr wrap="square" rtlCol="0">
            <a:spAutoFit/>
            <a:scene3d>
              <a:camera prst="orthographicFront"/>
              <a:lightRig rig="threePt" dir="t"/>
            </a:scene3d>
          </a:bodyPr>
          <a:lstStyle/>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概念学习的历史与应用</a:t>
            </a:r>
            <a:endParaRPr lang="en-US" altLang="zh-CN" sz="3200" b="1" spc="200" dirty="0">
              <a:solidFill>
                <a:schemeClr val="accent1"/>
              </a:solidFill>
              <a:uFillTx/>
              <a:latin typeface="微软雅黑 Light" panose="020B0502040204020203" pitchFamily="34" charset="-122"/>
              <a:ea typeface="微软雅黑" panose="020B0503020204020204" charset="-122"/>
              <a:cs typeface="+mj-cs"/>
            </a:endParaRPr>
          </a:p>
        </p:txBody>
      </p:sp>
      <p:sp>
        <p:nvSpPr>
          <p:cNvPr id="5" name="文本框 4"/>
          <p:cNvSpPr txBox="1"/>
          <p:nvPr/>
        </p:nvSpPr>
        <p:spPr>
          <a:xfrm>
            <a:off x="568325" y="1416050"/>
            <a:ext cx="10928985" cy="2952115"/>
          </a:xfrm>
          <a:prstGeom prst="rect">
            <a:avLst/>
          </a:prstGeom>
          <a:noFill/>
        </p:spPr>
        <p:txBody>
          <a:bodyPr wrap="square" rtlCol="0">
            <a:spAutoFit/>
          </a:bodyPr>
          <a:lstStyle/>
          <a:p>
            <a:r>
              <a:rPr lang="zh-CN" altLang="en-US" sz="2400"/>
              <a:t>概念学习算法的应用：</a:t>
            </a:r>
            <a:endParaRPr lang="zh-CN" altLang="en-US" sz="2400"/>
          </a:p>
          <a:p>
            <a:endParaRPr lang="zh-CN" altLang="en-US"/>
          </a:p>
          <a:p>
            <a:pPr indent="457200"/>
            <a:r>
              <a:rPr lang="en-US" altLang="zh-CN" sz="2400"/>
              <a:t>-- </a:t>
            </a:r>
            <a:r>
              <a:rPr lang="zh-CN" altLang="en-US" sz="2400"/>
              <a:t>变型空间和候选消除算法应用于质谱分析中的规则推理</a:t>
            </a:r>
            <a:endParaRPr lang="zh-CN" altLang="en-US" sz="2400"/>
          </a:p>
          <a:p>
            <a:pPr indent="457200">
              <a:lnSpc>
                <a:spcPct val="30000"/>
              </a:lnSpc>
            </a:pPr>
            <a:endParaRPr lang="zh-CN" altLang="en-US" sz="2400"/>
          </a:p>
          <a:p>
            <a:pPr indent="457200"/>
            <a:r>
              <a:rPr lang="en-US" altLang="zh-CN" sz="2400"/>
              <a:t>-- </a:t>
            </a:r>
            <a:r>
              <a:rPr lang="zh-CN" altLang="en-US" sz="2400">
                <a:sym typeface="+mn-ea"/>
              </a:rPr>
              <a:t>变型空间和候选消除算法应用于学习搜索控制规则</a:t>
            </a:r>
            <a:endParaRPr lang="zh-CN" altLang="en-US" sz="2400">
              <a:sym typeface="+mn-ea"/>
            </a:endParaRPr>
          </a:p>
          <a:p>
            <a:pPr indent="457200">
              <a:lnSpc>
                <a:spcPct val="30000"/>
              </a:lnSpc>
            </a:pPr>
            <a:endParaRPr lang="en-US" altLang="zh-CN" sz="2400"/>
          </a:p>
          <a:p>
            <a:pPr indent="457200"/>
            <a:r>
              <a:rPr lang="en-US" altLang="zh-CN" sz="2400"/>
              <a:t>-- </a:t>
            </a:r>
            <a:r>
              <a:rPr lang="zh-CN" altLang="en-US" sz="2400"/>
              <a:t>具有类比学习和概念学习能力的混合学习机制算法</a:t>
            </a:r>
            <a:r>
              <a:rPr lang="en-US" altLang="zh-CN" sz="2400"/>
              <a:t>LM</a:t>
            </a:r>
            <a:r>
              <a:rPr lang="zh-CN" altLang="en-US" sz="2400"/>
              <a:t>在专家系统中引入机</a:t>
            </a:r>
            <a:endParaRPr lang="zh-CN" altLang="en-US" sz="2400"/>
          </a:p>
          <a:p>
            <a:pPr indent="457200">
              <a:lnSpc>
                <a:spcPct val="20000"/>
              </a:lnSpc>
            </a:pPr>
            <a:endParaRPr lang="zh-CN" altLang="en-US" sz="2400"/>
          </a:p>
          <a:p>
            <a:pPr indent="457200"/>
            <a:r>
              <a:rPr lang="zh-CN" altLang="en-US" sz="2400"/>
              <a:t> </a:t>
            </a:r>
            <a:r>
              <a:rPr lang="en-US" altLang="zh-CN" sz="2400"/>
              <a:t>  </a:t>
            </a:r>
            <a:r>
              <a:rPr lang="zh-CN" altLang="en-US" sz="2400"/>
              <a:t>器学习机制，解决构造专家系统的瓶颈问题</a:t>
            </a:r>
            <a:r>
              <a:rPr lang="en-US" altLang="zh-CN" sz="2400"/>
              <a:t>’</a:t>
            </a:r>
            <a:r>
              <a:rPr lang="zh-CN" altLang="en-US" sz="2400"/>
              <a:t>知识获取</a:t>
            </a:r>
            <a:r>
              <a:rPr lang="en-US" altLang="zh-CN" sz="2400"/>
              <a:t>’</a:t>
            </a:r>
            <a:r>
              <a:rPr lang="zh-CN" altLang="en-US" sz="2400"/>
              <a:t>，使专家系统体现出</a:t>
            </a:r>
            <a:endParaRPr lang="zh-CN" altLang="en-US" sz="2400"/>
          </a:p>
          <a:p>
            <a:pPr indent="457200">
              <a:lnSpc>
                <a:spcPct val="20000"/>
              </a:lnSpc>
            </a:pPr>
            <a:endParaRPr lang="zh-CN" altLang="en-US" sz="2400"/>
          </a:p>
          <a:p>
            <a:pPr indent="457200"/>
            <a:r>
              <a:rPr lang="zh-CN" altLang="en-US" sz="2400"/>
              <a:t> </a:t>
            </a:r>
            <a:r>
              <a:rPr lang="en-US" altLang="zh-CN" sz="2400"/>
              <a:t>  </a:t>
            </a:r>
            <a:r>
              <a:rPr lang="zh-CN" altLang="en-US" sz="2400"/>
              <a:t>更高的智能</a:t>
            </a:r>
            <a:endParaRPr lang="zh-CN" altLang="en-US" sz="240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0" y="426070"/>
            <a:ext cx="1473958" cy="573206"/>
            <a:chOff x="0" y="696036"/>
            <a:chExt cx="1473958" cy="573206"/>
          </a:xfrm>
        </p:grpSpPr>
        <p:sp>
          <p:nvSpPr>
            <p:cNvPr id="5" name="矩形 4"/>
            <p:cNvSpPr/>
            <p:nvPr/>
          </p:nvSpPr>
          <p:spPr>
            <a:xfrm>
              <a:off x="0" y="696036"/>
              <a:ext cx="1473958" cy="573206"/>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6" name="文本框 5"/>
            <p:cNvSpPr txBox="1"/>
            <p:nvPr/>
          </p:nvSpPr>
          <p:spPr>
            <a:xfrm>
              <a:off x="69215" y="752551"/>
              <a:ext cx="1404620" cy="460375"/>
            </a:xfrm>
            <a:prstGeom prst="rect">
              <a:avLst/>
            </a:prstGeom>
            <a:noFill/>
          </p:spPr>
          <p:txBody>
            <a:bodyPr wrap="square" rtlCol="0">
              <a:spAutoFit/>
            </a:bodyPr>
            <a:lstStyle/>
            <a:p>
              <a:pPr algn="r"/>
              <a:r>
                <a:rPr lang="zh-CN" altLang="en-US" sz="2400" dirty="0">
                  <a:solidFill>
                    <a:schemeClr val="bg1"/>
                  </a:solidFill>
                </a:rPr>
                <a:t>本节内容</a:t>
              </a:r>
              <a:endParaRPr lang="zh-CN" altLang="en-US" sz="2400" dirty="0">
                <a:solidFill>
                  <a:schemeClr val="bg1"/>
                </a:solidFill>
              </a:endParaRPr>
            </a:p>
          </p:txBody>
        </p:sp>
      </p:grpSp>
      <p:sp>
        <p:nvSpPr>
          <p:cNvPr id="7" name="文本框 6"/>
          <p:cNvSpPr txBox="1"/>
          <p:nvPr/>
        </p:nvSpPr>
        <p:spPr>
          <a:xfrm>
            <a:off x="1528549" y="324737"/>
            <a:ext cx="2565779" cy="707886"/>
          </a:xfrm>
          <a:prstGeom prst="rect">
            <a:avLst/>
          </a:prstGeom>
          <a:noFill/>
        </p:spPr>
        <p:txBody>
          <a:bodyPr wrap="square" rtlCol="0">
            <a:spAutoFit/>
          </a:bodyPr>
          <a:lstStyle/>
          <a:p>
            <a:r>
              <a:rPr lang="en-US" altLang="zh-CN" sz="4000" b="1" dirty="0">
                <a:solidFill>
                  <a:schemeClr val="accent1">
                    <a:lumMod val="75000"/>
                  </a:schemeClr>
                </a:solidFill>
              </a:rPr>
              <a:t>C</a:t>
            </a:r>
            <a:r>
              <a:rPr lang="en-US" altLang="zh-CN" sz="2000" b="1" dirty="0">
                <a:solidFill>
                  <a:schemeClr val="accent1">
                    <a:lumMod val="75000"/>
                  </a:schemeClr>
                </a:solidFill>
              </a:rPr>
              <a:t>ONTENT</a:t>
            </a:r>
            <a:endParaRPr lang="zh-CN" altLang="en-US" sz="2000" b="1" dirty="0">
              <a:solidFill>
                <a:schemeClr val="accent1">
                  <a:lumMod val="75000"/>
                </a:schemeClr>
              </a:solidFill>
            </a:endParaRPr>
          </a:p>
        </p:txBody>
      </p:sp>
      <p:cxnSp>
        <p:nvCxnSpPr>
          <p:cNvPr id="8" name="直接连接符 7"/>
          <p:cNvCxnSpPr/>
          <p:nvPr/>
        </p:nvCxnSpPr>
        <p:spPr>
          <a:xfrm>
            <a:off x="3828732" y="1411646"/>
            <a:ext cx="0" cy="4326424"/>
          </a:xfrm>
          <a:prstGeom prst="line">
            <a:avLst/>
          </a:prstGeom>
          <a:ln w="38100"/>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1309207" y="2164617"/>
            <a:ext cx="1920554" cy="1870488"/>
            <a:chOff x="4796805" y="-215900"/>
            <a:chExt cx="2093913" cy="2122488"/>
          </a:xfrm>
          <a:solidFill>
            <a:srgbClr val="0070C0"/>
          </a:solidFill>
        </p:grpSpPr>
        <p:sp>
          <p:nvSpPr>
            <p:cNvPr id="10" name="Freeform 6"/>
            <p:cNvSpPr>
              <a:spLocks noEditPoints="1"/>
            </p:cNvSpPr>
            <p:nvPr/>
          </p:nvSpPr>
          <p:spPr bwMode="auto">
            <a:xfrm>
              <a:off x="4796805" y="-215900"/>
              <a:ext cx="2093913" cy="2122488"/>
            </a:xfrm>
            <a:custGeom>
              <a:avLst/>
              <a:gdLst>
                <a:gd name="T0" fmla="*/ 1391 w 2783"/>
                <a:gd name="T1" fmla="*/ 0 h 2783"/>
                <a:gd name="T2" fmla="*/ 0 w 2783"/>
                <a:gd name="T3" fmla="*/ 1391 h 2783"/>
                <a:gd name="T4" fmla="*/ 1391 w 2783"/>
                <a:gd name="T5" fmla="*/ 2783 h 2783"/>
                <a:gd name="T6" fmla="*/ 2783 w 2783"/>
                <a:gd name="T7" fmla="*/ 1391 h 2783"/>
                <a:gd name="T8" fmla="*/ 1391 w 2783"/>
                <a:gd name="T9" fmla="*/ 0 h 2783"/>
                <a:gd name="T10" fmla="*/ 1391 w 2783"/>
                <a:gd name="T11" fmla="*/ 55 h 2783"/>
                <a:gd name="T12" fmla="*/ 55 w 2783"/>
                <a:gd name="T13" fmla="*/ 1391 h 2783"/>
                <a:gd name="T14" fmla="*/ 1391 w 2783"/>
                <a:gd name="T15" fmla="*/ 2728 h 2783"/>
                <a:gd name="T16" fmla="*/ 2728 w 2783"/>
                <a:gd name="T17" fmla="*/ 1391 h 2783"/>
                <a:gd name="T18" fmla="*/ 1391 w 2783"/>
                <a:gd name="T19" fmla="*/ 55 h 27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83" h="2783">
                  <a:moveTo>
                    <a:pt x="1391" y="0"/>
                  </a:moveTo>
                  <a:cubicBezTo>
                    <a:pt x="623" y="0"/>
                    <a:pt x="0" y="623"/>
                    <a:pt x="0" y="1391"/>
                  </a:cubicBezTo>
                  <a:cubicBezTo>
                    <a:pt x="0" y="2160"/>
                    <a:pt x="623" y="2783"/>
                    <a:pt x="1391" y="2783"/>
                  </a:cubicBezTo>
                  <a:cubicBezTo>
                    <a:pt x="2160" y="2783"/>
                    <a:pt x="2783" y="2160"/>
                    <a:pt x="2783" y="1391"/>
                  </a:cubicBezTo>
                  <a:cubicBezTo>
                    <a:pt x="2783" y="623"/>
                    <a:pt x="2160" y="0"/>
                    <a:pt x="1391" y="0"/>
                  </a:cubicBezTo>
                  <a:close/>
                  <a:moveTo>
                    <a:pt x="1391" y="55"/>
                  </a:moveTo>
                  <a:cubicBezTo>
                    <a:pt x="654" y="55"/>
                    <a:pt x="55" y="654"/>
                    <a:pt x="55" y="1391"/>
                  </a:cubicBezTo>
                  <a:cubicBezTo>
                    <a:pt x="55" y="2129"/>
                    <a:pt x="654" y="2728"/>
                    <a:pt x="1391" y="2728"/>
                  </a:cubicBezTo>
                  <a:cubicBezTo>
                    <a:pt x="2129" y="2728"/>
                    <a:pt x="2728" y="2129"/>
                    <a:pt x="2728" y="1391"/>
                  </a:cubicBezTo>
                  <a:cubicBezTo>
                    <a:pt x="2728" y="654"/>
                    <a:pt x="2129" y="55"/>
                    <a:pt x="1391" y="55"/>
                  </a:cubicBezTo>
                  <a:close/>
                </a:path>
              </a:pathLst>
            </a:custGeom>
            <a:grpFill/>
            <a:ln>
              <a:solidFill>
                <a:srgbClr val="002060"/>
              </a:solidFill>
            </a:ln>
          </p:spPr>
          <p:txBody>
            <a:bodyPr vert="horz" wrap="square" lIns="91440" tIns="45720" rIns="91440" bIns="45720" numCol="1" anchor="t" anchorCtr="0" compatLnSpc="1"/>
            <a:lstStyle/>
            <a:p>
              <a:endParaRPr lang="zh-CN" altLang="en-US" dirty="0">
                <a:solidFill>
                  <a:srgbClr val="21A3D0"/>
                </a:solidFill>
              </a:endParaRPr>
            </a:p>
          </p:txBody>
        </p:sp>
        <p:sp>
          <p:nvSpPr>
            <p:cNvPr id="11" name="Freeform 7"/>
            <p:cNvSpPr>
              <a:spLocks noEditPoints="1"/>
            </p:cNvSpPr>
            <p:nvPr/>
          </p:nvSpPr>
          <p:spPr bwMode="auto">
            <a:xfrm>
              <a:off x="5168280" y="0"/>
              <a:ext cx="1360488" cy="1641475"/>
            </a:xfrm>
            <a:custGeom>
              <a:avLst/>
              <a:gdLst>
                <a:gd name="T0" fmla="*/ 870 w 1809"/>
                <a:gd name="T1" fmla="*/ 879 h 2152"/>
                <a:gd name="T2" fmla="*/ 870 w 1809"/>
                <a:gd name="T3" fmla="*/ 2152 h 2152"/>
                <a:gd name="T4" fmla="*/ 1809 w 1809"/>
                <a:gd name="T5" fmla="*/ 1820 h 2152"/>
                <a:gd name="T6" fmla="*/ 1809 w 1809"/>
                <a:gd name="T7" fmla="*/ 547 h 2152"/>
                <a:gd name="T8" fmla="*/ 870 w 1809"/>
                <a:gd name="T9" fmla="*/ 879 h 2152"/>
                <a:gd name="T10" fmla="*/ 785 w 1809"/>
                <a:gd name="T11" fmla="*/ 961 h 2152"/>
                <a:gd name="T12" fmla="*/ 785 w 1809"/>
                <a:gd name="T13" fmla="*/ 1138 h 2152"/>
                <a:gd name="T14" fmla="*/ 613 w 1809"/>
                <a:gd name="T15" fmla="*/ 1053 h 2152"/>
                <a:gd name="T16" fmla="*/ 613 w 1809"/>
                <a:gd name="T17" fmla="*/ 864 h 2152"/>
                <a:gd name="T18" fmla="*/ 785 w 1809"/>
                <a:gd name="T19" fmla="*/ 961 h 2152"/>
                <a:gd name="T20" fmla="*/ 1555 w 1809"/>
                <a:gd name="T21" fmla="*/ 410 h 2152"/>
                <a:gd name="T22" fmla="*/ 1507 w 1809"/>
                <a:gd name="T23" fmla="*/ 386 h 2152"/>
                <a:gd name="T24" fmla="*/ 602 w 1809"/>
                <a:gd name="T25" fmla="*/ 700 h 2152"/>
                <a:gd name="T26" fmla="*/ 576 w 1809"/>
                <a:gd name="T27" fmla="*/ 724 h 2152"/>
                <a:gd name="T28" fmla="*/ 576 w 1809"/>
                <a:gd name="T29" fmla="*/ 2017 h 2152"/>
                <a:gd name="T30" fmla="*/ 822 w 1809"/>
                <a:gd name="T31" fmla="*/ 2149 h 2152"/>
                <a:gd name="T32" fmla="*/ 822 w 1809"/>
                <a:gd name="T33" fmla="*/ 879 h 2152"/>
                <a:gd name="T34" fmla="*/ 622 w 1809"/>
                <a:gd name="T35" fmla="*/ 772 h 2152"/>
                <a:gd name="T36" fmla="*/ 625 w 1809"/>
                <a:gd name="T37" fmla="*/ 772 h 2152"/>
                <a:gd name="T38" fmla="*/ 1531 w 1809"/>
                <a:gd name="T39" fmla="*/ 457 h 2152"/>
                <a:gd name="T40" fmla="*/ 1555 w 1809"/>
                <a:gd name="T41" fmla="*/ 410 h 2152"/>
                <a:gd name="T42" fmla="*/ 209 w 1809"/>
                <a:gd name="T43" fmla="*/ 581 h 2152"/>
                <a:gd name="T44" fmla="*/ 209 w 1809"/>
                <a:gd name="T45" fmla="*/ 758 h 2152"/>
                <a:gd name="T46" fmla="*/ 37 w 1809"/>
                <a:gd name="T47" fmla="*/ 673 h 2152"/>
                <a:gd name="T48" fmla="*/ 37 w 1809"/>
                <a:gd name="T49" fmla="*/ 484 h 2152"/>
                <a:gd name="T50" fmla="*/ 209 w 1809"/>
                <a:gd name="T51" fmla="*/ 581 h 2152"/>
                <a:gd name="T52" fmla="*/ 978 w 1809"/>
                <a:gd name="T53" fmla="*/ 30 h 2152"/>
                <a:gd name="T54" fmla="*/ 931 w 1809"/>
                <a:gd name="T55" fmla="*/ 6 h 2152"/>
                <a:gd name="T56" fmla="*/ 25 w 1809"/>
                <a:gd name="T57" fmla="*/ 321 h 2152"/>
                <a:gd name="T58" fmla="*/ 0 w 1809"/>
                <a:gd name="T59" fmla="*/ 344 h 2152"/>
                <a:gd name="T60" fmla="*/ 0 w 1809"/>
                <a:gd name="T61" fmla="*/ 1638 h 2152"/>
                <a:gd name="T62" fmla="*/ 246 w 1809"/>
                <a:gd name="T63" fmla="*/ 1770 h 2152"/>
                <a:gd name="T64" fmla="*/ 246 w 1809"/>
                <a:gd name="T65" fmla="*/ 500 h 2152"/>
                <a:gd name="T66" fmla="*/ 46 w 1809"/>
                <a:gd name="T67" fmla="*/ 393 h 2152"/>
                <a:gd name="T68" fmla="*/ 49 w 1809"/>
                <a:gd name="T69" fmla="*/ 392 h 2152"/>
                <a:gd name="T70" fmla="*/ 954 w 1809"/>
                <a:gd name="T71" fmla="*/ 77 h 2152"/>
                <a:gd name="T72" fmla="*/ 978 w 1809"/>
                <a:gd name="T73" fmla="*/ 30 h 2152"/>
                <a:gd name="T74" fmla="*/ 497 w 1809"/>
                <a:gd name="T75" fmla="*/ 781 h 2152"/>
                <a:gd name="T76" fmla="*/ 497 w 1809"/>
                <a:gd name="T77" fmla="*/ 958 h 2152"/>
                <a:gd name="T78" fmla="*/ 325 w 1809"/>
                <a:gd name="T79" fmla="*/ 873 h 2152"/>
                <a:gd name="T80" fmla="*/ 325 w 1809"/>
                <a:gd name="T81" fmla="*/ 684 h 2152"/>
                <a:gd name="T82" fmla="*/ 497 w 1809"/>
                <a:gd name="T83" fmla="*/ 781 h 2152"/>
                <a:gd name="T84" fmla="*/ 1266 w 1809"/>
                <a:gd name="T85" fmla="*/ 230 h 2152"/>
                <a:gd name="T86" fmla="*/ 1219 w 1809"/>
                <a:gd name="T87" fmla="*/ 206 h 2152"/>
                <a:gd name="T88" fmla="*/ 313 w 1809"/>
                <a:gd name="T89" fmla="*/ 520 h 2152"/>
                <a:gd name="T90" fmla="*/ 288 w 1809"/>
                <a:gd name="T91" fmla="*/ 544 h 2152"/>
                <a:gd name="T92" fmla="*/ 288 w 1809"/>
                <a:gd name="T93" fmla="*/ 1837 h 2152"/>
                <a:gd name="T94" fmla="*/ 534 w 1809"/>
                <a:gd name="T95" fmla="*/ 1969 h 2152"/>
                <a:gd name="T96" fmla="*/ 534 w 1809"/>
                <a:gd name="T97" fmla="*/ 699 h 2152"/>
                <a:gd name="T98" fmla="*/ 334 w 1809"/>
                <a:gd name="T99" fmla="*/ 592 h 2152"/>
                <a:gd name="T100" fmla="*/ 337 w 1809"/>
                <a:gd name="T101" fmla="*/ 592 h 2152"/>
                <a:gd name="T102" fmla="*/ 1243 w 1809"/>
                <a:gd name="T103" fmla="*/ 277 h 2152"/>
                <a:gd name="T104" fmla="*/ 1266 w 1809"/>
                <a:gd name="T105" fmla="*/ 230 h 2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809" h="2152">
                  <a:moveTo>
                    <a:pt x="870" y="879"/>
                  </a:moveTo>
                  <a:lnTo>
                    <a:pt x="870" y="2152"/>
                  </a:lnTo>
                  <a:lnTo>
                    <a:pt x="1809" y="1820"/>
                  </a:lnTo>
                  <a:lnTo>
                    <a:pt x="1809" y="547"/>
                  </a:lnTo>
                  <a:lnTo>
                    <a:pt x="870" y="879"/>
                  </a:lnTo>
                  <a:close/>
                  <a:moveTo>
                    <a:pt x="785" y="961"/>
                  </a:moveTo>
                  <a:lnTo>
                    <a:pt x="785" y="1138"/>
                  </a:lnTo>
                  <a:cubicBezTo>
                    <a:pt x="699" y="1121"/>
                    <a:pt x="613" y="1053"/>
                    <a:pt x="613" y="1053"/>
                  </a:cubicBezTo>
                  <a:lnTo>
                    <a:pt x="613" y="864"/>
                  </a:lnTo>
                  <a:cubicBezTo>
                    <a:pt x="719" y="950"/>
                    <a:pt x="785" y="961"/>
                    <a:pt x="785" y="961"/>
                  </a:cubicBezTo>
                  <a:close/>
                  <a:moveTo>
                    <a:pt x="1555" y="410"/>
                  </a:moveTo>
                  <a:cubicBezTo>
                    <a:pt x="1548" y="390"/>
                    <a:pt x="1527" y="379"/>
                    <a:pt x="1507" y="386"/>
                  </a:cubicBezTo>
                  <a:lnTo>
                    <a:pt x="602" y="700"/>
                  </a:lnTo>
                  <a:cubicBezTo>
                    <a:pt x="590" y="704"/>
                    <a:pt x="580" y="713"/>
                    <a:pt x="576" y="724"/>
                  </a:cubicBezTo>
                  <a:lnTo>
                    <a:pt x="576" y="2017"/>
                  </a:lnTo>
                  <a:cubicBezTo>
                    <a:pt x="608" y="2080"/>
                    <a:pt x="741" y="2149"/>
                    <a:pt x="822" y="2149"/>
                  </a:cubicBezTo>
                  <a:lnTo>
                    <a:pt x="822" y="879"/>
                  </a:lnTo>
                  <a:cubicBezTo>
                    <a:pt x="779" y="873"/>
                    <a:pt x="682" y="822"/>
                    <a:pt x="622" y="772"/>
                  </a:cubicBezTo>
                  <a:cubicBezTo>
                    <a:pt x="623" y="772"/>
                    <a:pt x="624" y="772"/>
                    <a:pt x="625" y="772"/>
                  </a:cubicBezTo>
                  <a:lnTo>
                    <a:pt x="1531" y="457"/>
                  </a:lnTo>
                  <a:cubicBezTo>
                    <a:pt x="1550" y="450"/>
                    <a:pt x="1561" y="429"/>
                    <a:pt x="1555" y="410"/>
                  </a:cubicBezTo>
                  <a:close/>
                  <a:moveTo>
                    <a:pt x="209" y="581"/>
                  </a:moveTo>
                  <a:lnTo>
                    <a:pt x="209" y="758"/>
                  </a:lnTo>
                  <a:cubicBezTo>
                    <a:pt x="123" y="742"/>
                    <a:pt x="37" y="673"/>
                    <a:pt x="37" y="673"/>
                  </a:cubicBezTo>
                  <a:lnTo>
                    <a:pt x="37" y="484"/>
                  </a:lnTo>
                  <a:cubicBezTo>
                    <a:pt x="143" y="570"/>
                    <a:pt x="209" y="581"/>
                    <a:pt x="209" y="581"/>
                  </a:cubicBezTo>
                  <a:close/>
                  <a:moveTo>
                    <a:pt x="978" y="30"/>
                  </a:moveTo>
                  <a:cubicBezTo>
                    <a:pt x="972" y="11"/>
                    <a:pt x="951" y="0"/>
                    <a:pt x="931" y="6"/>
                  </a:cubicBezTo>
                  <a:lnTo>
                    <a:pt x="25" y="321"/>
                  </a:lnTo>
                  <a:cubicBezTo>
                    <a:pt x="14" y="325"/>
                    <a:pt x="3" y="334"/>
                    <a:pt x="0" y="344"/>
                  </a:cubicBezTo>
                  <a:lnTo>
                    <a:pt x="0" y="1638"/>
                  </a:lnTo>
                  <a:cubicBezTo>
                    <a:pt x="32" y="1700"/>
                    <a:pt x="165" y="1770"/>
                    <a:pt x="246" y="1770"/>
                  </a:cubicBezTo>
                  <a:lnTo>
                    <a:pt x="246" y="500"/>
                  </a:lnTo>
                  <a:cubicBezTo>
                    <a:pt x="203" y="493"/>
                    <a:pt x="106" y="443"/>
                    <a:pt x="46" y="393"/>
                  </a:cubicBezTo>
                  <a:cubicBezTo>
                    <a:pt x="47" y="393"/>
                    <a:pt x="48" y="392"/>
                    <a:pt x="49" y="392"/>
                  </a:cubicBezTo>
                  <a:lnTo>
                    <a:pt x="954" y="77"/>
                  </a:lnTo>
                  <a:cubicBezTo>
                    <a:pt x="974" y="71"/>
                    <a:pt x="985" y="50"/>
                    <a:pt x="978" y="30"/>
                  </a:cubicBezTo>
                  <a:close/>
                  <a:moveTo>
                    <a:pt x="497" y="781"/>
                  </a:moveTo>
                  <a:lnTo>
                    <a:pt x="497" y="958"/>
                  </a:lnTo>
                  <a:cubicBezTo>
                    <a:pt x="411" y="941"/>
                    <a:pt x="325" y="873"/>
                    <a:pt x="325" y="873"/>
                  </a:cubicBezTo>
                  <a:lnTo>
                    <a:pt x="325" y="684"/>
                  </a:lnTo>
                  <a:cubicBezTo>
                    <a:pt x="431" y="770"/>
                    <a:pt x="497" y="781"/>
                    <a:pt x="497" y="781"/>
                  </a:cubicBezTo>
                  <a:close/>
                  <a:moveTo>
                    <a:pt x="1266" y="230"/>
                  </a:moveTo>
                  <a:cubicBezTo>
                    <a:pt x="1260" y="210"/>
                    <a:pt x="1239" y="199"/>
                    <a:pt x="1219" y="206"/>
                  </a:cubicBezTo>
                  <a:lnTo>
                    <a:pt x="313" y="520"/>
                  </a:lnTo>
                  <a:cubicBezTo>
                    <a:pt x="302" y="524"/>
                    <a:pt x="291" y="533"/>
                    <a:pt x="288" y="544"/>
                  </a:cubicBezTo>
                  <a:lnTo>
                    <a:pt x="288" y="1837"/>
                  </a:lnTo>
                  <a:cubicBezTo>
                    <a:pt x="320" y="1900"/>
                    <a:pt x="453" y="1969"/>
                    <a:pt x="534" y="1969"/>
                  </a:cubicBezTo>
                  <a:lnTo>
                    <a:pt x="534" y="699"/>
                  </a:lnTo>
                  <a:cubicBezTo>
                    <a:pt x="491" y="693"/>
                    <a:pt x="394" y="642"/>
                    <a:pt x="334" y="592"/>
                  </a:cubicBezTo>
                  <a:cubicBezTo>
                    <a:pt x="335" y="592"/>
                    <a:pt x="336" y="592"/>
                    <a:pt x="337" y="592"/>
                  </a:cubicBezTo>
                  <a:lnTo>
                    <a:pt x="1243" y="277"/>
                  </a:lnTo>
                  <a:cubicBezTo>
                    <a:pt x="1262" y="270"/>
                    <a:pt x="1273" y="249"/>
                    <a:pt x="1266" y="230"/>
                  </a:cubicBezTo>
                  <a:close/>
                </a:path>
              </a:pathLst>
            </a:custGeom>
            <a:solidFill>
              <a:srgbClr val="002060"/>
            </a:solidFill>
            <a:ln>
              <a:noFill/>
            </a:ln>
          </p:spPr>
          <p:txBody>
            <a:bodyPr vert="horz" wrap="square" lIns="91440" tIns="45720" rIns="91440" bIns="45720" numCol="1" anchor="t" anchorCtr="0" compatLnSpc="1"/>
            <a:lstStyle/>
            <a:p>
              <a:endParaRPr lang="zh-CN" altLang="en-US" dirty="0">
                <a:solidFill>
                  <a:srgbClr val="21A3D0"/>
                </a:solidFill>
              </a:endParaRPr>
            </a:p>
          </p:txBody>
        </p:sp>
      </p:grpSp>
      <p:sp>
        <p:nvSpPr>
          <p:cNvPr id="2" name="文本框 1"/>
          <p:cNvSpPr txBox="1"/>
          <p:nvPr/>
        </p:nvSpPr>
        <p:spPr>
          <a:xfrm>
            <a:off x="4150995" y="1659890"/>
            <a:ext cx="5157470" cy="3538220"/>
          </a:xfrm>
          <a:prstGeom prst="rect">
            <a:avLst/>
          </a:prstGeom>
          <a:noFill/>
        </p:spPr>
        <p:txBody>
          <a:bodyPr wrap="square" rtlCol="0">
            <a:spAutoFit/>
            <a:scene3d>
              <a:camera prst="orthographicFront"/>
              <a:lightRig rig="threePt" dir="t"/>
            </a:scene3d>
          </a:bodyPr>
          <a:lstStyle/>
          <a:p>
            <a:pPr algn="l">
              <a:buClrTx/>
              <a:buSzTx/>
              <a:buFontTx/>
            </a:pPr>
            <a:r>
              <a:rPr lang="zh-CN" altLang="en-US" sz="3200" b="1" spc="200" dirty="0">
                <a:uFillTx/>
                <a:latin typeface="宋体" panose="02010600030101010101" pitchFamily="2" charset="-122"/>
                <a:ea typeface="宋体" panose="02010600030101010101" pitchFamily="2" charset="-122"/>
                <a:cs typeface="+mj-cs"/>
              </a:rPr>
              <a:t>什么是概念学习</a:t>
            </a:r>
            <a:endParaRPr lang="zh-CN" altLang="en-US" sz="3200" b="1" spc="200" dirty="0">
              <a:uFillTx/>
              <a:latin typeface="宋体" panose="02010600030101010101" pitchFamily="2" charset="-122"/>
              <a:ea typeface="宋体" panose="02010600030101010101" pitchFamily="2" charset="-122"/>
              <a:cs typeface="+mj-cs"/>
            </a:endParaRPr>
          </a:p>
          <a:p>
            <a:endParaRPr lang="zh-CN" altLang="en-US" sz="3200" b="1" spc="200" dirty="0">
              <a:solidFill>
                <a:schemeClr val="accent1"/>
              </a:solidFill>
              <a:uFillTx/>
              <a:latin typeface="宋体" panose="02010600030101010101" pitchFamily="2" charset="-122"/>
              <a:ea typeface="宋体" panose="02010600030101010101" pitchFamily="2" charset="-122"/>
              <a:cs typeface="+mj-cs"/>
            </a:endParaRPr>
          </a:p>
          <a:p>
            <a:r>
              <a:rPr lang="zh-CN" altLang="en-US" sz="3200" b="1" spc="200" dirty="0">
                <a:solidFill>
                  <a:schemeClr val="tx1"/>
                </a:solidFill>
                <a:uFillTx/>
                <a:latin typeface="宋体" panose="02010600030101010101" pitchFamily="2" charset="-122"/>
                <a:ea typeface="宋体" panose="02010600030101010101" pitchFamily="2" charset="-122"/>
                <a:cs typeface="+mj-cs"/>
              </a:rPr>
              <a:t>概念学习算法</a:t>
            </a:r>
            <a:endParaRPr lang="zh-CN" altLang="en-US" sz="3200" b="1" spc="200" dirty="0">
              <a:solidFill>
                <a:schemeClr val="tx1"/>
              </a:solidFill>
              <a:uFillTx/>
              <a:latin typeface="宋体" panose="02010600030101010101" pitchFamily="2" charset="-122"/>
              <a:ea typeface="宋体" panose="02010600030101010101" pitchFamily="2" charset="-122"/>
              <a:cs typeface="+mj-cs"/>
            </a:endParaRPr>
          </a:p>
          <a:p>
            <a:endParaRPr lang="zh-CN" altLang="en-US" sz="3200" b="1" spc="200" dirty="0">
              <a:solidFill>
                <a:schemeClr val="tx1"/>
              </a:solidFill>
              <a:uFillTx/>
              <a:latin typeface="宋体" panose="02010600030101010101" pitchFamily="2" charset="-122"/>
              <a:ea typeface="宋体" panose="02010600030101010101" pitchFamily="2" charset="-122"/>
              <a:cs typeface="+mj-cs"/>
            </a:endParaRPr>
          </a:p>
          <a:p>
            <a:pPr algn="l">
              <a:buClrTx/>
              <a:buSzTx/>
              <a:buFontTx/>
            </a:pPr>
            <a:r>
              <a:rPr lang="zh-CN" altLang="en-US" sz="3200" b="1" spc="200" dirty="0">
                <a:uFillTx/>
                <a:latin typeface="宋体" panose="02010600030101010101" pitchFamily="2" charset="-122"/>
                <a:ea typeface="宋体" panose="02010600030101010101" pitchFamily="2" charset="-122"/>
                <a:cs typeface="+mj-cs"/>
              </a:rPr>
              <a:t>概念学习的历史与应用</a:t>
            </a:r>
            <a:endParaRPr lang="zh-CN" altLang="en-US" sz="3200" b="1" spc="200" dirty="0">
              <a:uFillTx/>
              <a:latin typeface="宋体" panose="02010600030101010101" pitchFamily="2" charset="-122"/>
              <a:ea typeface="宋体" panose="02010600030101010101" pitchFamily="2" charset="-122"/>
              <a:cs typeface="+mj-cs"/>
            </a:endParaRPr>
          </a:p>
          <a:p>
            <a:endParaRPr lang="zh-CN" altLang="en-US" sz="3200" b="1" spc="200" dirty="0">
              <a:solidFill>
                <a:schemeClr val="tx1"/>
              </a:solidFill>
              <a:uFillTx/>
              <a:latin typeface="宋体" panose="02010600030101010101" pitchFamily="2" charset="-122"/>
              <a:ea typeface="宋体" panose="02010600030101010101" pitchFamily="2" charset="-122"/>
              <a:cs typeface="+mj-cs"/>
            </a:endParaRPr>
          </a:p>
          <a:p>
            <a:pPr algn="l">
              <a:buClrTx/>
              <a:buSzTx/>
              <a:buFontTx/>
            </a:pPr>
            <a:r>
              <a:rPr lang="zh-CN" altLang="en-US" sz="3200" b="1" spc="200" dirty="0">
                <a:solidFill>
                  <a:schemeClr val="accent1"/>
                </a:solidFill>
                <a:uFillTx/>
                <a:latin typeface="宋体" panose="02010600030101010101" pitchFamily="2" charset="-122"/>
                <a:ea typeface="宋体" panose="02010600030101010101" pitchFamily="2" charset="-122"/>
                <a:cs typeface="+mj-cs"/>
              </a:rPr>
              <a:t>思考题</a:t>
            </a:r>
            <a:endParaRPr lang="zh-CN" altLang="en-US" sz="3200" b="1" spc="200" dirty="0">
              <a:solidFill>
                <a:schemeClr val="accent1"/>
              </a:solidFill>
              <a:uFillTx/>
              <a:latin typeface="宋体" panose="02010600030101010101" pitchFamily="2" charset="-122"/>
              <a:ea typeface="宋体" panose="02010600030101010101" pitchFamily="2" charset="-122"/>
              <a:cs typeface="+mj-cs"/>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dirty="0">
              <a:latin typeface="Times New Roman" panose="02020603050405020304" charset="0"/>
              <a:cs typeface="Times New Roman" panose="02020603050405020304" charset="0"/>
            </a:endParaRPr>
          </a:p>
        </p:txBody>
      </p:sp>
      <p:sp>
        <p:nvSpPr>
          <p:cNvPr id="6" name="文本框 5"/>
          <p:cNvSpPr txBox="1"/>
          <p:nvPr/>
        </p:nvSpPr>
        <p:spPr>
          <a:xfrm>
            <a:off x="419735" y="291465"/>
            <a:ext cx="8637905" cy="583565"/>
          </a:xfrm>
          <a:prstGeom prst="rect">
            <a:avLst/>
          </a:prstGeom>
          <a:noFill/>
        </p:spPr>
        <p:txBody>
          <a:bodyPr wrap="square" rtlCol="0">
            <a:spAutoFit/>
            <a:scene3d>
              <a:camera prst="orthographicFront"/>
              <a:lightRig rig="threePt" dir="t"/>
            </a:scene3d>
          </a:bodyPr>
          <a:lstStyle/>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思考题</a:t>
            </a:r>
            <a:endParaRPr lang="en-US" altLang="zh-CN" sz="3200" b="1" spc="200" dirty="0">
              <a:solidFill>
                <a:schemeClr val="accent1"/>
              </a:solidFill>
              <a:uFillTx/>
              <a:latin typeface="微软雅黑 Light" panose="020B0502040204020203" pitchFamily="34" charset="-122"/>
              <a:ea typeface="微软雅黑" panose="020B0503020204020204" charset="-122"/>
              <a:cs typeface="+mj-cs"/>
            </a:endParaRPr>
          </a:p>
        </p:txBody>
      </p:sp>
      <p:sp>
        <p:nvSpPr>
          <p:cNvPr id="118787" name="Rectangle 5"/>
          <p:cNvSpPr>
            <a:spLocks noGrp="1" noChangeArrowheads="1"/>
          </p:cNvSpPr>
          <p:nvPr>
            <p:ph idx="1"/>
          </p:nvPr>
        </p:nvSpPr>
        <p:spPr>
          <a:xfrm>
            <a:off x="419735" y="1195070"/>
            <a:ext cx="11203940" cy="1551305"/>
          </a:xfrm>
          <a:noFill/>
        </p:spPr>
        <p:txBody>
          <a:bodyPr/>
          <a:lstStyle/>
          <a:p>
            <a:pPr eaLnBrk="1" hangingPunct="1"/>
            <a:r>
              <a:rPr lang="en-US" altLang="zh-CN" sz="2400" b="1"/>
              <a:t>2-1</a:t>
            </a:r>
            <a:r>
              <a:rPr lang="en-US" altLang="zh-CN" sz="2400"/>
              <a:t> </a:t>
            </a:r>
            <a:r>
              <a:rPr lang="zh-CN" altLang="en-US" sz="2000"/>
              <a:t>解释为什么</a:t>
            </a:r>
            <a:r>
              <a:rPr lang="en-US" altLang="zh-CN" sz="2000" i="1"/>
              <a:t>EnjoySport</a:t>
            </a:r>
            <a:r>
              <a:rPr lang="zh-CN" altLang="en-US" sz="2000"/>
              <a:t>学习任务的假设空间的大小为</a:t>
            </a:r>
            <a:r>
              <a:rPr lang="en-US" altLang="zh-CN" sz="2000"/>
              <a:t>973</a:t>
            </a:r>
            <a:r>
              <a:rPr lang="zh-CN" altLang="en-US" sz="2000"/>
              <a:t>。如果增加一属性</a:t>
            </a:r>
            <a:r>
              <a:rPr lang="en-US" altLang="zh-CN" sz="2000" i="1"/>
              <a:t>WaterCurrent</a:t>
            </a:r>
            <a:r>
              <a:rPr lang="zh-CN" altLang="en-US" sz="2000"/>
              <a:t>，可取值</a:t>
            </a:r>
            <a:r>
              <a:rPr lang="en-US" altLang="zh-CN" sz="2000" i="1"/>
              <a:t>Light</a:t>
            </a:r>
            <a:r>
              <a:rPr lang="zh-CN" altLang="en-US" sz="2000"/>
              <a:t>、</a:t>
            </a:r>
            <a:r>
              <a:rPr lang="en-US" altLang="zh-CN" sz="2000" i="1"/>
              <a:t>Moderate</a:t>
            </a:r>
            <a:r>
              <a:rPr lang="zh-CN" altLang="en-US" sz="2000"/>
              <a:t>和</a:t>
            </a:r>
            <a:r>
              <a:rPr lang="en-US" altLang="zh-CN" sz="2000" i="1"/>
              <a:t>Strong</a:t>
            </a:r>
            <a:r>
              <a:rPr lang="zh-CN" altLang="en-US" sz="2000"/>
              <a:t>，那么可能的实例数和可能的假设数将会增加多少？推广到一般，增加一新属性</a:t>
            </a:r>
            <a:r>
              <a:rPr lang="en-US" altLang="zh-CN" sz="2000" i="1"/>
              <a:t>A</a:t>
            </a:r>
            <a:r>
              <a:rPr lang="zh-CN" altLang="en-US" sz="2000"/>
              <a:t>，有</a:t>
            </a:r>
            <a:r>
              <a:rPr lang="en-US" altLang="zh-CN" sz="2000" i="1"/>
              <a:t>k</a:t>
            </a:r>
            <a:r>
              <a:rPr lang="zh-CN" altLang="en-US" sz="2000"/>
              <a:t>种取值，实例数和假设数将会增加多少？</a:t>
            </a:r>
            <a:r>
              <a:rPr lang="zh-CN" altLang="en-US" sz="2400"/>
              <a:t> </a:t>
            </a:r>
            <a:endParaRPr lang="zh-CN" altLang="en-US" sz="2400"/>
          </a:p>
        </p:txBody>
      </p:sp>
      <p:sp>
        <p:nvSpPr>
          <p:cNvPr id="119811" name="Rectangle 7"/>
          <p:cNvSpPr>
            <a:spLocks noGrp="1" noChangeArrowheads="1"/>
          </p:cNvSpPr>
          <p:nvPr/>
        </p:nvSpPr>
        <p:spPr>
          <a:xfrm>
            <a:off x="419100" y="2378710"/>
            <a:ext cx="11204575" cy="860425"/>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r>
              <a:rPr lang="zh-CN" altLang="en-US" sz="2400" b="1"/>
              <a:t>2-2</a:t>
            </a:r>
            <a:r>
              <a:rPr lang="zh-CN" altLang="en-US" sz="2400"/>
              <a:t> </a:t>
            </a:r>
            <a:r>
              <a:rPr lang="zh-CN" altLang="en-US" sz="2000"/>
              <a:t>在候选消除算法中，如果训练样例按EnjoySport例子中的逆序出现，请分步给出S和G边界集合。</a:t>
            </a:r>
            <a:endParaRPr lang="zh-CN" altLang="en-US" sz="2000"/>
          </a:p>
        </p:txBody>
      </p:sp>
      <p:sp>
        <p:nvSpPr>
          <p:cNvPr id="119812" name="Rectangle 8"/>
          <p:cNvSpPr>
            <a:spLocks noChangeArrowheads="1"/>
          </p:cNvSpPr>
          <p:nvPr/>
        </p:nvSpPr>
        <p:spPr bwMode="auto">
          <a:xfrm>
            <a:off x="9238298" y="4704716"/>
            <a:ext cx="10477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Yes</a:t>
            </a:r>
            <a:endParaRPr kumimoji="1" lang="en-US" altLang="zh-CN" sz="1400">
              <a:latin typeface="Times New Roman" panose="02020603050405020304" charset="0"/>
            </a:endParaRPr>
          </a:p>
        </p:txBody>
      </p:sp>
      <p:sp>
        <p:nvSpPr>
          <p:cNvPr id="119813" name="Rectangle 9"/>
          <p:cNvSpPr>
            <a:spLocks noChangeArrowheads="1"/>
          </p:cNvSpPr>
          <p:nvPr/>
        </p:nvSpPr>
        <p:spPr bwMode="auto">
          <a:xfrm>
            <a:off x="8190548" y="4704716"/>
            <a:ext cx="10477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Change</a:t>
            </a:r>
            <a:endParaRPr kumimoji="1" lang="en-US" altLang="zh-CN" sz="1400">
              <a:latin typeface="Times New Roman" panose="02020603050405020304" charset="0"/>
            </a:endParaRPr>
          </a:p>
        </p:txBody>
      </p:sp>
      <p:sp>
        <p:nvSpPr>
          <p:cNvPr id="119814" name="Rectangle 10"/>
          <p:cNvSpPr>
            <a:spLocks noChangeArrowheads="1"/>
          </p:cNvSpPr>
          <p:nvPr/>
        </p:nvSpPr>
        <p:spPr bwMode="auto">
          <a:xfrm>
            <a:off x="7142798" y="4704716"/>
            <a:ext cx="10477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Cool</a:t>
            </a:r>
            <a:endParaRPr kumimoji="1" lang="en-US" altLang="zh-CN" sz="1400">
              <a:latin typeface="Times New Roman" panose="02020603050405020304" charset="0"/>
            </a:endParaRPr>
          </a:p>
        </p:txBody>
      </p:sp>
      <p:sp>
        <p:nvSpPr>
          <p:cNvPr id="119815" name="Rectangle 11"/>
          <p:cNvSpPr>
            <a:spLocks noChangeArrowheads="1"/>
          </p:cNvSpPr>
          <p:nvPr/>
        </p:nvSpPr>
        <p:spPr bwMode="auto">
          <a:xfrm>
            <a:off x="6095048" y="4704716"/>
            <a:ext cx="10477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Strong</a:t>
            </a:r>
            <a:endParaRPr kumimoji="1" lang="en-US" altLang="zh-CN" sz="1400">
              <a:latin typeface="Times New Roman" panose="02020603050405020304" charset="0"/>
            </a:endParaRPr>
          </a:p>
        </p:txBody>
      </p:sp>
      <p:sp>
        <p:nvSpPr>
          <p:cNvPr id="119816" name="Rectangle 12"/>
          <p:cNvSpPr>
            <a:spLocks noChangeArrowheads="1"/>
          </p:cNvSpPr>
          <p:nvPr/>
        </p:nvSpPr>
        <p:spPr bwMode="auto">
          <a:xfrm>
            <a:off x="5047298" y="4704716"/>
            <a:ext cx="10477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High</a:t>
            </a:r>
            <a:endParaRPr kumimoji="1" lang="en-US" altLang="zh-CN" sz="1400">
              <a:latin typeface="Times New Roman" panose="02020603050405020304" charset="0"/>
            </a:endParaRPr>
          </a:p>
        </p:txBody>
      </p:sp>
      <p:sp>
        <p:nvSpPr>
          <p:cNvPr id="119817" name="Rectangle 13"/>
          <p:cNvSpPr>
            <a:spLocks noChangeArrowheads="1"/>
          </p:cNvSpPr>
          <p:nvPr/>
        </p:nvSpPr>
        <p:spPr bwMode="auto">
          <a:xfrm>
            <a:off x="3999548" y="4704716"/>
            <a:ext cx="10477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Warm</a:t>
            </a:r>
            <a:endParaRPr kumimoji="1" lang="en-US" altLang="zh-CN" sz="1400">
              <a:latin typeface="Times New Roman" panose="02020603050405020304" charset="0"/>
            </a:endParaRPr>
          </a:p>
        </p:txBody>
      </p:sp>
      <p:sp>
        <p:nvSpPr>
          <p:cNvPr id="119818" name="Rectangle 14"/>
          <p:cNvSpPr>
            <a:spLocks noChangeArrowheads="1"/>
          </p:cNvSpPr>
          <p:nvPr/>
        </p:nvSpPr>
        <p:spPr bwMode="auto">
          <a:xfrm>
            <a:off x="2951798" y="4704716"/>
            <a:ext cx="10477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Sunny</a:t>
            </a:r>
            <a:endParaRPr kumimoji="1" lang="en-US" altLang="zh-CN" sz="1400">
              <a:latin typeface="Times New Roman" panose="02020603050405020304" charset="0"/>
            </a:endParaRPr>
          </a:p>
        </p:txBody>
      </p:sp>
      <p:sp>
        <p:nvSpPr>
          <p:cNvPr id="119819" name="Rectangle 15"/>
          <p:cNvSpPr>
            <a:spLocks noChangeArrowheads="1"/>
          </p:cNvSpPr>
          <p:nvPr/>
        </p:nvSpPr>
        <p:spPr bwMode="auto">
          <a:xfrm>
            <a:off x="1904048" y="4704716"/>
            <a:ext cx="10477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4</a:t>
            </a:r>
            <a:endParaRPr kumimoji="1" lang="en-US" altLang="zh-CN" sz="1400">
              <a:latin typeface="Times New Roman" panose="02020603050405020304" charset="0"/>
            </a:endParaRPr>
          </a:p>
        </p:txBody>
      </p:sp>
      <p:sp>
        <p:nvSpPr>
          <p:cNvPr id="119820" name="Rectangle 16"/>
          <p:cNvSpPr>
            <a:spLocks noChangeArrowheads="1"/>
          </p:cNvSpPr>
          <p:nvPr/>
        </p:nvSpPr>
        <p:spPr bwMode="auto">
          <a:xfrm>
            <a:off x="9238298" y="4309429"/>
            <a:ext cx="1047750"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No</a:t>
            </a:r>
            <a:endParaRPr kumimoji="1" lang="en-US" altLang="zh-CN" sz="1400">
              <a:latin typeface="Times New Roman" panose="02020603050405020304" charset="0"/>
            </a:endParaRPr>
          </a:p>
        </p:txBody>
      </p:sp>
      <p:sp>
        <p:nvSpPr>
          <p:cNvPr id="119821" name="Rectangle 17"/>
          <p:cNvSpPr>
            <a:spLocks noChangeArrowheads="1"/>
          </p:cNvSpPr>
          <p:nvPr/>
        </p:nvSpPr>
        <p:spPr bwMode="auto">
          <a:xfrm>
            <a:off x="8190548" y="4309429"/>
            <a:ext cx="1047750"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Change</a:t>
            </a:r>
            <a:endParaRPr kumimoji="1" lang="en-US" altLang="zh-CN" sz="1400">
              <a:latin typeface="Times New Roman" panose="02020603050405020304" charset="0"/>
            </a:endParaRPr>
          </a:p>
        </p:txBody>
      </p:sp>
      <p:sp>
        <p:nvSpPr>
          <p:cNvPr id="119822" name="Rectangle 18"/>
          <p:cNvSpPr>
            <a:spLocks noChangeArrowheads="1"/>
          </p:cNvSpPr>
          <p:nvPr/>
        </p:nvSpPr>
        <p:spPr bwMode="auto">
          <a:xfrm>
            <a:off x="7142798" y="4309429"/>
            <a:ext cx="1047750"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Warm</a:t>
            </a:r>
            <a:endParaRPr kumimoji="1" lang="en-US" altLang="zh-CN" sz="1400">
              <a:latin typeface="Times New Roman" panose="02020603050405020304" charset="0"/>
            </a:endParaRPr>
          </a:p>
        </p:txBody>
      </p:sp>
      <p:sp>
        <p:nvSpPr>
          <p:cNvPr id="119823" name="Rectangle 19"/>
          <p:cNvSpPr>
            <a:spLocks noChangeArrowheads="1"/>
          </p:cNvSpPr>
          <p:nvPr/>
        </p:nvSpPr>
        <p:spPr bwMode="auto">
          <a:xfrm>
            <a:off x="6095048" y="4309429"/>
            <a:ext cx="1047750"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Strong</a:t>
            </a:r>
            <a:endParaRPr kumimoji="1" lang="en-US" altLang="zh-CN" sz="1400">
              <a:latin typeface="Times New Roman" panose="02020603050405020304" charset="0"/>
            </a:endParaRPr>
          </a:p>
        </p:txBody>
      </p:sp>
      <p:sp>
        <p:nvSpPr>
          <p:cNvPr id="119824" name="Rectangle 20"/>
          <p:cNvSpPr>
            <a:spLocks noChangeArrowheads="1"/>
          </p:cNvSpPr>
          <p:nvPr/>
        </p:nvSpPr>
        <p:spPr bwMode="auto">
          <a:xfrm>
            <a:off x="5047298" y="4309429"/>
            <a:ext cx="1047750"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High</a:t>
            </a:r>
            <a:endParaRPr kumimoji="1" lang="en-US" altLang="zh-CN" sz="1400">
              <a:latin typeface="Times New Roman" panose="02020603050405020304" charset="0"/>
            </a:endParaRPr>
          </a:p>
        </p:txBody>
      </p:sp>
      <p:sp>
        <p:nvSpPr>
          <p:cNvPr id="119825" name="Rectangle 21"/>
          <p:cNvSpPr>
            <a:spLocks noChangeArrowheads="1"/>
          </p:cNvSpPr>
          <p:nvPr/>
        </p:nvSpPr>
        <p:spPr bwMode="auto">
          <a:xfrm>
            <a:off x="3999548" y="4309429"/>
            <a:ext cx="1047750"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Cold</a:t>
            </a:r>
            <a:endParaRPr kumimoji="1" lang="en-US" altLang="zh-CN" sz="1400">
              <a:latin typeface="Times New Roman" panose="02020603050405020304" charset="0"/>
            </a:endParaRPr>
          </a:p>
        </p:txBody>
      </p:sp>
      <p:sp>
        <p:nvSpPr>
          <p:cNvPr id="119826" name="Rectangle 22"/>
          <p:cNvSpPr>
            <a:spLocks noChangeArrowheads="1"/>
          </p:cNvSpPr>
          <p:nvPr/>
        </p:nvSpPr>
        <p:spPr bwMode="auto">
          <a:xfrm>
            <a:off x="2951798" y="4309429"/>
            <a:ext cx="1047750"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Rainy</a:t>
            </a:r>
            <a:endParaRPr kumimoji="1" lang="en-US" altLang="zh-CN" sz="1400">
              <a:latin typeface="Times New Roman" panose="02020603050405020304" charset="0"/>
            </a:endParaRPr>
          </a:p>
        </p:txBody>
      </p:sp>
      <p:sp>
        <p:nvSpPr>
          <p:cNvPr id="119827" name="Rectangle 23"/>
          <p:cNvSpPr>
            <a:spLocks noChangeArrowheads="1"/>
          </p:cNvSpPr>
          <p:nvPr/>
        </p:nvSpPr>
        <p:spPr bwMode="auto">
          <a:xfrm>
            <a:off x="1904048" y="4309429"/>
            <a:ext cx="1047750"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3</a:t>
            </a:r>
            <a:endParaRPr kumimoji="1" lang="en-US" altLang="zh-CN" sz="1400">
              <a:latin typeface="Times New Roman" panose="02020603050405020304" charset="0"/>
            </a:endParaRPr>
          </a:p>
        </p:txBody>
      </p:sp>
      <p:sp>
        <p:nvSpPr>
          <p:cNvPr id="119828" name="Rectangle 24"/>
          <p:cNvSpPr>
            <a:spLocks noChangeArrowheads="1"/>
          </p:cNvSpPr>
          <p:nvPr/>
        </p:nvSpPr>
        <p:spPr bwMode="auto">
          <a:xfrm>
            <a:off x="9238298" y="3912554"/>
            <a:ext cx="10477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Yes</a:t>
            </a:r>
            <a:endParaRPr kumimoji="1" lang="en-US" altLang="zh-CN" sz="1400">
              <a:latin typeface="Times New Roman" panose="02020603050405020304" charset="0"/>
            </a:endParaRPr>
          </a:p>
        </p:txBody>
      </p:sp>
      <p:sp>
        <p:nvSpPr>
          <p:cNvPr id="119829" name="Rectangle 25"/>
          <p:cNvSpPr>
            <a:spLocks noChangeArrowheads="1"/>
          </p:cNvSpPr>
          <p:nvPr/>
        </p:nvSpPr>
        <p:spPr bwMode="auto">
          <a:xfrm>
            <a:off x="8190548" y="3912554"/>
            <a:ext cx="10477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Same</a:t>
            </a:r>
            <a:endParaRPr kumimoji="1" lang="en-US" altLang="zh-CN" sz="1400">
              <a:latin typeface="Times New Roman" panose="02020603050405020304" charset="0"/>
            </a:endParaRPr>
          </a:p>
        </p:txBody>
      </p:sp>
      <p:sp>
        <p:nvSpPr>
          <p:cNvPr id="119830" name="Rectangle 26"/>
          <p:cNvSpPr>
            <a:spLocks noChangeArrowheads="1"/>
          </p:cNvSpPr>
          <p:nvPr/>
        </p:nvSpPr>
        <p:spPr bwMode="auto">
          <a:xfrm>
            <a:off x="7142798" y="3912554"/>
            <a:ext cx="10477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Warm</a:t>
            </a:r>
            <a:endParaRPr kumimoji="1" lang="en-US" altLang="zh-CN" sz="1400">
              <a:latin typeface="Times New Roman" panose="02020603050405020304" charset="0"/>
            </a:endParaRPr>
          </a:p>
        </p:txBody>
      </p:sp>
      <p:sp>
        <p:nvSpPr>
          <p:cNvPr id="119831" name="Rectangle 27"/>
          <p:cNvSpPr>
            <a:spLocks noChangeArrowheads="1"/>
          </p:cNvSpPr>
          <p:nvPr/>
        </p:nvSpPr>
        <p:spPr bwMode="auto">
          <a:xfrm>
            <a:off x="6095048" y="3912554"/>
            <a:ext cx="10477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Strong</a:t>
            </a:r>
            <a:endParaRPr kumimoji="1" lang="en-US" altLang="zh-CN" sz="1400">
              <a:latin typeface="Times New Roman" panose="02020603050405020304" charset="0"/>
            </a:endParaRPr>
          </a:p>
        </p:txBody>
      </p:sp>
      <p:sp>
        <p:nvSpPr>
          <p:cNvPr id="119832" name="Rectangle 28"/>
          <p:cNvSpPr>
            <a:spLocks noChangeArrowheads="1"/>
          </p:cNvSpPr>
          <p:nvPr/>
        </p:nvSpPr>
        <p:spPr bwMode="auto">
          <a:xfrm>
            <a:off x="5047298" y="3912554"/>
            <a:ext cx="10477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High</a:t>
            </a:r>
            <a:endParaRPr kumimoji="1" lang="en-US" altLang="zh-CN" sz="1400">
              <a:latin typeface="Times New Roman" panose="02020603050405020304" charset="0"/>
            </a:endParaRPr>
          </a:p>
        </p:txBody>
      </p:sp>
      <p:sp>
        <p:nvSpPr>
          <p:cNvPr id="119833" name="Rectangle 29"/>
          <p:cNvSpPr>
            <a:spLocks noChangeArrowheads="1"/>
          </p:cNvSpPr>
          <p:nvPr/>
        </p:nvSpPr>
        <p:spPr bwMode="auto">
          <a:xfrm>
            <a:off x="3999548" y="3912554"/>
            <a:ext cx="10477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Warm</a:t>
            </a:r>
            <a:endParaRPr kumimoji="1" lang="en-US" altLang="zh-CN" sz="1400">
              <a:latin typeface="Times New Roman" panose="02020603050405020304" charset="0"/>
            </a:endParaRPr>
          </a:p>
        </p:txBody>
      </p:sp>
      <p:sp>
        <p:nvSpPr>
          <p:cNvPr id="119834" name="Rectangle 30"/>
          <p:cNvSpPr>
            <a:spLocks noChangeArrowheads="1"/>
          </p:cNvSpPr>
          <p:nvPr/>
        </p:nvSpPr>
        <p:spPr bwMode="auto">
          <a:xfrm>
            <a:off x="2951798" y="3912554"/>
            <a:ext cx="10477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Sunny</a:t>
            </a:r>
            <a:endParaRPr kumimoji="1" lang="en-US" altLang="zh-CN" sz="1400">
              <a:latin typeface="Times New Roman" panose="02020603050405020304" charset="0"/>
            </a:endParaRPr>
          </a:p>
        </p:txBody>
      </p:sp>
      <p:sp>
        <p:nvSpPr>
          <p:cNvPr id="119835" name="Rectangle 31"/>
          <p:cNvSpPr>
            <a:spLocks noChangeArrowheads="1"/>
          </p:cNvSpPr>
          <p:nvPr/>
        </p:nvSpPr>
        <p:spPr bwMode="auto">
          <a:xfrm>
            <a:off x="1904048" y="3912554"/>
            <a:ext cx="10477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2</a:t>
            </a:r>
            <a:endParaRPr kumimoji="1" lang="en-US" altLang="zh-CN" sz="1400">
              <a:latin typeface="Times New Roman" panose="02020603050405020304" charset="0"/>
            </a:endParaRPr>
          </a:p>
        </p:txBody>
      </p:sp>
      <p:sp>
        <p:nvSpPr>
          <p:cNvPr id="119836" name="Rectangle 32"/>
          <p:cNvSpPr>
            <a:spLocks noChangeArrowheads="1"/>
          </p:cNvSpPr>
          <p:nvPr/>
        </p:nvSpPr>
        <p:spPr bwMode="auto">
          <a:xfrm>
            <a:off x="9238298" y="3517265"/>
            <a:ext cx="1047750"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Yes</a:t>
            </a:r>
            <a:endParaRPr kumimoji="1" lang="en-US" altLang="zh-CN" sz="1400">
              <a:latin typeface="Times New Roman" panose="02020603050405020304" charset="0"/>
            </a:endParaRPr>
          </a:p>
        </p:txBody>
      </p:sp>
      <p:sp>
        <p:nvSpPr>
          <p:cNvPr id="119837" name="Rectangle 33"/>
          <p:cNvSpPr>
            <a:spLocks noChangeArrowheads="1"/>
          </p:cNvSpPr>
          <p:nvPr/>
        </p:nvSpPr>
        <p:spPr bwMode="auto">
          <a:xfrm>
            <a:off x="8190548" y="3517265"/>
            <a:ext cx="1047750"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Same</a:t>
            </a:r>
            <a:endParaRPr kumimoji="1" lang="en-US" altLang="zh-CN" sz="1400">
              <a:latin typeface="Times New Roman" panose="02020603050405020304" charset="0"/>
            </a:endParaRPr>
          </a:p>
        </p:txBody>
      </p:sp>
      <p:sp>
        <p:nvSpPr>
          <p:cNvPr id="119838" name="Rectangle 34"/>
          <p:cNvSpPr>
            <a:spLocks noChangeArrowheads="1"/>
          </p:cNvSpPr>
          <p:nvPr/>
        </p:nvSpPr>
        <p:spPr bwMode="auto">
          <a:xfrm>
            <a:off x="7142798" y="3517265"/>
            <a:ext cx="1047750"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Warm</a:t>
            </a:r>
            <a:endParaRPr kumimoji="1" lang="en-US" altLang="zh-CN" sz="1400">
              <a:latin typeface="Times New Roman" panose="02020603050405020304" charset="0"/>
            </a:endParaRPr>
          </a:p>
        </p:txBody>
      </p:sp>
      <p:sp>
        <p:nvSpPr>
          <p:cNvPr id="119839" name="Rectangle 35"/>
          <p:cNvSpPr>
            <a:spLocks noChangeArrowheads="1"/>
          </p:cNvSpPr>
          <p:nvPr/>
        </p:nvSpPr>
        <p:spPr bwMode="auto">
          <a:xfrm>
            <a:off x="6095048" y="3517265"/>
            <a:ext cx="1047750"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Strong</a:t>
            </a:r>
            <a:endParaRPr kumimoji="1" lang="en-US" altLang="zh-CN" sz="1400">
              <a:latin typeface="Times New Roman" panose="02020603050405020304" charset="0"/>
            </a:endParaRPr>
          </a:p>
        </p:txBody>
      </p:sp>
      <p:sp>
        <p:nvSpPr>
          <p:cNvPr id="119840" name="Rectangle 36"/>
          <p:cNvSpPr>
            <a:spLocks noChangeArrowheads="1"/>
          </p:cNvSpPr>
          <p:nvPr/>
        </p:nvSpPr>
        <p:spPr bwMode="auto">
          <a:xfrm>
            <a:off x="5047298" y="3517265"/>
            <a:ext cx="1047750"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Normal</a:t>
            </a:r>
            <a:endParaRPr kumimoji="1" lang="en-US" altLang="zh-CN" sz="1400">
              <a:latin typeface="Times New Roman" panose="02020603050405020304" charset="0"/>
            </a:endParaRPr>
          </a:p>
        </p:txBody>
      </p:sp>
      <p:sp>
        <p:nvSpPr>
          <p:cNvPr id="119841" name="Rectangle 37"/>
          <p:cNvSpPr>
            <a:spLocks noChangeArrowheads="1"/>
          </p:cNvSpPr>
          <p:nvPr/>
        </p:nvSpPr>
        <p:spPr bwMode="auto">
          <a:xfrm>
            <a:off x="3999548" y="3517265"/>
            <a:ext cx="1047750"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Warm</a:t>
            </a:r>
            <a:endParaRPr kumimoji="1" lang="en-US" altLang="zh-CN" sz="1400">
              <a:latin typeface="Times New Roman" panose="02020603050405020304" charset="0"/>
            </a:endParaRPr>
          </a:p>
        </p:txBody>
      </p:sp>
      <p:sp>
        <p:nvSpPr>
          <p:cNvPr id="119842" name="Rectangle 38"/>
          <p:cNvSpPr>
            <a:spLocks noChangeArrowheads="1"/>
          </p:cNvSpPr>
          <p:nvPr/>
        </p:nvSpPr>
        <p:spPr bwMode="auto">
          <a:xfrm>
            <a:off x="2951798" y="3517265"/>
            <a:ext cx="1047750"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Sunny</a:t>
            </a:r>
            <a:endParaRPr kumimoji="1" lang="en-US" altLang="zh-CN" sz="1400">
              <a:latin typeface="Times New Roman" panose="02020603050405020304" charset="0"/>
            </a:endParaRPr>
          </a:p>
        </p:txBody>
      </p:sp>
      <p:sp>
        <p:nvSpPr>
          <p:cNvPr id="119843" name="Rectangle 39"/>
          <p:cNvSpPr>
            <a:spLocks noChangeArrowheads="1"/>
          </p:cNvSpPr>
          <p:nvPr/>
        </p:nvSpPr>
        <p:spPr bwMode="auto">
          <a:xfrm>
            <a:off x="1904048" y="3517265"/>
            <a:ext cx="1047750"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1</a:t>
            </a:r>
            <a:endParaRPr kumimoji="1" lang="en-US" altLang="zh-CN" sz="1400">
              <a:latin typeface="Times New Roman" panose="02020603050405020304" charset="0"/>
            </a:endParaRPr>
          </a:p>
        </p:txBody>
      </p:sp>
      <p:sp>
        <p:nvSpPr>
          <p:cNvPr id="119844" name="Rectangle 40"/>
          <p:cNvSpPr>
            <a:spLocks noChangeArrowheads="1"/>
          </p:cNvSpPr>
          <p:nvPr/>
        </p:nvSpPr>
        <p:spPr bwMode="auto">
          <a:xfrm>
            <a:off x="9238298" y="3136265"/>
            <a:ext cx="10477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EnjoySport</a:t>
            </a:r>
            <a:endParaRPr kumimoji="1" lang="en-US" altLang="zh-CN" sz="1400">
              <a:latin typeface="Times New Roman" panose="02020603050405020304" charset="0"/>
            </a:endParaRPr>
          </a:p>
        </p:txBody>
      </p:sp>
      <p:sp>
        <p:nvSpPr>
          <p:cNvPr id="119845" name="Rectangle 41"/>
          <p:cNvSpPr>
            <a:spLocks noChangeArrowheads="1"/>
          </p:cNvSpPr>
          <p:nvPr/>
        </p:nvSpPr>
        <p:spPr bwMode="auto">
          <a:xfrm>
            <a:off x="8190548" y="3136265"/>
            <a:ext cx="10477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Forecast</a:t>
            </a:r>
            <a:endParaRPr kumimoji="1" lang="en-US" altLang="zh-CN" sz="1400">
              <a:latin typeface="Times New Roman" panose="02020603050405020304" charset="0"/>
            </a:endParaRPr>
          </a:p>
        </p:txBody>
      </p:sp>
      <p:sp>
        <p:nvSpPr>
          <p:cNvPr id="119846" name="Rectangle 42"/>
          <p:cNvSpPr>
            <a:spLocks noChangeArrowheads="1"/>
          </p:cNvSpPr>
          <p:nvPr/>
        </p:nvSpPr>
        <p:spPr bwMode="auto">
          <a:xfrm>
            <a:off x="7142798" y="3136265"/>
            <a:ext cx="10477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Water</a:t>
            </a:r>
            <a:endParaRPr kumimoji="1" lang="en-US" altLang="zh-CN" sz="1400">
              <a:latin typeface="Times New Roman" panose="02020603050405020304" charset="0"/>
            </a:endParaRPr>
          </a:p>
        </p:txBody>
      </p:sp>
      <p:sp>
        <p:nvSpPr>
          <p:cNvPr id="119847" name="Rectangle 43"/>
          <p:cNvSpPr>
            <a:spLocks noChangeArrowheads="1"/>
          </p:cNvSpPr>
          <p:nvPr/>
        </p:nvSpPr>
        <p:spPr bwMode="auto">
          <a:xfrm>
            <a:off x="6095048" y="3136265"/>
            <a:ext cx="10477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Wind</a:t>
            </a:r>
            <a:endParaRPr kumimoji="1" lang="en-US" altLang="zh-CN" sz="1400">
              <a:latin typeface="Times New Roman" panose="02020603050405020304" charset="0"/>
            </a:endParaRPr>
          </a:p>
        </p:txBody>
      </p:sp>
      <p:sp>
        <p:nvSpPr>
          <p:cNvPr id="119848" name="Rectangle 44"/>
          <p:cNvSpPr>
            <a:spLocks noChangeArrowheads="1"/>
          </p:cNvSpPr>
          <p:nvPr/>
        </p:nvSpPr>
        <p:spPr bwMode="auto">
          <a:xfrm>
            <a:off x="5047298" y="3136265"/>
            <a:ext cx="10477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Humidity</a:t>
            </a:r>
            <a:endParaRPr kumimoji="1" lang="en-US" altLang="zh-CN" sz="1400">
              <a:latin typeface="Times New Roman" panose="02020603050405020304" charset="0"/>
            </a:endParaRPr>
          </a:p>
        </p:txBody>
      </p:sp>
      <p:sp>
        <p:nvSpPr>
          <p:cNvPr id="119849" name="Rectangle 45"/>
          <p:cNvSpPr>
            <a:spLocks noChangeArrowheads="1"/>
          </p:cNvSpPr>
          <p:nvPr/>
        </p:nvSpPr>
        <p:spPr bwMode="auto">
          <a:xfrm>
            <a:off x="3999548" y="3136265"/>
            <a:ext cx="10477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AirTemp</a:t>
            </a:r>
            <a:endParaRPr kumimoji="1" lang="en-US" altLang="zh-CN" sz="1400">
              <a:latin typeface="Times New Roman" panose="02020603050405020304" charset="0"/>
            </a:endParaRPr>
          </a:p>
        </p:txBody>
      </p:sp>
      <p:sp>
        <p:nvSpPr>
          <p:cNvPr id="119850" name="Rectangle 46"/>
          <p:cNvSpPr>
            <a:spLocks noChangeArrowheads="1"/>
          </p:cNvSpPr>
          <p:nvPr/>
        </p:nvSpPr>
        <p:spPr bwMode="auto">
          <a:xfrm>
            <a:off x="2951798" y="3136265"/>
            <a:ext cx="10477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Sky</a:t>
            </a:r>
            <a:endParaRPr kumimoji="1" lang="en-US" altLang="zh-CN" sz="1400">
              <a:latin typeface="Times New Roman" panose="02020603050405020304" charset="0"/>
            </a:endParaRPr>
          </a:p>
        </p:txBody>
      </p:sp>
      <p:sp>
        <p:nvSpPr>
          <p:cNvPr id="119851" name="Rectangle 47"/>
          <p:cNvSpPr>
            <a:spLocks noChangeArrowheads="1"/>
          </p:cNvSpPr>
          <p:nvPr/>
        </p:nvSpPr>
        <p:spPr bwMode="auto">
          <a:xfrm>
            <a:off x="1904048" y="3136265"/>
            <a:ext cx="10477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SzPct val="80000"/>
              <a:buFont typeface="Wingdings" panose="05000000000000000000" pitchFamily="2" charset="2"/>
              <a:buChar char="q"/>
              <a:defRPr b="1">
                <a:solidFill>
                  <a:schemeClr val="tx1"/>
                </a:solidFill>
                <a:latin typeface="Arial" panose="020B0604020202020204" pitchFamily="34" charset="0"/>
                <a:ea typeface="宋体" panose="02010600030101010101" pitchFamily="2" charset="-122"/>
              </a:defRPr>
            </a:lvl1pPr>
            <a:lvl2pPr marL="742950" indent="-285750">
              <a:lnSpc>
                <a:spcPct val="90000"/>
              </a:lnSpc>
              <a:spcBef>
                <a:spcPct val="30000"/>
              </a:spcBef>
              <a:buSzPct val="80000"/>
              <a:buFont typeface="Wingdings" panose="05000000000000000000" pitchFamily="2" charset="2"/>
              <a:buChar char="¦"/>
              <a:defRPr sz="1600" b="1">
                <a:solidFill>
                  <a:schemeClr val="tx1"/>
                </a:solidFill>
                <a:latin typeface="Arial" panose="020B0604020202020204" pitchFamily="34" charset="0"/>
                <a:ea typeface="宋体" panose="02010600030101010101" pitchFamily="2" charset="-122"/>
              </a:defRPr>
            </a:lvl2pPr>
            <a:lvl3pPr marL="1143000" indent="-228600">
              <a:lnSpc>
                <a:spcPct val="90000"/>
              </a:lnSpc>
              <a:spcBef>
                <a:spcPct val="30000"/>
              </a:spcBef>
              <a:buSzPct val="80000"/>
              <a:buFont typeface="Wingdings" panose="05000000000000000000" pitchFamily="2" charset="2"/>
              <a:buChar char="§"/>
              <a:defRPr sz="16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charset="0"/>
                <a:ea typeface="宋体" panose="02010600030101010101" pitchFamily="2" charset="-122"/>
              </a:defRPr>
            </a:lvl9pPr>
          </a:lstStyle>
          <a:p>
            <a:pPr algn="ctr" eaLnBrk="1" hangingPunct="1">
              <a:spcBef>
                <a:spcPct val="20000"/>
              </a:spcBef>
              <a:buSzTx/>
              <a:buFontTx/>
              <a:buNone/>
            </a:pPr>
            <a:r>
              <a:rPr kumimoji="1" lang="en-US" altLang="zh-CN" sz="1400">
                <a:latin typeface="Times New Roman" panose="02020603050405020304" charset="0"/>
              </a:rPr>
              <a:t>Example</a:t>
            </a:r>
            <a:endParaRPr kumimoji="1" lang="en-US" altLang="zh-CN" sz="1400">
              <a:latin typeface="Times New Roman" panose="02020603050405020304" charset="0"/>
            </a:endParaRPr>
          </a:p>
        </p:txBody>
      </p:sp>
      <p:sp>
        <p:nvSpPr>
          <p:cNvPr id="119852" name="Line 48"/>
          <p:cNvSpPr>
            <a:spLocks noChangeShapeType="1"/>
          </p:cNvSpPr>
          <p:nvPr/>
        </p:nvSpPr>
        <p:spPr bwMode="auto">
          <a:xfrm>
            <a:off x="1904048" y="2983865"/>
            <a:ext cx="8382000" cy="0"/>
          </a:xfrm>
          <a:prstGeom prst="line">
            <a:avLst/>
          </a:prstGeom>
          <a:noFill/>
          <a:ln w="28575" cap="sq">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9853" name="Line 49"/>
          <p:cNvSpPr>
            <a:spLocks noChangeShapeType="1"/>
          </p:cNvSpPr>
          <p:nvPr/>
        </p:nvSpPr>
        <p:spPr bwMode="auto">
          <a:xfrm>
            <a:off x="1904048" y="3517265"/>
            <a:ext cx="8382000"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9854" name="Line 50"/>
          <p:cNvSpPr>
            <a:spLocks noChangeShapeType="1"/>
          </p:cNvSpPr>
          <p:nvPr/>
        </p:nvSpPr>
        <p:spPr bwMode="auto">
          <a:xfrm>
            <a:off x="1904048" y="5101590"/>
            <a:ext cx="8382000" cy="0"/>
          </a:xfrm>
          <a:prstGeom prst="line">
            <a:avLst/>
          </a:prstGeom>
          <a:noFill/>
          <a:ln w="28575" cap="sq">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0835" name="Rectangle 5"/>
          <p:cNvSpPr>
            <a:spLocks noGrp="1" noChangeArrowheads="1"/>
          </p:cNvSpPr>
          <p:nvPr/>
        </p:nvSpPr>
        <p:spPr>
          <a:xfrm>
            <a:off x="504825" y="5380355"/>
            <a:ext cx="8949055" cy="584835"/>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r>
              <a:rPr lang="zh-CN" altLang="en-US" sz="2400" b="1"/>
              <a:t>2-3</a:t>
            </a:r>
            <a:r>
              <a:rPr lang="zh-CN" altLang="en-US" sz="2400"/>
              <a:t>  </a:t>
            </a:r>
            <a:r>
              <a:rPr lang="zh-CN" altLang="en-US" sz="2000"/>
              <a:t>实现Find-S算法。验证它是否可成功地产生EnjoySport例子中各步骤结果</a:t>
            </a:r>
            <a:r>
              <a:rPr lang="zh-CN" altLang="en-US" sz="2400"/>
              <a:t> </a:t>
            </a:r>
            <a:endParaRPr lang="zh-CN" altLang="en-US" sz="240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dirty="0">
              <a:latin typeface="Times New Roman" panose="02020603050405020304" charset="0"/>
              <a:cs typeface="Times New Roman" panose="02020603050405020304" charset="0"/>
            </a:endParaRPr>
          </a:p>
        </p:txBody>
      </p:sp>
      <p:sp>
        <p:nvSpPr>
          <p:cNvPr id="6" name="文本框 5"/>
          <p:cNvSpPr txBox="1"/>
          <p:nvPr/>
        </p:nvSpPr>
        <p:spPr>
          <a:xfrm>
            <a:off x="419735" y="291465"/>
            <a:ext cx="8637905" cy="583565"/>
          </a:xfrm>
          <a:prstGeom prst="rect">
            <a:avLst/>
          </a:prstGeom>
          <a:noFill/>
        </p:spPr>
        <p:txBody>
          <a:bodyPr wrap="square" rtlCol="0">
            <a:spAutoFit/>
            <a:scene3d>
              <a:camera prst="orthographicFront"/>
              <a:lightRig rig="threePt" dir="t"/>
            </a:scene3d>
          </a:bodyPr>
          <a:lstStyle/>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思考题答案</a:t>
            </a:r>
            <a:endParaRPr lang="en-US" altLang="zh-CN" sz="3200" b="1" spc="200" dirty="0">
              <a:solidFill>
                <a:schemeClr val="accent1"/>
              </a:solidFill>
              <a:uFillTx/>
              <a:latin typeface="微软雅黑 Light" panose="020B0502040204020203" pitchFamily="34" charset="-122"/>
              <a:ea typeface="微软雅黑" panose="020B0503020204020204" charset="-122"/>
              <a:cs typeface="+mj-cs"/>
            </a:endParaRPr>
          </a:p>
        </p:txBody>
      </p:sp>
      <p:sp>
        <p:nvSpPr>
          <p:cNvPr id="5" name="文本框 4"/>
          <p:cNvSpPr txBox="1"/>
          <p:nvPr/>
        </p:nvSpPr>
        <p:spPr>
          <a:xfrm>
            <a:off x="359410" y="1221105"/>
            <a:ext cx="11400790" cy="2112645"/>
          </a:xfrm>
          <a:prstGeom prst="rect">
            <a:avLst/>
          </a:prstGeom>
          <a:noFill/>
        </p:spPr>
        <p:txBody>
          <a:bodyPr wrap="square" rtlCol="0">
            <a:spAutoFit/>
          </a:bodyPr>
          <a:lstStyle/>
          <a:p>
            <a:r>
              <a:rPr lang="en-US" altLang="zh-CN" b="1">
                <a:solidFill>
                  <a:schemeClr val="tx1"/>
                </a:solidFill>
              </a:rPr>
              <a:t>2-1</a:t>
            </a:r>
            <a:r>
              <a:rPr lang="zh-CN" altLang="en-US" b="1">
                <a:solidFill>
                  <a:schemeClr val="tx1"/>
                </a:solidFill>
              </a:rPr>
              <a:t>答案：</a:t>
            </a:r>
            <a:endParaRPr lang="zh-CN" altLang="en-US" b="1">
              <a:solidFill>
                <a:schemeClr val="tx1"/>
              </a:solidFill>
            </a:endParaRPr>
          </a:p>
          <a:p>
            <a:pPr>
              <a:lnSpc>
                <a:spcPct val="30000"/>
              </a:lnSpc>
            </a:pPr>
            <a:endParaRPr lang="en-US" altLang="zh-CN">
              <a:solidFill>
                <a:schemeClr val="tx1"/>
              </a:solidFill>
            </a:endParaRPr>
          </a:p>
          <a:p>
            <a:r>
              <a:rPr lang="en-US" altLang="zh-CN">
                <a:solidFill>
                  <a:schemeClr val="tx1"/>
                </a:solidFill>
              </a:rPr>
              <a:t>1</a:t>
            </a:r>
            <a:r>
              <a:rPr lang="zh-CN" altLang="en-US">
                <a:solidFill>
                  <a:schemeClr val="tx1"/>
                </a:solidFill>
              </a:rPr>
              <a:t>）对于假设空间不同语法的假设计算应为：</a:t>
            </a:r>
            <a:r>
              <a:rPr lang="en-US" altLang="zh-CN">
                <a:solidFill>
                  <a:schemeClr val="tx1"/>
                </a:solidFill>
              </a:rPr>
              <a:t>(3+2)</a:t>
            </a:r>
            <a:r>
              <a:rPr lang="zh-CN" altLang="en-US">
                <a:solidFill>
                  <a:schemeClr val="tx1"/>
                </a:solidFill>
              </a:rPr>
              <a:t>×</a:t>
            </a:r>
            <a:r>
              <a:rPr lang="en-US" altLang="zh-CN">
                <a:solidFill>
                  <a:schemeClr val="tx1"/>
                </a:solidFill>
              </a:rPr>
              <a:t>(2+2)</a:t>
            </a:r>
            <a:r>
              <a:rPr lang="zh-CN" altLang="en-US">
                <a:solidFill>
                  <a:schemeClr val="tx1"/>
                </a:solidFill>
              </a:rPr>
              <a:t>×</a:t>
            </a:r>
            <a:r>
              <a:rPr lang="en-US" altLang="zh-CN">
                <a:solidFill>
                  <a:schemeClr val="tx1"/>
                </a:solidFill>
              </a:rPr>
              <a:t>(2+2)</a:t>
            </a:r>
            <a:r>
              <a:rPr lang="zh-CN" altLang="en-US">
                <a:solidFill>
                  <a:schemeClr val="tx1"/>
                </a:solidFill>
              </a:rPr>
              <a:t>×</a:t>
            </a:r>
            <a:r>
              <a:rPr lang="en-US" altLang="zh-CN">
                <a:solidFill>
                  <a:schemeClr val="tx1"/>
                </a:solidFill>
              </a:rPr>
              <a:t>(2+2)</a:t>
            </a:r>
            <a:r>
              <a:rPr lang="zh-CN" altLang="en-US">
                <a:solidFill>
                  <a:schemeClr val="tx1"/>
                </a:solidFill>
              </a:rPr>
              <a:t>×</a:t>
            </a:r>
            <a:r>
              <a:rPr lang="en-US" altLang="zh-CN">
                <a:solidFill>
                  <a:schemeClr val="tx1"/>
                </a:solidFill>
              </a:rPr>
              <a:t>(2+2)</a:t>
            </a:r>
            <a:r>
              <a:rPr lang="zh-CN" altLang="en-US">
                <a:solidFill>
                  <a:schemeClr val="tx1"/>
                </a:solidFill>
              </a:rPr>
              <a:t>×</a:t>
            </a:r>
            <a:r>
              <a:rPr lang="en-US" altLang="zh-CN">
                <a:solidFill>
                  <a:schemeClr val="tx1"/>
                </a:solidFill>
              </a:rPr>
              <a:t>(2+2) = 5120</a:t>
            </a:r>
            <a:endParaRPr lang="en-US" altLang="zh-CN">
              <a:solidFill>
                <a:schemeClr val="tx1"/>
              </a:solidFill>
            </a:endParaRPr>
          </a:p>
          <a:p>
            <a:r>
              <a:rPr lang="zh-CN" altLang="en-US">
                <a:solidFill>
                  <a:schemeClr val="tx1"/>
                </a:solidFill>
              </a:rPr>
              <a:t>但对于属性值</a:t>
            </a:r>
            <a:r>
              <a:rPr lang="zh-CN" altLang="en-US" dirty="0">
                <a:solidFill>
                  <a:schemeClr val="tx1"/>
                </a:solidFill>
                <a:sym typeface="Symbol" panose="05050102010706020507" pitchFamily="18" charset="2"/>
              </a:rPr>
              <a:t>，</a:t>
            </a:r>
            <a:r>
              <a:rPr lang="en-US" altLang="zh-CN">
                <a:solidFill>
                  <a:schemeClr val="tx1"/>
                </a:solidFill>
              </a:rPr>
              <a:t>&lt;</a:t>
            </a:r>
            <a:r>
              <a:rPr lang="zh-CN" altLang="en-US" dirty="0">
                <a:solidFill>
                  <a:schemeClr val="tx1"/>
                </a:solidFill>
                <a:sym typeface="Symbol" panose="05050102010706020507" pitchFamily="18" charset="2"/>
              </a:rPr>
              <a:t></a:t>
            </a:r>
            <a:r>
              <a:rPr lang="en-US" altLang="zh-CN" dirty="0">
                <a:solidFill>
                  <a:schemeClr val="tx1"/>
                </a:solidFill>
                <a:sym typeface="Symbol" panose="05050102010706020507" pitchFamily="18" charset="2"/>
              </a:rPr>
              <a:t>,?,?,?,?,?</a:t>
            </a:r>
            <a:r>
              <a:rPr lang="en-US" altLang="zh-CN">
                <a:solidFill>
                  <a:schemeClr val="tx1"/>
                </a:solidFill>
              </a:rPr>
              <a:t>&gt;</a:t>
            </a:r>
            <a:r>
              <a:rPr lang="zh-CN" altLang="en-US">
                <a:solidFill>
                  <a:schemeClr val="tx1"/>
                </a:solidFill>
              </a:rPr>
              <a:t>和</a:t>
            </a:r>
            <a:r>
              <a:rPr lang="en-US" altLang="zh-CN">
                <a:solidFill>
                  <a:schemeClr val="tx1"/>
                </a:solidFill>
              </a:rPr>
              <a:t>&lt;</a:t>
            </a:r>
            <a:r>
              <a:rPr lang="zh-CN" altLang="en-US" dirty="0">
                <a:solidFill>
                  <a:schemeClr val="tx1"/>
                </a:solidFill>
                <a:sym typeface="Symbol" panose="05050102010706020507" pitchFamily="18" charset="2"/>
              </a:rPr>
              <a:t></a:t>
            </a:r>
            <a:r>
              <a:rPr lang="en-US" altLang="zh-CN" dirty="0">
                <a:solidFill>
                  <a:schemeClr val="tx1"/>
                </a:solidFill>
                <a:sym typeface="Symbol" panose="05050102010706020507" pitchFamily="18" charset="2"/>
              </a:rPr>
              <a:t>,</a:t>
            </a:r>
            <a:r>
              <a:rPr lang="zh-CN" altLang="en-US" dirty="0">
                <a:solidFill>
                  <a:schemeClr val="tx1"/>
                </a:solidFill>
                <a:sym typeface="Symbol" panose="05050102010706020507" pitchFamily="18" charset="2"/>
              </a:rPr>
              <a:t></a:t>
            </a:r>
            <a:r>
              <a:rPr lang="en-US" altLang="zh-CN" dirty="0">
                <a:solidFill>
                  <a:schemeClr val="tx1"/>
                </a:solidFill>
                <a:sym typeface="Symbol" panose="05050102010706020507" pitchFamily="18" charset="2"/>
              </a:rPr>
              <a:t>,</a:t>
            </a:r>
            <a:r>
              <a:rPr lang="zh-CN" altLang="en-US" dirty="0">
                <a:solidFill>
                  <a:schemeClr val="tx1"/>
                </a:solidFill>
                <a:sym typeface="Symbol" panose="05050102010706020507" pitchFamily="18" charset="2"/>
              </a:rPr>
              <a:t></a:t>
            </a:r>
            <a:r>
              <a:rPr lang="en-US" altLang="zh-CN" dirty="0">
                <a:solidFill>
                  <a:schemeClr val="tx1"/>
                </a:solidFill>
                <a:sym typeface="Symbol" panose="05050102010706020507" pitchFamily="18" charset="2"/>
              </a:rPr>
              <a:t>,</a:t>
            </a:r>
            <a:r>
              <a:rPr lang="zh-CN" altLang="en-US" dirty="0">
                <a:solidFill>
                  <a:schemeClr val="tx1"/>
                </a:solidFill>
                <a:sym typeface="Symbol" panose="05050102010706020507" pitchFamily="18" charset="2"/>
              </a:rPr>
              <a:t></a:t>
            </a:r>
            <a:r>
              <a:rPr lang="en-US" altLang="zh-CN" dirty="0">
                <a:solidFill>
                  <a:schemeClr val="tx1"/>
                </a:solidFill>
                <a:sym typeface="Symbol" panose="05050102010706020507" pitchFamily="18" charset="2"/>
              </a:rPr>
              <a:t>,</a:t>
            </a:r>
            <a:r>
              <a:rPr lang="zh-CN" altLang="en-US" dirty="0">
                <a:solidFill>
                  <a:schemeClr val="tx1"/>
                </a:solidFill>
                <a:sym typeface="Symbol" panose="05050102010706020507" pitchFamily="18" charset="2"/>
              </a:rPr>
              <a:t></a:t>
            </a:r>
            <a:r>
              <a:rPr lang="en-US" altLang="zh-CN" dirty="0">
                <a:solidFill>
                  <a:schemeClr val="tx1"/>
                </a:solidFill>
                <a:sym typeface="Symbol" panose="05050102010706020507" pitchFamily="18" charset="2"/>
              </a:rPr>
              <a:t>,</a:t>
            </a:r>
            <a:r>
              <a:rPr lang="zh-CN" altLang="en-US" dirty="0">
                <a:solidFill>
                  <a:schemeClr val="tx1"/>
                </a:solidFill>
                <a:sym typeface="Symbol" panose="05050102010706020507" pitchFamily="18" charset="2"/>
              </a:rPr>
              <a:t></a:t>
            </a:r>
            <a:r>
              <a:rPr lang="en-US" altLang="zh-CN">
                <a:solidFill>
                  <a:schemeClr val="tx1"/>
                </a:solidFill>
              </a:rPr>
              <a:t>&gt;</a:t>
            </a:r>
            <a:r>
              <a:rPr lang="zh-CN" altLang="en-US">
                <a:solidFill>
                  <a:schemeClr val="tx1"/>
                </a:solidFill>
              </a:rPr>
              <a:t>最终的布尔函数值均为</a:t>
            </a:r>
            <a:r>
              <a:rPr lang="en-US" altLang="zh-CN">
                <a:solidFill>
                  <a:schemeClr val="tx1"/>
                </a:solidFill>
              </a:rPr>
              <a:t>0</a:t>
            </a:r>
            <a:r>
              <a:rPr lang="zh-CN" altLang="en-US">
                <a:solidFill>
                  <a:schemeClr val="tx1"/>
                </a:solidFill>
              </a:rPr>
              <a:t>，因此假设空间不同语义计算应为</a:t>
            </a:r>
            <a:r>
              <a:rPr lang="en-US" altLang="zh-CN">
                <a:solidFill>
                  <a:schemeClr val="tx1"/>
                </a:solidFill>
                <a:sym typeface="+mn-ea"/>
              </a:rPr>
              <a:t>(3+1)</a:t>
            </a:r>
            <a:r>
              <a:rPr lang="zh-CN" altLang="en-US">
                <a:solidFill>
                  <a:schemeClr val="tx1"/>
                </a:solidFill>
                <a:sym typeface="+mn-ea"/>
              </a:rPr>
              <a:t>×</a:t>
            </a:r>
            <a:r>
              <a:rPr lang="en-US" altLang="zh-CN">
                <a:solidFill>
                  <a:schemeClr val="tx1"/>
                </a:solidFill>
                <a:sym typeface="+mn-ea"/>
              </a:rPr>
              <a:t>(2+1)</a:t>
            </a:r>
            <a:r>
              <a:rPr lang="zh-CN" altLang="en-US">
                <a:solidFill>
                  <a:schemeClr val="tx1"/>
                </a:solidFill>
                <a:sym typeface="+mn-ea"/>
              </a:rPr>
              <a:t>×</a:t>
            </a:r>
            <a:r>
              <a:rPr lang="en-US" altLang="zh-CN">
                <a:solidFill>
                  <a:schemeClr val="tx1"/>
                </a:solidFill>
                <a:sym typeface="+mn-ea"/>
              </a:rPr>
              <a:t>(2+1)</a:t>
            </a:r>
            <a:r>
              <a:rPr lang="zh-CN" altLang="en-US">
                <a:solidFill>
                  <a:schemeClr val="tx1"/>
                </a:solidFill>
                <a:sym typeface="+mn-ea"/>
              </a:rPr>
              <a:t>×</a:t>
            </a:r>
            <a:r>
              <a:rPr lang="en-US" altLang="zh-CN">
                <a:solidFill>
                  <a:schemeClr val="tx1"/>
                </a:solidFill>
                <a:sym typeface="+mn-ea"/>
              </a:rPr>
              <a:t>(2+1)</a:t>
            </a:r>
            <a:r>
              <a:rPr lang="zh-CN" altLang="en-US">
                <a:solidFill>
                  <a:schemeClr val="tx1"/>
                </a:solidFill>
                <a:sym typeface="+mn-ea"/>
              </a:rPr>
              <a:t>×</a:t>
            </a:r>
            <a:r>
              <a:rPr lang="en-US" altLang="zh-CN">
                <a:solidFill>
                  <a:schemeClr val="tx1"/>
                </a:solidFill>
                <a:sym typeface="+mn-ea"/>
              </a:rPr>
              <a:t>(2+1)</a:t>
            </a:r>
            <a:r>
              <a:rPr lang="zh-CN" altLang="en-US">
                <a:solidFill>
                  <a:schemeClr val="tx1"/>
                </a:solidFill>
                <a:sym typeface="+mn-ea"/>
              </a:rPr>
              <a:t>×</a:t>
            </a:r>
            <a:r>
              <a:rPr lang="en-US" altLang="zh-CN">
                <a:solidFill>
                  <a:schemeClr val="tx1"/>
                </a:solidFill>
                <a:sym typeface="+mn-ea"/>
              </a:rPr>
              <a:t>(2+1) +1 = 973</a:t>
            </a:r>
            <a:endParaRPr lang="en-US" altLang="zh-CN">
              <a:solidFill>
                <a:schemeClr val="tx1"/>
              </a:solidFill>
              <a:sym typeface="+mn-ea"/>
            </a:endParaRPr>
          </a:p>
          <a:p>
            <a:pPr>
              <a:lnSpc>
                <a:spcPct val="50000"/>
              </a:lnSpc>
            </a:pPr>
            <a:endParaRPr lang="zh-CN" altLang="en-US">
              <a:solidFill>
                <a:schemeClr val="tx1"/>
              </a:solidFill>
            </a:endParaRPr>
          </a:p>
          <a:p>
            <a:r>
              <a:rPr lang="en-US" altLang="zh-CN">
                <a:solidFill>
                  <a:schemeClr val="tx1"/>
                </a:solidFill>
              </a:rPr>
              <a:t>2</a:t>
            </a:r>
            <a:r>
              <a:rPr lang="zh-CN" altLang="en-US">
                <a:solidFill>
                  <a:schemeClr val="tx1"/>
                </a:solidFill>
              </a:rPr>
              <a:t>）可能实例数为</a:t>
            </a:r>
            <a:r>
              <a:rPr lang="en-US" altLang="zh-CN">
                <a:solidFill>
                  <a:schemeClr val="tx1"/>
                </a:solidFill>
              </a:rPr>
              <a:t>3</a:t>
            </a:r>
            <a:r>
              <a:rPr lang="zh-CN" altLang="en-US">
                <a:solidFill>
                  <a:schemeClr val="tx1"/>
                </a:solidFill>
              </a:rPr>
              <a:t>×</a:t>
            </a:r>
            <a:r>
              <a:rPr lang="en-US" altLang="zh-CN">
                <a:solidFill>
                  <a:schemeClr val="tx1"/>
                </a:solidFill>
              </a:rPr>
              <a:t>2</a:t>
            </a:r>
            <a:r>
              <a:rPr lang="zh-CN" altLang="en-US">
                <a:solidFill>
                  <a:schemeClr val="tx1"/>
                </a:solidFill>
              </a:rPr>
              <a:t>×</a:t>
            </a:r>
            <a:r>
              <a:rPr lang="en-US" altLang="zh-CN">
                <a:solidFill>
                  <a:schemeClr val="tx1"/>
                </a:solidFill>
              </a:rPr>
              <a:t>2</a:t>
            </a:r>
            <a:r>
              <a:rPr lang="zh-CN" altLang="en-US">
                <a:solidFill>
                  <a:schemeClr val="tx1"/>
                </a:solidFill>
              </a:rPr>
              <a:t>×</a:t>
            </a:r>
            <a:r>
              <a:rPr lang="en-US" altLang="zh-CN">
                <a:solidFill>
                  <a:schemeClr val="tx1"/>
                </a:solidFill>
              </a:rPr>
              <a:t>2</a:t>
            </a:r>
            <a:r>
              <a:rPr lang="zh-CN" altLang="en-US">
                <a:solidFill>
                  <a:schemeClr val="tx1"/>
                </a:solidFill>
              </a:rPr>
              <a:t>×</a:t>
            </a:r>
            <a:r>
              <a:rPr lang="en-US" altLang="zh-CN">
                <a:solidFill>
                  <a:schemeClr val="tx1"/>
                </a:solidFill>
              </a:rPr>
              <a:t>2</a:t>
            </a:r>
            <a:r>
              <a:rPr lang="zh-CN" altLang="en-US">
                <a:solidFill>
                  <a:schemeClr val="tx1"/>
                </a:solidFill>
              </a:rPr>
              <a:t>×</a:t>
            </a:r>
            <a:r>
              <a:rPr lang="en-US" altLang="zh-CN">
                <a:solidFill>
                  <a:schemeClr val="tx1"/>
                </a:solidFill>
              </a:rPr>
              <a:t>2</a:t>
            </a:r>
            <a:r>
              <a:rPr lang="zh-CN" altLang="en-US">
                <a:solidFill>
                  <a:schemeClr val="tx1"/>
                </a:solidFill>
              </a:rPr>
              <a:t>×</a:t>
            </a:r>
            <a:r>
              <a:rPr lang="en-US" altLang="zh-CN">
                <a:solidFill>
                  <a:schemeClr val="tx1"/>
                </a:solidFill>
              </a:rPr>
              <a:t>3 = 288</a:t>
            </a:r>
            <a:r>
              <a:rPr lang="zh-CN" altLang="en-US">
                <a:solidFill>
                  <a:schemeClr val="tx1"/>
                </a:solidFill>
              </a:rPr>
              <a:t>；可能的假设数为</a:t>
            </a:r>
            <a:r>
              <a:rPr lang="en-US" altLang="zh-CN">
                <a:solidFill>
                  <a:schemeClr val="tx1"/>
                </a:solidFill>
                <a:sym typeface="+mn-ea"/>
              </a:rPr>
              <a:t>(3+2)</a:t>
            </a:r>
            <a:r>
              <a:rPr lang="zh-CN" altLang="en-US">
                <a:solidFill>
                  <a:schemeClr val="tx1"/>
                </a:solidFill>
                <a:sym typeface="+mn-ea"/>
              </a:rPr>
              <a:t>×</a:t>
            </a:r>
            <a:r>
              <a:rPr lang="en-US" altLang="zh-CN">
                <a:solidFill>
                  <a:schemeClr val="tx1"/>
                </a:solidFill>
                <a:sym typeface="+mn-ea"/>
              </a:rPr>
              <a:t>(2+2)</a:t>
            </a:r>
            <a:r>
              <a:rPr lang="zh-CN" altLang="en-US">
                <a:solidFill>
                  <a:schemeClr val="tx1"/>
                </a:solidFill>
                <a:sym typeface="+mn-ea"/>
              </a:rPr>
              <a:t>×</a:t>
            </a:r>
            <a:r>
              <a:rPr lang="en-US" altLang="zh-CN">
                <a:solidFill>
                  <a:schemeClr val="tx1"/>
                </a:solidFill>
                <a:sym typeface="+mn-ea"/>
              </a:rPr>
              <a:t>(2+2)</a:t>
            </a:r>
            <a:r>
              <a:rPr lang="zh-CN" altLang="en-US">
                <a:solidFill>
                  <a:schemeClr val="tx1"/>
                </a:solidFill>
                <a:sym typeface="+mn-ea"/>
              </a:rPr>
              <a:t>×</a:t>
            </a:r>
            <a:r>
              <a:rPr lang="en-US" altLang="zh-CN">
                <a:solidFill>
                  <a:schemeClr val="tx1"/>
                </a:solidFill>
                <a:sym typeface="+mn-ea"/>
              </a:rPr>
              <a:t>(2+2)</a:t>
            </a:r>
            <a:r>
              <a:rPr lang="zh-CN" altLang="en-US">
                <a:solidFill>
                  <a:schemeClr val="tx1"/>
                </a:solidFill>
                <a:sym typeface="+mn-ea"/>
              </a:rPr>
              <a:t>×</a:t>
            </a:r>
            <a:r>
              <a:rPr lang="en-US" altLang="zh-CN">
                <a:solidFill>
                  <a:schemeClr val="tx1"/>
                </a:solidFill>
                <a:sym typeface="+mn-ea"/>
              </a:rPr>
              <a:t>(2+2)</a:t>
            </a:r>
            <a:r>
              <a:rPr lang="zh-CN" altLang="en-US">
                <a:solidFill>
                  <a:schemeClr val="tx1"/>
                </a:solidFill>
                <a:sym typeface="+mn-ea"/>
              </a:rPr>
              <a:t>×</a:t>
            </a:r>
            <a:r>
              <a:rPr lang="en-US" altLang="zh-CN">
                <a:solidFill>
                  <a:schemeClr val="tx1"/>
                </a:solidFill>
                <a:sym typeface="+mn-ea"/>
              </a:rPr>
              <a:t>(2+2)</a:t>
            </a:r>
            <a:r>
              <a:rPr lang="zh-CN" altLang="en-US">
                <a:solidFill>
                  <a:schemeClr val="tx1"/>
                </a:solidFill>
                <a:sym typeface="+mn-ea"/>
              </a:rPr>
              <a:t>×</a:t>
            </a:r>
            <a:r>
              <a:rPr lang="en-US" altLang="zh-CN">
                <a:solidFill>
                  <a:schemeClr val="tx1"/>
                </a:solidFill>
                <a:sym typeface="+mn-ea"/>
              </a:rPr>
              <a:t>(3+2) = 25600</a:t>
            </a:r>
            <a:endParaRPr lang="en-US" altLang="zh-CN">
              <a:solidFill>
                <a:schemeClr val="tx1"/>
              </a:solidFill>
              <a:sym typeface="+mn-ea"/>
            </a:endParaRPr>
          </a:p>
          <a:p>
            <a:pPr>
              <a:lnSpc>
                <a:spcPct val="50000"/>
              </a:lnSpc>
            </a:pPr>
            <a:endParaRPr lang="en-US" altLang="zh-CN">
              <a:solidFill>
                <a:schemeClr val="tx1"/>
              </a:solidFill>
              <a:sym typeface="+mn-ea"/>
            </a:endParaRPr>
          </a:p>
          <a:p>
            <a:r>
              <a:rPr lang="en-US" altLang="zh-CN">
                <a:solidFill>
                  <a:schemeClr val="tx1"/>
                </a:solidFill>
                <a:sym typeface="+mn-ea"/>
              </a:rPr>
              <a:t>3</a:t>
            </a:r>
            <a:r>
              <a:rPr lang="zh-CN" altLang="en-US">
                <a:solidFill>
                  <a:schemeClr val="tx1"/>
                </a:solidFill>
                <a:sym typeface="+mn-ea"/>
              </a:rPr>
              <a:t>）可能实例数为</a:t>
            </a:r>
            <a:r>
              <a:rPr lang="en-US" altLang="zh-CN">
                <a:solidFill>
                  <a:schemeClr val="tx1"/>
                </a:solidFill>
                <a:sym typeface="+mn-ea"/>
              </a:rPr>
              <a:t>3</a:t>
            </a:r>
            <a:r>
              <a:rPr lang="zh-CN" altLang="en-US">
                <a:solidFill>
                  <a:schemeClr val="tx1"/>
                </a:solidFill>
                <a:sym typeface="+mn-ea"/>
              </a:rPr>
              <a:t>×</a:t>
            </a:r>
            <a:r>
              <a:rPr lang="en-US" altLang="zh-CN">
                <a:solidFill>
                  <a:schemeClr val="tx1"/>
                </a:solidFill>
                <a:sym typeface="+mn-ea"/>
              </a:rPr>
              <a:t>2</a:t>
            </a:r>
            <a:r>
              <a:rPr lang="zh-CN" altLang="en-US">
                <a:solidFill>
                  <a:schemeClr val="tx1"/>
                </a:solidFill>
                <a:sym typeface="+mn-ea"/>
              </a:rPr>
              <a:t>×</a:t>
            </a:r>
            <a:r>
              <a:rPr lang="en-US" altLang="zh-CN">
                <a:solidFill>
                  <a:schemeClr val="tx1"/>
                </a:solidFill>
                <a:sym typeface="+mn-ea"/>
              </a:rPr>
              <a:t>2</a:t>
            </a:r>
            <a:r>
              <a:rPr lang="zh-CN" altLang="en-US">
                <a:solidFill>
                  <a:schemeClr val="tx1"/>
                </a:solidFill>
                <a:sym typeface="+mn-ea"/>
              </a:rPr>
              <a:t>×</a:t>
            </a:r>
            <a:r>
              <a:rPr lang="en-US" altLang="zh-CN">
                <a:solidFill>
                  <a:schemeClr val="tx1"/>
                </a:solidFill>
                <a:sym typeface="+mn-ea"/>
              </a:rPr>
              <a:t>2</a:t>
            </a:r>
            <a:r>
              <a:rPr lang="zh-CN" altLang="en-US">
                <a:solidFill>
                  <a:schemeClr val="tx1"/>
                </a:solidFill>
                <a:sym typeface="+mn-ea"/>
              </a:rPr>
              <a:t>×</a:t>
            </a:r>
            <a:r>
              <a:rPr lang="en-US" altLang="zh-CN">
                <a:solidFill>
                  <a:schemeClr val="tx1"/>
                </a:solidFill>
                <a:sym typeface="+mn-ea"/>
              </a:rPr>
              <a:t>2</a:t>
            </a:r>
            <a:r>
              <a:rPr lang="zh-CN" altLang="en-US">
                <a:solidFill>
                  <a:schemeClr val="tx1"/>
                </a:solidFill>
                <a:sym typeface="+mn-ea"/>
              </a:rPr>
              <a:t>×</a:t>
            </a:r>
            <a:r>
              <a:rPr lang="en-US" altLang="zh-CN">
                <a:solidFill>
                  <a:schemeClr val="tx1"/>
                </a:solidFill>
                <a:sym typeface="+mn-ea"/>
              </a:rPr>
              <a:t>2</a:t>
            </a:r>
            <a:r>
              <a:rPr lang="zh-CN" altLang="en-US">
                <a:solidFill>
                  <a:schemeClr val="tx1"/>
                </a:solidFill>
                <a:sym typeface="+mn-ea"/>
              </a:rPr>
              <a:t>×</a:t>
            </a:r>
            <a:r>
              <a:rPr lang="en-US" altLang="zh-CN">
                <a:solidFill>
                  <a:schemeClr val="tx1"/>
                </a:solidFill>
                <a:sym typeface="+mn-ea"/>
              </a:rPr>
              <a:t>K</a:t>
            </a:r>
            <a:r>
              <a:rPr lang="zh-CN" altLang="en-US">
                <a:solidFill>
                  <a:schemeClr val="tx1"/>
                </a:solidFill>
                <a:sym typeface="+mn-ea"/>
              </a:rPr>
              <a:t>；可能的假设数为</a:t>
            </a:r>
            <a:r>
              <a:rPr lang="en-US" altLang="zh-CN">
                <a:solidFill>
                  <a:schemeClr val="tx1"/>
                </a:solidFill>
                <a:sym typeface="+mn-ea"/>
              </a:rPr>
              <a:t>(3+2)</a:t>
            </a:r>
            <a:r>
              <a:rPr lang="zh-CN" altLang="en-US">
                <a:solidFill>
                  <a:schemeClr val="tx1"/>
                </a:solidFill>
                <a:sym typeface="+mn-ea"/>
              </a:rPr>
              <a:t>×</a:t>
            </a:r>
            <a:r>
              <a:rPr lang="en-US" altLang="zh-CN">
                <a:solidFill>
                  <a:schemeClr val="tx1"/>
                </a:solidFill>
                <a:sym typeface="+mn-ea"/>
              </a:rPr>
              <a:t>(2+2)</a:t>
            </a:r>
            <a:r>
              <a:rPr lang="zh-CN" altLang="en-US">
                <a:solidFill>
                  <a:schemeClr val="tx1"/>
                </a:solidFill>
                <a:sym typeface="+mn-ea"/>
              </a:rPr>
              <a:t>×</a:t>
            </a:r>
            <a:r>
              <a:rPr lang="en-US" altLang="zh-CN">
                <a:solidFill>
                  <a:schemeClr val="tx1"/>
                </a:solidFill>
                <a:sym typeface="+mn-ea"/>
              </a:rPr>
              <a:t>(2+2)</a:t>
            </a:r>
            <a:r>
              <a:rPr lang="zh-CN" altLang="en-US">
                <a:solidFill>
                  <a:schemeClr val="tx1"/>
                </a:solidFill>
                <a:sym typeface="+mn-ea"/>
              </a:rPr>
              <a:t>×</a:t>
            </a:r>
            <a:r>
              <a:rPr lang="en-US" altLang="zh-CN">
                <a:solidFill>
                  <a:schemeClr val="tx1"/>
                </a:solidFill>
                <a:sym typeface="+mn-ea"/>
              </a:rPr>
              <a:t>(2+2)</a:t>
            </a:r>
            <a:r>
              <a:rPr lang="zh-CN" altLang="en-US">
                <a:solidFill>
                  <a:schemeClr val="tx1"/>
                </a:solidFill>
                <a:sym typeface="+mn-ea"/>
              </a:rPr>
              <a:t>×</a:t>
            </a:r>
            <a:r>
              <a:rPr lang="en-US" altLang="zh-CN">
                <a:solidFill>
                  <a:schemeClr val="tx1"/>
                </a:solidFill>
                <a:sym typeface="+mn-ea"/>
              </a:rPr>
              <a:t>(2+2)</a:t>
            </a:r>
            <a:r>
              <a:rPr lang="zh-CN" altLang="en-US">
                <a:solidFill>
                  <a:schemeClr val="tx1"/>
                </a:solidFill>
                <a:sym typeface="+mn-ea"/>
              </a:rPr>
              <a:t>×</a:t>
            </a:r>
            <a:r>
              <a:rPr lang="en-US" altLang="zh-CN">
                <a:solidFill>
                  <a:schemeClr val="tx1"/>
                </a:solidFill>
                <a:sym typeface="+mn-ea"/>
              </a:rPr>
              <a:t>(2+2)</a:t>
            </a:r>
            <a:r>
              <a:rPr lang="zh-CN" altLang="en-US">
                <a:solidFill>
                  <a:schemeClr val="tx1"/>
                </a:solidFill>
                <a:sym typeface="+mn-ea"/>
              </a:rPr>
              <a:t>×</a:t>
            </a:r>
            <a:r>
              <a:rPr lang="en-US" altLang="zh-CN">
                <a:solidFill>
                  <a:schemeClr val="tx1"/>
                </a:solidFill>
                <a:sym typeface="+mn-ea"/>
              </a:rPr>
              <a:t>(K+2)</a:t>
            </a:r>
            <a:endParaRPr lang="en-US" altLang="zh-CN">
              <a:solidFill>
                <a:schemeClr val="tx1"/>
              </a:solidFill>
              <a:sym typeface="+mn-ea"/>
            </a:endParaRPr>
          </a:p>
        </p:txBody>
      </p:sp>
      <p:sp>
        <p:nvSpPr>
          <p:cNvPr id="7" name="文本框 6"/>
          <p:cNvSpPr txBox="1"/>
          <p:nvPr/>
        </p:nvSpPr>
        <p:spPr>
          <a:xfrm>
            <a:off x="359410" y="3740785"/>
            <a:ext cx="11576685" cy="2390140"/>
          </a:xfrm>
          <a:prstGeom prst="rect">
            <a:avLst/>
          </a:prstGeom>
          <a:noFill/>
        </p:spPr>
        <p:txBody>
          <a:bodyPr wrap="square" rtlCol="0">
            <a:spAutoFit/>
          </a:bodyPr>
          <a:lstStyle/>
          <a:p>
            <a:r>
              <a:rPr lang="en-US" altLang="zh-CN" b="1">
                <a:solidFill>
                  <a:schemeClr val="tx1"/>
                </a:solidFill>
              </a:rPr>
              <a:t>2-2</a:t>
            </a:r>
            <a:r>
              <a:rPr lang="zh-CN" altLang="en-US" b="1">
                <a:solidFill>
                  <a:schemeClr val="tx1"/>
                </a:solidFill>
              </a:rPr>
              <a:t>答案：</a:t>
            </a:r>
            <a:endParaRPr lang="zh-CN" altLang="en-US" b="1">
              <a:solidFill>
                <a:schemeClr val="tx1"/>
              </a:solidFill>
            </a:endParaRPr>
          </a:p>
          <a:p>
            <a:pPr>
              <a:lnSpc>
                <a:spcPct val="30000"/>
              </a:lnSpc>
            </a:pPr>
            <a:endParaRPr lang="en-US" altLang="zh-CN">
              <a:solidFill>
                <a:schemeClr val="tx1"/>
              </a:solidFill>
            </a:endParaRPr>
          </a:p>
          <a:p>
            <a:r>
              <a:rPr lang="en-US" altLang="zh-CN">
                <a:solidFill>
                  <a:schemeClr val="tx1"/>
                </a:solidFill>
                <a:sym typeface="+mn-ea"/>
              </a:rPr>
              <a:t>1</a:t>
            </a:r>
            <a:r>
              <a:rPr lang="zh-CN" altLang="en-US">
                <a:solidFill>
                  <a:schemeClr val="tx1"/>
                </a:solidFill>
                <a:sym typeface="+mn-ea"/>
              </a:rPr>
              <a:t>）</a:t>
            </a:r>
            <a:r>
              <a:rPr lang="en-US" altLang="zh-CN">
                <a:solidFill>
                  <a:schemeClr val="tx1"/>
                </a:solidFill>
                <a:sym typeface="+mn-ea"/>
              </a:rPr>
              <a:t>G</a:t>
            </a:r>
            <a:r>
              <a:rPr lang="zh-CN" altLang="en-US">
                <a:solidFill>
                  <a:schemeClr val="tx1"/>
                </a:solidFill>
                <a:sym typeface="+mn-ea"/>
              </a:rPr>
              <a:t>：</a:t>
            </a:r>
            <a:r>
              <a:rPr lang="en-US" altLang="zh-CN">
                <a:solidFill>
                  <a:schemeClr val="tx1"/>
                </a:solidFill>
                <a:sym typeface="+mn-ea"/>
              </a:rPr>
              <a:t>&lt;?,?,?,?,?,?&gt;</a:t>
            </a:r>
            <a:r>
              <a:rPr lang="zh-CN" altLang="en-US">
                <a:solidFill>
                  <a:schemeClr val="tx1"/>
                </a:solidFill>
                <a:sym typeface="+mn-ea"/>
              </a:rPr>
              <a:t>；</a:t>
            </a:r>
            <a:r>
              <a:rPr lang="en-US" altLang="zh-CN">
                <a:solidFill>
                  <a:schemeClr val="tx1"/>
                </a:solidFill>
                <a:sym typeface="+mn-ea"/>
              </a:rPr>
              <a:t>S</a:t>
            </a:r>
            <a:r>
              <a:rPr lang="zh-CN" altLang="en-US">
                <a:solidFill>
                  <a:schemeClr val="tx1"/>
                </a:solidFill>
                <a:sym typeface="+mn-ea"/>
              </a:rPr>
              <a:t>：</a:t>
            </a:r>
            <a:r>
              <a:rPr lang="en-US" altLang="zh-CN">
                <a:solidFill>
                  <a:schemeClr val="tx1"/>
                </a:solidFill>
                <a:sym typeface="+mn-ea"/>
              </a:rPr>
              <a:t>&lt;</a:t>
            </a:r>
            <a:r>
              <a:rPr lang="zh-CN" altLang="en-US" dirty="0">
                <a:solidFill>
                  <a:schemeClr val="tx1"/>
                </a:solidFill>
                <a:sym typeface="Symbol" panose="05050102010706020507" pitchFamily="18" charset="2"/>
              </a:rPr>
              <a:t></a:t>
            </a:r>
            <a:r>
              <a:rPr lang="en-US" altLang="zh-CN" dirty="0">
                <a:solidFill>
                  <a:schemeClr val="tx1"/>
                </a:solidFill>
                <a:sym typeface="Symbol" panose="05050102010706020507" pitchFamily="18" charset="2"/>
              </a:rPr>
              <a:t>,</a:t>
            </a:r>
            <a:r>
              <a:rPr lang="zh-CN" altLang="en-US" dirty="0">
                <a:solidFill>
                  <a:schemeClr val="tx1"/>
                </a:solidFill>
                <a:sym typeface="Symbol" panose="05050102010706020507" pitchFamily="18" charset="2"/>
              </a:rPr>
              <a:t></a:t>
            </a:r>
            <a:r>
              <a:rPr lang="en-US" altLang="zh-CN" dirty="0">
                <a:solidFill>
                  <a:schemeClr val="tx1"/>
                </a:solidFill>
                <a:sym typeface="Symbol" panose="05050102010706020507" pitchFamily="18" charset="2"/>
              </a:rPr>
              <a:t>,</a:t>
            </a:r>
            <a:r>
              <a:rPr lang="zh-CN" altLang="en-US" dirty="0">
                <a:solidFill>
                  <a:schemeClr val="tx1"/>
                </a:solidFill>
                <a:sym typeface="Symbol" panose="05050102010706020507" pitchFamily="18" charset="2"/>
              </a:rPr>
              <a:t></a:t>
            </a:r>
            <a:r>
              <a:rPr lang="en-US" altLang="zh-CN" dirty="0">
                <a:solidFill>
                  <a:schemeClr val="tx1"/>
                </a:solidFill>
                <a:sym typeface="Symbol" panose="05050102010706020507" pitchFamily="18" charset="2"/>
              </a:rPr>
              <a:t>,</a:t>
            </a:r>
            <a:r>
              <a:rPr lang="zh-CN" altLang="en-US" dirty="0">
                <a:solidFill>
                  <a:schemeClr val="tx1"/>
                </a:solidFill>
                <a:sym typeface="Symbol" panose="05050102010706020507" pitchFamily="18" charset="2"/>
              </a:rPr>
              <a:t></a:t>
            </a:r>
            <a:r>
              <a:rPr lang="en-US" altLang="zh-CN" dirty="0">
                <a:solidFill>
                  <a:schemeClr val="tx1"/>
                </a:solidFill>
                <a:sym typeface="Symbol" panose="05050102010706020507" pitchFamily="18" charset="2"/>
              </a:rPr>
              <a:t>,</a:t>
            </a:r>
            <a:r>
              <a:rPr lang="zh-CN" altLang="en-US" dirty="0">
                <a:solidFill>
                  <a:schemeClr val="tx1"/>
                </a:solidFill>
                <a:sym typeface="Symbol" panose="05050102010706020507" pitchFamily="18" charset="2"/>
              </a:rPr>
              <a:t></a:t>
            </a:r>
            <a:r>
              <a:rPr lang="en-US" altLang="zh-CN" dirty="0">
                <a:solidFill>
                  <a:schemeClr val="tx1"/>
                </a:solidFill>
                <a:sym typeface="Symbol" panose="05050102010706020507" pitchFamily="18" charset="2"/>
              </a:rPr>
              <a:t>,</a:t>
            </a:r>
            <a:r>
              <a:rPr lang="zh-CN" altLang="en-US" dirty="0">
                <a:solidFill>
                  <a:schemeClr val="tx1"/>
                </a:solidFill>
                <a:sym typeface="Symbol" panose="05050102010706020507" pitchFamily="18" charset="2"/>
              </a:rPr>
              <a:t></a:t>
            </a:r>
            <a:r>
              <a:rPr lang="en-US" altLang="zh-CN" dirty="0">
                <a:solidFill>
                  <a:schemeClr val="tx1"/>
                </a:solidFill>
                <a:sym typeface="Symbol" panose="05050102010706020507" pitchFamily="18" charset="2"/>
              </a:rPr>
              <a:t>&gt;</a:t>
            </a:r>
            <a:endParaRPr lang="en-US" altLang="zh-CN">
              <a:solidFill>
                <a:schemeClr val="tx1"/>
              </a:solidFill>
              <a:sym typeface="+mn-ea"/>
            </a:endParaRPr>
          </a:p>
          <a:p>
            <a:pPr>
              <a:lnSpc>
                <a:spcPct val="50000"/>
              </a:lnSpc>
            </a:pPr>
            <a:endParaRPr lang="en-US" altLang="zh-CN">
              <a:solidFill>
                <a:schemeClr val="tx1"/>
              </a:solidFill>
              <a:sym typeface="+mn-ea"/>
            </a:endParaRPr>
          </a:p>
          <a:p>
            <a:r>
              <a:rPr lang="en-US" altLang="zh-CN">
                <a:solidFill>
                  <a:schemeClr val="tx1"/>
                </a:solidFill>
                <a:sym typeface="+mn-ea"/>
              </a:rPr>
              <a:t>2</a:t>
            </a:r>
            <a:r>
              <a:rPr lang="zh-CN" altLang="en-US">
                <a:solidFill>
                  <a:schemeClr val="tx1"/>
                </a:solidFill>
                <a:sym typeface="+mn-ea"/>
              </a:rPr>
              <a:t>）样例</a:t>
            </a:r>
            <a:r>
              <a:rPr lang="en-US" altLang="zh-CN">
                <a:solidFill>
                  <a:schemeClr val="tx1"/>
                </a:solidFill>
                <a:sym typeface="+mn-ea"/>
              </a:rPr>
              <a:t>4</a:t>
            </a:r>
            <a:r>
              <a:rPr lang="zh-CN" altLang="en-US">
                <a:solidFill>
                  <a:schemeClr val="tx1"/>
                </a:solidFill>
                <a:sym typeface="+mn-ea"/>
              </a:rPr>
              <a:t>输入：</a:t>
            </a:r>
            <a:r>
              <a:rPr lang="en-US" altLang="zh-CN">
                <a:solidFill>
                  <a:schemeClr val="tx1"/>
                </a:solidFill>
                <a:sym typeface="+mn-ea"/>
              </a:rPr>
              <a:t>G</a:t>
            </a:r>
            <a:r>
              <a:rPr lang="zh-CN" altLang="en-US">
                <a:solidFill>
                  <a:schemeClr val="tx1"/>
                </a:solidFill>
                <a:sym typeface="+mn-ea"/>
              </a:rPr>
              <a:t>：</a:t>
            </a:r>
            <a:r>
              <a:rPr lang="en-US" altLang="zh-CN">
                <a:solidFill>
                  <a:schemeClr val="tx1"/>
                </a:solidFill>
                <a:sym typeface="+mn-ea"/>
              </a:rPr>
              <a:t>&lt;?,?,?,?,?,?&gt;</a:t>
            </a:r>
            <a:r>
              <a:rPr lang="zh-CN" altLang="en-US">
                <a:solidFill>
                  <a:schemeClr val="tx1"/>
                </a:solidFill>
                <a:sym typeface="+mn-ea"/>
              </a:rPr>
              <a:t>；</a:t>
            </a:r>
            <a:r>
              <a:rPr lang="en-US" altLang="zh-CN">
                <a:solidFill>
                  <a:schemeClr val="tx1"/>
                </a:solidFill>
                <a:sym typeface="+mn-ea"/>
              </a:rPr>
              <a:t>S</a:t>
            </a:r>
            <a:r>
              <a:rPr lang="zh-CN" altLang="en-US">
                <a:solidFill>
                  <a:schemeClr val="tx1"/>
                </a:solidFill>
                <a:sym typeface="+mn-ea"/>
              </a:rPr>
              <a:t>：</a:t>
            </a:r>
            <a:r>
              <a:rPr lang="en-US" altLang="zh-CN">
                <a:solidFill>
                  <a:schemeClr val="tx1"/>
                </a:solidFill>
                <a:sym typeface="+mn-ea"/>
              </a:rPr>
              <a:t>&lt;Sunny, Warm, High, Strong, Cool, Change&gt;</a:t>
            </a:r>
            <a:endParaRPr lang="en-US" altLang="zh-CN">
              <a:solidFill>
                <a:schemeClr val="tx1"/>
              </a:solidFill>
              <a:sym typeface="+mn-ea"/>
            </a:endParaRPr>
          </a:p>
          <a:p>
            <a:pPr>
              <a:lnSpc>
                <a:spcPct val="50000"/>
              </a:lnSpc>
            </a:pPr>
            <a:endParaRPr lang="en-US" altLang="zh-CN">
              <a:solidFill>
                <a:schemeClr val="tx1"/>
              </a:solidFill>
              <a:sym typeface="+mn-ea"/>
            </a:endParaRPr>
          </a:p>
          <a:p>
            <a:r>
              <a:rPr lang="en-US" altLang="zh-CN">
                <a:solidFill>
                  <a:schemeClr val="tx1"/>
                </a:solidFill>
                <a:sym typeface="+mn-ea"/>
              </a:rPr>
              <a:t>3</a:t>
            </a:r>
            <a:r>
              <a:rPr lang="zh-CN" altLang="en-US">
                <a:solidFill>
                  <a:schemeClr val="tx1"/>
                </a:solidFill>
                <a:sym typeface="+mn-ea"/>
              </a:rPr>
              <a:t>）样例</a:t>
            </a:r>
            <a:r>
              <a:rPr lang="en-US" altLang="zh-CN">
                <a:solidFill>
                  <a:schemeClr val="tx1"/>
                </a:solidFill>
                <a:sym typeface="+mn-ea"/>
              </a:rPr>
              <a:t>3</a:t>
            </a:r>
            <a:r>
              <a:rPr lang="zh-CN" altLang="en-US">
                <a:solidFill>
                  <a:schemeClr val="tx1"/>
                </a:solidFill>
                <a:sym typeface="+mn-ea"/>
              </a:rPr>
              <a:t>输入：</a:t>
            </a:r>
            <a:r>
              <a:rPr lang="en-US" altLang="zh-CN">
                <a:solidFill>
                  <a:schemeClr val="tx1"/>
                </a:solidFill>
                <a:sym typeface="+mn-ea"/>
              </a:rPr>
              <a:t>G</a:t>
            </a:r>
            <a:r>
              <a:rPr lang="zh-CN" altLang="en-US">
                <a:solidFill>
                  <a:schemeClr val="tx1"/>
                </a:solidFill>
                <a:sym typeface="+mn-ea"/>
              </a:rPr>
              <a:t>：</a:t>
            </a:r>
            <a:r>
              <a:rPr lang="en-US" altLang="zh-CN">
                <a:solidFill>
                  <a:schemeClr val="tx1"/>
                </a:solidFill>
                <a:sym typeface="+mn-ea"/>
              </a:rPr>
              <a:t>&lt;Sunny,?,?,?,?,?&gt; &lt;?,Warm,?,?,?,?&gt; &lt;?,?,?,?,Cool,?&gt;</a:t>
            </a:r>
            <a:r>
              <a:rPr lang="zh-CN" altLang="en-US">
                <a:solidFill>
                  <a:schemeClr val="tx1"/>
                </a:solidFill>
                <a:sym typeface="+mn-ea"/>
              </a:rPr>
              <a:t>；</a:t>
            </a:r>
            <a:r>
              <a:rPr lang="en-US" altLang="zh-CN">
                <a:solidFill>
                  <a:schemeClr val="tx1"/>
                </a:solidFill>
                <a:sym typeface="+mn-ea"/>
              </a:rPr>
              <a:t>S</a:t>
            </a:r>
            <a:r>
              <a:rPr lang="zh-CN" altLang="en-US">
                <a:solidFill>
                  <a:schemeClr val="tx1"/>
                </a:solidFill>
                <a:sym typeface="+mn-ea"/>
              </a:rPr>
              <a:t>：</a:t>
            </a:r>
            <a:r>
              <a:rPr lang="en-US" altLang="zh-CN">
                <a:solidFill>
                  <a:schemeClr val="tx1"/>
                </a:solidFill>
                <a:sym typeface="+mn-ea"/>
              </a:rPr>
              <a:t>&lt;Sunny, Warm, High, Strong, Cool, Change&gt;</a:t>
            </a:r>
            <a:endParaRPr lang="en-US" altLang="zh-CN">
              <a:solidFill>
                <a:schemeClr val="tx1"/>
              </a:solidFill>
              <a:sym typeface="+mn-ea"/>
            </a:endParaRPr>
          </a:p>
          <a:p>
            <a:pPr>
              <a:lnSpc>
                <a:spcPct val="50000"/>
              </a:lnSpc>
            </a:pPr>
            <a:endParaRPr lang="en-US" altLang="zh-CN">
              <a:solidFill>
                <a:schemeClr val="tx1"/>
              </a:solidFill>
              <a:sym typeface="+mn-ea"/>
            </a:endParaRPr>
          </a:p>
          <a:p>
            <a:r>
              <a:rPr lang="en-US" altLang="zh-CN">
                <a:solidFill>
                  <a:schemeClr val="tx1"/>
                </a:solidFill>
                <a:sym typeface="+mn-ea"/>
              </a:rPr>
              <a:t>4</a:t>
            </a:r>
            <a:r>
              <a:rPr lang="zh-CN" altLang="en-US">
                <a:solidFill>
                  <a:schemeClr val="tx1"/>
                </a:solidFill>
                <a:sym typeface="+mn-ea"/>
              </a:rPr>
              <a:t>）样例</a:t>
            </a:r>
            <a:r>
              <a:rPr lang="en-US" altLang="zh-CN">
                <a:solidFill>
                  <a:schemeClr val="tx1"/>
                </a:solidFill>
                <a:sym typeface="+mn-ea"/>
              </a:rPr>
              <a:t>2</a:t>
            </a:r>
            <a:r>
              <a:rPr lang="zh-CN" altLang="en-US">
                <a:solidFill>
                  <a:schemeClr val="tx1"/>
                </a:solidFill>
                <a:sym typeface="+mn-ea"/>
              </a:rPr>
              <a:t>输入：</a:t>
            </a:r>
            <a:r>
              <a:rPr lang="en-US" altLang="zh-CN">
                <a:solidFill>
                  <a:schemeClr val="tx1"/>
                </a:solidFill>
                <a:sym typeface="+mn-ea"/>
              </a:rPr>
              <a:t>G</a:t>
            </a:r>
            <a:r>
              <a:rPr lang="zh-CN" altLang="en-US">
                <a:solidFill>
                  <a:schemeClr val="tx1"/>
                </a:solidFill>
                <a:sym typeface="+mn-ea"/>
              </a:rPr>
              <a:t>：</a:t>
            </a:r>
            <a:r>
              <a:rPr lang="en-US" altLang="zh-CN">
                <a:solidFill>
                  <a:schemeClr val="tx1"/>
                </a:solidFill>
                <a:sym typeface="+mn-ea"/>
              </a:rPr>
              <a:t>&lt;Sunny,?,?,?,?,?&gt; &lt;?,Warm,?,?,?,?&gt;</a:t>
            </a:r>
            <a:r>
              <a:rPr lang="zh-CN" altLang="en-US">
                <a:solidFill>
                  <a:schemeClr val="tx1"/>
                </a:solidFill>
                <a:sym typeface="+mn-ea"/>
              </a:rPr>
              <a:t>；</a:t>
            </a:r>
            <a:r>
              <a:rPr lang="en-US" altLang="zh-CN">
                <a:solidFill>
                  <a:schemeClr val="tx1"/>
                </a:solidFill>
                <a:sym typeface="+mn-ea"/>
              </a:rPr>
              <a:t>S</a:t>
            </a:r>
            <a:r>
              <a:rPr lang="zh-CN" altLang="en-US">
                <a:solidFill>
                  <a:schemeClr val="tx1"/>
                </a:solidFill>
                <a:sym typeface="+mn-ea"/>
              </a:rPr>
              <a:t>：</a:t>
            </a:r>
            <a:r>
              <a:rPr lang="en-US" altLang="zh-CN">
                <a:solidFill>
                  <a:schemeClr val="tx1"/>
                </a:solidFill>
                <a:sym typeface="+mn-ea"/>
              </a:rPr>
              <a:t>&lt;Sunny, Warm, High, Strong, ?, ?&gt;</a:t>
            </a:r>
            <a:endParaRPr lang="en-US" altLang="zh-CN">
              <a:solidFill>
                <a:schemeClr val="tx1"/>
              </a:solidFill>
              <a:sym typeface="+mn-ea"/>
            </a:endParaRPr>
          </a:p>
          <a:p>
            <a:pPr>
              <a:lnSpc>
                <a:spcPct val="50000"/>
              </a:lnSpc>
            </a:pPr>
            <a:endParaRPr lang="en-US" altLang="zh-CN">
              <a:solidFill>
                <a:schemeClr val="tx1"/>
              </a:solidFill>
              <a:sym typeface="+mn-ea"/>
            </a:endParaRPr>
          </a:p>
          <a:p>
            <a:r>
              <a:rPr lang="en-US" altLang="zh-CN">
                <a:solidFill>
                  <a:schemeClr val="tx1"/>
                </a:solidFill>
                <a:sym typeface="+mn-ea"/>
              </a:rPr>
              <a:t>5</a:t>
            </a:r>
            <a:r>
              <a:rPr lang="zh-CN" altLang="en-US">
                <a:solidFill>
                  <a:schemeClr val="tx1"/>
                </a:solidFill>
                <a:sym typeface="+mn-ea"/>
              </a:rPr>
              <a:t>）样例</a:t>
            </a:r>
            <a:r>
              <a:rPr lang="en-US" altLang="zh-CN">
                <a:solidFill>
                  <a:schemeClr val="tx1"/>
                </a:solidFill>
                <a:sym typeface="+mn-ea"/>
              </a:rPr>
              <a:t>1</a:t>
            </a:r>
            <a:r>
              <a:rPr lang="zh-CN" altLang="en-US">
                <a:solidFill>
                  <a:schemeClr val="tx1"/>
                </a:solidFill>
                <a:sym typeface="+mn-ea"/>
              </a:rPr>
              <a:t>输入：</a:t>
            </a:r>
            <a:r>
              <a:rPr lang="en-US" altLang="zh-CN">
                <a:solidFill>
                  <a:schemeClr val="tx1"/>
                </a:solidFill>
                <a:sym typeface="+mn-ea"/>
              </a:rPr>
              <a:t>G</a:t>
            </a:r>
            <a:r>
              <a:rPr lang="zh-CN" altLang="en-US">
                <a:solidFill>
                  <a:schemeClr val="tx1"/>
                </a:solidFill>
                <a:sym typeface="+mn-ea"/>
              </a:rPr>
              <a:t>：</a:t>
            </a:r>
            <a:r>
              <a:rPr lang="en-US" altLang="zh-CN">
                <a:solidFill>
                  <a:schemeClr val="tx1"/>
                </a:solidFill>
                <a:sym typeface="+mn-ea"/>
              </a:rPr>
              <a:t>&lt;Sunny,?,?,?,?,?&gt; &lt;?,Warm,?,?,?,?&gt;</a:t>
            </a:r>
            <a:r>
              <a:rPr lang="zh-CN" altLang="en-US">
                <a:solidFill>
                  <a:schemeClr val="tx1"/>
                </a:solidFill>
                <a:sym typeface="+mn-ea"/>
              </a:rPr>
              <a:t>；</a:t>
            </a:r>
            <a:r>
              <a:rPr lang="en-US" altLang="zh-CN">
                <a:solidFill>
                  <a:schemeClr val="tx1"/>
                </a:solidFill>
                <a:sym typeface="+mn-ea"/>
              </a:rPr>
              <a:t>S</a:t>
            </a:r>
            <a:r>
              <a:rPr lang="zh-CN" altLang="en-US">
                <a:solidFill>
                  <a:schemeClr val="tx1"/>
                </a:solidFill>
                <a:sym typeface="+mn-ea"/>
              </a:rPr>
              <a:t>：</a:t>
            </a:r>
            <a:r>
              <a:rPr lang="en-US" altLang="zh-CN">
                <a:solidFill>
                  <a:schemeClr val="tx1"/>
                </a:solidFill>
                <a:sym typeface="+mn-ea"/>
              </a:rPr>
              <a:t>&lt;Sunny, Warm,?, Strong, ?, ?&gt;</a:t>
            </a:r>
            <a:endParaRPr lang="en-US" altLang="zh-CN">
              <a:solidFill>
                <a:schemeClr val="tx1"/>
              </a:solidFill>
              <a:sym typeface="+mn-ea"/>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69042" y="460144"/>
            <a:ext cx="32400" cy="24603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3" name="矩形 2"/>
          <p:cNvSpPr/>
          <p:nvPr/>
        </p:nvSpPr>
        <p:spPr>
          <a:xfrm>
            <a:off x="269042" y="928018"/>
            <a:ext cx="11354540" cy="45719"/>
          </a:xfrm>
          <a:prstGeom prst="rect">
            <a:avLst/>
          </a:prstGeom>
          <a:solidFill>
            <a:schemeClr val="accent1"/>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dirty="0">
              <a:latin typeface="Times New Roman" panose="02020603050405020304" charset="0"/>
              <a:cs typeface="Times New Roman" panose="02020603050405020304" charset="0"/>
            </a:endParaRPr>
          </a:p>
        </p:txBody>
      </p:sp>
      <p:sp>
        <p:nvSpPr>
          <p:cNvPr id="6" name="文本框 5"/>
          <p:cNvSpPr txBox="1"/>
          <p:nvPr/>
        </p:nvSpPr>
        <p:spPr>
          <a:xfrm>
            <a:off x="419735" y="291465"/>
            <a:ext cx="8637905" cy="583565"/>
          </a:xfrm>
          <a:prstGeom prst="rect">
            <a:avLst/>
          </a:prstGeom>
          <a:noFill/>
        </p:spPr>
        <p:txBody>
          <a:bodyPr wrap="square" rtlCol="0">
            <a:spAutoFit/>
            <a:scene3d>
              <a:camera prst="orthographicFront"/>
              <a:lightRig rig="threePt" dir="t"/>
            </a:scene3d>
          </a:bodyPr>
          <a:lstStyle/>
          <a:p>
            <a:r>
              <a:rPr lang="zh-CN" altLang="en-US" sz="3200" b="1" spc="200" dirty="0">
                <a:solidFill>
                  <a:schemeClr val="accent1"/>
                </a:solidFill>
                <a:uFillTx/>
                <a:latin typeface="微软雅黑 Light" panose="020B0502040204020203" pitchFamily="34" charset="-122"/>
                <a:ea typeface="微软雅黑" panose="020B0503020204020204" charset="-122"/>
                <a:cs typeface="+mj-cs"/>
              </a:rPr>
              <a:t>思考题答案</a:t>
            </a:r>
            <a:endParaRPr lang="en-US" altLang="zh-CN" sz="3200" b="1" spc="200" dirty="0">
              <a:solidFill>
                <a:schemeClr val="accent1"/>
              </a:solidFill>
              <a:uFillTx/>
              <a:latin typeface="微软雅黑 Light" panose="020B0502040204020203" pitchFamily="34" charset="-122"/>
              <a:ea typeface="微软雅黑" panose="020B0503020204020204" charset="-122"/>
              <a:cs typeface="+mj-cs"/>
            </a:endParaRPr>
          </a:p>
        </p:txBody>
      </p:sp>
      <p:sp>
        <p:nvSpPr>
          <p:cNvPr id="4" name="文本框 3"/>
          <p:cNvSpPr txBox="1"/>
          <p:nvPr/>
        </p:nvSpPr>
        <p:spPr>
          <a:xfrm>
            <a:off x="1370330" y="1116965"/>
            <a:ext cx="4831715" cy="5292725"/>
          </a:xfrm>
          <a:prstGeom prst="rect">
            <a:avLst/>
          </a:prstGeom>
          <a:noFill/>
        </p:spPr>
        <p:txBody>
          <a:bodyPr wrap="square" rtlCol="0" anchor="t">
            <a:spAutoFit/>
          </a:bodyPr>
          <a:lstStyle/>
          <a:p>
            <a:r>
              <a:rPr lang="en-US" altLang="zh-CN" sz="1600">
                <a:solidFill>
                  <a:schemeClr val="tx1"/>
                </a:solidFill>
                <a:sym typeface="+mn-ea"/>
              </a:rPr>
              <a:t>Find-S</a:t>
            </a:r>
            <a:r>
              <a:rPr lang="zh-CN" altLang="en-US" sz="1400">
                <a:solidFill>
                  <a:schemeClr val="tx1"/>
                </a:solidFill>
                <a:sym typeface="+mn-ea"/>
              </a:rPr>
              <a:t>代码：</a:t>
            </a:r>
            <a:endParaRPr lang="zh-CN" altLang="en-US" sz="1400">
              <a:solidFill>
                <a:schemeClr val="tx1"/>
              </a:solidFill>
              <a:sym typeface="+mn-ea"/>
            </a:endParaRPr>
          </a:p>
          <a:p>
            <a:endParaRPr lang="zh-CN" altLang="en-US" sz="1400"/>
          </a:p>
          <a:p>
            <a:r>
              <a:rPr lang="zh-CN" altLang="en-US" sz="1400"/>
              <a:t>def find_s():      </a:t>
            </a:r>
            <a:endParaRPr lang="zh-CN" altLang="en-US" sz="1400"/>
          </a:p>
          <a:p>
            <a:r>
              <a:rPr lang="zh-CN" altLang="en-US" sz="1400"/>
              <a:t>        x1 = [ 'sunny', 'warm', 'nurmal', 'strong', 'warm', 'same' , 1 ]</a:t>
            </a:r>
            <a:endParaRPr lang="zh-CN" altLang="en-US" sz="1400"/>
          </a:p>
          <a:p>
            <a:r>
              <a:rPr lang="zh-CN" altLang="en-US" sz="1400"/>
              <a:t>        x2 = [ 'sunny', 'warm', 'high', 'strong', 'warm', 'same' , 1 ]</a:t>
            </a:r>
            <a:endParaRPr lang="zh-CN" altLang="en-US" sz="1400"/>
          </a:p>
          <a:p>
            <a:r>
              <a:rPr lang="zh-CN" altLang="en-US" sz="1400"/>
              <a:t>        x3 = [ 'rainy', 'cold', 'high', 'strong', 'warm', 'change', 0 ]</a:t>
            </a:r>
            <a:endParaRPr lang="zh-CN" altLang="en-US" sz="1400"/>
          </a:p>
          <a:p>
            <a:r>
              <a:rPr lang="zh-CN" altLang="en-US" sz="1400"/>
              <a:t>        x4 = [ 'sunny', 'warm', 'high', 'strong', 'cool', 'change', 1 ]</a:t>
            </a:r>
            <a:endParaRPr lang="zh-CN" altLang="en-US" sz="1400"/>
          </a:p>
          <a:p>
            <a:r>
              <a:rPr lang="zh-CN" altLang="en-US" sz="1400"/>
              <a:t>        h = [ None, None, None, None, None, None ]</a:t>
            </a:r>
            <a:endParaRPr lang="zh-CN" altLang="en-US" sz="1400"/>
          </a:p>
          <a:p>
            <a:r>
              <a:rPr lang="zh-CN" altLang="en-US" sz="1400"/>
              <a:t>        h1 = [ 'sunny', 'cold', 'high', 'strong', 'warm', 'change' ]</a:t>
            </a:r>
            <a:endParaRPr lang="zh-CN" altLang="en-US" sz="1400"/>
          </a:p>
          <a:p>
            <a:r>
              <a:rPr lang="zh-CN" altLang="en-US" sz="1400"/>
              <a:t>        xa = [ x1, x2, x3, x4 ]</a:t>
            </a:r>
            <a:endParaRPr lang="zh-CN" altLang="en-US" sz="1400"/>
          </a:p>
          <a:p>
            <a:r>
              <a:rPr lang="zh-CN" altLang="en-US" sz="1400"/>
              <a:t>        xb = [ x2, x3, x4, x1 ]</a:t>
            </a:r>
            <a:endParaRPr lang="zh-CN" altLang="en-US" sz="1400"/>
          </a:p>
          <a:p>
            <a:r>
              <a:rPr lang="zh-CN" altLang="en-US" sz="1400"/>
              <a:t>        for i in xb:</a:t>
            </a:r>
            <a:endParaRPr lang="zh-CN" altLang="en-US" sz="1400"/>
          </a:p>
          <a:p>
            <a:r>
              <a:rPr lang="zh-CN" altLang="en-US" sz="1400"/>
              <a:t>                if i[6] == 1:</a:t>
            </a:r>
            <a:endParaRPr lang="zh-CN" altLang="en-US" sz="1400"/>
          </a:p>
          <a:p>
            <a:r>
              <a:rPr lang="zh-CN" altLang="en-US" sz="1400"/>
              <a:t>                        index = 0</a:t>
            </a:r>
            <a:endParaRPr lang="zh-CN" altLang="en-US" sz="1400"/>
          </a:p>
          <a:p>
            <a:r>
              <a:rPr lang="zh-CN" altLang="en-US" sz="1400"/>
              <a:t>                        for j in i[ :-1 ]:</a:t>
            </a:r>
            <a:endParaRPr lang="zh-CN" altLang="en-US" sz="1400"/>
          </a:p>
          <a:p>
            <a:r>
              <a:rPr lang="zh-CN" altLang="en-US" sz="1400"/>
              <a:t>                                if ( h1[index] == None ):</a:t>
            </a:r>
            <a:endParaRPr lang="zh-CN" altLang="en-US" sz="1400"/>
          </a:p>
          <a:p>
            <a:r>
              <a:rPr lang="zh-CN" altLang="en-US" sz="1400"/>
              <a:t>                                        h1[index] = j</a:t>
            </a:r>
            <a:endParaRPr lang="zh-CN" altLang="en-US" sz="1400"/>
          </a:p>
          <a:p>
            <a:r>
              <a:rPr lang="zh-CN" altLang="en-US" sz="1400"/>
              <a:t>                                elif ( h1[index] != j ):</a:t>
            </a:r>
            <a:endParaRPr lang="zh-CN" altLang="en-US" sz="1400"/>
          </a:p>
          <a:p>
            <a:r>
              <a:rPr lang="zh-CN" altLang="en-US" sz="1400"/>
              <a:t>                                        h1[index] = '?'</a:t>
            </a:r>
            <a:endParaRPr lang="zh-CN" altLang="en-US" sz="1400"/>
          </a:p>
          <a:p>
            <a:r>
              <a:rPr lang="zh-CN" altLang="en-US" sz="1400"/>
              <a:t>                                index += 1</a:t>
            </a:r>
            <a:endParaRPr lang="zh-CN" altLang="en-US" sz="1400"/>
          </a:p>
          <a:p>
            <a:r>
              <a:rPr lang="zh-CN" altLang="en-US" sz="1400"/>
              <a:t>        for i in h1:</a:t>
            </a:r>
            <a:endParaRPr lang="zh-CN" altLang="en-US" sz="1400"/>
          </a:p>
          <a:p>
            <a:r>
              <a:rPr lang="zh-CN" altLang="en-US" sz="1400"/>
              <a:t>                print i</a:t>
            </a:r>
            <a:endParaRPr lang="zh-CN" altLang="en-US" sz="1400"/>
          </a:p>
          <a:p>
            <a:r>
              <a:rPr lang="zh-CN" altLang="en-US" sz="1400"/>
              <a:t>if __name__ == "__main__":</a:t>
            </a:r>
            <a:endParaRPr lang="zh-CN" altLang="en-US" sz="1400"/>
          </a:p>
          <a:p>
            <a:r>
              <a:rPr lang="zh-CN" altLang="en-US" sz="1400"/>
              <a:t>        find_s();</a:t>
            </a:r>
            <a:endParaRPr lang="zh-CN" altLang="en-US" sz="1400"/>
          </a:p>
        </p:txBody>
      </p:sp>
      <p:sp>
        <p:nvSpPr>
          <p:cNvPr id="7" name="文本框 6"/>
          <p:cNvSpPr txBox="1"/>
          <p:nvPr/>
        </p:nvSpPr>
        <p:spPr>
          <a:xfrm>
            <a:off x="269240" y="1087755"/>
            <a:ext cx="1050290" cy="368300"/>
          </a:xfrm>
          <a:prstGeom prst="rect">
            <a:avLst/>
          </a:prstGeom>
          <a:noFill/>
        </p:spPr>
        <p:txBody>
          <a:bodyPr wrap="square" rtlCol="0" anchor="t">
            <a:spAutoFit/>
          </a:bodyPr>
          <a:lstStyle/>
          <a:p>
            <a:r>
              <a:rPr lang="en-US" altLang="zh-CN" b="1">
                <a:solidFill>
                  <a:schemeClr val="tx1"/>
                </a:solidFill>
                <a:sym typeface="+mn-ea"/>
              </a:rPr>
              <a:t>2-3</a:t>
            </a:r>
            <a:r>
              <a:rPr lang="zh-CN" altLang="en-US" b="1">
                <a:solidFill>
                  <a:schemeClr val="tx1"/>
                </a:solidFill>
                <a:sym typeface="+mn-ea"/>
              </a:rPr>
              <a:t>答案：</a:t>
            </a:r>
            <a:endParaRPr lang="zh-CN" altLang="en-US" b="1">
              <a:solidFill>
                <a:schemeClr val="tx1"/>
              </a:solidFill>
              <a:sym typeface="+mn-ea"/>
            </a:endParaRPr>
          </a:p>
        </p:txBody>
      </p:sp>
    </p:spTree>
  </p:cSld>
  <p:clrMapOvr>
    <a:masterClrMapping/>
  </p:clrMapOvr>
</p:sld>
</file>

<file path=ppt/tags/tag1.xml><?xml version="1.0" encoding="utf-8"?>
<p:tagLst xmlns:p="http://schemas.openxmlformats.org/presentationml/2006/main">
  <p:tag name="KSO_WM_UNIT_PLACING_PICTURE_USER_VIEWPORT" val="{&quot;height&quot;:4080,&quot;width&quot;:9585}"/>
</p:tagLst>
</file>

<file path=ppt/tags/tag2.xml><?xml version="1.0" encoding="utf-8"?>
<p:tagLst xmlns:p="http://schemas.openxmlformats.org/presentationml/2006/main">
  <p:tag name="KSO_WM_UNIT_PLACING_PICTURE_USER_VIEWPORT" val="{&quot;height&quot;:8702.329133858268,&quot;width&quot;:10405.499212598424}"/>
</p:tagLst>
</file>

<file path=ppt/tags/tag3.xml><?xml version="1.0" encoding="utf-8"?>
<p:tagLst xmlns:p="http://schemas.openxmlformats.org/presentationml/2006/main">
  <p:tag name="KSO_WPP_MARK_KEY" val="ce225390-6514-4faa-84f2-e89cbf6ee03a"/>
  <p:tag name="COMMONDATA" val="eyJoZGlkIjoiZWVhYmRhZTIyMDlkYTBlYWEwMTNhN2ZhYWRhYjdkNGUifQ=="/>
  <p:tag name="commondata" val="eyJoZGlkIjoiNGZlOTEyN2FjOTYyM2RkZDFhMzc2OGZlNDc3OTZmYz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10855</Words>
  <Application>WPS 演示</Application>
  <PresentationFormat>宽屏</PresentationFormat>
  <Paragraphs>1111</Paragraphs>
  <Slides>55</Slides>
  <Notes>0</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55</vt:i4>
      </vt:variant>
    </vt:vector>
  </HeadingPairs>
  <TitlesOfParts>
    <vt:vector size="71" baseType="lpstr">
      <vt:lpstr>Arial</vt:lpstr>
      <vt:lpstr>宋体</vt:lpstr>
      <vt:lpstr>Wingdings</vt:lpstr>
      <vt:lpstr>黑体</vt:lpstr>
      <vt:lpstr>Times New Roman</vt:lpstr>
      <vt:lpstr>微软雅黑</vt:lpstr>
      <vt:lpstr>华文琥珀</vt:lpstr>
      <vt:lpstr>仿宋</vt:lpstr>
      <vt:lpstr>Calibri</vt:lpstr>
      <vt:lpstr>楷体</vt:lpstr>
      <vt:lpstr>Arial Unicode MS</vt:lpstr>
      <vt:lpstr>微软雅黑 Light</vt:lpstr>
      <vt:lpstr>Symbol</vt:lpstr>
      <vt:lpstr>Cambria Math</vt:lpstr>
      <vt:lpstr>Impact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本课程内容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王泽林</dc:creator>
  <cp:lastModifiedBy>周意尧</cp:lastModifiedBy>
  <cp:revision>172</cp:revision>
  <dcterms:created xsi:type="dcterms:W3CDTF">2022-04-13T13:21:00Z</dcterms:created>
  <dcterms:modified xsi:type="dcterms:W3CDTF">2025-01-08T06:05:14Z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B462288B34EB402DA6EF70CBA2B234F3</vt:lpwstr>
  </property>
  <property fmtid="{D5CDD505-2E9C-101B-9397-08002B2CF9AE}" pid="3" name="KSOProductBuildVer">
    <vt:lpwstr>2052-12.1.0.18276</vt:lpwstr>
  </property>
  <property fmtid="{D5CDD505-2E9C-101B-9397-08002B2CF9AE}" pid="4" name="commondata">
    <vt:lpwstr>eyJoZGlkIjoiNWRiN2EzOTIwNTFkMWRjYjlhM2M2MjEwMTAzOTAyMTAifQ==</vt:lpwstr>
  </property>
</Properties>
</file>