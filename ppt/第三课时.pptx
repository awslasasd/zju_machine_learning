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62"/>
  </p:notesMasterIdLst>
  <p:sldIdLst>
    <p:sldId id="715" r:id="rId5"/>
    <p:sldId id="526" r:id="rId6"/>
    <p:sldId id="450" r:id="rId7"/>
    <p:sldId id="488" r:id="rId8"/>
    <p:sldId id="257" r:id="rId9"/>
    <p:sldId id="566" r:id="rId10"/>
    <p:sldId id="658" r:id="rId11"/>
    <p:sldId id="390" r:id="rId12"/>
    <p:sldId id="425" r:id="rId13"/>
    <p:sldId id="604" r:id="rId14"/>
    <p:sldId id="605" r:id="rId15"/>
    <p:sldId id="606" r:id="rId16"/>
    <p:sldId id="607" r:id="rId17"/>
    <p:sldId id="659" r:id="rId18"/>
    <p:sldId id="391" r:id="rId19"/>
    <p:sldId id="392" r:id="rId20"/>
    <p:sldId id="393" r:id="rId21"/>
    <p:sldId id="394" r:id="rId22"/>
    <p:sldId id="395" r:id="rId23"/>
    <p:sldId id="397" r:id="rId24"/>
    <p:sldId id="661" r:id="rId25"/>
    <p:sldId id="662" r:id="rId26"/>
    <p:sldId id="663" r:id="rId27"/>
    <p:sldId id="660" r:id="rId28"/>
    <p:sldId id="651" r:id="rId29"/>
    <p:sldId id="652" r:id="rId30"/>
    <p:sldId id="653" r:id="rId31"/>
    <p:sldId id="654" r:id="rId32"/>
    <p:sldId id="655" r:id="rId33"/>
    <p:sldId id="656" r:id="rId34"/>
    <p:sldId id="664" r:id="rId35"/>
    <p:sldId id="402" r:id="rId36"/>
    <p:sldId id="426" r:id="rId37"/>
    <p:sldId id="427" r:id="rId38"/>
    <p:sldId id="428" r:id="rId39"/>
    <p:sldId id="429" r:id="rId40"/>
    <p:sldId id="430" r:id="rId41"/>
    <p:sldId id="431" r:id="rId42"/>
    <p:sldId id="665" r:id="rId43"/>
    <p:sldId id="435" r:id="rId44"/>
    <p:sldId id="436" r:id="rId45"/>
    <p:sldId id="437" r:id="rId46"/>
    <p:sldId id="666" r:id="rId47"/>
    <p:sldId id="438" r:id="rId48"/>
    <p:sldId id="439" r:id="rId49"/>
    <p:sldId id="667" r:id="rId50"/>
    <p:sldId id="440" r:id="rId51"/>
    <p:sldId id="668" r:id="rId52"/>
    <p:sldId id="342" r:id="rId53"/>
    <p:sldId id="441" r:id="rId54"/>
    <p:sldId id="708" r:id="rId55"/>
    <p:sldId id="442" r:id="rId56"/>
    <p:sldId id="444" r:id="rId57"/>
    <p:sldId id="669" r:id="rId58"/>
    <p:sldId id="424" r:id="rId59"/>
    <p:sldId id="451" r:id="rId60"/>
    <p:sldId id="714" r:id="rId61"/>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75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6" d="100"/>
          <a:sy n="66" d="100"/>
        </p:scale>
        <p:origin x="6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6" Type="http://schemas.openxmlformats.org/officeDocument/2006/relationships/tags" Target="tags/tag411.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notesMaster" Target="notesMasters/notesMaster1.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Master" Target="slideMasters/slideMaster3.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image" Target="../media/image2.pn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56C5361-566A-46FE-A7CF-1CDA67BCD706}" type="slidenum">
              <a:rPr lang="zh-CN" altLang="en-US" smtClean="0"/>
            </a:fld>
            <a:endParaRPr lang="zh-CN" altLang="en-US"/>
          </a:p>
        </p:txBody>
      </p:sp>
      <p:pic>
        <p:nvPicPr>
          <p:cNvPr id="10" name="图片 9"/>
          <p:cNvPicPr>
            <a:picLocks noChangeAspect="1"/>
          </p:cNvPicPr>
          <p:nvPr userDrawn="1">
            <p:custDataLst>
              <p:tags r:id="rId2"/>
            </p:custDataLst>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66994" y="214717"/>
            <a:ext cx="2243318" cy="734255"/>
          </a:xfrm>
          <a:prstGeom prst="rect">
            <a:avLst/>
          </a:prstGeom>
        </p:spPr>
      </p:pic>
      <p:sp>
        <p:nvSpPr>
          <p:cNvPr id="12" name="矩形 11"/>
          <p:cNvSpPr/>
          <p:nvPr userDrawn="1">
            <p:custDataLst>
              <p:tags r:id="rId4"/>
            </p:custDataLst>
          </p:nvPr>
        </p:nvSpPr>
        <p:spPr>
          <a:xfrm>
            <a:off x="418730" y="1005909"/>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13" name="矩形 12"/>
          <p:cNvSpPr/>
          <p:nvPr userDrawn="1">
            <p:custDataLst>
              <p:tags r:id="rId5"/>
            </p:custDataLst>
          </p:nvPr>
        </p:nvSpPr>
        <p:spPr>
          <a:xfrm>
            <a:off x="0" y="6258188"/>
            <a:ext cx="12192000" cy="599812"/>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pic>
        <p:nvPicPr>
          <p:cNvPr id="14" name="图片 13"/>
          <p:cNvPicPr>
            <a:picLocks noChangeAspect="1"/>
          </p:cNvPicPr>
          <p:nvPr userDrawn="1">
            <p:custDataLst>
              <p:tags r:id="rId6"/>
            </p:custDataLst>
          </p:nvPr>
        </p:nvPicPr>
        <p:blipFill>
          <a:blip r:embed="rId7">
            <a:clrChange>
              <a:clrFrom>
                <a:srgbClr val="003F88"/>
              </a:clrFrom>
              <a:clrTo>
                <a:srgbClr val="003F88">
                  <a:alpha val="0"/>
                </a:srgbClr>
              </a:clrTo>
            </a:clrChange>
          </a:blip>
          <a:stretch>
            <a:fillRect/>
          </a:stretch>
        </p:blipFill>
        <p:spPr>
          <a:xfrm>
            <a:off x="11259185" y="6204585"/>
            <a:ext cx="820420" cy="653415"/>
          </a:xfrm>
          <a:prstGeom prst="rect">
            <a:avLst/>
          </a:prstGeom>
          <a:noFill/>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979916B-711D-4B43-B90D-CCB90DF814B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56C5361-566A-46FE-A7CF-1CDA67BCD70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8" Type="http://schemas.openxmlformats.org/officeDocument/2006/relationships/theme" Target="../theme/theme3.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tags" Target="../tags/tag64.xml"/><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79916B-711D-4B43-B90D-CCB90DF814B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6C5361-566A-46FE-A7CF-1CDA67BCD70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image" Target="../media/image7.png"/><Relationship Id="rId1" Type="http://schemas.openxmlformats.org/officeDocument/2006/relationships/tags" Target="../tags/tag73.xml"/></Relationships>
</file>

<file path=ppt/slides/_rels/slide5.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9" Type="http://schemas.openxmlformats.org/officeDocument/2006/relationships/slideLayout" Target="../slideLayouts/slideLayout2.xml"/><Relationship Id="rId18" Type="http://schemas.openxmlformats.org/officeDocument/2006/relationships/tags" Target="../tags/tag95.xml"/><Relationship Id="rId17" Type="http://schemas.openxmlformats.org/officeDocument/2006/relationships/tags" Target="../tags/tag94.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8.xml"/></Relationships>
</file>

<file path=ppt/slides/_rels/slide6.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1" Type="http://schemas.openxmlformats.org/officeDocument/2006/relationships/slideLayout" Target="../slideLayouts/slideLayout2.xml"/><Relationship Id="rId40" Type="http://schemas.openxmlformats.org/officeDocument/2006/relationships/tags" Target="../tags/tag135.xml"/><Relationship Id="rId4" Type="http://schemas.openxmlformats.org/officeDocument/2006/relationships/tags" Target="../tags/tag99.xml"/><Relationship Id="rId39" Type="http://schemas.openxmlformats.org/officeDocument/2006/relationships/tags" Target="../tags/tag134.xml"/><Relationship Id="rId38" Type="http://schemas.openxmlformats.org/officeDocument/2006/relationships/tags" Target="../tags/tag133.xml"/><Relationship Id="rId37" Type="http://schemas.openxmlformats.org/officeDocument/2006/relationships/tags" Target="../tags/tag132.xml"/><Relationship Id="rId36" Type="http://schemas.openxmlformats.org/officeDocument/2006/relationships/tags" Target="../tags/tag131.xml"/><Relationship Id="rId35" Type="http://schemas.openxmlformats.org/officeDocument/2006/relationships/tags" Target="../tags/tag130.xml"/><Relationship Id="rId34" Type="http://schemas.openxmlformats.org/officeDocument/2006/relationships/tags" Target="../tags/tag129.xml"/><Relationship Id="rId33" Type="http://schemas.openxmlformats.org/officeDocument/2006/relationships/tags" Target="../tags/tag128.xml"/><Relationship Id="rId32" Type="http://schemas.openxmlformats.org/officeDocument/2006/relationships/tags" Target="../tags/tag127.xml"/><Relationship Id="rId31" Type="http://schemas.openxmlformats.org/officeDocument/2006/relationships/tags" Target="../tags/tag126.xml"/><Relationship Id="rId30" Type="http://schemas.openxmlformats.org/officeDocument/2006/relationships/tags" Target="../tags/tag125.xml"/><Relationship Id="rId3" Type="http://schemas.openxmlformats.org/officeDocument/2006/relationships/tags" Target="../tags/tag98.xml"/><Relationship Id="rId29" Type="http://schemas.openxmlformats.org/officeDocument/2006/relationships/tags" Target="../tags/tag124.xml"/><Relationship Id="rId28" Type="http://schemas.openxmlformats.org/officeDocument/2006/relationships/tags" Target="../tags/tag123.xml"/><Relationship Id="rId27" Type="http://schemas.openxmlformats.org/officeDocument/2006/relationships/tags" Target="../tags/tag122.xml"/><Relationship Id="rId26" Type="http://schemas.openxmlformats.org/officeDocument/2006/relationships/tags" Target="../tags/tag121.xml"/><Relationship Id="rId25" Type="http://schemas.openxmlformats.org/officeDocument/2006/relationships/tags" Target="../tags/tag120.xml"/><Relationship Id="rId24" Type="http://schemas.openxmlformats.org/officeDocument/2006/relationships/tags" Target="../tags/tag119.xml"/><Relationship Id="rId23" Type="http://schemas.openxmlformats.org/officeDocument/2006/relationships/tags" Target="../tags/tag118.xml"/><Relationship Id="rId22" Type="http://schemas.openxmlformats.org/officeDocument/2006/relationships/tags" Target="../tags/tag117.xml"/><Relationship Id="rId21" Type="http://schemas.openxmlformats.org/officeDocument/2006/relationships/tags" Target="../tags/tag116.xml"/><Relationship Id="rId20" Type="http://schemas.openxmlformats.org/officeDocument/2006/relationships/tags" Target="../tags/tag115.xml"/><Relationship Id="rId2" Type="http://schemas.openxmlformats.org/officeDocument/2006/relationships/tags" Target="../tags/tag97.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tags" Target="../tags/tag9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10.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5" Type="http://schemas.openxmlformats.org/officeDocument/2006/relationships/slideLayout" Target="../slideLayouts/slideLayout2.xml"/><Relationship Id="rId14" Type="http://schemas.openxmlformats.org/officeDocument/2006/relationships/tags" Target="../tags/tag161.xml"/><Relationship Id="rId13" Type="http://schemas.openxmlformats.org/officeDocument/2006/relationships/tags" Target="../tags/tag160.xml"/><Relationship Id="rId12" Type="http://schemas.openxmlformats.org/officeDocument/2006/relationships/tags" Target="../tags/tag159.xml"/><Relationship Id="rId11" Type="http://schemas.openxmlformats.org/officeDocument/2006/relationships/tags" Target="../tags/tag158.xml"/><Relationship Id="rId10" Type="http://schemas.openxmlformats.org/officeDocument/2006/relationships/tags" Target="../tags/tag157.xml"/><Relationship Id="rId1" Type="http://schemas.openxmlformats.org/officeDocument/2006/relationships/tags" Target="../tags/tag148.xml"/></Relationships>
</file>

<file path=ppt/slides/_rels/slide11.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tags" Target="../tags/tag169.xml"/><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3" Type="http://schemas.openxmlformats.org/officeDocument/2006/relationships/slideLayout" Target="../slideLayouts/slideLayout2.xml"/><Relationship Id="rId32" Type="http://schemas.openxmlformats.org/officeDocument/2006/relationships/tags" Target="../tags/tag193.xml"/><Relationship Id="rId31" Type="http://schemas.openxmlformats.org/officeDocument/2006/relationships/tags" Target="../tags/tag192.xml"/><Relationship Id="rId30" Type="http://schemas.openxmlformats.org/officeDocument/2006/relationships/tags" Target="../tags/tag191.xml"/><Relationship Id="rId3" Type="http://schemas.openxmlformats.org/officeDocument/2006/relationships/tags" Target="../tags/tag164.xml"/><Relationship Id="rId29" Type="http://schemas.openxmlformats.org/officeDocument/2006/relationships/tags" Target="../tags/tag190.xml"/><Relationship Id="rId28" Type="http://schemas.openxmlformats.org/officeDocument/2006/relationships/tags" Target="../tags/tag189.xml"/><Relationship Id="rId27" Type="http://schemas.openxmlformats.org/officeDocument/2006/relationships/tags" Target="../tags/tag188.xml"/><Relationship Id="rId26" Type="http://schemas.openxmlformats.org/officeDocument/2006/relationships/tags" Target="../tags/tag187.xml"/><Relationship Id="rId25" Type="http://schemas.openxmlformats.org/officeDocument/2006/relationships/tags" Target="../tags/tag186.xml"/><Relationship Id="rId24" Type="http://schemas.openxmlformats.org/officeDocument/2006/relationships/tags" Target="../tags/tag185.xml"/><Relationship Id="rId23" Type="http://schemas.openxmlformats.org/officeDocument/2006/relationships/tags" Target="../tags/tag184.xml"/><Relationship Id="rId22" Type="http://schemas.openxmlformats.org/officeDocument/2006/relationships/tags" Target="../tags/tag183.xml"/><Relationship Id="rId21" Type="http://schemas.openxmlformats.org/officeDocument/2006/relationships/tags" Target="../tags/tag182.xml"/><Relationship Id="rId20" Type="http://schemas.openxmlformats.org/officeDocument/2006/relationships/tags" Target="../tags/tag181.xml"/><Relationship Id="rId2" Type="http://schemas.openxmlformats.org/officeDocument/2006/relationships/tags" Target="../tags/tag163.xml"/><Relationship Id="rId19" Type="http://schemas.openxmlformats.org/officeDocument/2006/relationships/tags" Target="../tags/tag180.xml"/><Relationship Id="rId18" Type="http://schemas.openxmlformats.org/officeDocument/2006/relationships/tags" Target="../tags/tag179.xml"/><Relationship Id="rId17" Type="http://schemas.openxmlformats.org/officeDocument/2006/relationships/tags" Target="../tags/tag178.xml"/><Relationship Id="rId16" Type="http://schemas.openxmlformats.org/officeDocument/2006/relationships/tags" Target="../tags/tag177.xml"/><Relationship Id="rId15" Type="http://schemas.openxmlformats.org/officeDocument/2006/relationships/tags" Target="../tags/tag176.xml"/><Relationship Id="rId14" Type="http://schemas.openxmlformats.org/officeDocument/2006/relationships/tags" Target="../tags/tag175.xml"/><Relationship Id="rId13" Type="http://schemas.openxmlformats.org/officeDocument/2006/relationships/tags" Target="../tags/tag174.xml"/><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tags" Target="../tags/tag162.xml"/></Relationships>
</file>

<file path=ppt/slides/_rels/slide12.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3" Type="http://schemas.openxmlformats.org/officeDocument/2006/relationships/slideLayout" Target="../slideLayouts/slideLayout2.xml"/><Relationship Id="rId62" Type="http://schemas.openxmlformats.org/officeDocument/2006/relationships/tags" Target="../tags/tag255.xml"/><Relationship Id="rId61" Type="http://schemas.openxmlformats.org/officeDocument/2006/relationships/tags" Target="../tags/tag254.xml"/><Relationship Id="rId60" Type="http://schemas.openxmlformats.org/officeDocument/2006/relationships/tags" Target="../tags/tag253.xml"/><Relationship Id="rId6" Type="http://schemas.openxmlformats.org/officeDocument/2006/relationships/tags" Target="../tags/tag199.xml"/><Relationship Id="rId59" Type="http://schemas.openxmlformats.org/officeDocument/2006/relationships/tags" Target="../tags/tag252.xml"/><Relationship Id="rId58" Type="http://schemas.openxmlformats.org/officeDocument/2006/relationships/tags" Target="../tags/tag251.xml"/><Relationship Id="rId57" Type="http://schemas.openxmlformats.org/officeDocument/2006/relationships/tags" Target="../tags/tag250.xml"/><Relationship Id="rId56" Type="http://schemas.openxmlformats.org/officeDocument/2006/relationships/tags" Target="../tags/tag249.xml"/><Relationship Id="rId55" Type="http://schemas.openxmlformats.org/officeDocument/2006/relationships/tags" Target="../tags/tag248.xml"/><Relationship Id="rId54" Type="http://schemas.openxmlformats.org/officeDocument/2006/relationships/tags" Target="../tags/tag247.xml"/><Relationship Id="rId53" Type="http://schemas.openxmlformats.org/officeDocument/2006/relationships/tags" Target="../tags/tag246.xml"/><Relationship Id="rId52" Type="http://schemas.openxmlformats.org/officeDocument/2006/relationships/tags" Target="../tags/tag245.xml"/><Relationship Id="rId51" Type="http://schemas.openxmlformats.org/officeDocument/2006/relationships/tags" Target="../tags/tag244.xml"/><Relationship Id="rId50" Type="http://schemas.openxmlformats.org/officeDocument/2006/relationships/tags" Target="../tags/tag243.xml"/><Relationship Id="rId5" Type="http://schemas.openxmlformats.org/officeDocument/2006/relationships/tags" Target="../tags/tag198.xml"/><Relationship Id="rId49" Type="http://schemas.openxmlformats.org/officeDocument/2006/relationships/tags" Target="../tags/tag242.xml"/><Relationship Id="rId48" Type="http://schemas.openxmlformats.org/officeDocument/2006/relationships/tags" Target="../tags/tag241.xml"/><Relationship Id="rId47" Type="http://schemas.openxmlformats.org/officeDocument/2006/relationships/tags" Target="../tags/tag240.xml"/><Relationship Id="rId46" Type="http://schemas.openxmlformats.org/officeDocument/2006/relationships/tags" Target="../tags/tag239.xml"/><Relationship Id="rId45" Type="http://schemas.openxmlformats.org/officeDocument/2006/relationships/tags" Target="../tags/tag238.xml"/><Relationship Id="rId44" Type="http://schemas.openxmlformats.org/officeDocument/2006/relationships/tags" Target="../tags/tag237.xml"/><Relationship Id="rId43" Type="http://schemas.openxmlformats.org/officeDocument/2006/relationships/tags" Target="../tags/tag236.xml"/><Relationship Id="rId42" Type="http://schemas.openxmlformats.org/officeDocument/2006/relationships/tags" Target="../tags/tag235.xml"/><Relationship Id="rId41" Type="http://schemas.openxmlformats.org/officeDocument/2006/relationships/tags" Target="../tags/tag234.xml"/><Relationship Id="rId40" Type="http://schemas.openxmlformats.org/officeDocument/2006/relationships/tags" Target="../tags/tag233.xml"/><Relationship Id="rId4" Type="http://schemas.openxmlformats.org/officeDocument/2006/relationships/tags" Target="../tags/tag197.xml"/><Relationship Id="rId39" Type="http://schemas.openxmlformats.org/officeDocument/2006/relationships/tags" Target="../tags/tag232.xml"/><Relationship Id="rId38" Type="http://schemas.openxmlformats.org/officeDocument/2006/relationships/tags" Target="../tags/tag231.xml"/><Relationship Id="rId37" Type="http://schemas.openxmlformats.org/officeDocument/2006/relationships/tags" Target="../tags/tag230.xml"/><Relationship Id="rId36" Type="http://schemas.openxmlformats.org/officeDocument/2006/relationships/tags" Target="../tags/tag229.xml"/><Relationship Id="rId35" Type="http://schemas.openxmlformats.org/officeDocument/2006/relationships/tags" Target="../tags/tag228.xml"/><Relationship Id="rId34" Type="http://schemas.openxmlformats.org/officeDocument/2006/relationships/tags" Target="../tags/tag227.xml"/><Relationship Id="rId33" Type="http://schemas.openxmlformats.org/officeDocument/2006/relationships/tags" Target="../tags/tag226.xml"/><Relationship Id="rId32" Type="http://schemas.openxmlformats.org/officeDocument/2006/relationships/tags" Target="../tags/tag225.xml"/><Relationship Id="rId31" Type="http://schemas.openxmlformats.org/officeDocument/2006/relationships/tags" Target="../tags/tag224.xml"/><Relationship Id="rId30" Type="http://schemas.openxmlformats.org/officeDocument/2006/relationships/tags" Target="../tags/tag223.xml"/><Relationship Id="rId3" Type="http://schemas.openxmlformats.org/officeDocument/2006/relationships/tags" Target="../tags/tag196.xml"/><Relationship Id="rId29" Type="http://schemas.openxmlformats.org/officeDocument/2006/relationships/tags" Target="../tags/tag222.xml"/><Relationship Id="rId28" Type="http://schemas.openxmlformats.org/officeDocument/2006/relationships/tags" Target="../tags/tag221.xml"/><Relationship Id="rId27" Type="http://schemas.openxmlformats.org/officeDocument/2006/relationships/tags" Target="../tags/tag220.xml"/><Relationship Id="rId26" Type="http://schemas.openxmlformats.org/officeDocument/2006/relationships/tags" Target="../tags/tag219.xml"/><Relationship Id="rId25" Type="http://schemas.openxmlformats.org/officeDocument/2006/relationships/tags" Target="../tags/tag218.xml"/><Relationship Id="rId24" Type="http://schemas.openxmlformats.org/officeDocument/2006/relationships/tags" Target="../tags/tag217.xml"/><Relationship Id="rId23" Type="http://schemas.openxmlformats.org/officeDocument/2006/relationships/tags" Target="../tags/tag216.xml"/><Relationship Id="rId22" Type="http://schemas.openxmlformats.org/officeDocument/2006/relationships/tags" Target="../tags/tag215.xml"/><Relationship Id="rId21" Type="http://schemas.openxmlformats.org/officeDocument/2006/relationships/tags" Target="../tags/tag214.xml"/><Relationship Id="rId20" Type="http://schemas.openxmlformats.org/officeDocument/2006/relationships/tags" Target="../tags/tag213.xml"/><Relationship Id="rId2" Type="http://schemas.openxmlformats.org/officeDocument/2006/relationships/tags" Target="../tags/tag195.xml"/><Relationship Id="rId19" Type="http://schemas.openxmlformats.org/officeDocument/2006/relationships/tags" Target="../tags/tag212.xml"/><Relationship Id="rId18" Type="http://schemas.openxmlformats.org/officeDocument/2006/relationships/tags" Target="../tags/tag211.xml"/><Relationship Id="rId17" Type="http://schemas.openxmlformats.org/officeDocument/2006/relationships/tags" Target="../tags/tag210.xml"/><Relationship Id="rId16" Type="http://schemas.openxmlformats.org/officeDocument/2006/relationships/tags" Target="../tags/tag209.xml"/><Relationship Id="rId15" Type="http://schemas.openxmlformats.org/officeDocument/2006/relationships/tags" Target="../tags/tag208.xml"/><Relationship Id="rId14" Type="http://schemas.openxmlformats.org/officeDocument/2006/relationships/tags" Target="../tags/tag207.xml"/><Relationship Id="rId13" Type="http://schemas.openxmlformats.org/officeDocument/2006/relationships/tags" Target="../tags/tag206.xml"/><Relationship Id="rId12" Type="http://schemas.openxmlformats.org/officeDocument/2006/relationships/tags" Target="../tags/tag205.xml"/><Relationship Id="rId11" Type="http://schemas.openxmlformats.org/officeDocument/2006/relationships/tags" Target="../tags/tag204.xml"/><Relationship Id="rId10" Type="http://schemas.openxmlformats.org/officeDocument/2006/relationships/tags" Target="../tags/tag203.xml"/><Relationship Id="rId1" Type="http://schemas.openxmlformats.org/officeDocument/2006/relationships/tags" Target="../tags/tag194.xml"/></Relationships>
</file>

<file path=ppt/slides/_rels/slide13.xml.rels><?xml version="1.0" encoding="UTF-8" standalone="yes"?>
<Relationships xmlns="http://schemas.openxmlformats.org/package/2006/relationships"><Relationship Id="rId9" Type="http://schemas.openxmlformats.org/officeDocument/2006/relationships/tags" Target="../tags/tag264.xml"/><Relationship Id="rId8" Type="http://schemas.openxmlformats.org/officeDocument/2006/relationships/tags" Target="../tags/tag263.xml"/><Relationship Id="rId7" Type="http://schemas.openxmlformats.org/officeDocument/2006/relationships/tags" Target="../tags/tag262.xml"/><Relationship Id="rId6" Type="http://schemas.openxmlformats.org/officeDocument/2006/relationships/tags" Target="../tags/tag261.xml"/><Relationship Id="rId5" Type="http://schemas.openxmlformats.org/officeDocument/2006/relationships/tags" Target="../tags/tag260.xml"/><Relationship Id="rId44" Type="http://schemas.openxmlformats.org/officeDocument/2006/relationships/slideLayout" Target="../slideLayouts/slideLayout2.xml"/><Relationship Id="rId43" Type="http://schemas.openxmlformats.org/officeDocument/2006/relationships/tags" Target="../tags/tag298.xml"/><Relationship Id="rId42" Type="http://schemas.openxmlformats.org/officeDocument/2006/relationships/tags" Target="../tags/tag297.xml"/><Relationship Id="rId41" Type="http://schemas.openxmlformats.org/officeDocument/2006/relationships/tags" Target="../tags/tag296.xml"/><Relationship Id="rId40" Type="http://schemas.openxmlformats.org/officeDocument/2006/relationships/tags" Target="../tags/tag295.xml"/><Relationship Id="rId4" Type="http://schemas.openxmlformats.org/officeDocument/2006/relationships/tags" Target="../tags/tag259.xml"/><Relationship Id="rId39" Type="http://schemas.openxmlformats.org/officeDocument/2006/relationships/tags" Target="../tags/tag294.xml"/><Relationship Id="rId38" Type="http://schemas.openxmlformats.org/officeDocument/2006/relationships/tags" Target="../tags/tag293.xml"/><Relationship Id="rId37" Type="http://schemas.openxmlformats.org/officeDocument/2006/relationships/tags" Target="../tags/tag292.xml"/><Relationship Id="rId36" Type="http://schemas.openxmlformats.org/officeDocument/2006/relationships/tags" Target="../tags/tag291.xml"/><Relationship Id="rId35" Type="http://schemas.openxmlformats.org/officeDocument/2006/relationships/tags" Target="../tags/tag290.xml"/><Relationship Id="rId34" Type="http://schemas.openxmlformats.org/officeDocument/2006/relationships/tags" Target="../tags/tag289.xml"/><Relationship Id="rId33" Type="http://schemas.openxmlformats.org/officeDocument/2006/relationships/tags" Target="../tags/tag288.xml"/><Relationship Id="rId32" Type="http://schemas.openxmlformats.org/officeDocument/2006/relationships/tags" Target="../tags/tag287.xml"/><Relationship Id="rId31" Type="http://schemas.openxmlformats.org/officeDocument/2006/relationships/tags" Target="../tags/tag286.xml"/><Relationship Id="rId30" Type="http://schemas.openxmlformats.org/officeDocument/2006/relationships/tags" Target="../tags/tag285.xml"/><Relationship Id="rId3" Type="http://schemas.openxmlformats.org/officeDocument/2006/relationships/tags" Target="../tags/tag258.xml"/><Relationship Id="rId29" Type="http://schemas.openxmlformats.org/officeDocument/2006/relationships/tags" Target="../tags/tag284.xml"/><Relationship Id="rId28" Type="http://schemas.openxmlformats.org/officeDocument/2006/relationships/tags" Target="../tags/tag283.xml"/><Relationship Id="rId27" Type="http://schemas.openxmlformats.org/officeDocument/2006/relationships/tags" Target="../tags/tag282.xml"/><Relationship Id="rId26" Type="http://schemas.openxmlformats.org/officeDocument/2006/relationships/tags" Target="../tags/tag281.xml"/><Relationship Id="rId25" Type="http://schemas.openxmlformats.org/officeDocument/2006/relationships/tags" Target="../tags/tag280.xml"/><Relationship Id="rId24" Type="http://schemas.openxmlformats.org/officeDocument/2006/relationships/tags" Target="../tags/tag279.xml"/><Relationship Id="rId23" Type="http://schemas.openxmlformats.org/officeDocument/2006/relationships/tags" Target="../tags/tag278.xml"/><Relationship Id="rId22" Type="http://schemas.openxmlformats.org/officeDocument/2006/relationships/tags" Target="../tags/tag277.xml"/><Relationship Id="rId21" Type="http://schemas.openxmlformats.org/officeDocument/2006/relationships/tags" Target="../tags/tag276.xml"/><Relationship Id="rId20" Type="http://schemas.openxmlformats.org/officeDocument/2006/relationships/tags" Target="../tags/tag275.xml"/><Relationship Id="rId2" Type="http://schemas.openxmlformats.org/officeDocument/2006/relationships/tags" Target="../tags/tag257.xml"/><Relationship Id="rId19" Type="http://schemas.openxmlformats.org/officeDocument/2006/relationships/tags" Target="../tags/tag274.xml"/><Relationship Id="rId18" Type="http://schemas.openxmlformats.org/officeDocument/2006/relationships/tags" Target="../tags/tag273.xml"/><Relationship Id="rId17" Type="http://schemas.openxmlformats.org/officeDocument/2006/relationships/tags" Target="../tags/tag272.xml"/><Relationship Id="rId16" Type="http://schemas.openxmlformats.org/officeDocument/2006/relationships/tags" Target="../tags/tag271.xml"/><Relationship Id="rId15" Type="http://schemas.openxmlformats.org/officeDocument/2006/relationships/tags" Target="../tags/tag270.xml"/><Relationship Id="rId14" Type="http://schemas.openxmlformats.org/officeDocument/2006/relationships/tags" Target="../tags/tag269.xml"/><Relationship Id="rId13" Type="http://schemas.openxmlformats.org/officeDocument/2006/relationships/tags" Target="../tags/tag268.xml"/><Relationship Id="rId12" Type="http://schemas.openxmlformats.org/officeDocument/2006/relationships/tags" Target="../tags/tag267.xml"/><Relationship Id="rId11" Type="http://schemas.openxmlformats.org/officeDocument/2006/relationships/tags" Target="../tags/tag266.xml"/><Relationship Id="rId10" Type="http://schemas.openxmlformats.org/officeDocument/2006/relationships/tags" Target="../tags/tag265.xml"/><Relationship Id="rId1" Type="http://schemas.openxmlformats.org/officeDocument/2006/relationships/tags" Target="../tags/tag25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08.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image" Target="../media/image15.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26.xml"/><Relationship Id="rId5" Type="http://schemas.openxmlformats.org/officeDocument/2006/relationships/tags" Target="../tags/tag325.xml"/><Relationship Id="rId4" Type="http://schemas.openxmlformats.org/officeDocument/2006/relationships/tags" Target="../tags/tag324.xml"/><Relationship Id="rId3"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 Type="http://schemas.openxmlformats.org/officeDocument/2006/relationships/tags" Target="../tags/tag327.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33.xml"/><Relationship Id="rId2" Type="http://schemas.openxmlformats.org/officeDocument/2006/relationships/tags" Target="../tags/tag332.xml"/><Relationship Id="rId1" Type="http://schemas.openxmlformats.org/officeDocument/2006/relationships/tags" Target="../tags/tag331.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tags" Target="../tags/tag337.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42.xml"/><Relationship Id="rId2" Type="http://schemas.openxmlformats.org/officeDocument/2006/relationships/tags" Target="../tags/tag341.xml"/><Relationship Id="rId1" Type="http://schemas.openxmlformats.org/officeDocument/2006/relationships/tags" Target="../tags/tag340.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45.xml"/><Relationship Id="rId2" Type="http://schemas.openxmlformats.org/officeDocument/2006/relationships/tags" Target="../tags/tag344.xml"/><Relationship Id="rId1" Type="http://schemas.openxmlformats.org/officeDocument/2006/relationships/tags" Target="../tags/tag34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tags" Target="../tags/tag346.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51.xml"/><Relationship Id="rId2" Type="http://schemas.openxmlformats.org/officeDocument/2006/relationships/tags" Target="../tags/tag350.xml"/><Relationship Id="rId1" Type="http://schemas.openxmlformats.org/officeDocument/2006/relationships/tags" Target="../tags/tag349.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54.xml"/><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57.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image" Target="../media/image25.png"/><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0.xml"/><Relationship Id="rId2" Type="http://schemas.openxmlformats.org/officeDocument/2006/relationships/tags" Target="../tags/tag359.xml"/><Relationship Id="rId1" Type="http://schemas.openxmlformats.org/officeDocument/2006/relationships/tags" Target="../tags/tag358.xml"/></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64.xml"/><Relationship Id="rId5" Type="http://schemas.openxmlformats.org/officeDocument/2006/relationships/tags" Target="../tags/tag363.xml"/><Relationship Id="rId4" Type="http://schemas.openxmlformats.org/officeDocument/2006/relationships/tags" Target="../tags/tag362.xml"/><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tags" Target="../tags/tag361.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7.xml"/><Relationship Id="rId2" Type="http://schemas.openxmlformats.org/officeDocument/2006/relationships/tags" Target="../tags/tag366.xml"/><Relationship Id="rId1" Type="http://schemas.openxmlformats.org/officeDocument/2006/relationships/tags" Target="../tags/tag36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370.xml"/><Relationship Id="rId6" Type="http://schemas.openxmlformats.org/officeDocument/2006/relationships/tags" Target="../tags/tag369.xml"/><Relationship Id="rId5" Type="http://schemas.openxmlformats.org/officeDocument/2006/relationships/tags" Target="../tags/tag368.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73.xml"/><Relationship Id="rId3" Type="http://schemas.openxmlformats.org/officeDocument/2006/relationships/tags" Target="../tags/tag372.xml"/><Relationship Id="rId2" Type="http://schemas.openxmlformats.org/officeDocument/2006/relationships/tags" Target="../tags/tag371.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79.xml"/><Relationship Id="rId3" Type="http://schemas.openxmlformats.org/officeDocument/2006/relationships/tags" Target="../tags/tag378.xml"/><Relationship Id="rId2" Type="http://schemas.openxmlformats.org/officeDocument/2006/relationships/tags" Target="../tags/tag377.xml"/><Relationship Id="rId1" Type="http://schemas.openxmlformats.org/officeDocument/2006/relationships/image" Target="../media/image33.jpeg"/></Relationships>
</file>

<file path=ppt/slides/_rels/slide4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tags" Target="../tags/tag380.xml"/><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85.xml"/><Relationship Id="rId2" Type="http://schemas.openxmlformats.org/officeDocument/2006/relationships/tags" Target="../tags/tag384.xml"/><Relationship Id="rId1" Type="http://schemas.openxmlformats.org/officeDocument/2006/relationships/tags" Target="../tags/tag38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88.xml"/><Relationship Id="rId3" Type="http://schemas.openxmlformats.org/officeDocument/2006/relationships/tags" Target="../tags/tag387.xml"/><Relationship Id="rId2" Type="http://schemas.openxmlformats.org/officeDocument/2006/relationships/tags" Target="../tags/tag386.xml"/><Relationship Id="rId1" Type="http://schemas.openxmlformats.org/officeDocument/2006/relationships/image" Target="../media/image37.png"/></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91.xml"/><Relationship Id="rId3" Type="http://schemas.openxmlformats.org/officeDocument/2006/relationships/tags" Target="../tags/tag390.xml"/><Relationship Id="rId2" Type="http://schemas.openxmlformats.org/officeDocument/2006/relationships/tags" Target="../tags/tag389.xml"/><Relationship Id="rId1" Type="http://schemas.openxmlformats.org/officeDocument/2006/relationships/image" Target="../media/image38.jpeg"/></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9.jpeg"/><Relationship Id="rId3" Type="http://schemas.openxmlformats.org/officeDocument/2006/relationships/tags" Target="../tags/tag394.xml"/><Relationship Id="rId2" Type="http://schemas.openxmlformats.org/officeDocument/2006/relationships/tags" Target="../tags/tag393.xml"/><Relationship Id="rId1" Type="http://schemas.openxmlformats.org/officeDocument/2006/relationships/tags" Target="../tags/tag392.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98.xml"/><Relationship Id="rId4" Type="http://schemas.openxmlformats.org/officeDocument/2006/relationships/tags" Target="../tags/tag397.xml"/><Relationship Id="rId3" Type="http://schemas.openxmlformats.org/officeDocument/2006/relationships/tags" Target="../tags/tag396.xml"/><Relationship Id="rId2" Type="http://schemas.openxmlformats.org/officeDocument/2006/relationships/image" Target="../media/image40.png"/><Relationship Id="rId1" Type="http://schemas.openxmlformats.org/officeDocument/2006/relationships/tags" Target="../tags/tag395.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tags" Target="../tags/tag39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04.xml"/><Relationship Id="rId2" Type="http://schemas.openxmlformats.org/officeDocument/2006/relationships/tags" Target="../tags/tag403.xml"/><Relationship Id="rId1" Type="http://schemas.openxmlformats.org/officeDocument/2006/relationships/tags" Target="../tags/tag402.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07.xml"/><Relationship Id="rId2" Type="http://schemas.openxmlformats.org/officeDocument/2006/relationships/tags" Target="../tags/tag406.xml"/><Relationship Id="rId1" Type="http://schemas.openxmlformats.org/officeDocument/2006/relationships/tags" Target="../tags/tag405.xml"/></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1.png"/><Relationship Id="rId3" Type="http://schemas.openxmlformats.org/officeDocument/2006/relationships/tags" Target="../tags/tag410.xml"/><Relationship Id="rId2" Type="http://schemas.openxmlformats.org/officeDocument/2006/relationships/tags" Target="../tags/tag409.xml"/><Relationship Id="rId1" Type="http://schemas.openxmlformats.org/officeDocument/2006/relationships/tags" Target="../tags/tag4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封面背景"/>
          <p:cNvPicPr>
            <a:picLocks noChangeAspect="1"/>
          </p:cNvPicPr>
          <p:nvPr/>
        </p:nvPicPr>
        <p:blipFill>
          <a:blip r:embed="rId1"/>
          <a:stretch>
            <a:fillRect/>
          </a:stretch>
        </p:blipFill>
        <p:spPr>
          <a:xfrm>
            <a:off x="9041450" y="3777941"/>
            <a:ext cx="3083698" cy="2840509"/>
          </a:xfrm>
          <a:prstGeom prst="rect">
            <a:avLst/>
          </a:prstGeom>
        </p:spPr>
      </p:pic>
      <p:pic>
        <p:nvPicPr>
          <p:cNvPr id="6" name="图片 5" descr="AI"/>
          <p:cNvPicPr>
            <a:picLocks noChangeAspect="1"/>
          </p:cNvPicPr>
          <p:nvPr/>
        </p:nvPicPr>
        <p:blipFill>
          <a:blip r:embed="rId2"/>
          <a:stretch>
            <a:fillRect/>
          </a:stretch>
        </p:blipFill>
        <p:spPr>
          <a:xfrm>
            <a:off x="0" y="658027"/>
            <a:ext cx="4818380" cy="3021330"/>
          </a:xfrm>
          <a:prstGeom prst="rect">
            <a:avLst/>
          </a:prstGeom>
        </p:spPr>
      </p:pic>
      <p:sp>
        <p:nvSpPr>
          <p:cNvPr id="7" name="矩形 6"/>
          <p:cNvSpPr/>
          <p:nvPr/>
        </p:nvSpPr>
        <p:spPr>
          <a:xfrm>
            <a:off x="4991201" y="4172834"/>
            <a:ext cx="6096000" cy="2214880"/>
          </a:xfrm>
          <a:prstGeom prst="rect">
            <a:avLst/>
          </a:prstGeom>
        </p:spPr>
        <p:txBody>
          <a:bodyPr>
            <a:spAutoFit/>
          </a:bodyPr>
          <a:lstStyle/>
          <a:p>
            <a:pPr lvl="1">
              <a:lnSpc>
                <a:spcPct val="150000"/>
              </a:lnSpc>
            </a:pPr>
            <a:r>
              <a:rPr lang="zh-CN" altLang="en-US" sz="3600" b="1" dirty="0">
                <a:latin typeface="黑体" panose="02010609060101010101" charset="-122"/>
                <a:ea typeface="黑体" panose="02010609060101010101" charset="-122"/>
                <a:cs typeface="Times New Roman" panose="02020603050405020304" charset="0"/>
              </a:rPr>
              <a:t>周建光</a:t>
            </a:r>
            <a:endParaRPr lang="en-US" altLang="zh-CN" sz="3600" b="1" dirty="0">
              <a:latin typeface="黑体" panose="02010609060101010101" charset="-122"/>
              <a:ea typeface="黑体" panose="02010609060101010101" charset="-122"/>
              <a:cs typeface="Times New Roman" panose="02020603050405020304" charset="0"/>
            </a:endParaRPr>
          </a:p>
          <a:p>
            <a:pPr lvl="1">
              <a:lnSpc>
                <a:spcPct val="150000"/>
              </a:lnSpc>
            </a:pPr>
            <a:r>
              <a:rPr lang="en-US" altLang="zh-CN" sz="2800" b="1" dirty="0" err="1">
                <a:latin typeface="Times New Roman" panose="02020603050405020304" charset="0"/>
                <a:cs typeface="Times New Roman" panose="02020603050405020304" charset="0"/>
              </a:rPr>
              <a:t>jgzhou</a:t>
            </a:r>
            <a:r>
              <a:rPr lang="zh-CN" altLang="en-US" sz="2800" b="1" dirty="0">
                <a:latin typeface="Times New Roman" panose="02020603050405020304" charset="0"/>
                <a:cs typeface="Times New Roman" panose="02020603050405020304" charset="0"/>
              </a:rPr>
              <a:t>@zju.edu.cn 		</a:t>
            </a:r>
            <a:endParaRPr lang="zh-CN" altLang="en-US" sz="2800" b="1" dirty="0">
              <a:latin typeface="Times New Roman" panose="02020603050405020304" charset="0"/>
              <a:cs typeface="Times New Roman" panose="02020603050405020304" charset="0"/>
            </a:endParaRPr>
          </a:p>
          <a:p>
            <a:pPr lvl="1">
              <a:lnSpc>
                <a:spcPct val="150000"/>
              </a:lnSpc>
            </a:pPr>
            <a:r>
              <a:rPr lang="en-US" altLang="zh-CN" sz="2800" b="1" dirty="0">
                <a:latin typeface="Times New Roman" panose="02020603050405020304" charset="0"/>
                <a:cs typeface="Times New Roman" panose="02020603050405020304" charset="0"/>
              </a:rPr>
              <a:t>15988109537</a:t>
            </a:r>
            <a:endParaRPr lang="zh-CN" altLang="en-US" sz="2800" b="1" kern="0" dirty="0">
              <a:solidFill>
                <a:srgbClr val="0000FF"/>
              </a:solidFill>
              <a:latin typeface="微软雅黑" panose="020B0503020204020204" charset="-122"/>
              <a:ea typeface="微软雅黑" panose="020B0503020204020204" charset="-122"/>
            </a:endParaRPr>
          </a:p>
        </p:txBody>
      </p:sp>
      <p:sp>
        <p:nvSpPr>
          <p:cNvPr id="8" name="文本框 7"/>
          <p:cNvSpPr txBox="1"/>
          <p:nvPr/>
        </p:nvSpPr>
        <p:spPr>
          <a:xfrm>
            <a:off x="4818380" y="2000543"/>
            <a:ext cx="7200900" cy="1015663"/>
          </a:xfrm>
          <a:prstGeom prst="rect">
            <a:avLst/>
          </a:prstGeom>
          <a:noFill/>
        </p:spPr>
        <p:txBody>
          <a:bodyPr wrap="square" rtlCol="0">
            <a:spAutoFit/>
          </a:bodyPr>
          <a:lstStyle/>
          <a:p>
            <a:pPr algn="ctr"/>
            <a:r>
              <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rPr>
              <a:t>人工智能与机器学习</a:t>
            </a:r>
            <a:endPar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endParaRPr>
          </a:p>
        </p:txBody>
      </p:sp>
      <p:pic>
        <p:nvPicPr>
          <p:cNvPr id="9"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43211"/>
            <a:ext cx="4777356" cy="267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4" cstate="print"/>
          <a:stretch>
            <a:fillRect/>
          </a:stretch>
        </p:blipFill>
        <p:spPr>
          <a:xfrm>
            <a:off x="8475860" y="0"/>
            <a:ext cx="3710248" cy="1046480"/>
          </a:xfrm>
          <a:prstGeom prst="rect">
            <a:avLst/>
          </a:prstGeom>
        </p:spPr>
      </p:pic>
    </p:spTree>
  </p:cSld>
  <p:clrMapOvr>
    <a:masterClrMapping/>
  </p:clrMapOvr>
  <p:transition advTm="30417"/>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流程图: 可选过程 9"/>
          <p:cNvSpPr/>
          <p:nvPr/>
        </p:nvSpPr>
        <p:spPr>
          <a:xfrm>
            <a:off x="1407160" y="2283460"/>
            <a:ext cx="4488180" cy="2249170"/>
          </a:xfrm>
          <a:prstGeom prst="flowChartAlternateProcess">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6000" b="1"/>
              <a:t>本课程内容</a:t>
            </a:r>
            <a:endParaRPr lang="zh-CN" altLang="en-US" sz="6000" b="1"/>
          </a:p>
        </p:txBody>
      </p:sp>
      <p:sp>
        <p:nvSpPr>
          <p:cNvPr id="12" name="燕尾形 11"/>
          <p:cNvSpPr/>
          <p:nvPr/>
        </p:nvSpPr>
        <p:spPr>
          <a:xfrm>
            <a:off x="7414895" y="9124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b="1">
                <a:sym typeface="+mn-ea"/>
              </a:rPr>
              <a:t>绪论</a:t>
            </a:r>
            <a:endParaRPr lang="zh-CN" altLang="en-US" b="1">
              <a:sym typeface="+mn-ea"/>
            </a:endParaRPr>
          </a:p>
        </p:txBody>
      </p:sp>
      <p:sp>
        <p:nvSpPr>
          <p:cNvPr id="13" name="燕尾形 12"/>
          <p:cNvSpPr/>
          <p:nvPr>
            <p:custDataLst>
              <p:tags r:id="rId1"/>
            </p:custDataLst>
          </p:nvPr>
        </p:nvSpPr>
        <p:spPr>
          <a:xfrm>
            <a:off x="7414895" y="16681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t>概念学习</a:t>
            </a:r>
            <a:endParaRPr lang="zh-CN" altLang="en-US" b="1"/>
          </a:p>
        </p:txBody>
      </p:sp>
      <p:sp>
        <p:nvSpPr>
          <p:cNvPr id="14" name="燕尾形 13"/>
          <p:cNvSpPr/>
          <p:nvPr>
            <p:custDataLst>
              <p:tags r:id="rId2"/>
            </p:custDataLst>
          </p:nvPr>
        </p:nvSpPr>
        <p:spPr>
          <a:xfrm>
            <a:off x="7384415" y="2423795"/>
            <a:ext cx="2352040" cy="457200"/>
          </a:xfrm>
          <a:prstGeom prst="chevron">
            <a:avLst/>
          </a:prstGeom>
          <a:solidFill>
            <a:schemeClr val="accent2">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b="1">
                <a:sym typeface="+mn-ea"/>
              </a:rPr>
              <a:t>决策树</a:t>
            </a:r>
            <a:endParaRPr lang="zh-CN" altLang="en-US" b="1">
              <a:sym typeface="+mn-ea"/>
            </a:endParaRPr>
          </a:p>
        </p:txBody>
      </p:sp>
      <p:sp>
        <p:nvSpPr>
          <p:cNvPr id="15" name="燕尾形 14"/>
          <p:cNvSpPr/>
          <p:nvPr>
            <p:custDataLst>
              <p:tags r:id="rId3"/>
            </p:custDataLst>
          </p:nvPr>
        </p:nvSpPr>
        <p:spPr>
          <a:xfrm>
            <a:off x="7414895" y="31794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t>神经网络</a:t>
            </a:r>
            <a:endParaRPr lang="zh-CN" altLang="en-US" b="1"/>
          </a:p>
        </p:txBody>
      </p:sp>
      <p:sp>
        <p:nvSpPr>
          <p:cNvPr id="16" name="燕尾形 15"/>
          <p:cNvSpPr/>
          <p:nvPr>
            <p:custDataLst>
              <p:tags r:id="rId4"/>
            </p:custDataLst>
          </p:nvPr>
        </p:nvSpPr>
        <p:spPr>
          <a:xfrm>
            <a:off x="7414895" y="39350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t>支持向量机</a:t>
            </a:r>
            <a:endParaRPr lang="zh-CN" altLang="en-US" b="1"/>
          </a:p>
        </p:txBody>
      </p:sp>
      <p:sp>
        <p:nvSpPr>
          <p:cNvPr id="17" name="燕尾形 16"/>
          <p:cNvSpPr/>
          <p:nvPr>
            <p:custDataLst>
              <p:tags r:id="rId5"/>
            </p:custDataLst>
          </p:nvPr>
        </p:nvSpPr>
        <p:spPr>
          <a:xfrm>
            <a:off x="7384415" y="46907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t>贝叶斯分类器</a:t>
            </a:r>
            <a:endParaRPr lang="zh-CN" altLang="en-US" b="1"/>
          </a:p>
        </p:txBody>
      </p:sp>
      <p:sp>
        <p:nvSpPr>
          <p:cNvPr id="18" name="燕尾形 17"/>
          <p:cNvSpPr/>
          <p:nvPr>
            <p:custDataLst>
              <p:tags r:id="rId6"/>
            </p:custDataLst>
          </p:nvPr>
        </p:nvSpPr>
        <p:spPr>
          <a:xfrm>
            <a:off x="7384415" y="54463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t>强化学习</a:t>
            </a:r>
            <a:endParaRPr lang="zh-CN"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决策树定义</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基于</a:t>
            </a:r>
            <a:r>
              <a:rPr lang="en-US" altLang="zh-CN" sz="2800" b="1" spc="200" dirty="0">
                <a:solidFill>
                  <a:schemeClr val="tx1"/>
                </a:solidFill>
                <a:uFillTx/>
                <a:latin typeface="微软雅黑" panose="020B0503020204020204" charset="-122"/>
                <a:ea typeface="微软雅黑" panose="020B0503020204020204" charset="-122"/>
                <a:cs typeface="+mj-cs"/>
                <a:sym typeface="+mn-ea"/>
              </a:rPr>
              <a:t>python</a:t>
            </a:r>
            <a:r>
              <a:rPr lang="zh-CN" altLang="en-US" sz="2800" b="1" spc="200" dirty="0">
                <a:solidFill>
                  <a:schemeClr val="tx1"/>
                </a:solidFill>
                <a:uFillTx/>
                <a:latin typeface="微软雅黑" panose="020B0503020204020204" charset="-122"/>
                <a:ea typeface="微软雅黑" panose="020B0503020204020204" charset="-122"/>
                <a:cs typeface="+mj-cs"/>
                <a:sym typeface="+mn-ea"/>
              </a:rPr>
              <a:t>创建分类决策树</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2383790" y="3217545"/>
            <a:ext cx="7807960" cy="2799715"/>
          </a:xfrm>
          <a:prstGeom prst="rect">
            <a:avLst/>
          </a:prstGeom>
        </p:spPr>
      </p:pic>
      <p:sp>
        <p:nvSpPr>
          <p:cNvPr id="6" name="文本框 5"/>
          <p:cNvSpPr txBox="1"/>
          <p:nvPr/>
        </p:nvSpPr>
        <p:spPr>
          <a:xfrm>
            <a:off x="269240" y="1049020"/>
            <a:ext cx="11353800" cy="2168525"/>
          </a:xfrm>
          <a:prstGeom prst="rect">
            <a:avLst/>
          </a:prstGeom>
          <a:noFill/>
        </p:spPr>
        <p:txBody>
          <a:bodyPr wrap="square" rtlCol="0" anchor="t">
            <a:spAutoFit/>
          </a:bodyPr>
          <a:lstStyle/>
          <a:p>
            <a:pPr indent="457200">
              <a:lnSpc>
                <a:spcPct val="150000"/>
              </a:lnSpc>
            </a:pPr>
            <a:r>
              <a:rPr lang="zh-CN" altLang="en-US">
                <a:sym typeface="+mn-ea"/>
              </a:rPr>
              <a:t>决策树是一种有监督学习，它能够从一系列有特征有标签的数据中总结出决策规则，并用树状图的结构来呈现这些规则，以解决</a:t>
            </a:r>
            <a:r>
              <a:rPr lang="zh-CN" altLang="en-US" b="1">
                <a:solidFill>
                  <a:srgbClr val="0070C0"/>
                </a:solidFill>
                <a:sym typeface="+mn-ea"/>
              </a:rPr>
              <a:t>分类</a:t>
            </a:r>
            <a:r>
              <a:rPr lang="zh-CN" altLang="en-US">
                <a:sym typeface="+mn-ea"/>
              </a:rPr>
              <a:t>和</a:t>
            </a:r>
            <a:r>
              <a:rPr lang="zh-CN" altLang="en-US" b="1">
                <a:solidFill>
                  <a:schemeClr val="accent2">
                    <a:lumMod val="75000"/>
                  </a:schemeClr>
                </a:solidFill>
                <a:sym typeface="+mn-ea"/>
              </a:rPr>
              <a:t>回归</a:t>
            </a:r>
            <a:r>
              <a:rPr lang="zh-CN" altLang="en-US">
                <a:sym typeface="+mn-ea"/>
              </a:rPr>
              <a:t>问题。</a:t>
            </a:r>
            <a:endParaRPr lang="zh-CN" altLang="en-US"/>
          </a:p>
          <a:p>
            <a:pPr>
              <a:lnSpc>
                <a:spcPct val="150000"/>
              </a:lnSpc>
            </a:pPr>
            <a:r>
              <a:rPr lang="zh-CN" altLang="en-US" b="1">
                <a:solidFill>
                  <a:srgbClr val="0070C0"/>
                </a:solidFill>
              </a:rPr>
              <a:t>分类问题</a:t>
            </a:r>
            <a:r>
              <a:rPr lang="zh-CN" altLang="en-US"/>
              <a:t>与</a:t>
            </a:r>
            <a:r>
              <a:rPr lang="zh-CN" altLang="en-US" b="1">
                <a:solidFill>
                  <a:schemeClr val="accent2">
                    <a:lumMod val="75000"/>
                  </a:schemeClr>
                </a:solidFill>
              </a:rPr>
              <a:t>回归问题</a:t>
            </a:r>
            <a:r>
              <a:rPr lang="zh-CN" altLang="en-US"/>
              <a:t>均属于有监督学习（即样本集中提供标签）</a:t>
            </a:r>
            <a:endParaRPr lang="zh-CN" altLang="en-US"/>
          </a:p>
          <a:p>
            <a:pPr>
              <a:lnSpc>
                <a:spcPct val="150000"/>
              </a:lnSpc>
            </a:pPr>
            <a:r>
              <a:rPr lang="zh-CN" altLang="en-US" b="1">
                <a:solidFill>
                  <a:srgbClr val="0070C0"/>
                </a:solidFill>
              </a:rPr>
              <a:t>分类问题：</a:t>
            </a:r>
            <a:r>
              <a:rPr lang="zh-CN" altLang="en-US"/>
              <a:t>给定输入变量</a:t>
            </a:r>
            <a:r>
              <a:rPr lang="en-US" altLang="zh-CN"/>
              <a:t>(</a:t>
            </a:r>
            <a:r>
              <a:rPr lang="zh-CN" altLang="en-US"/>
              <a:t>特征</a:t>
            </a:r>
            <a:r>
              <a:rPr lang="en-US" altLang="zh-CN"/>
              <a:t>)</a:t>
            </a:r>
            <a:r>
              <a:rPr lang="zh-CN" altLang="en-US"/>
              <a:t>和输出变量</a:t>
            </a:r>
            <a:r>
              <a:rPr lang="en-US" altLang="zh-CN"/>
              <a:t>(</a:t>
            </a:r>
            <a:r>
              <a:rPr lang="zh-CN" altLang="en-US"/>
              <a:t>标签</a:t>
            </a:r>
            <a:r>
              <a:rPr lang="en-US" altLang="zh-CN"/>
              <a:t>)</a:t>
            </a:r>
            <a:r>
              <a:rPr lang="zh-CN" altLang="en-US"/>
              <a:t>，将输入变量分为不同的类别。</a:t>
            </a:r>
            <a:endParaRPr lang="zh-CN" altLang="en-US"/>
          </a:p>
          <a:p>
            <a:pPr>
              <a:lnSpc>
                <a:spcPct val="150000"/>
              </a:lnSpc>
            </a:pPr>
            <a:r>
              <a:rPr lang="zh-CN" altLang="en-US" b="1">
                <a:solidFill>
                  <a:schemeClr val="accent2">
                    <a:lumMod val="75000"/>
                  </a:schemeClr>
                </a:solidFill>
                <a:sym typeface="+mn-ea"/>
              </a:rPr>
              <a:t>回归问题：</a:t>
            </a:r>
            <a:r>
              <a:rPr lang="zh-CN" altLang="en-US">
                <a:sym typeface="+mn-ea"/>
              </a:rPr>
              <a:t>给定输入变量</a:t>
            </a:r>
            <a:r>
              <a:rPr lang="en-US" altLang="zh-CN">
                <a:sym typeface="+mn-ea"/>
              </a:rPr>
              <a:t>(</a:t>
            </a:r>
            <a:r>
              <a:rPr lang="zh-CN" altLang="en-US">
                <a:sym typeface="+mn-ea"/>
              </a:rPr>
              <a:t>特征</a:t>
            </a:r>
            <a:r>
              <a:rPr lang="en-US" altLang="zh-CN">
                <a:sym typeface="+mn-ea"/>
              </a:rPr>
              <a:t>)</a:t>
            </a:r>
            <a:r>
              <a:rPr lang="zh-CN" altLang="en-US">
                <a:sym typeface="+mn-ea"/>
              </a:rPr>
              <a:t>和输出变量</a:t>
            </a:r>
            <a:r>
              <a:rPr lang="en-US" altLang="zh-CN">
                <a:sym typeface="+mn-ea"/>
              </a:rPr>
              <a:t>(</a:t>
            </a:r>
            <a:r>
              <a:rPr lang="zh-CN" altLang="en-US">
                <a:sym typeface="+mn-ea"/>
              </a:rPr>
              <a:t>标签</a:t>
            </a:r>
            <a:r>
              <a:rPr lang="en-US" altLang="zh-CN">
                <a:sym typeface="+mn-ea"/>
              </a:rPr>
              <a:t>)</a:t>
            </a:r>
            <a:r>
              <a:rPr lang="zh-CN" altLang="en-US">
                <a:sym typeface="+mn-ea"/>
              </a:rPr>
              <a:t>，根据输入变量预测一个连续的输出值。</a:t>
            </a:r>
            <a:endParaRPr lang="zh-CN" altLang="en-US">
              <a:sym typeface="+mn-ea"/>
            </a:endParaRPr>
          </a:p>
        </p:txBody>
      </p:sp>
      <p:sp>
        <p:nvSpPr>
          <p:cNvPr id="5" name="文本框 4"/>
          <p:cNvSpPr txBox="1"/>
          <p:nvPr/>
        </p:nvSpPr>
        <p:spPr>
          <a:xfrm>
            <a:off x="3792220" y="6017260"/>
            <a:ext cx="1118235" cy="368300"/>
          </a:xfrm>
          <a:prstGeom prst="rect">
            <a:avLst/>
          </a:prstGeom>
          <a:noFill/>
        </p:spPr>
        <p:txBody>
          <a:bodyPr wrap="square" rtlCol="0">
            <a:spAutoFit/>
          </a:bodyPr>
          <a:lstStyle/>
          <a:p>
            <a:r>
              <a:rPr lang="zh-CN" altLang="en-US"/>
              <a:t>分类问题</a:t>
            </a:r>
            <a:endParaRPr lang="zh-CN" altLang="en-US"/>
          </a:p>
        </p:txBody>
      </p:sp>
      <p:sp>
        <p:nvSpPr>
          <p:cNvPr id="7" name="文本框 6"/>
          <p:cNvSpPr txBox="1"/>
          <p:nvPr>
            <p:custDataLst>
              <p:tags r:id="rId3"/>
            </p:custDataLst>
          </p:nvPr>
        </p:nvSpPr>
        <p:spPr>
          <a:xfrm>
            <a:off x="7559675" y="6017260"/>
            <a:ext cx="1118235" cy="368300"/>
          </a:xfrm>
          <a:prstGeom prst="rect">
            <a:avLst/>
          </a:prstGeom>
          <a:noFill/>
        </p:spPr>
        <p:txBody>
          <a:bodyPr wrap="square" rtlCol="0">
            <a:spAutoFit/>
          </a:bodyPr>
          <a:lstStyle/>
          <a:p>
            <a:r>
              <a:rPr lang="zh-CN" altLang="en-US"/>
              <a:t>回归问题</a:t>
            </a:r>
            <a:endParaRPr lang="zh-CN" altLang="en-US"/>
          </a:p>
        </p:txBody>
      </p:sp>
      <p:sp>
        <p:nvSpPr>
          <p:cNvPr id="9" name="矩形 8"/>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6"/>
            </p:custDataLst>
          </p:nvPr>
        </p:nvSpPr>
        <p:spPr>
          <a:xfrm>
            <a:off x="419735" y="321945"/>
            <a:ext cx="212979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决策树定义</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6" name="文本框 5"/>
          <p:cNvSpPr txBox="1"/>
          <p:nvPr/>
        </p:nvSpPr>
        <p:spPr>
          <a:xfrm>
            <a:off x="269240" y="1210310"/>
            <a:ext cx="10911205" cy="1753235"/>
          </a:xfrm>
          <a:prstGeom prst="rect">
            <a:avLst/>
          </a:prstGeom>
          <a:noFill/>
        </p:spPr>
        <p:txBody>
          <a:bodyPr wrap="square" rtlCol="0" anchor="t">
            <a:spAutoFit/>
          </a:bodyPr>
          <a:lstStyle/>
          <a:p>
            <a:pPr indent="457200">
              <a:lnSpc>
                <a:spcPct val="150000"/>
              </a:lnSpc>
            </a:pPr>
            <a:r>
              <a:rPr lang="zh-CN" altLang="en-US" b="1">
                <a:solidFill>
                  <a:srgbClr val="0070C0"/>
                </a:solidFill>
              </a:rPr>
              <a:t>分类决策树</a:t>
            </a:r>
            <a:r>
              <a:rPr lang="zh-CN" altLang="en-US"/>
              <a:t>是一种描述对实例进行分类的树形结构。决策树由结点和有向边组成。结点有两种类型：内部结点和叶结点。内部结点表示一个特征或属性，叶结点表示一个类。总的来说，决策树是一种树状结构，它的每一个叶节点对应着一个分类，非叶节点对应着在某个属性上的划分，根据样本在该属性上的取值，将其划分为若干个子集。</a:t>
            </a:r>
            <a:endParaRPr lang="zh-CN" altLang="en-US"/>
          </a:p>
        </p:txBody>
      </p:sp>
      <p:sp>
        <p:nvSpPr>
          <p:cNvPr id="17" name="文本框 16"/>
          <p:cNvSpPr txBox="1"/>
          <p:nvPr/>
        </p:nvSpPr>
        <p:spPr>
          <a:xfrm>
            <a:off x="419735" y="321945"/>
            <a:ext cx="212979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决策树定义</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5" name="文本框 4"/>
          <p:cNvSpPr txBox="1"/>
          <p:nvPr/>
        </p:nvSpPr>
        <p:spPr>
          <a:xfrm>
            <a:off x="785495" y="4452620"/>
            <a:ext cx="911860" cy="368300"/>
          </a:xfrm>
          <a:prstGeom prst="rect">
            <a:avLst/>
          </a:prstGeom>
          <a:noFill/>
        </p:spPr>
        <p:txBody>
          <a:bodyPr wrap="square" rtlCol="0">
            <a:spAutoFit/>
          </a:bodyPr>
          <a:lstStyle/>
          <a:p>
            <a:r>
              <a:rPr lang="zh-CN" altLang="en-US"/>
              <a:t>决策树</a:t>
            </a:r>
            <a:endParaRPr lang="en-US" altLang="zh-CN"/>
          </a:p>
        </p:txBody>
      </p:sp>
      <p:sp>
        <p:nvSpPr>
          <p:cNvPr id="7" name="左大括号 6"/>
          <p:cNvSpPr/>
          <p:nvPr/>
        </p:nvSpPr>
        <p:spPr>
          <a:xfrm>
            <a:off x="1667510" y="4203700"/>
            <a:ext cx="156845" cy="866140"/>
          </a:xfrm>
          <a:prstGeom prst="leftBrace">
            <a:avLst>
              <a:gd name="adj1" fmla="val 45748"/>
              <a:gd name="adj2" fmla="val 50000"/>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8" name="文本框 7"/>
          <p:cNvSpPr txBox="1"/>
          <p:nvPr>
            <p:custDataLst>
              <p:tags r:id="rId1"/>
            </p:custDataLst>
          </p:nvPr>
        </p:nvSpPr>
        <p:spPr>
          <a:xfrm>
            <a:off x="1943100" y="4027805"/>
            <a:ext cx="642620" cy="368300"/>
          </a:xfrm>
          <a:prstGeom prst="rect">
            <a:avLst/>
          </a:prstGeom>
          <a:noFill/>
        </p:spPr>
        <p:txBody>
          <a:bodyPr wrap="square" rtlCol="0">
            <a:spAutoFit/>
          </a:bodyPr>
          <a:lstStyle/>
          <a:p>
            <a:r>
              <a:rPr lang="zh-CN" altLang="en-US"/>
              <a:t>结点</a:t>
            </a:r>
            <a:endParaRPr lang="en-US" altLang="zh-CN"/>
          </a:p>
        </p:txBody>
      </p:sp>
      <p:sp>
        <p:nvSpPr>
          <p:cNvPr id="9" name="文本框 8"/>
          <p:cNvSpPr txBox="1"/>
          <p:nvPr>
            <p:custDataLst>
              <p:tags r:id="rId2"/>
            </p:custDataLst>
          </p:nvPr>
        </p:nvSpPr>
        <p:spPr>
          <a:xfrm>
            <a:off x="1824355" y="4913630"/>
            <a:ext cx="879475" cy="368300"/>
          </a:xfrm>
          <a:prstGeom prst="rect">
            <a:avLst/>
          </a:prstGeom>
          <a:noFill/>
        </p:spPr>
        <p:txBody>
          <a:bodyPr wrap="square" rtlCol="0">
            <a:spAutoFit/>
          </a:bodyPr>
          <a:lstStyle/>
          <a:p>
            <a:r>
              <a:rPr lang="zh-CN" altLang="en-US"/>
              <a:t>有向边</a:t>
            </a:r>
            <a:endParaRPr lang="en-US" altLang="zh-CN"/>
          </a:p>
        </p:txBody>
      </p:sp>
      <p:sp>
        <p:nvSpPr>
          <p:cNvPr id="10" name="左大括号 9"/>
          <p:cNvSpPr/>
          <p:nvPr>
            <p:custDataLst>
              <p:tags r:id="rId3"/>
            </p:custDataLst>
          </p:nvPr>
        </p:nvSpPr>
        <p:spPr>
          <a:xfrm>
            <a:off x="2656840" y="3778885"/>
            <a:ext cx="156845" cy="866140"/>
          </a:xfrm>
          <a:prstGeom prst="leftBrace">
            <a:avLst>
              <a:gd name="adj1" fmla="val 45748"/>
              <a:gd name="adj2" fmla="val 50000"/>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文本框 10"/>
          <p:cNvSpPr txBox="1"/>
          <p:nvPr>
            <p:custDataLst>
              <p:tags r:id="rId4"/>
            </p:custDataLst>
          </p:nvPr>
        </p:nvSpPr>
        <p:spPr>
          <a:xfrm>
            <a:off x="2846705" y="3589020"/>
            <a:ext cx="1125220" cy="368300"/>
          </a:xfrm>
          <a:prstGeom prst="rect">
            <a:avLst/>
          </a:prstGeom>
          <a:noFill/>
        </p:spPr>
        <p:txBody>
          <a:bodyPr wrap="square" rtlCol="0">
            <a:spAutoFit/>
          </a:bodyPr>
          <a:lstStyle/>
          <a:p>
            <a:r>
              <a:rPr lang="zh-CN" altLang="en-US"/>
              <a:t>内部结点</a:t>
            </a:r>
            <a:endParaRPr lang="en-US" altLang="zh-CN"/>
          </a:p>
        </p:txBody>
      </p:sp>
      <p:sp>
        <p:nvSpPr>
          <p:cNvPr id="13" name="文本框 12"/>
          <p:cNvSpPr txBox="1"/>
          <p:nvPr>
            <p:custDataLst>
              <p:tags r:id="rId5"/>
            </p:custDataLst>
          </p:nvPr>
        </p:nvSpPr>
        <p:spPr>
          <a:xfrm>
            <a:off x="2958465" y="4479290"/>
            <a:ext cx="901065" cy="368300"/>
          </a:xfrm>
          <a:prstGeom prst="rect">
            <a:avLst/>
          </a:prstGeom>
          <a:noFill/>
        </p:spPr>
        <p:txBody>
          <a:bodyPr wrap="square" rtlCol="0">
            <a:spAutoFit/>
          </a:bodyPr>
          <a:lstStyle/>
          <a:p>
            <a:r>
              <a:rPr lang="zh-CN" altLang="en-US"/>
              <a:t>叶结点</a:t>
            </a:r>
            <a:endParaRPr lang="en-US" altLang="zh-CN"/>
          </a:p>
        </p:txBody>
      </p:sp>
      <p:sp>
        <p:nvSpPr>
          <p:cNvPr id="14" name="椭圆 13"/>
          <p:cNvSpPr/>
          <p:nvPr/>
        </p:nvSpPr>
        <p:spPr>
          <a:xfrm>
            <a:off x="6482715" y="3206750"/>
            <a:ext cx="540000" cy="54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1" name="直接箭头连接符 20"/>
          <p:cNvCxnSpPr>
            <a:stCxn id="14" idx="3"/>
            <a:endCxn id="25" idx="7"/>
          </p:cNvCxnSpPr>
          <p:nvPr/>
        </p:nvCxnSpPr>
        <p:spPr>
          <a:xfrm flipH="1">
            <a:off x="6249670" y="3667760"/>
            <a:ext cx="311785" cy="431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4" idx="5"/>
            <a:endCxn id="26" idx="1"/>
          </p:cNvCxnSpPr>
          <p:nvPr>
            <p:custDataLst>
              <p:tags r:id="rId6"/>
            </p:custDataLst>
          </p:nvPr>
        </p:nvCxnSpPr>
        <p:spPr>
          <a:xfrm>
            <a:off x="6943725" y="3667760"/>
            <a:ext cx="379730" cy="431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5" name="椭圆 24"/>
          <p:cNvSpPr/>
          <p:nvPr>
            <p:custDataLst>
              <p:tags r:id="rId7"/>
            </p:custDataLst>
          </p:nvPr>
        </p:nvSpPr>
        <p:spPr>
          <a:xfrm>
            <a:off x="5788660" y="4020185"/>
            <a:ext cx="540000" cy="54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椭圆 25"/>
          <p:cNvSpPr/>
          <p:nvPr>
            <p:custDataLst>
              <p:tags r:id="rId8"/>
            </p:custDataLst>
          </p:nvPr>
        </p:nvSpPr>
        <p:spPr>
          <a:xfrm>
            <a:off x="7244715" y="4020185"/>
            <a:ext cx="540000" cy="54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7" name="椭圆 26"/>
          <p:cNvSpPr/>
          <p:nvPr>
            <p:custDataLst>
              <p:tags r:id="rId9"/>
            </p:custDataLst>
          </p:nvPr>
        </p:nvSpPr>
        <p:spPr>
          <a:xfrm>
            <a:off x="5026660" y="4892040"/>
            <a:ext cx="540000" cy="54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椭圆 27"/>
          <p:cNvSpPr/>
          <p:nvPr>
            <p:custDataLst>
              <p:tags r:id="rId10"/>
            </p:custDataLst>
          </p:nvPr>
        </p:nvSpPr>
        <p:spPr>
          <a:xfrm>
            <a:off x="6482715" y="4892040"/>
            <a:ext cx="540000" cy="54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29" name="直接箭头连接符 28"/>
          <p:cNvCxnSpPr>
            <a:stCxn id="25" idx="3"/>
            <a:endCxn id="27" idx="7"/>
          </p:cNvCxnSpPr>
          <p:nvPr>
            <p:custDataLst>
              <p:tags r:id="rId11"/>
            </p:custDataLst>
          </p:nvPr>
        </p:nvCxnSpPr>
        <p:spPr>
          <a:xfrm flipH="1">
            <a:off x="5487670" y="4481195"/>
            <a:ext cx="379730" cy="489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25" idx="5"/>
            <a:endCxn id="28" idx="1"/>
          </p:cNvCxnSpPr>
          <p:nvPr>
            <p:custDataLst>
              <p:tags r:id="rId12"/>
            </p:custDataLst>
          </p:nvPr>
        </p:nvCxnSpPr>
        <p:spPr>
          <a:xfrm>
            <a:off x="6249670" y="4481195"/>
            <a:ext cx="311785" cy="489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1" name="椭圆 30"/>
          <p:cNvSpPr/>
          <p:nvPr>
            <p:custDataLst>
              <p:tags r:id="rId13"/>
            </p:custDataLst>
          </p:nvPr>
        </p:nvSpPr>
        <p:spPr>
          <a:xfrm>
            <a:off x="8632190" y="3667760"/>
            <a:ext cx="360000" cy="36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 name="文本框 31"/>
          <p:cNvSpPr txBox="1"/>
          <p:nvPr>
            <p:custDataLst>
              <p:tags r:id="rId14"/>
            </p:custDataLst>
          </p:nvPr>
        </p:nvSpPr>
        <p:spPr>
          <a:xfrm>
            <a:off x="8992235" y="3651885"/>
            <a:ext cx="1125220" cy="368300"/>
          </a:xfrm>
          <a:prstGeom prst="rect">
            <a:avLst/>
          </a:prstGeom>
          <a:noFill/>
        </p:spPr>
        <p:txBody>
          <a:bodyPr wrap="square" rtlCol="0">
            <a:spAutoFit/>
          </a:bodyPr>
          <a:lstStyle/>
          <a:p>
            <a:pPr algn="l">
              <a:buClrTx/>
              <a:buSzTx/>
              <a:buFontTx/>
            </a:pPr>
            <a:r>
              <a:rPr lang="zh-CN" altLang="en-US"/>
              <a:t>内部结点</a:t>
            </a:r>
            <a:endParaRPr lang="zh-CN" altLang="en-US"/>
          </a:p>
        </p:txBody>
      </p:sp>
      <p:sp>
        <p:nvSpPr>
          <p:cNvPr id="33" name="椭圆 32"/>
          <p:cNvSpPr/>
          <p:nvPr>
            <p:custDataLst>
              <p:tags r:id="rId15"/>
            </p:custDataLst>
          </p:nvPr>
        </p:nvSpPr>
        <p:spPr>
          <a:xfrm>
            <a:off x="8632190" y="4199890"/>
            <a:ext cx="360000" cy="36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4" name="文本框 33"/>
          <p:cNvSpPr txBox="1"/>
          <p:nvPr>
            <p:custDataLst>
              <p:tags r:id="rId16"/>
            </p:custDataLst>
          </p:nvPr>
        </p:nvSpPr>
        <p:spPr>
          <a:xfrm>
            <a:off x="9028430" y="4180205"/>
            <a:ext cx="905510" cy="368300"/>
          </a:xfrm>
          <a:prstGeom prst="rect">
            <a:avLst/>
          </a:prstGeom>
          <a:noFill/>
        </p:spPr>
        <p:txBody>
          <a:bodyPr wrap="square" rtlCol="0">
            <a:spAutoFit/>
          </a:bodyPr>
          <a:lstStyle/>
          <a:p>
            <a:r>
              <a:rPr lang="zh-CN" altLang="en-US"/>
              <a:t>叶结点</a:t>
            </a:r>
            <a:endParaRPr lang="zh-CN" altLang="en-US">
              <a:solidFill>
                <a:schemeClr val="accent6">
                  <a:lumMod val="75000"/>
                </a:schemeClr>
              </a:solidFill>
            </a:endParaRPr>
          </a:p>
        </p:txBody>
      </p:sp>
      <p:cxnSp>
        <p:nvCxnSpPr>
          <p:cNvPr id="35" name="直接箭头连接符 34"/>
          <p:cNvCxnSpPr/>
          <p:nvPr>
            <p:custDataLst>
              <p:tags r:id="rId17"/>
            </p:custDataLst>
          </p:nvPr>
        </p:nvCxnSpPr>
        <p:spPr>
          <a:xfrm>
            <a:off x="8669655" y="4871720"/>
            <a:ext cx="358775" cy="190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6" name="文本框 35"/>
          <p:cNvSpPr txBox="1"/>
          <p:nvPr>
            <p:custDataLst>
              <p:tags r:id="rId18"/>
            </p:custDataLst>
          </p:nvPr>
        </p:nvSpPr>
        <p:spPr>
          <a:xfrm>
            <a:off x="9028430" y="4708525"/>
            <a:ext cx="905510" cy="368300"/>
          </a:xfrm>
          <a:prstGeom prst="rect">
            <a:avLst/>
          </a:prstGeom>
          <a:noFill/>
        </p:spPr>
        <p:txBody>
          <a:bodyPr wrap="square" rtlCol="0">
            <a:spAutoFit/>
          </a:bodyPr>
          <a:lstStyle/>
          <a:p>
            <a:r>
              <a:rPr lang="zh-CN" altLang="en-US">
                <a:solidFill>
                  <a:schemeClr val="tx1"/>
                </a:solidFill>
              </a:rPr>
              <a:t>有向边</a:t>
            </a:r>
            <a:endParaRPr lang="zh-CN" alt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269240" y="1178560"/>
            <a:ext cx="2496185" cy="368300"/>
          </a:xfrm>
          <a:prstGeom prst="rect">
            <a:avLst/>
          </a:prstGeom>
          <a:noFill/>
        </p:spPr>
        <p:txBody>
          <a:bodyPr wrap="square" rtlCol="0">
            <a:spAutoFit/>
          </a:bodyPr>
          <a:lstStyle/>
          <a:p>
            <a:r>
              <a:rPr lang="zh-CN" altLang="en-US" b="1"/>
              <a:t>例子：相亲是否要赴约</a:t>
            </a:r>
            <a:endParaRPr lang="zh-CN" altLang="en-US" b="1"/>
          </a:p>
        </p:txBody>
      </p:sp>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5" name="矩形 4"/>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7" name="文本框 6"/>
          <p:cNvSpPr txBox="1"/>
          <p:nvPr>
            <p:custDataLst>
              <p:tags r:id="rId3"/>
            </p:custDataLst>
          </p:nvPr>
        </p:nvSpPr>
        <p:spPr>
          <a:xfrm>
            <a:off x="419735" y="321945"/>
            <a:ext cx="212979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决策树定义</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14" name="椭圆 13"/>
          <p:cNvSpPr/>
          <p:nvPr>
            <p:custDataLst>
              <p:tags r:id="rId4"/>
            </p:custDataLst>
          </p:nvPr>
        </p:nvSpPr>
        <p:spPr>
          <a:xfrm>
            <a:off x="6219825" y="152146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p>
        </p:txBody>
      </p:sp>
      <p:cxnSp>
        <p:nvCxnSpPr>
          <p:cNvPr id="21" name="直接箭头连接符 20"/>
          <p:cNvCxnSpPr>
            <a:stCxn id="14" idx="3"/>
            <a:endCxn id="25" idx="7"/>
          </p:cNvCxnSpPr>
          <p:nvPr>
            <p:custDataLst>
              <p:tags r:id="rId5"/>
            </p:custDataLst>
          </p:nvPr>
        </p:nvCxnSpPr>
        <p:spPr>
          <a:xfrm flipH="1">
            <a:off x="6140450" y="2136140"/>
            <a:ext cx="184785"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4" idx="5"/>
            <a:endCxn id="26" idx="1"/>
          </p:cNvCxnSpPr>
          <p:nvPr>
            <p:custDataLst>
              <p:tags r:id="rId6"/>
            </p:custDataLst>
          </p:nvPr>
        </p:nvCxnSpPr>
        <p:spPr>
          <a:xfrm>
            <a:off x="6834505" y="2136140"/>
            <a:ext cx="252730"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5" name="椭圆 24"/>
          <p:cNvSpPr/>
          <p:nvPr>
            <p:custDataLst>
              <p:tags r:id="rId7"/>
            </p:custDataLst>
          </p:nvPr>
        </p:nvSpPr>
        <p:spPr>
          <a:xfrm>
            <a:off x="5525770" y="233489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椭圆 25"/>
          <p:cNvSpPr/>
          <p:nvPr>
            <p:custDataLst>
              <p:tags r:id="rId8"/>
            </p:custDataLst>
          </p:nvPr>
        </p:nvSpPr>
        <p:spPr>
          <a:xfrm>
            <a:off x="6981825" y="233489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7" name="椭圆 26"/>
          <p:cNvSpPr/>
          <p:nvPr>
            <p:custDataLst>
              <p:tags r:id="rId9"/>
            </p:custDataLst>
          </p:nvPr>
        </p:nvSpPr>
        <p:spPr>
          <a:xfrm>
            <a:off x="4763770" y="320675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8" name="椭圆 27"/>
          <p:cNvSpPr/>
          <p:nvPr>
            <p:custDataLst>
              <p:tags r:id="rId10"/>
            </p:custDataLst>
          </p:nvPr>
        </p:nvSpPr>
        <p:spPr>
          <a:xfrm>
            <a:off x="6219825" y="320675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29" name="直接箭头连接符 28"/>
          <p:cNvCxnSpPr>
            <a:stCxn id="25" idx="3"/>
            <a:endCxn id="27" idx="7"/>
          </p:cNvCxnSpPr>
          <p:nvPr>
            <p:custDataLst>
              <p:tags r:id="rId11"/>
            </p:custDataLst>
          </p:nvPr>
        </p:nvCxnSpPr>
        <p:spPr>
          <a:xfrm flipH="1">
            <a:off x="5378450" y="2949575"/>
            <a:ext cx="252730"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25" idx="5"/>
            <a:endCxn id="28" idx="1"/>
          </p:cNvCxnSpPr>
          <p:nvPr>
            <p:custDataLst>
              <p:tags r:id="rId12"/>
            </p:custDataLst>
          </p:nvPr>
        </p:nvCxnSpPr>
        <p:spPr>
          <a:xfrm>
            <a:off x="6140450" y="2949575"/>
            <a:ext cx="184785"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 name="椭圆 1"/>
          <p:cNvSpPr/>
          <p:nvPr>
            <p:custDataLst>
              <p:tags r:id="rId13"/>
            </p:custDataLst>
          </p:nvPr>
        </p:nvSpPr>
        <p:spPr>
          <a:xfrm>
            <a:off x="3685540" y="455041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椭圆 2"/>
          <p:cNvSpPr/>
          <p:nvPr>
            <p:custDataLst>
              <p:tags r:id="rId14"/>
            </p:custDataLst>
          </p:nvPr>
        </p:nvSpPr>
        <p:spPr>
          <a:xfrm>
            <a:off x="4763770" y="455041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6" name="椭圆 5"/>
          <p:cNvSpPr/>
          <p:nvPr>
            <p:custDataLst>
              <p:tags r:id="rId15"/>
            </p:custDataLst>
          </p:nvPr>
        </p:nvSpPr>
        <p:spPr>
          <a:xfrm>
            <a:off x="5842000" y="455041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custDataLst>
              <p:tags r:id="rId16"/>
            </p:custDataLst>
          </p:nvPr>
        </p:nvSpPr>
        <p:spPr>
          <a:xfrm>
            <a:off x="4170680" y="558800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椭圆 8"/>
          <p:cNvSpPr/>
          <p:nvPr>
            <p:custDataLst>
              <p:tags r:id="rId17"/>
            </p:custDataLst>
          </p:nvPr>
        </p:nvSpPr>
        <p:spPr>
          <a:xfrm>
            <a:off x="5483860" y="558800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0" name="直接箭头连接符 9"/>
          <p:cNvCxnSpPr>
            <a:stCxn id="27" idx="3"/>
            <a:endCxn id="2" idx="7"/>
          </p:cNvCxnSpPr>
          <p:nvPr>
            <p:custDataLst>
              <p:tags r:id="rId18"/>
            </p:custDataLst>
          </p:nvPr>
        </p:nvCxnSpPr>
        <p:spPr>
          <a:xfrm flipH="1">
            <a:off x="4300220" y="3821430"/>
            <a:ext cx="568960" cy="83439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27" idx="5"/>
            <a:endCxn id="6" idx="1"/>
          </p:cNvCxnSpPr>
          <p:nvPr>
            <p:custDataLst>
              <p:tags r:id="rId19"/>
            </p:custDataLst>
          </p:nvPr>
        </p:nvCxnSpPr>
        <p:spPr>
          <a:xfrm>
            <a:off x="5378450" y="3821430"/>
            <a:ext cx="568960" cy="83439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 name="直接箭头连接符 12"/>
          <p:cNvCxnSpPr>
            <a:stCxn id="27" idx="4"/>
            <a:endCxn id="3" idx="0"/>
          </p:cNvCxnSpPr>
          <p:nvPr>
            <p:custDataLst>
              <p:tags r:id="rId20"/>
            </p:custDataLst>
          </p:nvPr>
        </p:nvCxnSpPr>
        <p:spPr>
          <a:xfrm>
            <a:off x="5123815" y="3926840"/>
            <a:ext cx="0" cy="62357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a:stCxn id="3" idx="3"/>
          </p:cNvCxnSpPr>
          <p:nvPr>
            <p:custDataLst>
              <p:tags r:id="rId21"/>
            </p:custDataLst>
          </p:nvPr>
        </p:nvCxnSpPr>
        <p:spPr>
          <a:xfrm flipH="1">
            <a:off x="4638675" y="5165090"/>
            <a:ext cx="230505" cy="43370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a:stCxn id="3" idx="5"/>
          </p:cNvCxnSpPr>
          <p:nvPr>
            <p:custDataLst>
              <p:tags r:id="rId22"/>
            </p:custDataLst>
          </p:nvPr>
        </p:nvCxnSpPr>
        <p:spPr>
          <a:xfrm>
            <a:off x="5378450" y="5165090"/>
            <a:ext cx="207645" cy="50546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6257290" y="1678305"/>
            <a:ext cx="645795" cy="368300"/>
          </a:xfrm>
          <a:prstGeom prst="rect">
            <a:avLst/>
          </a:prstGeom>
          <a:noFill/>
        </p:spPr>
        <p:txBody>
          <a:bodyPr wrap="square" rtlCol="0">
            <a:spAutoFit/>
          </a:bodyPr>
          <a:lstStyle/>
          <a:p>
            <a:r>
              <a:rPr lang="zh-CN" altLang="en-US" b="1">
                <a:solidFill>
                  <a:schemeClr val="bg1"/>
                </a:solidFill>
              </a:rPr>
              <a:t>年龄</a:t>
            </a:r>
            <a:endParaRPr lang="zh-CN" altLang="en-US" b="1">
              <a:solidFill>
                <a:schemeClr val="bg1"/>
              </a:solidFill>
            </a:endParaRPr>
          </a:p>
        </p:txBody>
      </p:sp>
      <p:sp>
        <p:nvSpPr>
          <p:cNvPr id="20" name="文本框 19"/>
          <p:cNvSpPr txBox="1"/>
          <p:nvPr>
            <p:custDataLst>
              <p:tags r:id="rId23"/>
            </p:custDataLst>
          </p:nvPr>
        </p:nvSpPr>
        <p:spPr>
          <a:xfrm>
            <a:off x="5558155" y="2510790"/>
            <a:ext cx="645795" cy="368300"/>
          </a:xfrm>
          <a:prstGeom prst="rect">
            <a:avLst/>
          </a:prstGeom>
          <a:noFill/>
        </p:spPr>
        <p:txBody>
          <a:bodyPr wrap="square" rtlCol="0">
            <a:spAutoFit/>
          </a:bodyPr>
          <a:lstStyle/>
          <a:p>
            <a:r>
              <a:rPr lang="zh-CN" altLang="en-US" b="1">
                <a:solidFill>
                  <a:schemeClr val="bg1"/>
                </a:solidFill>
              </a:rPr>
              <a:t>长相</a:t>
            </a:r>
            <a:endParaRPr lang="zh-CN" altLang="en-US" b="1">
              <a:solidFill>
                <a:schemeClr val="bg1"/>
              </a:solidFill>
            </a:endParaRPr>
          </a:p>
        </p:txBody>
      </p:sp>
      <p:sp>
        <p:nvSpPr>
          <p:cNvPr id="23" name="文本框 22"/>
          <p:cNvSpPr txBox="1"/>
          <p:nvPr>
            <p:custDataLst>
              <p:tags r:id="rId24"/>
            </p:custDataLst>
          </p:nvPr>
        </p:nvSpPr>
        <p:spPr>
          <a:xfrm>
            <a:off x="4801235" y="3382645"/>
            <a:ext cx="645795" cy="368300"/>
          </a:xfrm>
          <a:prstGeom prst="rect">
            <a:avLst/>
          </a:prstGeom>
          <a:noFill/>
        </p:spPr>
        <p:txBody>
          <a:bodyPr wrap="square" rtlCol="0">
            <a:spAutoFit/>
          </a:bodyPr>
          <a:lstStyle/>
          <a:p>
            <a:r>
              <a:rPr lang="zh-CN" altLang="en-US" b="1">
                <a:solidFill>
                  <a:schemeClr val="bg1"/>
                </a:solidFill>
              </a:rPr>
              <a:t>收入</a:t>
            </a:r>
            <a:endParaRPr lang="zh-CN" altLang="en-US" b="1">
              <a:solidFill>
                <a:schemeClr val="bg1"/>
              </a:solidFill>
            </a:endParaRPr>
          </a:p>
        </p:txBody>
      </p:sp>
      <p:sp>
        <p:nvSpPr>
          <p:cNvPr id="24" name="文本框 23"/>
          <p:cNvSpPr txBox="1"/>
          <p:nvPr>
            <p:custDataLst>
              <p:tags r:id="rId25"/>
            </p:custDataLst>
          </p:nvPr>
        </p:nvSpPr>
        <p:spPr>
          <a:xfrm>
            <a:off x="4683760" y="4726305"/>
            <a:ext cx="880745" cy="368300"/>
          </a:xfrm>
          <a:prstGeom prst="rect">
            <a:avLst/>
          </a:prstGeom>
          <a:noFill/>
        </p:spPr>
        <p:txBody>
          <a:bodyPr wrap="square" rtlCol="0">
            <a:spAutoFit/>
          </a:bodyPr>
          <a:lstStyle/>
          <a:p>
            <a:r>
              <a:rPr lang="zh-CN" altLang="en-US" b="1">
                <a:solidFill>
                  <a:schemeClr val="bg1"/>
                </a:solidFill>
              </a:rPr>
              <a:t>公务员</a:t>
            </a:r>
            <a:endParaRPr lang="zh-CN" altLang="en-US" b="1"/>
          </a:p>
        </p:txBody>
      </p:sp>
      <p:sp>
        <p:nvSpPr>
          <p:cNvPr id="31" name="文本框 30"/>
          <p:cNvSpPr txBox="1"/>
          <p:nvPr>
            <p:custDataLst>
              <p:tags r:id="rId26"/>
            </p:custDataLst>
          </p:nvPr>
        </p:nvSpPr>
        <p:spPr>
          <a:xfrm>
            <a:off x="7018655" y="2510790"/>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32" name="文本框 31"/>
          <p:cNvSpPr txBox="1"/>
          <p:nvPr>
            <p:custDataLst>
              <p:tags r:id="rId27"/>
            </p:custDataLst>
          </p:nvPr>
        </p:nvSpPr>
        <p:spPr>
          <a:xfrm>
            <a:off x="3818255" y="4726305"/>
            <a:ext cx="454025" cy="368300"/>
          </a:xfrm>
          <a:prstGeom prst="rect">
            <a:avLst/>
          </a:prstGeom>
          <a:noFill/>
        </p:spPr>
        <p:txBody>
          <a:bodyPr wrap="square" rtlCol="0">
            <a:spAutoFit/>
          </a:bodyPr>
          <a:lstStyle/>
          <a:p>
            <a:r>
              <a:rPr lang="zh-CN" altLang="en-US" b="1">
                <a:solidFill>
                  <a:schemeClr val="bg1"/>
                </a:solidFill>
              </a:rPr>
              <a:t>见</a:t>
            </a:r>
            <a:endParaRPr lang="zh-CN" altLang="en-US" b="1"/>
          </a:p>
        </p:txBody>
      </p:sp>
      <p:sp>
        <p:nvSpPr>
          <p:cNvPr id="34" name="文本框 33"/>
          <p:cNvSpPr txBox="1"/>
          <p:nvPr>
            <p:custDataLst>
              <p:tags r:id="rId28"/>
            </p:custDataLst>
          </p:nvPr>
        </p:nvSpPr>
        <p:spPr>
          <a:xfrm>
            <a:off x="6257290" y="3382645"/>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35" name="文本框 34"/>
          <p:cNvSpPr txBox="1"/>
          <p:nvPr>
            <p:custDataLst>
              <p:tags r:id="rId29"/>
            </p:custDataLst>
          </p:nvPr>
        </p:nvSpPr>
        <p:spPr>
          <a:xfrm>
            <a:off x="5878830" y="4726305"/>
            <a:ext cx="645795" cy="368300"/>
          </a:xfrm>
          <a:prstGeom prst="rect">
            <a:avLst/>
          </a:prstGeom>
          <a:noFill/>
        </p:spPr>
        <p:txBody>
          <a:bodyPr wrap="square" rtlCol="0">
            <a:spAutoFit/>
          </a:bodyPr>
          <a:lstStyle/>
          <a:p>
            <a:r>
              <a:rPr lang="zh-CN" altLang="en-US" b="1">
                <a:solidFill>
                  <a:schemeClr val="bg1"/>
                </a:solidFill>
              </a:rPr>
              <a:t>不见</a:t>
            </a:r>
            <a:endParaRPr lang="zh-CN" altLang="en-US" b="1">
              <a:solidFill>
                <a:schemeClr val="bg1"/>
              </a:solidFill>
            </a:endParaRPr>
          </a:p>
        </p:txBody>
      </p:sp>
      <p:sp>
        <p:nvSpPr>
          <p:cNvPr id="36" name="文本框 35"/>
          <p:cNvSpPr txBox="1"/>
          <p:nvPr>
            <p:custDataLst>
              <p:tags r:id="rId30"/>
            </p:custDataLst>
          </p:nvPr>
        </p:nvSpPr>
        <p:spPr>
          <a:xfrm>
            <a:off x="5520690" y="5763895"/>
            <a:ext cx="645795" cy="368300"/>
          </a:xfrm>
          <a:prstGeom prst="rect">
            <a:avLst/>
          </a:prstGeom>
          <a:noFill/>
        </p:spPr>
        <p:txBody>
          <a:bodyPr wrap="square" rtlCol="0">
            <a:spAutoFit/>
          </a:bodyPr>
          <a:lstStyle/>
          <a:p>
            <a:r>
              <a:rPr lang="zh-CN" altLang="en-US" b="1">
                <a:solidFill>
                  <a:schemeClr val="bg1"/>
                </a:solidFill>
              </a:rPr>
              <a:t>不见</a:t>
            </a:r>
            <a:endParaRPr lang="zh-CN" altLang="en-US" b="1">
              <a:solidFill>
                <a:schemeClr val="bg1"/>
              </a:solidFill>
            </a:endParaRPr>
          </a:p>
        </p:txBody>
      </p:sp>
      <p:sp>
        <p:nvSpPr>
          <p:cNvPr id="38" name="文本框 37"/>
          <p:cNvSpPr txBox="1"/>
          <p:nvPr>
            <p:custDataLst>
              <p:tags r:id="rId31"/>
            </p:custDataLst>
          </p:nvPr>
        </p:nvSpPr>
        <p:spPr>
          <a:xfrm>
            <a:off x="4300220" y="5763895"/>
            <a:ext cx="454025" cy="368300"/>
          </a:xfrm>
          <a:prstGeom prst="rect">
            <a:avLst/>
          </a:prstGeom>
          <a:noFill/>
        </p:spPr>
        <p:txBody>
          <a:bodyPr wrap="square" rtlCol="0">
            <a:spAutoFit/>
          </a:bodyPr>
          <a:lstStyle/>
          <a:p>
            <a:r>
              <a:rPr lang="zh-CN" altLang="en-US" b="1">
                <a:solidFill>
                  <a:schemeClr val="bg1"/>
                </a:solidFill>
              </a:rPr>
              <a:t>见</a:t>
            </a:r>
            <a:endParaRPr lang="zh-CN" altLang="en-US" b="1"/>
          </a:p>
        </p:txBody>
      </p:sp>
      <p:sp>
        <p:nvSpPr>
          <p:cNvPr id="39" name="文本框 38"/>
          <p:cNvSpPr txBox="1"/>
          <p:nvPr>
            <p:custDataLst>
              <p:tags r:id="rId32"/>
            </p:custDataLst>
          </p:nvPr>
        </p:nvSpPr>
        <p:spPr>
          <a:xfrm>
            <a:off x="5761990" y="1966595"/>
            <a:ext cx="563245" cy="368300"/>
          </a:xfrm>
          <a:prstGeom prst="rect">
            <a:avLst/>
          </a:prstGeom>
          <a:noFill/>
        </p:spPr>
        <p:txBody>
          <a:bodyPr wrap="square" rtlCol="0">
            <a:spAutoFit/>
          </a:bodyPr>
          <a:lstStyle/>
          <a:p>
            <a:r>
              <a:rPr lang="en-US" altLang="zh-CN" b="1"/>
              <a:t>≤30</a:t>
            </a:r>
            <a:endParaRPr lang="en-US" altLang="zh-CN" b="1"/>
          </a:p>
        </p:txBody>
      </p:sp>
      <p:sp>
        <p:nvSpPr>
          <p:cNvPr id="40" name="文本框 39"/>
          <p:cNvSpPr txBox="1"/>
          <p:nvPr>
            <p:custDataLst>
              <p:tags r:id="rId33"/>
            </p:custDataLst>
          </p:nvPr>
        </p:nvSpPr>
        <p:spPr>
          <a:xfrm>
            <a:off x="6939915" y="1966595"/>
            <a:ext cx="563245" cy="368300"/>
          </a:xfrm>
          <a:prstGeom prst="rect">
            <a:avLst/>
          </a:prstGeom>
          <a:noFill/>
        </p:spPr>
        <p:txBody>
          <a:bodyPr wrap="square" rtlCol="0">
            <a:spAutoFit/>
          </a:bodyPr>
          <a:lstStyle/>
          <a:p>
            <a:r>
              <a:rPr lang="en-US" altLang="zh-CN" b="1"/>
              <a:t>&gt;30</a:t>
            </a:r>
            <a:endParaRPr lang="en-US" altLang="zh-CN" b="1"/>
          </a:p>
        </p:txBody>
      </p:sp>
      <p:sp>
        <p:nvSpPr>
          <p:cNvPr id="41" name="文本框 40"/>
          <p:cNvSpPr txBox="1"/>
          <p:nvPr>
            <p:custDataLst>
              <p:tags r:id="rId34"/>
            </p:custDataLst>
          </p:nvPr>
        </p:nvSpPr>
        <p:spPr>
          <a:xfrm>
            <a:off x="4560570" y="2792730"/>
            <a:ext cx="997585" cy="337185"/>
          </a:xfrm>
          <a:prstGeom prst="rect">
            <a:avLst/>
          </a:prstGeom>
          <a:noFill/>
        </p:spPr>
        <p:txBody>
          <a:bodyPr wrap="square" rtlCol="0">
            <a:spAutoFit/>
          </a:bodyPr>
          <a:lstStyle/>
          <a:p>
            <a:r>
              <a:rPr lang="zh-CN" altLang="en-US" sz="1600" b="1"/>
              <a:t>帅或中等</a:t>
            </a:r>
            <a:endParaRPr lang="zh-CN" altLang="en-US" sz="1600" b="1"/>
          </a:p>
        </p:txBody>
      </p:sp>
      <p:sp>
        <p:nvSpPr>
          <p:cNvPr id="42" name="文本框 41"/>
          <p:cNvSpPr txBox="1"/>
          <p:nvPr>
            <p:custDataLst>
              <p:tags r:id="rId35"/>
            </p:custDataLst>
          </p:nvPr>
        </p:nvSpPr>
        <p:spPr>
          <a:xfrm>
            <a:off x="4219575" y="3895725"/>
            <a:ext cx="340995" cy="337185"/>
          </a:xfrm>
          <a:prstGeom prst="rect">
            <a:avLst/>
          </a:prstGeom>
          <a:noFill/>
        </p:spPr>
        <p:txBody>
          <a:bodyPr wrap="square" rtlCol="0">
            <a:spAutoFit/>
          </a:bodyPr>
          <a:lstStyle/>
          <a:p>
            <a:r>
              <a:rPr lang="zh-CN" altLang="en-US" sz="1600" b="1"/>
              <a:t>高</a:t>
            </a:r>
            <a:endParaRPr lang="zh-CN" altLang="en-US" sz="1600" b="1"/>
          </a:p>
        </p:txBody>
      </p:sp>
      <p:sp>
        <p:nvSpPr>
          <p:cNvPr id="43" name="文本框 42"/>
          <p:cNvSpPr txBox="1"/>
          <p:nvPr>
            <p:custDataLst>
              <p:tags r:id="rId36"/>
            </p:custDataLst>
          </p:nvPr>
        </p:nvSpPr>
        <p:spPr>
          <a:xfrm>
            <a:off x="6245860" y="2828290"/>
            <a:ext cx="372110" cy="337185"/>
          </a:xfrm>
          <a:prstGeom prst="rect">
            <a:avLst/>
          </a:prstGeom>
          <a:noFill/>
        </p:spPr>
        <p:txBody>
          <a:bodyPr wrap="square" rtlCol="0">
            <a:spAutoFit/>
          </a:bodyPr>
          <a:lstStyle/>
          <a:p>
            <a:r>
              <a:rPr lang="zh-CN" altLang="en-US" sz="1600" b="1"/>
              <a:t>丑</a:t>
            </a:r>
            <a:endParaRPr lang="zh-CN" altLang="en-US" sz="1600" b="1"/>
          </a:p>
        </p:txBody>
      </p:sp>
      <p:sp>
        <p:nvSpPr>
          <p:cNvPr id="44" name="文本框 43"/>
          <p:cNvSpPr txBox="1"/>
          <p:nvPr>
            <p:custDataLst>
              <p:tags r:id="rId37"/>
            </p:custDataLst>
          </p:nvPr>
        </p:nvSpPr>
        <p:spPr>
          <a:xfrm>
            <a:off x="5068570" y="4069715"/>
            <a:ext cx="604520" cy="337185"/>
          </a:xfrm>
          <a:prstGeom prst="rect">
            <a:avLst/>
          </a:prstGeom>
          <a:noFill/>
        </p:spPr>
        <p:txBody>
          <a:bodyPr wrap="square" rtlCol="0">
            <a:spAutoFit/>
          </a:bodyPr>
          <a:lstStyle/>
          <a:p>
            <a:r>
              <a:rPr lang="zh-CN" altLang="en-US" sz="1600" b="1"/>
              <a:t>中等</a:t>
            </a:r>
            <a:endParaRPr lang="zh-CN" altLang="en-US" sz="1600" b="1"/>
          </a:p>
        </p:txBody>
      </p:sp>
      <p:sp>
        <p:nvSpPr>
          <p:cNvPr id="45" name="文本框 44"/>
          <p:cNvSpPr txBox="1"/>
          <p:nvPr>
            <p:custDataLst>
              <p:tags r:id="rId38"/>
            </p:custDataLst>
          </p:nvPr>
        </p:nvSpPr>
        <p:spPr>
          <a:xfrm>
            <a:off x="5631180" y="3895725"/>
            <a:ext cx="436880" cy="337185"/>
          </a:xfrm>
          <a:prstGeom prst="rect">
            <a:avLst/>
          </a:prstGeom>
          <a:noFill/>
        </p:spPr>
        <p:txBody>
          <a:bodyPr wrap="square" rtlCol="0">
            <a:spAutoFit/>
          </a:bodyPr>
          <a:lstStyle/>
          <a:p>
            <a:r>
              <a:rPr lang="zh-CN" altLang="en-US" sz="1600" b="1"/>
              <a:t>低</a:t>
            </a:r>
            <a:endParaRPr lang="zh-CN" altLang="en-US" sz="1600" b="1"/>
          </a:p>
        </p:txBody>
      </p:sp>
      <p:sp>
        <p:nvSpPr>
          <p:cNvPr id="46" name="文本框 45"/>
          <p:cNvSpPr txBox="1"/>
          <p:nvPr>
            <p:custDataLst>
              <p:tags r:id="rId39"/>
            </p:custDataLst>
          </p:nvPr>
        </p:nvSpPr>
        <p:spPr>
          <a:xfrm>
            <a:off x="4384040" y="5094605"/>
            <a:ext cx="370205" cy="337185"/>
          </a:xfrm>
          <a:prstGeom prst="rect">
            <a:avLst/>
          </a:prstGeom>
          <a:noFill/>
        </p:spPr>
        <p:txBody>
          <a:bodyPr wrap="square" rtlCol="0">
            <a:spAutoFit/>
          </a:bodyPr>
          <a:lstStyle/>
          <a:p>
            <a:r>
              <a:rPr lang="zh-CN" altLang="en-US" sz="1600" b="1"/>
              <a:t>是</a:t>
            </a:r>
            <a:endParaRPr lang="zh-CN" altLang="en-US" sz="1600" b="1"/>
          </a:p>
        </p:txBody>
      </p:sp>
      <p:sp>
        <p:nvSpPr>
          <p:cNvPr id="47" name="文本框 46"/>
          <p:cNvSpPr txBox="1"/>
          <p:nvPr>
            <p:custDataLst>
              <p:tags r:id="rId40"/>
            </p:custDataLst>
          </p:nvPr>
        </p:nvSpPr>
        <p:spPr>
          <a:xfrm>
            <a:off x="5447030" y="5094605"/>
            <a:ext cx="673100" cy="337185"/>
          </a:xfrm>
          <a:prstGeom prst="rect">
            <a:avLst/>
          </a:prstGeom>
          <a:noFill/>
        </p:spPr>
        <p:txBody>
          <a:bodyPr wrap="square" rtlCol="0">
            <a:spAutoFit/>
          </a:bodyPr>
          <a:lstStyle/>
          <a:p>
            <a:r>
              <a:rPr lang="zh-CN" altLang="en-US" sz="1600" b="1"/>
              <a:t>不是</a:t>
            </a:r>
            <a:endParaRPr lang="zh-CN" altLang="en-US" sz="16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基于</a:t>
            </a:r>
            <a:r>
              <a:rPr lang="en-US" altLang="zh-CN" sz="2800" b="1" spc="200" dirty="0">
                <a:solidFill>
                  <a:schemeClr val="tx1"/>
                </a:solidFill>
                <a:uFillTx/>
                <a:latin typeface="微软雅黑" panose="020B0503020204020204" charset="-122"/>
                <a:ea typeface="微软雅黑" panose="020B0503020204020204" charset="-122"/>
                <a:cs typeface="+mj-cs"/>
                <a:sym typeface="+mn-ea"/>
              </a:rPr>
              <a:t>python</a:t>
            </a:r>
            <a:r>
              <a:rPr lang="zh-CN" altLang="en-US" sz="2800" b="1" spc="200" dirty="0">
                <a:solidFill>
                  <a:schemeClr val="tx1"/>
                </a:solidFill>
                <a:uFillTx/>
                <a:latin typeface="微软雅黑" panose="020B0503020204020204" charset="-122"/>
                <a:ea typeface="微软雅黑" panose="020B0503020204020204" charset="-122"/>
                <a:cs typeface="+mj-cs"/>
                <a:sym typeface="+mn-ea"/>
              </a:rPr>
              <a:t>创建分类决策树</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决策树伪代码"/>
          <p:cNvPicPr>
            <a:picLocks noChangeAspect="1"/>
          </p:cNvPicPr>
          <p:nvPr/>
        </p:nvPicPr>
        <p:blipFill>
          <a:blip r:embed="rId1"/>
          <a:stretch>
            <a:fillRect/>
          </a:stretch>
        </p:blipFill>
        <p:spPr>
          <a:xfrm>
            <a:off x="280670" y="1628775"/>
            <a:ext cx="6791960" cy="4798060"/>
          </a:xfrm>
          <a:prstGeom prst="rect">
            <a:avLst/>
          </a:prstGeom>
        </p:spPr>
      </p:pic>
      <p:sp>
        <p:nvSpPr>
          <p:cNvPr id="6" name="矩形 5"/>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7" name="矩形 6"/>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19735" y="321945"/>
            <a:ext cx="31445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如何生成决策树？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2" name="文本框 1"/>
          <p:cNvSpPr txBox="1"/>
          <p:nvPr/>
        </p:nvSpPr>
        <p:spPr>
          <a:xfrm>
            <a:off x="280670" y="1116965"/>
            <a:ext cx="2530475" cy="368300"/>
          </a:xfrm>
          <a:prstGeom prst="rect">
            <a:avLst/>
          </a:prstGeom>
          <a:noFill/>
        </p:spPr>
        <p:txBody>
          <a:bodyPr wrap="square" rtlCol="0">
            <a:spAutoFit/>
          </a:bodyPr>
          <a:lstStyle/>
          <a:p>
            <a:r>
              <a:rPr lang="zh-CN" altLang="en-US" b="1"/>
              <a:t>决策树</a:t>
            </a:r>
            <a:r>
              <a:rPr lang="zh-CN" altLang="en-US" b="1">
                <a:sym typeface="+mn-ea"/>
              </a:rPr>
              <a:t>生成</a:t>
            </a:r>
            <a:r>
              <a:rPr lang="zh-CN" altLang="en-US" b="1"/>
              <a:t>规则伪代码</a:t>
            </a:r>
            <a:endParaRPr lang="zh-CN" altLang="en-US" b="1"/>
          </a:p>
        </p:txBody>
      </p:sp>
      <p:sp>
        <p:nvSpPr>
          <p:cNvPr id="3" name="文本框 2"/>
          <p:cNvSpPr txBox="1"/>
          <p:nvPr>
            <p:custDataLst>
              <p:tags r:id="rId5"/>
            </p:custDataLst>
          </p:nvPr>
        </p:nvSpPr>
        <p:spPr>
          <a:xfrm>
            <a:off x="6974840" y="2228215"/>
            <a:ext cx="4912995" cy="2722880"/>
          </a:xfrm>
          <a:prstGeom prst="rect">
            <a:avLst/>
          </a:prstGeom>
          <a:noFill/>
        </p:spPr>
        <p:txBody>
          <a:bodyPr wrap="square" rtlCol="0">
            <a:spAutoFit/>
          </a:bodyPr>
          <a:lstStyle/>
          <a:p>
            <a:pPr>
              <a:lnSpc>
                <a:spcPct val="150000"/>
              </a:lnSpc>
            </a:pPr>
            <a:r>
              <a:rPr lang="zh-CN" altLang="en-US" sz="1400" b="1">
                <a:latin typeface="微软雅黑" panose="020B0503020204020204" charset="-122"/>
                <a:ea typeface="微软雅黑" panose="020B0503020204020204" charset="-122"/>
                <a:cs typeface="微软雅黑" panose="020B0503020204020204" charset="-122"/>
              </a:rPr>
              <a:t>在决策树基本算法中，有三种情形会导致递归返回：</a:t>
            </a:r>
            <a:endParaRPr lang="zh-CN" altLang="en-US" sz="1400" b="1">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1200" b="1">
                <a:latin typeface="微软雅黑" panose="020B0503020204020204" charset="-122"/>
                <a:ea typeface="微软雅黑" panose="020B0503020204020204" charset="-122"/>
                <a:cs typeface="微软雅黑" panose="020B0503020204020204" charset="-122"/>
              </a:rPr>
              <a:t>1</a:t>
            </a:r>
            <a:r>
              <a:rPr lang="zh-CN" altLang="en-US" sz="1200" b="1">
                <a:latin typeface="微软雅黑" panose="020B0503020204020204" charset="-122"/>
                <a:ea typeface="微软雅黑" panose="020B0503020204020204" charset="-122"/>
                <a:cs typeface="微软雅黑" panose="020B0503020204020204" charset="-122"/>
              </a:rPr>
              <a:t>）当前结点包含的样本全属于同一类别，无需划分</a:t>
            </a:r>
            <a:endParaRPr lang="zh-CN" altLang="en-US" sz="1200" b="1">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1200" b="1">
                <a:latin typeface="微软雅黑" panose="020B0503020204020204" charset="-122"/>
                <a:ea typeface="微软雅黑" panose="020B0503020204020204" charset="-122"/>
                <a:cs typeface="微软雅黑" panose="020B0503020204020204" charset="-122"/>
              </a:rPr>
              <a:t>2</a:t>
            </a:r>
            <a:r>
              <a:rPr lang="zh-CN" altLang="en-US" sz="1200" b="1">
                <a:latin typeface="微软雅黑" panose="020B0503020204020204" charset="-122"/>
                <a:ea typeface="微软雅黑" panose="020B0503020204020204" charset="-122"/>
                <a:cs typeface="微软雅黑" panose="020B0503020204020204" charset="-122"/>
              </a:rPr>
              <a:t>）当前属性集为空，或是所有样本在所有属性上取值相同，无法划分</a:t>
            </a:r>
            <a:endParaRPr lang="zh-CN" altLang="en-US" sz="1200" b="1">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1200" b="1">
                <a:latin typeface="微软雅黑" panose="020B0503020204020204" charset="-122"/>
                <a:ea typeface="微软雅黑" panose="020B0503020204020204" charset="-122"/>
                <a:cs typeface="微软雅黑" panose="020B0503020204020204" charset="-122"/>
              </a:rPr>
              <a:t>3</a:t>
            </a:r>
            <a:r>
              <a:rPr lang="zh-CN" altLang="en-US" sz="1200" b="1">
                <a:latin typeface="微软雅黑" panose="020B0503020204020204" charset="-122"/>
                <a:ea typeface="微软雅黑" panose="020B0503020204020204" charset="-122"/>
                <a:cs typeface="微软雅黑" panose="020B0503020204020204" charset="-122"/>
              </a:rPr>
              <a:t>）当前结点包含的样本集合为空，不能划分</a:t>
            </a:r>
            <a:endParaRPr lang="zh-CN" altLang="en-US" sz="1200" b="1">
              <a:latin typeface="微软雅黑" panose="020B0503020204020204" charset="-122"/>
              <a:ea typeface="微软雅黑" panose="020B0503020204020204" charset="-122"/>
              <a:cs typeface="微软雅黑" panose="020B0503020204020204" charset="-122"/>
            </a:endParaRPr>
          </a:p>
          <a:p>
            <a:pPr>
              <a:lnSpc>
                <a:spcPct val="150000"/>
              </a:lnSpc>
            </a:pPr>
            <a:endParaRPr lang="zh-CN" altLang="en-US" sz="1400" b="1">
              <a:latin typeface="微软雅黑" panose="020B0503020204020204" charset="-122"/>
              <a:ea typeface="微软雅黑" panose="020B0503020204020204" charset="-122"/>
              <a:cs typeface="微软雅黑" panose="020B0503020204020204" charset="-122"/>
            </a:endParaRPr>
          </a:p>
          <a:p>
            <a:pPr>
              <a:lnSpc>
                <a:spcPct val="150000"/>
              </a:lnSpc>
            </a:pPr>
            <a:r>
              <a:rPr lang="zh-CN" altLang="en-US" sz="1400" b="1">
                <a:latin typeface="微软雅黑" panose="020B0503020204020204" charset="-122"/>
                <a:ea typeface="微软雅黑" panose="020B0503020204020204" charset="-122"/>
                <a:cs typeface="微软雅黑" panose="020B0503020204020204" charset="-122"/>
              </a:rPr>
              <a:t>三种情形出现时，我们均将当前结点标记为叶节点：</a:t>
            </a:r>
            <a:endParaRPr lang="zh-CN" altLang="en-US" sz="1400" b="1">
              <a:latin typeface="微软雅黑" panose="020B0503020204020204" charset="-122"/>
              <a:ea typeface="微软雅黑" panose="020B0503020204020204" charset="-122"/>
              <a:cs typeface="微软雅黑" panose="020B0503020204020204" charset="-122"/>
            </a:endParaRPr>
          </a:p>
          <a:p>
            <a:pPr algn="l">
              <a:lnSpc>
                <a:spcPct val="150000"/>
              </a:lnSpc>
              <a:buClrTx/>
              <a:buSzTx/>
              <a:buNone/>
            </a:pPr>
            <a:r>
              <a:rPr lang="en-US" altLang="zh-CN" sz="1200" b="1">
                <a:latin typeface="微软雅黑" panose="020B0503020204020204" charset="-122"/>
                <a:ea typeface="微软雅黑" panose="020B0503020204020204" charset="-122"/>
                <a:cs typeface="微软雅黑" panose="020B0503020204020204" charset="-122"/>
              </a:rPr>
              <a:t>1</a:t>
            </a:r>
            <a:r>
              <a:rPr lang="zh-CN" altLang="en-US" sz="1200" b="1">
                <a:latin typeface="微软雅黑" panose="020B0503020204020204" charset="-122"/>
                <a:ea typeface="微软雅黑" panose="020B0503020204020204" charset="-122"/>
                <a:cs typeface="微软雅黑" panose="020B0503020204020204" charset="-122"/>
              </a:rPr>
              <a:t>）</a:t>
            </a:r>
            <a:r>
              <a:rPr lang="en-US" altLang="zh-CN" sz="1200" b="1">
                <a:latin typeface="微软雅黑" panose="020B0503020204020204" charset="-122"/>
                <a:ea typeface="微软雅黑" panose="020B0503020204020204" charset="-122"/>
                <a:cs typeface="微软雅黑" panose="020B0503020204020204" charset="-122"/>
              </a:rPr>
              <a:t>第一种情形由于均属于同一类别，因此叶节点设定为该类别</a:t>
            </a:r>
            <a:endParaRPr lang="en-US" altLang="zh-CN" sz="1200" b="1">
              <a:latin typeface="微软雅黑" panose="020B0503020204020204" charset="-122"/>
              <a:ea typeface="微软雅黑" panose="020B0503020204020204" charset="-122"/>
              <a:cs typeface="微软雅黑" panose="020B0503020204020204" charset="-122"/>
            </a:endParaRPr>
          </a:p>
          <a:p>
            <a:pPr algn="l">
              <a:lnSpc>
                <a:spcPct val="150000"/>
              </a:lnSpc>
              <a:buClrTx/>
              <a:buSzTx/>
              <a:buNone/>
            </a:pPr>
            <a:r>
              <a:rPr lang="en-US" altLang="zh-CN" sz="1200" b="1">
                <a:latin typeface="微软雅黑" panose="020B0503020204020204" charset="-122"/>
                <a:ea typeface="微软雅黑" panose="020B0503020204020204" charset="-122"/>
                <a:cs typeface="微软雅黑" panose="020B0503020204020204" charset="-122"/>
              </a:rPr>
              <a:t>2</a:t>
            </a:r>
            <a:r>
              <a:rPr lang="zh-CN" altLang="en-US" sz="1200" b="1">
                <a:latin typeface="微软雅黑" panose="020B0503020204020204" charset="-122"/>
                <a:ea typeface="微软雅黑" panose="020B0503020204020204" charset="-122"/>
                <a:cs typeface="微软雅黑" panose="020B0503020204020204" charset="-122"/>
              </a:rPr>
              <a:t>）</a:t>
            </a:r>
            <a:r>
              <a:rPr lang="en-US" altLang="zh-CN" sz="1200" b="1">
                <a:latin typeface="微软雅黑" panose="020B0503020204020204" charset="-122"/>
                <a:ea typeface="微软雅黑" panose="020B0503020204020204" charset="-122"/>
                <a:cs typeface="微软雅黑" panose="020B0503020204020204" charset="-122"/>
              </a:rPr>
              <a:t>第二种情形将叶节点设定为该结点所含样本最多的类别</a:t>
            </a:r>
            <a:endParaRPr lang="en-US" altLang="zh-CN" sz="1200" b="1">
              <a:latin typeface="微软雅黑" panose="020B0503020204020204" charset="-122"/>
              <a:ea typeface="微软雅黑" panose="020B0503020204020204" charset="-122"/>
              <a:cs typeface="微软雅黑" panose="020B0503020204020204" charset="-122"/>
            </a:endParaRPr>
          </a:p>
          <a:p>
            <a:pPr algn="l">
              <a:lnSpc>
                <a:spcPct val="150000"/>
              </a:lnSpc>
              <a:buClrTx/>
              <a:buSzTx/>
              <a:buNone/>
            </a:pPr>
            <a:r>
              <a:rPr lang="en-US" altLang="zh-CN" sz="1200" b="1">
                <a:latin typeface="微软雅黑" panose="020B0503020204020204" charset="-122"/>
                <a:ea typeface="微软雅黑" panose="020B0503020204020204" charset="-122"/>
                <a:cs typeface="微软雅黑" panose="020B0503020204020204" charset="-122"/>
              </a:rPr>
              <a:t>3</a:t>
            </a:r>
            <a:r>
              <a:rPr lang="zh-CN" altLang="en-US" sz="1200" b="1">
                <a:latin typeface="微软雅黑" panose="020B0503020204020204" charset="-122"/>
                <a:ea typeface="微软雅黑" panose="020B0503020204020204" charset="-122"/>
                <a:cs typeface="微软雅黑" panose="020B0503020204020204" charset="-122"/>
              </a:rPr>
              <a:t>）</a:t>
            </a:r>
            <a:r>
              <a:rPr lang="en-US" altLang="zh-CN" sz="1200" b="1">
                <a:latin typeface="微软雅黑" panose="020B0503020204020204" charset="-122"/>
                <a:ea typeface="微软雅黑" panose="020B0503020204020204" charset="-122"/>
                <a:cs typeface="微软雅黑" panose="020B0503020204020204" charset="-122"/>
              </a:rPr>
              <a:t>第三种情形</a:t>
            </a:r>
            <a:r>
              <a:rPr lang="en-US" altLang="zh-CN" sz="1200" b="1">
                <a:latin typeface="微软雅黑" panose="020B0503020204020204" charset="-122"/>
                <a:ea typeface="微软雅黑" panose="020B0503020204020204" charset="-122"/>
                <a:cs typeface="微软雅黑" panose="020B0503020204020204" charset="-122"/>
                <a:sym typeface="+mn-ea"/>
              </a:rPr>
              <a:t>将叶节点设定为其父结点所含样本最多的类别</a:t>
            </a:r>
            <a:endParaRPr lang="en-US" altLang="zh-CN" sz="1200" b="1">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6118225" y="2423795"/>
            <a:ext cx="5156200" cy="2832735"/>
          </a:xfrm>
          <a:prstGeom prst="rect">
            <a:avLst/>
          </a:prstGeom>
          <a:noFill/>
          <a:ln w="38100">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8" name="矩形 7"/>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9" name="文本框 8"/>
          <p:cNvSpPr txBox="1"/>
          <p:nvPr>
            <p:custDataLst>
              <p:tags r:id="rId3"/>
            </p:custDataLst>
          </p:nvPr>
        </p:nvSpPr>
        <p:spPr>
          <a:xfrm>
            <a:off x="419735" y="321945"/>
            <a:ext cx="31445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如何生成决策树？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10" name="文本框 9"/>
          <p:cNvSpPr txBox="1"/>
          <p:nvPr/>
        </p:nvSpPr>
        <p:spPr>
          <a:xfrm>
            <a:off x="269240" y="1206500"/>
            <a:ext cx="11348085" cy="368300"/>
          </a:xfrm>
          <a:prstGeom prst="rect">
            <a:avLst/>
          </a:prstGeom>
          <a:noFill/>
        </p:spPr>
        <p:txBody>
          <a:bodyPr wrap="square" rtlCol="0">
            <a:spAutoFit/>
          </a:bodyPr>
          <a:lstStyle/>
          <a:p>
            <a:r>
              <a:rPr lang="zh-CN" altLang="en-US" b="1"/>
              <a:t>对于相亲是否要赴约这个例子，</a:t>
            </a:r>
            <a:r>
              <a:rPr lang="zh-CN" altLang="en-US" b="1">
                <a:sym typeface="+mn-ea"/>
              </a:rPr>
              <a:t>给出属性集和训练集，我们便可生成一棵决策树</a:t>
            </a:r>
            <a:endParaRPr lang="zh-CN" altLang="en-US" b="1"/>
          </a:p>
        </p:txBody>
      </p:sp>
      <p:sp>
        <p:nvSpPr>
          <p:cNvPr id="24" name="文本框 23"/>
          <p:cNvSpPr txBox="1"/>
          <p:nvPr>
            <p:custDataLst>
              <p:tags r:id="rId4"/>
            </p:custDataLst>
          </p:nvPr>
        </p:nvSpPr>
        <p:spPr>
          <a:xfrm>
            <a:off x="2769870" y="1936115"/>
            <a:ext cx="914400" cy="368300"/>
          </a:xfrm>
          <a:prstGeom prst="rect">
            <a:avLst/>
          </a:prstGeom>
          <a:noFill/>
        </p:spPr>
        <p:txBody>
          <a:bodyPr wrap="square" rtlCol="0">
            <a:spAutoFit/>
          </a:bodyPr>
          <a:lstStyle/>
          <a:p>
            <a:r>
              <a:rPr lang="zh-CN" altLang="en-US" b="1"/>
              <a:t>训练集</a:t>
            </a:r>
            <a:endParaRPr lang="zh-CN" altLang="en-US" b="1"/>
          </a:p>
        </p:txBody>
      </p:sp>
      <p:sp>
        <p:nvSpPr>
          <p:cNvPr id="25" name="文本框 24"/>
          <p:cNvSpPr txBox="1"/>
          <p:nvPr>
            <p:custDataLst>
              <p:tags r:id="rId5"/>
            </p:custDataLst>
          </p:nvPr>
        </p:nvSpPr>
        <p:spPr>
          <a:xfrm>
            <a:off x="6118225" y="2423795"/>
            <a:ext cx="5156200" cy="2832735"/>
          </a:xfrm>
          <a:prstGeom prst="rect">
            <a:avLst/>
          </a:prstGeom>
          <a:noFill/>
        </p:spPr>
        <p:txBody>
          <a:bodyPr wrap="square" rtlCol="0">
            <a:noAutofit/>
          </a:bodyPr>
          <a:lstStyle/>
          <a:p>
            <a:endParaRPr lang="zh-CN" altLang="en-US"/>
          </a:p>
          <a:p>
            <a:pPr>
              <a:lnSpc>
                <a:spcPct val="30000"/>
              </a:lnSpc>
            </a:pPr>
            <a:r>
              <a:rPr lang="zh-CN" altLang="en-US" b="1"/>
              <a:t>属性集：</a:t>
            </a:r>
            <a:r>
              <a:rPr lang="en-US" altLang="zh-CN" b="1"/>
              <a:t>{</a:t>
            </a:r>
            <a:r>
              <a:rPr lang="zh-CN" altLang="en-US" b="1"/>
              <a:t>年龄是否小于等于</a:t>
            </a:r>
            <a:r>
              <a:rPr lang="en-US" altLang="zh-CN" b="1"/>
              <a:t>30,</a:t>
            </a:r>
            <a:r>
              <a:rPr lang="zh-CN" altLang="en-US" b="1"/>
              <a:t>长相</a:t>
            </a:r>
            <a:r>
              <a:rPr lang="en-US" altLang="zh-CN" b="1"/>
              <a:t>,</a:t>
            </a:r>
            <a:r>
              <a:rPr lang="zh-CN" altLang="en-US" b="1"/>
              <a:t>收入</a:t>
            </a:r>
            <a:r>
              <a:rPr lang="en-US" altLang="zh-CN" b="1"/>
              <a:t>,</a:t>
            </a:r>
            <a:r>
              <a:rPr lang="zh-CN" altLang="en-US" b="1"/>
              <a:t>公务员</a:t>
            </a:r>
            <a:r>
              <a:rPr lang="en-US" altLang="zh-CN" b="1"/>
              <a:t>}</a:t>
            </a:r>
            <a:endParaRPr lang="en-US" altLang="zh-CN" b="1"/>
          </a:p>
          <a:p>
            <a:pPr>
              <a:lnSpc>
                <a:spcPct val="40000"/>
              </a:lnSpc>
            </a:pPr>
            <a:endParaRPr lang="zh-CN" altLang="en-US" b="1"/>
          </a:p>
          <a:p>
            <a:endParaRPr lang="zh-CN" altLang="en-US" b="1"/>
          </a:p>
          <a:p>
            <a:r>
              <a:rPr lang="zh-CN" altLang="en-US" b="1"/>
              <a:t>属性集中每个属性的取值为：</a:t>
            </a:r>
            <a:endParaRPr lang="zh-CN" altLang="en-US" b="1"/>
          </a:p>
          <a:p>
            <a:pPr>
              <a:lnSpc>
                <a:spcPct val="30000"/>
              </a:lnSpc>
            </a:pPr>
            <a:endParaRPr lang="zh-CN" altLang="en-US" b="1"/>
          </a:p>
          <a:p>
            <a:pPr indent="457200"/>
            <a:r>
              <a:rPr lang="zh-CN" altLang="en-US" b="1"/>
              <a:t>年龄：</a:t>
            </a:r>
            <a:r>
              <a:rPr lang="en-US" altLang="zh-CN" b="1"/>
              <a:t>{</a:t>
            </a:r>
            <a:r>
              <a:rPr lang="zh-CN" b="1">
                <a:sym typeface="+mn-ea"/>
              </a:rPr>
              <a:t>≤30</a:t>
            </a:r>
            <a:r>
              <a:rPr lang="en-US" altLang="zh-CN" b="1"/>
              <a:t>,</a:t>
            </a:r>
            <a:r>
              <a:rPr lang="zh-CN" b="1">
                <a:sym typeface="+mn-ea"/>
              </a:rPr>
              <a:t>&gt;30</a:t>
            </a:r>
            <a:r>
              <a:rPr lang="en-US" altLang="zh-CN" b="1"/>
              <a:t>}</a:t>
            </a:r>
            <a:endParaRPr lang="en-US" altLang="zh-CN" b="1"/>
          </a:p>
          <a:p>
            <a:pPr indent="457200">
              <a:lnSpc>
                <a:spcPct val="30000"/>
              </a:lnSpc>
            </a:pPr>
            <a:endParaRPr lang="en-US" altLang="zh-CN" b="1"/>
          </a:p>
          <a:p>
            <a:pPr indent="457200"/>
            <a:r>
              <a:rPr lang="zh-CN" altLang="en-US" b="1">
                <a:sym typeface="+mn-ea"/>
              </a:rPr>
              <a:t>长相：</a:t>
            </a:r>
            <a:r>
              <a:rPr lang="en-US" altLang="zh-CN" b="1">
                <a:sym typeface="+mn-ea"/>
              </a:rPr>
              <a:t>{</a:t>
            </a:r>
            <a:r>
              <a:rPr lang="zh-CN" altLang="en-US" b="1">
                <a:sym typeface="+mn-ea"/>
              </a:rPr>
              <a:t>帅或中等</a:t>
            </a:r>
            <a:r>
              <a:rPr lang="en-US" altLang="zh-CN" b="1">
                <a:sym typeface="+mn-ea"/>
              </a:rPr>
              <a:t>,</a:t>
            </a:r>
            <a:r>
              <a:rPr lang="zh-CN" altLang="en-US" b="1">
                <a:sym typeface="+mn-ea"/>
              </a:rPr>
              <a:t>丑</a:t>
            </a:r>
            <a:r>
              <a:rPr lang="en-US" altLang="zh-CN" b="1">
                <a:sym typeface="+mn-ea"/>
              </a:rPr>
              <a:t>}</a:t>
            </a:r>
            <a:endParaRPr lang="en-US" altLang="zh-CN" b="1">
              <a:sym typeface="+mn-ea"/>
            </a:endParaRPr>
          </a:p>
          <a:p>
            <a:pPr indent="457200">
              <a:lnSpc>
                <a:spcPct val="30000"/>
              </a:lnSpc>
            </a:pPr>
            <a:endParaRPr lang="en-US" altLang="zh-CN" b="1"/>
          </a:p>
          <a:p>
            <a:pPr indent="457200"/>
            <a:r>
              <a:rPr lang="zh-CN" altLang="en-US" b="1">
                <a:sym typeface="+mn-ea"/>
              </a:rPr>
              <a:t>收入：</a:t>
            </a:r>
            <a:r>
              <a:rPr lang="en-US" altLang="zh-CN" b="1">
                <a:sym typeface="+mn-ea"/>
              </a:rPr>
              <a:t>{</a:t>
            </a:r>
            <a:r>
              <a:rPr lang="zh-CN" altLang="en-US" b="1">
                <a:sym typeface="+mn-ea"/>
              </a:rPr>
              <a:t>高</a:t>
            </a:r>
            <a:r>
              <a:rPr lang="en-US" altLang="zh-CN" b="1">
                <a:sym typeface="+mn-ea"/>
              </a:rPr>
              <a:t>,</a:t>
            </a:r>
            <a:r>
              <a:rPr lang="zh-CN" altLang="en-US" b="1">
                <a:sym typeface="+mn-ea"/>
              </a:rPr>
              <a:t>低</a:t>
            </a:r>
            <a:r>
              <a:rPr lang="en-US" altLang="zh-CN" b="1">
                <a:sym typeface="+mn-ea"/>
              </a:rPr>
              <a:t>,</a:t>
            </a:r>
            <a:r>
              <a:rPr lang="zh-CN" altLang="en-US" b="1">
                <a:sym typeface="+mn-ea"/>
              </a:rPr>
              <a:t>中等</a:t>
            </a:r>
            <a:r>
              <a:rPr lang="en-US" altLang="zh-CN" b="1">
                <a:sym typeface="+mn-ea"/>
              </a:rPr>
              <a:t>}</a:t>
            </a:r>
            <a:endParaRPr lang="en-US" altLang="zh-CN" b="1">
              <a:sym typeface="+mn-ea"/>
            </a:endParaRPr>
          </a:p>
          <a:p>
            <a:pPr indent="457200">
              <a:lnSpc>
                <a:spcPct val="30000"/>
              </a:lnSpc>
            </a:pPr>
            <a:endParaRPr lang="en-US" altLang="zh-CN" b="1"/>
          </a:p>
          <a:p>
            <a:pPr indent="457200"/>
            <a:r>
              <a:rPr lang="zh-CN" altLang="en-US" b="1">
                <a:sym typeface="+mn-ea"/>
              </a:rPr>
              <a:t>公务员：</a:t>
            </a:r>
            <a:r>
              <a:rPr lang="en-US" altLang="zh-CN" b="1">
                <a:sym typeface="+mn-ea"/>
              </a:rPr>
              <a:t>{</a:t>
            </a:r>
            <a:r>
              <a:rPr lang="zh-CN" altLang="en-US" b="1">
                <a:sym typeface="+mn-ea"/>
              </a:rPr>
              <a:t>是</a:t>
            </a:r>
            <a:r>
              <a:rPr lang="en-US" altLang="zh-CN" b="1">
                <a:sym typeface="+mn-ea"/>
              </a:rPr>
              <a:t>,</a:t>
            </a:r>
            <a:r>
              <a:rPr lang="zh-CN" altLang="en-US" b="1">
                <a:sym typeface="+mn-ea"/>
              </a:rPr>
              <a:t>不是</a:t>
            </a:r>
            <a:r>
              <a:rPr lang="en-US" altLang="zh-CN" b="1">
                <a:sym typeface="+mn-ea"/>
              </a:rPr>
              <a:t>}</a:t>
            </a:r>
            <a:endParaRPr lang="en-US" altLang="zh-CN" b="1">
              <a:solidFill>
                <a:schemeClr val="tx1"/>
              </a:solidFill>
            </a:endParaRPr>
          </a:p>
        </p:txBody>
      </p:sp>
      <p:sp>
        <p:nvSpPr>
          <p:cNvPr id="26" name="文本框 25"/>
          <p:cNvSpPr txBox="1"/>
          <p:nvPr>
            <p:custDataLst>
              <p:tags r:id="rId6"/>
            </p:custDataLst>
          </p:nvPr>
        </p:nvSpPr>
        <p:spPr>
          <a:xfrm>
            <a:off x="8543925" y="1935480"/>
            <a:ext cx="907415" cy="368300"/>
          </a:xfrm>
          <a:prstGeom prst="rect">
            <a:avLst/>
          </a:prstGeom>
          <a:noFill/>
        </p:spPr>
        <p:txBody>
          <a:bodyPr wrap="square" rtlCol="0">
            <a:spAutoFit/>
          </a:bodyPr>
          <a:lstStyle/>
          <a:p>
            <a:r>
              <a:rPr lang="zh-CN" altLang="en-US" b="1"/>
              <a:t>属性集</a:t>
            </a:r>
            <a:endParaRPr lang="zh-CN" altLang="en-US" b="1"/>
          </a:p>
        </p:txBody>
      </p:sp>
      <p:sp>
        <p:nvSpPr>
          <p:cNvPr id="28" name="左大括号 27"/>
          <p:cNvSpPr/>
          <p:nvPr/>
        </p:nvSpPr>
        <p:spPr>
          <a:xfrm rot="16200000">
            <a:off x="2773045" y="4479925"/>
            <a:ext cx="336550" cy="2623185"/>
          </a:xfrm>
          <a:prstGeom prst="leftBrace">
            <a:avLst/>
          </a:prstGeom>
          <a:ln w="19050">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9" name="文本框 28"/>
          <p:cNvSpPr txBox="1"/>
          <p:nvPr/>
        </p:nvSpPr>
        <p:spPr>
          <a:xfrm>
            <a:off x="2614930" y="6085840"/>
            <a:ext cx="653415" cy="368300"/>
          </a:xfrm>
          <a:prstGeom prst="rect">
            <a:avLst/>
          </a:prstGeom>
          <a:noFill/>
        </p:spPr>
        <p:txBody>
          <a:bodyPr wrap="square" rtlCol="0">
            <a:spAutoFit/>
          </a:bodyPr>
          <a:lstStyle/>
          <a:p>
            <a:r>
              <a:rPr lang="zh-CN" altLang="en-US" b="1"/>
              <a:t>输入</a:t>
            </a:r>
            <a:endParaRPr lang="zh-CN" altLang="en-US" b="1"/>
          </a:p>
        </p:txBody>
      </p:sp>
      <p:sp>
        <p:nvSpPr>
          <p:cNvPr id="30" name="文本框 29"/>
          <p:cNvSpPr txBox="1"/>
          <p:nvPr>
            <p:custDataLst>
              <p:tags r:id="rId7"/>
            </p:custDataLst>
          </p:nvPr>
        </p:nvSpPr>
        <p:spPr>
          <a:xfrm>
            <a:off x="4742180" y="5670550"/>
            <a:ext cx="653415" cy="368300"/>
          </a:xfrm>
          <a:prstGeom prst="rect">
            <a:avLst/>
          </a:prstGeom>
          <a:noFill/>
        </p:spPr>
        <p:txBody>
          <a:bodyPr wrap="square" rtlCol="0">
            <a:spAutoFit/>
          </a:bodyPr>
          <a:lstStyle/>
          <a:p>
            <a:r>
              <a:rPr lang="zh-CN" altLang="en-US" b="1"/>
              <a:t>标签</a:t>
            </a:r>
            <a:endParaRPr lang="zh-CN" altLang="en-US" b="1"/>
          </a:p>
        </p:txBody>
      </p:sp>
      <p:graphicFrame>
        <p:nvGraphicFramePr>
          <p:cNvPr id="31" name="表格 30"/>
          <p:cNvGraphicFramePr/>
          <p:nvPr>
            <p:custDataLst>
              <p:tags r:id="rId8"/>
            </p:custDataLst>
          </p:nvPr>
        </p:nvGraphicFramePr>
        <p:xfrm>
          <a:off x="656590" y="2331085"/>
          <a:ext cx="4973955" cy="3200400"/>
        </p:xfrm>
        <a:graphic>
          <a:graphicData uri="http://schemas.openxmlformats.org/drawingml/2006/table">
            <a:tbl>
              <a:tblPr firstRow="1" bandRow="1">
                <a:tableStyleId>{5C22544A-7EE6-4342-B048-85BDC9FD1C3A}</a:tableStyleId>
              </a:tblPr>
              <a:tblGrid>
                <a:gridCol w="675005"/>
                <a:gridCol w="644525"/>
                <a:gridCol w="1003935"/>
                <a:gridCol w="686435"/>
                <a:gridCol w="803910"/>
                <a:gridCol w="1160145"/>
              </a:tblGrid>
              <a:tr h="640080">
                <a:tc>
                  <a:txBody>
                    <a:bodyPr/>
                    <a:lstStyle/>
                    <a:p>
                      <a:pPr algn="ctr">
                        <a:buNone/>
                      </a:pPr>
                      <a:r>
                        <a:rPr lang="zh-CN" altLang="en-US" sz="1600"/>
                        <a:t>相亲对象</a:t>
                      </a:r>
                      <a:endParaRPr lang="zh-CN" altLang="en-US" sz="1600"/>
                    </a:p>
                  </a:txBody>
                  <a:tcPr anchor="ctr"/>
                </a:tc>
                <a:tc>
                  <a:txBody>
                    <a:bodyPr/>
                    <a:lstStyle/>
                    <a:p>
                      <a:pPr algn="ctr">
                        <a:buNone/>
                      </a:pPr>
                      <a:r>
                        <a:rPr lang="zh-CN" altLang="en-US" sz="1600"/>
                        <a:t>年龄</a:t>
                      </a:r>
                      <a:endParaRPr lang="en-US" altLang="zh-CN" sz="1600"/>
                    </a:p>
                  </a:txBody>
                  <a:tcPr anchor="ctr"/>
                </a:tc>
                <a:tc>
                  <a:txBody>
                    <a:bodyPr/>
                    <a:lstStyle/>
                    <a:p>
                      <a:pPr algn="ctr">
                        <a:buNone/>
                      </a:pPr>
                      <a:r>
                        <a:rPr lang="zh-CN" altLang="en-US" sz="1600"/>
                        <a:t>长相</a:t>
                      </a:r>
                      <a:endParaRPr lang="zh-CN" altLang="en-US" sz="1600"/>
                    </a:p>
                  </a:txBody>
                  <a:tcPr anchor="ctr"/>
                </a:tc>
                <a:tc>
                  <a:txBody>
                    <a:bodyPr/>
                    <a:lstStyle/>
                    <a:p>
                      <a:pPr algn="ctr">
                        <a:buNone/>
                      </a:pPr>
                      <a:r>
                        <a:rPr lang="zh-CN" altLang="en-US" sz="1600"/>
                        <a:t>收入</a:t>
                      </a:r>
                      <a:endParaRPr lang="zh-CN" altLang="en-US" sz="1600"/>
                    </a:p>
                  </a:txBody>
                  <a:tcPr anchor="ctr"/>
                </a:tc>
                <a:tc>
                  <a:txBody>
                    <a:bodyPr/>
                    <a:lstStyle/>
                    <a:p>
                      <a:pPr algn="ctr">
                        <a:buNone/>
                      </a:pPr>
                      <a:r>
                        <a:rPr lang="zh-CN" altLang="en-US" sz="1600"/>
                        <a:t>公务员</a:t>
                      </a:r>
                      <a:endParaRPr lang="zh-CN" altLang="en-US" sz="1600"/>
                    </a:p>
                  </a:txBody>
                  <a:tcPr anchor="ctr"/>
                </a:tc>
                <a:tc>
                  <a:txBody>
                    <a:bodyPr/>
                    <a:lstStyle/>
                    <a:p>
                      <a:pPr algn="ctr">
                        <a:buNone/>
                      </a:pPr>
                      <a:r>
                        <a:rPr lang="zh-CN" altLang="en-US" sz="1600"/>
                        <a:t>是否相见</a:t>
                      </a:r>
                      <a:endParaRPr lang="zh-CN" altLang="en-US" sz="1600"/>
                    </a:p>
                  </a:txBody>
                  <a:tcPr anchor="ctr"/>
                </a:tc>
              </a:tr>
              <a:tr h="365760">
                <a:tc>
                  <a:txBody>
                    <a:bodyPr/>
                    <a:lstStyle/>
                    <a:p>
                      <a:pPr algn="ctr">
                        <a:buNone/>
                      </a:pPr>
                      <a:r>
                        <a:rPr lang="en-US" altLang="zh-CN" sz="1600"/>
                        <a:t>1</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2</a:t>
                      </a:r>
                      <a:r>
                        <a:rPr lang="zh-CN" altLang="en-US" sz="1600"/>
                        <a:t>号</a:t>
                      </a:r>
                      <a:endParaRPr lang="zh-CN" altLang="en-US" sz="1600"/>
                    </a:p>
                  </a:txBody>
                  <a:tcPr anchor="ctr"/>
                </a:tc>
                <a:tc>
                  <a:txBody>
                    <a:bodyPr/>
                    <a:lstStyle/>
                    <a:p>
                      <a:pPr algn="ctr">
                        <a:buNone/>
                      </a:pPr>
                      <a:r>
                        <a:rPr lang="en-US" altLang="zh-CN" sz="1600">
                          <a:sym typeface="+mn-ea"/>
                        </a:rPr>
                        <a:t>&gt;30</a:t>
                      </a:r>
                      <a:endParaRPr lang="zh-CN" altLang="en-US" sz="1600"/>
                    </a:p>
                  </a:txBody>
                  <a:tcPr anchor="ctr"/>
                </a:tc>
                <a:tc>
                  <a:txBody>
                    <a:bodyPr/>
                    <a:lstStyle/>
                    <a:p>
                      <a:pPr algn="ctr">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3</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低</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4</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中等</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5</a:t>
                      </a:r>
                      <a:r>
                        <a:rPr lang="zh-CN" altLang="en-US" sz="1600"/>
                        <a:t>号</a:t>
                      </a:r>
                      <a:endParaRPr lang="zh-CN" altLang="en-US" sz="1600"/>
                    </a:p>
                  </a:txBody>
                  <a:tcPr anchor="ctr"/>
                </a:tc>
                <a:tc>
                  <a:txBody>
                    <a:bodyPr/>
                    <a:lstStyle/>
                    <a:p>
                      <a:pPr algn="ctr">
                        <a:buNone/>
                      </a:pPr>
                      <a:r>
                        <a:rPr lang="en-US" altLang="zh-CN" sz="1600">
                          <a:sym typeface="+mn-ea"/>
                        </a:rPr>
                        <a:t>&gt;30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6</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None/>
                      </a:pPr>
                      <a:r>
                        <a:rPr lang="zh-CN" altLang="en-US" sz="1600"/>
                        <a:t>丑</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7</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sym typeface="+mn-ea"/>
                        </a:rPr>
                        <a:t>中等</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8" name="矩形 7"/>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9" name="文本框 8"/>
          <p:cNvSpPr txBox="1"/>
          <p:nvPr>
            <p:custDataLst>
              <p:tags r:id="rId3"/>
            </p:custDataLst>
          </p:nvPr>
        </p:nvSpPr>
        <p:spPr>
          <a:xfrm>
            <a:off x="419735" y="321945"/>
            <a:ext cx="31445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如何生成决策树？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24" name="文本框 23"/>
          <p:cNvSpPr txBox="1"/>
          <p:nvPr>
            <p:custDataLst>
              <p:tags r:id="rId4"/>
            </p:custDataLst>
          </p:nvPr>
        </p:nvSpPr>
        <p:spPr>
          <a:xfrm>
            <a:off x="2298700" y="2610485"/>
            <a:ext cx="914400" cy="368300"/>
          </a:xfrm>
          <a:prstGeom prst="rect">
            <a:avLst/>
          </a:prstGeom>
          <a:noFill/>
        </p:spPr>
        <p:txBody>
          <a:bodyPr wrap="square" rtlCol="0">
            <a:spAutoFit/>
          </a:bodyPr>
          <a:lstStyle/>
          <a:p>
            <a:r>
              <a:rPr lang="zh-CN" altLang="en-US" b="1"/>
              <a:t>训练集</a:t>
            </a:r>
            <a:endParaRPr lang="zh-CN" altLang="en-US" b="1"/>
          </a:p>
        </p:txBody>
      </p:sp>
      <p:sp>
        <p:nvSpPr>
          <p:cNvPr id="2" name="文本框 1"/>
          <p:cNvSpPr txBox="1"/>
          <p:nvPr/>
        </p:nvSpPr>
        <p:spPr>
          <a:xfrm>
            <a:off x="354330" y="1231900"/>
            <a:ext cx="4552950" cy="36830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cs typeface="微软雅黑" panose="020B0503020204020204" charset="-122"/>
              </a:rPr>
              <a:t>属性集：</a:t>
            </a:r>
            <a:r>
              <a:rPr lang="en-US" altLang="zh-CN" b="1">
                <a:latin typeface="微软雅黑" panose="020B0503020204020204" charset="-122"/>
                <a:ea typeface="微软雅黑" panose="020B0503020204020204" charset="-122"/>
                <a:cs typeface="微软雅黑" panose="020B0503020204020204" charset="-122"/>
              </a:rPr>
              <a:t>{</a:t>
            </a:r>
            <a:r>
              <a:rPr lang="zh-CN" altLang="en-US" b="1">
                <a:solidFill>
                  <a:srgbClr val="C00000"/>
                </a:solidFill>
                <a:latin typeface="微软雅黑" panose="020B0503020204020204" charset="-122"/>
                <a:ea typeface="微软雅黑" panose="020B0503020204020204" charset="-122"/>
                <a:cs typeface="微软雅黑" panose="020B0503020204020204" charset="-122"/>
              </a:rPr>
              <a:t>年龄</a:t>
            </a:r>
            <a:r>
              <a:rPr lang="zh-CN" altLang="en-US" b="1">
                <a:latin typeface="微软雅黑" panose="020B0503020204020204" charset="-122"/>
                <a:ea typeface="微软雅黑" panose="020B0503020204020204" charset="-122"/>
                <a:cs typeface="微软雅黑" panose="020B0503020204020204" charset="-122"/>
              </a:rPr>
              <a:t>；长相；收入；公务员</a:t>
            </a:r>
            <a:r>
              <a:rPr lang="en-US" altLang="zh-CN" b="1">
                <a:latin typeface="微软雅黑" panose="020B0503020204020204" charset="-122"/>
                <a:ea typeface="微软雅黑" panose="020B0503020204020204" charset="-122"/>
                <a:cs typeface="微软雅黑" panose="020B0503020204020204" charset="-122"/>
              </a:rPr>
              <a:t>}</a:t>
            </a:r>
            <a:endParaRPr lang="en-US" altLang="zh-CN" b="1">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354330" y="1858645"/>
            <a:ext cx="4318000" cy="368300"/>
          </a:xfrm>
          <a:prstGeom prst="rect">
            <a:avLst/>
          </a:prstGeom>
          <a:noFill/>
        </p:spPr>
        <p:txBody>
          <a:bodyPr wrap="square" rtlCol="0">
            <a:spAutoFit/>
          </a:bodyPr>
          <a:lstStyle/>
          <a:p>
            <a:r>
              <a:rPr lang="zh-CN" altLang="en-US" b="1"/>
              <a:t>最优划分属性：</a:t>
            </a:r>
            <a:r>
              <a:rPr lang="zh-CN" altLang="en-US" b="1">
                <a:solidFill>
                  <a:srgbClr val="C00000"/>
                </a:solidFill>
                <a:latin typeface="微软雅黑" panose="020B0503020204020204" charset="-122"/>
                <a:ea typeface="微软雅黑" panose="020B0503020204020204" charset="-122"/>
                <a:cs typeface="微软雅黑" panose="020B0503020204020204" charset="-122"/>
                <a:sym typeface="+mn-ea"/>
              </a:rPr>
              <a:t>年龄</a:t>
            </a:r>
            <a:endParaRPr lang="zh-CN" altLang="en-US"/>
          </a:p>
        </p:txBody>
      </p:sp>
      <p:sp>
        <p:nvSpPr>
          <p:cNvPr id="7" name="椭圆 6"/>
          <p:cNvSpPr/>
          <p:nvPr>
            <p:custDataLst>
              <p:tags r:id="rId5"/>
            </p:custDataLst>
          </p:nvPr>
        </p:nvSpPr>
        <p:spPr>
          <a:xfrm>
            <a:off x="8747125" y="171640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p>
        </p:txBody>
      </p:sp>
      <p:cxnSp>
        <p:nvCxnSpPr>
          <p:cNvPr id="11" name="直接箭头连接符 10"/>
          <p:cNvCxnSpPr>
            <a:stCxn id="7" idx="3"/>
            <a:endCxn id="13" idx="7"/>
          </p:cNvCxnSpPr>
          <p:nvPr>
            <p:custDataLst>
              <p:tags r:id="rId6"/>
            </p:custDataLst>
          </p:nvPr>
        </p:nvCxnSpPr>
        <p:spPr>
          <a:xfrm flipH="1">
            <a:off x="8667750" y="2331085"/>
            <a:ext cx="184785"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7" idx="5"/>
            <a:endCxn id="15" idx="1"/>
          </p:cNvCxnSpPr>
          <p:nvPr>
            <p:custDataLst>
              <p:tags r:id="rId7"/>
            </p:custDataLst>
          </p:nvPr>
        </p:nvCxnSpPr>
        <p:spPr>
          <a:xfrm>
            <a:off x="9361805" y="2331085"/>
            <a:ext cx="252730"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3" name="椭圆 12"/>
          <p:cNvSpPr/>
          <p:nvPr>
            <p:custDataLst>
              <p:tags r:id="rId8"/>
            </p:custDataLst>
          </p:nvPr>
        </p:nvSpPr>
        <p:spPr>
          <a:xfrm>
            <a:off x="8053070" y="252984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椭圆 14"/>
          <p:cNvSpPr/>
          <p:nvPr>
            <p:custDataLst>
              <p:tags r:id="rId9"/>
            </p:custDataLst>
          </p:nvPr>
        </p:nvSpPr>
        <p:spPr>
          <a:xfrm>
            <a:off x="9509125" y="252984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文本框 15"/>
          <p:cNvSpPr txBox="1"/>
          <p:nvPr>
            <p:custDataLst>
              <p:tags r:id="rId10"/>
            </p:custDataLst>
          </p:nvPr>
        </p:nvSpPr>
        <p:spPr>
          <a:xfrm>
            <a:off x="8784590" y="1873250"/>
            <a:ext cx="645795" cy="368300"/>
          </a:xfrm>
          <a:prstGeom prst="rect">
            <a:avLst/>
          </a:prstGeom>
          <a:noFill/>
        </p:spPr>
        <p:txBody>
          <a:bodyPr wrap="square" rtlCol="0">
            <a:spAutoFit/>
          </a:bodyPr>
          <a:lstStyle/>
          <a:p>
            <a:r>
              <a:rPr lang="zh-CN" altLang="en-US" b="1">
                <a:solidFill>
                  <a:schemeClr val="bg1"/>
                </a:solidFill>
              </a:rPr>
              <a:t>年龄</a:t>
            </a:r>
            <a:endParaRPr lang="zh-CN" altLang="en-US" b="1">
              <a:solidFill>
                <a:schemeClr val="bg1"/>
              </a:solidFill>
            </a:endParaRPr>
          </a:p>
        </p:txBody>
      </p:sp>
      <p:sp>
        <p:nvSpPr>
          <p:cNvPr id="18" name="文本框 17"/>
          <p:cNvSpPr txBox="1"/>
          <p:nvPr>
            <p:custDataLst>
              <p:tags r:id="rId11"/>
            </p:custDataLst>
          </p:nvPr>
        </p:nvSpPr>
        <p:spPr>
          <a:xfrm>
            <a:off x="9545955" y="2705735"/>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28" name="文本框 27"/>
          <p:cNvSpPr txBox="1"/>
          <p:nvPr>
            <p:custDataLst>
              <p:tags r:id="rId12"/>
            </p:custDataLst>
          </p:nvPr>
        </p:nvSpPr>
        <p:spPr>
          <a:xfrm>
            <a:off x="8289290" y="2161540"/>
            <a:ext cx="563245" cy="368300"/>
          </a:xfrm>
          <a:prstGeom prst="rect">
            <a:avLst/>
          </a:prstGeom>
          <a:noFill/>
        </p:spPr>
        <p:txBody>
          <a:bodyPr wrap="square" rtlCol="0">
            <a:spAutoFit/>
          </a:bodyPr>
          <a:lstStyle/>
          <a:p>
            <a:r>
              <a:rPr lang="en-US" altLang="zh-CN" b="1"/>
              <a:t>≤30</a:t>
            </a:r>
            <a:endParaRPr lang="en-US" altLang="zh-CN" b="1"/>
          </a:p>
        </p:txBody>
      </p:sp>
      <p:sp>
        <p:nvSpPr>
          <p:cNvPr id="29" name="文本框 28"/>
          <p:cNvSpPr txBox="1"/>
          <p:nvPr>
            <p:custDataLst>
              <p:tags r:id="rId13"/>
            </p:custDataLst>
          </p:nvPr>
        </p:nvSpPr>
        <p:spPr>
          <a:xfrm>
            <a:off x="9467215" y="2161540"/>
            <a:ext cx="563245" cy="368300"/>
          </a:xfrm>
          <a:prstGeom prst="rect">
            <a:avLst/>
          </a:prstGeom>
          <a:noFill/>
        </p:spPr>
        <p:txBody>
          <a:bodyPr wrap="square" rtlCol="0">
            <a:spAutoFit/>
          </a:bodyPr>
          <a:lstStyle/>
          <a:p>
            <a:r>
              <a:rPr lang="en-US" altLang="zh-CN" b="1"/>
              <a:t>&gt;30</a:t>
            </a:r>
            <a:endParaRPr lang="en-US" altLang="zh-CN" b="1"/>
          </a:p>
        </p:txBody>
      </p:sp>
      <p:sp>
        <p:nvSpPr>
          <p:cNvPr id="30" name="文本框 29"/>
          <p:cNvSpPr txBox="1"/>
          <p:nvPr/>
        </p:nvSpPr>
        <p:spPr>
          <a:xfrm>
            <a:off x="6311265" y="4188460"/>
            <a:ext cx="5592445" cy="1753235"/>
          </a:xfrm>
          <a:prstGeom prst="rect">
            <a:avLst/>
          </a:prstGeom>
          <a:noFill/>
        </p:spPr>
        <p:txBody>
          <a:bodyPr wrap="square" rtlCol="0">
            <a:spAutoFit/>
          </a:bodyPr>
          <a:lstStyle/>
          <a:p>
            <a:r>
              <a:rPr lang="en-US" altLang="zh-CN" b="1">
                <a:sym typeface="+mn-ea"/>
              </a:rPr>
              <a:t>1</a:t>
            </a:r>
            <a:r>
              <a:rPr lang="zh-CN" altLang="en-US" b="1">
                <a:sym typeface="+mn-ea"/>
              </a:rPr>
              <a:t>）在训练集中</a:t>
            </a:r>
            <a:r>
              <a:rPr lang="en-US" altLang="zh-CN" b="1">
                <a:sym typeface="+mn-ea"/>
              </a:rPr>
              <a:t>[</a:t>
            </a:r>
            <a:r>
              <a:rPr lang="zh-CN" altLang="en-US" b="1">
                <a:sym typeface="+mn-ea"/>
              </a:rPr>
              <a:t>年龄</a:t>
            </a:r>
            <a:r>
              <a:rPr lang="en-US" altLang="zh-CN" b="1">
                <a:latin typeface="微软雅黑" panose="020B0503020204020204" charset="-122"/>
                <a:ea typeface="微软雅黑" panose="020B0503020204020204" charset="-122"/>
                <a:cs typeface="微软雅黑" panose="020B0503020204020204" charset="-122"/>
                <a:sym typeface="+mn-ea"/>
              </a:rPr>
              <a:t>]&gt;30</a:t>
            </a:r>
            <a:r>
              <a:rPr lang="zh-CN" altLang="en-US" b="1">
                <a:sym typeface="+mn-ea"/>
              </a:rPr>
              <a:t>的样本的标签均为不见，因此将该结点标记为</a:t>
            </a:r>
            <a:r>
              <a:rPr lang="en-US" altLang="zh-CN" b="1">
                <a:sym typeface="+mn-ea"/>
              </a:rPr>
              <a:t>[</a:t>
            </a:r>
            <a:r>
              <a:rPr lang="zh-CN" altLang="en-US" b="1">
                <a:sym typeface="+mn-ea"/>
              </a:rPr>
              <a:t>不见</a:t>
            </a:r>
            <a:r>
              <a:rPr lang="en-US" altLang="zh-CN" b="1">
                <a:sym typeface="+mn-ea"/>
              </a:rPr>
              <a:t>]</a:t>
            </a:r>
            <a:r>
              <a:rPr lang="zh-CN" altLang="en-US" b="1">
                <a:sym typeface="+mn-ea"/>
              </a:rPr>
              <a:t>叶结点</a:t>
            </a:r>
            <a:endParaRPr lang="zh-CN" altLang="en-US" b="1"/>
          </a:p>
          <a:p>
            <a:endParaRPr lang="en-US" altLang="zh-CN" b="1"/>
          </a:p>
          <a:p>
            <a:r>
              <a:rPr lang="en-US" altLang="zh-CN" b="1"/>
              <a:t>2</a:t>
            </a:r>
            <a:r>
              <a:rPr lang="zh-CN" altLang="en-US" b="1"/>
              <a:t>）</a:t>
            </a:r>
            <a:r>
              <a:rPr lang="en-US" altLang="zh-CN" b="1"/>
              <a:t>[</a:t>
            </a:r>
            <a:r>
              <a:rPr lang="zh-CN" altLang="en-US" b="1">
                <a:sym typeface="+mn-ea"/>
              </a:rPr>
              <a:t>年龄</a:t>
            </a:r>
            <a:r>
              <a:rPr lang="en-US" altLang="zh-CN" b="1">
                <a:latin typeface="微软雅黑" panose="020B0503020204020204" charset="-122"/>
                <a:ea typeface="微软雅黑" panose="020B0503020204020204" charset="-122"/>
                <a:cs typeface="微软雅黑" panose="020B0503020204020204" charset="-122"/>
                <a:sym typeface="+mn-ea"/>
              </a:rPr>
              <a:t>]≤30</a:t>
            </a:r>
            <a:r>
              <a:rPr lang="zh-CN" altLang="en-US" b="1">
                <a:sym typeface="+mn-ea"/>
              </a:rPr>
              <a:t>指向的结点作为内部结点继续进行划分，此时属性集为去除属性</a:t>
            </a:r>
            <a:r>
              <a:rPr lang="en-US" altLang="zh-CN" b="1">
                <a:sym typeface="+mn-ea"/>
              </a:rPr>
              <a:t>[</a:t>
            </a:r>
            <a:r>
              <a:rPr lang="zh-CN" altLang="en-US" b="1">
                <a:sym typeface="+mn-ea"/>
              </a:rPr>
              <a:t>年龄</a:t>
            </a:r>
            <a:r>
              <a:rPr lang="en-US" altLang="zh-CN" b="1">
                <a:sym typeface="+mn-ea"/>
              </a:rPr>
              <a:t>]</a:t>
            </a:r>
            <a:r>
              <a:rPr lang="zh-CN" altLang="en-US" b="1">
                <a:sym typeface="+mn-ea"/>
              </a:rPr>
              <a:t>后的属性集，训练集为符合属性</a:t>
            </a:r>
            <a:r>
              <a:rPr lang="en-US" altLang="zh-CN" b="1">
                <a:sym typeface="+mn-ea"/>
              </a:rPr>
              <a:t>[</a:t>
            </a:r>
            <a:r>
              <a:rPr lang="zh-CN" altLang="en-US" b="1">
                <a:sym typeface="+mn-ea"/>
              </a:rPr>
              <a:t>年龄</a:t>
            </a:r>
            <a:r>
              <a:rPr lang="en-US" altLang="zh-CN" b="1">
                <a:sym typeface="+mn-ea"/>
              </a:rPr>
              <a:t>]</a:t>
            </a:r>
            <a:r>
              <a:rPr lang="en-US" altLang="zh-CN" b="1">
                <a:latin typeface="微软雅黑" panose="020B0503020204020204" charset="-122"/>
                <a:ea typeface="微软雅黑" panose="020B0503020204020204" charset="-122"/>
                <a:cs typeface="微软雅黑" panose="020B0503020204020204" charset="-122"/>
                <a:sym typeface="+mn-ea"/>
              </a:rPr>
              <a:t>≤30</a:t>
            </a:r>
            <a:r>
              <a:rPr lang="zh-CN" altLang="en-US" b="1">
                <a:sym typeface="+mn-ea"/>
              </a:rPr>
              <a:t>的训练集</a:t>
            </a:r>
            <a:endParaRPr lang="zh-CN" altLang="en-US" b="1"/>
          </a:p>
        </p:txBody>
      </p:sp>
      <p:graphicFrame>
        <p:nvGraphicFramePr>
          <p:cNvPr id="5" name="表格 4"/>
          <p:cNvGraphicFramePr/>
          <p:nvPr>
            <p:custDataLst>
              <p:tags r:id="rId14"/>
            </p:custDataLst>
          </p:nvPr>
        </p:nvGraphicFramePr>
        <p:xfrm>
          <a:off x="419735" y="3067685"/>
          <a:ext cx="4973955" cy="3200400"/>
        </p:xfrm>
        <a:graphic>
          <a:graphicData uri="http://schemas.openxmlformats.org/drawingml/2006/table">
            <a:tbl>
              <a:tblPr firstRow="1" bandRow="1">
                <a:tableStyleId>{5C22544A-7EE6-4342-B048-85BDC9FD1C3A}</a:tableStyleId>
              </a:tblPr>
              <a:tblGrid>
                <a:gridCol w="675005"/>
                <a:gridCol w="644525"/>
                <a:gridCol w="1003935"/>
                <a:gridCol w="686435"/>
                <a:gridCol w="803910"/>
                <a:gridCol w="1160145"/>
              </a:tblGrid>
              <a:tr h="640080">
                <a:tc>
                  <a:txBody>
                    <a:bodyPr/>
                    <a:lstStyle/>
                    <a:p>
                      <a:pPr algn="ctr">
                        <a:buNone/>
                      </a:pPr>
                      <a:r>
                        <a:rPr lang="zh-CN" altLang="en-US" sz="1600"/>
                        <a:t>相亲对象</a:t>
                      </a:r>
                      <a:endParaRPr lang="zh-CN" altLang="en-US" sz="1600"/>
                    </a:p>
                  </a:txBody>
                  <a:tcPr anchor="ctr"/>
                </a:tc>
                <a:tc>
                  <a:txBody>
                    <a:bodyPr/>
                    <a:lstStyle/>
                    <a:p>
                      <a:pPr algn="ctr">
                        <a:buNone/>
                      </a:pPr>
                      <a:r>
                        <a:rPr lang="zh-CN" altLang="en-US" sz="1600"/>
                        <a:t>年龄</a:t>
                      </a:r>
                      <a:endParaRPr lang="en-US" altLang="zh-CN" sz="1600"/>
                    </a:p>
                  </a:txBody>
                  <a:tcPr anchor="ctr"/>
                </a:tc>
                <a:tc>
                  <a:txBody>
                    <a:bodyPr/>
                    <a:lstStyle/>
                    <a:p>
                      <a:pPr algn="ctr">
                        <a:buNone/>
                      </a:pPr>
                      <a:r>
                        <a:rPr lang="zh-CN" altLang="en-US" sz="1600"/>
                        <a:t>长相</a:t>
                      </a:r>
                      <a:endParaRPr lang="zh-CN" altLang="en-US" sz="1600"/>
                    </a:p>
                  </a:txBody>
                  <a:tcPr anchor="ctr"/>
                </a:tc>
                <a:tc>
                  <a:txBody>
                    <a:bodyPr/>
                    <a:lstStyle/>
                    <a:p>
                      <a:pPr algn="ctr">
                        <a:buNone/>
                      </a:pPr>
                      <a:r>
                        <a:rPr lang="zh-CN" altLang="en-US" sz="1600"/>
                        <a:t>收入</a:t>
                      </a:r>
                      <a:endParaRPr lang="zh-CN" altLang="en-US" sz="1600"/>
                    </a:p>
                  </a:txBody>
                  <a:tcPr anchor="ctr"/>
                </a:tc>
                <a:tc>
                  <a:txBody>
                    <a:bodyPr/>
                    <a:lstStyle/>
                    <a:p>
                      <a:pPr algn="ctr">
                        <a:buNone/>
                      </a:pPr>
                      <a:r>
                        <a:rPr lang="zh-CN" altLang="en-US" sz="1600"/>
                        <a:t>公务员</a:t>
                      </a:r>
                      <a:endParaRPr lang="zh-CN" altLang="en-US" sz="1600"/>
                    </a:p>
                  </a:txBody>
                  <a:tcPr anchor="ctr"/>
                </a:tc>
                <a:tc>
                  <a:txBody>
                    <a:bodyPr/>
                    <a:lstStyle/>
                    <a:p>
                      <a:pPr algn="ctr">
                        <a:buNone/>
                      </a:pPr>
                      <a:r>
                        <a:rPr lang="zh-CN" altLang="en-US" sz="1600"/>
                        <a:t>是否相见</a:t>
                      </a:r>
                      <a:endParaRPr lang="zh-CN" altLang="en-US" sz="1600"/>
                    </a:p>
                  </a:txBody>
                  <a:tcPr anchor="ctr"/>
                </a:tc>
              </a:tr>
              <a:tr h="365760">
                <a:tc>
                  <a:txBody>
                    <a:bodyPr/>
                    <a:lstStyle/>
                    <a:p>
                      <a:pPr algn="ctr">
                        <a:buNone/>
                      </a:pPr>
                      <a:r>
                        <a:rPr lang="en-US" altLang="zh-CN" sz="1600"/>
                        <a:t>1</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2</a:t>
                      </a:r>
                      <a:r>
                        <a:rPr lang="zh-CN" altLang="en-US" sz="1600"/>
                        <a:t>号</a:t>
                      </a:r>
                      <a:endParaRPr lang="zh-CN" altLang="en-US" sz="1600"/>
                    </a:p>
                  </a:txBody>
                  <a:tcPr anchor="ctr"/>
                </a:tc>
                <a:tc>
                  <a:txBody>
                    <a:bodyPr/>
                    <a:lstStyle/>
                    <a:p>
                      <a:pPr algn="ctr">
                        <a:buNone/>
                      </a:pPr>
                      <a:r>
                        <a:rPr lang="en-US" altLang="zh-CN" sz="1600">
                          <a:sym typeface="+mn-ea"/>
                        </a:rPr>
                        <a:t>&gt;30</a:t>
                      </a:r>
                      <a:endParaRPr lang="zh-CN" altLang="en-US" sz="1600"/>
                    </a:p>
                  </a:txBody>
                  <a:tcPr anchor="ctr"/>
                </a:tc>
                <a:tc>
                  <a:txBody>
                    <a:bodyPr/>
                    <a:lstStyle/>
                    <a:p>
                      <a:pPr algn="ctr">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3</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低</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4</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中等</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5</a:t>
                      </a:r>
                      <a:r>
                        <a:rPr lang="zh-CN" altLang="en-US" sz="1600"/>
                        <a:t>号</a:t>
                      </a:r>
                      <a:endParaRPr lang="zh-CN" altLang="en-US" sz="1600"/>
                    </a:p>
                  </a:txBody>
                  <a:tcPr anchor="ctr"/>
                </a:tc>
                <a:tc>
                  <a:txBody>
                    <a:bodyPr/>
                    <a:lstStyle/>
                    <a:p>
                      <a:pPr algn="ctr">
                        <a:buNone/>
                      </a:pPr>
                      <a:r>
                        <a:rPr lang="en-US" altLang="zh-CN" sz="1600">
                          <a:sym typeface="+mn-ea"/>
                        </a:rPr>
                        <a:t>&gt;30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6</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None/>
                      </a:pPr>
                      <a:r>
                        <a:rPr lang="zh-CN" altLang="en-US" sz="1600"/>
                        <a:t>丑</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7</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sym typeface="+mn-ea"/>
                        </a:rPr>
                        <a:t>中等</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8" name="矩形 7"/>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9" name="文本框 8"/>
          <p:cNvSpPr txBox="1"/>
          <p:nvPr>
            <p:custDataLst>
              <p:tags r:id="rId3"/>
            </p:custDataLst>
          </p:nvPr>
        </p:nvSpPr>
        <p:spPr>
          <a:xfrm>
            <a:off x="419735" y="321945"/>
            <a:ext cx="31445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如何生成决策树？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24" name="文本框 23"/>
          <p:cNvSpPr txBox="1"/>
          <p:nvPr>
            <p:custDataLst>
              <p:tags r:id="rId4"/>
            </p:custDataLst>
          </p:nvPr>
        </p:nvSpPr>
        <p:spPr>
          <a:xfrm>
            <a:off x="2298700" y="2610485"/>
            <a:ext cx="914400" cy="368300"/>
          </a:xfrm>
          <a:prstGeom prst="rect">
            <a:avLst/>
          </a:prstGeom>
          <a:noFill/>
        </p:spPr>
        <p:txBody>
          <a:bodyPr wrap="square" rtlCol="0">
            <a:spAutoFit/>
          </a:bodyPr>
          <a:lstStyle/>
          <a:p>
            <a:r>
              <a:rPr lang="zh-CN" altLang="en-US" b="1"/>
              <a:t>训练集</a:t>
            </a:r>
            <a:endParaRPr lang="zh-CN" altLang="en-US" b="1"/>
          </a:p>
        </p:txBody>
      </p:sp>
      <p:sp>
        <p:nvSpPr>
          <p:cNvPr id="2" name="文本框 1"/>
          <p:cNvSpPr txBox="1"/>
          <p:nvPr/>
        </p:nvSpPr>
        <p:spPr>
          <a:xfrm>
            <a:off x="354330" y="1231900"/>
            <a:ext cx="3429635" cy="36830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cs typeface="微软雅黑" panose="020B0503020204020204" charset="-122"/>
              </a:rPr>
              <a:t>属性集：</a:t>
            </a:r>
            <a:r>
              <a:rPr lang="en-US" altLang="zh-CN" b="1">
                <a:latin typeface="微软雅黑" panose="020B0503020204020204" charset="-122"/>
                <a:ea typeface="微软雅黑" panose="020B0503020204020204" charset="-122"/>
                <a:cs typeface="微软雅黑" panose="020B0503020204020204" charset="-122"/>
              </a:rPr>
              <a:t>{</a:t>
            </a:r>
            <a:r>
              <a:rPr lang="zh-CN" altLang="en-US" b="1">
                <a:solidFill>
                  <a:srgbClr val="C00000"/>
                </a:solidFill>
                <a:latin typeface="微软雅黑" panose="020B0503020204020204" charset="-122"/>
                <a:ea typeface="微软雅黑" panose="020B0503020204020204" charset="-122"/>
                <a:cs typeface="微软雅黑" panose="020B0503020204020204" charset="-122"/>
              </a:rPr>
              <a:t>长相</a:t>
            </a:r>
            <a:r>
              <a:rPr lang="zh-CN" altLang="en-US" b="1">
                <a:latin typeface="微软雅黑" panose="020B0503020204020204" charset="-122"/>
                <a:ea typeface="微软雅黑" panose="020B0503020204020204" charset="-122"/>
                <a:cs typeface="微软雅黑" panose="020B0503020204020204" charset="-122"/>
              </a:rPr>
              <a:t>；收入；公务员</a:t>
            </a:r>
            <a:r>
              <a:rPr lang="en-US" altLang="zh-CN" b="1">
                <a:latin typeface="微软雅黑" panose="020B0503020204020204" charset="-122"/>
                <a:ea typeface="微软雅黑" panose="020B0503020204020204" charset="-122"/>
                <a:cs typeface="微软雅黑" panose="020B0503020204020204" charset="-122"/>
              </a:rPr>
              <a:t>}</a:t>
            </a:r>
            <a:endParaRPr lang="en-US" altLang="zh-CN" b="1">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354330" y="1858645"/>
            <a:ext cx="2350135" cy="368300"/>
          </a:xfrm>
          <a:prstGeom prst="rect">
            <a:avLst/>
          </a:prstGeom>
          <a:noFill/>
        </p:spPr>
        <p:txBody>
          <a:bodyPr wrap="square" rtlCol="0">
            <a:spAutoFit/>
          </a:bodyPr>
          <a:lstStyle/>
          <a:p>
            <a:r>
              <a:rPr lang="zh-CN" altLang="en-US" b="1"/>
              <a:t>最优划分属性：</a:t>
            </a:r>
            <a:r>
              <a:rPr lang="zh-CN" b="1">
                <a:solidFill>
                  <a:srgbClr val="C00000"/>
                </a:solidFill>
                <a:latin typeface="微软雅黑" panose="020B0503020204020204" charset="-122"/>
                <a:ea typeface="微软雅黑" panose="020B0503020204020204" charset="-122"/>
                <a:cs typeface="微软雅黑" panose="020B0503020204020204" charset="-122"/>
                <a:sym typeface="+mn-ea"/>
              </a:rPr>
              <a:t>长相</a:t>
            </a:r>
            <a:endParaRPr lang="zh-CN"/>
          </a:p>
        </p:txBody>
      </p:sp>
      <p:sp>
        <p:nvSpPr>
          <p:cNvPr id="7" name="椭圆 6"/>
          <p:cNvSpPr/>
          <p:nvPr>
            <p:custDataLst>
              <p:tags r:id="rId5"/>
            </p:custDataLst>
          </p:nvPr>
        </p:nvSpPr>
        <p:spPr>
          <a:xfrm>
            <a:off x="8747125" y="146875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p>
        </p:txBody>
      </p:sp>
      <p:cxnSp>
        <p:nvCxnSpPr>
          <p:cNvPr id="11" name="直接箭头连接符 10"/>
          <p:cNvCxnSpPr>
            <a:stCxn id="7" idx="3"/>
            <a:endCxn id="13" idx="7"/>
          </p:cNvCxnSpPr>
          <p:nvPr>
            <p:custDataLst>
              <p:tags r:id="rId6"/>
            </p:custDataLst>
          </p:nvPr>
        </p:nvCxnSpPr>
        <p:spPr>
          <a:xfrm flipH="1">
            <a:off x="8667750" y="2083435"/>
            <a:ext cx="184785"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7" idx="5"/>
            <a:endCxn id="15" idx="1"/>
          </p:cNvCxnSpPr>
          <p:nvPr>
            <p:custDataLst>
              <p:tags r:id="rId7"/>
            </p:custDataLst>
          </p:nvPr>
        </p:nvCxnSpPr>
        <p:spPr>
          <a:xfrm>
            <a:off x="9361805" y="2083435"/>
            <a:ext cx="252730"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3" name="椭圆 12"/>
          <p:cNvSpPr/>
          <p:nvPr>
            <p:custDataLst>
              <p:tags r:id="rId8"/>
            </p:custDataLst>
          </p:nvPr>
        </p:nvSpPr>
        <p:spPr>
          <a:xfrm>
            <a:off x="8053070" y="228219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椭圆 14"/>
          <p:cNvSpPr/>
          <p:nvPr>
            <p:custDataLst>
              <p:tags r:id="rId9"/>
            </p:custDataLst>
          </p:nvPr>
        </p:nvSpPr>
        <p:spPr>
          <a:xfrm>
            <a:off x="9509125" y="228219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文本框 15"/>
          <p:cNvSpPr txBox="1"/>
          <p:nvPr>
            <p:custDataLst>
              <p:tags r:id="rId10"/>
            </p:custDataLst>
          </p:nvPr>
        </p:nvSpPr>
        <p:spPr>
          <a:xfrm>
            <a:off x="8784590" y="1625600"/>
            <a:ext cx="645795" cy="368300"/>
          </a:xfrm>
          <a:prstGeom prst="rect">
            <a:avLst/>
          </a:prstGeom>
          <a:noFill/>
        </p:spPr>
        <p:txBody>
          <a:bodyPr wrap="square" rtlCol="0">
            <a:spAutoFit/>
          </a:bodyPr>
          <a:lstStyle/>
          <a:p>
            <a:r>
              <a:rPr lang="zh-CN" altLang="en-US" b="1">
                <a:solidFill>
                  <a:schemeClr val="bg1"/>
                </a:solidFill>
              </a:rPr>
              <a:t>年龄</a:t>
            </a:r>
            <a:endParaRPr lang="zh-CN" altLang="en-US" b="1">
              <a:solidFill>
                <a:schemeClr val="bg1"/>
              </a:solidFill>
            </a:endParaRPr>
          </a:p>
        </p:txBody>
      </p:sp>
      <p:sp>
        <p:nvSpPr>
          <p:cNvPr id="18" name="文本框 17"/>
          <p:cNvSpPr txBox="1"/>
          <p:nvPr>
            <p:custDataLst>
              <p:tags r:id="rId11"/>
            </p:custDataLst>
          </p:nvPr>
        </p:nvSpPr>
        <p:spPr>
          <a:xfrm>
            <a:off x="9545955" y="2458085"/>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28" name="文本框 27"/>
          <p:cNvSpPr txBox="1"/>
          <p:nvPr>
            <p:custDataLst>
              <p:tags r:id="rId12"/>
            </p:custDataLst>
          </p:nvPr>
        </p:nvSpPr>
        <p:spPr>
          <a:xfrm>
            <a:off x="8289290" y="1913890"/>
            <a:ext cx="563245" cy="368300"/>
          </a:xfrm>
          <a:prstGeom prst="rect">
            <a:avLst/>
          </a:prstGeom>
          <a:noFill/>
        </p:spPr>
        <p:txBody>
          <a:bodyPr wrap="square" rtlCol="0">
            <a:spAutoFit/>
          </a:bodyPr>
          <a:lstStyle/>
          <a:p>
            <a:r>
              <a:rPr lang="en-US" altLang="zh-CN" b="1"/>
              <a:t>≤30</a:t>
            </a:r>
            <a:endParaRPr lang="en-US" altLang="zh-CN" b="1"/>
          </a:p>
        </p:txBody>
      </p:sp>
      <p:sp>
        <p:nvSpPr>
          <p:cNvPr id="29" name="文本框 28"/>
          <p:cNvSpPr txBox="1"/>
          <p:nvPr>
            <p:custDataLst>
              <p:tags r:id="rId13"/>
            </p:custDataLst>
          </p:nvPr>
        </p:nvSpPr>
        <p:spPr>
          <a:xfrm>
            <a:off x="9467215" y="1913890"/>
            <a:ext cx="563245" cy="368300"/>
          </a:xfrm>
          <a:prstGeom prst="rect">
            <a:avLst/>
          </a:prstGeom>
          <a:noFill/>
        </p:spPr>
        <p:txBody>
          <a:bodyPr wrap="square" rtlCol="0">
            <a:spAutoFit/>
          </a:bodyPr>
          <a:lstStyle/>
          <a:p>
            <a:r>
              <a:rPr lang="en-US" altLang="zh-CN" b="1"/>
              <a:t>&gt;30</a:t>
            </a:r>
            <a:endParaRPr lang="en-US" altLang="zh-CN" b="1"/>
          </a:p>
        </p:txBody>
      </p:sp>
      <p:sp>
        <p:nvSpPr>
          <p:cNvPr id="30" name="文本框 29"/>
          <p:cNvSpPr txBox="1"/>
          <p:nvPr/>
        </p:nvSpPr>
        <p:spPr>
          <a:xfrm>
            <a:off x="6311265" y="4359910"/>
            <a:ext cx="5592445" cy="1753235"/>
          </a:xfrm>
          <a:prstGeom prst="rect">
            <a:avLst/>
          </a:prstGeom>
          <a:noFill/>
        </p:spPr>
        <p:txBody>
          <a:bodyPr wrap="square" rtlCol="0">
            <a:spAutoFit/>
          </a:bodyPr>
          <a:lstStyle/>
          <a:p>
            <a:r>
              <a:rPr lang="en-US" altLang="zh-CN" b="1"/>
              <a:t>1</a:t>
            </a:r>
            <a:r>
              <a:rPr lang="zh-CN" altLang="en-US" b="1"/>
              <a:t>）</a:t>
            </a:r>
            <a:r>
              <a:rPr lang="zh-CN" altLang="en-US" b="1">
                <a:sym typeface="+mn-ea"/>
              </a:rPr>
              <a:t>在训练集中</a:t>
            </a:r>
            <a:r>
              <a:rPr lang="en-US" altLang="zh-CN" b="1">
                <a:sym typeface="+mn-ea"/>
              </a:rPr>
              <a:t>[</a:t>
            </a:r>
            <a:r>
              <a:rPr lang="zh-CN" altLang="en-US" b="1">
                <a:sym typeface="+mn-ea"/>
              </a:rPr>
              <a:t>长相</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丑</a:t>
            </a:r>
            <a:r>
              <a:rPr lang="zh-CN" altLang="en-US" b="1">
                <a:sym typeface="+mn-ea"/>
              </a:rPr>
              <a:t>的样本的标签均为不见，因此将该结点标记为</a:t>
            </a:r>
            <a:r>
              <a:rPr lang="en-US" altLang="zh-CN" b="1">
                <a:sym typeface="+mn-ea"/>
              </a:rPr>
              <a:t>[</a:t>
            </a:r>
            <a:r>
              <a:rPr lang="zh-CN" altLang="en-US" b="1">
                <a:sym typeface="+mn-ea"/>
              </a:rPr>
              <a:t>不见</a:t>
            </a:r>
            <a:r>
              <a:rPr lang="en-US" altLang="zh-CN" b="1">
                <a:sym typeface="+mn-ea"/>
              </a:rPr>
              <a:t>]</a:t>
            </a:r>
            <a:r>
              <a:rPr lang="zh-CN" altLang="en-US" b="1">
                <a:sym typeface="+mn-ea"/>
              </a:rPr>
              <a:t>叶结点</a:t>
            </a:r>
            <a:endParaRPr lang="en-US" altLang="zh-CN" b="1"/>
          </a:p>
          <a:p>
            <a:endParaRPr lang="en-US" altLang="zh-CN" b="1"/>
          </a:p>
          <a:p>
            <a:r>
              <a:rPr lang="en-US" altLang="zh-CN" b="1"/>
              <a:t>2</a:t>
            </a:r>
            <a:r>
              <a:rPr lang="zh-CN" altLang="en-US" b="1"/>
              <a:t>）</a:t>
            </a:r>
            <a:r>
              <a:rPr lang="en-US" altLang="zh-CN" b="1">
                <a:sym typeface="+mn-ea"/>
              </a:rPr>
              <a:t>[</a:t>
            </a:r>
            <a:r>
              <a:rPr lang="zh-CN" altLang="en-US" b="1">
                <a:sym typeface="+mn-ea"/>
              </a:rPr>
              <a:t>长相</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帅或中等</a:t>
            </a:r>
            <a:r>
              <a:rPr lang="zh-CN" altLang="en-US" b="1">
                <a:sym typeface="+mn-ea"/>
              </a:rPr>
              <a:t>指向的结点作为内部结点继续进行划分，此时属性集为去除属性</a:t>
            </a:r>
            <a:r>
              <a:rPr lang="en-US" altLang="zh-CN" b="1">
                <a:sym typeface="+mn-ea"/>
              </a:rPr>
              <a:t>[</a:t>
            </a:r>
            <a:r>
              <a:rPr lang="zh-CN" altLang="en-US" b="1">
                <a:sym typeface="+mn-ea"/>
              </a:rPr>
              <a:t>长相</a:t>
            </a:r>
            <a:r>
              <a:rPr lang="en-US" altLang="zh-CN" b="1">
                <a:sym typeface="+mn-ea"/>
              </a:rPr>
              <a:t>]</a:t>
            </a:r>
            <a:r>
              <a:rPr lang="zh-CN" altLang="en-US" b="1">
                <a:sym typeface="+mn-ea"/>
              </a:rPr>
              <a:t>后的属性集，训练集为符合属性</a:t>
            </a:r>
            <a:r>
              <a:rPr lang="en-US" altLang="zh-CN" b="1">
                <a:sym typeface="+mn-ea"/>
              </a:rPr>
              <a:t>[</a:t>
            </a:r>
            <a:r>
              <a:rPr lang="zh-CN" altLang="en-US" b="1">
                <a:sym typeface="+mn-ea"/>
              </a:rPr>
              <a:t>长相</a:t>
            </a:r>
            <a:r>
              <a:rPr lang="en-US" altLang="zh-CN" b="1">
                <a:sym typeface="+mn-ea"/>
              </a:rPr>
              <a:t>]</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帅或中等</a:t>
            </a:r>
            <a:r>
              <a:rPr lang="zh-CN" altLang="en-US" b="1">
                <a:sym typeface="+mn-ea"/>
              </a:rPr>
              <a:t>的训练集</a:t>
            </a:r>
            <a:endParaRPr lang="zh-CN" altLang="en-US" b="1"/>
          </a:p>
        </p:txBody>
      </p:sp>
      <p:sp>
        <p:nvSpPr>
          <p:cNvPr id="14" name="椭圆 13"/>
          <p:cNvSpPr/>
          <p:nvPr>
            <p:custDataLst>
              <p:tags r:id="rId14"/>
            </p:custDataLst>
          </p:nvPr>
        </p:nvSpPr>
        <p:spPr>
          <a:xfrm>
            <a:off x="8747125" y="146875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p>
        </p:txBody>
      </p:sp>
      <p:cxnSp>
        <p:nvCxnSpPr>
          <p:cNvPr id="21" name="直接箭头连接符 20"/>
          <p:cNvCxnSpPr>
            <a:stCxn id="14" idx="3"/>
            <a:endCxn id="25" idx="7"/>
          </p:cNvCxnSpPr>
          <p:nvPr>
            <p:custDataLst>
              <p:tags r:id="rId15"/>
            </p:custDataLst>
          </p:nvPr>
        </p:nvCxnSpPr>
        <p:spPr>
          <a:xfrm flipH="1">
            <a:off x="8667750" y="2083435"/>
            <a:ext cx="184785"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4" idx="5"/>
            <a:endCxn id="26" idx="1"/>
          </p:cNvCxnSpPr>
          <p:nvPr>
            <p:custDataLst>
              <p:tags r:id="rId16"/>
            </p:custDataLst>
          </p:nvPr>
        </p:nvCxnSpPr>
        <p:spPr>
          <a:xfrm>
            <a:off x="9361805" y="2083435"/>
            <a:ext cx="252730"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5" name="椭圆 24"/>
          <p:cNvSpPr/>
          <p:nvPr>
            <p:custDataLst>
              <p:tags r:id="rId17"/>
            </p:custDataLst>
          </p:nvPr>
        </p:nvSpPr>
        <p:spPr>
          <a:xfrm>
            <a:off x="8053070" y="228219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椭圆 25"/>
          <p:cNvSpPr/>
          <p:nvPr>
            <p:custDataLst>
              <p:tags r:id="rId18"/>
            </p:custDataLst>
          </p:nvPr>
        </p:nvSpPr>
        <p:spPr>
          <a:xfrm>
            <a:off x="9509125" y="228219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7" name="椭圆 26"/>
          <p:cNvSpPr/>
          <p:nvPr>
            <p:custDataLst>
              <p:tags r:id="rId19"/>
            </p:custDataLst>
          </p:nvPr>
        </p:nvSpPr>
        <p:spPr>
          <a:xfrm>
            <a:off x="7291070" y="315404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5" name="椭圆 4"/>
          <p:cNvSpPr/>
          <p:nvPr>
            <p:custDataLst>
              <p:tags r:id="rId20"/>
            </p:custDataLst>
          </p:nvPr>
        </p:nvSpPr>
        <p:spPr>
          <a:xfrm>
            <a:off x="8747125" y="315404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6" name="直接箭头连接符 5"/>
          <p:cNvCxnSpPr>
            <a:stCxn id="25" idx="3"/>
            <a:endCxn id="27" idx="7"/>
          </p:cNvCxnSpPr>
          <p:nvPr>
            <p:custDataLst>
              <p:tags r:id="rId21"/>
            </p:custDataLst>
          </p:nvPr>
        </p:nvCxnSpPr>
        <p:spPr>
          <a:xfrm flipH="1">
            <a:off x="7905750" y="2896870"/>
            <a:ext cx="252730"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stCxn id="25" idx="5"/>
            <a:endCxn id="5" idx="1"/>
          </p:cNvCxnSpPr>
          <p:nvPr>
            <p:custDataLst>
              <p:tags r:id="rId22"/>
            </p:custDataLst>
          </p:nvPr>
        </p:nvCxnSpPr>
        <p:spPr>
          <a:xfrm>
            <a:off x="8667750" y="2896870"/>
            <a:ext cx="184785"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custDataLst>
              <p:tags r:id="rId23"/>
            </p:custDataLst>
          </p:nvPr>
        </p:nvSpPr>
        <p:spPr>
          <a:xfrm>
            <a:off x="8784590" y="1625600"/>
            <a:ext cx="645795" cy="368300"/>
          </a:xfrm>
          <a:prstGeom prst="rect">
            <a:avLst/>
          </a:prstGeom>
          <a:noFill/>
        </p:spPr>
        <p:txBody>
          <a:bodyPr wrap="square" rtlCol="0">
            <a:spAutoFit/>
          </a:bodyPr>
          <a:lstStyle/>
          <a:p>
            <a:r>
              <a:rPr lang="zh-CN" altLang="en-US" b="1">
                <a:solidFill>
                  <a:schemeClr val="bg1"/>
                </a:solidFill>
              </a:rPr>
              <a:t>年龄</a:t>
            </a:r>
            <a:endParaRPr lang="zh-CN" altLang="en-US" b="1">
              <a:solidFill>
                <a:schemeClr val="bg1"/>
              </a:solidFill>
            </a:endParaRPr>
          </a:p>
        </p:txBody>
      </p:sp>
      <p:sp>
        <p:nvSpPr>
          <p:cNvPr id="20" name="文本框 19"/>
          <p:cNvSpPr txBox="1"/>
          <p:nvPr>
            <p:custDataLst>
              <p:tags r:id="rId24"/>
            </p:custDataLst>
          </p:nvPr>
        </p:nvSpPr>
        <p:spPr>
          <a:xfrm>
            <a:off x="8085455" y="2458085"/>
            <a:ext cx="645795" cy="368300"/>
          </a:xfrm>
          <a:prstGeom prst="rect">
            <a:avLst/>
          </a:prstGeom>
          <a:noFill/>
        </p:spPr>
        <p:txBody>
          <a:bodyPr wrap="square" rtlCol="0">
            <a:spAutoFit/>
          </a:bodyPr>
          <a:lstStyle/>
          <a:p>
            <a:r>
              <a:rPr lang="zh-CN" altLang="en-US" b="1">
                <a:solidFill>
                  <a:schemeClr val="bg1"/>
                </a:solidFill>
              </a:rPr>
              <a:t>长相</a:t>
            </a:r>
            <a:endParaRPr lang="zh-CN" altLang="en-US" b="1">
              <a:solidFill>
                <a:schemeClr val="bg1"/>
              </a:solidFill>
            </a:endParaRPr>
          </a:p>
        </p:txBody>
      </p:sp>
      <p:sp>
        <p:nvSpPr>
          <p:cNvPr id="17" name="文本框 16"/>
          <p:cNvSpPr txBox="1"/>
          <p:nvPr>
            <p:custDataLst>
              <p:tags r:id="rId25"/>
            </p:custDataLst>
          </p:nvPr>
        </p:nvSpPr>
        <p:spPr>
          <a:xfrm>
            <a:off x="7328535" y="3329940"/>
            <a:ext cx="645795" cy="368300"/>
          </a:xfrm>
          <a:prstGeom prst="rect">
            <a:avLst/>
          </a:prstGeom>
          <a:noFill/>
        </p:spPr>
        <p:txBody>
          <a:bodyPr wrap="square" rtlCol="0">
            <a:spAutoFit/>
          </a:bodyPr>
          <a:lstStyle/>
          <a:p>
            <a:r>
              <a:rPr lang="zh-CN" altLang="en-US" b="1">
                <a:solidFill>
                  <a:schemeClr val="bg1"/>
                </a:solidFill>
              </a:rPr>
              <a:t>收入</a:t>
            </a:r>
            <a:endParaRPr lang="zh-CN" altLang="en-US" b="1">
              <a:solidFill>
                <a:schemeClr val="bg1"/>
              </a:solidFill>
            </a:endParaRPr>
          </a:p>
        </p:txBody>
      </p:sp>
      <p:sp>
        <p:nvSpPr>
          <p:cNvPr id="31" name="文本框 30"/>
          <p:cNvSpPr txBox="1"/>
          <p:nvPr>
            <p:custDataLst>
              <p:tags r:id="rId26"/>
            </p:custDataLst>
          </p:nvPr>
        </p:nvSpPr>
        <p:spPr>
          <a:xfrm>
            <a:off x="9545955" y="2458085"/>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34" name="文本框 33"/>
          <p:cNvSpPr txBox="1"/>
          <p:nvPr>
            <p:custDataLst>
              <p:tags r:id="rId27"/>
            </p:custDataLst>
          </p:nvPr>
        </p:nvSpPr>
        <p:spPr>
          <a:xfrm>
            <a:off x="8784590" y="3329940"/>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39" name="文本框 38"/>
          <p:cNvSpPr txBox="1"/>
          <p:nvPr>
            <p:custDataLst>
              <p:tags r:id="rId28"/>
            </p:custDataLst>
          </p:nvPr>
        </p:nvSpPr>
        <p:spPr>
          <a:xfrm>
            <a:off x="8289290" y="1913890"/>
            <a:ext cx="563245" cy="368300"/>
          </a:xfrm>
          <a:prstGeom prst="rect">
            <a:avLst/>
          </a:prstGeom>
          <a:noFill/>
        </p:spPr>
        <p:txBody>
          <a:bodyPr wrap="square" rtlCol="0">
            <a:spAutoFit/>
          </a:bodyPr>
          <a:lstStyle/>
          <a:p>
            <a:r>
              <a:rPr lang="en-US" altLang="zh-CN" b="1"/>
              <a:t>≤30</a:t>
            </a:r>
            <a:endParaRPr lang="en-US" altLang="zh-CN" b="1"/>
          </a:p>
        </p:txBody>
      </p:sp>
      <p:sp>
        <p:nvSpPr>
          <p:cNvPr id="40" name="文本框 39"/>
          <p:cNvSpPr txBox="1"/>
          <p:nvPr>
            <p:custDataLst>
              <p:tags r:id="rId29"/>
            </p:custDataLst>
          </p:nvPr>
        </p:nvSpPr>
        <p:spPr>
          <a:xfrm>
            <a:off x="9467215" y="1913890"/>
            <a:ext cx="563245" cy="368300"/>
          </a:xfrm>
          <a:prstGeom prst="rect">
            <a:avLst/>
          </a:prstGeom>
          <a:noFill/>
        </p:spPr>
        <p:txBody>
          <a:bodyPr wrap="square" rtlCol="0">
            <a:spAutoFit/>
          </a:bodyPr>
          <a:lstStyle/>
          <a:p>
            <a:r>
              <a:rPr lang="en-US" altLang="zh-CN" b="1"/>
              <a:t>&gt;30</a:t>
            </a:r>
            <a:endParaRPr lang="en-US" altLang="zh-CN" b="1"/>
          </a:p>
        </p:txBody>
      </p:sp>
      <p:sp>
        <p:nvSpPr>
          <p:cNvPr id="41" name="文本框 40"/>
          <p:cNvSpPr txBox="1"/>
          <p:nvPr>
            <p:custDataLst>
              <p:tags r:id="rId30"/>
            </p:custDataLst>
          </p:nvPr>
        </p:nvSpPr>
        <p:spPr>
          <a:xfrm>
            <a:off x="7087870" y="2740025"/>
            <a:ext cx="997585" cy="337185"/>
          </a:xfrm>
          <a:prstGeom prst="rect">
            <a:avLst/>
          </a:prstGeom>
          <a:noFill/>
        </p:spPr>
        <p:txBody>
          <a:bodyPr wrap="square" rtlCol="0">
            <a:spAutoFit/>
          </a:bodyPr>
          <a:lstStyle/>
          <a:p>
            <a:r>
              <a:rPr lang="zh-CN" altLang="en-US" sz="1600" b="1"/>
              <a:t>帅或中等</a:t>
            </a:r>
            <a:endParaRPr lang="zh-CN" altLang="en-US" sz="1600" b="1"/>
          </a:p>
        </p:txBody>
      </p:sp>
      <p:sp>
        <p:nvSpPr>
          <p:cNvPr id="43" name="文本框 42"/>
          <p:cNvSpPr txBox="1"/>
          <p:nvPr>
            <p:custDataLst>
              <p:tags r:id="rId31"/>
            </p:custDataLst>
          </p:nvPr>
        </p:nvSpPr>
        <p:spPr>
          <a:xfrm>
            <a:off x="8773160" y="2775585"/>
            <a:ext cx="372110" cy="337185"/>
          </a:xfrm>
          <a:prstGeom prst="rect">
            <a:avLst/>
          </a:prstGeom>
          <a:noFill/>
        </p:spPr>
        <p:txBody>
          <a:bodyPr wrap="square" rtlCol="0">
            <a:spAutoFit/>
          </a:bodyPr>
          <a:lstStyle/>
          <a:p>
            <a:r>
              <a:rPr lang="zh-CN" altLang="en-US" sz="1600" b="1"/>
              <a:t>丑</a:t>
            </a:r>
            <a:endParaRPr lang="zh-CN" altLang="en-US" sz="1600" b="1"/>
          </a:p>
        </p:txBody>
      </p:sp>
      <p:graphicFrame>
        <p:nvGraphicFramePr>
          <p:cNvPr id="23" name="表格 22"/>
          <p:cNvGraphicFramePr/>
          <p:nvPr>
            <p:custDataLst>
              <p:tags r:id="rId32"/>
            </p:custDataLst>
          </p:nvPr>
        </p:nvGraphicFramePr>
        <p:xfrm>
          <a:off x="354330" y="3047365"/>
          <a:ext cx="4973955" cy="2468880"/>
        </p:xfrm>
        <a:graphic>
          <a:graphicData uri="http://schemas.openxmlformats.org/drawingml/2006/table">
            <a:tbl>
              <a:tblPr firstRow="1" bandRow="1">
                <a:tableStyleId>{5C22544A-7EE6-4342-B048-85BDC9FD1C3A}</a:tableStyleId>
              </a:tblPr>
              <a:tblGrid>
                <a:gridCol w="675005"/>
                <a:gridCol w="644525"/>
                <a:gridCol w="1003935"/>
                <a:gridCol w="686435"/>
                <a:gridCol w="803910"/>
                <a:gridCol w="1160145"/>
              </a:tblGrid>
              <a:tr h="640080">
                <a:tc>
                  <a:txBody>
                    <a:bodyPr/>
                    <a:lstStyle/>
                    <a:p>
                      <a:pPr algn="ctr">
                        <a:buNone/>
                      </a:pPr>
                      <a:r>
                        <a:rPr lang="zh-CN" altLang="en-US" sz="1600"/>
                        <a:t>相亲对象</a:t>
                      </a:r>
                      <a:endParaRPr lang="zh-CN" altLang="en-US" sz="1600"/>
                    </a:p>
                  </a:txBody>
                  <a:tcPr anchor="ctr"/>
                </a:tc>
                <a:tc>
                  <a:txBody>
                    <a:bodyPr/>
                    <a:lstStyle/>
                    <a:p>
                      <a:pPr algn="ctr">
                        <a:buNone/>
                      </a:pPr>
                      <a:r>
                        <a:rPr lang="zh-CN" altLang="en-US" sz="1600"/>
                        <a:t>年龄</a:t>
                      </a:r>
                      <a:endParaRPr lang="en-US" altLang="zh-CN" sz="1600"/>
                    </a:p>
                  </a:txBody>
                  <a:tcPr anchor="ctr"/>
                </a:tc>
                <a:tc>
                  <a:txBody>
                    <a:bodyPr/>
                    <a:lstStyle/>
                    <a:p>
                      <a:pPr algn="ctr">
                        <a:buNone/>
                      </a:pPr>
                      <a:r>
                        <a:rPr lang="zh-CN" altLang="en-US" sz="1600"/>
                        <a:t>长相</a:t>
                      </a:r>
                      <a:endParaRPr lang="zh-CN" altLang="en-US" sz="1600"/>
                    </a:p>
                  </a:txBody>
                  <a:tcPr anchor="ctr"/>
                </a:tc>
                <a:tc>
                  <a:txBody>
                    <a:bodyPr/>
                    <a:lstStyle/>
                    <a:p>
                      <a:pPr algn="ctr">
                        <a:buNone/>
                      </a:pPr>
                      <a:r>
                        <a:rPr lang="zh-CN" altLang="en-US" sz="1600"/>
                        <a:t>收入</a:t>
                      </a:r>
                      <a:endParaRPr lang="zh-CN" altLang="en-US" sz="1600"/>
                    </a:p>
                  </a:txBody>
                  <a:tcPr anchor="ctr"/>
                </a:tc>
                <a:tc>
                  <a:txBody>
                    <a:bodyPr/>
                    <a:lstStyle/>
                    <a:p>
                      <a:pPr algn="ctr">
                        <a:buNone/>
                      </a:pPr>
                      <a:r>
                        <a:rPr lang="zh-CN" altLang="en-US" sz="1600"/>
                        <a:t>公务员</a:t>
                      </a:r>
                      <a:endParaRPr lang="zh-CN" altLang="en-US" sz="1600"/>
                    </a:p>
                  </a:txBody>
                  <a:tcPr anchor="ctr"/>
                </a:tc>
                <a:tc>
                  <a:txBody>
                    <a:bodyPr/>
                    <a:lstStyle/>
                    <a:p>
                      <a:pPr algn="ctr">
                        <a:buNone/>
                      </a:pPr>
                      <a:r>
                        <a:rPr lang="zh-CN" altLang="en-US" sz="1600"/>
                        <a:t>是否相见</a:t>
                      </a:r>
                      <a:endParaRPr lang="zh-CN" altLang="en-US" sz="1600"/>
                    </a:p>
                  </a:txBody>
                  <a:tcPr anchor="ctr"/>
                </a:tc>
              </a:tr>
              <a:tr h="365760">
                <a:tc>
                  <a:txBody>
                    <a:bodyPr/>
                    <a:lstStyle/>
                    <a:p>
                      <a:pPr algn="ctr">
                        <a:buNone/>
                      </a:pPr>
                      <a:r>
                        <a:rPr lang="en-US" altLang="zh-CN" sz="1600"/>
                        <a:t>1</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3</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低</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4</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中等</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6</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None/>
                      </a:pPr>
                      <a:r>
                        <a:rPr lang="zh-CN" altLang="en-US" sz="1600"/>
                        <a:t>丑</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7</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sym typeface="+mn-ea"/>
                        </a:rPr>
                        <a:t>中等</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8" name="矩形 7"/>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9" name="文本框 8"/>
          <p:cNvSpPr txBox="1"/>
          <p:nvPr>
            <p:custDataLst>
              <p:tags r:id="rId3"/>
            </p:custDataLst>
          </p:nvPr>
        </p:nvSpPr>
        <p:spPr>
          <a:xfrm>
            <a:off x="419735" y="321945"/>
            <a:ext cx="31445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如何生成决策树？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24" name="文本框 23"/>
          <p:cNvSpPr txBox="1"/>
          <p:nvPr>
            <p:custDataLst>
              <p:tags r:id="rId4"/>
            </p:custDataLst>
          </p:nvPr>
        </p:nvSpPr>
        <p:spPr>
          <a:xfrm>
            <a:off x="2298700" y="2610485"/>
            <a:ext cx="914400" cy="368300"/>
          </a:xfrm>
          <a:prstGeom prst="rect">
            <a:avLst/>
          </a:prstGeom>
          <a:noFill/>
        </p:spPr>
        <p:txBody>
          <a:bodyPr wrap="square" rtlCol="0">
            <a:spAutoFit/>
          </a:bodyPr>
          <a:lstStyle/>
          <a:p>
            <a:r>
              <a:rPr lang="zh-CN" altLang="en-US" b="1"/>
              <a:t>训练集</a:t>
            </a:r>
            <a:endParaRPr lang="zh-CN" altLang="en-US" b="1"/>
          </a:p>
        </p:txBody>
      </p:sp>
      <p:sp>
        <p:nvSpPr>
          <p:cNvPr id="2" name="文本框 1"/>
          <p:cNvSpPr txBox="1"/>
          <p:nvPr/>
        </p:nvSpPr>
        <p:spPr>
          <a:xfrm>
            <a:off x="354330" y="1231900"/>
            <a:ext cx="3429635" cy="36830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cs typeface="微软雅黑" panose="020B0503020204020204" charset="-122"/>
              </a:rPr>
              <a:t>属性集：</a:t>
            </a:r>
            <a:r>
              <a:rPr lang="en-US" altLang="zh-CN" b="1">
                <a:latin typeface="微软雅黑" panose="020B0503020204020204" charset="-122"/>
                <a:ea typeface="微软雅黑" panose="020B0503020204020204" charset="-122"/>
                <a:cs typeface="微软雅黑" panose="020B0503020204020204" charset="-122"/>
              </a:rPr>
              <a:t>{</a:t>
            </a:r>
            <a:r>
              <a:rPr lang="zh-CN" b="1">
                <a:solidFill>
                  <a:srgbClr val="C00000"/>
                </a:solidFill>
                <a:latin typeface="微软雅黑" panose="020B0503020204020204" charset="-122"/>
                <a:ea typeface="微软雅黑" panose="020B0503020204020204" charset="-122"/>
                <a:cs typeface="微软雅黑" panose="020B0503020204020204" charset="-122"/>
              </a:rPr>
              <a:t>收入</a:t>
            </a:r>
            <a:r>
              <a:rPr lang="zh-CN" altLang="en-US" b="1">
                <a:latin typeface="微软雅黑" panose="020B0503020204020204" charset="-122"/>
                <a:ea typeface="微软雅黑" panose="020B0503020204020204" charset="-122"/>
                <a:cs typeface="微软雅黑" panose="020B0503020204020204" charset="-122"/>
              </a:rPr>
              <a:t>；公务员</a:t>
            </a:r>
            <a:r>
              <a:rPr lang="en-US" altLang="zh-CN" b="1">
                <a:latin typeface="微软雅黑" panose="020B0503020204020204" charset="-122"/>
                <a:ea typeface="微软雅黑" panose="020B0503020204020204" charset="-122"/>
                <a:cs typeface="微软雅黑" panose="020B0503020204020204" charset="-122"/>
              </a:rPr>
              <a:t>}</a:t>
            </a:r>
            <a:endParaRPr lang="en-US" altLang="zh-CN" b="1">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354330" y="1858645"/>
            <a:ext cx="2350135" cy="368300"/>
          </a:xfrm>
          <a:prstGeom prst="rect">
            <a:avLst/>
          </a:prstGeom>
          <a:noFill/>
        </p:spPr>
        <p:txBody>
          <a:bodyPr wrap="square" rtlCol="0">
            <a:spAutoFit/>
          </a:bodyPr>
          <a:lstStyle/>
          <a:p>
            <a:r>
              <a:rPr lang="zh-CN" altLang="en-US" b="1"/>
              <a:t>最优划分属性：</a:t>
            </a:r>
            <a:r>
              <a:rPr lang="zh-CN" b="1">
                <a:solidFill>
                  <a:srgbClr val="C00000"/>
                </a:solidFill>
                <a:latin typeface="微软雅黑" panose="020B0503020204020204" charset="-122"/>
                <a:ea typeface="微软雅黑" panose="020B0503020204020204" charset="-122"/>
                <a:cs typeface="微软雅黑" panose="020B0503020204020204" charset="-122"/>
                <a:sym typeface="+mn-ea"/>
              </a:rPr>
              <a:t>收入</a:t>
            </a:r>
            <a:endParaRPr lang="zh-CN"/>
          </a:p>
        </p:txBody>
      </p:sp>
      <p:sp>
        <p:nvSpPr>
          <p:cNvPr id="7" name="椭圆 6"/>
          <p:cNvSpPr/>
          <p:nvPr>
            <p:custDataLst>
              <p:tags r:id="rId5"/>
            </p:custDataLst>
          </p:nvPr>
        </p:nvSpPr>
        <p:spPr>
          <a:xfrm>
            <a:off x="9069705" y="104140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p>
        </p:txBody>
      </p:sp>
      <p:cxnSp>
        <p:nvCxnSpPr>
          <p:cNvPr id="11" name="直接箭头连接符 10"/>
          <p:cNvCxnSpPr>
            <a:stCxn id="7" idx="3"/>
            <a:endCxn id="13" idx="7"/>
          </p:cNvCxnSpPr>
          <p:nvPr>
            <p:custDataLst>
              <p:tags r:id="rId6"/>
            </p:custDataLst>
          </p:nvPr>
        </p:nvCxnSpPr>
        <p:spPr>
          <a:xfrm flipH="1">
            <a:off x="8990330" y="1656080"/>
            <a:ext cx="184785"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7" idx="5"/>
            <a:endCxn id="15" idx="1"/>
          </p:cNvCxnSpPr>
          <p:nvPr>
            <p:custDataLst>
              <p:tags r:id="rId7"/>
            </p:custDataLst>
          </p:nvPr>
        </p:nvCxnSpPr>
        <p:spPr>
          <a:xfrm>
            <a:off x="9684385" y="1656080"/>
            <a:ext cx="252730"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3" name="椭圆 12"/>
          <p:cNvSpPr/>
          <p:nvPr>
            <p:custDataLst>
              <p:tags r:id="rId8"/>
            </p:custDataLst>
          </p:nvPr>
        </p:nvSpPr>
        <p:spPr>
          <a:xfrm>
            <a:off x="8375650" y="185483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椭圆 14"/>
          <p:cNvSpPr/>
          <p:nvPr>
            <p:custDataLst>
              <p:tags r:id="rId9"/>
            </p:custDataLst>
          </p:nvPr>
        </p:nvSpPr>
        <p:spPr>
          <a:xfrm>
            <a:off x="9831705" y="185483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文本框 15"/>
          <p:cNvSpPr txBox="1"/>
          <p:nvPr>
            <p:custDataLst>
              <p:tags r:id="rId10"/>
            </p:custDataLst>
          </p:nvPr>
        </p:nvSpPr>
        <p:spPr>
          <a:xfrm>
            <a:off x="9107170" y="1198245"/>
            <a:ext cx="645795" cy="368300"/>
          </a:xfrm>
          <a:prstGeom prst="rect">
            <a:avLst/>
          </a:prstGeom>
          <a:noFill/>
        </p:spPr>
        <p:txBody>
          <a:bodyPr wrap="square" rtlCol="0">
            <a:spAutoFit/>
          </a:bodyPr>
          <a:lstStyle/>
          <a:p>
            <a:r>
              <a:rPr lang="zh-CN" altLang="en-US" b="1">
                <a:solidFill>
                  <a:schemeClr val="bg1"/>
                </a:solidFill>
              </a:rPr>
              <a:t>年龄</a:t>
            </a:r>
            <a:endParaRPr lang="zh-CN" altLang="en-US" b="1">
              <a:solidFill>
                <a:schemeClr val="bg1"/>
              </a:solidFill>
            </a:endParaRPr>
          </a:p>
        </p:txBody>
      </p:sp>
      <p:sp>
        <p:nvSpPr>
          <p:cNvPr id="18" name="文本框 17"/>
          <p:cNvSpPr txBox="1"/>
          <p:nvPr>
            <p:custDataLst>
              <p:tags r:id="rId11"/>
            </p:custDataLst>
          </p:nvPr>
        </p:nvSpPr>
        <p:spPr>
          <a:xfrm>
            <a:off x="9868535" y="2030730"/>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28" name="文本框 27"/>
          <p:cNvSpPr txBox="1"/>
          <p:nvPr>
            <p:custDataLst>
              <p:tags r:id="rId12"/>
            </p:custDataLst>
          </p:nvPr>
        </p:nvSpPr>
        <p:spPr>
          <a:xfrm>
            <a:off x="8611870" y="1486535"/>
            <a:ext cx="563245" cy="368300"/>
          </a:xfrm>
          <a:prstGeom prst="rect">
            <a:avLst/>
          </a:prstGeom>
          <a:noFill/>
        </p:spPr>
        <p:txBody>
          <a:bodyPr wrap="square" rtlCol="0">
            <a:spAutoFit/>
          </a:bodyPr>
          <a:lstStyle/>
          <a:p>
            <a:r>
              <a:rPr lang="en-US" altLang="zh-CN" b="1"/>
              <a:t>≤30</a:t>
            </a:r>
            <a:endParaRPr lang="en-US" altLang="zh-CN" b="1"/>
          </a:p>
        </p:txBody>
      </p:sp>
      <p:sp>
        <p:nvSpPr>
          <p:cNvPr id="29" name="文本框 28"/>
          <p:cNvSpPr txBox="1"/>
          <p:nvPr>
            <p:custDataLst>
              <p:tags r:id="rId13"/>
            </p:custDataLst>
          </p:nvPr>
        </p:nvSpPr>
        <p:spPr>
          <a:xfrm>
            <a:off x="9789795" y="1486535"/>
            <a:ext cx="563245" cy="368300"/>
          </a:xfrm>
          <a:prstGeom prst="rect">
            <a:avLst/>
          </a:prstGeom>
          <a:noFill/>
        </p:spPr>
        <p:txBody>
          <a:bodyPr wrap="square" rtlCol="0">
            <a:spAutoFit/>
          </a:bodyPr>
          <a:lstStyle/>
          <a:p>
            <a:r>
              <a:rPr lang="en-US" altLang="zh-CN" b="1"/>
              <a:t>&gt;30</a:t>
            </a:r>
            <a:endParaRPr lang="en-US" altLang="zh-CN" b="1"/>
          </a:p>
        </p:txBody>
      </p:sp>
      <p:sp>
        <p:nvSpPr>
          <p:cNvPr id="30" name="文本框 29"/>
          <p:cNvSpPr txBox="1"/>
          <p:nvPr/>
        </p:nvSpPr>
        <p:spPr>
          <a:xfrm>
            <a:off x="6249670" y="4827905"/>
            <a:ext cx="5592445" cy="2030095"/>
          </a:xfrm>
          <a:prstGeom prst="rect">
            <a:avLst/>
          </a:prstGeom>
          <a:noFill/>
        </p:spPr>
        <p:txBody>
          <a:bodyPr wrap="square" rtlCol="0">
            <a:spAutoFit/>
          </a:bodyPr>
          <a:lstStyle/>
          <a:p>
            <a:r>
              <a:rPr lang="en-US" altLang="zh-CN" b="1"/>
              <a:t>1</a:t>
            </a:r>
            <a:r>
              <a:rPr lang="zh-CN" altLang="en-US" b="1"/>
              <a:t>）</a:t>
            </a:r>
            <a:r>
              <a:rPr lang="zh-CN" altLang="en-US" b="1">
                <a:sym typeface="+mn-ea"/>
              </a:rPr>
              <a:t>在训练集中</a:t>
            </a:r>
            <a:r>
              <a:rPr lang="en-US" altLang="zh-CN" b="1">
                <a:sym typeface="+mn-ea"/>
              </a:rPr>
              <a:t>[</a:t>
            </a:r>
            <a:r>
              <a:rPr lang="zh-CN" altLang="en-US" b="1">
                <a:sym typeface="+mn-ea"/>
              </a:rPr>
              <a:t>收入</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高</a:t>
            </a:r>
            <a:r>
              <a:rPr lang="zh-CN" altLang="en-US" b="1">
                <a:sym typeface="+mn-ea"/>
              </a:rPr>
              <a:t>的样本的标签均为见，因此将该结点标记为</a:t>
            </a:r>
            <a:r>
              <a:rPr lang="en-US" altLang="zh-CN" b="1">
                <a:sym typeface="+mn-ea"/>
              </a:rPr>
              <a:t>[</a:t>
            </a:r>
            <a:r>
              <a:rPr lang="zh-CN" altLang="en-US" b="1">
                <a:sym typeface="+mn-ea"/>
              </a:rPr>
              <a:t>见</a:t>
            </a:r>
            <a:r>
              <a:rPr lang="en-US" altLang="zh-CN" b="1">
                <a:sym typeface="+mn-ea"/>
              </a:rPr>
              <a:t>]</a:t>
            </a:r>
            <a:r>
              <a:rPr lang="zh-CN" altLang="en-US" b="1">
                <a:sym typeface="+mn-ea"/>
              </a:rPr>
              <a:t>叶结点</a:t>
            </a:r>
            <a:endParaRPr lang="zh-CN" altLang="en-US" b="1">
              <a:sym typeface="+mn-ea"/>
            </a:endParaRPr>
          </a:p>
          <a:p>
            <a:r>
              <a:rPr lang="en-US" altLang="zh-CN" b="1">
                <a:sym typeface="+mn-ea"/>
              </a:rPr>
              <a:t>2</a:t>
            </a:r>
            <a:r>
              <a:rPr lang="zh-CN" altLang="en-US" b="1">
                <a:sym typeface="+mn-ea"/>
              </a:rPr>
              <a:t>）在训练集中</a:t>
            </a:r>
            <a:r>
              <a:rPr lang="en-US" altLang="zh-CN" b="1">
                <a:sym typeface="+mn-ea"/>
              </a:rPr>
              <a:t>[</a:t>
            </a:r>
            <a:r>
              <a:rPr lang="zh-CN" altLang="en-US" b="1">
                <a:sym typeface="+mn-ea"/>
              </a:rPr>
              <a:t>收入</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低</a:t>
            </a:r>
            <a:r>
              <a:rPr lang="zh-CN" altLang="en-US" b="1">
                <a:sym typeface="+mn-ea"/>
              </a:rPr>
              <a:t>的样本的标签均为不见，因此将该结点标记为</a:t>
            </a:r>
            <a:r>
              <a:rPr lang="en-US" altLang="zh-CN" b="1">
                <a:sym typeface="+mn-ea"/>
              </a:rPr>
              <a:t>[</a:t>
            </a:r>
            <a:r>
              <a:rPr lang="zh-CN" altLang="en-US" b="1">
                <a:sym typeface="+mn-ea"/>
              </a:rPr>
              <a:t>不见</a:t>
            </a:r>
            <a:r>
              <a:rPr lang="en-US" altLang="zh-CN" b="1">
                <a:sym typeface="+mn-ea"/>
              </a:rPr>
              <a:t>]</a:t>
            </a:r>
            <a:r>
              <a:rPr lang="zh-CN" altLang="en-US" b="1">
                <a:sym typeface="+mn-ea"/>
              </a:rPr>
              <a:t>叶结点</a:t>
            </a:r>
            <a:endParaRPr lang="en-US" altLang="zh-CN" b="1"/>
          </a:p>
          <a:p>
            <a:r>
              <a:rPr lang="en-US" altLang="zh-CN" b="1"/>
              <a:t>3</a:t>
            </a:r>
            <a:r>
              <a:rPr lang="zh-CN" altLang="en-US" b="1"/>
              <a:t>）</a:t>
            </a:r>
            <a:r>
              <a:rPr lang="en-US" altLang="zh-CN" b="1">
                <a:sym typeface="+mn-ea"/>
              </a:rPr>
              <a:t>[</a:t>
            </a:r>
            <a:r>
              <a:rPr lang="zh-CN" altLang="en-US" b="1">
                <a:sym typeface="+mn-ea"/>
              </a:rPr>
              <a:t>收入</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中等</a:t>
            </a:r>
            <a:r>
              <a:rPr lang="zh-CN" altLang="en-US" b="1">
                <a:sym typeface="+mn-ea"/>
              </a:rPr>
              <a:t>指向的结点作为内部结点继续进行划分，此时属性集为去除属性</a:t>
            </a:r>
            <a:r>
              <a:rPr lang="en-US" altLang="zh-CN" b="1">
                <a:sym typeface="+mn-ea"/>
              </a:rPr>
              <a:t>[</a:t>
            </a:r>
            <a:r>
              <a:rPr lang="zh-CN" altLang="en-US" b="1">
                <a:sym typeface="+mn-ea"/>
              </a:rPr>
              <a:t>收入</a:t>
            </a:r>
            <a:r>
              <a:rPr lang="en-US" altLang="zh-CN" b="1">
                <a:sym typeface="+mn-ea"/>
              </a:rPr>
              <a:t>]</a:t>
            </a:r>
            <a:r>
              <a:rPr lang="zh-CN" altLang="en-US" b="1">
                <a:sym typeface="+mn-ea"/>
              </a:rPr>
              <a:t>后的属性集，训练集为符合属性</a:t>
            </a:r>
            <a:r>
              <a:rPr lang="en-US" altLang="zh-CN" b="1">
                <a:sym typeface="+mn-ea"/>
              </a:rPr>
              <a:t>[</a:t>
            </a:r>
            <a:r>
              <a:rPr lang="zh-CN" altLang="en-US" b="1">
                <a:sym typeface="+mn-ea"/>
              </a:rPr>
              <a:t>收入</a:t>
            </a:r>
            <a:r>
              <a:rPr lang="en-US" altLang="zh-CN" b="1">
                <a:sym typeface="+mn-ea"/>
              </a:rPr>
              <a:t>]</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中等</a:t>
            </a:r>
            <a:r>
              <a:rPr lang="zh-CN" altLang="en-US" b="1">
                <a:sym typeface="+mn-ea"/>
              </a:rPr>
              <a:t>的训练集</a:t>
            </a:r>
            <a:endParaRPr lang="zh-CN" altLang="en-US" b="1"/>
          </a:p>
        </p:txBody>
      </p:sp>
      <p:sp>
        <p:nvSpPr>
          <p:cNvPr id="14" name="椭圆 13"/>
          <p:cNvSpPr/>
          <p:nvPr>
            <p:custDataLst>
              <p:tags r:id="rId14"/>
            </p:custDataLst>
          </p:nvPr>
        </p:nvSpPr>
        <p:spPr>
          <a:xfrm>
            <a:off x="9069705" y="104140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p>
        </p:txBody>
      </p:sp>
      <p:cxnSp>
        <p:nvCxnSpPr>
          <p:cNvPr id="21" name="直接箭头连接符 20"/>
          <p:cNvCxnSpPr>
            <a:stCxn id="14" idx="3"/>
            <a:endCxn id="25" idx="7"/>
          </p:cNvCxnSpPr>
          <p:nvPr>
            <p:custDataLst>
              <p:tags r:id="rId15"/>
            </p:custDataLst>
          </p:nvPr>
        </p:nvCxnSpPr>
        <p:spPr>
          <a:xfrm flipH="1">
            <a:off x="8990330" y="1656080"/>
            <a:ext cx="184785"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2" name="直接箭头连接符 21"/>
          <p:cNvCxnSpPr>
            <a:stCxn id="14" idx="5"/>
            <a:endCxn id="26" idx="1"/>
          </p:cNvCxnSpPr>
          <p:nvPr>
            <p:custDataLst>
              <p:tags r:id="rId16"/>
            </p:custDataLst>
          </p:nvPr>
        </p:nvCxnSpPr>
        <p:spPr>
          <a:xfrm>
            <a:off x="9684385" y="1656080"/>
            <a:ext cx="252730"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5" name="椭圆 24"/>
          <p:cNvSpPr/>
          <p:nvPr>
            <p:custDataLst>
              <p:tags r:id="rId17"/>
            </p:custDataLst>
          </p:nvPr>
        </p:nvSpPr>
        <p:spPr>
          <a:xfrm>
            <a:off x="8375650" y="185483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6" name="椭圆 25"/>
          <p:cNvSpPr/>
          <p:nvPr>
            <p:custDataLst>
              <p:tags r:id="rId18"/>
            </p:custDataLst>
          </p:nvPr>
        </p:nvSpPr>
        <p:spPr>
          <a:xfrm>
            <a:off x="9831705" y="185483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7" name="椭圆 26"/>
          <p:cNvSpPr/>
          <p:nvPr>
            <p:custDataLst>
              <p:tags r:id="rId19"/>
            </p:custDataLst>
          </p:nvPr>
        </p:nvSpPr>
        <p:spPr>
          <a:xfrm>
            <a:off x="7613650" y="272669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5" name="椭圆 4"/>
          <p:cNvSpPr/>
          <p:nvPr>
            <p:custDataLst>
              <p:tags r:id="rId20"/>
            </p:custDataLst>
          </p:nvPr>
        </p:nvSpPr>
        <p:spPr>
          <a:xfrm>
            <a:off x="9069705" y="272669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6" name="直接箭头连接符 5"/>
          <p:cNvCxnSpPr>
            <a:stCxn id="25" idx="3"/>
            <a:endCxn id="27" idx="7"/>
          </p:cNvCxnSpPr>
          <p:nvPr>
            <p:custDataLst>
              <p:tags r:id="rId21"/>
            </p:custDataLst>
          </p:nvPr>
        </p:nvCxnSpPr>
        <p:spPr>
          <a:xfrm flipH="1">
            <a:off x="8228330" y="2469515"/>
            <a:ext cx="252730"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stCxn id="25" idx="5"/>
            <a:endCxn id="5" idx="1"/>
          </p:cNvCxnSpPr>
          <p:nvPr>
            <p:custDataLst>
              <p:tags r:id="rId22"/>
            </p:custDataLst>
          </p:nvPr>
        </p:nvCxnSpPr>
        <p:spPr>
          <a:xfrm>
            <a:off x="8990330" y="2469515"/>
            <a:ext cx="184785"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custDataLst>
              <p:tags r:id="rId23"/>
            </p:custDataLst>
          </p:nvPr>
        </p:nvSpPr>
        <p:spPr>
          <a:xfrm>
            <a:off x="9107170" y="1198245"/>
            <a:ext cx="645795" cy="368300"/>
          </a:xfrm>
          <a:prstGeom prst="rect">
            <a:avLst/>
          </a:prstGeom>
          <a:noFill/>
        </p:spPr>
        <p:txBody>
          <a:bodyPr wrap="square" rtlCol="0">
            <a:spAutoFit/>
          </a:bodyPr>
          <a:lstStyle/>
          <a:p>
            <a:r>
              <a:rPr lang="zh-CN" altLang="en-US" b="1">
                <a:solidFill>
                  <a:schemeClr val="bg1"/>
                </a:solidFill>
              </a:rPr>
              <a:t>年龄</a:t>
            </a:r>
            <a:endParaRPr lang="zh-CN" altLang="en-US" b="1">
              <a:solidFill>
                <a:schemeClr val="bg1"/>
              </a:solidFill>
            </a:endParaRPr>
          </a:p>
        </p:txBody>
      </p:sp>
      <p:sp>
        <p:nvSpPr>
          <p:cNvPr id="20" name="文本框 19"/>
          <p:cNvSpPr txBox="1"/>
          <p:nvPr>
            <p:custDataLst>
              <p:tags r:id="rId24"/>
            </p:custDataLst>
          </p:nvPr>
        </p:nvSpPr>
        <p:spPr>
          <a:xfrm>
            <a:off x="8408035" y="2030730"/>
            <a:ext cx="645795" cy="368300"/>
          </a:xfrm>
          <a:prstGeom prst="rect">
            <a:avLst/>
          </a:prstGeom>
          <a:noFill/>
        </p:spPr>
        <p:txBody>
          <a:bodyPr wrap="square" rtlCol="0">
            <a:spAutoFit/>
          </a:bodyPr>
          <a:lstStyle/>
          <a:p>
            <a:r>
              <a:rPr lang="zh-CN" altLang="en-US" b="1">
                <a:solidFill>
                  <a:schemeClr val="bg1"/>
                </a:solidFill>
              </a:rPr>
              <a:t>长相</a:t>
            </a:r>
            <a:endParaRPr lang="zh-CN" altLang="en-US" b="1">
              <a:solidFill>
                <a:schemeClr val="bg1"/>
              </a:solidFill>
            </a:endParaRPr>
          </a:p>
        </p:txBody>
      </p:sp>
      <p:sp>
        <p:nvSpPr>
          <p:cNvPr id="17" name="文本框 16"/>
          <p:cNvSpPr txBox="1"/>
          <p:nvPr>
            <p:custDataLst>
              <p:tags r:id="rId25"/>
            </p:custDataLst>
          </p:nvPr>
        </p:nvSpPr>
        <p:spPr>
          <a:xfrm>
            <a:off x="7651115" y="2902585"/>
            <a:ext cx="645795" cy="368300"/>
          </a:xfrm>
          <a:prstGeom prst="rect">
            <a:avLst/>
          </a:prstGeom>
          <a:noFill/>
        </p:spPr>
        <p:txBody>
          <a:bodyPr wrap="square" rtlCol="0">
            <a:spAutoFit/>
          </a:bodyPr>
          <a:lstStyle/>
          <a:p>
            <a:r>
              <a:rPr lang="zh-CN" altLang="en-US" b="1">
                <a:solidFill>
                  <a:schemeClr val="bg1"/>
                </a:solidFill>
              </a:rPr>
              <a:t>收入</a:t>
            </a:r>
            <a:endParaRPr lang="zh-CN" altLang="en-US" b="1">
              <a:solidFill>
                <a:schemeClr val="bg1"/>
              </a:solidFill>
            </a:endParaRPr>
          </a:p>
        </p:txBody>
      </p:sp>
      <p:sp>
        <p:nvSpPr>
          <p:cNvPr id="31" name="文本框 30"/>
          <p:cNvSpPr txBox="1"/>
          <p:nvPr>
            <p:custDataLst>
              <p:tags r:id="rId26"/>
            </p:custDataLst>
          </p:nvPr>
        </p:nvSpPr>
        <p:spPr>
          <a:xfrm>
            <a:off x="9868535" y="2030730"/>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34" name="文本框 33"/>
          <p:cNvSpPr txBox="1"/>
          <p:nvPr>
            <p:custDataLst>
              <p:tags r:id="rId27"/>
            </p:custDataLst>
          </p:nvPr>
        </p:nvSpPr>
        <p:spPr>
          <a:xfrm>
            <a:off x="9107170" y="2902585"/>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39" name="文本框 38"/>
          <p:cNvSpPr txBox="1"/>
          <p:nvPr>
            <p:custDataLst>
              <p:tags r:id="rId28"/>
            </p:custDataLst>
          </p:nvPr>
        </p:nvSpPr>
        <p:spPr>
          <a:xfrm>
            <a:off x="8611870" y="1486535"/>
            <a:ext cx="563245" cy="368300"/>
          </a:xfrm>
          <a:prstGeom prst="rect">
            <a:avLst/>
          </a:prstGeom>
          <a:noFill/>
        </p:spPr>
        <p:txBody>
          <a:bodyPr wrap="square" rtlCol="0">
            <a:spAutoFit/>
          </a:bodyPr>
          <a:lstStyle/>
          <a:p>
            <a:r>
              <a:rPr lang="en-US" altLang="zh-CN" b="1"/>
              <a:t>≤30</a:t>
            </a:r>
            <a:endParaRPr lang="en-US" altLang="zh-CN" b="1"/>
          </a:p>
        </p:txBody>
      </p:sp>
      <p:sp>
        <p:nvSpPr>
          <p:cNvPr id="40" name="文本框 39"/>
          <p:cNvSpPr txBox="1"/>
          <p:nvPr>
            <p:custDataLst>
              <p:tags r:id="rId29"/>
            </p:custDataLst>
          </p:nvPr>
        </p:nvSpPr>
        <p:spPr>
          <a:xfrm>
            <a:off x="9789795" y="1486535"/>
            <a:ext cx="563245" cy="368300"/>
          </a:xfrm>
          <a:prstGeom prst="rect">
            <a:avLst/>
          </a:prstGeom>
          <a:noFill/>
        </p:spPr>
        <p:txBody>
          <a:bodyPr wrap="square" rtlCol="0">
            <a:spAutoFit/>
          </a:bodyPr>
          <a:lstStyle/>
          <a:p>
            <a:r>
              <a:rPr lang="en-US" altLang="zh-CN" b="1"/>
              <a:t>&gt;30</a:t>
            </a:r>
            <a:endParaRPr lang="en-US" altLang="zh-CN" b="1"/>
          </a:p>
        </p:txBody>
      </p:sp>
      <p:sp>
        <p:nvSpPr>
          <p:cNvPr id="41" name="文本框 40"/>
          <p:cNvSpPr txBox="1"/>
          <p:nvPr>
            <p:custDataLst>
              <p:tags r:id="rId30"/>
            </p:custDataLst>
          </p:nvPr>
        </p:nvSpPr>
        <p:spPr>
          <a:xfrm>
            <a:off x="7410450" y="2312670"/>
            <a:ext cx="997585" cy="337185"/>
          </a:xfrm>
          <a:prstGeom prst="rect">
            <a:avLst/>
          </a:prstGeom>
          <a:noFill/>
        </p:spPr>
        <p:txBody>
          <a:bodyPr wrap="square" rtlCol="0">
            <a:spAutoFit/>
          </a:bodyPr>
          <a:lstStyle/>
          <a:p>
            <a:r>
              <a:rPr lang="zh-CN" altLang="en-US" sz="1600" b="1"/>
              <a:t>帅或中等</a:t>
            </a:r>
            <a:endParaRPr lang="zh-CN" altLang="en-US" sz="1600" b="1"/>
          </a:p>
        </p:txBody>
      </p:sp>
      <p:sp>
        <p:nvSpPr>
          <p:cNvPr id="43" name="文本框 42"/>
          <p:cNvSpPr txBox="1"/>
          <p:nvPr>
            <p:custDataLst>
              <p:tags r:id="rId31"/>
            </p:custDataLst>
          </p:nvPr>
        </p:nvSpPr>
        <p:spPr>
          <a:xfrm>
            <a:off x="9095740" y="2348230"/>
            <a:ext cx="372110" cy="337185"/>
          </a:xfrm>
          <a:prstGeom prst="rect">
            <a:avLst/>
          </a:prstGeom>
          <a:noFill/>
        </p:spPr>
        <p:txBody>
          <a:bodyPr wrap="square" rtlCol="0">
            <a:spAutoFit/>
          </a:bodyPr>
          <a:lstStyle/>
          <a:p>
            <a:r>
              <a:rPr lang="zh-CN" altLang="en-US" sz="1600" b="1"/>
              <a:t>丑</a:t>
            </a:r>
            <a:endParaRPr lang="zh-CN" altLang="en-US" sz="1600" b="1"/>
          </a:p>
        </p:txBody>
      </p:sp>
      <p:sp>
        <p:nvSpPr>
          <p:cNvPr id="23" name="椭圆 22"/>
          <p:cNvSpPr/>
          <p:nvPr>
            <p:custDataLst>
              <p:tags r:id="rId32"/>
            </p:custDataLst>
          </p:nvPr>
        </p:nvSpPr>
        <p:spPr>
          <a:xfrm>
            <a:off x="9069705" y="104521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p>
        </p:txBody>
      </p:sp>
      <p:cxnSp>
        <p:nvCxnSpPr>
          <p:cNvPr id="32" name="直接箭头连接符 31"/>
          <p:cNvCxnSpPr>
            <a:stCxn id="23" idx="3"/>
            <a:endCxn id="35" idx="7"/>
          </p:cNvCxnSpPr>
          <p:nvPr>
            <p:custDataLst>
              <p:tags r:id="rId33"/>
            </p:custDataLst>
          </p:nvPr>
        </p:nvCxnSpPr>
        <p:spPr>
          <a:xfrm flipH="1">
            <a:off x="8990330" y="1659890"/>
            <a:ext cx="184785"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a:stCxn id="23" idx="5"/>
            <a:endCxn id="36" idx="1"/>
          </p:cNvCxnSpPr>
          <p:nvPr>
            <p:custDataLst>
              <p:tags r:id="rId34"/>
            </p:custDataLst>
          </p:nvPr>
        </p:nvCxnSpPr>
        <p:spPr>
          <a:xfrm>
            <a:off x="9684385" y="1659890"/>
            <a:ext cx="252730"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5" name="椭圆 34"/>
          <p:cNvSpPr/>
          <p:nvPr>
            <p:custDataLst>
              <p:tags r:id="rId35"/>
            </p:custDataLst>
          </p:nvPr>
        </p:nvSpPr>
        <p:spPr>
          <a:xfrm>
            <a:off x="8375650" y="185864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6" name="椭圆 35"/>
          <p:cNvSpPr/>
          <p:nvPr>
            <p:custDataLst>
              <p:tags r:id="rId36"/>
            </p:custDataLst>
          </p:nvPr>
        </p:nvSpPr>
        <p:spPr>
          <a:xfrm>
            <a:off x="9831705" y="185864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7" name="椭圆 36"/>
          <p:cNvSpPr/>
          <p:nvPr>
            <p:custDataLst>
              <p:tags r:id="rId37"/>
            </p:custDataLst>
          </p:nvPr>
        </p:nvSpPr>
        <p:spPr>
          <a:xfrm>
            <a:off x="7613650" y="273050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8" name="椭圆 37"/>
          <p:cNvSpPr/>
          <p:nvPr>
            <p:custDataLst>
              <p:tags r:id="rId38"/>
            </p:custDataLst>
          </p:nvPr>
        </p:nvSpPr>
        <p:spPr>
          <a:xfrm>
            <a:off x="9069705" y="273050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42" name="直接箭头连接符 41"/>
          <p:cNvCxnSpPr>
            <a:stCxn id="35" idx="3"/>
            <a:endCxn id="37" idx="7"/>
          </p:cNvCxnSpPr>
          <p:nvPr>
            <p:custDataLst>
              <p:tags r:id="rId39"/>
            </p:custDataLst>
          </p:nvPr>
        </p:nvCxnSpPr>
        <p:spPr>
          <a:xfrm flipH="1">
            <a:off x="8228330" y="2473325"/>
            <a:ext cx="252730"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4" name="直接箭头连接符 43"/>
          <p:cNvCxnSpPr>
            <a:stCxn id="35" idx="5"/>
            <a:endCxn id="38" idx="1"/>
          </p:cNvCxnSpPr>
          <p:nvPr>
            <p:custDataLst>
              <p:tags r:id="rId40"/>
            </p:custDataLst>
          </p:nvPr>
        </p:nvCxnSpPr>
        <p:spPr>
          <a:xfrm>
            <a:off x="8990330" y="2473325"/>
            <a:ext cx="184785"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45" name="椭圆 44"/>
          <p:cNvSpPr/>
          <p:nvPr>
            <p:custDataLst>
              <p:tags r:id="rId41"/>
            </p:custDataLst>
          </p:nvPr>
        </p:nvSpPr>
        <p:spPr>
          <a:xfrm>
            <a:off x="6535420" y="407416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6" name="椭圆 45"/>
          <p:cNvSpPr/>
          <p:nvPr>
            <p:custDataLst>
              <p:tags r:id="rId42"/>
            </p:custDataLst>
          </p:nvPr>
        </p:nvSpPr>
        <p:spPr>
          <a:xfrm>
            <a:off x="7613650" y="407416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7" name="椭圆 46"/>
          <p:cNvSpPr/>
          <p:nvPr>
            <p:custDataLst>
              <p:tags r:id="rId43"/>
            </p:custDataLst>
          </p:nvPr>
        </p:nvSpPr>
        <p:spPr>
          <a:xfrm>
            <a:off x="8691880" y="407416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48" name="直接箭头连接符 47"/>
          <p:cNvCxnSpPr>
            <a:stCxn id="37" idx="3"/>
            <a:endCxn id="45" idx="7"/>
          </p:cNvCxnSpPr>
          <p:nvPr>
            <p:custDataLst>
              <p:tags r:id="rId44"/>
            </p:custDataLst>
          </p:nvPr>
        </p:nvCxnSpPr>
        <p:spPr>
          <a:xfrm flipH="1">
            <a:off x="7150100" y="3345180"/>
            <a:ext cx="568960" cy="83439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9" name="直接箭头连接符 48"/>
          <p:cNvCxnSpPr>
            <a:stCxn id="37" idx="5"/>
            <a:endCxn id="47" idx="1"/>
          </p:cNvCxnSpPr>
          <p:nvPr>
            <p:custDataLst>
              <p:tags r:id="rId45"/>
            </p:custDataLst>
          </p:nvPr>
        </p:nvCxnSpPr>
        <p:spPr>
          <a:xfrm>
            <a:off x="8228330" y="3345180"/>
            <a:ext cx="568960" cy="83439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a:stCxn id="37" idx="4"/>
            <a:endCxn id="46" idx="0"/>
          </p:cNvCxnSpPr>
          <p:nvPr>
            <p:custDataLst>
              <p:tags r:id="rId46"/>
            </p:custDataLst>
          </p:nvPr>
        </p:nvCxnSpPr>
        <p:spPr>
          <a:xfrm>
            <a:off x="7973695" y="3450590"/>
            <a:ext cx="0" cy="62357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51" name="文本框 50"/>
          <p:cNvSpPr txBox="1"/>
          <p:nvPr>
            <p:custDataLst>
              <p:tags r:id="rId47"/>
            </p:custDataLst>
          </p:nvPr>
        </p:nvSpPr>
        <p:spPr>
          <a:xfrm>
            <a:off x="9107170" y="1202055"/>
            <a:ext cx="645795" cy="368300"/>
          </a:xfrm>
          <a:prstGeom prst="rect">
            <a:avLst/>
          </a:prstGeom>
          <a:noFill/>
        </p:spPr>
        <p:txBody>
          <a:bodyPr wrap="square" rtlCol="0">
            <a:spAutoFit/>
          </a:bodyPr>
          <a:lstStyle/>
          <a:p>
            <a:r>
              <a:rPr lang="zh-CN" altLang="en-US" b="1">
                <a:solidFill>
                  <a:schemeClr val="bg1"/>
                </a:solidFill>
              </a:rPr>
              <a:t>年龄</a:t>
            </a:r>
            <a:endParaRPr lang="zh-CN" altLang="en-US" b="1">
              <a:solidFill>
                <a:schemeClr val="bg1"/>
              </a:solidFill>
            </a:endParaRPr>
          </a:p>
        </p:txBody>
      </p:sp>
      <p:sp>
        <p:nvSpPr>
          <p:cNvPr id="52" name="文本框 51"/>
          <p:cNvSpPr txBox="1"/>
          <p:nvPr>
            <p:custDataLst>
              <p:tags r:id="rId48"/>
            </p:custDataLst>
          </p:nvPr>
        </p:nvSpPr>
        <p:spPr>
          <a:xfrm>
            <a:off x="8408035" y="2034540"/>
            <a:ext cx="645795" cy="368300"/>
          </a:xfrm>
          <a:prstGeom prst="rect">
            <a:avLst/>
          </a:prstGeom>
          <a:noFill/>
        </p:spPr>
        <p:txBody>
          <a:bodyPr wrap="square" rtlCol="0">
            <a:spAutoFit/>
          </a:bodyPr>
          <a:lstStyle/>
          <a:p>
            <a:r>
              <a:rPr lang="zh-CN" altLang="en-US" b="1">
                <a:solidFill>
                  <a:schemeClr val="bg1"/>
                </a:solidFill>
              </a:rPr>
              <a:t>长相</a:t>
            </a:r>
            <a:endParaRPr lang="zh-CN" altLang="en-US" b="1">
              <a:solidFill>
                <a:schemeClr val="bg1"/>
              </a:solidFill>
            </a:endParaRPr>
          </a:p>
        </p:txBody>
      </p:sp>
      <p:sp>
        <p:nvSpPr>
          <p:cNvPr id="53" name="文本框 52"/>
          <p:cNvSpPr txBox="1"/>
          <p:nvPr>
            <p:custDataLst>
              <p:tags r:id="rId49"/>
            </p:custDataLst>
          </p:nvPr>
        </p:nvSpPr>
        <p:spPr>
          <a:xfrm>
            <a:off x="7651115" y="2906395"/>
            <a:ext cx="645795" cy="368300"/>
          </a:xfrm>
          <a:prstGeom prst="rect">
            <a:avLst/>
          </a:prstGeom>
          <a:noFill/>
        </p:spPr>
        <p:txBody>
          <a:bodyPr wrap="square" rtlCol="0">
            <a:spAutoFit/>
          </a:bodyPr>
          <a:lstStyle/>
          <a:p>
            <a:r>
              <a:rPr lang="zh-CN" altLang="en-US" b="1">
                <a:solidFill>
                  <a:schemeClr val="bg1"/>
                </a:solidFill>
              </a:rPr>
              <a:t>收入</a:t>
            </a:r>
            <a:endParaRPr lang="zh-CN" altLang="en-US" b="1">
              <a:solidFill>
                <a:schemeClr val="bg1"/>
              </a:solidFill>
            </a:endParaRPr>
          </a:p>
        </p:txBody>
      </p:sp>
      <p:sp>
        <p:nvSpPr>
          <p:cNvPr id="54" name="文本框 53"/>
          <p:cNvSpPr txBox="1"/>
          <p:nvPr>
            <p:custDataLst>
              <p:tags r:id="rId50"/>
            </p:custDataLst>
          </p:nvPr>
        </p:nvSpPr>
        <p:spPr>
          <a:xfrm>
            <a:off x="7533640" y="4250055"/>
            <a:ext cx="880745" cy="368300"/>
          </a:xfrm>
          <a:prstGeom prst="rect">
            <a:avLst/>
          </a:prstGeom>
          <a:noFill/>
        </p:spPr>
        <p:txBody>
          <a:bodyPr wrap="square" rtlCol="0">
            <a:spAutoFit/>
          </a:bodyPr>
          <a:lstStyle/>
          <a:p>
            <a:r>
              <a:rPr lang="zh-CN" altLang="en-US" b="1">
                <a:solidFill>
                  <a:schemeClr val="bg1"/>
                </a:solidFill>
              </a:rPr>
              <a:t>公务员</a:t>
            </a:r>
            <a:endParaRPr lang="zh-CN" altLang="en-US" b="1"/>
          </a:p>
        </p:txBody>
      </p:sp>
      <p:sp>
        <p:nvSpPr>
          <p:cNvPr id="55" name="文本框 54"/>
          <p:cNvSpPr txBox="1"/>
          <p:nvPr>
            <p:custDataLst>
              <p:tags r:id="rId51"/>
            </p:custDataLst>
          </p:nvPr>
        </p:nvSpPr>
        <p:spPr>
          <a:xfrm>
            <a:off x="9868535" y="2034540"/>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57" name="文本框 56"/>
          <p:cNvSpPr txBox="1"/>
          <p:nvPr>
            <p:custDataLst>
              <p:tags r:id="rId52"/>
            </p:custDataLst>
          </p:nvPr>
        </p:nvSpPr>
        <p:spPr>
          <a:xfrm>
            <a:off x="6668135" y="4250055"/>
            <a:ext cx="454025" cy="368300"/>
          </a:xfrm>
          <a:prstGeom prst="rect">
            <a:avLst/>
          </a:prstGeom>
          <a:noFill/>
        </p:spPr>
        <p:txBody>
          <a:bodyPr wrap="square" rtlCol="0">
            <a:spAutoFit/>
          </a:bodyPr>
          <a:lstStyle/>
          <a:p>
            <a:r>
              <a:rPr lang="zh-CN" altLang="en-US" b="1">
                <a:solidFill>
                  <a:schemeClr val="bg1"/>
                </a:solidFill>
              </a:rPr>
              <a:t>见</a:t>
            </a:r>
            <a:endParaRPr lang="zh-CN" altLang="en-US" b="1"/>
          </a:p>
        </p:txBody>
      </p:sp>
      <p:sp>
        <p:nvSpPr>
          <p:cNvPr id="58" name="文本框 57"/>
          <p:cNvSpPr txBox="1"/>
          <p:nvPr>
            <p:custDataLst>
              <p:tags r:id="rId53"/>
            </p:custDataLst>
          </p:nvPr>
        </p:nvSpPr>
        <p:spPr>
          <a:xfrm>
            <a:off x="9107170" y="2906395"/>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59" name="文本框 58"/>
          <p:cNvSpPr txBox="1"/>
          <p:nvPr>
            <p:custDataLst>
              <p:tags r:id="rId54"/>
            </p:custDataLst>
          </p:nvPr>
        </p:nvSpPr>
        <p:spPr>
          <a:xfrm>
            <a:off x="8728710" y="4250055"/>
            <a:ext cx="645795" cy="368300"/>
          </a:xfrm>
          <a:prstGeom prst="rect">
            <a:avLst/>
          </a:prstGeom>
          <a:noFill/>
        </p:spPr>
        <p:txBody>
          <a:bodyPr wrap="square" rtlCol="0">
            <a:spAutoFit/>
          </a:bodyPr>
          <a:lstStyle/>
          <a:p>
            <a:r>
              <a:rPr lang="zh-CN" altLang="en-US" b="1">
                <a:solidFill>
                  <a:schemeClr val="bg1"/>
                </a:solidFill>
              </a:rPr>
              <a:t>不见</a:t>
            </a:r>
            <a:endParaRPr lang="zh-CN" altLang="en-US" b="1">
              <a:solidFill>
                <a:schemeClr val="bg1"/>
              </a:solidFill>
            </a:endParaRPr>
          </a:p>
        </p:txBody>
      </p:sp>
      <p:sp>
        <p:nvSpPr>
          <p:cNvPr id="60" name="文本框 59"/>
          <p:cNvSpPr txBox="1"/>
          <p:nvPr>
            <p:custDataLst>
              <p:tags r:id="rId55"/>
            </p:custDataLst>
          </p:nvPr>
        </p:nvSpPr>
        <p:spPr>
          <a:xfrm>
            <a:off x="8611870" y="1490345"/>
            <a:ext cx="563245" cy="368300"/>
          </a:xfrm>
          <a:prstGeom prst="rect">
            <a:avLst/>
          </a:prstGeom>
          <a:noFill/>
        </p:spPr>
        <p:txBody>
          <a:bodyPr wrap="square" rtlCol="0">
            <a:spAutoFit/>
          </a:bodyPr>
          <a:lstStyle/>
          <a:p>
            <a:r>
              <a:rPr lang="en-US" altLang="zh-CN" b="1"/>
              <a:t>≤30</a:t>
            </a:r>
            <a:endParaRPr lang="en-US" altLang="zh-CN" b="1"/>
          </a:p>
        </p:txBody>
      </p:sp>
      <p:sp>
        <p:nvSpPr>
          <p:cNvPr id="61" name="文本框 60"/>
          <p:cNvSpPr txBox="1"/>
          <p:nvPr>
            <p:custDataLst>
              <p:tags r:id="rId56"/>
            </p:custDataLst>
          </p:nvPr>
        </p:nvSpPr>
        <p:spPr>
          <a:xfrm>
            <a:off x="9789795" y="1490345"/>
            <a:ext cx="563245" cy="368300"/>
          </a:xfrm>
          <a:prstGeom prst="rect">
            <a:avLst/>
          </a:prstGeom>
          <a:noFill/>
        </p:spPr>
        <p:txBody>
          <a:bodyPr wrap="square" rtlCol="0">
            <a:spAutoFit/>
          </a:bodyPr>
          <a:lstStyle/>
          <a:p>
            <a:r>
              <a:rPr lang="en-US" altLang="zh-CN" b="1"/>
              <a:t>&gt;30</a:t>
            </a:r>
            <a:endParaRPr lang="en-US" altLang="zh-CN" b="1"/>
          </a:p>
        </p:txBody>
      </p:sp>
      <p:sp>
        <p:nvSpPr>
          <p:cNvPr id="62" name="文本框 61"/>
          <p:cNvSpPr txBox="1"/>
          <p:nvPr>
            <p:custDataLst>
              <p:tags r:id="rId57"/>
            </p:custDataLst>
          </p:nvPr>
        </p:nvSpPr>
        <p:spPr>
          <a:xfrm>
            <a:off x="7410450" y="2316480"/>
            <a:ext cx="997585" cy="337185"/>
          </a:xfrm>
          <a:prstGeom prst="rect">
            <a:avLst/>
          </a:prstGeom>
          <a:noFill/>
        </p:spPr>
        <p:txBody>
          <a:bodyPr wrap="square" rtlCol="0">
            <a:spAutoFit/>
          </a:bodyPr>
          <a:lstStyle/>
          <a:p>
            <a:r>
              <a:rPr lang="zh-CN" altLang="en-US" sz="1600" b="1"/>
              <a:t>帅或中等</a:t>
            </a:r>
            <a:endParaRPr lang="zh-CN" altLang="en-US" sz="1600" b="1"/>
          </a:p>
        </p:txBody>
      </p:sp>
      <p:sp>
        <p:nvSpPr>
          <p:cNvPr id="63" name="文本框 62"/>
          <p:cNvSpPr txBox="1"/>
          <p:nvPr>
            <p:custDataLst>
              <p:tags r:id="rId58"/>
            </p:custDataLst>
          </p:nvPr>
        </p:nvSpPr>
        <p:spPr>
          <a:xfrm>
            <a:off x="7069455" y="3419475"/>
            <a:ext cx="340995" cy="337185"/>
          </a:xfrm>
          <a:prstGeom prst="rect">
            <a:avLst/>
          </a:prstGeom>
          <a:noFill/>
        </p:spPr>
        <p:txBody>
          <a:bodyPr wrap="square" rtlCol="0">
            <a:spAutoFit/>
          </a:bodyPr>
          <a:lstStyle/>
          <a:p>
            <a:r>
              <a:rPr lang="zh-CN" altLang="en-US" sz="1600" b="1"/>
              <a:t>高</a:t>
            </a:r>
            <a:endParaRPr lang="zh-CN" altLang="en-US" sz="1600" b="1"/>
          </a:p>
        </p:txBody>
      </p:sp>
      <p:sp>
        <p:nvSpPr>
          <p:cNvPr id="64" name="文本框 63"/>
          <p:cNvSpPr txBox="1"/>
          <p:nvPr>
            <p:custDataLst>
              <p:tags r:id="rId59"/>
            </p:custDataLst>
          </p:nvPr>
        </p:nvSpPr>
        <p:spPr>
          <a:xfrm>
            <a:off x="9095740" y="2352040"/>
            <a:ext cx="372110" cy="337185"/>
          </a:xfrm>
          <a:prstGeom prst="rect">
            <a:avLst/>
          </a:prstGeom>
          <a:noFill/>
        </p:spPr>
        <p:txBody>
          <a:bodyPr wrap="square" rtlCol="0">
            <a:spAutoFit/>
          </a:bodyPr>
          <a:lstStyle/>
          <a:p>
            <a:r>
              <a:rPr lang="zh-CN" altLang="en-US" sz="1600" b="1"/>
              <a:t>丑</a:t>
            </a:r>
            <a:endParaRPr lang="zh-CN" altLang="en-US" sz="1600" b="1"/>
          </a:p>
        </p:txBody>
      </p:sp>
      <p:sp>
        <p:nvSpPr>
          <p:cNvPr id="65" name="文本框 64"/>
          <p:cNvSpPr txBox="1"/>
          <p:nvPr>
            <p:custDataLst>
              <p:tags r:id="rId60"/>
            </p:custDataLst>
          </p:nvPr>
        </p:nvSpPr>
        <p:spPr>
          <a:xfrm>
            <a:off x="7918450" y="3593465"/>
            <a:ext cx="604520" cy="337185"/>
          </a:xfrm>
          <a:prstGeom prst="rect">
            <a:avLst/>
          </a:prstGeom>
          <a:noFill/>
        </p:spPr>
        <p:txBody>
          <a:bodyPr wrap="square" rtlCol="0">
            <a:spAutoFit/>
          </a:bodyPr>
          <a:lstStyle/>
          <a:p>
            <a:r>
              <a:rPr lang="zh-CN" altLang="en-US" sz="1600" b="1"/>
              <a:t>中等</a:t>
            </a:r>
            <a:endParaRPr lang="zh-CN" altLang="en-US" sz="1600" b="1"/>
          </a:p>
        </p:txBody>
      </p:sp>
      <p:sp>
        <p:nvSpPr>
          <p:cNvPr id="66" name="文本框 65"/>
          <p:cNvSpPr txBox="1"/>
          <p:nvPr>
            <p:custDataLst>
              <p:tags r:id="rId61"/>
            </p:custDataLst>
          </p:nvPr>
        </p:nvSpPr>
        <p:spPr>
          <a:xfrm>
            <a:off x="8481060" y="3419475"/>
            <a:ext cx="436880" cy="337185"/>
          </a:xfrm>
          <a:prstGeom prst="rect">
            <a:avLst/>
          </a:prstGeom>
          <a:noFill/>
        </p:spPr>
        <p:txBody>
          <a:bodyPr wrap="square" rtlCol="0">
            <a:spAutoFit/>
          </a:bodyPr>
          <a:lstStyle/>
          <a:p>
            <a:r>
              <a:rPr lang="zh-CN" altLang="en-US" sz="1600" b="1"/>
              <a:t>低</a:t>
            </a:r>
            <a:endParaRPr lang="zh-CN" altLang="en-US" sz="1600" b="1"/>
          </a:p>
        </p:txBody>
      </p:sp>
      <p:graphicFrame>
        <p:nvGraphicFramePr>
          <p:cNvPr id="56" name="表格 55"/>
          <p:cNvGraphicFramePr/>
          <p:nvPr>
            <p:custDataLst>
              <p:tags r:id="rId62"/>
            </p:custDataLst>
          </p:nvPr>
        </p:nvGraphicFramePr>
        <p:xfrm>
          <a:off x="354330" y="3047365"/>
          <a:ext cx="4973955" cy="2103120"/>
        </p:xfrm>
        <a:graphic>
          <a:graphicData uri="http://schemas.openxmlformats.org/drawingml/2006/table">
            <a:tbl>
              <a:tblPr firstRow="1" bandRow="1">
                <a:tableStyleId>{5C22544A-7EE6-4342-B048-85BDC9FD1C3A}</a:tableStyleId>
              </a:tblPr>
              <a:tblGrid>
                <a:gridCol w="675005"/>
                <a:gridCol w="644525"/>
                <a:gridCol w="1003935"/>
                <a:gridCol w="686435"/>
                <a:gridCol w="803910"/>
                <a:gridCol w="1160145"/>
              </a:tblGrid>
              <a:tr h="640080">
                <a:tc>
                  <a:txBody>
                    <a:bodyPr/>
                    <a:lstStyle/>
                    <a:p>
                      <a:pPr algn="ctr">
                        <a:buNone/>
                      </a:pPr>
                      <a:r>
                        <a:rPr lang="zh-CN" altLang="en-US" sz="1600"/>
                        <a:t>相亲对象</a:t>
                      </a:r>
                      <a:endParaRPr lang="zh-CN" altLang="en-US" sz="1600"/>
                    </a:p>
                  </a:txBody>
                  <a:tcPr anchor="ctr"/>
                </a:tc>
                <a:tc>
                  <a:txBody>
                    <a:bodyPr/>
                    <a:lstStyle/>
                    <a:p>
                      <a:pPr algn="ctr">
                        <a:buNone/>
                      </a:pPr>
                      <a:r>
                        <a:rPr lang="zh-CN" altLang="en-US" sz="1600"/>
                        <a:t>年龄</a:t>
                      </a:r>
                      <a:endParaRPr lang="en-US" altLang="zh-CN" sz="1600"/>
                    </a:p>
                  </a:txBody>
                  <a:tcPr anchor="ctr"/>
                </a:tc>
                <a:tc>
                  <a:txBody>
                    <a:bodyPr/>
                    <a:lstStyle/>
                    <a:p>
                      <a:pPr algn="ctr">
                        <a:buNone/>
                      </a:pPr>
                      <a:r>
                        <a:rPr lang="zh-CN" altLang="en-US" sz="1600"/>
                        <a:t>长相</a:t>
                      </a:r>
                      <a:endParaRPr lang="zh-CN" altLang="en-US" sz="1600"/>
                    </a:p>
                  </a:txBody>
                  <a:tcPr anchor="ctr"/>
                </a:tc>
                <a:tc>
                  <a:txBody>
                    <a:bodyPr/>
                    <a:lstStyle/>
                    <a:p>
                      <a:pPr algn="ctr">
                        <a:buNone/>
                      </a:pPr>
                      <a:r>
                        <a:rPr lang="zh-CN" altLang="en-US" sz="1600"/>
                        <a:t>收入</a:t>
                      </a:r>
                      <a:endParaRPr lang="zh-CN" altLang="en-US" sz="1600"/>
                    </a:p>
                  </a:txBody>
                  <a:tcPr anchor="ctr"/>
                </a:tc>
                <a:tc>
                  <a:txBody>
                    <a:bodyPr/>
                    <a:lstStyle/>
                    <a:p>
                      <a:pPr algn="ctr">
                        <a:buNone/>
                      </a:pPr>
                      <a:r>
                        <a:rPr lang="zh-CN" altLang="en-US" sz="1600"/>
                        <a:t>公务员</a:t>
                      </a:r>
                      <a:endParaRPr lang="zh-CN" altLang="en-US" sz="1600"/>
                    </a:p>
                  </a:txBody>
                  <a:tcPr anchor="ctr"/>
                </a:tc>
                <a:tc>
                  <a:txBody>
                    <a:bodyPr/>
                    <a:lstStyle/>
                    <a:p>
                      <a:pPr algn="ctr">
                        <a:buNone/>
                      </a:pPr>
                      <a:r>
                        <a:rPr lang="zh-CN" altLang="en-US" sz="1600"/>
                        <a:t>是否相见</a:t>
                      </a:r>
                      <a:endParaRPr lang="zh-CN" altLang="en-US" sz="1600"/>
                    </a:p>
                  </a:txBody>
                  <a:tcPr anchor="ctr"/>
                </a:tc>
              </a:tr>
              <a:tr h="365760">
                <a:tc>
                  <a:txBody>
                    <a:bodyPr/>
                    <a:lstStyle/>
                    <a:p>
                      <a:pPr algn="ctr">
                        <a:buNone/>
                      </a:pPr>
                      <a:r>
                        <a:rPr lang="en-US" altLang="zh-CN" sz="1600"/>
                        <a:t>1</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3</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低</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4</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中等</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7</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sym typeface="+mn-ea"/>
                        </a:rPr>
                        <a:t>中等</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8" name="矩形 7"/>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9" name="文本框 8"/>
          <p:cNvSpPr txBox="1"/>
          <p:nvPr>
            <p:custDataLst>
              <p:tags r:id="rId3"/>
            </p:custDataLst>
          </p:nvPr>
        </p:nvSpPr>
        <p:spPr>
          <a:xfrm>
            <a:off x="419735" y="321945"/>
            <a:ext cx="31445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如何生成决策树？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24" name="文本框 23"/>
          <p:cNvSpPr txBox="1"/>
          <p:nvPr>
            <p:custDataLst>
              <p:tags r:id="rId4"/>
            </p:custDataLst>
          </p:nvPr>
        </p:nvSpPr>
        <p:spPr>
          <a:xfrm>
            <a:off x="2298700" y="2610485"/>
            <a:ext cx="914400" cy="368300"/>
          </a:xfrm>
          <a:prstGeom prst="rect">
            <a:avLst/>
          </a:prstGeom>
          <a:noFill/>
        </p:spPr>
        <p:txBody>
          <a:bodyPr wrap="square" rtlCol="0">
            <a:spAutoFit/>
          </a:bodyPr>
          <a:lstStyle/>
          <a:p>
            <a:r>
              <a:rPr lang="zh-CN" altLang="en-US" b="1"/>
              <a:t>训练集</a:t>
            </a:r>
            <a:endParaRPr lang="zh-CN" altLang="en-US" b="1"/>
          </a:p>
        </p:txBody>
      </p:sp>
      <p:sp>
        <p:nvSpPr>
          <p:cNvPr id="2" name="文本框 1"/>
          <p:cNvSpPr txBox="1"/>
          <p:nvPr/>
        </p:nvSpPr>
        <p:spPr>
          <a:xfrm>
            <a:off x="354330" y="1231900"/>
            <a:ext cx="3429635" cy="36830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cs typeface="微软雅黑" panose="020B0503020204020204" charset="-122"/>
              </a:rPr>
              <a:t>属性集：</a:t>
            </a:r>
            <a:r>
              <a:rPr lang="en-US" altLang="zh-CN" b="1">
                <a:latin typeface="微软雅黑" panose="020B0503020204020204" charset="-122"/>
                <a:ea typeface="微软雅黑" panose="020B0503020204020204" charset="-122"/>
                <a:cs typeface="微软雅黑" panose="020B0503020204020204" charset="-122"/>
              </a:rPr>
              <a:t>{</a:t>
            </a:r>
            <a:r>
              <a:rPr lang="zh-CN" b="1">
                <a:solidFill>
                  <a:srgbClr val="C00000"/>
                </a:solidFill>
                <a:latin typeface="微软雅黑" panose="020B0503020204020204" charset="-122"/>
                <a:ea typeface="微软雅黑" panose="020B0503020204020204" charset="-122"/>
                <a:cs typeface="微软雅黑" panose="020B0503020204020204" charset="-122"/>
              </a:rPr>
              <a:t>公务员</a:t>
            </a:r>
            <a:r>
              <a:rPr lang="en-US" altLang="zh-CN" b="1">
                <a:latin typeface="微软雅黑" panose="020B0503020204020204" charset="-122"/>
                <a:ea typeface="微软雅黑" panose="020B0503020204020204" charset="-122"/>
                <a:cs typeface="微软雅黑" panose="020B0503020204020204" charset="-122"/>
              </a:rPr>
              <a:t>}</a:t>
            </a:r>
            <a:endParaRPr lang="en-US" altLang="zh-CN" b="1">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354330" y="1858645"/>
            <a:ext cx="2501900" cy="368300"/>
          </a:xfrm>
          <a:prstGeom prst="rect">
            <a:avLst/>
          </a:prstGeom>
          <a:noFill/>
        </p:spPr>
        <p:txBody>
          <a:bodyPr wrap="square" rtlCol="0">
            <a:spAutoFit/>
          </a:bodyPr>
          <a:lstStyle/>
          <a:p>
            <a:r>
              <a:rPr lang="zh-CN" altLang="en-US" b="1"/>
              <a:t>最优划分属性：</a:t>
            </a:r>
            <a:r>
              <a:rPr lang="zh-CN" b="1">
                <a:solidFill>
                  <a:srgbClr val="C00000"/>
                </a:solidFill>
                <a:latin typeface="微软雅黑" panose="020B0503020204020204" charset="-122"/>
                <a:ea typeface="微软雅黑" panose="020B0503020204020204" charset="-122"/>
                <a:cs typeface="微软雅黑" panose="020B0503020204020204" charset="-122"/>
                <a:sym typeface="+mn-ea"/>
              </a:rPr>
              <a:t>公务员</a:t>
            </a:r>
            <a:endParaRPr lang="zh-CN"/>
          </a:p>
        </p:txBody>
      </p:sp>
      <p:sp>
        <p:nvSpPr>
          <p:cNvPr id="30" name="文本框 29"/>
          <p:cNvSpPr txBox="1"/>
          <p:nvPr/>
        </p:nvSpPr>
        <p:spPr>
          <a:xfrm>
            <a:off x="419735" y="4985385"/>
            <a:ext cx="5592445" cy="1198880"/>
          </a:xfrm>
          <a:prstGeom prst="rect">
            <a:avLst/>
          </a:prstGeom>
          <a:noFill/>
        </p:spPr>
        <p:txBody>
          <a:bodyPr wrap="square" rtlCol="0">
            <a:spAutoFit/>
          </a:bodyPr>
          <a:lstStyle/>
          <a:p>
            <a:r>
              <a:rPr lang="en-US" altLang="zh-CN" b="1"/>
              <a:t>1</a:t>
            </a:r>
            <a:r>
              <a:rPr lang="zh-CN" altLang="en-US" b="1"/>
              <a:t>）</a:t>
            </a:r>
            <a:r>
              <a:rPr lang="zh-CN" altLang="en-US" b="1">
                <a:sym typeface="+mn-ea"/>
              </a:rPr>
              <a:t>在训练集中</a:t>
            </a:r>
            <a:r>
              <a:rPr lang="en-US" altLang="zh-CN" b="1">
                <a:sym typeface="+mn-ea"/>
              </a:rPr>
              <a:t>[</a:t>
            </a:r>
            <a:r>
              <a:rPr lang="zh-CN" altLang="en-US" b="1">
                <a:sym typeface="+mn-ea"/>
              </a:rPr>
              <a:t>公务员</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是</a:t>
            </a:r>
            <a:r>
              <a:rPr lang="zh-CN" altLang="en-US" b="1">
                <a:sym typeface="+mn-ea"/>
              </a:rPr>
              <a:t>的样本的标签均为见，因此将该结点标记为</a:t>
            </a:r>
            <a:r>
              <a:rPr lang="en-US" altLang="zh-CN" b="1">
                <a:sym typeface="+mn-ea"/>
              </a:rPr>
              <a:t>[</a:t>
            </a:r>
            <a:r>
              <a:rPr lang="zh-CN" altLang="en-US" b="1">
                <a:sym typeface="+mn-ea"/>
              </a:rPr>
              <a:t>见</a:t>
            </a:r>
            <a:r>
              <a:rPr lang="en-US" altLang="zh-CN" b="1">
                <a:sym typeface="+mn-ea"/>
              </a:rPr>
              <a:t>]</a:t>
            </a:r>
            <a:r>
              <a:rPr lang="zh-CN" altLang="en-US" b="1">
                <a:sym typeface="+mn-ea"/>
              </a:rPr>
              <a:t>叶结点</a:t>
            </a:r>
            <a:endParaRPr lang="zh-CN" altLang="en-US" b="1">
              <a:sym typeface="+mn-ea"/>
            </a:endParaRPr>
          </a:p>
          <a:p>
            <a:r>
              <a:rPr lang="en-US" altLang="zh-CN" b="1">
                <a:sym typeface="+mn-ea"/>
              </a:rPr>
              <a:t>2</a:t>
            </a:r>
            <a:r>
              <a:rPr lang="zh-CN" altLang="en-US" b="1">
                <a:sym typeface="+mn-ea"/>
              </a:rPr>
              <a:t>）在训练集中</a:t>
            </a:r>
            <a:r>
              <a:rPr lang="en-US" altLang="zh-CN" b="1">
                <a:sym typeface="+mn-ea"/>
              </a:rPr>
              <a:t>[</a:t>
            </a:r>
            <a:r>
              <a:rPr lang="zh-CN" altLang="en-US" b="1">
                <a:sym typeface="+mn-ea"/>
              </a:rPr>
              <a:t>公务员</a:t>
            </a:r>
            <a:r>
              <a:rPr lang="en-US" altLang="zh-CN" b="1">
                <a:latin typeface="微软雅黑" panose="020B0503020204020204" charset="-122"/>
                <a:ea typeface="微软雅黑" panose="020B0503020204020204" charset="-122"/>
                <a:cs typeface="微软雅黑" panose="020B0503020204020204" charset="-122"/>
                <a:sym typeface="+mn-ea"/>
              </a:rPr>
              <a:t>]=</a:t>
            </a:r>
            <a:r>
              <a:rPr lang="zh-CN" altLang="en-US" b="1">
                <a:latin typeface="微软雅黑" panose="020B0503020204020204" charset="-122"/>
                <a:ea typeface="微软雅黑" panose="020B0503020204020204" charset="-122"/>
                <a:cs typeface="微软雅黑" panose="020B0503020204020204" charset="-122"/>
                <a:sym typeface="+mn-ea"/>
              </a:rPr>
              <a:t>否</a:t>
            </a:r>
            <a:r>
              <a:rPr lang="zh-CN" altLang="en-US" b="1">
                <a:sym typeface="+mn-ea"/>
              </a:rPr>
              <a:t>的样本的标签均为不见，因此将该结点标记为</a:t>
            </a:r>
            <a:r>
              <a:rPr lang="en-US" altLang="zh-CN" b="1">
                <a:sym typeface="+mn-ea"/>
              </a:rPr>
              <a:t>[</a:t>
            </a:r>
            <a:r>
              <a:rPr lang="zh-CN" altLang="en-US" b="1">
                <a:sym typeface="+mn-ea"/>
              </a:rPr>
              <a:t>不见</a:t>
            </a:r>
            <a:r>
              <a:rPr lang="en-US" altLang="zh-CN" b="1">
                <a:sym typeface="+mn-ea"/>
              </a:rPr>
              <a:t>]</a:t>
            </a:r>
            <a:r>
              <a:rPr lang="zh-CN" altLang="en-US" b="1">
                <a:sym typeface="+mn-ea"/>
              </a:rPr>
              <a:t>叶结点</a:t>
            </a:r>
            <a:endParaRPr lang="zh-CN" altLang="en-US" b="1"/>
          </a:p>
        </p:txBody>
      </p:sp>
      <p:sp>
        <p:nvSpPr>
          <p:cNvPr id="56" name="椭圆 55"/>
          <p:cNvSpPr/>
          <p:nvPr>
            <p:custDataLst>
              <p:tags r:id="rId5"/>
            </p:custDataLst>
          </p:nvPr>
        </p:nvSpPr>
        <p:spPr>
          <a:xfrm>
            <a:off x="9121775" y="140271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b="1"/>
          </a:p>
        </p:txBody>
      </p:sp>
      <p:cxnSp>
        <p:nvCxnSpPr>
          <p:cNvPr id="67" name="直接箭头连接符 66"/>
          <p:cNvCxnSpPr>
            <a:stCxn id="56" idx="3"/>
            <a:endCxn id="70" idx="7"/>
          </p:cNvCxnSpPr>
          <p:nvPr>
            <p:custDataLst>
              <p:tags r:id="rId6"/>
            </p:custDataLst>
          </p:nvPr>
        </p:nvCxnSpPr>
        <p:spPr>
          <a:xfrm flipH="1">
            <a:off x="9042400" y="2017395"/>
            <a:ext cx="184785"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69" name="直接箭头连接符 68"/>
          <p:cNvCxnSpPr>
            <a:stCxn id="56" idx="5"/>
            <a:endCxn id="71" idx="1"/>
          </p:cNvCxnSpPr>
          <p:nvPr>
            <p:custDataLst>
              <p:tags r:id="rId7"/>
            </p:custDataLst>
          </p:nvPr>
        </p:nvCxnSpPr>
        <p:spPr>
          <a:xfrm>
            <a:off x="9736455" y="2017395"/>
            <a:ext cx="252730" cy="30416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70" name="椭圆 69"/>
          <p:cNvSpPr/>
          <p:nvPr>
            <p:custDataLst>
              <p:tags r:id="rId8"/>
            </p:custDataLst>
          </p:nvPr>
        </p:nvSpPr>
        <p:spPr>
          <a:xfrm>
            <a:off x="8427720" y="2216150"/>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1" name="椭圆 70"/>
          <p:cNvSpPr/>
          <p:nvPr>
            <p:custDataLst>
              <p:tags r:id="rId9"/>
            </p:custDataLst>
          </p:nvPr>
        </p:nvSpPr>
        <p:spPr>
          <a:xfrm>
            <a:off x="9883775" y="2216150"/>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2" name="椭圆 71"/>
          <p:cNvSpPr/>
          <p:nvPr>
            <p:custDataLst>
              <p:tags r:id="rId10"/>
            </p:custDataLst>
          </p:nvPr>
        </p:nvSpPr>
        <p:spPr>
          <a:xfrm>
            <a:off x="7665720" y="308800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3" name="椭圆 72"/>
          <p:cNvSpPr/>
          <p:nvPr>
            <p:custDataLst>
              <p:tags r:id="rId11"/>
            </p:custDataLst>
          </p:nvPr>
        </p:nvSpPr>
        <p:spPr>
          <a:xfrm>
            <a:off x="9121775" y="308800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cxnSp>
        <p:nvCxnSpPr>
          <p:cNvPr id="74" name="直接箭头连接符 73"/>
          <p:cNvCxnSpPr>
            <a:stCxn id="70" idx="3"/>
            <a:endCxn id="72" idx="7"/>
          </p:cNvCxnSpPr>
          <p:nvPr>
            <p:custDataLst>
              <p:tags r:id="rId12"/>
            </p:custDataLst>
          </p:nvPr>
        </p:nvCxnSpPr>
        <p:spPr>
          <a:xfrm flipH="1">
            <a:off x="8280400" y="2830830"/>
            <a:ext cx="252730"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75" name="直接箭头连接符 74"/>
          <p:cNvCxnSpPr>
            <a:stCxn id="70" idx="5"/>
            <a:endCxn id="73" idx="1"/>
          </p:cNvCxnSpPr>
          <p:nvPr>
            <p:custDataLst>
              <p:tags r:id="rId13"/>
            </p:custDataLst>
          </p:nvPr>
        </p:nvCxnSpPr>
        <p:spPr>
          <a:xfrm>
            <a:off x="9042400" y="2830830"/>
            <a:ext cx="184785" cy="36258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76" name="椭圆 75"/>
          <p:cNvSpPr/>
          <p:nvPr>
            <p:custDataLst>
              <p:tags r:id="rId14"/>
            </p:custDataLst>
          </p:nvPr>
        </p:nvSpPr>
        <p:spPr>
          <a:xfrm>
            <a:off x="6587490" y="443166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7" name="椭圆 76"/>
          <p:cNvSpPr/>
          <p:nvPr>
            <p:custDataLst>
              <p:tags r:id="rId15"/>
            </p:custDataLst>
          </p:nvPr>
        </p:nvSpPr>
        <p:spPr>
          <a:xfrm>
            <a:off x="7665720" y="4431665"/>
            <a:ext cx="720000" cy="720000"/>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8" name="椭圆 77"/>
          <p:cNvSpPr/>
          <p:nvPr>
            <p:custDataLst>
              <p:tags r:id="rId16"/>
            </p:custDataLst>
          </p:nvPr>
        </p:nvSpPr>
        <p:spPr>
          <a:xfrm>
            <a:off x="8743950" y="443166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9" name="椭圆 78"/>
          <p:cNvSpPr/>
          <p:nvPr>
            <p:custDataLst>
              <p:tags r:id="rId17"/>
            </p:custDataLst>
          </p:nvPr>
        </p:nvSpPr>
        <p:spPr>
          <a:xfrm>
            <a:off x="7072630" y="546925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0" name="椭圆 79"/>
          <p:cNvSpPr/>
          <p:nvPr>
            <p:custDataLst>
              <p:tags r:id="rId18"/>
            </p:custDataLst>
          </p:nvPr>
        </p:nvSpPr>
        <p:spPr>
          <a:xfrm>
            <a:off x="8385810" y="5469255"/>
            <a:ext cx="720000" cy="720000"/>
          </a:xfrm>
          <a:prstGeom prst="ellipse">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81" name="直接箭头连接符 80"/>
          <p:cNvCxnSpPr>
            <a:stCxn id="72" idx="3"/>
            <a:endCxn id="76" idx="7"/>
          </p:cNvCxnSpPr>
          <p:nvPr>
            <p:custDataLst>
              <p:tags r:id="rId19"/>
            </p:custDataLst>
          </p:nvPr>
        </p:nvCxnSpPr>
        <p:spPr>
          <a:xfrm flipH="1">
            <a:off x="7202170" y="3702685"/>
            <a:ext cx="568960" cy="83439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82" name="直接箭头连接符 81"/>
          <p:cNvCxnSpPr>
            <a:stCxn id="72" idx="5"/>
            <a:endCxn id="78" idx="1"/>
          </p:cNvCxnSpPr>
          <p:nvPr>
            <p:custDataLst>
              <p:tags r:id="rId20"/>
            </p:custDataLst>
          </p:nvPr>
        </p:nvCxnSpPr>
        <p:spPr>
          <a:xfrm>
            <a:off x="8280400" y="3702685"/>
            <a:ext cx="568960" cy="83439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83" name="直接箭头连接符 82"/>
          <p:cNvCxnSpPr>
            <a:stCxn id="72" idx="4"/>
            <a:endCxn id="77" idx="0"/>
          </p:cNvCxnSpPr>
          <p:nvPr>
            <p:custDataLst>
              <p:tags r:id="rId21"/>
            </p:custDataLst>
          </p:nvPr>
        </p:nvCxnSpPr>
        <p:spPr>
          <a:xfrm>
            <a:off x="8025765" y="3808095"/>
            <a:ext cx="0" cy="62357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84" name="直接箭头连接符 83"/>
          <p:cNvCxnSpPr>
            <a:stCxn id="77" idx="3"/>
          </p:cNvCxnSpPr>
          <p:nvPr>
            <p:custDataLst>
              <p:tags r:id="rId22"/>
            </p:custDataLst>
          </p:nvPr>
        </p:nvCxnSpPr>
        <p:spPr>
          <a:xfrm flipH="1">
            <a:off x="7540625" y="5046345"/>
            <a:ext cx="230505" cy="433705"/>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85" name="直接箭头连接符 84"/>
          <p:cNvCxnSpPr>
            <a:stCxn id="77" idx="5"/>
          </p:cNvCxnSpPr>
          <p:nvPr>
            <p:custDataLst>
              <p:tags r:id="rId23"/>
            </p:custDataLst>
          </p:nvPr>
        </p:nvCxnSpPr>
        <p:spPr>
          <a:xfrm>
            <a:off x="8280400" y="5046345"/>
            <a:ext cx="207645" cy="50546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86" name="文本框 85"/>
          <p:cNvSpPr txBox="1"/>
          <p:nvPr>
            <p:custDataLst>
              <p:tags r:id="rId24"/>
            </p:custDataLst>
          </p:nvPr>
        </p:nvSpPr>
        <p:spPr>
          <a:xfrm>
            <a:off x="9159240" y="1559560"/>
            <a:ext cx="645795" cy="368300"/>
          </a:xfrm>
          <a:prstGeom prst="rect">
            <a:avLst/>
          </a:prstGeom>
          <a:noFill/>
        </p:spPr>
        <p:txBody>
          <a:bodyPr wrap="square" rtlCol="0">
            <a:spAutoFit/>
          </a:bodyPr>
          <a:lstStyle/>
          <a:p>
            <a:r>
              <a:rPr lang="zh-CN" altLang="en-US" b="1">
                <a:solidFill>
                  <a:schemeClr val="bg1"/>
                </a:solidFill>
              </a:rPr>
              <a:t>年龄</a:t>
            </a:r>
            <a:endParaRPr lang="zh-CN" altLang="en-US" b="1">
              <a:solidFill>
                <a:schemeClr val="bg1"/>
              </a:solidFill>
            </a:endParaRPr>
          </a:p>
        </p:txBody>
      </p:sp>
      <p:sp>
        <p:nvSpPr>
          <p:cNvPr id="87" name="文本框 86"/>
          <p:cNvSpPr txBox="1"/>
          <p:nvPr>
            <p:custDataLst>
              <p:tags r:id="rId25"/>
            </p:custDataLst>
          </p:nvPr>
        </p:nvSpPr>
        <p:spPr>
          <a:xfrm>
            <a:off x="8460105" y="2392045"/>
            <a:ext cx="645795" cy="368300"/>
          </a:xfrm>
          <a:prstGeom prst="rect">
            <a:avLst/>
          </a:prstGeom>
          <a:noFill/>
        </p:spPr>
        <p:txBody>
          <a:bodyPr wrap="square" rtlCol="0">
            <a:spAutoFit/>
          </a:bodyPr>
          <a:lstStyle/>
          <a:p>
            <a:r>
              <a:rPr lang="zh-CN" altLang="en-US" b="1">
                <a:solidFill>
                  <a:schemeClr val="bg1"/>
                </a:solidFill>
              </a:rPr>
              <a:t>长相</a:t>
            </a:r>
            <a:endParaRPr lang="zh-CN" altLang="en-US" b="1">
              <a:solidFill>
                <a:schemeClr val="bg1"/>
              </a:solidFill>
            </a:endParaRPr>
          </a:p>
        </p:txBody>
      </p:sp>
      <p:sp>
        <p:nvSpPr>
          <p:cNvPr id="88" name="文本框 87"/>
          <p:cNvSpPr txBox="1"/>
          <p:nvPr>
            <p:custDataLst>
              <p:tags r:id="rId26"/>
            </p:custDataLst>
          </p:nvPr>
        </p:nvSpPr>
        <p:spPr>
          <a:xfrm>
            <a:off x="7703185" y="3263900"/>
            <a:ext cx="645795" cy="368300"/>
          </a:xfrm>
          <a:prstGeom prst="rect">
            <a:avLst/>
          </a:prstGeom>
          <a:noFill/>
        </p:spPr>
        <p:txBody>
          <a:bodyPr wrap="square" rtlCol="0">
            <a:spAutoFit/>
          </a:bodyPr>
          <a:lstStyle/>
          <a:p>
            <a:r>
              <a:rPr lang="zh-CN" altLang="en-US" b="1">
                <a:solidFill>
                  <a:schemeClr val="bg1"/>
                </a:solidFill>
              </a:rPr>
              <a:t>收入</a:t>
            </a:r>
            <a:endParaRPr lang="zh-CN" altLang="en-US" b="1">
              <a:solidFill>
                <a:schemeClr val="bg1"/>
              </a:solidFill>
            </a:endParaRPr>
          </a:p>
        </p:txBody>
      </p:sp>
      <p:sp>
        <p:nvSpPr>
          <p:cNvPr id="89" name="文本框 88"/>
          <p:cNvSpPr txBox="1"/>
          <p:nvPr>
            <p:custDataLst>
              <p:tags r:id="rId27"/>
            </p:custDataLst>
          </p:nvPr>
        </p:nvSpPr>
        <p:spPr>
          <a:xfrm>
            <a:off x="7585710" y="4607560"/>
            <a:ext cx="880745" cy="368300"/>
          </a:xfrm>
          <a:prstGeom prst="rect">
            <a:avLst/>
          </a:prstGeom>
          <a:noFill/>
        </p:spPr>
        <p:txBody>
          <a:bodyPr wrap="square" rtlCol="0">
            <a:spAutoFit/>
          </a:bodyPr>
          <a:lstStyle/>
          <a:p>
            <a:r>
              <a:rPr lang="zh-CN" altLang="en-US" b="1">
                <a:solidFill>
                  <a:schemeClr val="bg1"/>
                </a:solidFill>
              </a:rPr>
              <a:t>公务员</a:t>
            </a:r>
            <a:endParaRPr lang="zh-CN" altLang="en-US" b="1"/>
          </a:p>
        </p:txBody>
      </p:sp>
      <p:sp>
        <p:nvSpPr>
          <p:cNvPr id="90" name="文本框 89"/>
          <p:cNvSpPr txBox="1"/>
          <p:nvPr>
            <p:custDataLst>
              <p:tags r:id="rId28"/>
            </p:custDataLst>
          </p:nvPr>
        </p:nvSpPr>
        <p:spPr>
          <a:xfrm>
            <a:off x="9920605" y="2392045"/>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91" name="文本框 90"/>
          <p:cNvSpPr txBox="1"/>
          <p:nvPr>
            <p:custDataLst>
              <p:tags r:id="rId29"/>
            </p:custDataLst>
          </p:nvPr>
        </p:nvSpPr>
        <p:spPr>
          <a:xfrm>
            <a:off x="6720205" y="4607560"/>
            <a:ext cx="454025" cy="368300"/>
          </a:xfrm>
          <a:prstGeom prst="rect">
            <a:avLst/>
          </a:prstGeom>
          <a:noFill/>
        </p:spPr>
        <p:txBody>
          <a:bodyPr wrap="square" rtlCol="0">
            <a:spAutoFit/>
          </a:bodyPr>
          <a:lstStyle/>
          <a:p>
            <a:r>
              <a:rPr lang="zh-CN" altLang="en-US" b="1">
                <a:solidFill>
                  <a:schemeClr val="bg1"/>
                </a:solidFill>
              </a:rPr>
              <a:t>见</a:t>
            </a:r>
            <a:endParaRPr lang="zh-CN" altLang="en-US" b="1"/>
          </a:p>
        </p:txBody>
      </p:sp>
      <p:sp>
        <p:nvSpPr>
          <p:cNvPr id="92" name="文本框 91"/>
          <p:cNvSpPr txBox="1"/>
          <p:nvPr>
            <p:custDataLst>
              <p:tags r:id="rId30"/>
            </p:custDataLst>
          </p:nvPr>
        </p:nvSpPr>
        <p:spPr>
          <a:xfrm>
            <a:off x="9159240" y="3263900"/>
            <a:ext cx="645795" cy="368300"/>
          </a:xfrm>
          <a:prstGeom prst="rect">
            <a:avLst/>
          </a:prstGeom>
          <a:noFill/>
        </p:spPr>
        <p:txBody>
          <a:bodyPr wrap="square" rtlCol="0">
            <a:spAutoFit/>
          </a:bodyPr>
          <a:lstStyle/>
          <a:p>
            <a:r>
              <a:rPr lang="zh-CN" altLang="en-US" b="1">
                <a:solidFill>
                  <a:schemeClr val="bg1"/>
                </a:solidFill>
              </a:rPr>
              <a:t>不见</a:t>
            </a:r>
            <a:endParaRPr lang="zh-CN" altLang="en-US" b="1"/>
          </a:p>
        </p:txBody>
      </p:sp>
      <p:sp>
        <p:nvSpPr>
          <p:cNvPr id="93" name="文本框 92"/>
          <p:cNvSpPr txBox="1"/>
          <p:nvPr>
            <p:custDataLst>
              <p:tags r:id="rId31"/>
            </p:custDataLst>
          </p:nvPr>
        </p:nvSpPr>
        <p:spPr>
          <a:xfrm>
            <a:off x="8780780" y="4607560"/>
            <a:ext cx="645795" cy="368300"/>
          </a:xfrm>
          <a:prstGeom prst="rect">
            <a:avLst/>
          </a:prstGeom>
          <a:noFill/>
        </p:spPr>
        <p:txBody>
          <a:bodyPr wrap="square" rtlCol="0">
            <a:spAutoFit/>
          </a:bodyPr>
          <a:lstStyle/>
          <a:p>
            <a:r>
              <a:rPr lang="zh-CN" altLang="en-US" b="1">
                <a:solidFill>
                  <a:schemeClr val="bg1"/>
                </a:solidFill>
              </a:rPr>
              <a:t>不见</a:t>
            </a:r>
            <a:endParaRPr lang="zh-CN" altLang="en-US" b="1">
              <a:solidFill>
                <a:schemeClr val="bg1"/>
              </a:solidFill>
            </a:endParaRPr>
          </a:p>
        </p:txBody>
      </p:sp>
      <p:sp>
        <p:nvSpPr>
          <p:cNvPr id="94" name="文本框 93"/>
          <p:cNvSpPr txBox="1"/>
          <p:nvPr>
            <p:custDataLst>
              <p:tags r:id="rId32"/>
            </p:custDataLst>
          </p:nvPr>
        </p:nvSpPr>
        <p:spPr>
          <a:xfrm>
            <a:off x="8422640" y="5645150"/>
            <a:ext cx="645795" cy="368300"/>
          </a:xfrm>
          <a:prstGeom prst="rect">
            <a:avLst/>
          </a:prstGeom>
          <a:noFill/>
        </p:spPr>
        <p:txBody>
          <a:bodyPr wrap="square" rtlCol="0">
            <a:spAutoFit/>
          </a:bodyPr>
          <a:lstStyle/>
          <a:p>
            <a:r>
              <a:rPr lang="zh-CN" altLang="en-US" b="1">
                <a:solidFill>
                  <a:schemeClr val="bg1"/>
                </a:solidFill>
              </a:rPr>
              <a:t>不见</a:t>
            </a:r>
            <a:endParaRPr lang="zh-CN" altLang="en-US" b="1">
              <a:solidFill>
                <a:schemeClr val="bg1"/>
              </a:solidFill>
            </a:endParaRPr>
          </a:p>
        </p:txBody>
      </p:sp>
      <p:sp>
        <p:nvSpPr>
          <p:cNvPr id="95" name="文本框 94"/>
          <p:cNvSpPr txBox="1"/>
          <p:nvPr>
            <p:custDataLst>
              <p:tags r:id="rId33"/>
            </p:custDataLst>
          </p:nvPr>
        </p:nvSpPr>
        <p:spPr>
          <a:xfrm>
            <a:off x="7202170" y="5645150"/>
            <a:ext cx="454025" cy="368300"/>
          </a:xfrm>
          <a:prstGeom prst="rect">
            <a:avLst/>
          </a:prstGeom>
          <a:noFill/>
        </p:spPr>
        <p:txBody>
          <a:bodyPr wrap="square" rtlCol="0">
            <a:spAutoFit/>
          </a:bodyPr>
          <a:lstStyle/>
          <a:p>
            <a:r>
              <a:rPr lang="zh-CN" altLang="en-US" b="1">
                <a:solidFill>
                  <a:schemeClr val="bg1"/>
                </a:solidFill>
              </a:rPr>
              <a:t>见</a:t>
            </a:r>
            <a:endParaRPr lang="zh-CN" altLang="en-US" b="1"/>
          </a:p>
        </p:txBody>
      </p:sp>
      <p:sp>
        <p:nvSpPr>
          <p:cNvPr id="96" name="文本框 95"/>
          <p:cNvSpPr txBox="1"/>
          <p:nvPr>
            <p:custDataLst>
              <p:tags r:id="rId34"/>
            </p:custDataLst>
          </p:nvPr>
        </p:nvSpPr>
        <p:spPr>
          <a:xfrm>
            <a:off x="8663940" y="1847850"/>
            <a:ext cx="563245" cy="368300"/>
          </a:xfrm>
          <a:prstGeom prst="rect">
            <a:avLst/>
          </a:prstGeom>
          <a:noFill/>
        </p:spPr>
        <p:txBody>
          <a:bodyPr wrap="square" rtlCol="0">
            <a:spAutoFit/>
          </a:bodyPr>
          <a:lstStyle/>
          <a:p>
            <a:r>
              <a:rPr lang="en-US" altLang="zh-CN" b="1"/>
              <a:t>≤30</a:t>
            </a:r>
            <a:endParaRPr lang="en-US" altLang="zh-CN" b="1"/>
          </a:p>
        </p:txBody>
      </p:sp>
      <p:sp>
        <p:nvSpPr>
          <p:cNvPr id="97" name="文本框 96"/>
          <p:cNvSpPr txBox="1"/>
          <p:nvPr>
            <p:custDataLst>
              <p:tags r:id="rId35"/>
            </p:custDataLst>
          </p:nvPr>
        </p:nvSpPr>
        <p:spPr>
          <a:xfrm>
            <a:off x="9841865" y="1847850"/>
            <a:ext cx="563245" cy="368300"/>
          </a:xfrm>
          <a:prstGeom prst="rect">
            <a:avLst/>
          </a:prstGeom>
          <a:noFill/>
        </p:spPr>
        <p:txBody>
          <a:bodyPr wrap="square" rtlCol="0">
            <a:spAutoFit/>
          </a:bodyPr>
          <a:lstStyle/>
          <a:p>
            <a:r>
              <a:rPr lang="en-US" altLang="zh-CN" b="1"/>
              <a:t>&gt;30</a:t>
            </a:r>
            <a:endParaRPr lang="en-US" altLang="zh-CN" b="1"/>
          </a:p>
        </p:txBody>
      </p:sp>
      <p:sp>
        <p:nvSpPr>
          <p:cNvPr id="98" name="文本框 97"/>
          <p:cNvSpPr txBox="1"/>
          <p:nvPr>
            <p:custDataLst>
              <p:tags r:id="rId36"/>
            </p:custDataLst>
          </p:nvPr>
        </p:nvSpPr>
        <p:spPr>
          <a:xfrm>
            <a:off x="7462520" y="2673985"/>
            <a:ext cx="997585" cy="337185"/>
          </a:xfrm>
          <a:prstGeom prst="rect">
            <a:avLst/>
          </a:prstGeom>
          <a:noFill/>
        </p:spPr>
        <p:txBody>
          <a:bodyPr wrap="square" rtlCol="0">
            <a:spAutoFit/>
          </a:bodyPr>
          <a:lstStyle/>
          <a:p>
            <a:r>
              <a:rPr lang="zh-CN" altLang="en-US" sz="1600" b="1"/>
              <a:t>帅或中等</a:t>
            </a:r>
            <a:endParaRPr lang="zh-CN" altLang="en-US" sz="1600" b="1"/>
          </a:p>
        </p:txBody>
      </p:sp>
      <p:sp>
        <p:nvSpPr>
          <p:cNvPr id="99" name="文本框 98"/>
          <p:cNvSpPr txBox="1"/>
          <p:nvPr>
            <p:custDataLst>
              <p:tags r:id="rId37"/>
            </p:custDataLst>
          </p:nvPr>
        </p:nvSpPr>
        <p:spPr>
          <a:xfrm>
            <a:off x="7121525" y="3776980"/>
            <a:ext cx="340995" cy="337185"/>
          </a:xfrm>
          <a:prstGeom prst="rect">
            <a:avLst/>
          </a:prstGeom>
          <a:noFill/>
        </p:spPr>
        <p:txBody>
          <a:bodyPr wrap="square" rtlCol="0">
            <a:spAutoFit/>
          </a:bodyPr>
          <a:lstStyle/>
          <a:p>
            <a:r>
              <a:rPr lang="zh-CN" altLang="en-US" sz="1600" b="1"/>
              <a:t>高</a:t>
            </a:r>
            <a:endParaRPr lang="zh-CN" altLang="en-US" sz="1600" b="1"/>
          </a:p>
        </p:txBody>
      </p:sp>
      <p:sp>
        <p:nvSpPr>
          <p:cNvPr id="100" name="文本框 99"/>
          <p:cNvSpPr txBox="1"/>
          <p:nvPr>
            <p:custDataLst>
              <p:tags r:id="rId38"/>
            </p:custDataLst>
          </p:nvPr>
        </p:nvSpPr>
        <p:spPr>
          <a:xfrm>
            <a:off x="9147810" y="2709545"/>
            <a:ext cx="372110" cy="337185"/>
          </a:xfrm>
          <a:prstGeom prst="rect">
            <a:avLst/>
          </a:prstGeom>
          <a:noFill/>
        </p:spPr>
        <p:txBody>
          <a:bodyPr wrap="square" rtlCol="0">
            <a:spAutoFit/>
          </a:bodyPr>
          <a:lstStyle/>
          <a:p>
            <a:r>
              <a:rPr lang="zh-CN" altLang="en-US" sz="1600" b="1"/>
              <a:t>丑</a:t>
            </a:r>
            <a:endParaRPr lang="zh-CN" altLang="en-US" sz="1600" b="1"/>
          </a:p>
        </p:txBody>
      </p:sp>
      <p:sp>
        <p:nvSpPr>
          <p:cNvPr id="101" name="文本框 100"/>
          <p:cNvSpPr txBox="1"/>
          <p:nvPr>
            <p:custDataLst>
              <p:tags r:id="rId39"/>
            </p:custDataLst>
          </p:nvPr>
        </p:nvSpPr>
        <p:spPr>
          <a:xfrm>
            <a:off x="7970520" y="3950970"/>
            <a:ext cx="604520" cy="337185"/>
          </a:xfrm>
          <a:prstGeom prst="rect">
            <a:avLst/>
          </a:prstGeom>
          <a:noFill/>
        </p:spPr>
        <p:txBody>
          <a:bodyPr wrap="square" rtlCol="0">
            <a:spAutoFit/>
          </a:bodyPr>
          <a:lstStyle/>
          <a:p>
            <a:r>
              <a:rPr lang="zh-CN" altLang="en-US" sz="1600" b="1"/>
              <a:t>中等</a:t>
            </a:r>
            <a:endParaRPr lang="zh-CN" altLang="en-US" sz="1600" b="1"/>
          </a:p>
        </p:txBody>
      </p:sp>
      <p:sp>
        <p:nvSpPr>
          <p:cNvPr id="102" name="文本框 101"/>
          <p:cNvSpPr txBox="1"/>
          <p:nvPr>
            <p:custDataLst>
              <p:tags r:id="rId40"/>
            </p:custDataLst>
          </p:nvPr>
        </p:nvSpPr>
        <p:spPr>
          <a:xfrm>
            <a:off x="8533130" y="3776980"/>
            <a:ext cx="436880" cy="337185"/>
          </a:xfrm>
          <a:prstGeom prst="rect">
            <a:avLst/>
          </a:prstGeom>
          <a:noFill/>
        </p:spPr>
        <p:txBody>
          <a:bodyPr wrap="square" rtlCol="0">
            <a:spAutoFit/>
          </a:bodyPr>
          <a:lstStyle/>
          <a:p>
            <a:r>
              <a:rPr lang="zh-CN" altLang="en-US" sz="1600" b="1"/>
              <a:t>低</a:t>
            </a:r>
            <a:endParaRPr lang="zh-CN" altLang="en-US" sz="1600" b="1"/>
          </a:p>
        </p:txBody>
      </p:sp>
      <p:sp>
        <p:nvSpPr>
          <p:cNvPr id="103" name="文本框 102"/>
          <p:cNvSpPr txBox="1"/>
          <p:nvPr>
            <p:custDataLst>
              <p:tags r:id="rId41"/>
            </p:custDataLst>
          </p:nvPr>
        </p:nvSpPr>
        <p:spPr>
          <a:xfrm>
            <a:off x="7285990" y="4975860"/>
            <a:ext cx="370205" cy="337185"/>
          </a:xfrm>
          <a:prstGeom prst="rect">
            <a:avLst/>
          </a:prstGeom>
          <a:noFill/>
        </p:spPr>
        <p:txBody>
          <a:bodyPr wrap="square" rtlCol="0">
            <a:spAutoFit/>
          </a:bodyPr>
          <a:lstStyle/>
          <a:p>
            <a:r>
              <a:rPr lang="zh-CN" altLang="en-US" sz="1600" b="1"/>
              <a:t>是</a:t>
            </a:r>
            <a:endParaRPr lang="zh-CN" altLang="en-US" sz="1600" b="1"/>
          </a:p>
        </p:txBody>
      </p:sp>
      <p:sp>
        <p:nvSpPr>
          <p:cNvPr id="104" name="文本框 103"/>
          <p:cNvSpPr txBox="1"/>
          <p:nvPr>
            <p:custDataLst>
              <p:tags r:id="rId42"/>
            </p:custDataLst>
          </p:nvPr>
        </p:nvSpPr>
        <p:spPr>
          <a:xfrm>
            <a:off x="8348980" y="4975860"/>
            <a:ext cx="673100" cy="337185"/>
          </a:xfrm>
          <a:prstGeom prst="rect">
            <a:avLst/>
          </a:prstGeom>
          <a:noFill/>
        </p:spPr>
        <p:txBody>
          <a:bodyPr wrap="square" rtlCol="0">
            <a:spAutoFit/>
          </a:bodyPr>
          <a:lstStyle/>
          <a:p>
            <a:r>
              <a:rPr lang="zh-CN" altLang="en-US" sz="1600" b="1"/>
              <a:t>不是</a:t>
            </a:r>
            <a:endParaRPr lang="zh-CN" altLang="en-US" sz="1600" b="1"/>
          </a:p>
        </p:txBody>
      </p:sp>
      <p:graphicFrame>
        <p:nvGraphicFramePr>
          <p:cNvPr id="5" name="表格 4"/>
          <p:cNvGraphicFramePr/>
          <p:nvPr>
            <p:custDataLst>
              <p:tags r:id="rId43"/>
            </p:custDataLst>
          </p:nvPr>
        </p:nvGraphicFramePr>
        <p:xfrm>
          <a:off x="535940" y="3011170"/>
          <a:ext cx="4973955" cy="1371600"/>
        </p:xfrm>
        <a:graphic>
          <a:graphicData uri="http://schemas.openxmlformats.org/drawingml/2006/table">
            <a:tbl>
              <a:tblPr firstRow="1" bandRow="1">
                <a:tableStyleId>{5C22544A-7EE6-4342-B048-85BDC9FD1C3A}</a:tableStyleId>
              </a:tblPr>
              <a:tblGrid>
                <a:gridCol w="675005"/>
                <a:gridCol w="644525"/>
                <a:gridCol w="1003935"/>
                <a:gridCol w="686435"/>
                <a:gridCol w="803910"/>
                <a:gridCol w="1160145"/>
              </a:tblGrid>
              <a:tr h="640080">
                <a:tc>
                  <a:txBody>
                    <a:bodyPr/>
                    <a:lstStyle/>
                    <a:p>
                      <a:pPr algn="ctr">
                        <a:buNone/>
                      </a:pPr>
                      <a:r>
                        <a:rPr lang="zh-CN" altLang="en-US" sz="1600"/>
                        <a:t>相亲对象</a:t>
                      </a:r>
                      <a:endParaRPr lang="zh-CN" altLang="en-US" sz="1600"/>
                    </a:p>
                  </a:txBody>
                  <a:tcPr anchor="ctr"/>
                </a:tc>
                <a:tc>
                  <a:txBody>
                    <a:bodyPr/>
                    <a:lstStyle/>
                    <a:p>
                      <a:pPr algn="ctr">
                        <a:buNone/>
                      </a:pPr>
                      <a:r>
                        <a:rPr lang="zh-CN" altLang="en-US" sz="1600"/>
                        <a:t>年龄</a:t>
                      </a:r>
                      <a:endParaRPr lang="en-US" altLang="zh-CN" sz="1600"/>
                    </a:p>
                  </a:txBody>
                  <a:tcPr anchor="ctr"/>
                </a:tc>
                <a:tc>
                  <a:txBody>
                    <a:bodyPr/>
                    <a:lstStyle/>
                    <a:p>
                      <a:pPr algn="ctr">
                        <a:buNone/>
                      </a:pPr>
                      <a:r>
                        <a:rPr lang="zh-CN" altLang="en-US" sz="1600"/>
                        <a:t>长相</a:t>
                      </a:r>
                      <a:endParaRPr lang="zh-CN" altLang="en-US" sz="1600"/>
                    </a:p>
                  </a:txBody>
                  <a:tcPr anchor="ctr"/>
                </a:tc>
                <a:tc>
                  <a:txBody>
                    <a:bodyPr/>
                    <a:lstStyle/>
                    <a:p>
                      <a:pPr algn="ctr">
                        <a:buNone/>
                      </a:pPr>
                      <a:r>
                        <a:rPr lang="zh-CN" altLang="en-US" sz="1600"/>
                        <a:t>收入</a:t>
                      </a:r>
                      <a:endParaRPr lang="zh-CN" altLang="en-US" sz="1600"/>
                    </a:p>
                  </a:txBody>
                  <a:tcPr anchor="ctr"/>
                </a:tc>
                <a:tc>
                  <a:txBody>
                    <a:bodyPr/>
                    <a:lstStyle/>
                    <a:p>
                      <a:pPr algn="ctr">
                        <a:buNone/>
                      </a:pPr>
                      <a:r>
                        <a:rPr lang="zh-CN" altLang="en-US" sz="1600"/>
                        <a:t>公务员</a:t>
                      </a:r>
                      <a:endParaRPr lang="zh-CN" altLang="en-US" sz="1600"/>
                    </a:p>
                  </a:txBody>
                  <a:tcPr anchor="ctr"/>
                </a:tc>
                <a:tc>
                  <a:txBody>
                    <a:bodyPr/>
                    <a:lstStyle/>
                    <a:p>
                      <a:pPr algn="ctr">
                        <a:buNone/>
                      </a:pPr>
                      <a:r>
                        <a:rPr lang="zh-CN" altLang="en-US" sz="1600"/>
                        <a:t>是否相见</a:t>
                      </a:r>
                      <a:endParaRPr lang="zh-CN" altLang="en-US" sz="1600"/>
                    </a:p>
                  </a:txBody>
                  <a:tcPr anchor="ctr"/>
                </a:tc>
              </a:tr>
              <a:tr h="365760">
                <a:tc>
                  <a:txBody>
                    <a:bodyPr/>
                    <a:lstStyle/>
                    <a:p>
                      <a:pPr algn="ctr">
                        <a:buNone/>
                      </a:pPr>
                      <a:r>
                        <a:rPr lang="en-US" altLang="zh-CN" sz="1600"/>
                        <a:t>4</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中等</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7</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sym typeface="+mn-ea"/>
                        </a:rPr>
                        <a:t>中等</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gn="l">
              <a:lnSpc>
                <a:spcPct val="130000"/>
              </a:lnSpc>
              <a:spcBef>
                <a:spcPts val="0"/>
              </a:spcBef>
              <a:spcAft>
                <a:spcPts val="0"/>
              </a:spcAft>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基于</a:t>
            </a:r>
            <a:r>
              <a:rPr lang="en-US" altLang="zh-CN" sz="2800" b="1" spc="200" dirty="0">
                <a:solidFill>
                  <a:schemeClr val="tx1"/>
                </a:solidFill>
                <a:uFillTx/>
                <a:latin typeface="微软雅黑" panose="020B0503020204020204" charset="-122"/>
                <a:ea typeface="微软雅黑" panose="020B0503020204020204" charset="-122"/>
                <a:cs typeface="+mj-cs"/>
                <a:sym typeface="+mn-ea"/>
              </a:rPr>
              <a:t>python</a:t>
            </a:r>
            <a:r>
              <a:rPr lang="zh-CN" altLang="en-US" sz="2800" b="1" spc="200" dirty="0">
                <a:solidFill>
                  <a:schemeClr val="tx1"/>
                </a:solidFill>
                <a:uFillTx/>
                <a:latin typeface="微软雅黑" panose="020B0503020204020204" charset="-122"/>
                <a:ea typeface="微软雅黑" panose="020B0503020204020204" charset="-122"/>
                <a:cs typeface="+mj-cs"/>
                <a:sym typeface="+mn-ea"/>
              </a:rPr>
              <a:t>创建分类决策树</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86385" y="1614170"/>
            <a:ext cx="11337925" cy="64516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cs typeface="微软雅黑" panose="020B0503020204020204" charset="-122"/>
              </a:rPr>
              <a:t>随着划分的不断进行，我们希望决策树分支结点所包含的样本尽可能属于同一类别，即结点的</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纯度</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越来越高，基于此诞生了几种最优划分属性选择方法：</a:t>
            </a:r>
            <a:endParaRPr lang="zh-CN" altLang="en-US">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6889750" y="3029585"/>
            <a:ext cx="4081780" cy="2580005"/>
          </a:xfrm>
          <a:prstGeom prst="rect">
            <a:avLst/>
          </a:prstGeom>
          <a:noFill/>
        </p:spPr>
        <p:txBody>
          <a:bodyPr wrap="square" rtlCol="0">
            <a:noAutofit/>
          </a:bodyPr>
          <a:lstStyle/>
          <a:p>
            <a:r>
              <a:rPr lang="en-US" altLang="zh-CN">
                <a:latin typeface="微软雅黑" panose="020B0503020204020204" charset="-122"/>
                <a:ea typeface="微软雅黑" panose="020B0503020204020204" charset="-122"/>
                <a:cs typeface="微软雅黑" panose="020B0503020204020204" charset="-122"/>
              </a:rPr>
              <a:t>1</a:t>
            </a:r>
            <a:r>
              <a:rPr lang="zh-CN" altLang="en-US">
                <a:latin typeface="微软雅黑" panose="020B0503020204020204" charset="-122"/>
                <a:ea typeface="微软雅黑" panose="020B0503020204020204" charset="-122"/>
                <a:cs typeface="微软雅黑" panose="020B0503020204020204" charset="-122"/>
              </a:rPr>
              <a:t>）根据信息增益划分</a:t>
            </a:r>
            <a:endParaRPr lang="zh-CN" altLang="en-US">
              <a:latin typeface="微软雅黑" panose="020B0503020204020204" charset="-122"/>
              <a:ea typeface="微软雅黑" panose="020B0503020204020204" charset="-122"/>
              <a:cs typeface="微软雅黑" panose="020B0503020204020204" charset="-122"/>
            </a:endParaRPr>
          </a:p>
          <a:p>
            <a:r>
              <a:rPr lang="zh-CN" altLang="en-US" b="1">
                <a:solidFill>
                  <a:srgbClr val="0070C0"/>
                </a:solidFill>
              </a:rPr>
              <a:t> 以某特征划分数据集前后的熵的差值</a:t>
            </a:r>
            <a:endParaRPr lang="zh-CN" altLang="en-US" b="1">
              <a:solidFill>
                <a:srgbClr val="0070C0"/>
              </a:solidFill>
            </a:endParaRPr>
          </a:p>
          <a:p>
            <a:endParaRPr lang="en-US" altLang="zh-CN" sz="2400">
              <a:latin typeface="微软雅黑" panose="020B0503020204020204" charset="-122"/>
              <a:ea typeface="微软雅黑" panose="020B0503020204020204" charset="-122"/>
              <a:cs typeface="微软雅黑" panose="020B0503020204020204" charset="-122"/>
            </a:endParaRPr>
          </a:p>
          <a:p>
            <a:pPr algn="l">
              <a:buClrTx/>
              <a:buSzTx/>
              <a:buFontTx/>
            </a:pPr>
            <a:r>
              <a:rPr lang="en-US" altLang="zh-CN" sz="1800">
                <a:latin typeface="微软雅黑" panose="020B0503020204020204" charset="-122"/>
                <a:ea typeface="微软雅黑" panose="020B0503020204020204" charset="-122"/>
                <a:cs typeface="微软雅黑" panose="020B0503020204020204" charset="-122"/>
              </a:rPr>
              <a:t>2）根据增益率划分</a:t>
            </a:r>
            <a:endParaRPr lang="en-US" altLang="zh-CN" sz="1800">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sz="1800" b="1">
                <a:solidFill>
                  <a:srgbClr val="0070C0"/>
                </a:solidFill>
              </a:rPr>
              <a:t>通过信息增益与属性固有值共同定义</a:t>
            </a:r>
            <a:endParaRPr lang="zh-CN" altLang="en-US" sz="1800" b="1">
              <a:solidFill>
                <a:srgbClr val="0070C0"/>
              </a:solidFill>
            </a:endParaRPr>
          </a:p>
          <a:p>
            <a:pPr algn="l">
              <a:buClrTx/>
              <a:buSzTx/>
              <a:buFontTx/>
            </a:pPr>
            <a:endParaRPr lang="zh-CN" altLang="en-US" sz="16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endParaRPr>
          </a:p>
          <a:p>
            <a:pPr algn="l">
              <a:buClrTx/>
              <a:buSzTx/>
              <a:buFontTx/>
            </a:pPr>
            <a:r>
              <a:rPr lang="en-US" altLang="zh-CN" sz="1800">
                <a:latin typeface="微软雅黑" panose="020B0503020204020204" charset="-122"/>
                <a:ea typeface="微软雅黑" panose="020B0503020204020204" charset="-122"/>
                <a:cs typeface="微软雅黑" panose="020B0503020204020204" charset="-122"/>
              </a:rPr>
              <a:t>3）根据基尼指数划分</a:t>
            </a:r>
            <a:endParaRPr lang="en-US" altLang="zh-CN" sz="1800">
              <a:latin typeface="微软雅黑" panose="020B0503020204020204" charset="-122"/>
              <a:ea typeface="微软雅黑" panose="020B0503020204020204" charset="-122"/>
              <a:cs typeface="微软雅黑" panose="020B0503020204020204" charset="-122"/>
            </a:endParaRPr>
          </a:p>
          <a:p>
            <a:pPr algn="l">
              <a:buClrTx/>
              <a:buSzTx/>
              <a:buFontTx/>
            </a:pPr>
            <a:r>
              <a:rPr lang="zh-CN" altLang="en-US" sz="1800" b="1">
                <a:solidFill>
                  <a:srgbClr val="0070C0"/>
                </a:solidFill>
                <a:sym typeface="+mn-ea"/>
              </a:rPr>
              <a:t>反映了从数据集D中随机抽取两个样本，其类别不一致的概率</a:t>
            </a:r>
            <a:endParaRPr lang="zh-CN" altLang="en-US" sz="1800" b="1">
              <a:solidFill>
                <a:srgbClr val="0070C0"/>
              </a:solidFill>
              <a:sym typeface="+mn-ea"/>
            </a:endParaRPr>
          </a:p>
        </p:txBody>
      </p:sp>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3"/>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13" name="文本框 12"/>
          <p:cNvSpPr txBox="1"/>
          <p:nvPr/>
        </p:nvSpPr>
        <p:spPr>
          <a:xfrm>
            <a:off x="285750" y="1174750"/>
            <a:ext cx="11338560" cy="368300"/>
          </a:xfrm>
          <a:prstGeom prst="rect">
            <a:avLst/>
          </a:prstGeom>
          <a:noFill/>
        </p:spPr>
        <p:txBody>
          <a:bodyPr wrap="square" rtlCol="0">
            <a:spAutoFit/>
          </a:bodyPr>
          <a:lstStyle/>
          <a:p>
            <a:r>
              <a:rPr lang="zh-CN" altLang="en-US" b="1"/>
              <a:t>根据规则可以有效生成决策树，而</a:t>
            </a:r>
            <a:r>
              <a:rPr lang="zh-CN" altLang="en-US" b="1">
                <a:sym typeface="+mn-ea"/>
              </a:rPr>
              <a:t>训练一个决策树的关键是如何从属性集中寻找到当前的最优划分属性</a:t>
            </a:r>
            <a:endParaRPr lang="zh-CN" altLang="en-US" b="1"/>
          </a:p>
        </p:txBody>
      </p:sp>
      <p:pic>
        <p:nvPicPr>
          <p:cNvPr id="14" name="图片 13" descr="决策树伪代码"/>
          <p:cNvPicPr>
            <a:picLocks noChangeAspect="1"/>
          </p:cNvPicPr>
          <p:nvPr>
            <p:custDataLst>
              <p:tags r:id="rId4"/>
            </p:custDataLst>
          </p:nvPr>
        </p:nvPicPr>
        <p:blipFill>
          <a:blip r:embed="rId5"/>
          <a:stretch>
            <a:fillRect/>
          </a:stretch>
        </p:blipFill>
        <p:spPr>
          <a:xfrm>
            <a:off x="354330" y="2396490"/>
            <a:ext cx="5676900" cy="4010660"/>
          </a:xfrm>
          <a:prstGeom prst="rect">
            <a:avLst/>
          </a:prstGeom>
        </p:spPr>
      </p:pic>
      <p:sp>
        <p:nvSpPr>
          <p:cNvPr id="15" name="矩形 14"/>
          <p:cNvSpPr/>
          <p:nvPr/>
        </p:nvSpPr>
        <p:spPr>
          <a:xfrm>
            <a:off x="700405" y="4387850"/>
            <a:ext cx="2070100" cy="215900"/>
          </a:xfrm>
          <a:prstGeom prst="rect">
            <a:avLst/>
          </a:prstGeom>
          <a:noFill/>
          <a:ln w="285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41630" y="1202055"/>
            <a:ext cx="11281410" cy="368300"/>
          </a:xfrm>
          <a:prstGeom prst="rect">
            <a:avLst/>
          </a:prstGeom>
          <a:noFill/>
        </p:spPr>
        <p:txBody>
          <a:bodyPr wrap="square" rtlCol="0">
            <a:spAutoFit/>
          </a:bodyPr>
          <a:lstStyle/>
          <a:p>
            <a:r>
              <a:rPr lang="zh-CN" altLang="en-US" b="1">
                <a:solidFill>
                  <a:srgbClr val="0070C0"/>
                </a:solidFill>
              </a:rPr>
              <a:t>熵：</a:t>
            </a:r>
            <a:r>
              <a:rPr lang="zh-CN" altLang="en-US"/>
              <a:t>表示随机变量不确定性的度量。熵值越大，不确定性越大，越混乱；熵值越小，不确定性越小，越稳定。</a:t>
            </a:r>
            <a:endParaRPr lang="zh-CN" altLang="en-US"/>
          </a:p>
        </p:txBody>
      </p:sp>
      <p:sp>
        <p:nvSpPr>
          <p:cNvPr id="7" name="文本框 6"/>
          <p:cNvSpPr txBox="1"/>
          <p:nvPr/>
        </p:nvSpPr>
        <p:spPr>
          <a:xfrm>
            <a:off x="883920" y="1897380"/>
            <a:ext cx="9575800" cy="4023360"/>
          </a:xfrm>
          <a:prstGeom prst="rect">
            <a:avLst/>
          </a:prstGeom>
          <a:noFill/>
        </p:spPr>
        <p:txBody>
          <a:bodyPr wrap="square" rtlCol="0">
            <a:spAutoFit/>
          </a:bodyPr>
          <a:lstStyle/>
          <a:p>
            <a:r>
              <a:rPr lang="zh-CN" altLang="en-US"/>
              <a:t>例子</a:t>
            </a:r>
            <a:r>
              <a:rPr lang="en-US" altLang="zh-CN"/>
              <a:t>1</a:t>
            </a:r>
            <a:r>
              <a:rPr lang="zh-CN" altLang="en-US"/>
              <a:t>：两个集合，集合里的数字代表类别</a:t>
            </a:r>
            <a:endParaRPr lang="zh-CN" altLang="en-US"/>
          </a:p>
          <a:p>
            <a:pPr>
              <a:lnSpc>
                <a:spcPct val="60000"/>
              </a:lnSpc>
            </a:pPr>
            <a:endParaRPr lang="zh-CN" altLang="en-US"/>
          </a:p>
          <a:p>
            <a:pPr indent="457200"/>
            <a:r>
              <a:rPr lang="en-US" altLang="zh-CN"/>
              <a:t>A</a:t>
            </a:r>
            <a:r>
              <a:rPr lang="zh-CN" altLang="en-US"/>
              <a:t>集合：</a:t>
            </a:r>
            <a:r>
              <a:rPr lang="en-US" altLang="zh-CN"/>
              <a:t>[1,1,1,1,2,1,1,1,1,2,2]</a:t>
            </a:r>
            <a:endParaRPr lang="en-US" altLang="zh-CN"/>
          </a:p>
          <a:p>
            <a:pPr indent="457200">
              <a:lnSpc>
                <a:spcPct val="40000"/>
              </a:lnSpc>
            </a:pPr>
            <a:endParaRPr lang="en-US" altLang="zh-CN"/>
          </a:p>
          <a:p>
            <a:pPr indent="457200"/>
            <a:r>
              <a:rPr lang="en-US" altLang="zh-CN"/>
              <a:t>B</a:t>
            </a:r>
            <a:r>
              <a:rPr lang="zh-CN" altLang="en-US"/>
              <a:t>集合：</a:t>
            </a:r>
            <a:r>
              <a:rPr lang="en-US" altLang="zh-CN"/>
              <a:t>[1,2,3,4,5,6,7,8,9,1,7]</a:t>
            </a:r>
            <a:endParaRPr lang="en-US" altLang="zh-CN"/>
          </a:p>
          <a:p>
            <a:pPr indent="457200">
              <a:lnSpc>
                <a:spcPct val="50000"/>
              </a:lnSpc>
            </a:pPr>
            <a:endParaRPr lang="en-US" altLang="zh-CN"/>
          </a:p>
          <a:p>
            <a:pPr indent="457200"/>
            <a:r>
              <a:rPr lang="en-US" altLang="zh-CN"/>
              <a:t>A</a:t>
            </a:r>
            <a:r>
              <a:rPr lang="zh-CN" altLang="en-US"/>
              <a:t>集合的熵值更低，更稳定</a:t>
            </a:r>
            <a:endParaRPr lang="zh-CN" altLang="en-US"/>
          </a:p>
          <a:p>
            <a:pPr indent="457200"/>
            <a:endParaRPr lang="zh-CN" altLang="en-US"/>
          </a:p>
          <a:p>
            <a:pPr indent="457200"/>
            <a:endParaRPr lang="zh-CN" altLang="en-US">
              <a:solidFill>
                <a:schemeClr val="tx1"/>
              </a:solidFill>
            </a:endParaRPr>
          </a:p>
          <a:p>
            <a:pPr marL="0" lvl="0" indent="0">
              <a:buNone/>
            </a:pPr>
            <a:r>
              <a:rPr lang="zh-CN" altLang="en-US">
                <a:solidFill>
                  <a:schemeClr val="tx1"/>
                </a:solidFill>
              </a:rPr>
              <a:t>例子</a:t>
            </a:r>
            <a:r>
              <a:rPr lang="en-US" altLang="zh-CN">
                <a:solidFill>
                  <a:schemeClr val="tx1"/>
                </a:solidFill>
              </a:rPr>
              <a:t>2</a:t>
            </a:r>
            <a:r>
              <a:rPr lang="zh-CN" altLang="en-US">
                <a:solidFill>
                  <a:schemeClr val="tx1"/>
                </a:solidFill>
              </a:rPr>
              <a:t>：小明要去买一部手机，请问小明买的是什么品牌的手机？</a:t>
            </a:r>
            <a:endParaRPr lang="zh-CN" altLang="en-US">
              <a:solidFill>
                <a:schemeClr val="tx1"/>
              </a:solidFill>
            </a:endParaRPr>
          </a:p>
          <a:p>
            <a:pPr marL="0" lvl="0" indent="0">
              <a:lnSpc>
                <a:spcPct val="50000"/>
              </a:lnSpc>
              <a:buNone/>
            </a:pPr>
            <a:endParaRPr lang="zh-CN" altLang="en-US">
              <a:solidFill>
                <a:schemeClr val="tx1"/>
              </a:solidFill>
            </a:endParaRPr>
          </a:p>
          <a:p>
            <a:pPr marL="0" lvl="0" indent="457200">
              <a:buNone/>
            </a:pPr>
            <a:r>
              <a:rPr lang="zh-CN" altLang="en-US">
                <a:solidFill>
                  <a:schemeClr val="tx1"/>
                </a:solidFill>
              </a:rPr>
              <a:t>第一种情况：小明去百脑汇里买手机</a:t>
            </a:r>
            <a:endParaRPr lang="zh-CN" altLang="en-US">
              <a:solidFill>
                <a:schemeClr val="tx1"/>
              </a:solidFill>
            </a:endParaRPr>
          </a:p>
          <a:p>
            <a:pPr marL="0" lvl="0" indent="457200">
              <a:lnSpc>
                <a:spcPct val="40000"/>
              </a:lnSpc>
              <a:buNone/>
            </a:pPr>
            <a:endParaRPr lang="zh-CN" altLang="en-US">
              <a:solidFill>
                <a:schemeClr val="tx1"/>
              </a:solidFill>
            </a:endParaRPr>
          </a:p>
          <a:p>
            <a:pPr marL="0" lvl="0" indent="457200">
              <a:buNone/>
            </a:pPr>
            <a:r>
              <a:rPr lang="zh-CN" altLang="en-US">
                <a:solidFill>
                  <a:schemeClr val="tx1"/>
                </a:solidFill>
              </a:rPr>
              <a:t>第二种情况：小明去华为专卖店买手机</a:t>
            </a:r>
            <a:endParaRPr lang="zh-CN" altLang="en-US">
              <a:solidFill>
                <a:schemeClr val="tx1"/>
              </a:solidFill>
            </a:endParaRPr>
          </a:p>
          <a:p>
            <a:pPr marL="0" lvl="0" indent="457200">
              <a:lnSpc>
                <a:spcPct val="50000"/>
              </a:lnSpc>
              <a:buNone/>
            </a:pPr>
            <a:endParaRPr lang="zh-CN" altLang="en-US">
              <a:solidFill>
                <a:schemeClr val="tx1"/>
              </a:solidFill>
            </a:endParaRPr>
          </a:p>
          <a:p>
            <a:pPr marL="0" lvl="0" indent="457200">
              <a:buNone/>
            </a:pPr>
            <a:r>
              <a:rPr lang="zh-CN" altLang="en-US">
                <a:solidFill>
                  <a:schemeClr val="tx1"/>
                </a:solidFill>
              </a:rPr>
              <a:t>第一种情况百脑汇中有各种品牌的手机，不确定性较大，熵值较大</a:t>
            </a:r>
            <a:endParaRPr lang="zh-CN" altLang="en-US">
              <a:solidFill>
                <a:schemeClr val="tx1"/>
              </a:solidFill>
            </a:endParaRPr>
          </a:p>
          <a:p>
            <a:pPr marL="0" lvl="0" indent="457200">
              <a:lnSpc>
                <a:spcPct val="30000"/>
              </a:lnSpc>
              <a:buNone/>
            </a:pPr>
            <a:endParaRPr lang="zh-CN" altLang="en-US">
              <a:solidFill>
                <a:schemeClr val="tx1"/>
              </a:solidFill>
            </a:endParaRPr>
          </a:p>
          <a:p>
            <a:pPr marL="0" lvl="0" indent="457200">
              <a:buNone/>
            </a:pPr>
            <a:r>
              <a:rPr lang="zh-CN" altLang="en-US">
                <a:solidFill>
                  <a:schemeClr val="tx1"/>
                </a:solidFill>
              </a:rPr>
              <a:t>第二种情况华为专卖店中只有华为一种品牌的手机，不确定性较小，熵值较小</a:t>
            </a:r>
            <a:endParaRPr lang="zh-CN" altLang="en-US">
              <a:solidFill>
                <a:schemeClr val="tx1"/>
              </a:solidFill>
            </a:endParaRPr>
          </a:p>
        </p:txBody>
      </p:sp>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3"/>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文本框 5"/>
              <p:cNvSpPr txBox="1"/>
              <p:nvPr/>
            </p:nvSpPr>
            <p:spPr>
              <a:xfrm>
                <a:off x="341630" y="1202055"/>
                <a:ext cx="11281410" cy="727710"/>
              </a:xfrm>
              <a:prstGeom prst="rect">
                <a:avLst/>
              </a:prstGeom>
              <a:noFill/>
            </p:spPr>
            <p:txBody>
              <a:bodyPr wrap="square" rtlCol="0">
                <a:spAutoFit/>
              </a:bodyPr>
              <a:lstStyle/>
              <a:p>
                <a:r>
                  <a:rPr lang="zh-CN" altLang="en-US" b="1">
                    <a:solidFill>
                      <a:srgbClr val="0070C0"/>
                    </a:solidFill>
                  </a:rPr>
                  <a:t>信息熵：</a:t>
                </a:r>
                <a:r>
                  <a:rPr lang="zh-CN" altLang="en-US"/>
                  <a:t>度量样本集合纯度最常用的一种指标，假定样本集合</a:t>
                </a:r>
                <a:r>
                  <a:rPr lang="en-US" altLang="zh-CN"/>
                  <a:t>D</a:t>
                </a:r>
                <a:r>
                  <a:rPr lang="zh-CN" altLang="en-US"/>
                  <a:t>中第</a:t>
                </a:r>
                <a:r>
                  <a:rPr lang="en-US" altLang="zh-CN"/>
                  <a:t>k</a:t>
                </a:r>
                <a:r>
                  <a:rPr lang="zh-CN" altLang="en-US"/>
                  <a:t>类样本所占比例为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𝑦</m:t>
                        </m:r>
                      </m:e>
                    </m:d>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，其</a:t>
                </a:r>
                <a:endParaRPr lang="zh-CN" altLang="en-US">
                  <a:latin typeface="Cambria Math" panose="02040503050406030204" pitchFamily="18" charset="0"/>
                  <a:cs typeface="Cambria Math" panose="02040503050406030204" pitchFamily="18" charset="0"/>
                </a:endParaRPr>
              </a:p>
              <a:p>
                <a:pPr>
                  <a:lnSpc>
                    <a:spcPct val="30000"/>
                  </a:lnSpc>
                </a:pPr>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中</a:t>
                </a:r>
                <a14:m>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𝑦</m:t>
                        </m:r>
                      </m:e>
                    </m:d>
                  </m:oMath>
                </a14:m>
                <a:r>
                  <a:rPr lang="zh-CN" altLang="en-US">
                    <a:latin typeface="Cambria Math" panose="02040503050406030204" pitchFamily="18" charset="0"/>
                    <a:cs typeface="Cambria Math" panose="02040503050406030204" pitchFamily="18" charset="0"/>
                  </a:rPr>
                  <a:t>为类别的总个数，可将信息熵的计算公式定义为：</a:t>
                </a:r>
                <a:endParaRPr lang="zh-CN" altLang="en-US">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341630" y="1202055"/>
                <a:ext cx="11281410" cy="72771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1666875" y="2256790"/>
                <a:ext cx="4082415" cy="1013460"/>
              </a:xfrm>
              <a:prstGeom prst="rect">
                <a:avLst/>
              </a:prstGeom>
              <a:noFill/>
            </p:spPr>
            <p:txBody>
              <a:bodyPr wrap="square" rtlCol="0">
                <a:noAutofit/>
              </a:bodyPr>
              <a:lstStyle/>
              <a:p>
                <a:pPr indent="457200"/>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Cambria Math" panose="02040503050406030204" pitchFamily="18" charset="0"/>
                        </a:rPr>
                        <m:t>𝐸𝑛𝑡</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𝐷</m:t>
                      </m:r>
                      <m:r>
                        <a:rPr lang="en-US" altLang="zh-CN" sz="2400" i="1">
                          <a:latin typeface="Cambria Math" panose="02040503050406030204" pitchFamily="18" charset="0"/>
                          <a:cs typeface="Cambria Math" panose="02040503050406030204" pitchFamily="18" charset="0"/>
                        </a:rPr>
                        <m:t>)=−</m:t>
                      </m:r>
                      <m:nary>
                        <m:naryPr>
                          <m:chr m:val="∑"/>
                          <m:limLoc m:val="undOvr"/>
                          <m:ctrlPr>
                            <a:rPr lang="en-US" altLang="zh-CN" sz="2400" i="1">
                              <a:latin typeface="Cambria Math" panose="02040503050406030204" pitchFamily="18" charset="0"/>
                              <a:cs typeface="Cambria Math" panose="02040503050406030204" pitchFamily="18" charset="0"/>
                            </a:rPr>
                          </m:ctrlPr>
                        </m:naryPr>
                        <m:sub>
                          <m:r>
                            <a:rPr lang="en-US" altLang="zh-CN" sz="2400" i="1">
                              <a:latin typeface="Cambria Math" panose="02040503050406030204" pitchFamily="18" charset="0"/>
                              <a:cs typeface="Cambria Math" panose="02040503050406030204" pitchFamily="18" charset="0"/>
                            </a:rPr>
                            <m:t>𝑘</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1</m:t>
                          </m:r>
                        </m:sub>
                        <m:sup>
                          <m:d>
                            <m:dPr>
                              <m:begChr m:val="|"/>
                              <m:endChr m:val="|"/>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𝑦</m:t>
                              </m:r>
                            </m:e>
                          </m:d>
                        </m:sup>
                        <m:e>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𝑝</m:t>
                              </m:r>
                            </m:e>
                            <m:sub>
                              <m:r>
                                <a:rPr lang="en-US" altLang="zh-CN" sz="2400" i="1">
                                  <a:latin typeface="Cambria Math" panose="02040503050406030204" pitchFamily="18" charset="0"/>
                                  <a:cs typeface="Cambria Math" panose="02040503050406030204" pitchFamily="18" charset="0"/>
                                </a:rPr>
                                <m:t>𝑘</m:t>
                              </m:r>
                            </m:sub>
                          </m:sSub>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𝑙𝑜𝑔</m:t>
                              </m:r>
                            </m:e>
                            <m:sub>
                              <m:r>
                                <a:rPr lang="en-US" altLang="zh-CN" sz="2400" i="1">
                                  <a:latin typeface="Cambria Math" panose="02040503050406030204" pitchFamily="18" charset="0"/>
                                  <a:cs typeface="Cambria Math" panose="02040503050406030204" pitchFamily="18" charset="0"/>
                                </a:rPr>
                                <m:t>2</m:t>
                              </m:r>
                            </m:sub>
                          </m:sSub>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𝑝</m:t>
                              </m:r>
                            </m:e>
                            <m:sub>
                              <m:r>
                                <a:rPr lang="en-US" altLang="zh-CN" sz="2400" i="1">
                                  <a:latin typeface="Cambria Math" panose="02040503050406030204" pitchFamily="18" charset="0"/>
                                  <a:cs typeface="Cambria Math" panose="02040503050406030204" pitchFamily="18" charset="0"/>
                                </a:rPr>
                                <m:t>𝑘</m:t>
                              </m:r>
                            </m:sub>
                          </m:sSub>
                        </m:e>
                      </m:nary>
                    </m:oMath>
                  </m:oMathPara>
                </a14:m>
                <a:endParaRPr lang="en-US" altLang="zh-CN" sz="2400" i="1">
                  <a:latin typeface="Cambria Math" panose="02040503050406030204" pitchFamily="18" charset="0"/>
                  <a:cs typeface="Cambria Math" panose="02040503050406030204" pitchFamily="18" charset="0"/>
                </a:endParaRPr>
              </a:p>
              <a:p>
                <a:pPr marL="0" lvl="0" indent="0">
                  <a:buNone/>
                </a:pPr>
                <a:endParaRPr lang="en-US" altLang="zh-CN" i="1">
                  <a:solidFill>
                    <a:schemeClr val="tx1"/>
                  </a:solidFill>
                  <a:latin typeface="Cambria Math" panose="02040503050406030204" pitchFamily="18" charset="0"/>
                  <a:cs typeface="Cambria Math" panose="02040503050406030204" pitchFamily="18" charset="0"/>
                </a:endParaRPr>
              </a:p>
              <a:p>
                <a:pPr indent="457200"/>
                <a:endParaRPr lang="en-US" altLang="zh-CN" i="1">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666875" y="2256790"/>
                <a:ext cx="4082415" cy="1013460"/>
              </a:xfrm>
              <a:prstGeom prst="rect">
                <a:avLst/>
              </a:prstGeom>
              <a:blipFill rotWithShape="1">
                <a:blip r:embed="rId2"/>
                <a:stretch>
                  <a:fillRect r="-887" b="-679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1308100" y="4110355"/>
                <a:ext cx="9575800" cy="2478405"/>
              </a:xfrm>
              <a:prstGeom prst="rect">
                <a:avLst/>
              </a:prstGeom>
              <a:noFill/>
            </p:spPr>
            <p:txBody>
              <a:bodyPr wrap="square" rtlCol="0">
                <a:spAutoFit/>
              </a:bodyPr>
              <a:lstStyle/>
              <a:p>
                <a:r>
                  <a:rPr lang="zh-CN" altLang="en-US"/>
                  <a:t>例子：对于一个二分类问题，有两个集合</a:t>
                </a:r>
                <a:r>
                  <a:rPr lang="zh-CN" altLang="en-US">
                    <a:sym typeface="+mn-ea"/>
                  </a:rPr>
                  <a:t>，集合里的数字代表类别：</a:t>
                </a:r>
                <a:endParaRPr lang="zh-CN" altLang="en-US"/>
              </a:p>
              <a:p>
                <a:pPr>
                  <a:lnSpc>
                    <a:spcPct val="50000"/>
                  </a:lnSpc>
                </a:pPr>
                <a:endParaRPr lang="zh-CN" altLang="en-US"/>
              </a:p>
              <a:p>
                <a:pPr indent="457200"/>
                <a:r>
                  <a:rPr lang="en-US" altLang="zh-CN"/>
                  <a:t>     A</a:t>
                </a:r>
                <a:r>
                  <a:rPr lang="zh-CN" altLang="en-US"/>
                  <a:t>集合：</a:t>
                </a:r>
                <a:r>
                  <a:rPr lang="en-US" altLang="zh-CN"/>
                  <a:t>[1,1,1,1,1,1]</a:t>
                </a:r>
                <a:endParaRPr lang="en-US" altLang="zh-CN"/>
              </a:p>
              <a:p>
                <a:pPr indent="457200">
                  <a:lnSpc>
                    <a:spcPct val="40000"/>
                  </a:lnSpc>
                </a:pPr>
                <a:endParaRPr lang="en-US" altLang="zh-CN"/>
              </a:p>
              <a:p>
                <a:pPr indent="457200"/>
                <a:r>
                  <a:rPr lang="en-US" altLang="zh-CN"/>
                  <a:t>     B</a:t>
                </a:r>
                <a:r>
                  <a:rPr lang="zh-CN" altLang="en-US"/>
                  <a:t>集合：</a:t>
                </a:r>
                <a:r>
                  <a:rPr lang="en-US" altLang="zh-CN"/>
                  <a:t>[1,1,1,2,2,2]</a:t>
                </a:r>
                <a:endParaRPr lang="en-US" altLang="zh-CN"/>
              </a:p>
              <a:p>
                <a:pPr indent="457200">
                  <a:lnSpc>
                    <a:spcPct val="50000"/>
                  </a:lnSpc>
                </a:pPr>
                <a:endParaRPr lang="en-US" altLang="zh-CN"/>
              </a:p>
              <a:p>
                <a:pPr indent="457200"/>
                <a:r>
                  <a:rPr lang="en-US" altLang="zh-CN">
                    <a:solidFill>
                      <a:schemeClr val="tx1"/>
                    </a:solidFill>
                  </a:rPr>
                  <a:t>     A</a:t>
                </a:r>
                <a:r>
                  <a:rPr lang="zh-CN" altLang="en-US">
                    <a:solidFill>
                      <a:schemeClr val="tx1"/>
                    </a:solidFill>
                  </a:rPr>
                  <a:t>集合的信息熵为：</a:t>
                </a:r>
                <a14:m>
                  <m:oMath xmlns:m="http://schemas.openxmlformats.org/officeDocument/2006/math">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a14:m>
                <a:endParaRPr lang="en-US" altLang="zh-CN" i="1">
                  <a:latin typeface="Cambria Math" panose="02040503050406030204" pitchFamily="18" charset="0"/>
                  <a:cs typeface="Cambria Math" panose="02040503050406030204" pitchFamily="18" charset="0"/>
                </a:endParaRPr>
              </a:p>
              <a:p>
                <a:pPr indent="457200">
                  <a:lnSpc>
                    <a:spcPct val="40000"/>
                  </a:lnSpc>
                </a:pPr>
                <a:endParaRPr lang="en-US" altLang="zh-CN">
                  <a:solidFill>
                    <a:schemeClr val="tx1"/>
                  </a:solidFill>
                  <a:latin typeface="Cambria Math" panose="02040503050406030204" pitchFamily="18" charset="0"/>
                  <a:cs typeface="Cambria Math" panose="02040503050406030204" pitchFamily="18" charset="0"/>
                </a:endParaRPr>
              </a:p>
              <a:p>
                <a:pPr indent="457200"/>
                <a:r>
                  <a:rPr lang="en-US" altLang="zh-CN">
                    <a:solidFill>
                      <a:schemeClr val="tx1"/>
                    </a:solidFill>
                    <a:latin typeface="Cambria Math" panose="02040503050406030204" pitchFamily="18" charset="0"/>
                    <a:cs typeface="Cambria Math" panose="02040503050406030204" pitchFamily="18" charset="0"/>
                  </a:rPr>
                  <a:t> </a:t>
                </a:r>
                <a:r>
                  <a:rPr lang="en-US" altLang="zh-CN" sz="2000">
                    <a:solidFill>
                      <a:schemeClr val="tx1"/>
                    </a:solidFill>
                    <a:latin typeface="Cambria Math" panose="02040503050406030204" pitchFamily="18" charset="0"/>
                    <a:cs typeface="Cambria Math" panose="02040503050406030204" pitchFamily="18" charset="0"/>
                  </a:rPr>
                  <a:t>   </a:t>
                </a:r>
                <a:r>
                  <a:rPr lang="en-US" altLang="zh-CN">
                    <a:solidFill>
                      <a:schemeClr val="tx1"/>
                    </a:solidFill>
                    <a:latin typeface="Cambria Math" panose="02040503050406030204" pitchFamily="18" charset="0"/>
                    <a:cs typeface="Cambria Math" panose="02040503050406030204" pitchFamily="18" charset="0"/>
                  </a:rPr>
                  <a:t> </a:t>
                </a:r>
                <a:r>
                  <a:rPr lang="en-US" altLang="zh-CN">
                    <a:sym typeface="+mn-ea"/>
                  </a:rPr>
                  <a:t>B</a:t>
                </a:r>
                <a:r>
                  <a:rPr lang="zh-CN" altLang="en-US">
                    <a:sym typeface="+mn-ea"/>
                  </a:rPr>
                  <a:t>集合的信息熵为：</a:t>
                </a:r>
                <a14:m>
                  <m:oMath xmlns:m="http://schemas.openxmlformats.org/officeDocument/2006/math">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3</m:t>
                        </m:r>
                      </m:num>
                      <m:den>
                        <m:r>
                          <a:rPr lang="en-US" altLang="zh-CN" i="1">
                            <a:latin typeface="Cambria Math" panose="02040503050406030204" pitchFamily="18" charset="0"/>
                            <a:cs typeface="Cambria Math" panose="02040503050406030204" pitchFamily="18" charset="0"/>
                          </a:rPr>
                          <m:t>6</m:t>
                        </m:r>
                      </m:den>
                    </m:f>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3</m:t>
                        </m:r>
                      </m:num>
                      <m:den>
                        <m:r>
                          <a:rPr lang="en-US" altLang="zh-CN" i="1">
                            <a:latin typeface="Cambria Math" panose="02040503050406030204" pitchFamily="18" charset="0"/>
                            <a:cs typeface="Cambria Math" panose="02040503050406030204" pitchFamily="18" charset="0"/>
                          </a:rPr>
                          <m:t>6</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3</m:t>
                        </m:r>
                      </m:num>
                      <m:den>
                        <m:r>
                          <a:rPr lang="en-US" altLang="zh-CN" i="1">
                            <a:latin typeface="Cambria Math" panose="02040503050406030204" pitchFamily="18" charset="0"/>
                            <a:cs typeface="Cambria Math" panose="02040503050406030204" pitchFamily="18" charset="0"/>
                          </a:rPr>
                          <m:t>6</m:t>
                        </m:r>
                      </m:den>
                    </m:f>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3</m:t>
                        </m:r>
                      </m:num>
                      <m:den>
                        <m:r>
                          <a:rPr lang="en-US" altLang="zh-CN" i="1">
                            <a:latin typeface="Cambria Math" panose="02040503050406030204" pitchFamily="18" charset="0"/>
                            <a:cs typeface="Cambria Math" panose="02040503050406030204" pitchFamily="18" charset="0"/>
                          </a:rPr>
                          <m:t>6</m:t>
                        </m:r>
                      </m:den>
                    </m:f>
                    <m:r>
                      <a:rPr lang="en-US" altLang="zh-CN" i="1">
                        <a:latin typeface="Cambria Math" panose="02040503050406030204" pitchFamily="18" charset="0"/>
                        <a:cs typeface="Cambria Math" panose="02040503050406030204" pitchFamily="18" charset="0"/>
                      </a:rPr>
                      <m:t>)=</m:t>
                    </m:r>
                  </m:oMath>
                </a14:m>
                <a:r>
                  <a:rPr lang="en-US" altLang="zh-CN">
                    <a:solidFill>
                      <a:schemeClr val="tx1"/>
                    </a:solidFill>
                    <a:latin typeface="Cambria Math" panose="02040503050406030204" pitchFamily="18" charset="0"/>
                    <a:cs typeface="Cambria Math" panose="02040503050406030204" pitchFamily="18" charset="0"/>
                  </a:rPr>
                  <a:t> 1</a:t>
                </a:r>
                <a:endParaRPr lang="en-US" altLang="zh-CN">
                  <a:solidFill>
                    <a:schemeClr val="tx1"/>
                  </a:solidFill>
                  <a:latin typeface="Cambria Math" panose="02040503050406030204" pitchFamily="18" charset="0"/>
                  <a:cs typeface="Cambria Math" panose="02040503050406030204" pitchFamily="18" charset="0"/>
                </a:endParaRPr>
              </a:p>
              <a:p>
                <a:pPr indent="457200">
                  <a:lnSpc>
                    <a:spcPct val="40000"/>
                  </a:lnSpc>
                </a:pP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r>
                  <a:rPr lang="en-US" altLang="zh-CN">
                    <a:solidFill>
                      <a:schemeClr val="tx1"/>
                    </a:solidFill>
                    <a:latin typeface="Cambria Math" panose="02040503050406030204" pitchFamily="18" charset="0"/>
                    <a:cs typeface="Cambria Math" panose="02040503050406030204" pitchFamily="18" charset="0"/>
                  </a:rPr>
                  <a:t>A</a:t>
                </a:r>
                <a:r>
                  <a:rPr lang="zh-CN" altLang="en-US">
                    <a:solidFill>
                      <a:schemeClr val="tx1"/>
                    </a:solidFill>
                    <a:latin typeface="Cambria Math" panose="02040503050406030204" pitchFamily="18" charset="0"/>
                    <a:cs typeface="Cambria Math" panose="02040503050406030204" pitchFamily="18" charset="0"/>
                  </a:rPr>
                  <a:t>集合的信息熵＜</a:t>
                </a:r>
                <a:r>
                  <a:rPr lang="en-US" altLang="zh-CN">
                    <a:solidFill>
                      <a:schemeClr val="tx1"/>
                    </a:solidFill>
                    <a:latin typeface="Cambria Math" panose="02040503050406030204" pitchFamily="18" charset="0"/>
                    <a:cs typeface="Cambria Math" panose="02040503050406030204" pitchFamily="18" charset="0"/>
                  </a:rPr>
                  <a:t>B</a:t>
                </a:r>
                <a:r>
                  <a:rPr lang="zh-CN" altLang="en-US">
                    <a:solidFill>
                      <a:schemeClr val="tx1"/>
                    </a:solidFill>
                    <a:latin typeface="Cambria Math" panose="02040503050406030204" pitchFamily="18" charset="0"/>
                    <a:cs typeface="Cambria Math" panose="02040503050406030204" pitchFamily="18" charset="0"/>
                  </a:rPr>
                  <a:t>集合的信息熵，因此</a:t>
                </a:r>
                <a:r>
                  <a:rPr lang="en-US" altLang="zh-CN">
                    <a:solidFill>
                      <a:schemeClr val="tx1"/>
                    </a:solidFill>
                    <a:latin typeface="Cambria Math" panose="02040503050406030204" pitchFamily="18" charset="0"/>
                    <a:cs typeface="Cambria Math" panose="02040503050406030204" pitchFamily="18" charset="0"/>
                  </a:rPr>
                  <a:t>A</a:t>
                </a:r>
                <a:r>
                  <a:rPr lang="zh-CN" altLang="en-US">
                    <a:solidFill>
                      <a:schemeClr val="tx1"/>
                    </a:solidFill>
                    <a:latin typeface="Cambria Math" panose="02040503050406030204" pitchFamily="18" charset="0"/>
                    <a:cs typeface="Cambria Math" panose="02040503050406030204" pitchFamily="18" charset="0"/>
                  </a:rPr>
                  <a:t>集合更稳定</a:t>
                </a:r>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1308100" y="4110355"/>
                <a:ext cx="9575800" cy="247840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7216775" y="2116455"/>
                <a:ext cx="4605655" cy="1807210"/>
              </a:xfrm>
              <a:prstGeom prst="rect">
                <a:avLst/>
              </a:prstGeom>
              <a:noFill/>
            </p:spPr>
            <p:txBody>
              <a:bodyPr wrap="square" rtlCol="0">
                <a:spAutoFit/>
              </a:bodyPr>
              <a:lstStyle/>
              <a:p>
                <a:r>
                  <a:rPr lang="zh-CN" altLang="en-US">
                    <a:solidFill>
                      <a:srgbClr val="FF0000"/>
                    </a:solidFill>
                  </a:rPr>
                  <a:t>注意：</a:t>
                </a:r>
                <a:endParaRPr lang="zh-CN" altLang="en-US">
                  <a:solidFill>
                    <a:srgbClr val="FF0000"/>
                  </a:solidFill>
                </a:endParaRPr>
              </a:p>
              <a:p>
                <a:pPr>
                  <a:lnSpc>
                    <a:spcPct val="40000"/>
                  </a:lnSpc>
                </a:pPr>
                <a:endParaRPr lang="zh-CN" altLang="en-US"/>
              </a:p>
              <a:p>
                <a:r>
                  <a:rPr lang="en-US" altLang="zh-CN"/>
                  <a:t>1</a:t>
                </a:r>
                <a:r>
                  <a:rPr lang="zh-CN" altLang="en-US"/>
                  <a:t>）计算信息熵时我们约定，若</a:t>
                </a:r>
                <a:r>
                  <a:rPr lang="en-US" altLang="zh-CN"/>
                  <a:t>p=0</a:t>
                </a:r>
                <a:r>
                  <a:rPr lang="zh-CN" altLang="en-US"/>
                  <a:t>，则</a:t>
                </a:r>
                <a:endParaRPr lang="zh-CN" altLang="en-US"/>
              </a:p>
              <a:p>
                <a:pPr>
                  <a:lnSpc>
                    <a:spcPct val="20000"/>
                  </a:lnSpc>
                </a:pPr>
                <a:endParaRPr lang="zh-CN" altLang="en-US"/>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𝑝</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a:p>
                <a:pPr>
                  <a:lnSpc>
                    <a:spcPct val="40000"/>
                  </a:lnSpc>
                </a:pPr>
                <a:endParaRPr lang="en-US" altLang="zh-CN" i="1">
                  <a:latin typeface="Cambria Math" panose="02040503050406030204" pitchFamily="18" charset="0"/>
                  <a:cs typeface="Cambria Math" panose="02040503050406030204" pitchFamily="18" charset="0"/>
                </a:endParaRPr>
              </a:p>
              <a:p>
                <a:r>
                  <a:rPr lang="en-US" altLang="zh-CN"/>
                  <a:t>2</a:t>
                </a:r>
                <a:r>
                  <a:rPr lang="zh-CN" altLang="en-US"/>
                  <a:t>）计算信息熵时，理论上对数函数可以采</a:t>
                </a:r>
                <a:endParaRPr lang="zh-CN" altLang="en-US"/>
              </a:p>
              <a:p>
                <a:pPr>
                  <a:lnSpc>
                    <a:spcPct val="20000"/>
                  </a:lnSpc>
                </a:pPr>
                <a:endParaRPr lang="zh-CN" altLang="en-US"/>
              </a:p>
              <a:p>
                <a:r>
                  <a:rPr lang="en-US" altLang="zh-CN"/>
                  <a:t>       </a:t>
                </a:r>
                <a:r>
                  <a:rPr lang="zh-CN" altLang="en-US"/>
                  <a:t>用任何底数，这里我们默认底数为</a:t>
                </a:r>
                <a:r>
                  <a:rPr lang="en-US" altLang="zh-CN"/>
                  <a:t>2</a:t>
                </a:r>
                <a:endParaRPr lang="en-US" altLang="zh-CN"/>
              </a:p>
            </p:txBody>
          </p:sp>
        </mc:Choice>
        <mc:Fallback>
          <p:sp>
            <p:nvSpPr>
              <p:cNvPr id="8" name="文本框 7"/>
              <p:cNvSpPr txBox="1">
                <a:spLocks noRot="1" noChangeAspect="1" noMove="1" noResize="1" noEditPoints="1" noAdjustHandles="1" noChangeArrowheads="1" noChangeShapeType="1" noTextEdit="1"/>
              </p:cNvSpPr>
              <p:nvPr/>
            </p:nvSpPr>
            <p:spPr>
              <a:xfrm>
                <a:off x="7216775" y="2116455"/>
                <a:ext cx="4605655" cy="1807210"/>
              </a:xfrm>
              <a:prstGeom prst="rect">
                <a:avLst/>
              </a:prstGeom>
              <a:blipFill rotWithShape="1">
                <a:blip r:embed="rId4"/>
                <a:stretch>
                  <a:fillRect/>
                </a:stretch>
              </a:blipFill>
            </p:spPr>
            <p:txBody>
              <a:bodyPr/>
              <a:lstStyle/>
              <a:p>
                <a:r>
                  <a:rPr lang="zh-CN" altLang="en-US">
                    <a:noFill/>
                  </a:rPr>
                  <a:t> </a:t>
                </a:r>
              </a:p>
            </p:txBody>
          </p:sp>
        </mc:Fallback>
      </mc:AlternateContent>
      <p:pic>
        <p:nvPicPr>
          <p:cNvPr id="9" name="图片 8" descr="信息熵函数曲线"/>
          <p:cNvPicPr>
            <a:picLocks noChangeAspect="1"/>
          </p:cNvPicPr>
          <p:nvPr/>
        </p:nvPicPr>
        <p:blipFill>
          <a:blip r:embed="rId5"/>
          <a:stretch>
            <a:fillRect/>
          </a:stretch>
        </p:blipFill>
        <p:spPr>
          <a:xfrm>
            <a:off x="8678545" y="4110355"/>
            <a:ext cx="3048000" cy="2286000"/>
          </a:xfrm>
          <a:prstGeom prst="rect">
            <a:avLst/>
          </a:prstGeom>
        </p:spPr>
      </p:pic>
      <p:sp>
        <p:nvSpPr>
          <p:cNvPr id="10" name="文本框 9"/>
          <p:cNvSpPr txBox="1"/>
          <p:nvPr/>
        </p:nvSpPr>
        <p:spPr>
          <a:xfrm>
            <a:off x="9042400" y="6396355"/>
            <a:ext cx="2320290" cy="368300"/>
          </a:xfrm>
          <a:prstGeom prst="rect">
            <a:avLst/>
          </a:prstGeom>
          <a:noFill/>
        </p:spPr>
        <p:txBody>
          <a:bodyPr wrap="square" rtlCol="0">
            <a:spAutoFit/>
          </a:bodyPr>
          <a:lstStyle/>
          <a:p>
            <a:r>
              <a:rPr lang="zh-CN" altLang="en-US"/>
              <a:t>二元信息熵函数曲线</a:t>
            </a:r>
            <a:endParaRPr lang="zh-CN" altLang="en-US"/>
          </a:p>
        </p:txBody>
      </p:sp>
      <p:sp>
        <p:nvSpPr>
          <p:cNvPr id="14" name="矩形 13"/>
          <p:cNvSpPr/>
          <p:nvPr>
            <p:custDataLst>
              <p:tags r:id="rId6"/>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5" name="矩形 14"/>
          <p:cNvSpPr/>
          <p:nvPr>
            <p:custDataLst>
              <p:tags r:id="rId7"/>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6" name="文本框 15"/>
          <p:cNvSpPr txBox="1"/>
          <p:nvPr>
            <p:custDataLst>
              <p:tags r:id="rId8"/>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blinds(horizontal)">
                                      <p:cBhvr>
                                        <p:cTn id="10" dur="500"/>
                                        <p:tgtEl>
                                          <p:spTgt spid="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blinds(horizontal)">
                                      <p:cBhvr>
                                        <p:cTn id="13" dur="500"/>
                                        <p:tgtEl>
                                          <p:spTgt spid="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blinds(horizontal)">
                                      <p:cBhvr>
                                        <p:cTn id="18" dur="500"/>
                                        <p:tgtEl>
                                          <p:spTgt spid="7">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animEffect transition="in" filter="blinds(horizontal)">
                                      <p:cBhvr>
                                        <p:cTn id="21" dur="500"/>
                                        <p:tgtEl>
                                          <p:spTgt spid="7">
                                            <p:txEl>
                                              <p:pRg st="8" end="8"/>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blinds(horizontal)">
                                      <p:cBhvr>
                                        <p:cTn id="24" dur="500"/>
                                        <p:tgtEl>
                                          <p:spTgt spid="7">
                                            <p:txEl>
                                              <p:pRg st="10" end="1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blinds(horizontal)">
                                      <p:cBhvr>
                                        <p:cTn id="37" dur="500"/>
                                        <p:tgtEl>
                                          <p:spTgt spid="8">
                                            <p:txEl>
                                              <p:pRg st="0" end="0"/>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8">
                                            <p:txEl>
                                              <p:pRg st="2" end="2"/>
                                            </p:txEl>
                                          </p:spTgt>
                                        </p:tgtEl>
                                        <p:attrNameLst>
                                          <p:attrName>style.visibility</p:attrName>
                                        </p:attrNameLst>
                                      </p:cBhvr>
                                      <p:to>
                                        <p:strVal val="visible"/>
                                      </p:to>
                                    </p:set>
                                    <p:animEffect transition="in" filter="blinds(horizontal)">
                                      <p:cBhvr>
                                        <p:cTn id="40" dur="500"/>
                                        <p:tgtEl>
                                          <p:spTgt spid="8">
                                            <p:txEl>
                                              <p:pRg st="2" end="2"/>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8">
                                            <p:txEl>
                                              <p:pRg st="4" end="4"/>
                                            </p:txEl>
                                          </p:spTgt>
                                        </p:tgtEl>
                                        <p:attrNameLst>
                                          <p:attrName>style.visibility</p:attrName>
                                        </p:attrNameLst>
                                      </p:cBhvr>
                                      <p:to>
                                        <p:strVal val="visible"/>
                                      </p:to>
                                    </p:set>
                                    <p:animEffect transition="in" filter="blinds(horizontal)">
                                      <p:cBhvr>
                                        <p:cTn id="43" dur="500"/>
                                        <p:tgtEl>
                                          <p:spTgt spid="8">
                                            <p:txEl>
                                              <p:pRg st="4" end="4"/>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8">
                                            <p:txEl>
                                              <p:pRg st="6" end="6"/>
                                            </p:txEl>
                                          </p:spTgt>
                                        </p:tgtEl>
                                        <p:attrNameLst>
                                          <p:attrName>style.visibility</p:attrName>
                                        </p:attrNameLst>
                                      </p:cBhvr>
                                      <p:to>
                                        <p:strVal val="visible"/>
                                      </p:to>
                                    </p:set>
                                    <p:animEffect transition="in" filter="blinds(horizontal)">
                                      <p:cBhvr>
                                        <p:cTn id="46" dur="500"/>
                                        <p:tgtEl>
                                          <p:spTgt spid="8">
                                            <p:txEl>
                                              <p:pRg st="6" end="6"/>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8">
                                            <p:txEl>
                                              <p:pRg st="8" end="8"/>
                                            </p:txEl>
                                          </p:spTgt>
                                        </p:tgtEl>
                                        <p:attrNameLst>
                                          <p:attrName>style.visibility</p:attrName>
                                        </p:attrNameLst>
                                      </p:cBhvr>
                                      <p:to>
                                        <p:strVal val="visible"/>
                                      </p:to>
                                    </p:set>
                                    <p:animEffect transition="in" filter="blinds(horizontal)">
                                      <p:cBhvr>
                                        <p:cTn id="49"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文本框 5"/>
              <p:cNvSpPr txBox="1"/>
              <p:nvPr/>
            </p:nvSpPr>
            <p:spPr>
              <a:xfrm>
                <a:off x="341630" y="1202055"/>
                <a:ext cx="11281410" cy="2135505"/>
              </a:xfrm>
              <a:prstGeom prst="rect">
                <a:avLst/>
              </a:prstGeom>
              <a:noFill/>
            </p:spPr>
            <p:txBody>
              <a:bodyPr wrap="square" rtlCol="0">
                <a:spAutoFit/>
              </a:bodyPr>
              <a:lstStyle/>
              <a:p>
                <a:r>
                  <a:rPr lang="zh-CN" altLang="en-US" b="1">
                    <a:solidFill>
                      <a:srgbClr val="0070C0"/>
                    </a:solidFill>
                  </a:rPr>
                  <a:t>信息增益  -- ID3算法</a:t>
                </a:r>
                <a:endParaRPr lang="zh-CN" altLang="en-US" b="1">
                  <a:solidFill>
                    <a:srgbClr val="0070C0"/>
                  </a:solidFill>
                </a:endParaRPr>
              </a:p>
              <a:p>
                <a:pPr>
                  <a:lnSpc>
                    <a:spcPct val="50000"/>
                  </a:lnSpc>
                </a:pPr>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假定样本集为</a:t>
                </a:r>
                <a:r>
                  <a:rPr lang="en-US" altLang="zh-CN">
                    <a:latin typeface="Cambria Math" panose="02040503050406030204" pitchFamily="18" charset="0"/>
                    <a:cs typeface="Cambria Math" panose="02040503050406030204" pitchFamily="18" charset="0"/>
                  </a:rPr>
                  <a:t>D</a:t>
                </a:r>
                <a:r>
                  <a:rPr lang="zh-CN" altLang="en-US">
                    <a:latin typeface="Cambria Math" panose="02040503050406030204" pitchFamily="18" charset="0"/>
                    <a:cs typeface="Cambria Math" panose="02040503050406030204" pitchFamily="18" charset="0"/>
                  </a:rPr>
                  <a:t>，属性集</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中的一个离散属性</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中有</a:t>
                </a:r>
                <a:r>
                  <a:rPr lang="en-US" altLang="zh-CN">
                    <a:latin typeface="Cambria Math" panose="02040503050406030204" pitchFamily="18" charset="0"/>
                    <a:cs typeface="Cambria Math" panose="02040503050406030204" pitchFamily="18" charset="0"/>
                  </a:rPr>
                  <a:t>V</a:t>
                </a:r>
                <a:r>
                  <a:rPr lang="zh-CN" altLang="en-US">
                    <a:latin typeface="Cambria Math" panose="02040503050406030204" pitchFamily="18" charset="0"/>
                    <a:cs typeface="Cambria Math" panose="02040503050406030204" pitchFamily="18" charset="0"/>
                  </a:rPr>
                  <a:t>个可取的值</a:t>
                </a:r>
                <a:r>
                  <a:rPr lang="en-US" altLang="zh-CN">
                    <a:latin typeface="Cambria Math" panose="02040503050406030204" pitchFamily="18" charset="0"/>
                    <a:cs typeface="Cambria Math" panose="02040503050406030204" pitchFamily="18" charset="0"/>
                  </a:rPr>
                  <a:t>{</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𝑎</m:t>
                        </m:r>
                      </m:e>
                      <m:sup>
                        <m:r>
                          <a:rPr lang="en-US" altLang="zh-CN" i="1">
                            <a:latin typeface="Cambria Math" panose="02040503050406030204" pitchFamily="18" charset="0"/>
                            <a:cs typeface="Cambria Math" panose="02040503050406030204" pitchFamily="18" charset="0"/>
                          </a:rPr>
                          <m:t>1</m:t>
                        </m:r>
                      </m:sup>
                    </m:sSup>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𝑎</m:t>
                        </m:r>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𝑎</m:t>
                        </m:r>
                      </m:e>
                      <m:sup>
                        <m:r>
                          <a:rPr lang="en-US" altLang="zh-CN" i="1">
                            <a:latin typeface="Cambria Math" panose="02040503050406030204" pitchFamily="18" charset="0"/>
                            <a:cs typeface="Cambria Math" panose="02040503050406030204" pitchFamily="18" charset="0"/>
                          </a:rPr>
                          <m:t>𝑉</m:t>
                        </m:r>
                      </m:sup>
                    </m:sSup>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，通过离散属性</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对样本集</a:t>
                </a:r>
                <a:r>
                  <a:rPr lang="en-US" altLang="zh-CN">
                    <a:latin typeface="Cambria Math" panose="02040503050406030204" pitchFamily="18" charset="0"/>
                    <a:cs typeface="Cambria Math" panose="02040503050406030204" pitchFamily="18" charset="0"/>
                  </a:rPr>
                  <a:t>D</a:t>
                </a:r>
                <a:r>
                  <a:rPr lang="zh-CN" altLang="en-US">
                    <a:latin typeface="Cambria Math" panose="02040503050406030204" pitchFamily="18" charset="0"/>
                    <a:cs typeface="Cambria Math" panose="02040503050406030204" pitchFamily="18" charset="0"/>
                  </a:rPr>
                  <a:t>进行划分，产生</a:t>
                </a:r>
                <a:r>
                  <a:rPr lang="en-US" altLang="zh-CN">
                    <a:latin typeface="Cambria Math" panose="02040503050406030204" pitchFamily="18" charset="0"/>
                    <a:cs typeface="Cambria Math" panose="02040503050406030204" pitchFamily="18" charset="0"/>
                  </a:rPr>
                  <a:t>V</a:t>
                </a:r>
                <a:r>
                  <a:rPr lang="zh-CN" altLang="en-US">
                    <a:latin typeface="Cambria Math" panose="02040503050406030204" pitchFamily="18" charset="0"/>
                    <a:cs typeface="Cambria Math" panose="02040503050406030204" pitchFamily="18" charset="0"/>
                  </a:rPr>
                  <a:t>个分支结点，设定其中第</a:t>
                </a:r>
                <a:r>
                  <a:rPr lang="en-US" altLang="zh-CN">
                    <a:latin typeface="Cambria Math" panose="02040503050406030204" pitchFamily="18" charset="0"/>
                    <a:cs typeface="Cambria Math" panose="02040503050406030204" pitchFamily="18" charset="0"/>
                  </a:rPr>
                  <a:t>v</a:t>
                </a:r>
                <a:r>
                  <a:rPr lang="zh-CN" altLang="en-US">
                    <a:latin typeface="Cambria Math" panose="02040503050406030204" pitchFamily="18" charset="0"/>
                    <a:cs typeface="Cambria Math" panose="02040503050406030204" pitchFamily="18" charset="0"/>
                  </a:rPr>
                  <a:t>个分支结点中所包含的样本集合为</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oMath>
                </a14:m>
                <a:r>
                  <a:rPr lang="zh-CN" altLang="en-US">
                    <a:latin typeface="Cambria Math" panose="02040503050406030204" pitchFamily="18" charset="0"/>
                    <a:cs typeface="Cambria Math" panose="02040503050406030204" pitchFamily="18" charset="0"/>
                  </a:rPr>
                  <a:t>，则属性</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对样本集</a:t>
                </a:r>
                <a:r>
                  <a:rPr lang="en-US" altLang="zh-CN">
                    <a:latin typeface="Cambria Math" panose="02040503050406030204" pitchFamily="18" charset="0"/>
                    <a:cs typeface="Cambria Math" panose="02040503050406030204" pitchFamily="18" charset="0"/>
                  </a:rPr>
                  <a:t>D</a:t>
                </a:r>
                <a:r>
                  <a:rPr lang="zh-CN" altLang="en-US">
                    <a:latin typeface="Cambria Math" panose="02040503050406030204" pitchFamily="18" charset="0"/>
                    <a:cs typeface="Cambria Math" panose="02040503050406030204" pitchFamily="18" charset="0"/>
                  </a:rPr>
                  <a:t>进行划分所获得的信息增益为：</a:t>
                </a:r>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𝑉</m:t>
                          </m:r>
                        </m:sup>
                        <m:e>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e>
                              </m:d>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den>
                          </m:f>
                        </m:e>
                      </m:nary>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r>
                        <a:rPr lang="en-US" altLang="zh-CN" i="1">
                          <a:latin typeface="Cambria Math" panose="02040503050406030204" pitchFamily="18" charset="0"/>
                          <a:cs typeface="Cambria Math" panose="02040503050406030204" pitchFamily="18" charset="0"/>
                        </a:rPr>
                        <m:t>)</m:t>
                      </m:r>
                    </m:oMath>
                  </m:oMathPara>
                </a14:m>
                <a:endParaRPr lang="zh-CN" altLang="en-US">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341630" y="1202055"/>
                <a:ext cx="11281410" cy="213550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1117600" y="4522470"/>
                <a:ext cx="6096000" cy="87693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𝑉</m:t>
                          </m:r>
                        </m:sup>
                        <m:e>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e>
                              </m:d>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den>
                          </m:f>
                        </m:e>
                      </m:nary>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117600" y="4522470"/>
                <a:ext cx="6096000" cy="876935"/>
              </a:xfrm>
              <a:prstGeom prst="rect">
                <a:avLst/>
              </a:prstGeom>
              <a:blipFill rotWithShape="1">
                <a:blip r:embed="rId2"/>
                <a:stretch>
                  <a:fillRect/>
                </a:stretch>
              </a:blipFill>
            </p:spPr>
            <p:txBody>
              <a:bodyPr/>
              <a:lstStyle/>
              <a:p>
                <a:r>
                  <a:rPr lang="zh-CN" altLang="en-US">
                    <a:noFill/>
                  </a:rPr>
                  <a:t> </a:t>
                </a:r>
              </a:p>
            </p:txBody>
          </p:sp>
        </mc:Fallback>
      </mc:AlternateContent>
      <p:sp>
        <p:nvSpPr>
          <p:cNvPr id="7" name="矩形 6"/>
          <p:cNvSpPr/>
          <p:nvPr/>
        </p:nvSpPr>
        <p:spPr>
          <a:xfrm>
            <a:off x="5343525" y="4736465"/>
            <a:ext cx="806450" cy="448945"/>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829175" y="4575175"/>
            <a:ext cx="457200" cy="747395"/>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508375" y="4736465"/>
            <a:ext cx="744220" cy="448945"/>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肘形连接符 9"/>
          <p:cNvCxnSpPr>
            <a:stCxn id="7" idx="0"/>
          </p:cNvCxnSpPr>
          <p:nvPr/>
        </p:nvCxnSpPr>
        <p:spPr>
          <a:xfrm rot="16200000">
            <a:off x="6167755" y="3836670"/>
            <a:ext cx="478155" cy="1320800"/>
          </a:xfrm>
          <a:prstGeom prst="bentConnector2">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cxnSp>
        <p:nvCxnSpPr>
          <p:cNvPr id="11" name="肘形连接符 10"/>
          <p:cNvCxnSpPr>
            <a:stCxn id="8" idx="2"/>
          </p:cNvCxnSpPr>
          <p:nvPr/>
        </p:nvCxnSpPr>
        <p:spPr>
          <a:xfrm rot="5400000" flipV="1">
            <a:off x="6551295" y="3829050"/>
            <a:ext cx="671195" cy="3657600"/>
          </a:xfrm>
          <a:prstGeom prst="bent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肘形连接符 11"/>
          <p:cNvCxnSpPr>
            <a:stCxn id="9" idx="0"/>
          </p:cNvCxnSpPr>
          <p:nvPr/>
        </p:nvCxnSpPr>
        <p:spPr>
          <a:xfrm rot="16200000" flipV="1">
            <a:off x="3056890" y="3913505"/>
            <a:ext cx="723900" cy="922655"/>
          </a:xfrm>
          <a:prstGeom prst="bentConnector2">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352030" y="4066540"/>
            <a:ext cx="2717800" cy="368300"/>
          </a:xfrm>
          <a:prstGeom prst="rect">
            <a:avLst/>
          </a:prstGeom>
          <a:noFill/>
        </p:spPr>
        <p:txBody>
          <a:bodyPr wrap="square" rtlCol="0">
            <a:spAutoFit/>
          </a:bodyPr>
          <a:lstStyle/>
          <a:p>
            <a:r>
              <a:rPr lang="zh-CN" altLang="en-US"/>
              <a:t>第</a:t>
            </a:r>
            <a:r>
              <a:rPr lang="en-US" altLang="zh-CN"/>
              <a:t>v</a:t>
            </a:r>
            <a:r>
              <a:rPr lang="zh-CN" altLang="en-US"/>
              <a:t>个分支结点的信息熵</a:t>
            </a:r>
            <a:endParaRPr lang="zh-CN" altLang="en-US"/>
          </a:p>
        </p:txBody>
      </p:sp>
      <p:sp>
        <p:nvSpPr>
          <p:cNvPr id="14" name="文本框 13"/>
          <p:cNvSpPr txBox="1"/>
          <p:nvPr/>
        </p:nvSpPr>
        <p:spPr>
          <a:xfrm>
            <a:off x="8800465" y="5692140"/>
            <a:ext cx="2717800" cy="645160"/>
          </a:xfrm>
          <a:prstGeom prst="rect">
            <a:avLst/>
          </a:prstGeom>
          <a:noFill/>
        </p:spPr>
        <p:txBody>
          <a:bodyPr wrap="square" rtlCol="0">
            <a:spAutoFit/>
          </a:bodyPr>
          <a:lstStyle/>
          <a:p>
            <a:r>
              <a:rPr lang="zh-CN" altLang="en-US"/>
              <a:t>第</a:t>
            </a:r>
            <a:r>
              <a:rPr lang="en-US" altLang="zh-CN"/>
              <a:t>v</a:t>
            </a:r>
            <a:r>
              <a:rPr lang="zh-CN" altLang="en-US"/>
              <a:t>个分支结点中的样本数占总样本数的比值</a:t>
            </a:r>
            <a:endParaRPr lang="zh-CN" altLang="en-US"/>
          </a:p>
        </p:txBody>
      </p:sp>
      <p:sp>
        <p:nvSpPr>
          <p:cNvPr id="15" name="文本框 14"/>
          <p:cNvSpPr txBox="1"/>
          <p:nvPr/>
        </p:nvSpPr>
        <p:spPr>
          <a:xfrm>
            <a:off x="777240" y="3702685"/>
            <a:ext cx="2138680" cy="645160"/>
          </a:xfrm>
          <a:prstGeom prst="rect">
            <a:avLst/>
          </a:prstGeom>
          <a:noFill/>
        </p:spPr>
        <p:txBody>
          <a:bodyPr wrap="square" rtlCol="0">
            <a:spAutoFit/>
          </a:bodyPr>
          <a:lstStyle/>
          <a:p>
            <a:r>
              <a:rPr lang="zh-CN" altLang="en-US"/>
              <a:t>根结点</a:t>
            </a:r>
            <a:r>
              <a:rPr lang="en-US" altLang="zh-CN"/>
              <a:t>(</a:t>
            </a:r>
            <a:r>
              <a:rPr lang="zh-CN" altLang="en-US"/>
              <a:t>或属性</a:t>
            </a:r>
            <a:r>
              <a:rPr lang="en-US" altLang="zh-CN"/>
              <a:t>a</a:t>
            </a:r>
            <a:r>
              <a:rPr lang="zh-CN" altLang="en-US"/>
              <a:t>划分的结点</a:t>
            </a:r>
            <a:r>
              <a:rPr lang="en-US" altLang="zh-CN"/>
              <a:t>)</a:t>
            </a:r>
            <a:r>
              <a:rPr lang="zh-CN" altLang="en-US"/>
              <a:t>的信息熵</a:t>
            </a:r>
            <a:endParaRPr lang="zh-CN" altLang="en-US"/>
          </a:p>
        </p:txBody>
      </p:sp>
      <p:sp>
        <p:nvSpPr>
          <p:cNvPr id="4" name="矩形 3"/>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7" name="矩形 16"/>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8" name="文本框 17"/>
          <p:cNvSpPr txBox="1"/>
          <p:nvPr>
            <p:custDataLst>
              <p:tags r:id="rId5"/>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文本框 5"/>
              <p:cNvSpPr txBox="1"/>
              <p:nvPr/>
            </p:nvSpPr>
            <p:spPr>
              <a:xfrm>
                <a:off x="269240" y="1439545"/>
                <a:ext cx="11281410" cy="2615565"/>
              </a:xfrm>
              <a:prstGeom prst="rect">
                <a:avLst/>
              </a:prstGeom>
              <a:noFill/>
            </p:spPr>
            <p:txBody>
              <a:bodyPr wrap="square" rtlCol="0">
                <a:spAutoFit/>
              </a:bodyPr>
              <a:lstStyle/>
              <a:p>
                <a:r>
                  <a:rPr lang="zh-CN" altLang="en-US" b="1">
                    <a:solidFill>
                      <a:srgbClr val="0070C0"/>
                    </a:solidFill>
                  </a:rPr>
                  <a:t>信息增益</a:t>
                </a:r>
                <a:endParaRPr lang="zh-CN" altLang="en-US" b="1">
                  <a:solidFill>
                    <a:srgbClr val="0070C0"/>
                  </a:solidFill>
                </a:endParaRPr>
              </a:p>
              <a:p>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pPr>
                  <a:lnSpc>
                    <a:spcPct val="30000"/>
                  </a:lnSpc>
                </a:pPr>
                <a:endParaRPr lang="zh-CN" altLang="en-US">
                  <a:latin typeface="Cambria Math" panose="02040503050406030204" pitchFamily="18" charset="0"/>
                  <a:cs typeface="Cambria Math" panose="02040503050406030204" pitchFamily="18" charset="0"/>
                </a:endParaRPr>
              </a:p>
              <a:p>
                <a:pPr>
                  <a:lnSpc>
                    <a:spcPct val="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𝑉</m:t>
                          </m:r>
                        </m:sup>
                        <m:e>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𝑉</m:t>
                                      </m:r>
                                    </m:sup>
                                  </m:sSup>
                                </m:e>
                              </m:d>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den>
                          </m:f>
                        </m:e>
                      </m:nary>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𝑉</m:t>
                          </m:r>
                        </m:sup>
                      </m:sSup>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a:lnSpc>
                    <a:spcPct val="50000"/>
                  </a:lnSpc>
                </a:pPr>
                <a:r>
                  <a:rPr lang="zh-CN" altLang="en-US">
                    <a:latin typeface="Cambria Math" panose="02040503050406030204" pitchFamily="18" charset="0"/>
                    <a:cs typeface="Cambria Math" panose="02040503050406030204" pitchFamily="18" charset="0"/>
                  </a:rPr>
                  <a:t>一般而言，信息增益越大，证明使用该属性</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进行划分对于决策树分类后的样本的信息熵减少程度越大，对于样</a:t>
                </a:r>
                <a:endParaRPr lang="zh-CN" altLang="en-US">
                  <a:latin typeface="Cambria Math" panose="02040503050406030204" pitchFamily="18" charset="0"/>
                  <a:cs typeface="Cambria Math" panose="02040503050406030204" pitchFamily="18" charset="0"/>
                </a:endParaRPr>
              </a:p>
              <a:p>
                <a:pPr>
                  <a:lnSpc>
                    <a:spcPct val="70000"/>
                  </a:lnSpc>
                </a:pPr>
                <a:endParaRPr lang="zh-CN" altLang="en-US">
                  <a:latin typeface="Cambria Math" panose="02040503050406030204" pitchFamily="18" charset="0"/>
                  <a:cs typeface="Cambria Math" panose="02040503050406030204" pitchFamily="18" charset="0"/>
                </a:endParaRPr>
              </a:p>
              <a:p>
                <a:pPr>
                  <a:lnSpc>
                    <a:spcPct val="50000"/>
                  </a:lnSpc>
                </a:pPr>
                <a:r>
                  <a:rPr lang="zh-CN" altLang="en-US">
                    <a:latin typeface="Cambria Math" panose="02040503050406030204" pitchFamily="18" charset="0"/>
                    <a:cs typeface="Cambria Math" panose="02040503050406030204" pitchFamily="18" charset="0"/>
                  </a:rPr>
                  <a:t>本的分类越有利。因此，遍历</a:t>
                </a:r>
                <a:r>
                  <a:rPr lang="zh-CN" altLang="en-US">
                    <a:latin typeface="Cambria Math" panose="02040503050406030204" pitchFamily="18" charset="0"/>
                    <a:cs typeface="Cambria Math" panose="02040503050406030204" pitchFamily="18" charset="0"/>
                    <a:sym typeface="+mn-ea"/>
                  </a:rPr>
                  <a:t>属性集</a:t>
                </a:r>
                <a:r>
                  <a:rPr lang="en-US" altLang="zh-CN">
                    <a:latin typeface="Cambria Math" panose="02040503050406030204" pitchFamily="18" charset="0"/>
                    <a:cs typeface="Cambria Math" panose="02040503050406030204" pitchFamily="18" charset="0"/>
                    <a:sym typeface="+mn-ea"/>
                  </a:rPr>
                  <a:t>A</a:t>
                </a:r>
                <a:r>
                  <a:rPr lang="zh-CN" altLang="en-US">
                    <a:latin typeface="Cambria Math" panose="02040503050406030204" pitchFamily="18" charset="0"/>
                    <a:cs typeface="Cambria Math" panose="02040503050406030204" pitchFamily="18" charset="0"/>
                    <a:sym typeface="+mn-ea"/>
                  </a:rPr>
                  <a:t>中的所有属性，分别计算每个属性的信息增益，最终取最大的信息增益</a:t>
                </a:r>
                <a:endParaRPr lang="zh-CN" altLang="en-US">
                  <a:latin typeface="Cambria Math" panose="02040503050406030204" pitchFamily="18" charset="0"/>
                  <a:cs typeface="Cambria Math" panose="02040503050406030204" pitchFamily="18" charset="0"/>
                  <a:sym typeface="+mn-ea"/>
                </a:endParaRPr>
              </a:p>
              <a:p>
                <a:pPr>
                  <a:lnSpc>
                    <a:spcPct val="7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r>
                  <a:rPr lang="zh-CN" altLang="en-US">
                    <a:latin typeface="Cambria Math" panose="02040503050406030204" pitchFamily="18" charset="0"/>
                    <a:cs typeface="Cambria Math" panose="02040503050406030204" pitchFamily="18" charset="0"/>
                    <a:sym typeface="+mn-ea"/>
                  </a:rPr>
                  <a:t>所对应的属性对结点进行划分，这个属性就是算法伪代码中所提到的最优划分属性。</a:t>
                </a:r>
                <a:endParaRPr lang="zh-CN" altLang="en-US">
                  <a:latin typeface="Cambria Math" panose="02040503050406030204" pitchFamily="18" charset="0"/>
                  <a:cs typeface="Cambria Math" panose="02040503050406030204" pitchFamily="18"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269240" y="1439545"/>
                <a:ext cx="11281410" cy="261556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607496" y="4380484"/>
                <a:ext cx="2912745" cy="36830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𝑏𝑒𝑠𝑡</m:t>
                          </m:r>
                        </m:sub>
                      </m:sSub>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𝑎𝑟𝑔𝑚𝑎𝑥</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4607496" y="4380484"/>
                <a:ext cx="2912745" cy="368300"/>
              </a:xfrm>
              <a:prstGeom prst="rect">
                <a:avLst/>
              </a:prstGeom>
              <a:blipFill rotWithShape="1">
                <a:blip r:embed="rId2"/>
                <a:stretch>
                  <a:fillRect l="-20" t="-69" r="20"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5527611" y="4672584"/>
                <a:ext cx="648970" cy="30670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Cambria Math" panose="02040503050406030204" pitchFamily="18" charset="0"/>
                        </a:rPr>
                        <m:t>𝑎</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𝐴</m:t>
                      </m:r>
                    </m:oMath>
                  </m:oMathPara>
                </a14:m>
                <a:endParaRPr lang="en-US" altLang="zh-CN" sz="1400" i="1">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5527611" y="4672584"/>
                <a:ext cx="648970" cy="306705"/>
              </a:xfrm>
              <a:prstGeom prst="rect">
                <a:avLst/>
              </a:prstGeom>
              <a:blipFill rotWithShape="1">
                <a:blip r:embed="rId3"/>
                <a:stretch>
                  <a:fillRect l="-88" t="-83" r="88" b="83"/>
                </a:stretch>
              </a:blipFill>
            </p:spPr>
            <p:txBody>
              <a:bodyPr/>
              <a:lstStyle/>
              <a:p>
                <a:r>
                  <a:rPr lang="zh-CN" altLang="en-US">
                    <a:noFill/>
                  </a:rPr>
                  <a:t> </a:t>
                </a:r>
              </a:p>
            </p:txBody>
          </p:sp>
        </mc:Fallback>
      </mc:AlternateContent>
      <p:sp>
        <p:nvSpPr>
          <p:cNvPr id="4" name="矩形 3"/>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6"/>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01625" y="1116965"/>
            <a:ext cx="6325235" cy="368300"/>
          </a:xfrm>
          <a:prstGeom prst="rect">
            <a:avLst/>
          </a:prstGeom>
          <a:noFill/>
        </p:spPr>
        <p:txBody>
          <a:bodyPr wrap="square" rtlCol="0">
            <a:spAutoFit/>
          </a:bodyPr>
          <a:lstStyle/>
          <a:p>
            <a:r>
              <a:rPr lang="zh-CN" altLang="en-US" b="1"/>
              <a:t>仍以判断是否相亲为例，对于根结点，最优划分属性是什么？</a:t>
            </a:r>
            <a:endParaRPr lang="zh-CN" altLang="en-US" b="1"/>
          </a:p>
        </p:txBody>
      </p:sp>
      <mc:AlternateContent xmlns:mc="http://schemas.openxmlformats.org/markup-compatibility/2006">
        <mc:Choice xmlns:a14="http://schemas.microsoft.com/office/drawing/2010/main" Requires="a14">
          <p:sp>
            <p:nvSpPr>
              <p:cNvPr id="7" name="文本框 6"/>
              <p:cNvSpPr txBox="1"/>
              <p:nvPr/>
            </p:nvSpPr>
            <p:spPr>
              <a:xfrm>
                <a:off x="419735" y="1514475"/>
                <a:ext cx="11184255" cy="5118100"/>
              </a:xfrm>
              <a:prstGeom prst="rect">
                <a:avLst/>
              </a:prstGeom>
              <a:noFill/>
            </p:spPr>
            <p:txBody>
              <a:bodyPr wrap="square" rtlCol="0">
                <a:spAutoFit/>
              </a:bodyPr>
              <a:lstStyle/>
              <a:p>
                <a:r>
                  <a:rPr lang="en-US" altLang="zh-CN"/>
                  <a:t>1</a:t>
                </a:r>
                <a:r>
                  <a:rPr lang="zh-CN" altLang="en-US"/>
                  <a:t>）计算样本集合</a:t>
                </a:r>
                <a:r>
                  <a:rPr lang="en-US" altLang="zh-CN"/>
                  <a:t>D</a:t>
                </a:r>
                <a:r>
                  <a:rPr lang="zh-CN" altLang="en-US"/>
                  <a:t>的信息熵：</a:t>
                </a:r>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2</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Sub>
                        </m:e>
                      </m:nary>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2</m:t>
                          </m:r>
                        </m:num>
                        <m:den>
                          <m:r>
                            <a:rPr lang="en-US" altLang="zh-CN" i="1">
                              <a:latin typeface="Cambria Math" panose="02040503050406030204" pitchFamily="18" charset="0"/>
                              <a:cs typeface="Cambria Math" panose="02040503050406030204" pitchFamily="18" charset="0"/>
                            </a:rPr>
                            <m:t>7</m:t>
                          </m:r>
                        </m:den>
                      </m:f>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2</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5</m:t>
                          </m:r>
                        </m:num>
                        <m:den>
                          <m:r>
                            <a:rPr lang="en-US" altLang="zh-CN" i="1">
                              <a:latin typeface="Cambria Math" panose="02040503050406030204" pitchFamily="18" charset="0"/>
                              <a:cs typeface="Cambria Math" panose="02040503050406030204" pitchFamily="18" charset="0"/>
                            </a:rPr>
                            <m:t>7</m:t>
                          </m:r>
                        </m:den>
                      </m:f>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5</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863</m:t>
                      </m:r>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en-US" altLang="zh-CN" i="1">
                  <a:latin typeface="Cambria Math" panose="02040503050406030204" pitchFamily="18" charset="0"/>
                  <a:cs typeface="Cambria Math" panose="02040503050406030204" pitchFamily="18" charset="0"/>
                </a:endParaRPr>
              </a:p>
              <a:p>
                <a:r>
                  <a:rPr lang="en-US" altLang="zh-CN"/>
                  <a:t>2</a:t>
                </a:r>
                <a:r>
                  <a:rPr lang="zh-CN" altLang="en-US"/>
                  <a:t>）计算采用属性集中每个属性进行划分时的信息增益：</a:t>
                </a:r>
                <a:endParaRPr lang="zh-CN" altLang="en-US"/>
              </a:p>
              <a:p>
                <a:pPr>
                  <a:lnSpc>
                    <a:spcPct val="40000"/>
                  </a:lnSpc>
                </a:pPr>
                <a:endParaRPr lang="zh-CN" altLang="en-US"/>
              </a:p>
              <a:p>
                <a:pPr indent="457200"/>
                <a:r>
                  <a:rPr lang="zh-CN" altLang="en-US" sz="1600"/>
                  <a:t>对于年龄属性：</a:t>
                </a:r>
                <a:endParaRPr lang="zh-CN" altLang="en-US" sz="1600"/>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是</m:t>
                          </m:r>
                        </m:sup>
                      </m:sSup>
                      <m:r>
                        <a:rPr lang="en-US" altLang="zh-CN"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m:t>
                      </m:r>
                      <m:nary>
                        <m:naryPr>
                          <m:chr m:val="∑"/>
                          <m:limLoc m:val="undOvr"/>
                          <m:ctrlPr>
                            <a:rPr lang="en-US" altLang="zh-CN" sz="2000" i="1">
                              <a:latin typeface="Cambria Math" panose="02040503050406030204" pitchFamily="18" charset="0"/>
                              <a:cs typeface="Cambria Math" panose="02040503050406030204" pitchFamily="18" charset="0"/>
                            </a:rPr>
                          </m:ctrlPr>
                        </m:naryPr>
                        <m:sub>
                          <m:r>
                            <a:rPr lang="en-US" altLang="zh-CN" sz="2000" i="1">
                              <a:latin typeface="Cambria Math" panose="02040503050406030204" pitchFamily="18" charset="0"/>
                              <a:cs typeface="Cambria Math" panose="02040503050406030204" pitchFamily="18" charset="0"/>
                            </a:rPr>
                            <m:t>𝑘</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2</m:t>
                          </m:r>
                        </m:sup>
                        <m:e>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𝑝</m:t>
                              </m:r>
                            </m:e>
                            <m:sub>
                              <m:r>
                                <a:rPr lang="en-US" altLang="zh-CN" sz="2000" i="1">
                                  <a:latin typeface="Cambria Math" panose="02040503050406030204" pitchFamily="18" charset="0"/>
                                  <a:cs typeface="Cambria Math" panose="02040503050406030204" pitchFamily="18" charset="0"/>
                                </a:rPr>
                                <m:t>𝑘</m:t>
                              </m:r>
                            </m:sub>
                          </m:sSub>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𝑙𝑜𝑔</m:t>
                              </m:r>
                            </m:e>
                            <m:sub>
                              <m:r>
                                <a:rPr lang="en-US" altLang="zh-CN" sz="2000" i="1">
                                  <a:latin typeface="Cambria Math" panose="02040503050406030204" pitchFamily="18" charset="0"/>
                                  <a:cs typeface="Cambria Math" panose="02040503050406030204" pitchFamily="18" charset="0"/>
                                </a:rPr>
                                <m:t>2</m:t>
                              </m:r>
                            </m:sub>
                          </m:sSub>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𝑝</m:t>
                              </m:r>
                            </m:e>
                            <m:sub>
                              <m:r>
                                <a:rPr lang="en-US" altLang="zh-CN" sz="2000" i="1">
                                  <a:latin typeface="Cambria Math" panose="02040503050406030204" pitchFamily="18" charset="0"/>
                                  <a:cs typeface="Cambria Math" panose="02040503050406030204" pitchFamily="18" charset="0"/>
                                </a:rPr>
                                <m:t>𝑘</m:t>
                              </m:r>
                            </m:sub>
                          </m:sSub>
                        </m:e>
                      </m:nary>
                      <m:r>
                        <a:rPr lang="en-US" altLang="zh-CN" sz="2000" i="1">
                          <a:latin typeface="Cambria Math" panose="02040503050406030204" pitchFamily="18" charset="0"/>
                          <a:cs typeface="Cambria Math" panose="02040503050406030204" pitchFamily="18" charset="0"/>
                        </a:rPr>
                        <m:t>=−(</m:t>
                      </m:r>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2</m:t>
                          </m:r>
                        </m:num>
                        <m:den>
                          <m:r>
                            <a:rPr lang="en-US" altLang="zh-CN" sz="2000" i="1">
                              <a:latin typeface="Cambria Math" panose="02040503050406030204" pitchFamily="18" charset="0"/>
                              <a:cs typeface="Cambria Math" panose="02040503050406030204" pitchFamily="18" charset="0"/>
                            </a:rPr>
                            <m:t>5</m:t>
                          </m:r>
                        </m:den>
                      </m:f>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𝑙𝑜𝑔</m:t>
                          </m:r>
                        </m:e>
                        <m:sub>
                          <m:r>
                            <a:rPr lang="en-US" altLang="zh-CN" sz="2000" i="1">
                              <a:latin typeface="Cambria Math" panose="02040503050406030204" pitchFamily="18" charset="0"/>
                              <a:cs typeface="Cambria Math" panose="02040503050406030204" pitchFamily="18" charset="0"/>
                            </a:rPr>
                            <m:t>2</m:t>
                          </m:r>
                        </m:sub>
                      </m:sSub>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2</m:t>
                          </m:r>
                        </m:num>
                        <m:den>
                          <m:r>
                            <a:rPr lang="en-US" altLang="zh-CN" sz="2000" i="1">
                              <a:latin typeface="Cambria Math" panose="02040503050406030204" pitchFamily="18" charset="0"/>
                              <a:cs typeface="Cambria Math" panose="02040503050406030204" pitchFamily="18" charset="0"/>
                            </a:rPr>
                            <m:t>5</m:t>
                          </m:r>
                        </m:den>
                      </m:f>
                      <m:r>
                        <a:rPr lang="en-US" altLang="zh-CN" sz="2000" i="1">
                          <a:latin typeface="Cambria Math" panose="02040503050406030204" pitchFamily="18" charset="0"/>
                          <a:cs typeface="Cambria Math" panose="02040503050406030204" pitchFamily="18" charset="0"/>
                        </a:rPr>
                        <m:t>+</m:t>
                      </m:r>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3</m:t>
                          </m:r>
                        </m:num>
                        <m:den>
                          <m:r>
                            <a:rPr lang="en-US" altLang="zh-CN" sz="2000" i="1">
                              <a:latin typeface="Cambria Math" panose="02040503050406030204" pitchFamily="18" charset="0"/>
                              <a:cs typeface="Cambria Math" panose="02040503050406030204" pitchFamily="18" charset="0"/>
                            </a:rPr>
                            <m:t>5</m:t>
                          </m:r>
                        </m:den>
                      </m:f>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𝑙𝑜𝑔</m:t>
                          </m:r>
                        </m:e>
                        <m:sub>
                          <m:r>
                            <a:rPr lang="en-US" altLang="zh-CN" sz="2000" i="1">
                              <a:latin typeface="Cambria Math" panose="02040503050406030204" pitchFamily="18" charset="0"/>
                              <a:cs typeface="Cambria Math" panose="02040503050406030204" pitchFamily="18" charset="0"/>
                            </a:rPr>
                            <m:t>2</m:t>
                          </m:r>
                        </m:sub>
                      </m:sSub>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3</m:t>
                          </m:r>
                        </m:num>
                        <m:den>
                          <m:r>
                            <a:rPr lang="en-US" altLang="zh-CN" sz="2000" i="1">
                              <a:latin typeface="Cambria Math" panose="02040503050406030204" pitchFamily="18" charset="0"/>
                              <a:cs typeface="Cambria Math" panose="02040503050406030204" pitchFamily="18" charset="0"/>
                            </a:rPr>
                            <m:t>5</m:t>
                          </m:r>
                        </m:den>
                      </m:f>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0</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971</m:t>
                      </m:r>
                    </m:oMath>
                  </m:oMathPara>
                </a14:m>
                <a:endParaRPr lang="en-US" altLang="zh-CN" sz="2000" i="1">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cs typeface="Cambria Math" panose="02040503050406030204" pitchFamily="18" charset="0"/>
                        </a:rPr>
                        <m:t>𝐸𝑛𝑡</m:t>
                      </m:r>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𝐷</m:t>
                          </m:r>
                        </m:e>
                        <m:sup>
                          <m:r>
                            <a:rPr lang="en-US" altLang="zh-CN" sz="2000" i="1">
                              <a:latin typeface="Cambria Math" panose="02040503050406030204" pitchFamily="18" charset="0"/>
                              <a:cs typeface="Cambria Math" panose="02040503050406030204" pitchFamily="18" charset="0"/>
                            </a:rPr>
                            <m:t>否</m:t>
                          </m:r>
                        </m:sup>
                      </m:sSup>
                      <m:r>
                        <a:rPr lang="en-US" altLang="zh-CN" sz="2000" i="1">
                          <a:latin typeface="Cambria Math" panose="02040503050406030204" pitchFamily="18" charset="0"/>
                          <a:cs typeface="Cambria Math" panose="02040503050406030204" pitchFamily="18" charset="0"/>
                        </a:rPr>
                        <m:t>)=−</m:t>
                      </m:r>
                      <m:nary>
                        <m:naryPr>
                          <m:chr m:val="∑"/>
                          <m:limLoc m:val="undOvr"/>
                          <m:ctrlPr>
                            <a:rPr lang="en-US" altLang="zh-CN" sz="2000" i="1">
                              <a:latin typeface="Cambria Math" panose="02040503050406030204" pitchFamily="18" charset="0"/>
                              <a:cs typeface="Cambria Math" panose="02040503050406030204" pitchFamily="18" charset="0"/>
                            </a:rPr>
                          </m:ctrlPr>
                        </m:naryPr>
                        <m:sub>
                          <m:r>
                            <a:rPr lang="en-US" altLang="zh-CN" sz="2000" i="1">
                              <a:latin typeface="Cambria Math" panose="02040503050406030204" pitchFamily="18" charset="0"/>
                              <a:cs typeface="Cambria Math" panose="02040503050406030204" pitchFamily="18" charset="0"/>
                            </a:rPr>
                            <m:t>𝑘</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2</m:t>
                          </m:r>
                        </m:sup>
                        <m:e>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𝑝</m:t>
                              </m:r>
                            </m:e>
                            <m:sub>
                              <m:r>
                                <a:rPr lang="en-US" altLang="zh-CN" sz="2000" i="1">
                                  <a:latin typeface="Cambria Math" panose="02040503050406030204" pitchFamily="18" charset="0"/>
                                  <a:cs typeface="Cambria Math" panose="02040503050406030204" pitchFamily="18" charset="0"/>
                                </a:rPr>
                                <m:t>𝑘</m:t>
                              </m:r>
                            </m:sub>
                          </m:sSub>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𝑙𝑜𝑔</m:t>
                              </m:r>
                            </m:e>
                            <m:sub>
                              <m:r>
                                <a:rPr lang="en-US" altLang="zh-CN" sz="2000" i="1">
                                  <a:latin typeface="Cambria Math" panose="02040503050406030204" pitchFamily="18" charset="0"/>
                                  <a:cs typeface="Cambria Math" panose="02040503050406030204" pitchFamily="18" charset="0"/>
                                </a:rPr>
                                <m:t>2</m:t>
                              </m:r>
                            </m:sub>
                          </m:sSub>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𝑝</m:t>
                              </m:r>
                            </m:e>
                            <m:sub>
                              <m:r>
                                <a:rPr lang="en-US" altLang="zh-CN" sz="2000" i="1">
                                  <a:latin typeface="Cambria Math" panose="02040503050406030204" pitchFamily="18" charset="0"/>
                                  <a:cs typeface="Cambria Math" panose="02040503050406030204" pitchFamily="18" charset="0"/>
                                </a:rPr>
                                <m:t>𝑘</m:t>
                              </m:r>
                            </m:sub>
                          </m:sSub>
                        </m:e>
                      </m:nary>
                      <m:r>
                        <a:rPr lang="en-US" altLang="zh-CN" sz="2000" i="1">
                          <a:latin typeface="Cambria Math" panose="02040503050406030204" pitchFamily="18" charset="0"/>
                          <a:cs typeface="Cambria Math" panose="02040503050406030204" pitchFamily="18" charset="0"/>
                        </a:rPr>
                        <m:t>=−(</m:t>
                      </m:r>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0</m:t>
                          </m:r>
                        </m:num>
                        <m:den>
                          <m:r>
                            <a:rPr lang="en-US" altLang="zh-CN" sz="2000" i="1">
                              <a:latin typeface="Cambria Math" panose="02040503050406030204" pitchFamily="18" charset="0"/>
                              <a:cs typeface="Cambria Math" panose="02040503050406030204" pitchFamily="18" charset="0"/>
                            </a:rPr>
                            <m:t>2</m:t>
                          </m:r>
                        </m:den>
                      </m:f>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𝑙𝑜𝑔</m:t>
                          </m:r>
                        </m:e>
                        <m:sub>
                          <m:r>
                            <a:rPr lang="en-US" altLang="zh-CN" sz="2000" i="1">
                              <a:latin typeface="Cambria Math" panose="02040503050406030204" pitchFamily="18" charset="0"/>
                              <a:cs typeface="Cambria Math" panose="02040503050406030204" pitchFamily="18" charset="0"/>
                            </a:rPr>
                            <m:t>2</m:t>
                          </m:r>
                        </m:sub>
                      </m:sSub>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0</m:t>
                          </m:r>
                        </m:num>
                        <m:den>
                          <m:r>
                            <a:rPr lang="en-US" altLang="zh-CN" sz="2000" i="1">
                              <a:latin typeface="Cambria Math" panose="02040503050406030204" pitchFamily="18" charset="0"/>
                              <a:cs typeface="Cambria Math" panose="02040503050406030204" pitchFamily="18" charset="0"/>
                            </a:rPr>
                            <m:t>2</m:t>
                          </m:r>
                        </m:den>
                      </m:f>
                      <m:r>
                        <a:rPr lang="en-US" altLang="zh-CN" sz="2000" i="1">
                          <a:latin typeface="Cambria Math" panose="02040503050406030204" pitchFamily="18" charset="0"/>
                          <a:cs typeface="Cambria Math" panose="02040503050406030204" pitchFamily="18" charset="0"/>
                        </a:rPr>
                        <m:t>+</m:t>
                      </m:r>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2</m:t>
                          </m:r>
                        </m:num>
                        <m:den>
                          <m:r>
                            <a:rPr lang="en-US" altLang="zh-CN" sz="2000" i="1">
                              <a:latin typeface="Cambria Math" panose="02040503050406030204" pitchFamily="18" charset="0"/>
                              <a:cs typeface="Cambria Math" panose="02040503050406030204" pitchFamily="18" charset="0"/>
                            </a:rPr>
                            <m:t>2</m:t>
                          </m:r>
                        </m:den>
                      </m:f>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𝑙𝑜𝑔</m:t>
                          </m:r>
                        </m:e>
                        <m:sub>
                          <m:r>
                            <a:rPr lang="en-US" altLang="zh-CN" sz="2000" i="1">
                              <a:latin typeface="Cambria Math" panose="02040503050406030204" pitchFamily="18" charset="0"/>
                              <a:cs typeface="Cambria Math" panose="02040503050406030204" pitchFamily="18" charset="0"/>
                            </a:rPr>
                            <m:t>2</m:t>
                          </m:r>
                        </m:sub>
                      </m:sSub>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2</m:t>
                          </m:r>
                        </m:num>
                        <m:den>
                          <m:r>
                            <a:rPr lang="en-US" altLang="zh-CN" sz="2000" i="1">
                              <a:latin typeface="Cambria Math" panose="02040503050406030204" pitchFamily="18" charset="0"/>
                              <a:cs typeface="Cambria Math" panose="02040503050406030204" pitchFamily="18" charset="0"/>
                            </a:rPr>
                            <m:t>2</m:t>
                          </m:r>
                        </m:den>
                      </m:f>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0</m:t>
                      </m:r>
                    </m:oMath>
                  </m:oMathPara>
                </a14:m>
                <a:endParaRPr lang="zh-CN" altLang="en-US" sz="2000"/>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,年龄是否小于等于</m:t>
                      </m:r>
                      <m:r>
                        <a:rPr lang="en-US" altLang="zh-CN" i="1">
                          <a:latin typeface="Cambria Math" panose="02040503050406030204" pitchFamily="18" charset="0"/>
                          <a:cs typeface="Cambria Math" panose="02040503050406030204" pitchFamily="18" charset="0"/>
                        </a:rPr>
                        <m:t>30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2</m:t>
                          </m:r>
                        </m:sup>
                        <m:e>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e>
                              </m:d>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den>
                          </m:f>
                          <m:r>
                            <a:rPr lang="en-US" altLang="zh-CN" i="1">
                              <a:latin typeface="Cambria Math" panose="02040503050406030204" pitchFamily="18" charset="0"/>
                              <a:cs typeface="Cambria Math" panose="02040503050406030204" pitchFamily="18" charset="0"/>
                            </a:rPr>
                            <m:t>𝐸𝑛𝑡</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863</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5</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971</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2</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e>
                      </m:nary>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169</m:t>
                      </m:r>
                    </m:oMath>
                  </m:oMathPara>
                </a14:m>
                <a:endParaRPr lang="en-US" altLang="zh-CN" i="1">
                  <a:latin typeface="Cambria Math" panose="02040503050406030204" pitchFamily="18" charset="0"/>
                  <a:cs typeface="Cambria Math" panose="02040503050406030204" pitchFamily="18" charset="0"/>
                </a:endParaRPr>
              </a:p>
              <a:p>
                <a:r>
                  <a:rPr lang="zh-CN" altLang="en-US"/>
                  <a:t>相应的，</a:t>
                </a:r>
                <a14:m>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,长相)=</m:t>
                    </m:r>
                  </m:oMath>
                </a14:m>
                <a:r>
                  <a:rPr lang="en-US" altLang="zh-CN">
                    <a:latin typeface="Cambria Math" panose="02040503050406030204" pitchFamily="18" charset="0"/>
                    <a:cs typeface="Cambria Math" panose="02040503050406030204" pitchFamily="18" charset="0"/>
                  </a:rPr>
                  <a:t>0.076</a:t>
                </a:r>
                <a:r>
                  <a:rPr lang="zh-CN" altLang="en-US">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,收入)=</m:t>
                    </m:r>
                  </m:oMath>
                </a14:m>
                <a:r>
                  <a:rPr lang="en-US" altLang="zh-CN">
                    <a:latin typeface="Cambria Math" panose="02040503050406030204" pitchFamily="18" charset="0"/>
                    <a:cs typeface="Cambria Math" panose="02040503050406030204" pitchFamily="18" charset="0"/>
                  </a:rPr>
                  <a:t>0.114</a:t>
                </a:r>
                <a:r>
                  <a:rPr lang="zh-CN" altLang="en-US">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,是否为公务员)=</m:t>
                    </m:r>
                  </m:oMath>
                </a14:m>
                <a:r>
                  <a:rPr lang="en-US" altLang="zh-CN">
                    <a:latin typeface="Cambria Math" panose="02040503050406030204" pitchFamily="18" charset="0"/>
                    <a:cs typeface="Cambria Math" panose="02040503050406030204" pitchFamily="18" charset="0"/>
                  </a:rPr>
                  <a:t>0.059</a:t>
                </a:r>
                <a:endParaRPr lang="en-US" altLang="zh-CN">
                  <a:latin typeface="Cambria Math" panose="02040503050406030204" pitchFamily="18" charset="0"/>
                  <a:cs typeface="Cambria Math" panose="02040503050406030204" pitchFamily="18" charset="0"/>
                </a:endParaRPr>
              </a:p>
              <a:p>
                <a:pPr>
                  <a:lnSpc>
                    <a:spcPct val="50000"/>
                  </a:lnSpc>
                </a:pPr>
                <a:endParaRPr lang="en-US" altLang="zh-CN">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3</a:t>
                </a:r>
                <a:r>
                  <a:rPr lang="zh-CN" altLang="en-US">
                    <a:latin typeface="Cambria Math" panose="02040503050406030204" pitchFamily="18" charset="0"/>
                    <a:cs typeface="Cambria Math" panose="02040503050406030204" pitchFamily="18" charset="0"/>
                  </a:rPr>
                  <a:t>）选择信息增益最大的属性</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年龄是否小于等于</a:t>
                </a:r>
                <a:r>
                  <a:rPr lang="en-US" altLang="zh-CN">
                    <a:latin typeface="Cambria Math" panose="02040503050406030204" pitchFamily="18" charset="0"/>
                    <a:cs typeface="Cambria Math" panose="02040503050406030204" pitchFamily="18" charset="0"/>
                  </a:rPr>
                  <a:t>30”</a:t>
                </a:r>
                <a:r>
                  <a:rPr lang="zh-CN" altLang="en-US">
                    <a:latin typeface="Cambria Math" panose="02040503050406030204" pitchFamily="18" charset="0"/>
                    <a:cs typeface="Cambria Math" panose="02040503050406030204" pitchFamily="18" charset="0"/>
                  </a:rPr>
                  <a:t>作为根结点的最优划分属性</a:t>
                </a:r>
                <a:endParaRPr lang="zh-CN" altLang="en-US">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419735" y="1514475"/>
                <a:ext cx="11184255" cy="5118100"/>
              </a:xfrm>
              <a:prstGeom prst="rect">
                <a:avLst/>
              </a:prstGeom>
              <a:blipFill rotWithShape="1">
                <a:blip r:embed="rId1"/>
                <a:stretch>
                  <a:fillRect/>
                </a:stretch>
              </a:blipFill>
            </p:spPr>
            <p:txBody>
              <a:bodyPr/>
              <a:lstStyle/>
              <a:p>
                <a:r>
                  <a:rPr lang="zh-CN" altLang="en-US">
                    <a:noFill/>
                  </a:rPr>
                  <a:t> </a:t>
                </a:r>
              </a:p>
            </p:txBody>
          </p:sp>
        </mc:Fallback>
      </mc:AlternateContent>
      <p:sp>
        <p:nvSpPr>
          <p:cNvPr id="4" name="矩形 3"/>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4"/>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14960" y="1153160"/>
                <a:ext cx="11690985" cy="5452745"/>
              </a:xfrm>
              <a:prstGeom prst="rect">
                <a:avLst/>
              </a:prstGeom>
              <a:noFill/>
            </p:spPr>
            <p:txBody>
              <a:bodyPr wrap="square" rtlCol="0">
                <a:spAutoFit/>
              </a:bodyPr>
              <a:lstStyle/>
              <a:p>
                <a:r>
                  <a:rPr lang="zh-CN" altLang="en-US"/>
                  <a:t>然而有时根据信息增益选择最优划分属性并不靠谱，因为信息增益准则对于可取值数目较多的属性有所偏好</a:t>
                </a:r>
                <a:endParaRPr lang="zh-CN" altLang="en-US"/>
              </a:p>
              <a:p>
                <a:endParaRPr lang="zh-CN" altLang="en-US"/>
              </a:p>
              <a:p>
                <a:r>
                  <a:rPr lang="zh-CN" altLang="en-US"/>
                  <a:t>例如当把上述例子中的相亲对象编号也作为一个属性进行划分，则可得到该属性的信息增益为：</a:t>
                </a:r>
                <a:endParaRPr lang="zh-CN" altLang="en-US"/>
              </a:p>
              <a:p>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,相亲对象)=</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m:oMathPara>
                </a14:m>
                <a:endParaRPr lang="zh-CN" altLang="en-US"/>
              </a:p>
              <a:p>
                <a:endParaRPr lang="zh-CN" altLang="en-US"/>
              </a:p>
              <a:p>
                <a:r>
                  <a:rPr lang="zh-CN" altLang="en-US"/>
                  <a:t>由于该属性信息增益最大，应当根据该属性对根结点进行划分，然而我们都知道这么做没有意义</a:t>
                </a:r>
                <a:endParaRPr lang="zh-CN" altLang="en-US"/>
              </a:p>
              <a:p>
                <a:endParaRPr lang="zh-CN" altLang="en-US"/>
              </a:p>
              <a:p>
                <a:endParaRPr lang="zh-CN" altLang="en-US"/>
              </a:p>
              <a:p>
                <a:r>
                  <a:rPr lang="zh-CN" altLang="en-US"/>
                  <a:t>因此，人们又提出了通过使用</a:t>
                </a:r>
                <a:r>
                  <a:rPr lang="zh-CN" altLang="en-US" b="1">
                    <a:solidFill>
                      <a:srgbClr val="0070C0"/>
                    </a:solidFill>
                  </a:rPr>
                  <a:t>增益率 -- C4.5算法</a:t>
                </a:r>
                <a:r>
                  <a:rPr lang="zh-CN" altLang="en-US"/>
                  <a:t>来选择最优划分属性，</a:t>
                </a:r>
                <a:r>
                  <a:rPr lang="zh-CN" altLang="en-US" b="1">
                    <a:solidFill>
                      <a:srgbClr val="0070C0"/>
                    </a:solidFill>
                  </a:rPr>
                  <a:t>增益率</a:t>
                </a:r>
                <a:r>
                  <a:rPr lang="zh-CN" altLang="en-US"/>
                  <a:t>的计算公式为：</a:t>
                </a:r>
                <a:endParaRPr lang="zh-CN" altLang="en-US"/>
              </a:p>
              <a:p>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_</m:t>
                      </m:r>
                      <m:r>
                        <a:rPr lang="en-US" altLang="zh-CN" i="1">
                          <a:latin typeface="Cambria Math" panose="02040503050406030204" pitchFamily="18" charset="0"/>
                          <a:cs typeface="Cambria Math" panose="02040503050406030204" pitchFamily="18" charset="0"/>
                        </a:rPr>
                        <m:t>𝑟𝑎𝑡𝑖𝑜</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𝐺𝑎𝑖𝑛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𝐼𝑉</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den>
                      </m:f>
                    </m:oMath>
                  </m:oMathPara>
                </a14:m>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𝐼𝑉</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𝑉</m:t>
                          </m:r>
                        </m:sup>
                        <m:e>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e>
                              </m:d>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den>
                          </m:f>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𝑙𝑜𝑔</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e>
                              </m:d>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den>
                          </m:f>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a:p>
                <a:pPr>
                  <a:lnSpc>
                    <a:spcPct val="60000"/>
                  </a:lnSpc>
                </a:pPr>
                <a:endParaRPr lang="en-US" altLang="zh-CN" i="1">
                  <a:latin typeface="Cambria Math" panose="02040503050406030204" pitchFamily="18" charset="0"/>
                  <a:cs typeface="Cambria Math" panose="02040503050406030204" pitchFamily="18" charset="0"/>
                </a:endParaRPr>
              </a:p>
              <a:p>
                <a14:m>
                  <m:oMath xmlns:m="http://schemas.openxmlformats.org/officeDocument/2006/math">
                    <m:r>
                      <a:rPr lang="en-US" altLang="zh-CN" i="1">
                        <a:latin typeface="Cambria Math" panose="02040503050406030204" pitchFamily="18" charset="0"/>
                        <a:cs typeface="Cambria Math" panose="02040503050406030204" pitchFamily="18" charset="0"/>
                      </a:rPr>
                      <m:t>𝐼𝑉</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称为属性</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的固有值，属性</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的取值数目越多</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即</a:t>
                </a:r>
                <a:r>
                  <a:rPr lang="en-US" altLang="zh-CN">
                    <a:latin typeface="Cambria Math" panose="02040503050406030204" pitchFamily="18" charset="0"/>
                    <a:cs typeface="Cambria Math" panose="02040503050406030204" pitchFamily="18" charset="0"/>
                  </a:rPr>
                  <a:t>V</a:t>
                </a:r>
                <a:r>
                  <a:rPr lang="zh-CN" altLang="en-US">
                    <a:latin typeface="Cambria Math" panose="02040503050406030204" pitchFamily="18" charset="0"/>
                    <a:cs typeface="Cambria Math" panose="02040503050406030204" pitchFamily="18" charset="0"/>
                  </a:rPr>
                  <a:t>越大</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，则</a:t>
                </a:r>
                <a14:m>
                  <m:oMath xmlns:m="http://schemas.openxmlformats.org/officeDocument/2006/math">
                    <m:r>
                      <a:rPr lang="en-US" altLang="zh-CN" i="1">
                        <a:latin typeface="Cambria Math" panose="02040503050406030204" pitchFamily="18" charset="0"/>
                        <a:cs typeface="Cambria Math" panose="02040503050406030204" pitchFamily="18" charset="0"/>
                      </a:rPr>
                      <m:t>𝐼𝑉</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的值通常会越大</a:t>
                </a:r>
                <a:endParaRPr lang="en-US" altLang="zh-CN" i="1">
                  <a:latin typeface="Cambria Math" panose="02040503050406030204" pitchFamily="18" charset="0"/>
                  <a:cs typeface="Cambria Math" panose="02040503050406030204" pitchFamily="18" charset="0"/>
                </a:endParaRPr>
              </a:p>
              <a:p>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314960" y="1153160"/>
                <a:ext cx="11690985" cy="5452745"/>
              </a:xfrm>
              <a:prstGeom prst="rect">
                <a:avLst/>
              </a:prstGeom>
              <a:blipFill rotWithShape="1">
                <a:blip r:embed="rId1"/>
                <a:stretch>
                  <a:fillRect/>
                </a:stretch>
              </a:blipFill>
            </p:spPr>
            <p:txBody>
              <a:bodyPr/>
              <a:lstStyle/>
              <a:p>
                <a:r>
                  <a:rPr lang="zh-CN" altLang="en-US">
                    <a:noFill/>
                  </a:rPr>
                  <a:t> </a:t>
                </a:r>
              </a:p>
            </p:txBody>
          </p:sp>
        </mc:Fallback>
      </mc:AlternateContent>
      <p:sp>
        <p:nvSpPr>
          <p:cNvPr id="4" name="矩形 3"/>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4"/>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9240" y="1218565"/>
            <a:ext cx="11308715" cy="2943225"/>
          </a:xfrm>
          <a:prstGeom prst="rect">
            <a:avLst/>
          </a:prstGeom>
          <a:noFill/>
        </p:spPr>
        <p:txBody>
          <a:bodyPr wrap="square" rtlCol="0">
            <a:spAutoFit/>
          </a:bodyPr>
          <a:lstStyle/>
          <a:p>
            <a:r>
              <a:rPr lang="zh-CN" altLang="en-US"/>
              <a:t>增益率准则在进行最优划分属性判别时对于可取数目较少的属性有所偏好，</a:t>
            </a:r>
            <a:r>
              <a:rPr lang="en-US" altLang="zh-CN"/>
              <a:t>C4.5</a:t>
            </a:r>
            <a:r>
              <a:rPr lang="zh-CN" altLang="en-US"/>
              <a:t>算法中并不是直接选择增益率最大的候选划分属性，而是先从候选划分属性中找出信息增益高于平均水平的属性，再从中选择增益率最高的作为最优划分属性，具体步骤：</a:t>
            </a:r>
            <a:endParaRPr lang="zh-CN" altLang="en-US"/>
          </a:p>
          <a:p>
            <a:endParaRPr lang="zh-CN" altLang="en-US"/>
          </a:p>
          <a:p>
            <a:pPr>
              <a:lnSpc>
                <a:spcPct val="50000"/>
              </a:lnSpc>
            </a:pPr>
            <a:endParaRPr lang="zh-CN" altLang="en-US"/>
          </a:p>
          <a:p>
            <a:pPr marL="2743200" lvl="6" indent="457200"/>
            <a:r>
              <a:rPr lang="en-US" altLang="zh-CN"/>
              <a:t>1</a:t>
            </a:r>
            <a:r>
              <a:rPr lang="zh-CN" altLang="en-US"/>
              <a:t>）计算每个属性的信息增益</a:t>
            </a:r>
            <a:endParaRPr lang="zh-CN" altLang="en-US"/>
          </a:p>
          <a:p>
            <a:pPr marL="2743200" lvl="6" indent="457200">
              <a:lnSpc>
                <a:spcPct val="20000"/>
              </a:lnSpc>
            </a:pPr>
            <a:endParaRPr lang="zh-CN" altLang="en-US"/>
          </a:p>
          <a:p>
            <a:pPr marL="2743200" lvl="6" indent="457200"/>
            <a:r>
              <a:rPr lang="en-US" altLang="zh-CN"/>
              <a:t>2</a:t>
            </a:r>
            <a:r>
              <a:rPr lang="zh-CN" altLang="en-US"/>
              <a:t>）计算所有属性的信息增益平均值</a:t>
            </a:r>
            <a:endParaRPr lang="zh-CN" altLang="en-US"/>
          </a:p>
          <a:p>
            <a:pPr marL="2743200" lvl="6" indent="457200">
              <a:lnSpc>
                <a:spcPct val="20000"/>
              </a:lnSpc>
            </a:pPr>
            <a:endParaRPr lang="zh-CN" altLang="en-US"/>
          </a:p>
          <a:p>
            <a:pPr marL="2743200" lvl="6" indent="457200"/>
            <a:r>
              <a:rPr lang="en-US" altLang="zh-CN"/>
              <a:t>3</a:t>
            </a:r>
            <a:r>
              <a:rPr lang="zh-CN" altLang="en-US"/>
              <a:t>）筛选出信息增益高于平均值的属性</a:t>
            </a:r>
            <a:endParaRPr lang="zh-CN" altLang="en-US"/>
          </a:p>
          <a:p>
            <a:pPr marL="2743200" lvl="6" indent="457200">
              <a:lnSpc>
                <a:spcPct val="20000"/>
              </a:lnSpc>
            </a:pPr>
            <a:endParaRPr lang="zh-CN" altLang="en-US"/>
          </a:p>
          <a:p>
            <a:pPr marL="2743200" lvl="6" indent="457200"/>
            <a:r>
              <a:rPr lang="en-US" altLang="zh-CN"/>
              <a:t>4</a:t>
            </a:r>
            <a:r>
              <a:rPr lang="zh-CN" altLang="en-US"/>
              <a:t>）计算筛选后属性的增益率</a:t>
            </a:r>
            <a:endParaRPr lang="zh-CN" altLang="en-US"/>
          </a:p>
          <a:p>
            <a:pPr marL="2743200" lvl="6" indent="457200">
              <a:lnSpc>
                <a:spcPct val="20000"/>
              </a:lnSpc>
            </a:pPr>
            <a:endParaRPr lang="zh-CN" altLang="en-US"/>
          </a:p>
          <a:p>
            <a:pPr marL="2743200" lvl="6" indent="457200"/>
            <a:r>
              <a:rPr lang="en-US" altLang="zh-CN"/>
              <a:t>5</a:t>
            </a:r>
            <a:r>
              <a:rPr lang="zh-CN" altLang="en-US"/>
              <a:t>）选取增益率最大的属性作为最优划分属性</a:t>
            </a:r>
            <a:endParaRPr lang="zh-CN" altLang="en-US"/>
          </a:p>
        </p:txBody>
      </p:sp>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3"/>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文本框 5"/>
              <p:cNvSpPr txBox="1"/>
              <p:nvPr/>
            </p:nvSpPr>
            <p:spPr>
              <a:xfrm>
                <a:off x="301625" y="1160145"/>
                <a:ext cx="11281410" cy="4328160"/>
              </a:xfrm>
              <a:prstGeom prst="rect">
                <a:avLst/>
              </a:prstGeom>
              <a:noFill/>
            </p:spPr>
            <p:txBody>
              <a:bodyPr wrap="square" rtlCol="0">
                <a:spAutoFit/>
              </a:bodyPr>
              <a:lstStyle/>
              <a:p>
                <a:r>
                  <a:rPr lang="zh-CN" altLang="en-US" b="1">
                    <a:solidFill>
                      <a:srgbClr val="0070C0"/>
                    </a:solidFill>
                  </a:rPr>
                  <a:t>基尼指数 -- CART算法</a:t>
                </a:r>
                <a:endParaRPr lang="zh-CN" altLang="en-US" b="1">
                  <a:solidFill>
                    <a:srgbClr val="0070C0"/>
                  </a:solidFill>
                </a:endParaRPr>
              </a:p>
              <a:p>
                <a:endParaRPr lang="zh-CN" altLang="en-US">
                  <a:latin typeface="Cambria Math" panose="02040503050406030204" pitchFamily="18" charset="0"/>
                  <a:cs typeface="Cambria Math" panose="02040503050406030204" pitchFamily="18" charset="0"/>
                </a:endParaRPr>
              </a:p>
              <a:p>
                <a:pPr>
                  <a:lnSpc>
                    <a:spcPct val="30000"/>
                  </a:lnSpc>
                </a:pPr>
                <a:endParaRPr lang="zh-CN" altLang="en-US">
                  <a:latin typeface="Cambria Math" panose="02040503050406030204" pitchFamily="18" charset="0"/>
                  <a:cs typeface="Cambria Math" panose="02040503050406030204" pitchFamily="18" charset="0"/>
                </a:endParaRPr>
              </a:p>
              <a:p>
                <a:pPr>
                  <a:lnSpc>
                    <a:spcPct val="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𝐺𝑖𝑛𝑖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𝑦</m:t>
                              </m:r>
                            </m:e>
                          </m:d>
                        </m:sup>
                        <m:e>
                          <m:nary>
                            <m:naryPr>
                              <m:chr m:val="∑"/>
                              <m:limLoc m:val="undOvr"/>
                              <m:supHide m:val="on"/>
                              <m:ctrlPr>
                                <a:rPr lang="en-US" altLang="zh-CN" i="1">
                                  <a:latin typeface="Cambria Math" panose="02040503050406030204" pitchFamily="18" charset="0"/>
                                  <a:cs typeface="Cambria Math" panose="02040503050406030204" pitchFamily="18" charset="0"/>
                                </a:rPr>
                              </m:ctrlPr>
                            </m:naryPr>
                            <m:sub>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𝑘</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sub>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𝑝</m:t>
                                  </m:r>
                                </m:e>
                                <m:sub>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𝑘</m:t>
                                      </m:r>
                                    </m:e>
                                    <m:sup>
                                      <m:r>
                                        <a:rPr lang="en-US" altLang="zh-CN" i="1">
                                          <a:latin typeface="Cambria Math" panose="02040503050406030204" pitchFamily="18" charset="0"/>
                                          <a:cs typeface="Cambria Math" panose="02040503050406030204" pitchFamily="18" charset="0"/>
                                        </a:rPr>
                                        <m:t>’</m:t>
                                      </m:r>
                                    </m:sup>
                                  </m:sSup>
                                </m:sub>
                              </m:sSub>
                            </m:e>
                          </m:nary>
                        </m:e>
                      </m:nary>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𝑦</m:t>
                              </m:r>
                            </m:e>
                          </m:d>
                        </m:sup>
                        <m:e>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𝑝</m:t>
                              </m:r>
                            </m:e>
                            <m:sub>
                              <m:r>
                                <a:rPr lang="en-US" altLang="zh-CN" i="1">
                                  <a:latin typeface="Cambria Math" panose="02040503050406030204" pitchFamily="18" charset="0"/>
                                  <a:cs typeface="Cambria Math" panose="02040503050406030204" pitchFamily="18" charset="0"/>
                                </a:rPr>
                                <m:t>𝑘</m:t>
                              </m:r>
                            </m:sub>
                            <m:sup>
                              <m:r>
                                <a:rPr lang="en-US" altLang="zh-CN" i="1">
                                  <a:latin typeface="Cambria Math" panose="02040503050406030204" pitchFamily="18" charset="0"/>
                                  <a:cs typeface="Cambria Math" panose="02040503050406030204" pitchFamily="18" charset="0"/>
                                </a:rPr>
                                <m:t>2</m:t>
                              </m:r>
                            </m:sup>
                          </m:sSubSup>
                        </m:e>
                      </m:nary>
                    </m:oMath>
                  </m:oMathPara>
                </a14:m>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a:lnSpc>
                    <a:spcPct val="50000"/>
                  </a:lnSpc>
                </a:pPr>
                <a14:m>
                  <m:oMath xmlns:m="http://schemas.openxmlformats.org/officeDocument/2006/math">
                    <m:r>
                      <a:rPr lang="en-US" altLang="zh-CN" i="1">
                        <a:latin typeface="Cambria Math" panose="02040503050406030204" pitchFamily="18" charset="0"/>
                        <a:cs typeface="Cambria Math" panose="02040503050406030204" pitchFamily="18" charset="0"/>
                      </a:rPr>
                      <m:t>𝐺𝑖𝑛𝑖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反映了从数据集</a:t>
                </a:r>
                <a:r>
                  <a:rPr lang="en-US" altLang="zh-CN">
                    <a:latin typeface="Cambria Math" panose="02040503050406030204" pitchFamily="18" charset="0"/>
                    <a:cs typeface="Cambria Math" panose="02040503050406030204" pitchFamily="18" charset="0"/>
                  </a:rPr>
                  <a:t>D</a:t>
                </a:r>
                <a:r>
                  <a:rPr lang="zh-CN" altLang="en-US">
                    <a:latin typeface="Cambria Math" panose="02040503050406030204" pitchFamily="18" charset="0"/>
                    <a:cs typeface="Cambria Math" panose="02040503050406030204" pitchFamily="18" charset="0"/>
                  </a:rPr>
                  <a:t>中随机抽取两个样本，其类别不一致的概率。</a:t>
                </a:r>
                <a14:m>
                  <m:oMath xmlns:m="http://schemas.openxmlformats.org/officeDocument/2006/math">
                    <m:r>
                      <a:rPr lang="en-US" altLang="zh-CN" i="1">
                        <a:latin typeface="Cambria Math" panose="02040503050406030204" pitchFamily="18" charset="0"/>
                        <a:cs typeface="Cambria Math" panose="02040503050406030204" pitchFamily="18" charset="0"/>
                      </a:rPr>
                      <m:t>𝐺𝑖𝑛𝑖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越小，则数据集越稳定</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r>
                  <a:rPr lang="zh-CN" altLang="en-US">
                    <a:latin typeface="Cambria Math" panose="02040503050406030204" pitchFamily="18" charset="0"/>
                    <a:cs typeface="Cambria Math" panose="02040503050406030204" pitchFamily="18" charset="0"/>
                    <a:sym typeface="+mn-ea"/>
                  </a:rPr>
                  <a:t>对于属性集合</a:t>
                </a:r>
                <a:r>
                  <a:rPr lang="en-US" altLang="zh-CN">
                    <a:latin typeface="Cambria Math" panose="02040503050406030204" pitchFamily="18" charset="0"/>
                    <a:cs typeface="Cambria Math" panose="02040503050406030204" pitchFamily="18" charset="0"/>
                    <a:sym typeface="+mn-ea"/>
                  </a:rPr>
                  <a:t>A</a:t>
                </a:r>
                <a:r>
                  <a:rPr lang="zh-CN" altLang="en-US">
                    <a:latin typeface="Cambria Math" panose="02040503050406030204" pitchFamily="18" charset="0"/>
                    <a:cs typeface="Cambria Math" panose="02040503050406030204" pitchFamily="18" charset="0"/>
                    <a:sym typeface="+mn-ea"/>
                  </a:rPr>
                  <a:t>中的属性</a:t>
                </a:r>
                <a:r>
                  <a:rPr lang="en-US" altLang="zh-CN">
                    <a:latin typeface="Cambria Math" panose="02040503050406030204" pitchFamily="18" charset="0"/>
                    <a:cs typeface="Cambria Math" panose="02040503050406030204" pitchFamily="18" charset="0"/>
                    <a:sym typeface="+mn-ea"/>
                  </a:rPr>
                  <a:t>a</a:t>
                </a:r>
                <a:r>
                  <a:rPr lang="zh-CN" altLang="en-US">
                    <a:latin typeface="Cambria Math" panose="02040503050406030204" pitchFamily="18" charset="0"/>
                    <a:cs typeface="Cambria Math" panose="02040503050406030204" pitchFamily="18" charset="0"/>
                    <a:sym typeface="+mn-ea"/>
                  </a:rPr>
                  <a:t>，其基尼指数计算公式为：</a:t>
                </a: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𝐺𝑖𝑛𝑖</m:t>
                      </m:r>
                      <m:r>
                        <a:rPr lang="en-US" altLang="zh-CN" i="1">
                          <a:latin typeface="Cambria Math" panose="02040503050406030204" pitchFamily="18" charset="0"/>
                          <a:cs typeface="Cambria Math" panose="02040503050406030204" pitchFamily="18" charset="0"/>
                        </a:rPr>
                        <m:t>_</m:t>
                      </m:r>
                      <m:r>
                        <a:rPr lang="en-US" altLang="zh-CN" i="1">
                          <a:latin typeface="Cambria Math" panose="02040503050406030204" pitchFamily="18" charset="0"/>
                          <a:cs typeface="Cambria Math" panose="02040503050406030204" pitchFamily="18" charset="0"/>
                        </a:rPr>
                        <m:t>𝑖𝑛𝑑𝑒𝑥</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𝑉</m:t>
                          </m:r>
                        </m:sup>
                        <m:e>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e>
                              </m:d>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den>
                          </m:f>
                        </m:e>
                      </m:nary>
                      <m:r>
                        <a:rPr lang="en-US" altLang="zh-CN" i="1">
                          <a:latin typeface="Cambria Math" panose="02040503050406030204" pitchFamily="18" charset="0"/>
                          <a:cs typeface="Cambria Math" panose="02040503050406030204" pitchFamily="18" charset="0"/>
                        </a:rPr>
                        <m:t>𝐺𝑖𝑛𝑖</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𝐷</m:t>
                          </m:r>
                        </m:e>
                        <m:sup>
                          <m:r>
                            <a:rPr lang="en-US" altLang="zh-CN" i="1">
                              <a:latin typeface="Cambria Math" panose="02040503050406030204" pitchFamily="18" charset="0"/>
                              <a:cs typeface="Cambria Math" panose="02040503050406030204" pitchFamily="18" charset="0"/>
                            </a:rPr>
                            <m:t>𝑣</m:t>
                          </m:r>
                        </m:sup>
                      </m:sSup>
                      <m:r>
                        <a:rPr lang="en-US" altLang="zh-CN" i="1">
                          <a:latin typeface="Cambria Math" panose="02040503050406030204" pitchFamily="18" charset="0"/>
                          <a:cs typeface="Cambria Math" panose="02040503050406030204" pitchFamily="18" charset="0"/>
                        </a:rPr>
                        <m:t>)</m:t>
                      </m:r>
                    </m:oMath>
                  </m:oMathPara>
                </a14:m>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r>
                  <a:rPr lang="zh-CN" altLang="en-US">
                    <a:latin typeface="Cambria Math" panose="02040503050406030204" pitchFamily="18" charset="0"/>
                    <a:cs typeface="Cambria Math" panose="02040503050406030204" pitchFamily="18" charset="0"/>
                    <a:sym typeface="+mn-ea"/>
                  </a:rPr>
                  <a:t>选择最优划分属性：</a:t>
                </a: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301625" y="1160145"/>
                <a:ext cx="11281410" cy="432816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027106" y="4706239"/>
                <a:ext cx="3468370" cy="36830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𝑏𝑒𝑠𝑡</m:t>
                          </m:r>
                        </m:sub>
                      </m:sSub>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𝑎𝑟𝑔𝑚𝑖𝑛</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𝐺𝑖𝑛𝑖</m:t>
                      </m:r>
                      <m:r>
                        <a:rPr lang="en-US" altLang="zh-CN" i="1">
                          <a:latin typeface="Cambria Math" panose="02040503050406030204" pitchFamily="18" charset="0"/>
                          <a:cs typeface="Cambria Math" panose="02040503050406030204" pitchFamily="18" charset="0"/>
                        </a:rPr>
                        <m:t>_</m:t>
                      </m:r>
                      <m:r>
                        <a:rPr lang="en-US" altLang="zh-CN" i="1">
                          <a:latin typeface="Cambria Math" panose="02040503050406030204" pitchFamily="18" charset="0"/>
                          <a:cs typeface="Cambria Math" panose="02040503050406030204" pitchFamily="18" charset="0"/>
                        </a:rPr>
                        <m:t>𝑖𝑛𝑑𝑒𝑥</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4027106" y="4706239"/>
                <a:ext cx="3468370" cy="368300"/>
              </a:xfrm>
              <a:prstGeom prst="rect">
                <a:avLst/>
              </a:prstGeom>
              <a:blipFill rotWithShape="1">
                <a:blip r:embed="rId2"/>
                <a:stretch>
                  <a:fillRect l="-16" t="-69" r="16"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4947221" y="4998339"/>
                <a:ext cx="648970" cy="30670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Cambria Math" panose="02040503050406030204" pitchFamily="18" charset="0"/>
                        </a:rPr>
                        <m:t>𝑎</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𝐴</m:t>
                      </m:r>
                    </m:oMath>
                  </m:oMathPara>
                </a14:m>
                <a:endParaRPr lang="en-US" altLang="zh-CN" sz="1400" i="1">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4947221" y="4998339"/>
                <a:ext cx="648970" cy="306705"/>
              </a:xfrm>
              <a:prstGeom prst="rect">
                <a:avLst/>
              </a:prstGeom>
              <a:blipFill rotWithShape="1">
                <a:blip r:embed="rId3"/>
                <a:stretch>
                  <a:fillRect l="-88" t="-83" r="88" b="83"/>
                </a:stretch>
              </a:blipFill>
            </p:spPr>
            <p:txBody>
              <a:bodyPr/>
              <a:lstStyle/>
              <a:p>
                <a:r>
                  <a:rPr lang="zh-CN" altLang="en-US">
                    <a:noFill/>
                  </a:rPr>
                  <a:t> </a:t>
                </a:r>
              </a:p>
            </p:txBody>
          </p:sp>
        </mc:Fallback>
      </mc:AlternateContent>
      <p:sp>
        <p:nvSpPr>
          <p:cNvPr id="5" name="矩形 4"/>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6"/>
            </p:custDataLst>
          </p:nvPr>
        </p:nvSpPr>
        <p:spPr>
          <a:xfrm>
            <a:off x="419735" y="321945"/>
            <a:ext cx="423672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如何确定最优划分属性？</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gn="l">
              <a:lnSpc>
                <a:spcPct val="130000"/>
              </a:lnSpc>
              <a:spcBef>
                <a:spcPts val="0"/>
              </a:spcBef>
              <a:spcAft>
                <a:spcPts val="0"/>
              </a:spcAft>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基于python创建分类决策树</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3"/>
            </p:custDataLst>
          </p:nvPr>
        </p:nvSpPr>
        <p:spPr>
          <a:xfrm>
            <a:off x="419735" y="321945"/>
            <a:ext cx="51193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基于</a:t>
            </a:r>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创建分类决策树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2" name="文本框 1"/>
          <p:cNvSpPr txBox="1"/>
          <p:nvPr/>
        </p:nvSpPr>
        <p:spPr>
          <a:xfrm>
            <a:off x="271780" y="1126490"/>
            <a:ext cx="6640830" cy="368300"/>
          </a:xfrm>
          <a:prstGeom prst="rect">
            <a:avLst/>
          </a:prstGeom>
          <a:noFill/>
        </p:spPr>
        <p:txBody>
          <a:bodyPr wrap="square" rtlCol="0">
            <a:spAutoFit/>
          </a:bodyPr>
          <a:lstStyle/>
          <a:p>
            <a:r>
              <a:rPr lang="zh-CN" altLang="en-US" b="1"/>
              <a:t>通过</a:t>
            </a:r>
            <a:r>
              <a:rPr lang="en-US" altLang="zh-CN" b="1"/>
              <a:t>python</a:t>
            </a:r>
            <a:r>
              <a:rPr lang="zh-CN" altLang="en-US" b="1"/>
              <a:t>实现基于信息增益最大化划分属性的分类决策树创建</a:t>
            </a:r>
            <a:endParaRPr lang="zh-CN" altLang="en-US" b="1"/>
          </a:p>
        </p:txBody>
      </p:sp>
      <p:sp>
        <p:nvSpPr>
          <p:cNvPr id="3" name="文本框 2"/>
          <p:cNvSpPr txBox="1"/>
          <p:nvPr/>
        </p:nvSpPr>
        <p:spPr>
          <a:xfrm>
            <a:off x="387985" y="1710055"/>
            <a:ext cx="10921365" cy="368300"/>
          </a:xfrm>
          <a:prstGeom prst="rect">
            <a:avLst/>
          </a:prstGeom>
          <a:noFill/>
        </p:spPr>
        <p:txBody>
          <a:bodyPr wrap="square" rtlCol="0">
            <a:spAutoFit/>
          </a:bodyPr>
          <a:lstStyle/>
          <a:p>
            <a:r>
              <a:rPr lang="en-US" altLang="zh-CN" b="1"/>
              <a:t>1</a:t>
            </a:r>
            <a:r>
              <a:rPr lang="zh-CN" altLang="en-US" b="1"/>
              <a:t>）创建训练集和属性集</a:t>
            </a:r>
            <a:endParaRPr lang="zh-CN" altLang="en-US" b="1"/>
          </a:p>
        </p:txBody>
      </p:sp>
      <p:graphicFrame>
        <p:nvGraphicFramePr>
          <p:cNvPr id="31" name="表格 30"/>
          <p:cNvGraphicFramePr/>
          <p:nvPr>
            <p:custDataLst>
              <p:tags r:id="rId4"/>
            </p:custDataLst>
          </p:nvPr>
        </p:nvGraphicFramePr>
        <p:xfrm>
          <a:off x="419735" y="2293620"/>
          <a:ext cx="4973955" cy="3566160"/>
        </p:xfrm>
        <a:graphic>
          <a:graphicData uri="http://schemas.openxmlformats.org/drawingml/2006/table">
            <a:tbl>
              <a:tblPr firstRow="1" bandRow="1">
                <a:tableStyleId>{5C22544A-7EE6-4342-B048-85BDC9FD1C3A}</a:tableStyleId>
              </a:tblPr>
              <a:tblGrid>
                <a:gridCol w="675005"/>
                <a:gridCol w="644525"/>
                <a:gridCol w="1003935"/>
                <a:gridCol w="686435"/>
                <a:gridCol w="803910"/>
                <a:gridCol w="1160145"/>
              </a:tblGrid>
              <a:tr h="640080">
                <a:tc>
                  <a:txBody>
                    <a:bodyPr/>
                    <a:lstStyle/>
                    <a:p>
                      <a:pPr algn="ctr">
                        <a:buNone/>
                      </a:pPr>
                      <a:r>
                        <a:rPr lang="zh-CN" altLang="en-US" sz="1600"/>
                        <a:t>相亲对象</a:t>
                      </a:r>
                      <a:endParaRPr lang="zh-CN" altLang="en-US" sz="1600"/>
                    </a:p>
                  </a:txBody>
                  <a:tcPr anchor="ctr"/>
                </a:tc>
                <a:tc>
                  <a:txBody>
                    <a:bodyPr/>
                    <a:lstStyle/>
                    <a:p>
                      <a:pPr algn="ctr">
                        <a:buNone/>
                      </a:pPr>
                      <a:r>
                        <a:rPr lang="zh-CN" altLang="en-US" sz="1600"/>
                        <a:t>年龄</a:t>
                      </a:r>
                      <a:endParaRPr lang="en-US" altLang="zh-CN" sz="1600"/>
                    </a:p>
                  </a:txBody>
                  <a:tcPr anchor="ctr"/>
                </a:tc>
                <a:tc>
                  <a:txBody>
                    <a:bodyPr/>
                    <a:lstStyle/>
                    <a:p>
                      <a:pPr algn="ctr">
                        <a:buNone/>
                      </a:pPr>
                      <a:r>
                        <a:rPr lang="zh-CN" altLang="en-US" sz="1600"/>
                        <a:t>长相</a:t>
                      </a:r>
                      <a:endParaRPr lang="zh-CN" altLang="en-US" sz="1600"/>
                    </a:p>
                  </a:txBody>
                  <a:tcPr anchor="ctr"/>
                </a:tc>
                <a:tc>
                  <a:txBody>
                    <a:bodyPr/>
                    <a:lstStyle/>
                    <a:p>
                      <a:pPr algn="ctr">
                        <a:buNone/>
                      </a:pPr>
                      <a:r>
                        <a:rPr lang="zh-CN" altLang="en-US" sz="1600"/>
                        <a:t>收入</a:t>
                      </a:r>
                      <a:endParaRPr lang="zh-CN" altLang="en-US" sz="1600"/>
                    </a:p>
                  </a:txBody>
                  <a:tcPr anchor="ctr"/>
                </a:tc>
                <a:tc>
                  <a:txBody>
                    <a:bodyPr/>
                    <a:lstStyle/>
                    <a:p>
                      <a:pPr algn="ctr">
                        <a:buNone/>
                      </a:pPr>
                      <a:r>
                        <a:rPr lang="zh-CN" altLang="en-US" sz="1600"/>
                        <a:t>公务员</a:t>
                      </a:r>
                      <a:endParaRPr lang="zh-CN" altLang="en-US" sz="1600"/>
                    </a:p>
                  </a:txBody>
                  <a:tcPr anchor="ctr"/>
                </a:tc>
                <a:tc>
                  <a:txBody>
                    <a:bodyPr/>
                    <a:lstStyle/>
                    <a:p>
                      <a:pPr algn="ctr">
                        <a:buNone/>
                      </a:pPr>
                      <a:r>
                        <a:rPr lang="zh-CN" altLang="en-US" sz="1600"/>
                        <a:t>是否相见</a:t>
                      </a:r>
                      <a:endParaRPr lang="zh-CN" altLang="en-US" sz="1600"/>
                    </a:p>
                  </a:txBody>
                  <a:tcPr anchor="ctr"/>
                </a:tc>
              </a:tr>
              <a:tr h="365760">
                <a:tc>
                  <a:txBody>
                    <a:bodyPr/>
                    <a:lstStyle/>
                    <a:p>
                      <a:pPr algn="ctr">
                        <a:buNone/>
                      </a:pPr>
                      <a:r>
                        <a:rPr lang="en-US" altLang="zh-CN" sz="1600"/>
                        <a:t>1</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2</a:t>
                      </a:r>
                      <a:r>
                        <a:rPr lang="zh-CN" altLang="en-US" sz="1600"/>
                        <a:t>号</a:t>
                      </a:r>
                      <a:endParaRPr lang="zh-CN" altLang="en-US" sz="1600"/>
                    </a:p>
                  </a:txBody>
                  <a:tcPr anchor="ctr"/>
                </a:tc>
                <a:tc>
                  <a:txBody>
                    <a:bodyPr/>
                    <a:lstStyle/>
                    <a:p>
                      <a:pPr algn="ctr">
                        <a:buNone/>
                      </a:pPr>
                      <a:r>
                        <a:rPr lang="en-US" altLang="zh-CN" sz="1600">
                          <a:sym typeface="+mn-ea"/>
                        </a:rPr>
                        <a:t>&gt;30</a:t>
                      </a:r>
                      <a:endParaRPr lang="zh-CN" altLang="en-US" sz="1600"/>
                    </a:p>
                  </a:txBody>
                  <a:tcPr anchor="ctr"/>
                </a:tc>
                <a:tc>
                  <a:txBody>
                    <a:bodyPr/>
                    <a:lstStyle/>
                    <a:p>
                      <a:pPr algn="ctr">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3</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低</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4</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中等</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见</a:t>
                      </a:r>
                      <a:endParaRPr lang="zh-CN" altLang="en-US" sz="1600"/>
                    </a:p>
                  </a:txBody>
                  <a:tcPr anchor="ctr"/>
                </a:tc>
              </a:tr>
              <a:tr h="365760">
                <a:tc>
                  <a:txBody>
                    <a:bodyPr/>
                    <a:lstStyle/>
                    <a:p>
                      <a:pPr algn="ctr">
                        <a:buNone/>
                      </a:pPr>
                      <a:r>
                        <a:rPr lang="en-US" altLang="zh-CN" sz="1600"/>
                        <a:t>5</a:t>
                      </a:r>
                      <a:r>
                        <a:rPr lang="zh-CN" altLang="en-US" sz="1600"/>
                        <a:t>号</a:t>
                      </a:r>
                      <a:endParaRPr lang="zh-CN" altLang="en-US" sz="1600"/>
                    </a:p>
                  </a:txBody>
                  <a:tcPr anchor="ctr"/>
                </a:tc>
                <a:tc>
                  <a:txBody>
                    <a:bodyPr/>
                    <a:lstStyle/>
                    <a:p>
                      <a:pPr algn="ctr">
                        <a:buNone/>
                      </a:pPr>
                      <a:r>
                        <a:rPr lang="en-US" altLang="zh-CN" sz="1600">
                          <a:sym typeface="+mn-ea"/>
                        </a:rPr>
                        <a:t>&gt;30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是</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6</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None/>
                      </a:pPr>
                      <a:r>
                        <a:rPr lang="zh-CN" altLang="en-US" sz="1600"/>
                        <a:t>丑</a:t>
                      </a:r>
                      <a:endParaRPr lang="zh-CN" altLang="en-US" sz="1600"/>
                    </a:p>
                  </a:txBody>
                  <a:tcPr anchor="ctr"/>
                </a:tc>
                <a:tc>
                  <a:txBody>
                    <a:bodyPr/>
                    <a:lstStyle/>
                    <a:p>
                      <a:pPr algn="ctr">
                        <a:buNone/>
                      </a:pPr>
                      <a:r>
                        <a:rPr lang="zh-CN" altLang="en-US" sz="1600"/>
                        <a:t>高</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r h="365760">
                <a:tc>
                  <a:txBody>
                    <a:bodyPr/>
                    <a:lstStyle/>
                    <a:p>
                      <a:pPr algn="ctr">
                        <a:buNone/>
                      </a:pPr>
                      <a:r>
                        <a:rPr lang="en-US" altLang="zh-CN" sz="1600"/>
                        <a:t>7</a:t>
                      </a:r>
                      <a:r>
                        <a:rPr lang="zh-CN" altLang="en-US" sz="1600"/>
                        <a:t>号</a:t>
                      </a:r>
                      <a:endParaRPr lang="zh-CN" altLang="en-US" sz="1600"/>
                    </a:p>
                  </a:txBody>
                  <a:tcPr anchor="ctr"/>
                </a:tc>
                <a:tc>
                  <a:txBody>
                    <a:bodyPr/>
                    <a:lstStyle/>
                    <a:p>
                      <a:pPr algn="ctr">
                        <a:buNone/>
                      </a:pPr>
                      <a:r>
                        <a:rPr lang="en-US" altLang="zh-CN" sz="1600">
                          <a:sym typeface="+mn-ea"/>
                        </a:rPr>
                        <a:t>≤30</a:t>
                      </a:r>
                      <a:endParaRPr lang="zh-CN" altLang="en-US" sz="1600"/>
                    </a:p>
                  </a:txBody>
                  <a:tcPr anchor="ctr"/>
                </a:tc>
                <a:tc>
                  <a:txBody>
                    <a:bodyPr/>
                    <a:lstStyle/>
                    <a:p>
                      <a:pPr algn="ctr">
                        <a:buClrTx/>
                        <a:buSzTx/>
                        <a:buFontTx/>
                        <a:buNone/>
                      </a:pPr>
                      <a:r>
                        <a:rPr lang="zh-CN" altLang="en-US" sz="1600">
                          <a:sym typeface="+mn-ea"/>
                        </a:rPr>
                        <a:t>帅或中等</a:t>
                      </a:r>
                      <a:endParaRPr lang="zh-CN" altLang="en-US" sz="1600"/>
                    </a:p>
                  </a:txBody>
                  <a:tcPr anchor="ctr"/>
                </a:tc>
                <a:tc>
                  <a:txBody>
                    <a:bodyPr/>
                    <a:lstStyle/>
                    <a:p>
                      <a:pPr algn="ctr">
                        <a:buNone/>
                      </a:pPr>
                      <a:r>
                        <a:rPr lang="zh-CN" altLang="en-US" sz="1600">
                          <a:sym typeface="+mn-ea"/>
                        </a:rPr>
                        <a:t>中等</a:t>
                      </a:r>
                      <a:endParaRPr lang="zh-CN" altLang="en-US" sz="1600"/>
                    </a:p>
                  </a:txBody>
                  <a:tcPr anchor="ctr"/>
                </a:tc>
                <a:tc>
                  <a:txBody>
                    <a:bodyPr/>
                    <a:lstStyle/>
                    <a:p>
                      <a:pPr algn="ctr">
                        <a:buNone/>
                      </a:pPr>
                      <a:r>
                        <a:rPr lang="zh-CN" altLang="en-US" sz="1600"/>
                        <a:t>否</a:t>
                      </a:r>
                      <a:endParaRPr lang="zh-CN" altLang="en-US" sz="1600"/>
                    </a:p>
                  </a:txBody>
                  <a:tcPr anchor="ctr"/>
                </a:tc>
                <a:tc>
                  <a:txBody>
                    <a:bodyPr/>
                    <a:lstStyle/>
                    <a:p>
                      <a:pPr algn="ctr">
                        <a:buNone/>
                      </a:pPr>
                      <a:r>
                        <a:rPr lang="zh-CN" altLang="en-US" sz="1600"/>
                        <a:t>不见</a:t>
                      </a:r>
                      <a:endParaRPr lang="zh-CN" altLang="en-US" sz="1600"/>
                    </a:p>
                  </a:txBody>
                  <a:tcPr anchor="ctr"/>
                </a:tc>
              </a:tr>
            </a:tbl>
          </a:graphicData>
        </a:graphic>
      </p:graphicFrame>
      <p:sp>
        <p:nvSpPr>
          <p:cNvPr id="5" name="文本框 4"/>
          <p:cNvSpPr txBox="1"/>
          <p:nvPr/>
        </p:nvSpPr>
        <p:spPr>
          <a:xfrm>
            <a:off x="5628640" y="1777365"/>
            <a:ext cx="6472555" cy="3969385"/>
          </a:xfrm>
          <a:prstGeom prst="rect">
            <a:avLst/>
          </a:prstGeom>
          <a:noFill/>
        </p:spPr>
        <p:txBody>
          <a:bodyPr wrap="square" rtlCol="0" anchor="t">
            <a:spAutoFit/>
          </a:bodyPr>
          <a:lstStyle/>
          <a:p>
            <a:r>
              <a:rPr lang="zh-CN" altLang="en-US"/>
              <a:t>def createDataSet():</a:t>
            </a:r>
            <a:endParaRPr lang="zh-CN" altLang="en-US"/>
          </a:p>
          <a:p>
            <a:r>
              <a:rPr lang="zh-CN" altLang="en-US"/>
              <a:t>    # 训练集</a:t>
            </a:r>
            <a:endParaRPr lang="zh-CN" altLang="en-US"/>
          </a:p>
          <a:p>
            <a:r>
              <a:rPr lang="zh-CN" altLang="en-US"/>
              <a:t>    dataSet = [</a:t>
            </a:r>
            <a:endParaRPr lang="zh-CN" altLang="en-US"/>
          </a:p>
          <a:p>
            <a:r>
              <a:rPr lang="zh-CN" altLang="en-US"/>
              <a:t>        [0, 0, 0, 1, 'yes'],</a:t>
            </a:r>
            <a:endParaRPr lang="zh-CN" altLang="en-US"/>
          </a:p>
          <a:p>
            <a:r>
              <a:rPr lang="zh-CN" altLang="en-US"/>
              <a:t>        [1, 0, 0, 1, 'no'],</a:t>
            </a:r>
            <a:endParaRPr lang="zh-CN" altLang="en-US"/>
          </a:p>
          <a:p>
            <a:r>
              <a:rPr lang="zh-CN" altLang="en-US"/>
              <a:t>        [0, 0, 2, 0, 'no'],</a:t>
            </a:r>
            <a:endParaRPr lang="zh-CN" altLang="en-US"/>
          </a:p>
          <a:p>
            <a:r>
              <a:rPr lang="zh-CN" altLang="en-US"/>
              <a:t>        [0, 0, 1, 0, 'yes'],</a:t>
            </a:r>
            <a:endParaRPr lang="zh-CN" altLang="en-US"/>
          </a:p>
          <a:p>
            <a:r>
              <a:rPr lang="zh-CN" altLang="en-US"/>
              <a:t>        [1, 0, 0, 0, 'no'],</a:t>
            </a:r>
            <a:endParaRPr lang="zh-CN" altLang="en-US"/>
          </a:p>
          <a:p>
            <a:r>
              <a:rPr lang="zh-CN" altLang="en-US"/>
              <a:t>        [0, 1, 0, 1, 'no'],</a:t>
            </a:r>
            <a:endParaRPr lang="zh-CN" altLang="en-US"/>
          </a:p>
          <a:p>
            <a:r>
              <a:rPr lang="zh-CN" altLang="en-US"/>
              <a:t>        [0, 0, 1, 1, 'no'],</a:t>
            </a:r>
            <a:endParaRPr lang="zh-CN" altLang="en-US"/>
          </a:p>
          <a:p>
            <a:r>
              <a:rPr lang="zh-CN" altLang="en-US"/>
              <a:t>    ]</a:t>
            </a:r>
            <a:endParaRPr lang="zh-CN" altLang="en-US"/>
          </a:p>
          <a:p>
            <a:r>
              <a:rPr lang="zh-CN" altLang="en-US"/>
              <a:t>    # 属性集</a:t>
            </a:r>
            <a:endParaRPr lang="zh-CN" altLang="en-US"/>
          </a:p>
          <a:p>
            <a:r>
              <a:rPr lang="zh-CN" altLang="en-US"/>
              <a:t>    labels = ['F1-Age', 'F2-Appearance', 'F3-Income', 'F4-Government']</a:t>
            </a:r>
            <a:endParaRPr lang="zh-CN" altLang="en-US"/>
          </a:p>
          <a:p>
            <a:r>
              <a:rPr lang="zh-CN" altLang="en-US"/>
              <a:t>    return dataSet, labels</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 name="文本框 1"/>
          <p:cNvSpPr txBox="1"/>
          <p:nvPr/>
        </p:nvSpPr>
        <p:spPr>
          <a:xfrm>
            <a:off x="271780" y="1126490"/>
            <a:ext cx="6640830" cy="368300"/>
          </a:xfrm>
          <a:prstGeom prst="rect">
            <a:avLst/>
          </a:prstGeom>
          <a:noFill/>
        </p:spPr>
        <p:txBody>
          <a:bodyPr wrap="square" rtlCol="0">
            <a:spAutoFit/>
          </a:bodyPr>
          <a:lstStyle/>
          <a:p>
            <a:r>
              <a:rPr lang="zh-CN" altLang="en-US" b="1"/>
              <a:t>通过</a:t>
            </a:r>
            <a:r>
              <a:rPr lang="en-US" altLang="zh-CN" b="1"/>
              <a:t>python</a:t>
            </a:r>
            <a:r>
              <a:rPr lang="zh-CN" altLang="en-US" b="1"/>
              <a:t>实现基于信息增益最大化划分属性的分类决策树创建</a:t>
            </a:r>
            <a:endParaRPr lang="zh-CN" altLang="en-US" b="1"/>
          </a:p>
        </p:txBody>
      </p:sp>
      <p:sp>
        <p:nvSpPr>
          <p:cNvPr id="3" name="文本框 2"/>
          <p:cNvSpPr txBox="1"/>
          <p:nvPr/>
        </p:nvSpPr>
        <p:spPr>
          <a:xfrm>
            <a:off x="387985" y="1710055"/>
            <a:ext cx="10921365" cy="368300"/>
          </a:xfrm>
          <a:prstGeom prst="rect">
            <a:avLst/>
          </a:prstGeom>
          <a:noFill/>
        </p:spPr>
        <p:txBody>
          <a:bodyPr wrap="square" rtlCol="0">
            <a:spAutoFit/>
          </a:bodyPr>
          <a:lstStyle/>
          <a:p>
            <a:r>
              <a:rPr lang="en-US" altLang="zh-CN" b="1"/>
              <a:t>2</a:t>
            </a:r>
            <a:r>
              <a:rPr lang="zh-CN" altLang="en-US" b="1"/>
              <a:t>）定义计算信息熵函数</a:t>
            </a:r>
            <a:endParaRPr lang="zh-CN" altLang="en-US" b="1"/>
          </a:p>
        </p:txBody>
      </p:sp>
      <p:sp>
        <p:nvSpPr>
          <p:cNvPr id="8" name="文本框 7"/>
          <p:cNvSpPr txBox="1"/>
          <p:nvPr/>
        </p:nvSpPr>
        <p:spPr>
          <a:xfrm>
            <a:off x="544195" y="2174240"/>
            <a:ext cx="11078845" cy="4246245"/>
          </a:xfrm>
          <a:prstGeom prst="rect">
            <a:avLst/>
          </a:prstGeom>
          <a:noFill/>
        </p:spPr>
        <p:txBody>
          <a:bodyPr wrap="square" rtlCol="0" anchor="t">
            <a:spAutoFit/>
          </a:bodyPr>
          <a:lstStyle/>
          <a:p>
            <a:r>
              <a:rPr lang="zh-CN" altLang="en-US"/>
              <a:t>def calcEntropy(dataSet):</a:t>
            </a:r>
            <a:endParaRPr lang="zh-CN" altLang="en-US"/>
          </a:p>
          <a:p>
            <a:r>
              <a:rPr lang="zh-CN" altLang="en-US"/>
              <a:t>    exampleNum = len(dataSet)</a:t>
            </a:r>
            <a:r>
              <a:rPr lang="en-US" altLang="zh-CN"/>
              <a:t>    </a:t>
            </a:r>
            <a:r>
              <a:rPr lang="zh-CN" altLang="en-US">
                <a:sym typeface="+mn-ea"/>
              </a:rPr>
              <a:t>   </a:t>
            </a:r>
            <a:r>
              <a:rPr lang="en-US" altLang="zh-CN">
                <a:sym typeface="+mn-ea"/>
              </a:rPr>
              <a:t>                   </a:t>
            </a:r>
            <a:r>
              <a:rPr lang="zh-CN" altLang="en-US">
                <a:sym typeface="+mn-ea"/>
              </a:rPr>
              <a:t> # 1. 获取所有样本数</a:t>
            </a:r>
            <a:endParaRPr lang="zh-CN" altLang="en-US"/>
          </a:p>
          <a:p>
            <a:r>
              <a:rPr lang="zh-CN" altLang="en-US"/>
              <a:t>    labelCount = {}</a:t>
            </a:r>
            <a:r>
              <a:rPr lang="en-US" altLang="zh-CN"/>
              <a:t>                                                   </a:t>
            </a:r>
            <a:r>
              <a:rPr lang="zh-CN" altLang="en-US">
                <a:sym typeface="+mn-ea"/>
              </a:rPr>
              <a:t># 2. 计算每个标签值的出现数量</a:t>
            </a:r>
            <a:endParaRPr lang="zh-CN" altLang="en-US"/>
          </a:p>
          <a:p>
            <a:r>
              <a:rPr lang="zh-CN" altLang="en-US"/>
              <a:t>    for featVec in dataSet:</a:t>
            </a:r>
            <a:endParaRPr lang="zh-CN" altLang="en-US"/>
          </a:p>
          <a:p>
            <a:r>
              <a:rPr lang="zh-CN" altLang="en-US"/>
              <a:t>        curLabel = featVec[-1]</a:t>
            </a:r>
            <a:endParaRPr lang="zh-CN" altLang="en-US"/>
          </a:p>
          <a:p>
            <a:r>
              <a:rPr lang="zh-CN" altLang="en-US"/>
              <a:t>        if curLabel in labelCount.keys():</a:t>
            </a:r>
            <a:endParaRPr lang="zh-CN" altLang="en-US"/>
          </a:p>
          <a:p>
            <a:r>
              <a:rPr lang="zh-CN" altLang="en-US"/>
              <a:t>            labelCount[curLabel] += 1</a:t>
            </a:r>
            <a:endParaRPr lang="zh-CN" altLang="en-US"/>
          </a:p>
          <a:p>
            <a:r>
              <a:rPr lang="zh-CN" altLang="en-US"/>
              <a:t>        else:</a:t>
            </a:r>
            <a:endParaRPr lang="zh-CN" altLang="en-US"/>
          </a:p>
          <a:p>
            <a:r>
              <a:rPr lang="zh-CN" altLang="en-US"/>
              <a:t>            labelCount[curLabel] = 1</a:t>
            </a:r>
            <a:endParaRPr lang="zh-CN" altLang="en-US"/>
          </a:p>
          <a:p>
            <a:r>
              <a:rPr lang="zh-CN" altLang="en-US"/>
              <a:t>    entropy = 0</a:t>
            </a:r>
            <a:r>
              <a:rPr lang="en-US" altLang="zh-CN"/>
              <a:t>                                                    </a:t>
            </a:r>
            <a:r>
              <a:rPr lang="zh-CN" altLang="en-US">
                <a:sym typeface="+mn-ea"/>
              </a:rPr>
              <a:t>    # 3. 计算熵值(对每个类别求熵值求和)</a:t>
            </a:r>
            <a:endParaRPr lang="zh-CN" altLang="en-US"/>
          </a:p>
          <a:p>
            <a:r>
              <a:rPr lang="zh-CN" altLang="en-US"/>
              <a:t>    for key, value in labelCount.items():</a:t>
            </a:r>
            <a:endParaRPr lang="zh-CN" altLang="en-US"/>
          </a:p>
          <a:p>
            <a:r>
              <a:rPr lang="zh-CN" altLang="en-US"/>
              <a:t>        p = labelCount[key] / exampleNum</a:t>
            </a:r>
            <a:r>
              <a:rPr lang="en-US" altLang="zh-CN"/>
              <a:t>         </a:t>
            </a:r>
            <a:r>
              <a:rPr lang="zh-CN" altLang="en-US">
                <a:sym typeface="+mn-ea"/>
              </a:rPr>
              <a:t> # 概率值</a:t>
            </a:r>
            <a:endParaRPr lang="zh-CN" altLang="en-US"/>
          </a:p>
          <a:p>
            <a:r>
              <a:rPr lang="zh-CN" altLang="en-US"/>
              <a:t>        curEntropy = -p * math.log(p, 2)</a:t>
            </a:r>
            <a:r>
              <a:rPr lang="en-US" altLang="zh-CN"/>
              <a:t>               </a:t>
            </a:r>
            <a:r>
              <a:rPr lang="zh-CN" altLang="en-US">
                <a:sym typeface="+mn-ea"/>
              </a:rPr>
              <a:t># 当前标签的熵值计算并追加</a:t>
            </a:r>
            <a:endParaRPr lang="zh-CN" altLang="en-US"/>
          </a:p>
          <a:p>
            <a:r>
              <a:rPr lang="zh-CN" altLang="en-US"/>
              <a:t>        entropy += curEntropy</a:t>
            </a:r>
            <a:endParaRPr lang="zh-CN" altLang="en-US"/>
          </a:p>
          <a:p>
            <a:r>
              <a:rPr lang="zh-CN" altLang="en-US"/>
              <a:t>    return entropy</a:t>
            </a:r>
            <a:r>
              <a:rPr lang="en-US" altLang="zh-CN"/>
              <a:t>                                                 </a:t>
            </a:r>
            <a:r>
              <a:rPr lang="zh-CN" altLang="en-US">
                <a:sym typeface="+mn-ea"/>
              </a:rPr>
              <a:t> # 4. 返回</a:t>
            </a:r>
            <a:endParaRPr lang="en-US" altLang="zh-CN"/>
          </a:p>
        </p:txBody>
      </p:sp>
      <p:sp>
        <p:nvSpPr>
          <p:cNvPr id="9" name="文本框 8"/>
          <p:cNvSpPr txBox="1"/>
          <p:nvPr>
            <p:custDataLst>
              <p:tags r:id="rId3"/>
            </p:custDataLst>
          </p:nvPr>
        </p:nvSpPr>
        <p:spPr>
          <a:xfrm>
            <a:off x="419735" y="321945"/>
            <a:ext cx="51193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基于</a:t>
            </a:r>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创建分类决策树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 name="文本框 1"/>
          <p:cNvSpPr txBox="1"/>
          <p:nvPr/>
        </p:nvSpPr>
        <p:spPr>
          <a:xfrm>
            <a:off x="271780" y="1126490"/>
            <a:ext cx="6640830" cy="368300"/>
          </a:xfrm>
          <a:prstGeom prst="rect">
            <a:avLst/>
          </a:prstGeom>
          <a:noFill/>
        </p:spPr>
        <p:txBody>
          <a:bodyPr wrap="square" rtlCol="0">
            <a:spAutoFit/>
          </a:bodyPr>
          <a:lstStyle/>
          <a:p>
            <a:r>
              <a:rPr lang="zh-CN" altLang="en-US" b="1"/>
              <a:t>通过</a:t>
            </a:r>
            <a:r>
              <a:rPr lang="en-US" altLang="zh-CN" b="1"/>
              <a:t>python</a:t>
            </a:r>
            <a:r>
              <a:rPr lang="zh-CN" altLang="en-US" b="1"/>
              <a:t>实现基于信息增益最大化划分属性的分类决策树创建</a:t>
            </a:r>
            <a:endParaRPr lang="zh-CN" altLang="en-US" b="1"/>
          </a:p>
        </p:txBody>
      </p:sp>
      <p:sp>
        <p:nvSpPr>
          <p:cNvPr id="3" name="文本框 2"/>
          <p:cNvSpPr txBox="1"/>
          <p:nvPr/>
        </p:nvSpPr>
        <p:spPr>
          <a:xfrm>
            <a:off x="354330" y="1494790"/>
            <a:ext cx="10921365" cy="368300"/>
          </a:xfrm>
          <a:prstGeom prst="rect">
            <a:avLst/>
          </a:prstGeom>
          <a:noFill/>
        </p:spPr>
        <p:txBody>
          <a:bodyPr wrap="square" rtlCol="0">
            <a:spAutoFit/>
          </a:bodyPr>
          <a:lstStyle/>
          <a:p>
            <a:r>
              <a:rPr lang="en-US" altLang="zh-CN" b="1"/>
              <a:t>3</a:t>
            </a:r>
            <a:r>
              <a:rPr lang="zh-CN" altLang="en-US" b="1"/>
              <a:t>）定义根据信息增益最大化确定最优划分属性函数</a:t>
            </a:r>
            <a:endParaRPr lang="zh-CN" altLang="en-US" b="1"/>
          </a:p>
        </p:txBody>
      </p:sp>
      <p:sp>
        <p:nvSpPr>
          <p:cNvPr id="9" name="文本框 8"/>
          <p:cNvSpPr txBox="1"/>
          <p:nvPr/>
        </p:nvSpPr>
        <p:spPr>
          <a:xfrm>
            <a:off x="544195" y="1777365"/>
            <a:ext cx="11080115" cy="5077460"/>
          </a:xfrm>
          <a:prstGeom prst="rect">
            <a:avLst/>
          </a:prstGeom>
          <a:noFill/>
        </p:spPr>
        <p:txBody>
          <a:bodyPr wrap="square" rtlCol="0" anchor="t">
            <a:spAutoFit/>
          </a:bodyPr>
          <a:lstStyle/>
          <a:p>
            <a:r>
              <a:rPr lang="zh-CN" altLang="en-US"/>
              <a:t>def chooseBestFeatureToSplit(dataSet):</a:t>
            </a:r>
            <a:endParaRPr lang="zh-CN" altLang="en-US"/>
          </a:p>
          <a:p>
            <a:r>
              <a:rPr lang="zh-CN" altLang="en-US"/>
              <a:t>    featureNum = len(dataSet[0]) - 1</a:t>
            </a:r>
            <a:r>
              <a:rPr lang="en-US" altLang="zh-CN"/>
              <a:t>                                               </a:t>
            </a:r>
            <a:r>
              <a:rPr lang="zh-CN" altLang="en-US">
                <a:sym typeface="+mn-ea"/>
              </a:rPr>
              <a:t>    # 1. 计算特征个数 -1 是减去最后一列标签列</a:t>
            </a:r>
            <a:endParaRPr lang="zh-CN" altLang="en-US"/>
          </a:p>
          <a:p>
            <a:r>
              <a:rPr lang="zh-CN" altLang="en-US"/>
              <a:t>    curEntropy = calcEntropy(dataSet)</a:t>
            </a:r>
            <a:r>
              <a:rPr lang="en-US" altLang="zh-CN"/>
              <a:t>                                   </a:t>
            </a:r>
            <a:r>
              <a:rPr lang="zh-CN" altLang="en-US">
                <a:sym typeface="+mn-ea"/>
              </a:rPr>
              <a:t>   </a:t>
            </a:r>
            <a:r>
              <a:rPr lang="en-US" altLang="zh-CN">
                <a:sym typeface="+mn-ea"/>
              </a:rPr>
              <a:t>         </a:t>
            </a:r>
            <a:r>
              <a:rPr lang="zh-CN" altLang="en-US">
                <a:sym typeface="+mn-ea"/>
              </a:rPr>
              <a:t> # 2. 计算当前（未特征划分时）熵值</a:t>
            </a:r>
            <a:endParaRPr lang="zh-CN" altLang="en-US"/>
          </a:p>
          <a:p>
            <a:r>
              <a:rPr lang="zh-CN" altLang="en-US"/>
              <a:t>    bestInfoGain = 0 </a:t>
            </a:r>
            <a:r>
              <a:rPr lang="en-US" altLang="zh-CN"/>
              <a:t>                                                                               </a:t>
            </a:r>
            <a:r>
              <a:rPr lang="zh-CN" altLang="en-US">
                <a:sym typeface="+mn-ea"/>
              </a:rPr>
              <a:t># 3. 找最好特征划分</a:t>
            </a:r>
            <a:r>
              <a:rPr lang="en-US" altLang="zh-CN">
                <a:sym typeface="+mn-ea"/>
              </a:rPr>
              <a:t> </a:t>
            </a:r>
            <a:endParaRPr lang="zh-CN" altLang="en-US"/>
          </a:p>
          <a:p>
            <a:r>
              <a:rPr lang="zh-CN" altLang="en-US"/>
              <a:t>    bestFeatureIndex = -1</a:t>
            </a:r>
            <a:endParaRPr lang="zh-CN" altLang="en-US"/>
          </a:p>
          <a:p>
            <a:r>
              <a:rPr lang="zh-CN" altLang="en-US"/>
              <a:t>    for i in range(featureNum):</a:t>
            </a:r>
            <a:endParaRPr lang="zh-CN" altLang="en-US"/>
          </a:p>
          <a:p>
            <a:r>
              <a:rPr lang="zh-CN" altLang="en-US"/>
              <a:t>        featList = [example[i] for example in dataSet]</a:t>
            </a:r>
            <a:r>
              <a:rPr lang="en-US" altLang="zh-CN"/>
              <a:t>                         </a:t>
            </a:r>
            <a:r>
              <a:rPr lang="zh-CN" altLang="en-US">
                <a:sym typeface="+mn-ea"/>
              </a:rPr>
              <a:t># 拿到当前列特征</a:t>
            </a:r>
            <a:endParaRPr lang="zh-CN" altLang="en-US"/>
          </a:p>
          <a:p>
            <a:r>
              <a:rPr lang="zh-CN" altLang="en-US"/>
              <a:t>        uniqueVals = set(featList)</a:t>
            </a:r>
            <a:r>
              <a:rPr lang="zh-CN" altLang="en-US">
                <a:sym typeface="+mn-ea"/>
              </a:rPr>
              <a:t>        </a:t>
            </a:r>
            <a:r>
              <a:rPr lang="en-US" altLang="zh-CN">
                <a:sym typeface="+mn-ea"/>
              </a:rPr>
              <a:t>                                                    </a:t>
            </a:r>
            <a:r>
              <a:rPr lang="zh-CN" altLang="en-US">
                <a:sym typeface="+mn-ea"/>
              </a:rPr>
              <a:t># 获取唯一值</a:t>
            </a:r>
            <a:endParaRPr lang="zh-CN" altLang="en-US"/>
          </a:p>
          <a:p>
            <a:r>
              <a:rPr lang="zh-CN" altLang="en-US"/>
              <a:t>        newEntropy = 0</a:t>
            </a:r>
            <a:r>
              <a:rPr lang="zh-CN" altLang="en-US">
                <a:sym typeface="+mn-ea"/>
              </a:rPr>
              <a:t>        </a:t>
            </a:r>
            <a:r>
              <a:rPr lang="en-US" altLang="zh-CN">
                <a:sym typeface="+mn-ea"/>
              </a:rPr>
              <a:t>                                                                     </a:t>
            </a:r>
            <a:r>
              <a:rPr lang="zh-CN" altLang="en-US">
                <a:sym typeface="+mn-ea"/>
              </a:rPr>
              <a:t># 新熵值</a:t>
            </a:r>
            <a:endParaRPr lang="zh-CN" altLang="en-US"/>
          </a:p>
          <a:p>
            <a:r>
              <a:rPr lang="zh-CN" altLang="en-US"/>
              <a:t>        for val in uniqueVals:</a:t>
            </a:r>
            <a:r>
              <a:rPr lang="zh-CN" altLang="en-US">
                <a:sym typeface="+mn-ea"/>
              </a:rPr>
              <a:t>        </a:t>
            </a:r>
            <a:r>
              <a:rPr lang="en-US" altLang="zh-CN">
                <a:sym typeface="+mn-ea"/>
              </a:rPr>
              <a:t>                                                            </a:t>
            </a:r>
            <a:r>
              <a:rPr lang="zh-CN" altLang="en-US">
                <a:sym typeface="+mn-ea"/>
              </a:rPr>
              <a:t># 计算分支（不同特征划分）的熵值</a:t>
            </a:r>
            <a:endParaRPr lang="zh-CN" altLang="en-US"/>
          </a:p>
          <a:p>
            <a:r>
              <a:rPr lang="zh-CN" altLang="en-US"/>
              <a:t>            subDataSet = splitDataSet(dataSet, i, val)</a:t>
            </a:r>
            <a:r>
              <a:rPr lang="zh-CN" altLang="en-US">
                <a:sym typeface="+mn-ea"/>
              </a:rPr>
              <a:t>            </a:t>
            </a:r>
            <a:r>
              <a:rPr lang="en-US" altLang="zh-CN">
                <a:sym typeface="+mn-ea"/>
              </a:rPr>
              <a:t>                </a:t>
            </a:r>
            <a:r>
              <a:rPr lang="zh-CN" altLang="en-US">
                <a:sym typeface="+mn-ea"/>
              </a:rPr>
              <a:t># 根据当前特征划分dataSet</a:t>
            </a:r>
            <a:endParaRPr lang="zh-CN" altLang="en-US"/>
          </a:p>
          <a:p>
            <a:r>
              <a:rPr lang="zh-CN" altLang="en-US"/>
              <a:t>            weight = len(subDataSet) / len(dataSet)</a:t>
            </a:r>
            <a:r>
              <a:rPr lang="zh-CN" altLang="en-US">
                <a:sym typeface="+mn-ea"/>
              </a:rPr>
              <a:t>           </a:t>
            </a:r>
            <a:r>
              <a:rPr lang="en-US" altLang="zh-CN">
                <a:sym typeface="+mn-ea"/>
              </a:rPr>
              <a:t>                  </a:t>
            </a:r>
            <a:r>
              <a:rPr lang="zh-CN" altLang="en-US">
                <a:sym typeface="+mn-ea"/>
              </a:rPr>
              <a:t> # 加权概率值</a:t>
            </a:r>
            <a:endParaRPr lang="zh-CN" altLang="en-US"/>
          </a:p>
          <a:p>
            <a:r>
              <a:rPr lang="zh-CN" altLang="en-US"/>
              <a:t>            newEntropy += (calcEntropy(subDataSet) * weight)</a:t>
            </a:r>
            <a:r>
              <a:rPr lang="en-US" altLang="zh-CN"/>
              <a:t>         </a:t>
            </a:r>
            <a:r>
              <a:rPr lang="zh-CN" altLang="en-US">
                <a:sym typeface="+mn-ea"/>
              </a:rPr>
              <a:t># 计算熵值，追加到新熵值中</a:t>
            </a:r>
            <a:endParaRPr lang="zh-CN" altLang="en-US"/>
          </a:p>
          <a:p>
            <a:r>
              <a:rPr lang="zh-CN" altLang="en-US"/>
              <a:t>        infoGain = curEntropy - newEntropy</a:t>
            </a:r>
            <a:r>
              <a:rPr lang="en-US" altLang="zh-CN"/>
              <a:t>                                       </a:t>
            </a:r>
            <a:r>
              <a:rPr lang="zh-CN" altLang="en-US">
                <a:sym typeface="+mn-ea"/>
              </a:rPr>
              <a:t> # 计算信息增益</a:t>
            </a:r>
            <a:endParaRPr lang="zh-CN" altLang="en-US"/>
          </a:p>
          <a:p>
            <a:r>
              <a:rPr lang="zh-CN" altLang="en-US"/>
              <a:t>        if bestInfoGain &lt; infoGain:</a:t>
            </a:r>
            <a:r>
              <a:rPr lang="en-US" altLang="zh-CN"/>
              <a:t>                                                         </a:t>
            </a:r>
            <a:r>
              <a:rPr lang="zh-CN" altLang="en-US">
                <a:sym typeface="+mn-ea"/>
              </a:rPr>
              <a:t># 更新最大信息增益</a:t>
            </a:r>
            <a:endParaRPr lang="zh-CN" altLang="en-US"/>
          </a:p>
          <a:p>
            <a:r>
              <a:rPr lang="zh-CN" altLang="en-US"/>
              <a:t>            bestInfoGain = infoGain</a:t>
            </a:r>
            <a:endParaRPr lang="zh-CN" altLang="en-US"/>
          </a:p>
          <a:p>
            <a:r>
              <a:rPr lang="zh-CN" altLang="en-US"/>
              <a:t>            bestFeatureIndex = i</a:t>
            </a:r>
            <a:r>
              <a:rPr lang="en-US" altLang="zh-CN"/>
              <a:t>                                                               </a:t>
            </a:r>
            <a:r>
              <a:rPr lang="zh-CN" altLang="en-US">
                <a:sym typeface="+mn-ea"/>
              </a:rPr>
              <a:t># 4. 返回</a:t>
            </a:r>
            <a:endParaRPr lang="zh-CN" altLang="en-US"/>
          </a:p>
          <a:p>
            <a:r>
              <a:rPr lang="zh-CN" altLang="en-US"/>
              <a:t>    return bestFeatureIndex</a:t>
            </a:r>
            <a:endParaRPr lang="zh-CN" altLang="en-US"/>
          </a:p>
        </p:txBody>
      </p:sp>
      <p:sp>
        <p:nvSpPr>
          <p:cNvPr id="12" name="文本框 11"/>
          <p:cNvSpPr txBox="1"/>
          <p:nvPr>
            <p:custDataLst>
              <p:tags r:id="rId3"/>
            </p:custDataLst>
          </p:nvPr>
        </p:nvSpPr>
        <p:spPr>
          <a:xfrm>
            <a:off x="419735" y="321945"/>
            <a:ext cx="51193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基于</a:t>
            </a:r>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创建分类决策树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 name="文本框 1"/>
          <p:cNvSpPr txBox="1"/>
          <p:nvPr/>
        </p:nvSpPr>
        <p:spPr>
          <a:xfrm>
            <a:off x="271780" y="1126490"/>
            <a:ext cx="6640830" cy="368300"/>
          </a:xfrm>
          <a:prstGeom prst="rect">
            <a:avLst/>
          </a:prstGeom>
          <a:noFill/>
        </p:spPr>
        <p:txBody>
          <a:bodyPr wrap="square" rtlCol="0">
            <a:spAutoFit/>
          </a:bodyPr>
          <a:lstStyle/>
          <a:p>
            <a:r>
              <a:rPr lang="zh-CN" altLang="en-US" b="1"/>
              <a:t>通过</a:t>
            </a:r>
            <a:r>
              <a:rPr lang="en-US" altLang="zh-CN" b="1"/>
              <a:t>python</a:t>
            </a:r>
            <a:r>
              <a:rPr lang="zh-CN" altLang="en-US" b="1"/>
              <a:t>实现基于信息增益最大化划分属性的分类决策树创建</a:t>
            </a:r>
            <a:endParaRPr lang="zh-CN" altLang="en-US" b="1"/>
          </a:p>
        </p:txBody>
      </p:sp>
      <p:sp>
        <p:nvSpPr>
          <p:cNvPr id="3" name="文本框 2"/>
          <p:cNvSpPr txBox="1"/>
          <p:nvPr/>
        </p:nvSpPr>
        <p:spPr>
          <a:xfrm>
            <a:off x="354330" y="1494790"/>
            <a:ext cx="10921365" cy="368300"/>
          </a:xfrm>
          <a:prstGeom prst="rect">
            <a:avLst/>
          </a:prstGeom>
          <a:noFill/>
        </p:spPr>
        <p:txBody>
          <a:bodyPr wrap="square" rtlCol="0">
            <a:spAutoFit/>
          </a:bodyPr>
          <a:lstStyle/>
          <a:p>
            <a:r>
              <a:rPr lang="en-US" altLang="zh-CN" b="1"/>
              <a:t>4</a:t>
            </a:r>
            <a:r>
              <a:rPr lang="zh-CN" altLang="en-US" b="1"/>
              <a:t>）定义训练集更新函数</a:t>
            </a:r>
            <a:endParaRPr lang="zh-CN" altLang="en-US" b="1"/>
          </a:p>
        </p:txBody>
      </p:sp>
      <p:sp>
        <p:nvSpPr>
          <p:cNvPr id="5" name="文本框 4"/>
          <p:cNvSpPr txBox="1"/>
          <p:nvPr/>
        </p:nvSpPr>
        <p:spPr>
          <a:xfrm>
            <a:off x="725805" y="1998345"/>
            <a:ext cx="9908540" cy="2306955"/>
          </a:xfrm>
          <a:prstGeom prst="rect">
            <a:avLst/>
          </a:prstGeom>
          <a:noFill/>
        </p:spPr>
        <p:txBody>
          <a:bodyPr wrap="square" rtlCol="0" anchor="t">
            <a:spAutoFit/>
          </a:bodyPr>
          <a:lstStyle/>
          <a:p>
            <a:r>
              <a:rPr lang="zh-CN" altLang="en-US"/>
              <a:t>def splitDataSet(dataSet, featureIndex, value):</a:t>
            </a:r>
            <a:endParaRPr lang="zh-CN" altLang="en-US"/>
          </a:p>
          <a:p>
            <a:r>
              <a:rPr lang="zh-CN" altLang="en-US"/>
              <a:t>    returnDataSet = []</a:t>
            </a:r>
            <a:endParaRPr lang="zh-CN" altLang="en-US"/>
          </a:p>
          <a:p>
            <a:r>
              <a:rPr lang="zh-CN" altLang="en-US"/>
              <a:t>    for featVec in dataSet:</a:t>
            </a:r>
            <a:endParaRPr lang="zh-CN" altLang="en-US"/>
          </a:p>
          <a:p>
            <a:r>
              <a:rPr lang="zh-CN" altLang="en-US"/>
              <a:t>        if featVec[featureIndex] == value:           </a:t>
            </a:r>
            <a:endParaRPr lang="zh-CN" altLang="en-US"/>
          </a:p>
          <a:p>
            <a:r>
              <a:rPr lang="zh-CN" altLang="en-US"/>
              <a:t>            deleteFeatVec = featVec[:featureIndex]</a:t>
            </a:r>
            <a:r>
              <a:rPr lang="en-US" altLang="zh-CN"/>
              <a:t>                       </a:t>
            </a:r>
            <a:r>
              <a:rPr lang="zh-CN" altLang="en-US">
                <a:sym typeface="+mn-ea"/>
              </a:rPr>
              <a:t> # 将featureIndex那一列删除</a:t>
            </a:r>
            <a:endParaRPr lang="zh-CN" altLang="en-US"/>
          </a:p>
          <a:p>
            <a:r>
              <a:rPr lang="zh-CN" altLang="en-US"/>
              <a:t>            deleteFeatVec.extend(featVec[featureIndex + 1:])</a:t>
            </a:r>
            <a:endParaRPr lang="zh-CN" altLang="en-US"/>
          </a:p>
          <a:p>
            <a:r>
              <a:rPr lang="zh-CN" altLang="en-US"/>
              <a:t>            returnDataSet.append(deleteFeatVec)</a:t>
            </a:r>
            <a:r>
              <a:rPr lang="en-US" altLang="zh-CN"/>
              <a:t>                        </a:t>
            </a:r>
            <a:r>
              <a:rPr lang="zh-CN" altLang="en-US">
                <a:sym typeface="+mn-ea"/>
              </a:rPr>
              <a:t> # 将删除后的样本追加到新的dataset中</a:t>
            </a:r>
            <a:endParaRPr lang="zh-CN" altLang="en-US"/>
          </a:p>
          <a:p>
            <a:r>
              <a:rPr lang="zh-CN" altLang="en-US"/>
              <a:t>    return returnDataSet</a:t>
            </a:r>
            <a:endParaRPr lang="zh-CN" altLang="en-US"/>
          </a:p>
        </p:txBody>
      </p:sp>
      <p:sp>
        <p:nvSpPr>
          <p:cNvPr id="6" name="文本框 5"/>
          <p:cNvSpPr txBox="1"/>
          <p:nvPr>
            <p:custDataLst>
              <p:tags r:id="rId3"/>
            </p:custDataLst>
          </p:nvPr>
        </p:nvSpPr>
        <p:spPr>
          <a:xfrm>
            <a:off x="419735" y="321945"/>
            <a:ext cx="51193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基于</a:t>
            </a:r>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创建分类决策树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 name="文本框 1"/>
          <p:cNvSpPr txBox="1"/>
          <p:nvPr/>
        </p:nvSpPr>
        <p:spPr>
          <a:xfrm>
            <a:off x="271780" y="1126490"/>
            <a:ext cx="6640830" cy="368300"/>
          </a:xfrm>
          <a:prstGeom prst="rect">
            <a:avLst/>
          </a:prstGeom>
          <a:noFill/>
        </p:spPr>
        <p:txBody>
          <a:bodyPr wrap="square" rtlCol="0">
            <a:spAutoFit/>
          </a:bodyPr>
          <a:lstStyle/>
          <a:p>
            <a:r>
              <a:rPr lang="zh-CN" altLang="en-US" b="1"/>
              <a:t>通过</a:t>
            </a:r>
            <a:r>
              <a:rPr lang="en-US" altLang="zh-CN" b="1"/>
              <a:t>python</a:t>
            </a:r>
            <a:r>
              <a:rPr lang="zh-CN" altLang="en-US" b="1"/>
              <a:t>实现基于信息增益最大化划分属性的分类决策树创建</a:t>
            </a:r>
            <a:endParaRPr lang="zh-CN" altLang="en-US" b="1"/>
          </a:p>
        </p:txBody>
      </p:sp>
      <p:sp>
        <p:nvSpPr>
          <p:cNvPr id="3" name="文本框 2"/>
          <p:cNvSpPr txBox="1"/>
          <p:nvPr/>
        </p:nvSpPr>
        <p:spPr>
          <a:xfrm>
            <a:off x="354330" y="1494790"/>
            <a:ext cx="10921365" cy="368300"/>
          </a:xfrm>
          <a:prstGeom prst="rect">
            <a:avLst/>
          </a:prstGeom>
          <a:noFill/>
        </p:spPr>
        <p:txBody>
          <a:bodyPr wrap="square" rtlCol="0">
            <a:spAutoFit/>
          </a:bodyPr>
          <a:lstStyle/>
          <a:p>
            <a:r>
              <a:rPr lang="en-US" altLang="zh-CN" b="1"/>
              <a:t>5</a:t>
            </a:r>
            <a:r>
              <a:rPr lang="zh-CN" altLang="en-US" b="1"/>
              <a:t>）定义创建分类决策树函数</a:t>
            </a:r>
            <a:endParaRPr lang="zh-CN" altLang="en-US" b="1"/>
          </a:p>
        </p:txBody>
      </p:sp>
      <p:sp>
        <p:nvSpPr>
          <p:cNvPr id="6" name="文本框 5"/>
          <p:cNvSpPr txBox="1"/>
          <p:nvPr/>
        </p:nvSpPr>
        <p:spPr>
          <a:xfrm>
            <a:off x="269240" y="1981200"/>
            <a:ext cx="11203940" cy="4523105"/>
          </a:xfrm>
          <a:prstGeom prst="rect">
            <a:avLst/>
          </a:prstGeom>
          <a:noFill/>
        </p:spPr>
        <p:txBody>
          <a:bodyPr wrap="square" rtlCol="0" anchor="t">
            <a:spAutoFit/>
          </a:bodyPr>
          <a:lstStyle/>
          <a:p>
            <a:r>
              <a:rPr lang="zh-CN" altLang="en-US"/>
              <a:t>def createTreeNode(dataSet, labels, featLabels):</a:t>
            </a:r>
            <a:endParaRPr lang="zh-CN" altLang="en-US"/>
          </a:p>
          <a:p>
            <a:r>
              <a:rPr lang="zh-CN" altLang="en-US"/>
              <a:t>    curLabelList = [example[-1] for example in dataSet]</a:t>
            </a:r>
            <a:r>
              <a:rPr lang="en-US" altLang="zh-CN"/>
              <a:t>                  </a:t>
            </a:r>
            <a:r>
              <a:rPr lang="zh-CN" altLang="en-US">
                <a:sym typeface="+mn-ea"/>
              </a:rPr>
              <a:t># 取出当前节点的样本的标签 -1 表示在最后一位</a:t>
            </a:r>
            <a:endParaRPr lang="zh-CN" altLang="en-US"/>
          </a:p>
          <a:p>
            <a:r>
              <a:rPr lang="zh-CN" altLang="en-US"/>
              <a:t>    if len(curLabelList) == curLabelList.count(curLabelList[0]):</a:t>
            </a:r>
            <a:r>
              <a:rPr lang="en-US" altLang="zh-CN"/>
              <a:t>       </a:t>
            </a:r>
            <a:r>
              <a:rPr lang="zh-CN" altLang="en-US">
                <a:sym typeface="+mn-ea"/>
              </a:rPr>
              <a:t># 判断当前节点的样本的标签是不是已经全为1个</a:t>
            </a:r>
            <a:endParaRPr lang="zh-CN" altLang="en-US"/>
          </a:p>
          <a:p>
            <a:r>
              <a:rPr lang="zh-CN" altLang="en-US"/>
              <a:t>       </a:t>
            </a:r>
            <a:r>
              <a:rPr lang="en-US" altLang="zh-CN"/>
              <a:t> </a:t>
            </a:r>
            <a:r>
              <a:rPr lang="zh-CN" altLang="en-US"/>
              <a:t>return curLabelList[0]</a:t>
            </a:r>
            <a:r>
              <a:rPr lang="en-US" altLang="zh-CN"/>
              <a:t>                                                                      </a:t>
            </a:r>
            <a:r>
              <a:rPr lang="zh-CN" altLang="en-US">
                <a:sym typeface="+mn-ea"/>
              </a:rPr>
              <a:t>值了，如果是则直接返回其唯一类别</a:t>
            </a:r>
            <a:endParaRPr lang="zh-CN" altLang="en-US"/>
          </a:p>
          <a:p>
            <a:r>
              <a:rPr lang="zh-CN" altLang="en-US"/>
              <a:t>    bestFeatIndex = chooseBestFeatureToSplit(dataSet)</a:t>
            </a:r>
            <a:r>
              <a:rPr lang="en-US" altLang="zh-CN"/>
              <a:t>               </a:t>
            </a:r>
            <a:r>
              <a:rPr lang="zh-CN" altLang="en-US">
                <a:sym typeface="+mn-ea"/>
              </a:rPr>
              <a:t> </a:t>
            </a:r>
            <a:r>
              <a:rPr lang="en-US" altLang="zh-CN">
                <a:sym typeface="+mn-ea"/>
              </a:rPr>
              <a:t>      </a:t>
            </a:r>
            <a:r>
              <a:rPr lang="zh-CN" altLang="en-US">
                <a:sym typeface="+mn-ea"/>
              </a:rPr>
              <a:t># 1. 选择最好的特征进行划分(返回值为索引)</a:t>
            </a:r>
            <a:endParaRPr lang="zh-CN" altLang="en-US"/>
          </a:p>
          <a:p>
            <a:r>
              <a:rPr lang="zh-CN" altLang="en-US"/>
              <a:t>    bestFeatLabel = labels[bestFeatIndex]</a:t>
            </a:r>
            <a:r>
              <a:rPr lang="en-US" altLang="zh-CN"/>
              <a:t>                                        </a:t>
            </a:r>
            <a:r>
              <a:rPr lang="zh-CN" altLang="en-US">
                <a:sym typeface="+mn-ea"/>
              </a:rPr>
              <a:t> </a:t>
            </a:r>
            <a:r>
              <a:rPr lang="en-US" altLang="zh-CN">
                <a:sym typeface="+mn-ea"/>
              </a:rPr>
              <a:t>      </a:t>
            </a:r>
            <a:r>
              <a:rPr lang="zh-CN" altLang="en-US">
                <a:sym typeface="+mn-ea"/>
              </a:rPr>
              <a:t># 2. 利用索引获取真实值</a:t>
            </a:r>
            <a:endParaRPr lang="zh-CN" altLang="en-US"/>
          </a:p>
          <a:p>
            <a:r>
              <a:rPr lang="zh-CN" altLang="en-US"/>
              <a:t>    featLabels.append(bestFeatLabel)</a:t>
            </a:r>
            <a:r>
              <a:rPr lang="en-US" altLang="zh-CN"/>
              <a:t>                                                      </a:t>
            </a:r>
            <a:r>
              <a:rPr lang="zh-CN" altLang="en-US">
                <a:sym typeface="+mn-ea"/>
              </a:rPr>
              <a:t># 3. 将特征划分加入当前决策树</a:t>
            </a:r>
            <a:endParaRPr lang="zh-CN" altLang="en-US"/>
          </a:p>
          <a:p>
            <a:r>
              <a:rPr lang="zh-CN" altLang="en-US"/>
              <a:t>    myTree = {bestFeatLabel: {}}</a:t>
            </a:r>
            <a:r>
              <a:rPr lang="en-US" altLang="zh-CN"/>
              <a:t>                                                          </a:t>
            </a:r>
            <a:r>
              <a:rPr lang="zh-CN" altLang="en-US">
                <a:sym typeface="+mn-ea"/>
              </a:rPr>
              <a:t> </a:t>
            </a:r>
            <a:r>
              <a:rPr lang="en-US" altLang="zh-CN">
                <a:sym typeface="+mn-ea"/>
              </a:rPr>
              <a:t>      </a:t>
            </a:r>
            <a:r>
              <a:rPr lang="zh-CN" altLang="en-US">
                <a:sym typeface="+mn-ea"/>
              </a:rPr>
              <a:t># 4. 构造当前节点</a:t>
            </a:r>
            <a:endParaRPr lang="zh-CN" altLang="en-US"/>
          </a:p>
          <a:p>
            <a:r>
              <a:rPr lang="zh-CN" altLang="en-US"/>
              <a:t>    del labels[bestFeatIndex]</a:t>
            </a:r>
            <a:r>
              <a:rPr lang="en-US" altLang="zh-CN"/>
              <a:t>                                                                      </a:t>
            </a:r>
            <a:r>
              <a:rPr lang="zh-CN" altLang="en-US">
                <a:sym typeface="+mn-ea"/>
              </a:rPr>
              <a:t># 5. 删除被选择的特征</a:t>
            </a:r>
            <a:endParaRPr lang="zh-CN" altLang="en-US"/>
          </a:p>
          <a:p>
            <a:r>
              <a:rPr lang="zh-CN" altLang="en-US"/>
              <a:t>    featValues = [example[bestFeatIndex] for example in dataSet]</a:t>
            </a:r>
            <a:r>
              <a:rPr lang="en-US" altLang="zh-CN"/>
              <a:t> </a:t>
            </a:r>
            <a:r>
              <a:rPr lang="zh-CN" altLang="en-US">
                <a:sym typeface="+mn-ea"/>
              </a:rPr>
              <a:t>    # 6. 获取当前最佳特征的那一列</a:t>
            </a:r>
            <a:endParaRPr lang="zh-CN" altLang="en-US"/>
          </a:p>
          <a:p>
            <a:r>
              <a:rPr lang="zh-CN" altLang="en-US"/>
              <a:t>    uniqueFeaValues = set(featValues)</a:t>
            </a:r>
            <a:r>
              <a:rPr lang="en-US" altLang="zh-CN"/>
              <a:t>                                                   </a:t>
            </a:r>
            <a:r>
              <a:rPr lang="zh-CN" altLang="en-US">
                <a:sym typeface="+mn-ea"/>
              </a:rPr>
              <a:t>   # 7. 去重(获取唯一值)</a:t>
            </a:r>
            <a:endParaRPr lang="zh-CN" altLang="en-US"/>
          </a:p>
          <a:p>
            <a:r>
              <a:rPr lang="zh-CN" altLang="en-US"/>
              <a:t>    for value in uniqueFeaValues:</a:t>
            </a:r>
            <a:r>
              <a:rPr lang="en-US" altLang="zh-CN"/>
              <a:t>                                                               </a:t>
            </a:r>
            <a:r>
              <a:rPr lang="zh-CN" altLang="en-US">
                <a:sym typeface="+mn-ea"/>
              </a:rPr>
              <a:t># 8. 对每个唯一值进行分支</a:t>
            </a:r>
            <a:endParaRPr lang="zh-CN" altLang="en-US"/>
          </a:p>
          <a:p>
            <a:r>
              <a:rPr lang="zh-CN" altLang="en-US"/>
              <a:t>        myTree[bestFeatLabel][value] = createTreeNode(</a:t>
            </a:r>
            <a:r>
              <a:rPr lang="en-US" altLang="zh-CN"/>
              <a:t>                        </a:t>
            </a:r>
            <a:r>
              <a:rPr lang="zh-CN" altLang="en-US">
                <a:sym typeface="+mn-ea"/>
              </a:rPr>
              <a:t># 递归创建树</a:t>
            </a:r>
            <a:endParaRPr lang="zh-CN" altLang="en-US"/>
          </a:p>
          <a:p>
            <a:r>
              <a:rPr lang="zh-CN" altLang="en-US"/>
              <a:t>            splitDataSet(dataSet, bestFeatIndex, value),</a:t>
            </a:r>
            <a:endParaRPr lang="zh-CN" altLang="en-US"/>
          </a:p>
          <a:p>
            <a:r>
              <a:rPr lang="zh-CN" altLang="en-US"/>
              <a:t> </a:t>
            </a:r>
            <a:r>
              <a:rPr lang="en-US" altLang="zh-CN"/>
              <a:t>          </a:t>
            </a:r>
            <a:r>
              <a:rPr lang="zh-CN" altLang="en-US"/>
              <a:t> labels.copy(), featLabels.copy())</a:t>
            </a:r>
            <a:endParaRPr lang="zh-CN" altLang="en-US"/>
          </a:p>
          <a:p>
            <a:r>
              <a:rPr lang="zh-CN" altLang="en-US"/>
              <a:t>    return myTree</a:t>
            </a:r>
            <a:r>
              <a:rPr lang="en-US" altLang="zh-CN"/>
              <a:t>                                                                                          </a:t>
            </a:r>
            <a:r>
              <a:rPr lang="zh-CN" altLang="en-US">
                <a:sym typeface="+mn-ea"/>
              </a:rPr>
              <a:t># 9. 返回</a:t>
            </a:r>
            <a:endParaRPr lang="en-US" altLang="zh-CN"/>
          </a:p>
        </p:txBody>
      </p:sp>
      <p:sp>
        <p:nvSpPr>
          <p:cNvPr id="7" name="文本框 6"/>
          <p:cNvSpPr txBox="1"/>
          <p:nvPr>
            <p:custDataLst>
              <p:tags r:id="rId3"/>
            </p:custDataLst>
          </p:nvPr>
        </p:nvSpPr>
        <p:spPr>
          <a:xfrm>
            <a:off x="419735" y="321945"/>
            <a:ext cx="51193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基于</a:t>
            </a:r>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创建分类决策树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 name="文本框 1"/>
          <p:cNvSpPr txBox="1"/>
          <p:nvPr/>
        </p:nvSpPr>
        <p:spPr>
          <a:xfrm>
            <a:off x="271780" y="1126490"/>
            <a:ext cx="6640830" cy="368300"/>
          </a:xfrm>
          <a:prstGeom prst="rect">
            <a:avLst/>
          </a:prstGeom>
          <a:noFill/>
        </p:spPr>
        <p:txBody>
          <a:bodyPr wrap="square" rtlCol="0">
            <a:spAutoFit/>
          </a:bodyPr>
          <a:lstStyle/>
          <a:p>
            <a:r>
              <a:rPr lang="zh-CN" altLang="en-US" b="1"/>
              <a:t>通过</a:t>
            </a:r>
            <a:r>
              <a:rPr lang="en-US" altLang="zh-CN" b="1"/>
              <a:t>python</a:t>
            </a:r>
            <a:r>
              <a:rPr lang="zh-CN" altLang="en-US" b="1"/>
              <a:t>实现基于信息增益最大化划分属性的分类决策树创建</a:t>
            </a:r>
            <a:endParaRPr lang="zh-CN" altLang="en-US" b="1"/>
          </a:p>
        </p:txBody>
      </p:sp>
      <p:sp>
        <p:nvSpPr>
          <p:cNvPr id="3" name="文本框 2"/>
          <p:cNvSpPr txBox="1"/>
          <p:nvPr/>
        </p:nvSpPr>
        <p:spPr>
          <a:xfrm>
            <a:off x="354330" y="1494790"/>
            <a:ext cx="10921365" cy="368300"/>
          </a:xfrm>
          <a:prstGeom prst="rect">
            <a:avLst/>
          </a:prstGeom>
          <a:noFill/>
        </p:spPr>
        <p:txBody>
          <a:bodyPr wrap="square" rtlCol="0">
            <a:spAutoFit/>
          </a:bodyPr>
          <a:lstStyle/>
          <a:p>
            <a:r>
              <a:rPr lang="en-US" altLang="zh-CN" b="1"/>
              <a:t>6</a:t>
            </a:r>
            <a:r>
              <a:rPr lang="zh-CN" altLang="en-US" b="1"/>
              <a:t>）创建分类决策树</a:t>
            </a:r>
            <a:endParaRPr lang="zh-CN" altLang="en-US" b="1"/>
          </a:p>
        </p:txBody>
      </p:sp>
      <p:sp>
        <p:nvSpPr>
          <p:cNvPr id="5" name="文本框 4"/>
          <p:cNvSpPr txBox="1"/>
          <p:nvPr/>
        </p:nvSpPr>
        <p:spPr>
          <a:xfrm>
            <a:off x="739140" y="2007235"/>
            <a:ext cx="6096000" cy="1753235"/>
          </a:xfrm>
          <a:prstGeom prst="rect">
            <a:avLst/>
          </a:prstGeom>
          <a:noFill/>
        </p:spPr>
        <p:txBody>
          <a:bodyPr wrap="square" rtlCol="0" anchor="t">
            <a:spAutoFit/>
          </a:bodyPr>
          <a:lstStyle/>
          <a:p>
            <a:r>
              <a:rPr lang="zh-CN" altLang="en-US"/>
              <a:t># 1. 获取数据集</a:t>
            </a:r>
            <a:endParaRPr lang="zh-CN" altLang="en-US"/>
          </a:p>
          <a:p>
            <a:r>
              <a:rPr lang="zh-CN" altLang="en-US"/>
              <a:t>dataSet,labels = createDataSet()</a:t>
            </a:r>
            <a:endParaRPr lang="zh-CN" altLang="en-US"/>
          </a:p>
          <a:p>
            <a:r>
              <a:rPr lang="zh-CN" altLang="en-US"/>
              <a:t># 2. 构建决策树</a:t>
            </a:r>
            <a:endParaRPr lang="zh-CN" altLang="en-US"/>
          </a:p>
          <a:p>
            <a:r>
              <a:rPr lang="zh-CN" altLang="en-US"/>
              <a:t>myDecisionTree = createTreeNode(dataSet,labels,[])</a:t>
            </a:r>
            <a:endParaRPr lang="zh-CN" altLang="en-US"/>
          </a:p>
          <a:p>
            <a:r>
              <a:rPr lang="zh-CN" altLang="en-US"/>
              <a:t># 3. 输出</a:t>
            </a:r>
            <a:endParaRPr lang="zh-CN" altLang="en-US"/>
          </a:p>
          <a:p>
            <a:r>
              <a:rPr lang="zh-CN" altLang="en-US"/>
              <a:t>print(myDecisionTree)</a:t>
            </a:r>
            <a:endParaRPr lang="zh-CN" altLang="en-US"/>
          </a:p>
        </p:txBody>
      </p:sp>
      <p:sp>
        <p:nvSpPr>
          <p:cNvPr id="9" name="文本框 8"/>
          <p:cNvSpPr txBox="1"/>
          <p:nvPr/>
        </p:nvSpPr>
        <p:spPr>
          <a:xfrm>
            <a:off x="180975" y="4794250"/>
            <a:ext cx="11699240" cy="368300"/>
          </a:xfrm>
          <a:prstGeom prst="rect">
            <a:avLst/>
          </a:prstGeom>
          <a:noFill/>
        </p:spPr>
        <p:txBody>
          <a:bodyPr wrap="square" rtlCol="0" anchor="t">
            <a:spAutoFit/>
          </a:bodyPr>
          <a:lstStyle/>
          <a:p>
            <a:r>
              <a:rPr lang="zh-CN" altLang="en-US" b="1"/>
              <a:t>{'F1-Age': {0: {'F2-Appearance': {0: {'F3-Income': {0: 'yes', 1: {'F4-Government': {0: 'yes', 1: 'no'}}, 2: 'no'}}, 1: 'no'}}, 1: 'no'}}</a:t>
            </a:r>
            <a:endParaRPr lang="zh-CN" altLang="en-US" b="1"/>
          </a:p>
        </p:txBody>
      </p:sp>
      <p:sp>
        <p:nvSpPr>
          <p:cNvPr id="12" name="文本框 11"/>
          <p:cNvSpPr txBox="1"/>
          <p:nvPr/>
        </p:nvSpPr>
        <p:spPr>
          <a:xfrm>
            <a:off x="180975" y="4272915"/>
            <a:ext cx="2788285" cy="368300"/>
          </a:xfrm>
          <a:prstGeom prst="rect">
            <a:avLst/>
          </a:prstGeom>
          <a:noFill/>
        </p:spPr>
        <p:txBody>
          <a:bodyPr wrap="square" rtlCol="0">
            <a:spAutoFit/>
          </a:bodyPr>
          <a:lstStyle/>
          <a:p>
            <a:r>
              <a:rPr lang="zh-CN" altLang="en-US" b="1"/>
              <a:t>最终输出结果：</a:t>
            </a:r>
            <a:endParaRPr lang="zh-CN" altLang="en-US" b="1"/>
          </a:p>
        </p:txBody>
      </p:sp>
      <p:sp>
        <p:nvSpPr>
          <p:cNvPr id="13" name="文本框 12"/>
          <p:cNvSpPr txBox="1"/>
          <p:nvPr>
            <p:custDataLst>
              <p:tags r:id="rId3"/>
            </p:custDataLst>
          </p:nvPr>
        </p:nvSpPr>
        <p:spPr>
          <a:xfrm>
            <a:off x="419735" y="321945"/>
            <a:ext cx="51193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基于</a:t>
            </a:r>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创建分类决策树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sym typeface="+mn-ea"/>
              </a:rPr>
              <a:t>基于python创建分类决策树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决策树剪枝</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1625" y="1470660"/>
            <a:ext cx="11285855" cy="1198880"/>
          </a:xfrm>
          <a:prstGeom prst="rect">
            <a:avLst/>
          </a:prstGeom>
          <a:noFill/>
        </p:spPr>
        <p:txBody>
          <a:bodyPr wrap="square" rtlCol="0">
            <a:spAutoFit/>
          </a:bodyPr>
          <a:lstStyle/>
          <a:p>
            <a:r>
              <a:rPr lang="zh-CN" altLang="en-US"/>
              <a:t>决策树训练过程中容易出现的问题：</a:t>
            </a:r>
            <a:r>
              <a:rPr lang="zh-CN" altLang="en-US" b="1">
                <a:solidFill>
                  <a:srgbClr val="0070C0"/>
                </a:solidFill>
              </a:rPr>
              <a:t>过拟合</a:t>
            </a:r>
            <a:endParaRPr lang="zh-CN" altLang="en-US"/>
          </a:p>
          <a:p>
            <a:endParaRPr lang="zh-CN" altLang="en-US"/>
          </a:p>
          <a:p>
            <a:r>
              <a:rPr lang="zh-CN" altLang="en-US" b="1">
                <a:solidFill>
                  <a:srgbClr val="0070C0"/>
                </a:solidFill>
              </a:rPr>
              <a:t>过拟合：</a:t>
            </a:r>
            <a:r>
              <a:rPr lang="zh-CN" altLang="en-US" dirty="0">
                <a:sym typeface="+mn-ea"/>
              </a:rPr>
              <a:t>对于一个假设，当存在其它的假设对训练样例的拟合比它差，但事实上在实例的整个分布上表现得却更好时，我们说这个假设过度拟合训练样例</a:t>
            </a:r>
            <a:endParaRPr lang="zh-CN" altLang="en-US"/>
          </a:p>
        </p:txBody>
      </p:sp>
      <p:sp>
        <p:nvSpPr>
          <p:cNvPr id="155652" name="Line 4"/>
          <p:cNvSpPr>
            <a:spLocks noChangeShapeType="1"/>
          </p:cNvSpPr>
          <p:nvPr/>
        </p:nvSpPr>
        <p:spPr bwMode="auto">
          <a:xfrm>
            <a:off x="3346133" y="3978593"/>
            <a:ext cx="0" cy="1682750"/>
          </a:xfrm>
          <a:prstGeom prst="line">
            <a:avLst/>
          </a:prstGeom>
          <a:noFill/>
          <a:ln w="28575">
            <a:solidFill>
              <a:schemeClr val="tx1"/>
            </a:solidFill>
            <a:round/>
            <a:head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dirty="0">
              <a:latin typeface="微软雅黑" panose="020B0503020204020204" charset="-122"/>
              <a:ea typeface="微软雅黑" panose="020B0503020204020204" charset="-122"/>
            </a:endParaRPr>
          </a:p>
        </p:txBody>
      </p:sp>
      <p:sp>
        <p:nvSpPr>
          <p:cNvPr id="155653" name="Line 5"/>
          <p:cNvSpPr>
            <a:spLocks noChangeShapeType="1"/>
          </p:cNvSpPr>
          <p:nvPr/>
        </p:nvSpPr>
        <p:spPr bwMode="auto">
          <a:xfrm>
            <a:off x="3333433" y="5661343"/>
            <a:ext cx="459581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dirty="0">
              <a:latin typeface="微软雅黑" panose="020B0503020204020204" charset="-122"/>
              <a:ea typeface="微软雅黑" panose="020B0503020204020204" charset="-122"/>
            </a:endParaRPr>
          </a:p>
        </p:txBody>
      </p:sp>
      <p:sp>
        <p:nvSpPr>
          <p:cNvPr id="155654" name="Text Box 6"/>
          <p:cNvSpPr txBox="1">
            <a:spLocks noChangeArrowheads="1"/>
          </p:cNvSpPr>
          <p:nvPr/>
        </p:nvSpPr>
        <p:spPr bwMode="auto">
          <a:xfrm>
            <a:off x="5067300" y="5826760"/>
            <a:ext cx="1466215" cy="34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46800">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0"/>
              </a:spcBef>
              <a:buSzTx/>
              <a:buFontTx/>
              <a:buNone/>
            </a:pPr>
            <a:r>
              <a:rPr lang="zh-CN" altLang="en-US" dirty="0">
                <a:solidFill>
                  <a:srgbClr val="FF0000"/>
                </a:solidFill>
                <a:latin typeface="Times New Roman" panose="02020603050405020304" charset="0"/>
                <a:ea typeface="微软雅黑" panose="020B0503020204020204" charset="-122"/>
              </a:rPr>
              <a:t>决策树规模</a:t>
            </a:r>
            <a:endParaRPr lang="zh-CN" altLang="en-US" dirty="0">
              <a:solidFill>
                <a:srgbClr val="FF0000"/>
              </a:solidFill>
              <a:latin typeface="Times New Roman" panose="02020603050405020304" charset="0"/>
              <a:ea typeface="微软雅黑" panose="020B0503020204020204" charset="-122"/>
            </a:endParaRPr>
          </a:p>
        </p:txBody>
      </p:sp>
      <p:sp>
        <p:nvSpPr>
          <p:cNvPr id="155655" name="Text Box 7"/>
          <p:cNvSpPr txBox="1">
            <a:spLocks noChangeArrowheads="1"/>
          </p:cNvSpPr>
          <p:nvPr/>
        </p:nvSpPr>
        <p:spPr bwMode="auto">
          <a:xfrm rot="16200000">
            <a:off x="2529302" y="4685330"/>
            <a:ext cx="1055370" cy="34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0"/>
              </a:spcBef>
              <a:buSzTx/>
              <a:buFontTx/>
              <a:buNone/>
            </a:pPr>
            <a:r>
              <a:rPr lang="en-US" altLang="zh-CN" dirty="0">
                <a:solidFill>
                  <a:srgbClr val="FF0000"/>
                </a:solidFill>
                <a:latin typeface="Times New Roman" panose="02020603050405020304" charset="0"/>
                <a:ea typeface="微软雅黑" panose="020B0503020204020204" charset="-122"/>
              </a:rPr>
              <a:t>accuracy</a:t>
            </a:r>
            <a:endParaRPr lang="en-US" altLang="zh-CN" dirty="0">
              <a:solidFill>
                <a:srgbClr val="FF0000"/>
              </a:solidFill>
              <a:latin typeface="Times New Roman" panose="02020603050405020304" charset="0"/>
              <a:ea typeface="微软雅黑" panose="020B0503020204020204" charset="-122"/>
            </a:endParaRPr>
          </a:p>
        </p:txBody>
      </p:sp>
      <p:sp>
        <p:nvSpPr>
          <p:cNvPr id="9" name="任意多边形 8"/>
          <p:cNvSpPr/>
          <p:nvPr/>
        </p:nvSpPr>
        <p:spPr>
          <a:xfrm>
            <a:off x="3354070" y="3933825"/>
            <a:ext cx="3251200" cy="1389380"/>
          </a:xfrm>
          <a:custGeom>
            <a:avLst/>
            <a:gdLst>
              <a:gd name="connisteX0" fmla="*/ 0 w 3251200"/>
              <a:gd name="connsiteY0" fmla="*/ 1389622 h 1389622"/>
              <a:gd name="connisteX1" fmla="*/ 72390 w 3251200"/>
              <a:gd name="connsiteY1" fmla="*/ 1097522 h 1389622"/>
              <a:gd name="connisteX2" fmla="*/ 148590 w 3251200"/>
              <a:gd name="connsiteY2" fmla="*/ 902577 h 1389622"/>
              <a:gd name="connisteX3" fmla="*/ 233045 w 3251200"/>
              <a:gd name="connsiteY3" fmla="*/ 712077 h 1389622"/>
              <a:gd name="connisteX4" fmla="*/ 427990 w 3251200"/>
              <a:gd name="connsiteY4" fmla="*/ 564122 h 1389622"/>
              <a:gd name="connisteX5" fmla="*/ 631190 w 3251200"/>
              <a:gd name="connsiteY5" fmla="*/ 437122 h 1389622"/>
              <a:gd name="connisteX6" fmla="*/ 1050290 w 3251200"/>
              <a:gd name="connsiteY6" fmla="*/ 289167 h 1389622"/>
              <a:gd name="connisteX7" fmla="*/ 1295400 w 3251200"/>
              <a:gd name="connsiteY7" fmla="*/ 195822 h 1389622"/>
              <a:gd name="connisteX8" fmla="*/ 1697990 w 3251200"/>
              <a:gd name="connsiteY8" fmla="*/ 119622 h 1389622"/>
              <a:gd name="connisteX9" fmla="*/ 2163445 w 3251200"/>
              <a:gd name="connsiteY9" fmla="*/ 43422 h 1389622"/>
              <a:gd name="connisteX10" fmla="*/ 2590800 w 3251200"/>
              <a:gd name="connsiteY10" fmla="*/ 43422 h 1389622"/>
              <a:gd name="connisteX11" fmla="*/ 2904490 w 3251200"/>
              <a:gd name="connsiteY11" fmla="*/ 5322 h 1389622"/>
              <a:gd name="connisteX12" fmla="*/ 3251200 w 3251200"/>
              <a:gd name="connsiteY12" fmla="*/ 877 h 138962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Lst>
            <a:rect l="l" t="t" r="r" b="b"/>
            <a:pathLst>
              <a:path w="3251200" h="1389623">
                <a:moveTo>
                  <a:pt x="0" y="1389623"/>
                </a:moveTo>
                <a:cubicBezTo>
                  <a:pt x="12700" y="1335013"/>
                  <a:pt x="42545" y="1194678"/>
                  <a:pt x="72390" y="1097523"/>
                </a:cubicBezTo>
                <a:cubicBezTo>
                  <a:pt x="102235" y="1000368"/>
                  <a:pt x="116205" y="979413"/>
                  <a:pt x="148590" y="902578"/>
                </a:cubicBezTo>
                <a:cubicBezTo>
                  <a:pt x="180975" y="825743"/>
                  <a:pt x="177165" y="780023"/>
                  <a:pt x="233045" y="712078"/>
                </a:cubicBezTo>
                <a:cubicBezTo>
                  <a:pt x="288925" y="644133"/>
                  <a:pt x="348615" y="619368"/>
                  <a:pt x="427990" y="564123"/>
                </a:cubicBezTo>
                <a:cubicBezTo>
                  <a:pt x="507365" y="508878"/>
                  <a:pt x="506730" y="492368"/>
                  <a:pt x="631190" y="437123"/>
                </a:cubicBezTo>
                <a:cubicBezTo>
                  <a:pt x="755650" y="381878"/>
                  <a:pt x="917575" y="337428"/>
                  <a:pt x="1050290" y="289168"/>
                </a:cubicBezTo>
                <a:cubicBezTo>
                  <a:pt x="1183005" y="240908"/>
                  <a:pt x="1165860" y="229478"/>
                  <a:pt x="1295400" y="195823"/>
                </a:cubicBezTo>
                <a:cubicBezTo>
                  <a:pt x="1424940" y="162168"/>
                  <a:pt x="1524635" y="150103"/>
                  <a:pt x="1697990" y="119623"/>
                </a:cubicBezTo>
                <a:cubicBezTo>
                  <a:pt x="1871345" y="89143"/>
                  <a:pt x="1985010" y="58663"/>
                  <a:pt x="2163445" y="43423"/>
                </a:cubicBezTo>
                <a:cubicBezTo>
                  <a:pt x="2341880" y="28183"/>
                  <a:pt x="2442845" y="51043"/>
                  <a:pt x="2590800" y="43423"/>
                </a:cubicBezTo>
                <a:cubicBezTo>
                  <a:pt x="2738755" y="35803"/>
                  <a:pt x="2772410" y="13578"/>
                  <a:pt x="2904490" y="5323"/>
                </a:cubicBezTo>
                <a:cubicBezTo>
                  <a:pt x="3036570" y="-2932"/>
                  <a:pt x="3188335" y="878"/>
                  <a:pt x="3251200" y="878"/>
                </a:cubicBezTo>
              </a:path>
            </a:pathLst>
          </a:custGeom>
          <a:ln w="12700"/>
        </p:spPr>
        <p:style>
          <a:lnRef idx="1">
            <a:schemeClr val="accent5"/>
          </a:lnRef>
          <a:fillRef idx="0">
            <a:schemeClr val="accent5"/>
          </a:fillRef>
          <a:effectRef idx="0">
            <a:schemeClr val="accent5"/>
          </a:effectRef>
          <a:fontRef idx="minor">
            <a:schemeClr val="tx1"/>
          </a:fontRef>
        </p:style>
        <p:txBody>
          <a:bodyPr rtlCol="0" anchor="ctr"/>
          <a:lstStyle/>
          <a:p>
            <a:pPr algn="ctr"/>
            <a:endParaRPr lang="zh-CN" altLang="en-US"/>
          </a:p>
        </p:txBody>
      </p:sp>
      <p:sp>
        <p:nvSpPr>
          <p:cNvPr id="10" name="任意多边形 9"/>
          <p:cNvSpPr/>
          <p:nvPr/>
        </p:nvSpPr>
        <p:spPr>
          <a:xfrm>
            <a:off x="3362960" y="4640580"/>
            <a:ext cx="3255645" cy="695325"/>
          </a:xfrm>
          <a:custGeom>
            <a:avLst/>
            <a:gdLst>
              <a:gd name="connisteX0" fmla="*/ 0 w 3255344"/>
              <a:gd name="connsiteY0" fmla="*/ 695572 h 695572"/>
              <a:gd name="connisteX1" fmla="*/ 101600 w 3255344"/>
              <a:gd name="connsiteY1" fmla="*/ 449827 h 695572"/>
              <a:gd name="connisteX2" fmla="*/ 207010 w 3255344"/>
              <a:gd name="connsiteY2" fmla="*/ 280917 h 695572"/>
              <a:gd name="connisteX3" fmla="*/ 325755 w 3255344"/>
              <a:gd name="connsiteY3" fmla="*/ 98672 h 695572"/>
              <a:gd name="connisteX4" fmla="*/ 482600 w 3255344"/>
              <a:gd name="connsiteY4" fmla="*/ 18027 h 695572"/>
              <a:gd name="connisteX5" fmla="*/ 749300 w 3255344"/>
              <a:gd name="connsiteY5" fmla="*/ 5327 h 695572"/>
              <a:gd name="connisteX6" fmla="*/ 1070610 w 3255344"/>
              <a:gd name="connsiteY6" fmla="*/ 68827 h 695572"/>
              <a:gd name="connisteX7" fmla="*/ 1341755 w 3255344"/>
              <a:gd name="connsiteY7" fmla="*/ 157727 h 695572"/>
              <a:gd name="connisteX8" fmla="*/ 1748155 w 3255344"/>
              <a:gd name="connsiteY8" fmla="*/ 259327 h 695572"/>
              <a:gd name="connisteX9" fmla="*/ 2192655 w 3255344"/>
              <a:gd name="connsiteY9" fmla="*/ 327272 h 695572"/>
              <a:gd name="connisteX10" fmla="*/ 2569210 w 3255344"/>
              <a:gd name="connsiteY10" fmla="*/ 416172 h 695572"/>
              <a:gd name="connisteX11" fmla="*/ 3064510 w 3255344"/>
              <a:gd name="connsiteY11" fmla="*/ 555872 h 695572"/>
              <a:gd name="connisteX12" fmla="*/ 3242310 w 3255344"/>
              <a:gd name="connsiteY12" fmla="*/ 627627 h 695572"/>
              <a:gd name="connisteX13" fmla="*/ 3229610 w 3255344"/>
              <a:gd name="connsiteY13" fmla="*/ 627627 h 69557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Lst>
            <a:rect l="l" t="t" r="r" b="b"/>
            <a:pathLst>
              <a:path w="3255344" h="695573">
                <a:moveTo>
                  <a:pt x="0" y="695573"/>
                </a:moveTo>
                <a:cubicBezTo>
                  <a:pt x="18415" y="649853"/>
                  <a:pt x="60325" y="533013"/>
                  <a:pt x="101600" y="449828"/>
                </a:cubicBezTo>
                <a:cubicBezTo>
                  <a:pt x="142875" y="366643"/>
                  <a:pt x="161925" y="351403"/>
                  <a:pt x="207010" y="280918"/>
                </a:cubicBezTo>
                <a:cubicBezTo>
                  <a:pt x="252095" y="210433"/>
                  <a:pt x="270510" y="151378"/>
                  <a:pt x="325755" y="98673"/>
                </a:cubicBezTo>
                <a:cubicBezTo>
                  <a:pt x="381000" y="45968"/>
                  <a:pt x="398145" y="36443"/>
                  <a:pt x="482600" y="18028"/>
                </a:cubicBezTo>
                <a:cubicBezTo>
                  <a:pt x="567055" y="-387"/>
                  <a:pt x="631825" y="-4832"/>
                  <a:pt x="749300" y="5328"/>
                </a:cubicBezTo>
                <a:cubicBezTo>
                  <a:pt x="866775" y="15488"/>
                  <a:pt x="951865" y="38348"/>
                  <a:pt x="1070610" y="68828"/>
                </a:cubicBezTo>
                <a:cubicBezTo>
                  <a:pt x="1189355" y="99308"/>
                  <a:pt x="1206500" y="119628"/>
                  <a:pt x="1341755" y="157728"/>
                </a:cubicBezTo>
                <a:cubicBezTo>
                  <a:pt x="1477010" y="195828"/>
                  <a:pt x="1577975" y="225673"/>
                  <a:pt x="1748155" y="259328"/>
                </a:cubicBezTo>
                <a:cubicBezTo>
                  <a:pt x="1918335" y="292983"/>
                  <a:pt x="2028190" y="296158"/>
                  <a:pt x="2192655" y="327273"/>
                </a:cubicBezTo>
                <a:cubicBezTo>
                  <a:pt x="2357120" y="358388"/>
                  <a:pt x="2394585" y="370453"/>
                  <a:pt x="2569210" y="416173"/>
                </a:cubicBezTo>
                <a:cubicBezTo>
                  <a:pt x="2743835" y="461893"/>
                  <a:pt x="2929890" y="513328"/>
                  <a:pt x="3064510" y="555873"/>
                </a:cubicBezTo>
                <a:cubicBezTo>
                  <a:pt x="3199130" y="598418"/>
                  <a:pt x="3209290" y="613023"/>
                  <a:pt x="3242310" y="627628"/>
                </a:cubicBezTo>
                <a:cubicBezTo>
                  <a:pt x="3275330" y="642233"/>
                  <a:pt x="3235960" y="628898"/>
                  <a:pt x="3229610" y="627628"/>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660515" y="3735705"/>
            <a:ext cx="1655445" cy="368300"/>
          </a:xfrm>
          <a:prstGeom prst="rect">
            <a:avLst/>
          </a:prstGeom>
          <a:noFill/>
        </p:spPr>
        <p:txBody>
          <a:bodyPr wrap="square" rtlCol="0">
            <a:spAutoFit/>
          </a:bodyPr>
          <a:lstStyle/>
          <a:p>
            <a:r>
              <a:rPr lang="en-US" altLang="zh-CN">
                <a:solidFill>
                  <a:srgbClr val="0070C0"/>
                </a:solidFill>
              </a:rPr>
              <a:t>training data</a:t>
            </a:r>
            <a:endParaRPr lang="en-US" altLang="zh-CN">
              <a:solidFill>
                <a:srgbClr val="0070C0"/>
              </a:solidFill>
            </a:endParaRPr>
          </a:p>
        </p:txBody>
      </p:sp>
      <p:sp>
        <p:nvSpPr>
          <p:cNvPr id="12" name="文本框 11"/>
          <p:cNvSpPr txBox="1"/>
          <p:nvPr/>
        </p:nvSpPr>
        <p:spPr>
          <a:xfrm>
            <a:off x="6731635" y="5069205"/>
            <a:ext cx="1655445" cy="368300"/>
          </a:xfrm>
          <a:prstGeom prst="rect">
            <a:avLst/>
          </a:prstGeom>
          <a:noFill/>
        </p:spPr>
        <p:txBody>
          <a:bodyPr wrap="square" rtlCol="0">
            <a:spAutoFit/>
          </a:bodyPr>
          <a:lstStyle/>
          <a:p>
            <a:r>
              <a:rPr lang="en-US" altLang="zh-CN">
                <a:solidFill>
                  <a:schemeClr val="accent6">
                    <a:lumMod val="75000"/>
                  </a:schemeClr>
                </a:solidFill>
              </a:rPr>
              <a:t>test data</a:t>
            </a:r>
            <a:endParaRPr lang="en-US" altLang="zh-CN">
              <a:solidFill>
                <a:schemeClr val="accent6">
                  <a:lumMod val="75000"/>
                </a:schemeClr>
              </a:solidFill>
            </a:endParaRPr>
          </a:p>
        </p:txBody>
      </p:sp>
      <p:sp>
        <p:nvSpPr>
          <p:cNvPr id="6" name="矩形 5"/>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7" name="矩形 6"/>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8" name="文本框 7"/>
          <p:cNvSpPr txBox="1"/>
          <p:nvPr>
            <p:custDataLst>
              <p:tags r:id="rId3"/>
            </p:custDataLst>
          </p:nvPr>
        </p:nvSpPr>
        <p:spPr>
          <a:xfrm>
            <a:off x="419735" y="321945"/>
            <a:ext cx="21729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决策树剪枝</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23215" y="1280160"/>
            <a:ext cx="11103610" cy="4633595"/>
          </a:xfrm>
          <a:prstGeom prst="rect">
            <a:avLst/>
          </a:prstGeom>
          <a:noFill/>
        </p:spPr>
        <p:txBody>
          <a:bodyPr wrap="square" rtlCol="0">
            <a:spAutoFit/>
          </a:bodyPr>
          <a:lstStyle/>
          <a:p>
            <a:r>
              <a:rPr lang="zh-CN" altLang="en-US"/>
              <a:t>导致过拟合的原因：</a:t>
            </a:r>
            <a:endParaRPr lang="zh-CN" altLang="en-US"/>
          </a:p>
          <a:p>
            <a:pPr>
              <a:lnSpc>
                <a:spcPct val="20000"/>
              </a:lnSpc>
            </a:pPr>
            <a:endParaRPr lang="zh-CN" altLang="en-US"/>
          </a:p>
          <a:p>
            <a:pPr indent="457200"/>
            <a:r>
              <a:rPr lang="en-US" altLang="zh-CN"/>
              <a:t>1</a:t>
            </a:r>
            <a:r>
              <a:rPr lang="zh-CN" altLang="en-US"/>
              <a:t>）训练样例含有随机错误或噪声</a:t>
            </a:r>
            <a:endParaRPr lang="zh-CN" altLang="en-US"/>
          </a:p>
          <a:p>
            <a:pPr indent="457200">
              <a:lnSpc>
                <a:spcPct val="20000"/>
              </a:lnSpc>
            </a:pPr>
            <a:endParaRPr lang="zh-CN" altLang="en-US"/>
          </a:p>
          <a:p>
            <a:pPr indent="457200"/>
            <a:r>
              <a:rPr lang="en-US" altLang="zh-CN"/>
              <a:t>2</a:t>
            </a:r>
            <a:r>
              <a:rPr lang="zh-CN" altLang="en-US"/>
              <a:t>）当训练数据没有噪声时，过度拟合也有可能发生，特别是当少量的样例被关联到叶子节点时，</a:t>
            </a:r>
            <a:endParaRPr lang="zh-CN" altLang="en-US"/>
          </a:p>
          <a:p>
            <a:pPr indent="457200"/>
            <a:r>
              <a:rPr lang="zh-CN" altLang="en-US"/>
              <a:t> </a:t>
            </a:r>
            <a:r>
              <a:rPr lang="en-US" altLang="zh-CN"/>
              <a:t>      </a:t>
            </a:r>
            <a:r>
              <a:rPr lang="zh-CN" altLang="en-US"/>
              <a:t>很可能出现巧合的规律性，使得一些属性恰巧可以很好地分割样例，但却与实际的目标函数并无关系</a:t>
            </a:r>
            <a:endParaRPr lang="zh-CN" altLang="en-US"/>
          </a:p>
          <a:p>
            <a:pPr indent="457200"/>
            <a:endParaRPr lang="zh-CN" altLang="en-US"/>
          </a:p>
          <a:p>
            <a:pPr indent="457200"/>
            <a:endParaRPr lang="zh-CN" altLang="en-US"/>
          </a:p>
          <a:p>
            <a:pPr marL="0" lvl="0" indent="0">
              <a:buNone/>
            </a:pPr>
            <a:r>
              <a:rPr lang="zh-CN" altLang="en-US" b="1">
                <a:solidFill>
                  <a:srgbClr val="0070C0"/>
                </a:solidFill>
              </a:rPr>
              <a:t>剪枝</a:t>
            </a:r>
            <a:r>
              <a:rPr lang="zh-CN" altLang="en-US">
                <a:solidFill>
                  <a:schemeClr val="tx1"/>
                </a:solidFill>
              </a:rPr>
              <a:t>是决策树学习算法防止过拟合的主要手段，决策树</a:t>
            </a:r>
            <a:r>
              <a:rPr lang="zh-CN" altLang="en-US" b="1">
                <a:solidFill>
                  <a:srgbClr val="0070C0"/>
                </a:solidFill>
              </a:rPr>
              <a:t>剪枝</a:t>
            </a:r>
            <a:r>
              <a:rPr lang="zh-CN" altLang="en-US">
                <a:solidFill>
                  <a:schemeClr val="tx1"/>
                </a:solidFill>
              </a:rPr>
              <a:t>的基本策略由</a:t>
            </a:r>
            <a:r>
              <a:rPr lang="zh-CN" altLang="en-US" b="1">
                <a:solidFill>
                  <a:srgbClr val="0070C0"/>
                </a:solidFill>
              </a:rPr>
              <a:t>预剪枝</a:t>
            </a:r>
            <a:r>
              <a:rPr lang="zh-CN" altLang="en-US">
                <a:solidFill>
                  <a:schemeClr val="tx1"/>
                </a:solidFill>
              </a:rPr>
              <a:t>和</a:t>
            </a:r>
            <a:r>
              <a:rPr lang="zh-CN" altLang="en-US" b="1">
                <a:solidFill>
                  <a:srgbClr val="0070C0"/>
                </a:solidFill>
              </a:rPr>
              <a:t>后剪枝</a:t>
            </a:r>
            <a:endParaRPr lang="zh-CN" altLang="en-US">
              <a:solidFill>
                <a:schemeClr val="tx1"/>
              </a:solidFill>
            </a:endParaRPr>
          </a:p>
          <a:p>
            <a:pPr marL="0" lvl="0" indent="0">
              <a:buNone/>
            </a:pPr>
            <a:endParaRPr lang="zh-CN" altLang="en-US">
              <a:solidFill>
                <a:schemeClr val="tx1"/>
              </a:solidFill>
            </a:endParaRPr>
          </a:p>
          <a:p>
            <a:pPr marL="0" lvl="0" indent="0">
              <a:buNone/>
            </a:pPr>
            <a:r>
              <a:rPr lang="zh-CN" altLang="en-US" b="1">
                <a:solidFill>
                  <a:srgbClr val="0070C0"/>
                </a:solidFill>
              </a:rPr>
              <a:t>预剪枝：</a:t>
            </a:r>
            <a:r>
              <a:rPr lang="zh-CN" altLang="en-US">
                <a:solidFill>
                  <a:schemeClr val="tx1"/>
                </a:solidFill>
              </a:rPr>
              <a:t>在决策树生成过程中，对每个结点在划分前先进行估计，若当前结点的划分不能带来决策树</a:t>
            </a:r>
            <a:r>
              <a:rPr lang="zh-CN" altLang="en-US"/>
              <a:t>泛化性</a:t>
            </a:r>
            <a:endParaRPr lang="zh-CN" altLang="en-US"/>
          </a:p>
          <a:p>
            <a:pPr marL="0" lvl="0" indent="0">
              <a:buNone/>
            </a:pPr>
            <a:r>
              <a:rPr lang="zh-CN" altLang="en-US"/>
              <a:t>                  能</a:t>
            </a:r>
            <a:r>
              <a:rPr lang="zh-CN" altLang="en-US">
                <a:solidFill>
                  <a:schemeClr val="tx1"/>
                </a:solidFill>
              </a:rPr>
              <a:t>的提升，则停止划分并将当前结点标记为叶结点</a:t>
            </a:r>
            <a:endParaRPr lang="zh-CN" altLang="en-US">
              <a:solidFill>
                <a:schemeClr val="tx1"/>
              </a:solidFill>
            </a:endParaRPr>
          </a:p>
          <a:p>
            <a:pPr marL="0" lvl="0" indent="0">
              <a:buNone/>
            </a:pPr>
            <a:endParaRPr lang="zh-CN" altLang="en-US">
              <a:solidFill>
                <a:schemeClr val="tx1"/>
              </a:solidFill>
            </a:endParaRPr>
          </a:p>
          <a:p>
            <a:pPr marL="0" lvl="0" indent="0">
              <a:buNone/>
            </a:pPr>
            <a:r>
              <a:rPr lang="zh-CN" altLang="en-US" b="1">
                <a:solidFill>
                  <a:srgbClr val="0070C0"/>
                </a:solidFill>
              </a:rPr>
              <a:t>后剪枝：</a:t>
            </a:r>
            <a:r>
              <a:rPr lang="zh-CN" altLang="en-US">
                <a:solidFill>
                  <a:schemeClr val="tx1"/>
                </a:solidFill>
              </a:rPr>
              <a:t>先从训练集中生成一棵完整的决策树，然后自底向上地对非叶结点进行考察，若将该结点对应的子</a:t>
            </a:r>
            <a:endParaRPr lang="zh-CN" altLang="en-US">
              <a:solidFill>
                <a:schemeClr val="tx1"/>
              </a:solidFill>
            </a:endParaRPr>
          </a:p>
          <a:p>
            <a:pPr marL="0" lvl="0" indent="0">
              <a:buNone/>
            </a:pPr>
            <a:r>
              <a:rPr lang="zh-CN" altLang="en-US">
                <a:solidFill>
                  <a:schemeClr val="tx1"/>
                </a:solidFill>
              </a:rPr>
              <a:t> </a:t>
            </a:r>
            <a:r>
              <a:rPr lang="en-US" altLang="zh-CN">
                <a:solidFill>
                  <a:schemeClr val="tx1"/>
                </a:solidFill>
              </a:rPr>
              <a:t>                 </a:t>
            </a:r>
            <a:r>
              <a:rPr lang="zh-CN" altLang="en-US">
                <a:solidFill>
                  <a:schemeClr val="tx1"/>
                </a:solidFill>
              </a:rPr>
              <a:t>树替换为叶结点能带来</a:t>
            </a:r>
            <a:r>
              <a:rPr lang="zh-CN" altLang="en-US"/>
              <a:t>泛化性能</a:t>
            </a:r>
            <a:r>
              <a:rPr lang="zh-CN" altLang="en-US">
                <a:solidFill>
                  <a:schemeClr val="tx1"/>
                </a:solidFill>
              </a:rPr>
              <a:t>的提升，则将该子树替换为叶结点</a:t>
            </a:r>
            <a:endParaRPr lang="zh-CN" altLang="en-US">
              <a:solidFill>
                <a:schemeClr val="tx1"/>
              </a:solidFill>
            </a:endParaRPr>
          </a:p>
          <a:p>
            <a:pPr marL="0" lvl="0" indent="0">
              <a:buNone/>
            </a:pPr>
            <a:endParaRPr lang="zh-CN" altLang="en-US">
              <a:solidFill>
                <a:schemeClr val="tx1"/>
              </a:solidFill>
            </a:endParaRPr>
          </a:p>
          <a:p>
            <a:pPr marL="0" lvl="0" indent="0">
              <a:buNone/>
            </a:pPr>
            <a:r>
              <a:rPr lang="zh-CN" altLang="en-US"/>
              <a:t>泛化性能</a:t>
            </a:r>
            <a:r>
              <a:rPr lang="zh-CN" altLang="en-US">
                <a:solidFill>
                  <a:schemeClr val="tx1"/>
                </a:solidFill>
              </a:rPr>
              <a:t>是否提升如何判断？--进行剪枝时，需要将原有的训练集划分成训练集+验证集，训练集用于生成决策树，验证集用于判断</a:t>
            </a:r>
            <a:r>
              <a:rPr lang="zh-CN" altLang="en-US"/>
              <a:t>泛化性能</a:t>
            </a:r>
            <a:r>
              <a:rPr lang="zh-CN" altLang="en-US">
                <a:solidFill>
                  <a:schemeClr val="tx1"/>
                </a:solidFill>
              </a:rPr>
              <a:t>是否提升，从而决定是否</a:t>
            </a:r>
            <a:r>
              <a:rPr lang="zh-CN" altLang="en-US"/>
              <a:t>剪枝</a:t>
            </a:r>
            <a:endParaRPr lang="zh-CN" altLang="en-US"/>
          </a:p>
        </p:txBody>
      </p:sp>
      <p:sp>
        <p:nvSpPr>
          <p:cNvPr id="6" name="矩形 5"/>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7" name="矩形 6"/>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8" name="文本框 7"/>
          <p:cNvSpPr txBox="1"/>
          <p:nvPr>
            <p:custDataLst>
              <p:tags r:id="rId3"/>
            </p:custDataLst>
          </p:nvPr>
        </p:nvSpPr>
        <p:spPr>
          <a:xfrm>
            <a:off x="419735" y="321945"/>
            <a:ext cx="21729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决策树剪枝</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97815" y="1191260"/>
            <a:ext cx="9525000" cy="368300"/>
          </a:xfrm>
          <a:prstGeom prst="rect">
            <a:avLst/>
          </a:prstGeom>
          <a:noFill/>
        </p:spPr>
        <p:txBody>
          <a:bodyPr wrap="square" rtlCol="0">
            <a:spAutoFit/>
          </a:bodyPr>
          <a:lstStyle/>
          <a:p>
            <a:r>
              <a:rPr lang="zh-CN" altLang="en-US"/>
              <a:t>例子：判断果蔬市场上的西瓜是不是好西瓜</a:t>
            </a:r>
            <a:endParaRPr lang="zh-CN" altLang="en-US"/>
          </a:p>
        </p:txBody>
      </p:sp>
      <p:pic>
        <p:nvPicPr>
          <p:cNvPr id="6" name="图片 5" descr="西瓜书数据集"/>
          <p:cNvPicPr>
            <a:picLocks noChangeAspect="1"/>
          </p:cNvPicPr>
          <p:nvPr/>
        </p:nvPicPr>
        <p:blipFill>
          <a:blip r:embed="rId1"/>
          <a:stretch>
            <a:fillRect/>
          </a:stretch>
        </p:blipFill>
        <p:spPr>
          <a:xfrm>
            <a:off x="3043555" y="1654810"/>
            <a:ext cx="6104890" cy="4911725"/>
          </a:xfrm>
          <a:prstGeom prst="rect">
            <a:avLst/>
          </a:prstGeom>
        </p:spPr>
      </p:pic>
      <p:sp>
        <p:nvSpPr>
          <p:cNvPr id="7" name="文本框 6"/>
          <p:cNvSpPr txBox="1"/>
          <p:nvPr/>
        </p:nvSpPr>
        <p:spPr>
          <a:xfrm>
            <a:off x="1715770" y="1821815"/>
            <a:ext cx="1195070" cy="368300"/>
          </a:xfrm>
          <a:prstGeom prst="rect">
            <a:avLst/>
          </a:prstGeom>
          <a:noFill/>
        </p:spPr>
        <p:txBody>
          <a:bodyPr wrap="square" rtlCol="0">
            <a:spAutoFit/>
          </a:bodyPr>
          <a:lstStyle/>
          <a:p>
            <a:r>
              <a:rPr lang="zh-CN" altLang="en-US"/>
              <a:t>训练集</a:t>
            </a:r>
            <a:r>
              <a:rPr lang="en-US" altLang="zh-CN"/>
              <a:t>D</a:t>
            </a:r>
            <a:r>
              <a:rPr lang="zh-CN" altLang="en-US"/>
              <a:t>：</a:t>
            </a:r>
            <a:endParaRPr lang="zh-CN" altLang="en-US"/>
          </a:p>
        </p:txBody>
      </p:sp>
      <p:sp>
        <p:nvSpPr>
          <p:cNvPr id="8" name="矩形 7"/>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9" name="矩形 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0" name="文本框 9"/>
          <p:cNvSpPr txBox="1"/>
          <p:nvPr>
            <p:custDataLst>
              <p:tags r:id="rId4"/>
            </p:custDataLst>
          </p:nvPr>
        </p:nvSpPr>
        <p:spPr>
          <a:xfrm>
            <a:off x="419735" y="321945"/>
            <a:ext cx="21729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决策树剪枝</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预剪枝1"/>
          <p:cNvPicPr>
            <a:picLocks noChangeAspect="1"/>
          </p:cNvPicPr>
          <p:nvPr/>
        </p:nvPicPr>
        <p:blipFill>
          <a:blip r:embed="rId1"/>
          <a:stretch>
            <a:fillRect/>
          </a:stretch>
        </p:blipFill>
        <p:spPr>
          <a:xfrm>
            <a:off x="365760" y="1724025"/>
            <a:ext cx="4229100" cy="2419350"/>
          </a:xfrm>
          <a:prstGeom prst="rect">
            <a:avLst/>
          </a:prstGeom>
        </p:spPr>
      </p:pic>
      <p:sp>
        <p:nvSpPr>
          <p:cNvPr id="7" name="文本框 6"/>
          <p:cNvSpPr txBox="1"/>
          <p:nvPr/>
        </p:nvSpPr>
        <p:spPr>
          <a:xfrm>
            <a:off x="365760" y="1212850"/>
            <a:ext cx="1355090" cy="306705"/>
          </a:xfrm>
          <a:prstGeom prst="rect">
            <a:avLst/>
          </a:prstGeom>
          <a:noFill/>
        </p:spPr>
        <p:txBody>
          <a:bodyPr wrap="square" rtlCol="0">
            <a:spAutoFit/>
          </a:bodyPr>
          <a:lstStyle/>
          <a:p>
            <a:r>
              <a:rPr lang="zh-CN" altLang="en-US" sz="1400"/>
              <a:t>未剪枝决策树：</a:t>
            </a:r>
            <a:endParaRPr lang="zh-CN" altLang="en-US" sz="1400"/>
          </a:p>
        </p:txBody>
      </p:sp>
      <p:sp>
        <p:nvSpPr>
          <p:cNvPr id="8" name="右箭头 7"/>
          <p:cNvSpPr/>
          <p:nvPr/>
        </p:nvSpPr>
        <p:spPr>
          <a:xfrm>
            <a:off x="4992370" y="2774950"/>
            <a:ext cx="1680210"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预剪枝2"/>
          <p:cNvPicPr>
            <a:picLocks noChangeAspect="1"/>
          </p:cNvPicPr>
          <p:nvPr/>
        </p:nvPicPr>
        <p:blipFill>
          <a:blip r:embed="rId2"/>
          <a:stretch>
            <a:fillRect/>
          </a:stretch>
        </p:blipFill>
        <p:spPr>
          <a:xfrm>
            <a:off x="6886575" y="1778000"/>
            <a:ext cx="5123815" cy="2311400"/>
          </a:xfrm>
          <a:prstGeom prst="rect">
            <a:avLst/>
          </a:prstGeom>
        </p:spPr>
      </p:pic>
      <p:sp>
        <p:nvSpPr>
          <p:cNvPr id="10" name="文本框 9"/>
          <p:cNvSpPr txBox="1"/>
          <p:nvPr/>
        </p:nvSpPr>
        <p:spPr>
          <a:xfrm>
            <a:off x="6923405" y="1271905"/>
            <a:ext cx="1355090" cy="306705"/>
          </a:xfrm>
          <a:prstGeom prst="rect">
            <a:avLst/>
          </a:prstGeom>
          <a:noFill/>
        </p:spPr>
        <p:txBody>
          <a:bodyPr wrap="square" rtlCol="0">
            <a:spAutoFit/>
          </a:bodyPr>
          <a:lstStyle/>
          <a:p>
            <a:r>
              <a:rPr lang="zh-CN" altLang="en-US" sz="1400"/>
              <a:t>预剪枝决策树：</a:t>
            </a:r>
            <a:endParaRPr lang="zh-CN" altLang="en-US" sz="1400"/>
          </a:p>
        </p:txBody>
      </p:sp>
      <p:sp>
        <p:nvSpPr>
          <p:cNvPr id="11" name="文本框 10"/>
          <p:cNvSpPr txBox="1"/>
          <p:nvPr/>
        </p:nvSpPr>
        <p:spPr>
          <a:xfrm>
            <a:off x="1030605" y="4773295"/>
            <a:ext cx="10184130" cy="922020"/>
          </a:xfrm>
          <a:prstGeom prst="rect">
            <a:avLst/>
          </a:prstGeom>
          <a:noFill/>
        </p:spPr>
        <p:txBody>
          <a:bodyPr wrap="square" rtlCol="0">
            <a:spAutoFit/>
          </a:bodyPr>
          <a:lstStyle/>
          <a:p>
            <a:r>
              <a:rPr lang="zh-CN" altLang="en-US" b="1">
                <a:solidFill>
                  <a:srgbClr val="0070C0"/>
                </a:solidFill>
              </a:rPr>
              <a:t>预剪枝：</a:t>
            </a:r>
            <a:r>
              <a:rPr lang="zh-CN" altLang="en-US"/>
              <a:t>在生成决策树时，自上而下的对每个结点进行分析，对一个结点进行划分后，通过验证集判断若该结点不划分</a:t>
            </a:r>
            <a:r>
              <a:rPr lang="en-US" altLang="zh-CN"/>
              <a:t>(</a:t>
            </a:r>
            <a:r>
              <a:rPr lang="zh-CN" altLang="en-US"/>
              <a:t>类别标记为该结点中训练样例数最多的类别</a:t>
            </a:r>
            <a:r>
              <a:rPr lang="en-US" altLang="zh-CN"/>
              <a:t>)</a:t>
            </a:r>
            <a:r>
              <a:rPr lang="zh-CN" altLang="en-US"/>
              <a:t>的验证集精度为多少，与划分后的验证集精度进行比较，若划分前的验证集精度大于或等于划分后的验证集精度，则剪枝，停止划分</a:t>
            </a:r>
            <a:endParaRPr lang="zh-CN" altLang="en-US"/>
          </a:p>
        </p:txBody>
      </p:sp>
      <p:sp>
        <p:nvSpPr>
          <p:cNvPr id="6" name="矩形 5"/>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2" name="矩形 11"/>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3" name="文本框 12"/>
          <p:cNvSpPr txBox="1"/>
          <p:nvPr>
            <p:custDataLst>
              <p:tags r:id="rId5"/>
            </p:custDataLst>
          </p:nvPr>
        </p:nvSpPr>
        <p:spPr>
          <a:xfrm>
            <a:off x="419735" y="321945"/>
            <a:ext cx="21729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决策树剪枝</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69570" y="1339850"/>
            <a:ext cx="11254740" cy="672465"/>
          </a:xfrm>
          <a:prstGeom prst="rect">
            <a:avLst/>
          </a:prstGeom>
          <a:noFill/>
        </p:spPr>
        <p:txBody>
          <a:bodyPr wrap="square" rtlCol="0">
            <a:spAutoFit/>
          </a:bodyPr>
          <a:lstStyle/>
          <a:p>
            <a:r>
              <a:rPr lang="zh-CN" altLang="en-US"/>
              <a:t>预剪枝的优点：预剪枝使得决策树的很多分支都没有展开，这不仅降低了过拟合的风险，还显著减少了决策树</a:t>
            </a:r>
            <a:endParaRPr lang="zh-CN" altLang="en-US"/>
          </a:p>
          <a:p>
            <a:pPr>
              <a:lnSpc>
                <a:spcPct val="10000"/>
              </a:lnSpc>
            </a:pPr>
            <a:r>
              <a:rPr lang="zh-CN" altLang="en-US"/>
              <a:t>                               </a:t>
            </a:r>
            <a:endParaRPr lang="zh-CN" altLang="en-US"/>
          </a:p>
          <a:p>
            <a:r>
              <a:rPr lang="zh-CN" altLang="en-US"/>
              <a:t>                               的训练时间开销和测试时间开销</a:t>
            </a:r>
            <a:endParaRPr lang="zh-CN" altLang="en-US"/>
          </a:p>
        </p:txBody>
      </p:sp>
      <p:sp>
        <p:nvSpPr>
          <p:cNvPr id="6" name="文本框 5"/>
          <p:cNvSpPr txBox="1"/>
          <p:nvPr/>
        </p:nvSpPr>
        <p:spPr>
          <a:xfrm>
            <a:off x="369570" y="3093085"/>
            <a:ext cx="11254740" cy="977265"/>
          </a:xfrm>
          <a:prstGeom prst="rect">
            <a:avLst/>
          </a:prstGeom>
          <a:noFill/>
        </p:spPr>
        <p:txBody>
          <a:bodyPr wrap="square" rtlCol="0">
            <a:spAutoFit/>
          </a:bodyPr>
          <a:lstStyle/>
          <a:p>
            <a:r>
              <a:rPr lang="zh-CN" altLang="en-US"/>
              <a:t>预剪枝的缺点：有些分支的当前划分虽不能提升泛化性能、甚至可能导致泛化性能暂时下降，但在其基础上进</a:t>
            </a:r>
            <a:endParaRPr lang="zh-CN" altLang="en-US"/>
          </a:p>
          <a:p>
            <a:pPr>
              <a:lnSpc>
                <a:spcPct val="20000"/>
              </a:lnSpc>
            </a:pPr>
            <a:endParaRPr lang="zh-CN" altLang="en-US"/>
          </a:p>
          <a:p>
            <a:r>
              <a:rPr lang="zh-CN" altLang="en-US"/>
              <a:t>                               行的后续划分却有可能导致性能显著提高；预剪枝基于“贪心”本质禁止这些分支展开，给预</a:t>
            </a:r>
            <a:r>
              <a:rPr lang="en-US" altLang="zh-CN"/>
              <a:t> </a:t>
            </a:r>
            <a:endParaRPr lang="en-US" altLang="zh-CN"/>
          </a:p>
          <a:p>
            <a:r>
              <a:rPr lang="en-US" altLang="zh-CN"/>
              <a:t>                               </a:t>
            </a:r>
            <a:r>
              <a:rPr lang="zh-CN" altLang="en-US"/>
              <a:t>剪枝决策树带来了欠拟合的风险</a:t>
            </a:r>
            <a:endParaRPr lang="zh-CN" altLang="en-US"/>
          </a:p>
        </p:txBody>
      </p:sp>
      <p:sp>
        <p:nvSpPr>
          <p:cNvPr id="7" name="文本框 6"/>
          <p:cNvSpPr txBox="1"/>
          <p:nvPr/>
        </p:nvSpPr>
        <p:spPr>
          <a:xfrm>
            <a:off x="369570" y="4959350"/>
            <a:ext cx="11254105" cy="700405"/>
          </a:xfrm>
          <a:prstGeom prst="rect">
            <a:avLst/>
          </a:prstGeom>
          <a:noFill/>
        </p:spPr>
        <p:txBody>
          <a:bodyPr wrap="square" rtlCol="0" anchor="t">
            <a:spAutoFit/>
          </a:bodyPr>
          <a:lstStyle/>
          <a:p>
            <a:r>
              <a:rPr lang="zh-CN" altLang="en-US"/>
              <a:t>贪心算法：在对问题求解时，总是做出在当前看来是最好的选择，而不从整体最优上加以考虑，算法得到的是</a:t>
            </a:r>
            <a:endParaRPr lang="zh-CN" altLang="en-US"/>
          </a:p>
          <a:p>
            <a:pPr>
              <a:lnSpc>
                <a:spcPct val="20000"/>
              </a:lnSpc>
            </a:pPr>
            <a:endParaRPr lang="zh-CN" altLang="en-US"/>
          </a:p>
          <a:p>
            <a:r>
              <a:rPr lang="zh-CN" altLang="en-US"/>
              <a:t> </a:t>
            </a:r>
            <a:r>
              <a:rPr lang="en-US" altLang="zh-CN"/>
              <a:t>                     </a:t>
            </a:r>
            <a:r>
              <a:rPr lang="zh-CN" altLang="en-US"/>
              <a:t>在某种意义上的局部最优解</a:t>
            </a:r>
            <a:endParaRPr lang="zh-CN" altLang="en-US"/>
          </a:p>
        </p:txBody>
      </p:sp>
      <p:sp>
        <p:nvSpPr>
          <p:cNvPr id="8" name="矩形 7"/>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9" name="矩形 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0" name="文本框 9"/>
          <p:cNvSpPr txBox="1"/>
          <p:nvPr>
            <p:custDataLst>
              <p:tags r:id="rId3"/>
            </p:custDataLst>
          </p:nvPr>
        </p:nvSpPr>
        <p:spPr>
          <a:xfrm>
            <a:off x="419735" y="321945"/>
            <a:ext cx="21729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决策树剪枝</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预剪枝1"/>
          <p:cNvPicPr>
            <a:picLocks noChangeAspect="1"/>
          </p:cNvPicPr>
          <p:nvPr>
            <p:custDataLst>
              <p:tags r:id="rId1"/>
            </p:custDataLst>
          </p:nvPr>
        </p:nvPicPr>
        <p:blipFill>
          <a:blip r:embed="rId2"/>
          <a:stretch>
            <a:fillRect/>
          </a:stretch>
        </p:blipFill>
        <p:spPr>
          <a:xfrm>
            <a:off x="365760" y="1724025"/>
            <a:ext cx="4229100" cy="2419350"/>
          </a:xfrm>
          <a:prstGeom prst="rect">
            <a:avLst/>
          </a:prstGeom>
        </p:spPr>
      </p:pic>
      <p:sp>
        <p:nvSpPr>
          <p:cNvPr id="7" name="文本框 6"/>
          <p:cNvSpPr txBox="1"/>
          <p:nvPr/>
        </p:nvSpPr>
        <p:spPr>
          <a:xfrm>
            <a:off x="365760" y="1212850"/>
            <a:ext cx="1355090" cy="306705"/>
          </a:xfrm>
          <a:prstGeom prst="rect">
            <a:avLst/>
          </a:prstGeom>
          <a:noFill/>
        </p:spPr>
        <p:txBody>
          <a:bodyPr wrap="square" rtlCol="0">
            <a:spAutoFit/>
          </a:bodyPr>
          <a:lstStyle/>
          <a:p>
            <a:r>
              <a:rPr lang="zh-CN" altLang="en-US" sz="1400"/>
              <a:t>未剪枝决策树：</a:t>
            </a:r>
            <a:endParaRPr lang="zh-CN" altLang="en-US" sz="1400"/>
          </a:p>
        </p:txBody>
      </p:sp>
      <p:sp>
        <p:nvSpPr>
          <p:cNvPr id="8" name="右箭头 7"/>
          <p:cNvSpPr/>
          <p:nvPr/>
        </p:nvSpPr>
        <p:spPr>
          <a:xfrm>
            <a:off x="4992370" y="2774950"/>
            <a:ext cx="1680210" cy="4527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923405" y="1271905"/>
            <a:ext cx="1355090" cy="306705"/>
          </a:xfrm>
          <a:prstGeom prst="rect">
            <a:avLst/>
          </a:prstGeom>
          <a:noFill/>
        </p:spPr>
        <p:txBody>
          <a:bodyPr wrap="square" rtlCol="0">
            <a:spAutoFit/>
          </a:bodyPr>
          <a:lstStyle/>
          <a:p>
            <a:r>
              <a:rPr lang="zh-CN" altLang="en-US" sz="1400"/>
              <a:t>后剪枝决策树：</a:t>
            </a:r>
            <a:endParaRPr lang="zh-CN" altLang="en-US" sz="1400"/>
          </a:p>
        </p:txBody>
      </p:sp>
      <p:pic>
        <p:nvPicPr>
          <p:cNvPr id="11" name="图片 10" descr="后剪枝2"/>
          <p:cNvPicPr>
            <a:picLocks noChangeAspect="1"/>
          </p:cNvPicPr>
          <p:nvPr/>
        </p:nvPicPr>
        <p:blipFill>
          <a:blip r:embed="rId3"/>
          <a:stretch>
            <a:fillRect/>
          </a:stretch>
        </p:blipFill>
        <p:spPr>
          <a:xfrm>
            <a:off x="6892925" y="1911350"/>
            <a:ext cx="4959350" cy="2044700"/>
          </a:xfrm>
          <a:prstGeom prst="rect">
            <a:avLst/>
          </a:prstGeom>
        </p:spPr>
      </p:pic>
      <p:sp>
        <p:nvSpPr>
          <p:cNvPr id="13" name="文本框 12"/>
          <p:cNvSpPr txBox="1"/>
          <p:nvPr/>
        </p:nvSpPr>
        <p:spPr>
          <a:xfrm>
            <a:off x="1052195" y="4523740"/>
            <a:ext cx="10184130" cy="1891665"/>
          </a:xfrm>
          <a:prstGeom prst="rect">
            <a:avLst/>
          </a:prstGeom>
          <a:noFill/>
        </p:spPr>
        <p:txBody>
          <a:bodyPr wrap="square" rtlCol="0">
            <a:spAutoFit/>
          </a:bodyPr>
          <a:lstStyle/>
          <a:p>
            <a:r>
              <a:rPr lang="zh-CN" altLang="en-US" b="1">
                <a:solidFill>
                  <a:srgbClr val="0070C0"/>
                </a:solidFill>
              </a:rPr>
              <a:t>后剪枝：</a:t>
            </a:r>
            <a:r>
              <a:rPr lang="zh-CN"/>
              <a:t>先生成完整的决策树，之后自下而上的对每个结点进行分析，</a:t>
            </a:r>
            <a:r>
              <a:rPr lang="zh-CN" altLang="en-US">
                <a:sym typeface="+mn-ea"/>
              </a:rPr>
              <a:t>对一个结点进行划分后，通过验证集判断若该结点不划分</a:t>
            </a:r>
            <a:r>
              <a:rPr lang="en-US" altLang="zh-CN">
                <a:sym typeface="+mn-ea"/>
              </a:rPr>
              <a:t>(</a:t>
            </a:r>
            <a:r>
              <a:rPr lang="zh-CN" altLang="en-US">
                <a:sym typeface="+mn-ea"/>
              </a:rPr>
              <a:t>类别标记为该结点中训练样例数最多的类别</a:t>
            </a:r>
            <a:r>
              <a:rPr lang="en-US" altLang="zh-CN">
                <a:sym typeface="+mn-ea"/>
              </a:rPr>
              <a:t>)</a:t>
            </a:r>
            <a:r>
              <a:rPr lang="zh-CN" altLang="en-US">
                <a:sym typeface="+mn-ea"/>
              </a:rPr>
              <a:t>的验证集精度为多少，与划分后的验证集精度进行比较，若划分前的验证集精度大于划分后的验证集精度，则剪枝</a:t>
            </a:r>
            <a:endParaRPr lang="zh-CN" altLang="en-US">
              <a:sym typeface="+mn-ea"/>
            </a:endParaRPr>
          </a:p>
          <a:p>
            <a:pPr>
              <a:lnSpc>
                <a:spcPct val="50000"/>
              </a:lnSpc>
            </a:pPr>
            <a:endParaRPr lang="zh-CN" altLang="en-US">
              <a:sym typeface="+mn-ea"/>
            </a:endParaRPr>
          </a:p>
          <a:p>
            <a:r>
              <a:rPr lang="en-US" altLang="zh-CN">
                <a:solidFill>
                  <a:srgbClr val="FF0000"/>
                </a:solidFill>
                <a:effectLst>
                  <a:outerShdw blurRad="38100" dist="25400" dir="5400000" algn="ctr" rotWithShape="0">
                    <a:srgbClr val="6E747A">
                      <a:alpha val="43000"/>
                    </a:srgbClr>
                  </a:outerShdw>
                </a:effectLst>
                <a:sym typeface="+mn-ea"/>
              </a:rPr>
              <a:t>--</a:t>
            </a:r>
            <a:r>
              <a:rPr lang="zh-CN" altLang="en-US">
                <a:solidFill>
                  <a:srgbClr val="FF0000"/>
                </a:solidFill>
                <a:effectLst>
                  <a:outerShdw blurRad="38100" dist="25400" dir="5400000" algn="ctr" rotWithShape="0">
                    <a:srgbClr val="6E747A">
                      <a:alpha val="43000"/>
                    </a:srgbClr>
                  </a:outerShdw>
                </a:effectLst>
                <a:sym typeface="+mn-ea"/>
              </a:rPr>
              <a:t>注意</a:t>
            </a:r>
            <a:r>
              <a:rPr lang="zh-CN" altLang="en-US">
                <a:sym typeface="+mn-ea"/>
              </a:rPr>
              <a:t>：这里是划分前验证集精度大于划分后验证集精度，而预剪枝是大于或等于，可以看出预剪枝倾向于获得最为简单的决策树，而后剪枝倾向于尽量保留原有决策树结构；即预剪枝能剪就剪，后剪枝能不剪就不剪</a:t>
            </a:r>
            <a:endParaRPr lang="zh-CN"/>
          </a:p>
        </p:txBody>
      </p:sp>
      <p:sp>
        <p:nvSpPr>
          <p:cNvPr id="6" name="矩形 5"/>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9" name="矩形 8"/>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6"/>
            </p:custDataLst>
          </p:nvPr>
        </p:nvSpPr>
        <p:spPr>
          <a:xfrm>
            <a:off x="419735" y="321945"/>
            <a:ext cx="21729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决策树剪枝</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69570" y="1339850"/>
            <a:ext cx="11254740" cy="727710"/>
          </a:xfrm>
          <a:prstGeom prst="rect">
            <a:avLst/>
          </a:prstGeom>
          <a:noFill/>
        </p:spPr>
        <p:txBody>
          <a:bodyPr wrap="square" rtlCol="0">
            <a:spAutoFit/>
          </a:bodyPr>
          <a:lstStyle/>
          <a:p>
            <a:r>
              <a:rPr lang="zh-CN" altLang="en-US"/>
              <a:t>后剪枝的</a:t>
            </a:r>
            <a:r>
              <a:rPr lang="zh-CN"/>
              <a:t>优点：后剪枝决策树通常比预剪枝决策树保留了更多的分支，一般情况下后剪枝决策树的欠拟合风险</a:t>
            </a:r>
            <a:endParaRPr lang="zh-CN"/>
          </a:p>
          <a:p>
            <a:pPr>
              <a:lnSpc>
                <a:spcPct val="30000"/>
              </a:lnSpc>
            </a:pPr>
            <a:endParaRPr lang="zh-CN"/>
          </a:p>
          <a:p>
            <a:r>
              <a:rPr lang="zh-CN"/>
              <a:t> </a:t>
            </a:r>
            <a:r>
              <a:rPr lang="en-US" altLang="zh-CN"/>
              <a:t>                              </a:t>
            </a:r>
            <a:r>
              <a:rPr lang="zh-CN"/>
              <a:t>很小，泛化性能往往优于预剪枝决策树</a:t>
            </a:r>
            <a:endParaRPr lang="zh-CN"/>
          </a:p>
        </p:txBody>
      </p:sp>
      <p:sp>
        <p:nvSpPr>
          <p:cNvPr id="6" name="文本框 5"/>
          <p:cNvSpPr txBox="1"/>
          <p:nvPr/>
        </p:nvSpPr>
        <p:spPr>
          <a:xfrm>
            <a:off x="369570" y="3093085"/>
            <a:ext cx="11254740" cy="700405"/>
          </a:xfrm>
          <a:prstGeom prst="rect">
            <a:avLst/>
          </a:prstGeom>
          <a:noFill/>
        </p:spPr>
        <p:txBody>
          <a:bodyPr wrap="square" rtlCol="0">
            <a:spAutoFit/>
          </a:bodyPr>
          <a:lstStyle/>
          <a:p>
            <a:r>
              <a:rPr lang="zh-CN" altLang="en-US"/>
              <a:t>后剪枝</a:t>
            </a:r>
            <a:r>
              <a:rPr lang="zh-CN"/>
              <a:t>的缺点：后剪枝过</a:t>
            </a:r>
            <a:r>
              <a:rPr lang="zh-CN" altLang="en-US"/>
              <a:t>程是在生成完整的决策树后进行的，并且要自底向上地对树中的所有非叶结点进行逐</a:t>
            </a:r>
            <a:endParaRPr lang="zh-CN" altLang="en-US"/>
          </a:p>
          <a:p>
            <a:pPr>
              <a:lnSpc>
                <a:spcPct val="20000"/>
              </a:lnSpc>
            </a:pPr>
            <a:endParaRPr lang="zh-CN" altLang="en-US"/>
          </a:p>
          <a:p>
            <a:r>
              <a:rPr lang="zh-CN" altLang="en-US"/>
              <a:t> </a:t>
            </a:r>
            <a:r>
              <a:rPr lang="en-US" altLang="zh-CN"/>
              <a:t>                              </a:t>
            </a:r>
            <a:r>
              <a:rPr lang="zh-CN" altLang="en-US"/>
              <a:t>一考察，因此其训练时间开销比未剪枝的决策树和预剪枝的决策树都要大得多</a:t>
            </a:r>
            <a:endParaRPr lang="zh-CN" altLang="en-US"/>
          </a:p>
        </p:txBody>
      </p:sp>
      <p:sp>
        <p:nvSpPr>
          <p:cNvPr id="7" name="矩形 6"/>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8" name="矩形 7"/>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9" name="文本框 8"/>
          <p:cNvSpPr txBox="1"/>
          <p:nvPr>
            <p:custDataLst>
              <p:tags r:id="rId3"/>
            </p:custDataLst>
          </p:nvPr>
        </p:nvSpPr>
        <p:spPr>
          <a:xfrm>
            <a:off x="419735" y="321945"/>
            <a:ext cx="217297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决策树剪枝</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sym typeface="+mn-ea"/>
              </a:rPr>
              <a:t>基于python创建分类决策树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连续值与缺失值处理</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01625" y="973455"/>
                <a:ext cx="11353800" cy="5469255"/>
              </a:xfrm>
              <a:prstGeom prst="rect">
                <a:avLst/>
              </a:prstGeom>
              <a:noFill/>
            </p:spPr>
            <p:txBody>
              <a:bodyPr wrap="square" rtlCol="0">
                <a:spAutoFit/>
              </a:bodyPr>
              <a:lstStyle/>
              <a:p>
                <a:r>
                  <a:rPr lang="zh-CN" altLang="en-US" b="1">
                    <a:solidFill>
                      <a:srgbClr val="0070C0"/>
                    </a:solidFill>
                  </a:rPr>
                  <a:t>连续值处理</a:t>
                </a:r>
                <a:endParaRPr lang="zh-CN" altLang="en-US" b="1">
                  <a:solidFill>
                    <a:srgbClr val="0070C0"/>
                  </a:solidFill>
                </a:endParaRPr>
              </a:p>
              <a:p>
                <a:pPr>
                  <a:lnSpc>
                    <a:spcPct val="40000"/>
                  </a:lnSpc>
                </a:pPr>
                <a:endParaRPr lang="zh-CN" altLang="en-US" b="1">
                  <a:solidFill>
                    <a:srgbClr val="0070C0"/>
                  </a:solidFill>
                </a:endParaRPr>
              </a:p>
              <a:p>
                <a:pPr indent="457200"/>
                <a:r>
                  <a:rPr lang="zh-CN" altLang="en-US"/>
                  <a:t>之前讨论的决策树中属性集</a:t>
                </a:r>
                <a:r>
                  <a:rPr lang="en-US" altLang="zh-CN"/>
                  <a:t>A</a:t>
                </a:r>
                <a:r>
                  <a:rPr lang="zh-CN" altLang="en-US"/>
                  <a:t>中的属性</a:t>
                </a:r>
                <a:r>
                  <a:rPr lang="en-US" altLang="zh-CN"/>
                  <a:t>a</a:t>
                </a:r>
                <a:r>
                  <a:rPr lang="zh-CN" altLang="en-US"/>
                  <a:t>可取的值均为离散值，例如西瓜的色泽</a:t>
                </a:r>
                <a:r>
                  <a:rPr lang="en-US" altLang="zh-CN"/>
                  <a:t>={</a:t>
                </a:r>
                <a:r>
                  <a:rPr lang="zh-CN" altLang="en-US"/>
                  <a:t>青绿、乌黑、浅白</a:t>
                </a:r>
                <a:r>
                  <a:rPr lang="en-US" altLang="zh-CN"/>
                  <a:t>}</a:t>
                </a:r>
                <a:r>
                  <a:rPr lang="zh-CN" altLang="en-US"/>
                  <a:t>。而当属性</a:t>
                </a:r>
                <a:r>
                  <a:rPr lang="en-US" altLang="zh-CN"/>
                  <a:t>a</a:t>
                </a:r>
                <a:r>
                  <a:rPr lang="zh-CN" altLang="en-US"/>
                  <a:t>可取的值时</a:t>
                </a:r>
                <a:r>
                  <a:rPr lang="zh-CN" altLang="en-US" b="1">
                    <a:solidFill>
                      <a:srgbClr val="0070C0"/>
                    </a:solidFill>
                  </a:rPr>
                  <a:t>连续值</a:t>
                </a:r>
                <a:r>
                  <a:rPr lang="zh-CN" altLang="en-US"/>
                  <a:t>时，例如西瓜的密度、含糖率等，此时该如何训练决策树呢？或者说此时该如何选择结点的最优划分属性呢？</a:t>
                </a:r>
                <a:endParaRPr lang="zh-CN" altLang="en-US"/>
              </a:p>
              <a:p>
                <a:endParaRPr lang="en-US" altLang="zh-CN"/>
              </a:p>
              <a:p>
                <a:pPr indent="457200"/>
                <a:r>
                  <a:rPr lang="en-US" altLang="zh-CN"/>
                  <a:t>--</a:t>
                </a:r>
                <a:r>
                  <a:rPr lang="zh-CN" altLang="en-US"/>
                  <a:t>通过</a:t>
                </a:r>
                <a:r>
                  <a:rPr lang="zh-CN" altLang="en-US" b="1">
                    <a:solidFill>
                      <a:srgbClr val="0070C0"/>
                    </a:solidFill>
                  </a:rPr>
                  <a:t>连续属性离散化技术</a:t>
                </a:r>
                <a:r>
                  <a:rPr lang="zh-CN" altLang="en-US"/>
                  <a:t>实现，最简单的策略便是采用</a:t>
                </a:r>
                <a:r>
                  <a:rPr lang="zh-CN" altLang="en-US" b="1">
                    <a:solidFill>
                      <a:srgbClr val="0070C0"/>
                    </a:solidFill>
                  </a:rPr>
                  <a:t>二分法</a:t>
                </a:r>
                <a:r>
                  <a:rPr lang="zh-CN" altLang="en-US"/>
                  <a:t>对连续属性进行处理</a:t>
                </a:r>
                <a:r>
                  <a:rPr lang="en-US" altLang="zh-CN"/>
                  <a:t>(C4.5</a:t>
                </a:r>
                <a:r>
                  <a:rPr lang="zh-CN" altLang="en-US"/>
                  <a:t>决策树算法</a:t>
                </a:r>
                <a:r>
                  <a:rPr lang="en-US" altLang="zh-CN"/>
                  <a:t>)</a:t>
                </a:r>
                <a:endParaRPr lang="en-US" altLang="zh-CN"/>
              </a:p>
              <a:p>
                <a:pPr indent="457200"/>
                <a:endParaRPr lang="en-US" altLang="zh-CN"/>
              </a:p>
              <a:p>
                <a:pPr marL="0" lvl="0" indent="0">
                  <a:buNone/>
                </a:pPr>
                <a:r>
                  <a:rPr lang="zh-CN" altLang="en-US">
                    <a:solidFill>
                      <a:schemeClr val="tx1"/>
                    </a:solidFill>
                  </a:rPr>
                  <a:t>给定样本集</a:t>
                </a:r>
                <a:r>
                  <a:rPr lang="en-US" altLang="zh-CN">
                    <a:solidFill>
                      <a:schemeClr val="tx1"/>
                    </a:solidFill>
                  </a:rPr>
                  <a:t>D</a:t>
                </a:r>
                <a:r>
                  <a:rPr lang="zh-CN" altLang="en-US">
                    <a:solidFill>
                      <a:schemeClr val="tx1"/>
                    </a:solidFill>
                  </a:rPr>
                  <a:t>和连续属性</a:t>
                </a:r>
                <a:r>
                  <a:rPr lang="en-US" altLang="zh-CN">
                    <a:solidFill>
                      <a:schemeClr val="tx1"/>
                    </a:solidFill>
                  </a:rPr>
                  <a:t>a</a:t>
                </a:r>
                <a:r>
                  <a:rPr lang="zh-CN" altLang="en-US">
                    <a:solidFill>
                      <a:schemeClr val="tx1"/>
                    </a:solidFill>
                  </a:rPr>
                  <a:t>，假定</a:t>
                </a:r>
                <a:r>
                  <a:rPr lang="en-US" altLang="zh-CN">
                    <a:solidFill>
                      <a:schemeClr val="tx1"/>
                    </a:solidFill>
                  </a:rPr>
                  <a:t>a</a:t>
                </a:r>
                <a:r>
                  <a:rPr lang="zh-CN" altLang="en-US">
                    <a:solidFill>
                      <a:schemeClr val="tx1"/>
                    </a:solidFill>
                  </a:rPr>
                  <a:t>在</a:t>
                </a:r>
                <a:r>
                  <a:rPr lang="en-US" altLang="zh-CN">
                    <a:solidFill>
                      <a:schemeClr val="tx1"/>
                    </a:solidFill>
                  </a:rPr>
                  <a:t>D</a:t>
                </a:r>
                <a:r>
                  <a:rPr lang="zh-CN" altLang="en-US">
                    <a:solidFill>
                      <a:schemeClr val="tx1"/>
                    </a:solidFill>
                  </a:rPr>
                  <a:t>上出现了</a:t>
                </a:r>
                <a:r>
                  <a:rPr lang="en-US" altLang="zh-CN">
                    <a:solidFill>
                      <a:schemeClr val="tx1"/>
                    </a:solidFill>
                  </a:rPr>
                  <a:t>n</a:t>
                </a:r>
                <a:r>
                  <a:rPr lang="zh-CN" altLang="en-US">
                    <a:solidFill>
                      <a:schemeClr val="tx1"/>
                    </a:solidFill>
                  </a:rPr>
                  <a:t>个不同的取值，将这些值从小到大进行排序，记为</a:t>
                </a:r>
                <a:r>
                  <a:rPr lang="en-US" altLang="zh-CN">
                    <a:solidFill>
                      <a:schemeClr val="tx1"/>
                    </a:solidFill>
                  </a:rPr>
                  <a:t>{</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1</m:t>
                        </m:r>
                      </m:sup>
                    </m:s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2</m:t>
                        </m:r>
                      </m:sup>
                    </m:s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𝑛</m:t>
                        </m:r>
                      </m:sup>
                    </m:sSup>
                  </m:oMath>
                </a14:m>
                <a:r>
                  <a:rPr lang="en-US" altLang="zh-CN">
                    <a:solidFill>
                      <a:schemeClr val="tx1"/>
                    </a:solidFill>
                  </a:rPr>
                  <a:t>}</a:t>
                </a:r>
                <a:r>
                  <a:rPr lang="zh-CN" altLang="en-US">
                    <a:solidFill>
                      <a:schemeClr val="tx1"/>
                    </a:solidFill>
                  </a:rPr>
                  <a:t>，基于划分点</a:t>
                </a:r>
                <a:r>
                  <a:rPr lang="en-US" altLang="zh-CN">
                    <a:solidFill>
                      <a:schemeClr val="tx1"/>
                    </a:solidFill>
                  </a:rPr>
                  <a:t>t</a:t>
                </a:r>
                <a:r>
                  <a:rPr lang="zh-CN" altLang="en-US">
                    <a:solidFill>
                      <a:schemeClr val="tx1"/>
                    </a:solidFill>
                  </a:rPr>
                  <a:t>可将</a:t>
                </a:r>
                <a:r>
                  <a:rPr lang="en-US" altLang="zh-CN">
                    <a:solidFill>
                      <a:schemeClr val="tx1"/>
                    </a:solidFill>
                  </a:rPr>
                  <a:t>D</a:t>
                </a:r>
                <a:r>
                  <a:rPr lang="zh-CN" altLang="en-US">
                    <a:solidFill>
                      <a:schemeClr val="tx1"/>
                    </a:solidFill>
                  </a:rPr>
                  <a:t>分为子集</a:t>
                </a:r>
                <a14:m>
                  <m:oMath xmlns:m="http://schemas.openxmlformats.org/officeDocument/2006/math">
                    <m:sSubSup>
                      <m:sSubSupPr>
                        <m:ctrlPr>
                          <a:rPr lang="en-US" altLang="zh-CN" i="1">
                            <a:solidFill>
                              <a:schemeClr val="tx1"/>
                            </a:solidFill>
                            <a:latin typeface="Cambria Math" panose="02040503050406030204" pitchFamily="18" charset="0"/>
                            <a:cs typeface="Cambria Math" panose="02040503050406030204" pitchFamily="18" charset="0"/>
                          </a:rPr>
                        </m:ctrlPr>
                      </m:sSubSup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𝑡</m:t>
                        </m:r>
                      </m:sub>
                      <m:sup>
                        <m:r>
                          <a:rPr lang="en-US" altLang="zh-CN" i="1">
                            <a:solidFill>
                              <a:schemeClr val="tx1"/>
                            </a:solidFill>
                            <a:latin typeface="Cambria Math" panose="02040503050406030204" pitchFamily="18" charset="0"/>
                            <a:cs typeface="Cambria Math" panose="02040503050406030204" pitchFamily="18" charset="0"/>
                          </a:rPr>
                          <m:t>−</m:t>
                        </m:r>
                      </m:sup>
                    </m:sSubSup>
                  </m:oMath>
                </a14:m>
                <a:r>
                  <a:rPr lang="zh-CN" altLang="en-US">
                    <a:solidFill>
                      <a:schemeClr val="tx1"/>
                    </a:solidFill>
                    <a:latin typeface="Cambria Math" panose="02040503050406030204" pitchFamily="18" charset="0"/>
                    <a:cs typeface="Cambria Math" panose="02040503050406030204" pitchFamily="18" charset="0"/>
                  </a:rPr>
                  <a:t>和</a:t>
                </a:r>
                <a14:m>
                  <m:oMath xmlns:m="http://schemas.openxmlformats.org/officeDocument/2006/math">
                    <m:sSubSup>
                      <m:sSubSupPr>
                        <m:ctrlPr>
                          <a:rPr lang="en-US" altLang="zh-CN" i="1">
                            <a:solidFill>
                              <a:schemeClr val="tx1"/>
                            </a:solidFill>
                            <a:latin typeface="Cambria Math" panose="02040503050406030204" pitchFamily="18" charset="0"/>
                            <a:cs typeface="Cambria Math" panose="02040503050406030204" pitchFamily="18" charset="0"/>
                          </a:rPr>
                        </m:ctrlPr>
                      </m:sSubSup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𝑡</m:t>
                        </m:r>
                      </m:sub>
                      <m:sup>
                        <m:r>
                          <a:rPr lang="en-US" altLang="zh-CN" i="1">
                            <a:solidFill>
                              <a:schemeClr val="tx1"/>
                            </a:solidFill>
                            <a:latin typeface="Cambria Math" panose="02040503050406030204" pitchFamily="18" charset="0"/>
                            <a:cs typeface="Cambria Math" panose="02040503050406030204" pitchFamily="18" charset="0"/>
                          </a:rPr>
                          <m:t>+</m:t>
                        </m:r>
                      </m:sup>
                    </m:sSubSup>
                  </m:oMath>
                </a14:m>
                <a:r>
                  <a:rPr lang="zh-CN" altLang="en-US">
                    <a:solidFill>
                      <a:schemeClr val="tx1"/>
                    </a:solidFill>
                    <a:latin typeface="Cambria Math" panose="02040503050406030204" pitchFamily="18" charset="0"/>
                    <a:cs typeface="Cambria Math" panose="02040503050406030204" pitchFamily="18" charset="0"/>
                  </a:rPr>
                  <a:t>，其中</a:t>
                </a:r>
                <a14:m>
                  <m:oMath xmlns:m="http://schemas.openxmlformats.org/officeDocument/2006/math">
                    <m:sSubSup>
                      <m:sSubSupPr>
                        <m:ctrlPr>
                          <a:rPr lang="en-US" altLang="zh-CN" i="1">
                            <a:solidFill>
                              <a:schemeClr val="tx1"/>
                            </a:solidFill>
                            <a:latin typeface="Cambria Math" panose="02040503050406030204" pitchFamily="18" charset="0"/>
                            <a:cs typeface="Cambria Math" panose="02040503050406030204" pitchFamily="18" charset="0"/>
                          </a:rPr>
                        </m:ctrlPr>
                      </m:sSubSup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𝑡</m:t>
                        </m:r>
                      </m:sub>
                      <m:sup>
                        <m:r>
                          <a:rPr lang="en-US" altLang="zh-CN" i="1">
                            <a:solidFill>
                              <a:schemeClr val="tx1"/>
                            </a:solidFill>
                            <a:latin typeface="Cambria Math" panose="02040503050406030204" pitchFamily="18" charset="0"/>
                            <a:cs typeface="Cambria Math" panose="02040503050406030204" pitchFamily="18" charset="0"/>
                          </a:rPr>
                          <m:t>−</m:t>
                        </m:r>
                      </m:sup>
                    </m:sSubSup>
                  </m:oMath>
                </a14:m>
                <a:r>
                  <a:rPr lang="zh-CN" altLang="en-US">
                    <a:solidFill>
                      <a:schemeClr val="tx1"/>
                    </a:solidFill>
                    <a:latin typeface="Cambria Math" panose="02040503050406030204" pitchFamily="18" charset="0"/>
                    <a:cs typeface="Cambria Math" panose="02040503050406030204" pitchFamily="18" charset="0"/>
                  </a:rPr>
                  <a:t>包含那些在属性</a:t>
                </a:r>
                <a:r>
                  <a:rPr lang="en-US" altLang="zh-CN">
                    <a:solidFill>
                      <a:schemeClr val="tx1"/>
                    </a:solidFill>
                    <a:latin typeface="Cambria Math" panose="02040503050406030204" pitchFamily="18" charset="0"/>
                    <a:cs typeface="Cambria Math" panose="02040503050406030204" pitchFamily="18" charset="0"/>
                  </a:rPr>
                  <a:t>a</a:t>
                </a:r>
                <a:r>
                  <a:rPr lang="zh-CN" altLang="en-US">
                    <a:solidFill>
                      <a:schemeClr val="tx1"/>
                    </a:solidFill>
                    <a:latin typeface="Cambria Math" panose="02040503050406030204" pitchFamily="18" charset="0"/>
                    <a:cs typeface="Cambria Math" panose="02040503050406030204" pitchFamily="18" charset="0"/>
                  </a:rPr>
                  <a:t>上取值不大于</a:t>
                </a:r>
                <a:r>
                  <a:rPr lang="en-US" altLang="zh-CN">
                    <a:solidFill>
                      <a:schemeClr val="tx1"/>
                    </a:solidFill>
                    <a:latin typeface="Cambria Math" panose="02040503050406030204" pitchFamily="18" charset="0"/>
                    <a:cs typeface="Cambria Math" panose="02040503050406030204" pitchFamily="18" charset="0"/>
                  </a:rPr>
                  <a:t>t</a:t>
                </a:r>
                <a:r>
                  <a:rPr lang="zh-CN" altLang="en-US">
                    <a:solidFill>
                      <a:schemeClr val="tx1"/>
                    </a:solidFill>
                    <a:latin typeface="Cambria Math" panose="02040503050406030204" pitchFamily="18" charset="0"/>
                    <a:cs typeface="Cambria Math" panose="02040503050406030204" pitchFamily="18" charset="0"/>
                  </a:rPr>
                  <a:t>的样本，而</a:t>
                </a:r>
                <a14:m>
                  <m:oMath xmlns:m="http://schemas.openxmlformats.org/officeDocument/2006/math">
                    <m:sSubSup>
                      <m:sSubSupPr>
                        <m:ctrlPr>
                          <a:rPr lang="en-US" altLang="zh-CN" i="1">
                            <a:solidFill>
                              <a:schemeClr val="tx1"/>
                            </a:solidFill>
                            <a:latin typeface="Cambria Math" panose="02040503050406030204" pitchFamily="18" charset="0"/>
                            <a:cs typeface="Cambria Math" panose="02040503050406030204" pitchFamily="18" charset="0"/>
                          </a:rPr>
                        </m:ctrlPr>
                      </m:sSubSup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𝑡</m:t>
                        </m:r>
                      </m:sub>
                      <m:sup>
                        <m:r>
                          <a:rPr lang="en-US" altLang="zh-CN" i="1">
                            <a:solidFill>
                              <a:schemeClr val="tx1"/>
                            </a:solidFill>
                            <a:latin typeface="Cambria Math" panose="02040503050406030204" pitchFamily="18" charset="0"/>
                            <a:cs typeface="Cambria Math" panose="02040503050406030204" pitchFamily="18" charset="0"/>
                          </a:rPr>
                          <m:t>+</m:t>
                        </m:r>
                      </m:sup>
                    </m:sSubSup>
                  </m:oMath>
                </a14:m>
                <a:r>
                  <a:rPr lang="zh-CN" altLang="en-US">
                    <a:solidFill>
                      <a:schemeClr val="tx1"/>
                    </a:solidFill>
                    <a:latin typeface="Cambria Math" panose="02040503050406030204" pitchFamily="18" charset="0"/>
                    <a:cs typeface="Cambria Math" panose="02040503050406030204" pitchFamily="18" charset="0"/>
                  </a:rPr>
                  <a:t>则包含那些在属性</a:t>
                </a:r>
                <a:r>
                  <a:rPr lang="en-US" altLang="zh-CN">
                    <a:solidFill>
                      <a:schemeClr val="tx1"/>
                    </a:solidFill>
                    <a:latin typeface="Cambria Math" panose="02040503050406030204" pitchFamily="18" charset="0"/>
                    <a:cs typeface="Cambria Math" panose="02040503050406030204" pitchFamily="18" charset="0"/>
                  </a:rPr>
                  <a:t>a</a:t>
                </a:r>
                <a:r>
                  <a:rPr lang="zh-CN" altLang="en-US">
                    <a:solidFill>
                      <a:schemeClr val="tx1"/>
                    </a:solidFill>
                    <a:latin typeface="Cambria Math" panose="02040503050406030204" pitchFamily="18" charset="0"/>
                    <a:cs typeface="Cambria Math" panose="02040503050406030204" pitchFamily="18" charset="0"/>
                  </a:rPr>
                  <a:t>上取值大于</a:t>
                </a:r>
                <a:r>
                  <a:rPr lang="en-US" altLang="zh-CN">
                    <a:solidFill>
                      <a:schemeClr val="tx1"/>
                    </a:solidFill>
                    <a:latin typeface="Cambria Math" panose="02040503050406030204" pitchFamily="18" charset="0"/>
                    <a:cs typeface="Cambria Math" panose="02040503050406030204" pitchFamily="18" charset="0"/>
                  </a:rPr>
                  <a:t>t</a:t>
                </a:r>
                <a:r>
                  <a:rPr lang="zh-CN" altLang="en-US">
                    <a:solidFill>
                      <a:schemeClr val="tx1"/>
                    </a:solidFill>
                    <a:latin typeface="Cambria Math" panose="02040503050406030204" pitchFamily="18" charset="0"/>
                    <a:cs typeface="Cambria Math" panose="02040503050406030204" pitchFamily="18" charset="0"/>
                  </a:rPr>
                  <a:t>的样本。显然，对于相邻的属性取值</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𝑖</m:t>
                        </m:r>
                      </m:sup>
                    </m:sSup>
                  </m:oMath>
                </a14:m>
                <a:r>
                  <a:rPr lang="zh-CN" altLang="en-US">
                    <a:solidFill>
                      <a:schemeClr val="tx1"/>
                    </a:solidFill>
                    <a:latin typeface="Cambria Math" panose="02040503050406030204" pitchFamily="18" charset="0"/>
                    <a:cs typeface="Cambria Math" panose="02040503050406030204" pitchFamily="18" charset="0"/>
                  </a:rPr>
                  <a:t>和</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𝑖</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sup>
                    </m:sSup>
                  </m:oMath>
                </a14:m>
                <a:r>
                  <a:rPr lang="zh-CN" altLang="en-US">
                    <a:solidFill>
                      <a:schemeClr val="tx1"/>
                    </a:solidFill>
                    <a:latin typeface="Cambria Math" panose="02040503050406030204" pitchFamily="18" charset="0"/>
                    <a:cs typeface="Cambria Math" panose="02040503050406030204" pitchFamily="18" charset="0"/>
                  </a:rPr>
                  <a:t>来说，</a:t>
                </a:r>
                <a:r>
                  <a:rPr lang="en-US" altLang="zh-CN">
                    <a:solidFill>
                      <a:schemeClr val="tx1"/>
                    </a:solidFill>
                    <a:latin typeface="Cambria Math" panose="02040503050406030204" pitchFamily="18" charset="0"/>
                    <a:cs typeface="Cambria Math" panose="02040503050406030204" pitchFamily="18" charset="0"/>
                  </a:rPr>
                  <a:t>t</a:t>
                </a:r>
                <a:r>
                  <a:rPr lang="zh-CN" altLang="en-US">
                    <a:solidFill>
                      <a:schemeClr val="tx1"/>
                    </a:solidFill>
                    <a:latin typeface="Cambria Math" panose="02040503050406030204" pitchFamily="18" charset="0"/>
                    <a:cs typeface="Cambria Math" panose="02040503050406030204" pitchFamily="18" charset="0"/>
                  </a:rPr>
                  <a:t>在区间</a:t>
                </a:r>
                <a:r>
                  <a:rPr lang="en-US" altLang="zh-CN">
                    <a:solidFill>
                      <a:schemeClr val="tx1"/>
                    </a:solidFill>
                    <a:latin typeface="Cambria Math" panose="02040503050406030204" pitchFamily="18" charset="0"/>
                    <a:cs typeface="Cambria Math" panose="02040503050406030204" pitchFamily="18" charset="0"/>
                  </a:rPr>
                  <a:t>[</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𝑖</m:t>
                        </m:r>
                      </m:sup>
                    </m:sSup>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𝑖</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sup>
                    </m:sSup>
                  </m:oMath>
                </a14:m>
                <a:r>
                  <a:rPr lang="en-US" altLang="zh-CN">
                    <a:solidFill>
                      <a:schemeClr val="tx1"/>
                    </a:solidFill>
                    <a:latin typeface="Cambria Math" panose="02040503050406030204" pitchFamily="18" charset="0"/>
                    <a:cs typeface="Cambria Math" panose="02040503050406030204" pitchFamily="18" charset="0"/>
                  </a:rPr>
                  <a:t>)</a:t>
                </a:r>
                <a:r>
                  <a:rPr lang="zh-CN" altLang="en-US">
                    <a:solidFill>
                      <a:schemeClr val="tx1"/>
                    </a:solidFill>
                    <a:latin typeface="Cambria Math" panose="02040503050406030204" pitchFamily="18" charset="0"/>
                    <a:cs typeface="Cambria Math" panose="02040503050406030204" pitchFamily="18" charset="0"/>
                  </a:rPr>
                  <a:t>中取任何值所产生的的划分结果相同，因此便设置中位点作为候选划分点，对连续属性</a:t>
                </a:r>
                <a:r>
                  <a:rPr lang="en-US" altLang="zh-CN">
                    <a:solidFill>
                      <a:schemeClr val="tx1"/>
                    </a:solidFill>
                    <a:latin typeface="Cambria Math" panose="02040503050406030204" pitchFamily="18" charset="0"/>
                    <a:cs typeface="Cambria Math" panose="02040503050406030204" pitchFamily="18" charset="0"/>
                  </a:rPr>
                  <a:t>a</a:t>
                </a:r>
                <a:r>
                  <a:rPr lang="zh-CN" altLang="en-US">
                    <a:solidFill>
                      <a:schemeClr val="tx1"/>
                    </a:solidFill>
                    <a:latin typeface="Cambria Math" panose="02040503050406030204" pitchFamily="18" charset="0"/>
                    <a:cs typeface="Cambria Math" panose="02040503050406030204" pitchFamily="18" charset="0"/>
                  </a:rPr>
                  <a:t>可考察包含</a:t>
                </a:r>
                <a:r>
                  <a:rPr lang="en-US" altLang="zh-CN">
                    <a:solidFill>
                      <a:schemeClr val="tx1"/>
                    </a:solidFill>
                    <a:latin typeface="Cambria Math" panose="02040503050406030204" pitchFamily="18" charset="0"/>
                    <a:cs typeface="Cambria Math" panose="02040503050406030204" pitchFamily="18" charset="0"/>
                  </a:rPr>
                  <a:t>n-1</a:t>
                </a:r>
                <a:r>
                  <a:rPr lang="zh-CN" altLang="en-US">
                    <a:solidFill>
                      <a:schemeClr val="tx1"/>
                    </a:solidFill>
                    <a:latin typeface="Cambria Math" panose="02040503050406030204" pitchFamily="18" charset="0"/>
                    <a:cs typeface="Cambria Math" panose="02040503050406030204" pitchFamily="18" charset="0"/>
                  </a:rPr>
                  <a:t>个元素的候选划分点集合：</a:t>
                </a:r>
                <a:endParaRPr lang="zh-CN" altLang="en-US">
                  <a:solidFill>
                    <a:schemeClr val="tx1"/>
                  </a:solidFill>
                  <a:latin typeface="Cambria Math" panose="02040503050406030204" pitchFamily="18" charset="0"/>
                  <a:cs typeface="Cambria Math" panose="02040503050406030204" pitchFamily="18" charset="0"/>
                </a:endParaRPr>
              </a:p>
              <a:p>
                <a:pPr marL="0" lvl="0" indent="0">
                  <a:lnSpc>
                    <a:spcPct val="4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𝑇</m:t>
                          </m:r>
                        </m:e>
                        <m:sub>
                          <m:r>
                            <a:rPr lang="en-US" altLang="zh-CN" i="1">
                              <a:solidFill>
                                <a:schemeClr val="tx1"/>
                              </a:solidFill>
                              <a:latin typeface="Cambria Math" panose="02040503050406030204" pitchFamily="18" charset="0"/>
                              <a:cs typeface="Cambria Math" panose="02040503050406030204" pitchFamily="18" charset="0"/>
                            </a:rPr>
                            <m:t>𝑎</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𝑖</m:t>
                              </m:r>
                            </m:sup>
                          </m:s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𝑖</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sup>
                          </m:sSup>
                        </m:num>
                        <m:den>
                          <m:r>
                            <a:rPr lang="en-US" altLang="zh-CN" i="1">
                              <a:solidFill>
                                <a:schemeClr val="tx1"/>
                              </a:solidFill>
                              <a:latin typeface="Cambria Math" panose="02040503050406030204" pitchFamily="18" charset="0"/>
                              <a:cs typeface="Cambria Math" panose="02040503050406030204" pitchFamily="18" charset="0"/>
                            </a:rPr>
                            <m:t>2</m:t>
                          </m:r>
                        </m:den>
                      </m:f>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𝑖</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lnSpc>
                    <a:spcPct val="4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当最优划分属性选取方法是基于信息增益时，对于连续属性，选取候选划分点集合中信息增益最大的候选划分点所对应的信息增益作为该连续属性的信息增益，最终再与其他属性的信息增益进行比较，确定最优划分属性：</a:t>
                </a:r>
                <a:endParaRPr lang="zh-CN" altLang="en-US">
                  <a:solidFill>
                    <a:schemeClr val="tx1"/>
                  </a:solidFill>
                  <a:latin typeface="Cambria Math" panose="02040503050406030204" pitchFamily="18" charset="0"/>
                  <a:cs typeface="Cambria Math" panose="02040503050406030204" pitchFamily="18" charset="0"/>
                </a:endParaRPr>
              </a:p>
              <a:p>
                <a:pPr marL="0" lvl="0" indent="0">
                  <a:lnSpc>
                    <a:spcPct val="4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𝐺𝑎𝑖𝑛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𝐷</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𝑚𝑎𝑥</m:t>
                      </m:r>
                      <m:r>
                        <a:rPr lang="en-US" altLang="zh-CN" i="1">
                          <a:solidFill>
                            <a:schemeClr val="tx1"/>
                          </a:solidFill>
                          <a:latin typeface="Cambria Math" panose="02040503050406030204" pitchFamily="18" charset="0"/>
                          <a:cs typeface="Cambria Math" panose="02040503050406030204" pitchFamily="18" charset="0"/>
                        </a:rPr>
                        <m:t> </m:t>
                      </m:r>
                      <m:r>
                        <a:rPr lang="en-US" altLang="zh-CN" i="1">
                          <a:solidFill>
                            <a:schemeClr val="tx1"/>
                          </a:solidFill>
                          <a:latin typeface="Cambria Math" panose="02040503050406030204" pitchFamily="18" charset="0"/>
                          <a:cs typeface="Cambria Math" panose="02040503050406030204" pitchFamily="18" charset="0"/>
                        </a:rPr>
                        <m:t>𝐺𝑎𝑖𝑛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𝐷</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m:t>
                      </m:r>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endParaRPr lang="en-US" altLang="zh-CN" sz="1200" i="1">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973455"/>
                <a:ext cx="11353800" cy="5469255"/>
              </a:xfrm>
              <a:prstGeom prst="rect">
                <a:avLst/>
              </a:prstGeom>
              <a:blipFill rotWithShape="1">
                <a:blip r:embed="rId1"/>
                <a:stretch>
                  <a:fillRect r="-8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330065" y="5884545"/>
                <a:ext cx="6096000" cy="845185"/>
              </a:xfrm>
              <a:prstGeom prst="rect">
                <a:avLst/>
              </a:prstGeom>
              <a:noFill/>
            </p:spPr>
            <p:txBody>
              <a:bodyPr wrap="square" rtlCol="0" anchor="t">
                <a:spAutoFit/>
              </a:bodyPr>
              <a:lstStyle/>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𝑚𝑎𝑥</m:t>
                      </m:r>
                      <m:r>
                        <a:rPr lang="en-US" altLang="zh-CN" i="1">
                          <a:solidFill>
                            <a:schemeClr val="tx1"/>
                          </a:solidFill>
                          <a:latin typeface="Cambria Math" panose="02040503050406030204" pitchFamily="18" charset="0"/>
                          <a:cs typeface="Cambria Math" panose="02040503050406030204" pitchFamily="18" charset="0"/>
                        </a:rPr>
                        <m:t> </m:t>
                      </m:r>
                      <m:r>
                        <a:rPr lang="en-US" altLang="zh-CN" i="1">
                          <a:solidFill>
                            <a:schemeClr val="tx1"/>
                          </a:solidFill>
                          <a:latin typeface="Cambria Math" panose="02040503050406030204" pitchFamily="18" charset="0"/>
                          <a:cs typeface="Cambria Math" panose="02040503050406030204" pitchFamily="18" charset="0"/>
                        </a:rPr>
                        <m:t>𝐸𝑛𝑡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𝐷</m:t>
                      </m:r>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𝜆</m:t>
                          </m:r>
                          <m:r>
                            <a:rPr lang="en-US" altLang="zh-CN" i="1">
                              <a:solidFill>
                                <a:schemeClr val="tx1"/>
                              </a:solidFill>
                              <a:latin typeface="Cambria Math" panose="02040503050406030204" pitchFamily="18" charset="0"/>
                              <a:cs typeface="Cambria Math" panose="02040503050406030204" pitchFamily="18" charset="0"/>
                            </a:rPr>
                            <m:t>∈{−,+}</m:t>
                          </m:r>
                        </m:sub>
                        <m:sup/>
                        <m:e>
                          <m:f>
                            <m:fPr>
                              <m:ctrlPr>
                                <a:rPr lang="en-US" altLang="zh-CN" i="1">
                                  <a:solidFill>
                                    <a:schemeClr val="tx1"/>
                                  </a:solidFill>
                                  <a:latin typeface="Cambria Math" panose="02040503050406030204" pitchFamily="18" charset="0"/>
                                  <a:cs typeface="Cambria Math" panose="02040503050406030204" pitchFamily="18" charset="0"/>
                                </a:rPr>
                              </m:ctrlPr>
                            </m:fPr>
                            <m:num>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sSubSup>
                                    <m:sSubSupPr>
                                      <m:ctrlPr>
                                        <a:rPr lang="en-US" altLang="zh-CN" i="1">
                                          <a:solidFill>
                                            <a:schemeClr val="tx1"/>
                                          </a:solidFill>
                                          <a:latin typeface="Cambria Math" panose="02040503050406030204" pitchFamily="18" charset="0"/>
                                          <a:cs typeface="Cambria Math" panose="02040503050406030204" pitchFamily="18" charset="0"/>
                                        </a:rPr>
                                      </m:ctrlPr>
                                    </m:sSubSup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𝑡</m:t>
                                      </m:r>
                                    </m:sub>
                                    <m:sup>
                                      <m:r>
                                        <a:rPr lang="en-US" altLang="zh-CN" i="1">
                                          <a:solidFill>
                                            <a:schemeClr val="tx1"/>
                                          </a:solidFill>
                                          <a:latin typeface="Cambria Math" panose="02040503050406030204" pitchFamily="18" charset="0"/>
                                          <a:cs typeface="Cambria Math" panose="02040503050406030204" pitchFamily="18" charset="0"/>
                                        </a:rPr>
                                        <m:t>𝜆</m:t>
                                      </m:r>
                                    </m:sup>
                                  </m:sSubSup>
                                </m:e>
                              </m:d>
                            </m:num>
                            <m:den>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r>
                                    <a:rPr lang="en-US" altLang="zh-CN" i="1">
                                      <a:solidFill>
                                        <a:schemeClr val="tx1"/>
                                      </a:solidFill>
                                      <a:latin typeface="Cambria Math" panose="02040503050406030204" pitchFamily="18" charset="0"/>
                                      <a:cs typeface="Cambria Math" panose="02040503050406030204" pitchFamily="18" charset="0"/>
                                    </a:rPr>
                                    <m:t>𝐷</m:t>
                                  </m:r>
                                </m:e>
                              </m:d>
                            </m:den>
                          </m:f>
                        </m:e>
                      </m:nary>
                      <m:r>
                        <a:rPr lang="en-US" altLang="zh-CN" i="1">
                          <a:solidFill>
                            <a:schemeClr val="tx1"/>
                          </a:solidFill>
                          <a:latin typeface="Cambria Math" panose="02040503050406030204" pitchFamily="18" charset="0"/>
                          <a:cs typeface="Cambria Math" panose="02040503050406030204" pitchFamily="18" charset="0"/>
                        </a:rPr>
                        <m:t>𝐸𝑛𝑡</m:t>
                      </m:r>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i="1">
                              <a:solidFill>
                                <a:schemeClr val="tx1"/>
                              </a:solidFill>
                              <a:latin typeface="Cambria Math" panose="02040503050406030204" pitchFamily="18" charset="0"/>
                              <a:cs typeface="Cambria Math" panose="02040503050406030204" pitchFamily="18" charset="0"/>
                            </a:rPr>
                          </m:ctrlPr>
                        </m:sSubSup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𝑡</m:t>
                          </m:r>
                        </m:sub>
                        <m:sup>
                          <m:r>
                            <a:rPr lang="en-US" altLang="zh-CN" i="1">
                              <a:solidFill>
                                <a:schemeClr val="tx1"/>
                              </a:solidFill>
                              <a:latin typeface="Cambria Math" panose="02040503050406030204" pitchFamily="18" charset="0"/>
                              <a:cs typeface="Cambria Math" panose="02040503050406030204" pitchFamily="18" charset="0"/>
                            </a:rPr>
                            <m:t>𝜆</m:t>
                          </m:r>
                        </m:sup>
                      </m:sSubSup>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4330065" y="5884545"/>
                <a:ext cx="6096000" cy="84518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3048000" y="3291205"/>
                <a:ext cx="6096000" cy="275590"/>
              </a:xfrm>
              <a:prstGeom prst="rect">
                <a:avLst/>
              </a:prstGeom>
              <a:noFill/>
            </p:spPr>
            <p:txBody>
              <a:bodyPr wrap="square" rtlCol="0" anchor="t">
                <a:spAutoFit/>
              </a:bodyPr>
              <a:lstStyle/>
              <a:p>
                <a:pPr marL="0" lvl="0" indent="0">
                  <a:buNone/>
                </a:pPr>
                <a14:m>
                  <m:oMathPara xmlns:m="http://schemas.openxmlformats.org/officeDocument/2006/math">
                    <m:oMathParaPr>
                      <m:jc m:val="centerGroup"/>
                    </m:oMathParaPr>
                    <m:oMath xmlns:m="http://schemas.openxmlformats.org/officeDocument/2006/math">
                      <m:r>
                        <a:rPr lang="en-US" altLang="zh-CN" sz="1200" i="1">
                          <a:solidFill>
                            <a:schemeClr val="tx1"/>
                          </a:solidFill>
                          <a:latin typeface="Cambria Math" panose="02040503050406030204" pitchFamily="18" charset="0"/>
                          <a:cs typeface="Cambria Math" panose="02040503050406030204" pitchFamily="18" charset="0"/>
                        </a:rPr>
                        <m:t>𝑡</m:t>
                      </m:r>
                      <m:r>
                        <a:rPr lang="en-US" altLang="zh-CN" sz="1200" i="1">
                          <a:solidFill>
                            <a:schemeClr val="tx1"/>
                          </a:solidFill>
                          <a:latin typeface="Cambria Math" panose="02040503050406030204" pitchFamily="18" charset="0"/>
                          <a:cs typeface="Cambria Math" panose="02040503050406030204" pitchFamily="18" charset="0"/>
                        </a:rPr>
                        <m:t>∈</m:t>
                      </m:r>
                      <m:sSub>
                        <m:sSubPr>
                          <m:ctrlPr>
                            <a:rPr lang="en-US" altLang="zh-CN" sz="1200" i="1">
                              <a:solidFill>
                                <a:schemeClr val="tx1"/>
                              </a:solidFill>
                              <a:latin typeface="Cambria Math" panose="02040503050406030204" pitchFamily="18" charset="0"/>
                              <a:cs typeface="Cambria Math" panose="02040503050406030204" pitchFamily="18" charset="0"/>
                            </a:rPr>
                          </m:ctrlPr>
                        </m:sSubPr>
                        <m:e>
                          <m:r>
                            <a:rPr lang="en-US" altLang="zh-CN" sz="1200" i="1">
                              <a:solidFill>
                                <a:schemeClr val="tx1"/>
                              </a:solidFill>
                              <a:latin typeface="Cambria Math" panose="02040503050406030204" pitchFamily="18" charset="0"/>
                              <a:cs typeface="Cambria Math" panose="02040503050406030204" pitchFamily="18" charset="0"/>
                            </a:rPr>
                            <m:t>𝑇</m:t>
                          </m:r>
                        </m:e>
                        <m:sub>
                          <m:r>
                            <a:rPr lang="en-US" altLang="zh-CN" sz="1200" i="1">
                              <a:solidFill>
                                <a:schemeClr val="tx1"/>
                              </a:solidFill>
                              <a:latin typeface="Cambria Math" panose="02040503050406030204" pitchFamily="18" charset="0"/>
                              <a:cs typeface="Cambria Math" panose="02040503050406030204" pitchFamily="18" charset="0"/>
                            </a:rPr>
                            <m:t>𝑎</m:t>
                          </m:r>
                        </m:sub>
                      </m:sSub>
                    </m:oMath>
                  </m:oMathPara>
                </a14:m>
                <a:endParaRPr lang="en-US" altLang="zh-CN" sz="1200" i="1">
                  <a:solidFill>
                    <a:schemeClr val="tx1"/>
                  </a:solidFill>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3048000" y="3291205"/>
                <a:ext cx="6096000" cy="27559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flipH="1">
                <a:off x="5719445" y="6349365"/>
                <a:ext cx="600710" cy="275590"/>
              </a:xfrm>
              <a:prstGeom prst="rect">
                <a:avLst/>
              </a:prstGeom>
              <a:noFill/>
            </p:spPr>
            <p:txBody>
              <a:bodyPr wrap="square" rtlCol="0" anchor="t">
                <a:spAutoFit/>
              </a:bodyPr>
              <a:lstStyle/>
              <a:p>
                <a:pPr marL="0" lvl="0" indent="0">
                  <a:buNone/>
                </a:pPr>
                <a14:m>
                  <m:oMathPara xmlns:m="http://schemas.openxmlformats.org/officeDocument/2006/math">
                    <m:oMathParaPr>
                      <m:jc m:val="centerGroup"/>
                    </m:oMathParaPr>
                    <m:oMath xmlns:m="http://schemas.openxmlformats.org/officeDocument/2006/math">
                      <m:r>
                        <a:rPr lang="en-US" altLang="zh-CN" sz="1200" i="1">
                          <a:solidFill>
                            <a:schemeClr val="tx1"/>
                          </a:solidFill>
                          <a:latin typeface="Cambria Math" panose="02040503050406030204" pitchFamily="18" charset="0"/>
                          <a:cs typeface="Cambria Math" panose="02040503050406030204" pitchFamily="18" charset="0"/>
                        </a:rPr>
                        <m:t>𝑡</m:t>
                      </m:r>
                      <m:r>
                        <a:rPr lang="en-US" altLang="zh-CN" sz="1200" i="1">
                          <a:solidFill>
                            <a:schemeClr val="tx1"/>
                          </a:solidFill>
                          <a:latin typeface="Cambria Math" panose="02040503050406030204" pitchFamily="18" charset="0"/>
                          <a:cs typeface="Cambria Math" panose="02040503050406030204" pitchFamily="18" charset="0"/>
                        </a:rPr>
                        <m:t>∈</m:t>
                      </m:r>
                      <m:sSub>
                        <m:sSubPr>
                          <m:ctrlPr>
                            <a:rPr lang="en-US" altLang="zh-CN" sz="1200" i="1">
                              <a:solidFill>
                                <a:schemeClr val="tx1"/>
                              </a:solidFill>
                              <a:latin typeface="Cambria Math" panose="02040503050406030204" pitchFamily="18" charset="0"/>
                              <a:cs typeface="Cambria Math" panose="02040503050406030204" pitchFamily="18" charset="0"/>
                            </a:rPr>
                          </m:ctrlPr>
                        </m:sSubPr>
                        <m:e>
                          <m:r>
                            <a:rPr lang="en-US" altLang="zh-CN" sz="1200" i="1">
                              <a:solidFill>
                                <a:schemeClr val="tx1"/>
                              </a:solidFill>
                              <a:latin typeface="Cambria Math" panose="02040503050406030204" pitchFamily="18" charset="0"/>
                              <a:cs typeface="Cambria Math" panose="02040503050406030204" pitchFamily="18" charset="0"/>
                            </a:rPr>
                            <m:t>𝑇</m:t>
                          </m:r>
                        </m:e>
                        <m:sub>
                          <m:r>
                            <a:rPr lang="en-US" altLang="zh-CN" sz="1200" i="1">
                              <a:solidFill>
                                <a:schemeClr val="tx1"/>
                              </a:solidFill>
                              <a:latin typeface="Cambria Math" panose="02040503050406030204" pitchFamily="18" charset="0"/>
                              <a:cs typeface="Cambria Math" panose="02040503050406030204" pitchFamily="18" charset="0"/>
                            </a:rPr>
                            <m:t>𝑎</m:t>
                          </m:r>
                        </m:sub>
                      </m:sSub>
                    </m:oMath>
                  </m:oMathPara>
                </a14:m>
                <a:endParaRPr lang="en-US" altLang="zh-CN" sz="1200" i="1">
                  <a:solidFill>
                    <a:schemeClr val="tx1"/>
                  </a:solidFill>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flipH="1">
                <a:off x="5719445" y="6349365"/>
                <a:ext cx="600710" cy="27559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flipH="1">
                <a:off x="5719445" y="5800090"/>
                <a:ext cx="600710" cy="275590"/>
              </a:xfrm>
              <a:prstGeom prst="rect">
                <a:avLst/>
              </a:prstGeom>
              <a:noFill/>
            </p:spPr>
            <p:txBody>
              <a:bodyPr wrap="square" rtlCol="0" anchor="t">
                <a:spAutoFit/>
              </a:bodyPr>
              <a:lstStyle/>
              <a:p>
                <a:pPr marL="0" lvl="0" indent="0">
                  <a:buNone/>
                </a:pPr>
                <a14:m>
                  <m:oMathPara xmlns:m="http://schemas.openxmlformats.org/officeDocument/2006/math">
                    <m:oMathParaPr>
                      <m:jc m:val="centerGroup"/>
                    </m:oMathParaPr>
                    <m:oMath xmlns:m="http://schemas.openxmlformats.org/officeDocument/2006/math">
                      <m:r>
                        <a:rPr lang="en-US" altLang="zh-CN" sz="1200" i="1">
                          <a:solidFill>
                            <a:schemeClr val="tx1"/>
                          </a:solidFill>
                          <a:latin typeface="Cambria Math" panose="02040503050406030204" pitchFamily="18" charset="0"/>
                          <a:cs typeface="Cambria Math" panose="02040503050406030204" pitchFamily="18" charset="0"/>
                        </a:rPr>
                        <m:t>𝑡</m:t>
                      </m:r>
                      <m:r>
                        <a:rPr lang="en-US" altLang="zh-CN" sz="1200" i="1">
                          <a:solidFill>
                            <a:schemeClr val="tx1"/>
                          </a:solidFill>
                          <a:latin typeface="Cambria Math" panose="02040503050406030204" pitchFamily="18" charset="0"/>
                          <a:cs typeface="Cambria Math" panose="02040503050406030204" pitchFamily="18" charset="0"/>
                        </a:rPr>
                        <m:t>∈</m:t>
                      </m:r>
                      <m:sSub>
                        <m:sSubPr>
                          <m:ctrlPr>
                            <a:rPr lang="en-US" altLang="zh-CN" sz="1200" i="1">
                              <a:solidFill>
                                <a:schemeClr val="tx1"/>
                              </a:solidFill>
                              <a:latin typeface="Cambria Math" panose="02040503050406030204" pitchFamily="18" charset="0"/>
                              <a:cs typeface="Cambria Math" panose="02040503050406030204" pitchFamily="18" charset="0"/>
                            </a:rPr>
                          </m:ctrlPr>
                        </m:sSubPr>
                        <m:e>
                          <m:r>
                            <a:rPr lang="en-US" altLang="zh-CN" sz="1200" i="1">
                              <a:solidFill>
                                <a:schemeClr val="tx1"/>
                              </a:solidFill>
                              <a:latin typeface="Cambria Math" panose="02040503050406030204" pitchFamily="18" charset="0"/>
                              <a:cs typeface="Cambria Math" panose="02040503050406030204" pitchFamily="18" charset="0"/>
                            </a:rPr>
                            <m:t>𝑇</m:t>
                          </m:r>
                        </m:e>
                        <m:sub>
                          <m:r>
                            <a:rPr lang="en-US" altLang="zh-CN" sz="1200" i="1">
                              <a:solidFill>
                                <a:schemeClr val="tx1"/>
                              </a:solidFill>
                              <a:latin typeface="Cambria Math" panose="02040503050406030204" pitchFamily="18" charset="0"/>
                              <a:cs typeface="Cambria Math" panose="02040503050406030204" pitchFamily="18" charset="0"/>
                            </a:rPr>
                            <m:t>𝑎</m:t>
                          </m:r>
                        </m:sub>
                      </m:sSub>
                    </m:oMath>
                  </m:oMathPara>
                </a14:m>
                <a:endParaRPr lang="en-US" altLang="zh-CN" sz="1200" i="1">
                  <a:solidFill>
                    <a:schemeClr val="tx1"/>
                  </a:solidFill>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flipH="1">
                <a:off x="5719445" y="5800090"/>
                <a:ext cx="600710" cy="275590"/>
              </a:xfrm>
              <a:prstGeom prst="rect">
                <a:avLst/>
              </a:prstGeom>
              <a:blipFill rotWithShape="1">
                <a:blip r:embed="rId4"/>
                <a:stretch>
                  <a:fillRect/>
                </a:stretch>
              </a:blipFill>
            </p:spPr>
            <p:txBody>
              <a:bodyPr/>
              <a:lstStyle/>
              <a:p>
                <a:r>
                  <a:rPr lang="zh-CN" altLang="en-US">
                    <a:noFill/>
                  </a:rPr>
                  <a:t> </a:t>
                </a:r>
              </a:p>
            </p:txBody>
          </p:sp>
        </mc:Fallback>
      </mc:AlternateContent>
      <p:sp>
        <p:nvSpPr>
          <p:cNvPr id="10" name="矩形 9"/>
          <p:cNvSpPr/>
          <p:nvPr>
            <p:custDataLst>
              <p:tags r:id="rId5"/>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6"/>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7"/>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连续值与缺失值处理</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1625" y="1111250"/>
            <a:ext cx="11321415" cy="1282065"/>
          </a:xfrm>
          <a:prstGeom prst="rect">
            <a:avLst/>
          </a:prstGeom>
          <a:noFill/>
        </p:spPr>
        <p:txBody>
          <a:bodyPr wrap="square" rtlCol="0" anchor="t">
            <a:spAutoFit/>
          </a:bodyPr>
          <a:lstStyle/>
          <a:p>
            <a:r>
              <a:rPr lang="zh-CN" altLang="en-US" b="1">
                <a:solidFill>
                  <a:srgbClr val="0070C0"/>
                </a:solidFill>
                <a:sym typeface="+mn-ea"/>
              </a:rPr>
              <a:t>缺失值处理</a:t>
            </a:r>
            <a:endParaRPr lang="zh-CN" altLang="en-US" b="1">
              <a:solidFill>
                <a:srgbClr val="0070C0"/>
              </a:solidFill>
              <a:sym typeface="+mn-ea"/>
            </a:endParaRPr>
          </a:p>
          <a:p>
            <a:pPr>
              <a:lnSpc>
                <a:spcPct val="30000"/>
              </a:lnSpc>
            </a:pPr>
            <a:endParaRPr lang="zh-CN" altLang="en-US">
              <a:solidFill>
                <a:schemeClr val="accent1"/>
              </a:solidFill>
              <a:effectLst>
                <a:outerShdw blurRad="38100" dist="25400" dir="5400000" algn="ctr" rotWithShape="0">
                  <a:srgbClr val="6E747A">
                    <a:alpha val="43000"/>
                  </a:srgbClr>
                </a:outerShdw>
              </a:effectLst>
              <a:sym typeface="+mn-ea"/>
            </a:endParaRPr>
          </a:p>
          <a:p>
            <a:pPr indent="457200"/>
            <a:r>
              <a:rPr lang="zh-CN" altLang="en-US">
                <a:sym typeface="+mn-ea"/>
              </a:rPr>
              <a:t>现实任务中常会遇到不完整的样本，即样本的某些属性值缺失，如果简单地放弃不完整样本，仅使用无缺失值的样本进行学习，会极大地浪费数据信息，如下图，若只采用无缺失值样本进行学习，则仅有</a:t>
            </a:r>
            <a:r>
              <a:rPr lang="en-US" altLang="zh-CN">
                <a:sym typeface="+mn-ea"/>
              </a:rPr>
              <a:t>4</a:t>
            </a:r>
            <a:r>
              <a:rPr lang="zh-CN" altLang="en-US">
                <a:sym typeface="+mn-ea"/>
              </a:rPr>
              <a:t>个样本满足要求：</a:t>
            </a:r>
            <a:endParaRPr lang="zh-CN" altLang="en-US">
              <a:sym typeface="+mn-ea"/>
            </a:endParaRPr>
          </a:p>
        </p:txBody>
      </p:sp>
      <p:pic>
        <p:nvPicPr>
          <p:cNvPr id="6" name="图片 5" descr="缺失值数据集"/>
          <p:cNvPicPr>
            <a:picLocks noChangeAspect="1"/>
          </p:cNvPicPr>
          <p:nvPr/>
        </p:nvPicPr>
        <p:blipFill>
          <a:blip r:embed="rId1"/>
          <a:stretch>
            <a:fillRect/>
          </a:stretch>
        </p:blipFill>
        <p:spPr>
          <a:xfrm>
            <a:off x="3383280" y="2226310"/>
            <a:ext cx="6200775" cy="4217035"/>
          </a:xfrm>
          <a:prstGeom prst="rect">
            <a:avLst/>
          </a:prstGeom>
        </p:spPr>
      </p:pic>
      <p:sp>
        <p:nvSpPr>
          <p:cNvPr id="10" name="矩形 9"/>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连续值与缺失值处理</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289560" y="1140460"/>
                <a:ext cx="11315700" cy="2555240"/>
              </a:xfrm>
              <a:prstGeom prst="rect">
                <a:avLst/>
              </a:prstGeom>
              <a:noFill/>
            </p:spPr>
            <p:txBody>
              <a:bodyPr wrap="square" rtlCol="0">
                <a:spAutoFit/>
              </a:bodyPr>
              <a:lstStyle/>
              <a:p>
                <a:r>
                  <a:rPr lang="zh-CN" altLang="en-US" b="1">
                    <a:solidFill>
                      <a:srgbClr val="0070C0"/>
                    </a:solidFill>
                    <a:sym typeface="+mn-ea"/>
                  </a:rPr>
                  <a:t>缺失值处理</a:t>
                </a:r>
                <a:endParaRPr lang="zh-CN" altLang="en-US" b="1">
                  <a:solidFill>
                    <a:srgbClr val="0070C0"/>
                  </a:solidFill>
                  <a:sym typeface="+mn-ea"/>
                </a:endParaRPr>
              </a:p>
              <a:p>
                <a:pPr>
                  <a:lnSpc>
                    <a:spcPct val="40000"/>
                  </a:lnSpc>
                </a:pPr>
                <a:endParaRPr lang="zh-CN" altLang="en-US"/>
              </a:p>
              <a:p>
                <a:r>
                  <a:rPr lang="zh-CN" altLang="en-US"/>
                  <a:t>为了不浪费数据，应提出一种可通过缺失值数据训练决策树的方法，需要解决两个问题：</a:t>
                </a:r>
                <a:endParaRPr lang="zh-CN" altLang="en-US"/>
              </a:p>
              <a:p>
                <a:pPr>
                  <a:lnSpc>
                    <a:spcPct val="20000"/>
                  </a:lnSpc>
                </a:pPr>
                <a:endParaRPr lang="zh-CN" altLang="en-US"/>
              </a:p>
              <a:p>
                <a:pPr indent="457200"/>
                <a:r>
                  <a:rPr lang="en-US" altLang="zh-CN"/>
                  <a:t>1</a:t>
                </a:r>
                <a:r>
                  <a:rPr lang="zh-CN" altLang="en-US"/>
                  <a:t>）如何在属性值缺失的情况下进行最优划分属性选择？</a:t>
                </a:r>
                <a:endParaRPr lang="zh-CN" altLang="en-US"/>
              </a:p>
              <a:p>
                <a:pPr indent="457200"/>
                <a:r>
                  <a:rPr lang="en-US" altLang="zh-CN"/>
                  <a:t>2</a:t>
                </a:r>
                <a:r>
                  <a:rPr lang="zh-CN" altLang="en-US"/>
                  <a:t>）给定划分属性，若样本在该属性值上缺失，如何对样本进行划分？</a:t>
                </a:r>
                <a:endParaRPr lang="zh-CN" altLang="en-US"/>
              </a:p>
              <a:p>
                <a:pPr indent="457200"/>
                <a:endParaRPr lang="zh-CN" altLang="en-US"/>
              </a:p>
              <a:p>
                <a:pPr marL="0" lvl="0" indent="0">
                  <a:buNone/>
                </a:pPr>
                <a:r>
                  <a:rPr lang="zh-CN" altLang="en-US">
                    <a:solidFill>
                      <a:schemeClr val="tx1"/>
                    </a:solidFill>
                  </a:rPr>
                  <a:t>对于问题</a:t>
                </a:r>
                <a:r>
                  <a:rPr lang="en-US" altLang="zh-CN">
                    <a:solidFill>
                      <a:schemeClr val="tx1"/>
                    </a:solidFill>
                  </a:rPr>
                  <a:t>1</a:t>
                </a:r>
                <a:r>
                  <a:rPr lang="zh-CN" altLang="en-US">
                    <a:solidFill>
                      <a:schemeClr val="tx1"/>
                    </a:solidFill>
                  </a:rPr>
                  <a:t>，我们可以通过在属性</a:t>
                </a:r>
                <a:r>
                  <a:rPr lang="en-US" altLang="zh-CN">
                    <a:solidFill>
                      <a:schemeClr val="tx1"/>
                    </a:solidFill>
                  </a:rPr>
                  <a:t>a</a:t>
                </a:r>
                <a:r>
                  <a:rPr lang="zh-CN" altLang="en-US">
                    <a:solidFill>
                      <a:schemeClr val="tx1"/>
                    </a:solidFill>
                  </a:rPr>
                  <a:t>上无缺失值的样本来判断属性</a:t>
                </a:r>
                <a:r>
                  <a:rPr lang="en-US" altLang="zh-CN">
                    <a:solidFill>
                      <a:schemeClr val="tx1"/>
                    </a:solidFill>
                  </a:rPr>
                  <a:t>a</a:t>
                </a:r>
                <a:r>
                  <a:rPr lang="zh-CN" altLang="en-US">
                    <a:solidFill>
                      <a:schemeClr val="tx1"/>
                    </a:solidFill>
                  </a:rPr>
                  <a:t>的优劣</a:t>
                </a:r>
                <a:endParaRPr lang="zh-CN" altLang="en-US">
                  <a:solidFill>
                    <a:schemeClr val="tx1"/>
                  </a:solidFill>
                </a:endParaRPr>
              </a:p>
              <a:p>
                <a:pPr marL="0" lvl="0" indent="0">
                  <a:lnSpc>
                    <a:spcPct val="30000"/>
                  </a:lnSpc>
                  <a:buNone/>
                </a:pPr>
                <a:endParaRPr lang="zh-CN" altLang="en-US">
                  <a:solidFill>
                    <a:schemeClr val="tx1"/>
                  </a:solidFill>
                </a:endParaRPr>
              </a:p>
              <a:p>
                <a:pPr marL="0" lvl="0" indent="0">
                  <a:buNone/>
                </a:pPr>
                <a:r>
                  <a:rPr lang="zh-CN" altLang="en-US">
                    <a:solidFill>
                      <a:schemeClr val="tx1"/>
                    </a:solidFill>
                  </a:rPr>
                  <a:t>对于问题</a:t>
                </a:r>
                <a:r>
                  <a:rPr lang="en-US" altLang="zh-CN">
                    <a:solidFill>
                      <a:schemeClr val="tx1"/>
                    </a:solidFill>
                  </a:rPr>
                  <a:t>2</a:t>
                </a:r>
                <a:r>
                  <a:rPr lang="zh-CN" altLang="en-US">
                    <a:solidFill>
                      <a:schemeClr val="tx1"/>
                    </a:solidFill>
                  </a:rPr>
                  <a:t>，将在该属性值上缺失的样本同时划入所有子结点，并调整其样本权值为该子结点对应的属性值</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𝑎</m:t>
                        </m:r>
                      </m:e>
                      <m:sup>
                        <m:r>
                          <a:rPr lang="en-US" altLang="zh-CN" i="1">
                            <a:solidFill>
                              <a:schemeClr val="tx1"/>
                            </a:solidFill>
                            <a:latin typeface="Cambria Math" panose="02040503050406030204" pitchFamily="18" charset="0"/>
                            <a:cs typeface="Cambria Math" panose="02040503050406030204" pitchFamily="18" charset="0"/>
                          </a:rPr>
                          <m:t>𝑣</m:t>
                        </m:r>
                      </m:sup>
                    </m:sSup>
                  </m:oMath>
                </a14:m>
                <a:r>
                  <a:rPr lang="zh-CN" altLang="en-US">
                    <a:solidFill>
                      <a:schemeClr val="tx1"/>
                    </a:solidFill>
                    <a:latin typeface="Cambria Math" panose="02040503050406030204" pitchFamily="18" charset="0"/>
                    <a:cs typeface="Cambria Math" panose="02040503050406030204" pitchFamily="18" charset="0"/>
                  </a:rPr>
                  <a:t>在</a:t>
                </a: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 </a:t>
                </a:r>
                <a:r>
                  <a:rPr lang="en-US" altLang="zh-CN">
                    <a:solidFill>
                      <a:schemeClr val="tx1"/>
                    </a:solidFill>
                    <a:latin typeface="Cambria Math" panose="02040503050406030204" pitchFamily="18" charset="0"/>
                    <a:cs typeface="Cambria Math" panose="02040503050406030204" pitchFamily="18" charset="0"/>
                  </a:rPr>
                  <a:t>                        </a:t>
                </a:r>
                <a:r>
                  <a:rPr lang="zh-CN" altLang="en-US">
                    <a:solidFill>
                      <a:schemeClr val="tx1"/>
                    </a:solidFill>
                    <a:latin typeface="Cambria Math" panose="02040503050406030204" pitchFamily="18" charset="0"/>
                    <a:cs typeface="Cambria Math" panose="02040503050406030204" pitchFamily="18" charset="0"/>
                  </a:rPr>
                  <a:t>属性</a:t>
                </a:r>
                <a:r>
                  <a:rPr lang="en-US" altLang="zh-CN">
                    <a:solidFill>
                      <a:schemeClr val="tx1"/>
                    </a:solidFill>
                    <a:latin typeface="Cambria Math" panose="02040503050406030204" pitchFamily="18" charset="0"/>
                    <a:cs typeface="Cambria Math" panose="02040503050406030204" pitchFamily="18" charset="0"/>
                  </a:rPr>
                  <a:t>a</a:t>
                </a:r>
                <a:r>
                  <a:rPr lang="zh-CN" altLang="en-US">
                    <a:solidFill>
                      <a:schemeClr val="tx1"/>
                    </a:solidFill>
                    <a:latin typeface="Cambria Math" panose="02040503050406030204" pitchFamily="18" charset="0"/>
                    <a:cs typeface="Cambria Math" panose="02040503050406030204" pitchFamily="18" charset="0"/>
                  </a:rPr>
                  <a:t>无缺失值样本中所占的比例</a:t>
                </a:r>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89560" y="1140460"/>
                <a:ext cx="11315700" cy="2555240"/>
              </a:xfrm>
              <a:prstGeom prst="rect">
                <a:avLst/>
              </a:prstGeom>
              <a:blipFill rotWithShape="1">
                <a:blip r:embed="rId1"/>
                <a:stretch>
                  <a:fillRect/>
                </a:stretch>
              </a:blipFill>
            </p:spPr>
            <p:txBody>
              <a:bodyPr/>
              <a:lstStyle/>
              <a:p>
                <a:r>
                  <a:rPr lang="zh-CN" altLang="en-US">
                    <a:noFill/>
                  </a:rPr>
                  <a:t> </a:t>
                </a:r>
              </a:p>
            </p:txBody>
          </p:sp>
        </mc:Fallback>
      </mc:AlternateContent>
      <p:sp>
        <p:nvSpPr>
          <p:cNvPr id="10" name="矩形 9"/>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连续值与缺失值处理</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sym typeface="+mn-ea"/>
              </a:rPr>
              <a:t>基于python创建分类决策树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多变量决策树</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2260" y="1157605"/>
            <a:ext cx="11294110" cy="1337945"/>
          </a:xfrm>
          <a:prstGeom prst="rect">
            <a:avLst/>
          </a:prstGeom>
          <a:noFill/>
        </p:spPr>
        <p:txBody>
          <a:bodyPr wrap="square" rtlCol="0">
            <a:spAutoFit/>
          </a:bodyPr>
          <a:lstStyle/>
          <a:p>
            <a:pPr>
              <a:lnSpc>
                <a:spcPct val="150000"/>
              </a:lnSpc>
            </a:pPr>
            <a:r>
              <a:rPr lang="zh-CN" altLang="en-US"/>
              <a:t>当我们把每个属性视为坐标空间中的一个坐标轴，则对于属性集</a:t>
            </a:r>
            <a:r>
              <a:rPr lang="en-US" altLang="zh-CN"/>
              <a:t>A</a:t>
            </a:r>
            <a:r>
              <a:rPr lang="zh-CN" altLang="en-US"/>
              <a:t>中有</a:t>
            </a:r>
            <a:r>
              <a:rPr lang="en-US" altLang="zh-CN"/>
              <a:t>d</a:t>
            </a:r>
            <a:r>
              <a:rPr lang="zh-CN" altLang="en-US"/>
              <a:t>个属性的样本就对应于</a:t>
            </a:r>
            <a:r>
              <a:rPr lang="en-US" altLang="zh-CN"/>
              <a:t>d</a:t>
            </a:r>
            <a:r>
              <a:rPr lang="zh-CN" altLang="en-US"/>
              <a:t>维空间中的一个坐标点，对样本进行分类则意味着在该坐标空间寻找不同类别样本之间的分类边界，以二维空间</a:t>
            </a:r>
            <a:r>
              <a:rPr lang="en-US" altLang="zh-CN"/>
              <a:t>(</a:t>
            </a:r>
            <a:r>
              <a:rPr lang="zh-CN" altLang="en-US"/>
              <a:t>即属性集</a:t>
            </a:r>
            <a:r>
              <a:rPr lang="en-US" altLang="zh-CN"/>
              <a:t>A</a:t>
            </a:r>
            <a:r>
              <a:rPr lang="zh-CN" altLang="en-US"/>
              <a:t>中有</a:t>
            </a:r>
            <a:r>
              <a:rPr lang="en-US" altLang="zh-CN"/>
              <a:t>2</a:t>
            </a:r>
            <a:r>
              <a:rPr lang="zh-CN" altLang="en-US"/>
              <a:t>个属性</a:t>
            </a:r>
            <a:r>
              <a:rPr lang="en-US" altLang="zh-CN"/>
              <a:t>)</a:t>
            </a:r>
            <a:r>
              <a:rPr lang="zh-CN" altLang="en-US"/>
              <a:t>为例：</a:t>
            </a:r>
            <a:endParaRPr lang="zh-CN" altLang="en-US"/>
          </a:p>
        </p:txBody>
      </p:sp>
      <p:pic>
        <p:nvPicPr>
          <p:cNvPr id="6" name="图片 5" descr="多变量决策树坐标空间"/>
          <p:cNvPicPr>
            <a:picLocks noChangeAspect="1"/>
          </p:cNvPicPr>
          <p:nvPr/>
        </p:nvPicPr>
        <p:blipFill>
          <a:blip r:embed="rId1"/>
          <a:stretch>
            <a:fillRect/>
          </a:stretch>
        </p:blipFill>
        <p:spPr>
          <a:xfrm>
            <a:off x="1359535" y="2882265"/>
            <a:ext cx="4330700" cy="3509645"/>
          </a:xfrm>
          <a:prstGeom prst="rect">
            <a:avLst/>
          </a:prstGeom>
        </p:spPr>
      </p:pic>
      <p:sp>
        <p:nvSpPr>
          <p:cNvPr id="7" name="文本框 6"/>
          <p:cNvSpPr txBox="1"/>
          <p:nvPr/>
        </p:nvSpPr>
        <p:spPr>
          <a:xfrm>
            <a:off x="6012815" y="3070860"/>
            <a:ext cx="5583555" cy="2278380"/>
          </a:xfrm>
          <a:prstGeom prst="rect">
            <a:avLst/>
          </a:prstGeom>
          <a:noFill/>
        </p:spPr>
        <p:txBody>
          <a:bodyPr wrap="square" rtlCol="0">
            <a:spAutoFit/>
          </a:bodyPr>
          <a:lstStyle/>
          <a:p>
            <a:r>
              <a:rPr lang="zh-CN" altLang="en-US"/>
              <a:t>从图中可以看出，决策树：</a:t>
            </a:r>
            <a:endParaRPr lang="zh-CN" altLang="en-US"/>
          </a:p>
          <a:p>
            <a:pPr>
              <a:lnSpc>
                <a:spcPct val="10000"/>
              </a:lnSpc>
            </a:pPr>
            <a:endParaRPr lang="zh-CN" altLang="en-US"/>
          </a:p>
          <a:p>
            <a:pPr>
              <a:lnSpc>
                <a:spcPct val="40000"/>
              </a:lnSpc>
            </a:pPr>
            <a:endParaRPr lang="zh-CN" altLang="en-US"/>
          </a:p>
          <a:p>
            <a:r>
              <a:rPr lang="zh-CN" altLang="en-US"/>
              <a:t>优点：分类边界每一段都是与坐标轴平行的，这样的</a:t>
            </a:r>
            <a:r>
              <a:rPr lang="en-US" altLang="zh-CN"/>
              <a:t> </a:t>
            </a:r>
            <a:endParaRPr lang="en-US" altLang="zh-CN"/>
          </a:p>
          <a:p>
            <a:r>
              <a:rPr lang="en-US" altLang="zh-CN"/>
              <a:t>             </a:t>
            </a:r>
            <a:r>
              <a:rPr lang="zh-CN" altLang="en-US"/>
              <a:t>分类边界使得学习结果有了较好的可解释性</a:t>
            </a:r>
            <a:endParaRPr lang="zh-CN" altLang="en-US"/>
          </a:p>
          <a:p>
            <a:pPr>
              <a:lnSpc>
                <a:spcPct val="40000"/>
              </a:lnSpc>
            </a:pPr>
            <a:endParaRPr lang="zh-CN" altLang="en-US"/>
          </a:p>
          <a:p>
            <a:r>
              <a:rPr lang="zh-CN" altLang="en-US"/>
              <a:t>缺点：当学习任务的真实分类边界较为复杂时，必须</a:t>
            </a:r>
            <a:endParaRPr lang="zh-CN" altLang="en-US"/>
          </a:p>
          <a:p>
            <a:r>
              <a:rPr lang="zh-CN" altLang="en-US"/>
              <a:t> </a:t>
            </a:r>
            <a:r>
              <a:rPr lang="en-US" altLang="zh-CN"/>
              <a:t>            </a:t>
            </a:r>
            <a:r>
              <a:rPr lang="zh-CN" altLang="en-US"/>
              <a:t>使用很多段划分才能获得较好的近似，此时的</a:t>
            </a:r>
            <a:endParaRPr lang="zh-CN" altLang="en-US"/>
          </a:p>
          <a:p>
            <a:r>
              <a:rPr lang="zh-CN" altLang="en-US"/>
              <a:t> </a:t>
            </a:r>
            <a:r>
              <a:rPr lang="en-US" altLang="zh-CN"/>
              <a:t>            </a:t>
            </a:r>
            <a:r>
              <a:rPr lang="zh-CN" altLang="en-US"/>
              <a:t>决策树会相当复杂，由于要进行大量的属性测</a:t>
            </a:r>
            <a:endParaRPr lang="zh-CN" altLang="en-US"/>
          </a:p>
          <a:p>
            <a:r>
              <a:rPr lang="zh-CN" altLang="en-US"/>
              <a:t> </a:t>
            </a:r>
            <a:r>
              <a:rPr lang="en-US" altLang="zh-CN"/>
              <a:t>            </a:t>
            </a:r>
            <a:r>
              <a:rPr lang="zh-CN" altLang="en-US"/>
              <a:t>试，预测时间开销会很大</a:t>
            </a:r>
            <a:endParaRPr lang="zh-CN" altLang="en-US"/>
          </a:p>
        </p:txBody>
      </p:sp>
      <p:sp>
        <p:nvSpPr>
          <p:cNvPr id="10" name="矩形 9"/>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多变量决策树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299085" y="1052195"/>
                <a:ext cx="11294110" cy="1991995"/>
              </a:xfrm>
              <a:prstGeom prst="rect">
                <a:avLst/>
              </a:prstGeom>
              <a:noFill/>
            </p:spPr>
            <p:txBody>
              <a:bodyPr wrap="square" rtlCol="0">
                <a:spAutoFit/>
              </a:bodyPr>
              <a:lstStyle/>
              <a:p>
                <a:pPr>
                  <a:lnSpc>
                    <a:spcPct val="150000"/>
                  </a:lnSpc>
                </a:pPr>
                <a:r>
                  <a:rPr lang="zh-CN"/>
                  <a:t>若能在属性坐标空间中用斜线进行边界划分，则决策树模型将大幅度简化，而多变量决策树便可以实现斜划分，非叶结点不再是仅针对某个属性，而是对属性的线性组合进行测试，每个非叶结点是一个形如：</a:t>
                </a:r>
                <a:endParaRPr lang="zh-CN"/>
              </a:p>
              <a:p>
                <a:pPr indent="457200">
                  <a:lnSpc>
                    <a:spcPct val="40000"/>
                  </a:lnSpc>
                </a:pPr>
                <a:endParaRPr lang="zh-CN"/>
              </a:p>
              <a:p>
                <a:pPr indent="457200"/>
                <a14:m>
                  <m:oMathPara xmlns:m="http://schemas.openxmlformats.org/officeDocument/2006/math">
                    <m:oMathParaPr>
                      <m:jc m:val="centerGroup"/>
                    </m:oMathParaPr>
                    <m:oMath xmlns:m="http://schemas.openxmlformats.org/officeDocument/2006/math">
                      <m:nary>
                        <m:naryPr>
                          <m:chr m:val="∑"/>
                          <m:limLoc m:val="subSup"/>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𝑑</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𝑡</m:t>
                          </m:r>
                        </m:e>
                      </m:nary>
                    </m:oMath>
                  </m:oMathPara>
                </a14:m>
                <a:endParaRPr lang="en-US" altLang="zh-CN" i="1">
                  <a:latin typeface="Cambria Math" panose="02040503050406030204" pitchFamily="18" charset="0"/>
                  <a:cs typeface="Cambria Math" panose="02040503050406030204" pitchFamily="18" charset="0"/>
                </a:endParaRPr>
              </a:p>
              <a:p>
                <a:pPr marL="0" lvl="0" indent="0">
                  <a:lnSpc>
                    <a:spcPct val="40000"/>
                  </a:lnSpc>
                  <a:buNone/>
                </a:pPr>
                <a:endParaRPr lang="zh-CN">
                  <a:solidFill>
                    <a:schemeClr val="tx1"/>
                  </a:solidFill>
                </a:endParaRPr>
              </a:p>
              <a:p>
                <a:pPr marL="0" lvl="0" indent="0">
                  <a:buNone/>
                </a:pPr>
                <a:r>
                  <a:rPr lang="zh-CN">
                    <a:solidFill>
                      <a:schemeClr val="tx1"/>
                    </a:solidFill>
                  </a:rPr>
                  <a:t>的线性分类器，其中</a:t>
                </a:r>
                <a14:m>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𝑤</m:t>
                        </m:r>
                      </m:e>
                      <m:sub>
                        <m:r>
                          <a:rPr lang="en-US" altLang="zh-CN" i="1">
                            <a:solidFill>
                              <a:schemeClr val="tx1"/>
                            </a:solidFill>
                            <a:latin typeface="Cambria Math" panose="02040503050406030204" pitchFamily="18" charset="0"/>
                            <a:cs typeface="Cambria Math" panose="02040503050406030204" pitchFamily="18" charset="0"/>
                          </a:rPr>
                          <m:t>𝑖</m:t>
                        </m:r>
                      </m:sub>
                    </m:sSub>
                  </m:oMath>
                </a14:m>
                <a:r>
                  <a:rPr lang="zh-CN" altLang="en-US">
                    <a:solidFill>
                      <a:schemeClr val="tx1"/>
                    </a:solidFill>
                    <a:latin typeface="Cambria Math" panose="02040503050406030204" pitchFamily="18" charset="0"/>
                    <a:cs typeface="Cambria Math" panose="02040503050406030204" pitchFamily="18" charset="0"/>
                  </a:rPr>
                  <a:t>是属性</a:t>
                </a:r>
                <a14:m>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𝑖</m:t>
                        </m:r>
                      </m:sub>
                    </m:sSub>
                  </m:oMath>
                </a14:m>
                <a:r>
                  <a:rPr lang="zh-CN" altLang="en-US">
                    <a:solidFill>
                      <a:schemeClr val="tx1"/>
                    </a:solidFill>
                    <a:latin typeface="Cambria Math" panose="02040503050406030204" pitchFamily="18" charset="0"/>
                    <a:cs typeface="Cambria Math" panose="02040503050406030204" pitchFamily="18" charset="0"/>
                  </a:rPr>
                  <a:t>的权重，</a:t>
                </a:r>
                <a14:m>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𝑤</m:t>
                        </m:r>
                      </m:e>
                      <m:sub>
                        <m:r>
                          <a:rPr lang="en-US" altLang="zh-CN" i="1">
                            <a:solidFill>
                              <a:schemeClr val="tx1"/>
                            </a:solidFill>
                            <a:latin typeface="Cambria Math" panose="02040503050406030204" pitchFamily="18" charset="0"/>
                            <a:cs typeface="Cambria Math" panose="02040503050406030204" pitchFamily="18" charset="0"/>
                          </a:rPr>
                          <m:t>𝑖</m:t>
                        </m:r>
                      </m:sub>
                    </m:sSub>
                  </m:oMath>
                </a14:m>
                <a:r>
                  <a:rPr lang="zh-CN" altLang="en-US">
                    <a:solidFill>
                      <a:schemeClr val="tx1"/>
                    </a:solidFill>
                    <a:latin typeface="Cambria Math" panose="02040503050406030204" pitchFamily="18" charset="0"/>
                    <a:cs typeface="Cambria Math" panose="02040503050406030204" pitchFamily="18" charset="0"/>
                  </a:rPr>
                  <a:t>和</a:t>
                </a:r>
                <a:r>
                  <a:rPr lang="en-US" altLang="zh-CN">
                    <a:solidFill>
                      <a:schemeClr val="tx1"/>
                    </a:solidFill>
                    <a:latin typeface="Cambria Math" panose="02040503050406030204" pitchFamily="18" charset="0"/>
                    <a:cs typeface="Cambria Math" panose="02040503050406030204" pitchFamily="18" charset="0"/>
                  </a:rPr>
                  <a:t>t</a:t>
                </a:r>
                <a:r>
                  <a:rPr lang="zh-CN" altLang="en-US">
                    <a:solidFill>
                      <a:schemeClr val="tx1"/>
                    </a:solidFill>
                    <a:latin typeface="Cambria Math" panose="02040503050406030204" pitchFamily="18" charset="0"/>
                    <a:cs typeface="Cambria Math" panose="02040503050406030204" pitchFamily="18" charset="0"/>
                  </a:rPr>
                  <a:t>可在该结点所含的样本集和属性集上学习得到</a:t>
                </a:r>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99085" y="1052195"/>
                <a:ext cx="11294110" cy="1991995"/>
              </a:xfrm>
              <a:prstGeom prst="rect">
                <a:avLst/>
              </a:prstGeom>
              <a:blipFill rotWithShape="1">
                <a:blip r:embed="rId1"/>
                <a:stretch>
                  <a:fillRect/>
                </a:stretch>
              </a:blipFill>
            </p:spPr>
            <p:txBody>
              <a:bodyPr/>
              <a:lstStyle/>
              <a:p>
                <a:r>
                  <a:rPr lang="zh-CN" altLang="en-US">
                    <a:noFill/>
                  </a:rPr>
                  <a:t> </a:t>
                </a:r>
              </a:p>
            </p:txBody>
          </p:sp>
        </mc:Fallback>
      </mc:AlternateContent>
      <p:pic>
        <p:nvPicPr>
          <p:cNvPr id="8" name="图片 7" descr="多变量决策树1"/>
          <p:cNvPicPr>
            <a:picLocks noChangeAspect="1"/>
          </p:cNvPicPr>
          <p:nvPr/>
        </p:nvPicPr>
        <p:blipFill>
          <a:blip r:embed="rId2"/>
          <a:stretch>
            <a:fillRect/>
          </a:stretch>
        </p:blipFill>
        <p:spPr>
          <a:xfrm>
            <a:off x="2315210" y="3259455"/>
            <a:ext cx="2282825" cy="3481070"/>
          </a:xfrm>
          <a:prstGeom prst="rect">
            <a:avLst/>
          </a:prstGeom>
        </p:spPr>
      </p:pic>
      <p:sp>
        <p:nvSpPr>
          <p:cNvPr id="9" name="右箭头 8"/>
          <p:cNvSpPr/>
          <p:nvPr/>
        </p:nvSpPr>
        <p:spPr>
          <a:xfrm>
            <a:off x="4907915" y="4841875"/>
            <a:ext cx="1630045"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多变量决策树2"/>
          <p:cNvPicPr>
            <a:picLocks noChangeAspect="1"/>
          </p:cNvPicPr>
          <p:nvPr/>
        </p:nvPicPr>
        <p:blipFill>
          <a:blip r:embed="rId3"/>
          <a:stretch>
            <a:fillRect/>
          </a:stretch>
        </p:blipFill>
        <p:spPr>
          <a:xfrm>
            <a:off x="6756400" y="3232150"/>
            <a:ext cx="2773045" cy="3537585"/>
          </a:xfrm>
          <a:prstGeom prst="rect">
            <a:avLst/>
          </a:prstGeom>
        </p:spPr>
      </p:pic>
      <p:sp>
        <p:nvSpPr>
          <p:cNvPr id="6" name="矩形 5"/>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6"/>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多变量决策树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sym typeface="+mn-ea"/>
              </a:rPr>
              <a:t>基于python创建分类决策树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回归决策树</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97815" y="1162050"/>
            <a:ext cx="11307445" cy="2750185"/>
          </a:xfrm>
          <a:prstGeom prst="rect">
            <a:avLst/>
          </a:prstGeom>
          <a:noFill/>
        </p:spPr>
        <p:txBody>
          <a:bodyPr wrap="square" rtlCol="0">
            <a:spAutoFit/>
          </a:bodyPr>
          <a:lstStyle/>
          <a:p>
            <a:r>
              <a:rPr lang="zh-CN" altLang="en-US"/>
              <a:t>以上介绍的均是决策树解决</a:t>
            </a:r>
            <a:r>
              <a:rPr lang="zh-CN" altLang="en-US" b="1">
                <a:solidFill>
                  <a:srgbClr val="0070C0"/>
                </a:solidFill>
              </a:rPr>
              <a:t>分类</a:t>
            </a:r>
            <a:r>
              <a:rPr lang="zh-CN" altLang="en-US"/>
              <a:t>问题，其实决策树也可以解决</a:t>
            </a:r>
            <a:r>
              <a:rPr lang="zh-CN" altLang="en-US" b="1">
                <a:solidFill>
                  <a:schemeClr val="accent2">
                    <a:lumMod val="75000"/>
                  </a:schemeClr>
                </a:solidFill>
              </a:rPr>
              <a:t>回归</a:t>
            </a:r>
            <a:r>
              <a:rPr lang="zh-CN" altLang="en-US"/>
              <a:t>问题，需要解决两个问题：</a:t>
            </a:r>
            <a:endParaRPr lang="zh-CN" altLang="en-US"/>
          </a:p>
          <a:p>
            <a:pPr marL="457200" lvl="1" indent="457200"/>
            <a:r>
              <a:rPr lang="en-US" altLang="zh-CN"/>
              <a:t>1</a:t>
            </a:r>
            <a:r>
              <a:rPr lang="zh-CN" altLang="en-US"/>
              <a:t>）</a:t>
            </a:r>
            <a:r>
              <a:rPr lang="zh-CN" altLang="en-US" b="1">
                <a:solidFill>
                  <a:schemeClr val="accent2">
                    <a:lumMod val="75000"/>
                  </a:schemeClr>
                </a:solidFill>
              </a:rPr>
              <a:t>回归</a:t>
            </a:r>
            <a:r>
              <a:rPr lang="zh-CN" altLang="en-US"/>
              <a:t>问题如何选择最优划分属性？</a:t>
            </a:r>
            <a:endParaRPr lang="zh-CN" altLang="en-US"/>
          </a:p>
          <a:p>
            <a:pPr marL="457200" lvl="1" indent="457200"/>
            <a:r>
              <a:rPr lang="en-US" altLang="zh-CN"/>
              <a:t>2</a:t>
            </a:r>
            <a:r>
              <a:rPr lang="zh-CN" altLang="en-US"/>
              <a:t>）</a:t>
            </a:r>
            <a:r>
              <a:rPr lang="zh-CN" altLang="en-US" b="1">
                <a:solidFill>
                  <a:schemeClr val="accent2">
                    <a:lumMod val="75000"/>
                  </a:schemeClr>
                </a:solidFill>
              </a:rPr>
              <a:t>回归</a:t>
            </a:r>
            <a:r>
              <a:rPr lang="zh-CN" altLang="en-US"/>
              <a:t>问题最终得到的每个叶结点对应的回归值应是多少？</a:t>
            </a:r>
            <a:endParaRPr lang="zh-CN" altLang="en-US"/>
          </a:p>
          <a:p>
            <a:pPr indent="457200"/>
            <a:endParaRPr lang="zh-CN" altLang="en-US"/>
          </a:p>
          <a:p>
            <a:pPr marL="0" lvl="0" indent="0">
              <a:buNone/>
            </a:pPr>
            <a:r>
              <a:rPr lang="zh-CN" altLang="en-US">
                <a:solidFill>
                  <a:schemeClr val="tx1"/>
                </a:solidFill>
              </a:rPr>
              <a:t>对于问题</a:t>
            </a:r>
            <a:r>
              <a:rPr lang="en-US" altLang="zh-CN">
                <a:solidFill>
                  <a:schemeClr val="tx1"/>
                </a:solidFill>
              </a:rPr>
              <a:t>1</a:t>
            </a:r>
            <a:r>
              <a:rPr lang="zh-CN" altLang="en-US">
                <a:solidFill>
                  <a:schemeClr val="tx1"/>
                </a:solidFill>
              </a:rPr>
              <a:t>：对于</a:t>
            </a:r>
            <a:r>
              <a:rPr lang="zh-CN" altLang="en-US" b="1">
                <a:solidFill>
                  <a:srgbClr val="0070C0"/>
                </a:solidFill>
              </a:rPr>
              <a:t>分类</a:t>
            </a:r>
            <a:r>
              <a:rPr lang="zh-CN" altLang="en-US">
                <a:solidFill>
                  <a:schemeClr val="tx1"/>
                </a:solidFill>
              </a:rPr>
              <a:t>问题，在训练决策树时，通过熵值减少的程度</a:t>
            </a:r>
            <a:r>
              <a:rPr lang="en-US" altLang="zh-CN"/>
              <a:t>(</a:t>
            </a:r>
            <a:r>
              <a:rPr lang="zh-CN" altLang="en-US"/>
              <a:t>信息增益、增益率、基尼指数</a:t>
            </a:r>
            <a:r>
              <a:rPr lang="en-US" altLang="zh-CN"/>
              <a:t>)</a:t>
            </a:r>
            <a:r>
              <a:rPr lang="zh-CN" altLang="en-US"/>
              <a:t>来选择最优</a:t>
            </a:r>
            <a:endParaRPr lang="zh-CN" altLang="en-US"/>
          </a:p>
          <a:p>
            <a:pPr marL="0" lvl="0" indent="0">
              <a:buNone/>
            </a:pPr>
            <a:r>
              <a:rPr lang="zh-CN" altLang="en-US"/>
              <a:t> </a:t>
            </a:r>
            <a:r>
              <a:rPr lang="en-US" altLang="zh-CN"/>
              <a:t>                       </a:t>
            </a:r>
            <a:r>
              <a:rPr lang="zh-CN" altLang="en-US"/>
              <a:t>划分属性，而对于</a:t>
            </a:r>
            <a:r>
              <a:rPr lang="zh-CN" altLang="en-US" b="1">
                <a:solidFill>
                  <a:schemeClr val="accent2">
                    <a:lumMod val="75000"/>
                  </a:schemeClr>
                </a:solidFill>
              </a:rPr>
              <a:t>回归</a:t>
            </a:r>
            <a:r>
              <a:rPr lang="zh-CN" altLang="en-US"/>
              <a:t>问题，在训练决策树时，通过归类到同一结点样本之间的方差大小来选择最</a:t>
            </a:r>
            <a:endParaRPr lang="zh-CN" altLang="en-US"/>
          </a:p>
          <a:p>
            <a:pPr marL="0" lvl="0" indent="0">
              <a:buNone/>
            </a:pPr>
            <a:r>
              <a:rPr lang="zh-CN" altLang="en-US"/>
              <a:t> </a:t>
            </a:r>
            <a:r>
              <a:rPr lang="en-US" altLang="zh-CN"/>
              <a:t>                       </a:t>
            </a:r>
            <a:r>
              <a:rPr lang="zh-CN" altLang="en-US"/>
              <a:t>优划分属性</a:t>
            </a:r>
            <a:endParaRPr lang="zh-CN" altLang="en-US"/>
          </a:p>
          <a:p>
            <a:pPr marL="0" lvl="0" indent="0">
              <a:lnSpc>
                <a:spcPct val="60000"/>
              </a:lnSpc>
              <a:buNone/>
            </a:pPr>
            <a:endParaRPr lang="zh-CN" altLang="en-US"/>
          </a:p>
          <a:p>
            <a:pPr marL="0" lvl="0" indent="0">
              <a:buNone/>
            </a:pPr>
            <a:r>
              <a:rPr lang="zh-CN" altLang="en-US"/>
              <a:t>对于问题</a:t>
            </a:r>
            <a:r>
              <a:rPr lang="en-US" altLang="zh-CN"/>
              <a:t>2</a:t>
            </a:r>
            <a:r>
              <a:rPr lang="zh-CN" altLang="en-US"/>
              <a:t>：</a:t>
            </a:r>
            <a:r>
              <a:rPr lang="zh-CN" altLang="en-US">
                <a:sym typeface="+mn-ea"/>
              </a:rPr>
              <a:t>对于</a:t>
            </a:r>
            <a:r>
              <a:rPr lang="zh-CN" altLang="en-US" b="1">
                <a:solidFill>
                  <a:srgbClr val="0070C0"/>
                </a:solidFill>
                <a:sym typeface="+mn-ea"/>
              </a:rPr>
              <a:t>分类</a:t>
            </a:r>
            <a:r>
              <a:rPr lang="zh-CN" altLang="en-US">
                <a:sym typeface="+mn-ea"/>
              </a:rPr>
              <a:t>问题，在训练决策树时，选择叶结点中样本所属类别中最多的类别作为该叶结点的类</a:t>
            </a:r>
            <a:endParaRPr lang="zh-CN" altLang="en-US">
              <a:sym typeface="+mn-ea"/>
            </a:endParaRPr>
          </a:p>
          <a:p>
            <a:pPr marL="0" lvl="0" indent="0">
              <a:buNone/>
            </a:pPr>
            <a:r>
              <a:rPr lang="zh-CN" altLang="en-US">
                <a:sym typeface="+mn-ea"/>
              </a:rPr>
              <a:t> </a:t>
            </a:r>
            <a:r>
              <a:rPr lang="en-US" altLang="zh-CN">
                <a:sym typeface="+mn-ea"/>
              </a:rPr>
              <a:t>                       </a:t>
            </a:r>
            <a:r>
              <a:rPr lang="zh-CN" altLang="en-US">
                <a:sym typeface="+mn-ea"/>
              </a:rPr>
              <a:t>别，而对于</a:t>
            </a:r>
            <a:r>
              <a:rPr lang="zh-CN" altLang="en-US" b="1">
                <a:solidFill>
                  <a:schemeClr val="accent2">
                    <a:lumMod val="75000"/>
                  </a:schemeClr>
                </a:solidFill>
                <a:sym typeface="+mn-ea"/>
              </a:rPr>
              <a:t>回归</a:t>
            </a:r>
            <a:r>
              <a:rPr lang="zh-CN" altLang="en-US">
                <a:sym typeface="+mn-ea"/>
              </a:rPr>
              <a:t>问题，在训练决策树时，选择叶结点中样本的平均值作为该叶结点的回归值</a:t>
            </a:r>
            <a:endParaRPr lang="zh-CN" altLang="en-US"/>
          </a:p>
        </p:txBody>
      </p:sp>
      <p:sp>
        <p:nvSpPr>
          <p:cNvPr id="6" name="矩形 5"/>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回归决策树</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sym typeface="+mn-ea"/>
              </a:rPr>
              <a:t>基于python创建分类决策树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拓展：随机森林</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280670" y="1221105"/>
                <a:ext cx="11345545" cy="3756025"/>
              </a:xfrm>
              <a:prstGeom prst="rect">
                <a:avLst/>
              </a:prstGeom>
              <a:noFill/>
            </p:spPr>
            <p:txBody>
              <a:bodyPr wrap="square" rtlCol="0">
                <a:spAutoFit/>
              </a:bodyPr>
              <a:lstStyle/>
              <a:p>
                <a:r>
                  <a:rPr lang="zh-CN" altLang="en-US" b="1">
                    <a:solidFill>
                      <a:srgbClr val="0070C0"/>
                    </a:solidFill>
                  </a:rPr>
                  <a:t>集成算法(</a:t>
                </a:r>
                <a:r>
                  <a:rPr lang="zh-CN" altLang="en-US" b="1">
                    <a:solidFill>
                      <a:srgbClr val="0070C0"/>
                    </a:solidFill>
                    <a:latin typeface="Times New Roman" panose="02020603050405020304" charset="0"/>
                    <a:cs typeface="Times New Roman" panose="02020603050405020304" charset="0"/>
                  </a:rPr>
                  <a:t>Ensemble learning</a:t>
                </a:r>
                <a:r>
                  <a:rPr lang="zh-CN" altLang="en-US" b="1">
                    <a:solidFill>
                      <a:srgbClr val="0070C0"/>
                    </a:solidFill>
                  </a:rPr>
                  <a:t>)：</a:t>
                </a:r>
                <a:r>
                  <a:rPr lang="zh-CN" altLang="en-US"/>
                  <a:t>构建多个学习器，通过一定策略结合来完成学习任务。当弱学习器被正确组合时，</a:t>
                </a:r>
                <a:endParaRPr lang="zh-CN" altLang="en-US"/>
              </a:p>
              <a:p>
                <a:r>
                  <a:rPr lang="zh-CN" altLang="en-US"/>
                  <a:t> </a:t>
                </a:r>
                <a:r>
                  <a:rPr lang="en-US" altLang="zh-CN"/>
                  <a:t>                                                         </a:t>
                </a:r>
                <a:r>
                  <a:rPr lang="zh-CN" altLang="en-US"/>
                  <a:t>我们能得到更精确、鲁棒性更好的学习器。由于个体学习器在准确性和多样性存</a:t>
                </a:r>
                <a:endParaRPr lang="zh-CN" altLang="en-US"/>
              </a:p>
              <a:p>
                <a:r>
                  <a:rPr lang="zh-CN" altLang="en-US"/>
                  <a:t> </a:t>
                </a:r>
                <a:r>
                  <a:rPr lang="en-US" altLang="zh-CN"/>
                  <a:t>                                                         </a:t>
                </a:r>
                <a:r>
                  <a:rPr lang="zh-CN" altLang="en-US"/>
                  <a:t>在冲突，追求多样性势必要牺牲准确性。这就需要将这些“好而不同”的个体学</a:t>
                </a:r>
                <a:endParaRPr lang="zh-CN" altLang="en-US"/>
              </a:p>
              <a:p>
                <a:r>
                  <a:rPr lang="zh-CN" altLang="en-US"/>
                  <a:t> </a:t>
                </a:r>
                <a:r>
                  <a:rPr lang="en-US" altLang="zh-CN"/>
                  <a:t>                                                         </a:t>
                </a:r>
                <a:r>
                  <a:rPr lang="zh-CN" altLang="en-US"/>
                  <a:t>习器结合起来。而研究如何产生并结合个体学习器也是集成学习研究的核心</a:t>
                </a:r>
                <a:endParaRPr lang="zh-CN" altLang="en-US"/>
              </a:p>
              <a:p>
                <a:endParaRPr lang="zh-CN" altLang="en-US"/>
              </a:p>
              <a:p>
                <a:r>
                  <a:rPr lang="zh-CN" altLang="en-US" b="1">
                    <a:solidFill>
                      <a:srgbClr val="0070C0"/>
                    </a:solidFill>
                    <a:latin typeface="Times New Roman" panose="02020603050405020304" charset="0"/>
                    <a:cs typeface="Times New Roman" panose="02020603050405020304" charset="0"/>
                  </a:rPr>
                  <a:t>Bagging：</a:t>
                </a:r>
                <a:r>
                  <a:rPr lang="zh-CN" altLang="en-US" sz="1600"/>
                  <a:t>训练多个分类器取平均</a:t>
                </a:r>
                <a:r>
                  <a:rPr lang="en-US" altLang="zh-CN" sz="1600"/>
                  <a:t>  </a:t>
                </a:r>
                <a14:m>
                  <m:oMath xmlns:m="http://schemas.openxmlformats.org/officeDocument/2006/math">
                    <m:r>
                      <a:rPr lang="en-US" altLang="zh-CN" sz="1600" i="1">
                        <a:latin typeface="Cambria Math" panose="02040503050406030204" pitchFamily="18" charset="0"/>
                        <a:cs typeface="Cambria Math" panose="02040503050406030204" pitchFamily="18" charset="0"/>
                      </a:rPr>
                      <m:t>  </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1</m:t>
                        </m:r>
                      </m:num>
                      <m:den>
                        <m:r>
                          <a:rPr lang="en-US" altLang="zh-CN" sz="1600" i="1">
                            <a:latin typeface="Cambria Math" panose="02040503050406030204" pitchFamily="18" charset="0"/>
                            <a:cs typeface="Cambria Math" panose="02040503050406030204" pitchFamily="18" charset="0"/>
                          </a:rPr>
                          <m:t>𝑀</m:t>
                        </m:r>
                      </m:den>
                    </m:f>
                    <m:nary>
                      <m:naryPr>
                        <m:chr m:val="∑"/>
                        <m:limLoc m:val="undOvr"/>
                        <m:ctrlPr>
                          <a:rPr lang="en-US" altLang="zh-CN" sz="1600" i="1">
                            <a:latin typeface="Cambria Math" panose="02040503050406030204" pitchFamily="18" charset="0"/>
                            <a:cs typeface="Cambria Math" panose="02040503050406030204" pitchFamily="18" charset="0"/>
                          </a:rPr>
                        </m:ctrlPr>
                      </m:naryPr>
                      <m:sub>
                        <m:r>
                          <a:rPr lang="en-US" altLang="zh-CN" sz="1600" i="1">
                            <a:latin typeface="Cambria Math" panose="02040503050406030204" pitchFamily="18" charset="0"/>
                            <a:cs typeface="Cambria Math" panose="02040503050406030204" pitchFamily="18" charset="0"/>
                          </a:rPr>
                          <m:t>𝑚</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sub>
                      <m:sup>
                        <m:r>
                          <a:rPr lang="en-US" altLang="zh-CN" sz="1600" i="1">
                            <a:latin typeface="Cambria Math" panose="02040503050406030204" pitchFamily="18" charset="0"/>
                            <a:cs typeface="Cambria Math" panose="02040503050406030204" pitchFamily="18" charset="0"/>
                          </a:rPr>
                          <m:t>𝑀</m:t>
                        </m:r>
                      </m:sup>
                      <m:e>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𝑓</m:t>
                            </m:r>
                          </m:e>
                          <m:sub>
                            <m:r>
                              <a:rPr lang="en-US" altLang="zh-CN" sz="1600" i="1">
                                <a:latin typeface="Cambria Math" panose="02040503050406030204" pitchFamily="18" charset="0"/>
                                <a:cs typeface="Cambria Math" panose="02040503050406030204" pitchFamily="18" charset="0"/>
                              </a:rPr>
                              <m:t>𝑚</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e>
                    </m:nary>
                  </m:oMath>
                </a14:m>
                <a:endParaRPr lang="en-US" altLang="zh-CN" sz="1600"/>
              </a:p>
              <a:p>
                <a:endParaRPr lang="en-US" altLang="zh-CN"/>
              </a:p>
              <a:p>
                <a:r>
                  <a:rPr lang="zh-CN" altLang="en-US" b="1">
                    <a:solidFill>
                      <a:srgbClr val="0070C0"/>
                    </a:solidFill>
                    <a:latin typeface="Times New Roman" panose="02020603050405020304" charset="0"/>
                    <a:cs typeface="Times New Roman" panose="02020603050405020304" charset="0"/>
                  </a:rPr>
                  <a:t>Boosting：</a:t>
                </a:r>
                <a:r>
                  <a:rPr lang="zh-CN" altLang="en-US" sz="1600"/>
                  <a:t>从弱学习器开始加强，通过加权来进行训练</a:t>
                </a:r>
                <a:r>
                  <a:rPr lang="en-US" altLang="zh-CN" sz="1600"/>
                  <a:t>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𝐹</m:t>
                        </m:r>
                      </m:e>
                      <m:sub>
                        <m:r>
                          <a:rPr lang="en-US" altLang="zh-CN" sz="1600" i="1">
                            <a:latin typeface="Cambria Math" panose="02040503050406030204" pitchFamily="18" charset="0"/>
                            <a:cs typeface="Cambria Math" panose="02040503050406030204" pitchFamily="18" charset="0"/>
                          </a:rPr>
                          <m:t>𝑚</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𝐹</m:t>
                        </m:r>
                      </m:e>
                      <m:sub>
                        <m:r>
                          <a:rPr lang="en-US" altLang="zh-CN" sz="1600" i="1">
                            <a:latin typeface="Cambria Math" panose="02040503050406030204" pitchFamily="18" charset="0"/>
                            <a:cs typeface="Cambria Math" panose="02040503050406030204" pitchFamily="18" charset="0"/>
                          </a:rPr>
                          <m:t>𝑚</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𝑎𝑟𝑔𝑚𝑖𝑛</m:t>
                        </m:r>
                      </m:e>
                      <m:sub>
                        <m:r>
                          <a:rPr lang="en-US" altLang="zh-CN" sz="1600" i="1">
                            <a:latin typeface="Cambria Math" panose="02040503050406030204" pitchFamily="18" charset="0"/>
                            <a:cs typeface="Cambria Math" panose="02040503050406030204" pitchFamily="18" charset="0"/>
                          </a:rPr>
                          <m:t>ℎ</m:t>
                        </m:r>
                      </m:sub>
                    </m:sSub>
                    <m:r>
                      <a:rPr lang="en-US" altLang="zh-CN" sz="1600" i="1">
                        <a:latin typeface="Cambria Math" panose="02040503050406030204" pitchFamily="18" charset="0"/>
                        <a:cs typeface="Cambria Math" panose="02040503050406030204" pitchFamily="18" charset="0"/>
                      </a:rPr>
                      <m:t> </m:t>
                    </m:r>
                    <m:nary>
                      <m:naryPr>
                        <m:chr m:val="∑"/>
                        <m:limLoc m:val="undOvr"/>
                        <m:ctrlPr>
                          <a:rPr lang="en-US" altLang="zh-CN" sz="1600" i="1">
                            <a:latin typeface="Cambria Math" panose="02040503050406030204" pitchFamily="18" charset="0"/>
                            <a:cs typeface="Cambria Math" panose="02040503050406030204" pitchFamily="18" charset="0"/>
                          </a:rPr>
                        </m:ctrlPr>
                      </m:naryPr>
                      <m:sub>
                        <m:r>
                          <a:rPr lang="en-US" altLang="zh-CN" sz="1600" i="1">
                            <a:latin typeface="Cambria Math" panose="02040503050406030204" pitchFamily="18" charset="0"/>
                            <a:cs typeface="Cambria Math" panose="02040503050406030204" pitchFamily="18" charset="0"/>
                          </a:rPr>
                          <m:t>𝑖</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sub>
                      <m:sup>
                        <m:r>
                          <a:rPr lang="en-US" altLang="zh-CN" sz="1600" i="1">
                            <a:latin typeface="Cambria Math" panose="02040503050406030204" pitchFamily="18" charset="0"/>
                            <a:cs typeface="Cambria Math" panose="02040503050406030204" pitchFamily="18" charset="0"/>
                          </a:rPr>
                          <m:t>𝑛</m:t>
                        </m:r>
                      </m:sup>
                      <m:e>
                        <m:r>
                          <a:rPr lang="en-US" altLang="zh-CN" sz="1600" i="1">
                            <a:latin typeface="Cambria Math" panose="02040503050406030204" pitchFamily="18" charset="0"/>
                            <a:cs typeface="Cambria Math" panose="02040503050406030204" pitchFamily="18" charset="0"/>
                          </a:rPr>
                          <m:t>𝐿</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𝑦</m:t>
                            </m:r>
                          </m:e>
                          <m:sub>
                            <m:r>
                              <a:rPr lang="en-US" altLang="zh-CN" sz="1600" i="1">
                                <a:latin typeface="Cambria Math" panose="02040503050406030204" pitchFamily="18" charset="0"/>
                                <a:cs typeface="Cambria Math" panose="02040503050406030204" pitchFamily="18" charset="0"/>
                              </a:rPr>
                              <m:t>𝑖</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𝐹</m:t>
                            </m:r>
                          </m:e>
                          <m:sub>
                            <m:r>
                              <a:rPr lang="en-US" altLang="zh-CN" sz="1600" i="1">
                                <a:latin typeface="Cambria Math" panose="02040503050406030204" pitchFamily="18" charset="0"/>
                                <a:cs typeface="Cambria Math" panose="02040503050406030204" pitchFamily="18" charset="0"/>
                              </a:rPr>
                              <m:t>𝑚</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𝑖</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ℎ</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𝑖</m:t>
                            </m:r>
                          </m:sub>
                        </m:sSub>
                        <m:r>
                          <a:rPr lang="en-US" altLang="zh-CN" sz="1600" i="1">
                            <a:latin typeface="Cambria Math" panose="02040503050406030204" pitchFamily="18" charset="0"/>
                            <a:cs typeface="Cambria Math" panose="02040503050406030204" pitchFamily="18" charset="0"/>
                          </a:rPr>
                          <m:t>))</m:t>
                        </m:r>
                      </m:e>
                    </m:nary>
                  </m:oMath>
                </a14:m>
                <a:endParaRPr lang="zh-CN" altLang="en-US" sz="1600"/>
              </a:p>
              <a:p>
                <a:endParaRPr lang="en-US" altLang="zh-CN"/>
              </a:p>
              <a:p>
                <a:r>
                  <a:rPr lang="zh-CN" altLang="en-US" b="1">
                    <a:solidFill>
                      <a:srgbClr val="0070C0"/>
                    </a:solidFill>
                    <a:latin typeface="Times New Roman" panose="02020603050405020304" charset="0"/>
                    <a:cs typeface="Times New Roman" panose="02020603050405020304" charset="0"/>
                  </a:rPr>
                  <a:t>Stacking：</a:t>
                </a:r>
                <a:r>
                  <a:rPr lang="zh-CN" altLang="en-US" sz="1600"/>
                  <a:t>聚合多个分类或回归模型</a:t>
                </a:r>
                <a:endParaRPr lang="zh-CN" altLang="en-US" sz="1600"/>
              </a:p>
              <a:p>
                <a:endParaRPr lang="zh-CN" altLang="en-US" sz="1600"/>
              </a:p>
              <a:p>
                <a:endParaRPr lang="zh-CN" altLang="en-US" sz="1600"/>
              </a:p>
              <a:p>
                <a:r>
                  <a:rPr lang="zh-CN" altLang="en-US" sz="1800" b="1">
                    <a:solidFill>
                      <a:srgbClr val="0070C0"/>
                    </a:solidFill>
                    <a:latin typeface="Times New Roman" panose="02020603050405020304" charset="0"/>
                    <a:cs typeface="Times New Roman" panose="02020603050405020304" charset="0"/>
                  </a:rPr>
                  <a:t>Bagging</a:t>
                </a:r>
                <a:r>
                  <a:rPr lang="zh-CN" altLang="en-US" sz="1600"/>
                  <a:t>模型中最为典型的代表便是</a:t>
                </a:r>
                <a:r>
                  <a:rPr lang="zh-CN" altLang="en-US" sz="1800" b="1">
                    <a:solidFill>
                      <a:srgbClr val="0070C0"/>
                    </a:solidFill>
                  </a:rPr>
                  <a:t>随机森林</a:t>
                </a:r>
                <a:endParaRPr lang="zh-CN" altLang="en-US" sz="1800" b="1">
                  <a:solidFill>
                    <a:srgbClr val="0070C0"/>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280670" y="1221105"/>
                <a:ext cx="11345545" cy="3756025"/>
              </a:xfrm>
              <a:prstGeom prst="rect">
                <a:avLst/>
              </a:prstGeom>
              <a:blipFill rotWithShape="1">
                <a:blip r:embed="rId1"/>
                <a:stretch>
                  <a:fillRect r="-733"/>
                </a:stretch>
              </a:blipFill>
            </p:spPr>
            <p:txBody>
              <a:bodyPr/>
              <a:lstStyle/>
              <a:p>
                <a:r>
                  <a:rPr lang="zh-CN" altLang="en-US">
                    <a:noFill/>
                  </a:rPr>
                  <a:t> </a:t>
                </a:r>
              </a:p>
            </p:txBody>
          </p:sp>
        </mc:Fallback>
      </mc:AlternateContent>
      <p:sp>
        <p:nvSpPr>
          <p:cNvPr id="5" name="矩形 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拓展：随机森林</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01625" y="1229360"/>
            <a:ext cx="10970260" cy="645160"/>
          </a:xfrm>
          <a:prstGeom prst="rect">
            <a:avLst/>
          </a:prstGeom>
          <a:noFill/>
        </p:spPr>
        <p:txBody>
          <a:bodyPr wrap="square" rtlCol="0" anchor="t">
            <a:spAutoFit/>
          </a:bodyPr>
          <a:lstStyle/>
          <a:p>
            <a:r>
              <a:rPr lang="zh-CN" altLang="en-US" b="1">
                <a:solidFill>
                  <a:srgbClr val="0070C0"/>
                </a:solidFill>
                <a:sym typeface="+mn-ea"/>
              </a:rPr>
              <a:t>随机森林</a:t>
            </a:r>
            <a:r>
              <a:rPr lang="zh-CN" altLang="en-US">
                <a:sym typeface="+mn-ea"/>
              </a:rPr>
              <a:t>：一个包含多个决策树的分类器， 对于</a:t>
            </a:r>
            <a:r>
              <a:rPr lang="zh-CN" altLang="en-US" b="1">
                <a:solidFill>
                  <a:srgbClr val="0070C0"/>
                </a:solidFill>
                <a:sym typeface="+mn-ea"/>
              </a:rPr>
              <a:t>分类任务</a:t>
            </a:r>
            <a:r>
              <a:rPr lang="zh-CN" altLang="en-US">
                <a:sym typeface="+mn-ea"/>
              </a:rPr>
              <a:t>其输出的类别是由决策树输出的类别的</a:t>
            </a:r>
            <a:r>
              <a:rPr lang="zh-CN" altLang="en-US" b="1">
                <a:solidFill>
                  <a:srgbClr val="0070C0"/>
                </a:solidFill>
                <a:sym typeface="+mn-ea"/>
              </a:rPr>
              <a:t>众数</a:t>
            </a:r>
            <a:r>
              <a:rPr lang="zh-CN" altLang="en-US">
                <a:sym typeface="+mn-ea"/>
              </a:rPr>
              <a:t>而定；</a:t>
            </a:r>
            <a:endParaRPr lang="zh-CN" altLang="en-US">
              <a:sym typeface="+mn-ea"/>
            </a:endParaRPr>
          </a:p>
          <a:p>
            <a:r>
              <a:rPr lang="en-US" altLang="zh-CN">
                <a:sym typeface="+mn-ea"/>
              </a:rPr>
              <a:t>                      </a:t>
            </a:r>
            <a:r>
              <a:rPr lang="zh-CN" altLang="en-US">
                <a:sym typeface="+mn-ea"/>
              </a:rPr>
              <a:t>对于</a:t>
            </a:r>
            <a:r>
              <a:rPr lang="zh-CN" altLang="en-US" b="1">
                <a:solidFill>
                  <a:schemeClr val="accent2">
                    <a:lumMod val="75000"/>
                  </a:schemeClr>
                </a:solidFill>
                <a:sym typeface="+mn-ea"/>
              </a:rPr>
              <a:t>回归任务</a:t>
            </a:r>
            <a:r>
              <a:rPr lang="zh-CN" altLang="en-US">
                <a:sym typeface="+mn-ea"/>
              </a:rPr>
              <a:t>其输出的预测值是由决策树输出的预测值的</a:t>
            </a:r>
            <a:r>
              <a:rPr lang="zh-CN" altLang="en-US" b="1">
                <a:solidFill>
                  <a:schemeClr val="accent2">
                    <a:lumMod val="75000"/>
                  </a:schemeClr>
                </a:solidFill>
                <a:sym typeface="+mn-ea"/>
              </a:rPr>
              <a:t>平均值</a:t>
            </a:r>
            <a:r>
              <a:rPr lang="zh-CN" altLang="en-US">
                <a:sym typeface="+mn-ea"/>
              </a:rPr>
              <a:t>而定</a:t>
            </a:r>
            <a:endParaRPr lang="zh-CN" altLang="en-US">
              <a:sym typeface="+mn-ea"/>
            </a:endParaRPr>
          </a:p>
        </p:txBody>
      </p:sp>
      <p:pic>
        <p:nvPicPr>
          <p:cNvPr id="5" name="图片 4" descr="随机森林"/>
          <p:cNvPicPr>
            <a:picLocks noChangeAspect="1"/>
          </p:cNvPicPr>
          <p:nvPr/>
        </p:nvPicPr>
        <p:blipFill>
          <a:blip r:embed="rId1"/>
          <a:stretch>
            <a:fillRect/>
          </a:stretch>
        </p:blipFill>
        <p:spPr>
          <a:xfrm>
            <a:off x="3469640" y="2308860"/>
            <a:ext cx="4953635" cy="3715385"/>
          </a:xfrm>
          <a:prstGeom prst="rect">
            <a:avLst/>
          </a:prstGeom>
        </p:spPr>
      </p:pic>
      <p:sp>
        <p:nvSpPr>
          <p:cNvPr id="7" name="文本框 6"/>
          <p:cNvSpPr txBox="1"/>
          <p:nvPr/>
        </p:nvSpPr>
        <p:spPr>
          <a:xfrm>
            <a:off x="667385" y="2719705"/>
            <a:ext cx="2665730" cy="368300"/>
          </a:xfrm>
          <a:prstGeom prst="rect">
            <a:avLst/>
          </a:prstGeom>
          <a:noFill/>
        </p:spPr>
        <p:txBody>
          <a:bodyPr wrap="square" rtlCol="0">
            <a:spAutoFit/>
          </a:bodyPr>
          <a:lstStyle/>
          <a:p>
            <a:r>
              <a:rPr lang="zh-CN" altLang="en-US"/>
              <a:t>随机森林解决分类问题：</a:t>
            </a:r>
            <a:endParaRPr lang="zh-CN" altLang="en-US"/>
          </a:p>
        </p:txBody>
      </p:sp>
      <p:sp>
        <p:nvSpPr>
          <p:cNvPr id="8" name="矩形 7"/>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sym typeface="+mn-ea"/>
              </a:rPr>
              <a:t>拓展：随机森林</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sym typeface="+mn-ea"/>
              </a:rPr>
              <a:t>拓展：随机森林</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2" name="文本框 1"/>
          <p:cNvSpPr txBox="1"/>
          <p:nvPr/>
        </p:nvSpPr>
        <p:spPr>
          <a:xfrm>
            <a:off x="305435" y="1266825"/>
            <a:ext cx="6141085" cy="368300"/>
          </a:xfrm>
          <a:prstGeom prst="rect">
            <a:avLst/>
          </a:prstGeom>
          <a:noFill/>
        </p:spPr>
        <p:txBody>
          <a:bodyPr wrap="square" rtlCol="0">
            <a:spAutoFit/>
          </a:bodyPr>
          <a:lstStyle/>
          <a:p>
            <a:r>
              <a:rPr lang="zh-CN" altLang="en-US" b="1"/>
              <a:t>有了决策树，为什么需要随机森林？→ 银行贷款例子</a:t>
            </a:r>
            <a:endParaRPr lang="zh-CN" altLang="en-US" b="1"/>
          </a:p>
        </p:txBody>
      </p:sp>
      <p:sp>
        <p:nvSpPr>
          <p:cNvPr id="3" name="文本框 2"/>
          <p:cNvSpPr txBox="1"/>
          <p:nvPr/>
        </p:nvSpPr>
        <p:spPr>
          <a:xfrm>
            <a:off x="269240" y="1928495"/>
            <a:ext cx="7221855" cy="3415030"/>
          </a:xfrm>
          <a:prstGeom prst="rect">
            <a:avLst/>
          </a:prstGeom>
          <a:noFill/>
        </p:spPr>
        <p:txBody>
          <a:bodyPr wrap="square" rtlCol="0" anchor="t">
            <a:spAutoFit/>
          </a:bodyPr>
          <a:lstStyle/>
          <a:p>
            <a:pPr indent="457200"/>
            <a:r>
              <a:rPr lang="zh-CN" altLang="en-US"/>
              <a:t>假设银行必须为客户批准一笔小额贷款，而银行需要迅速做出决定。银行检查此人的信用记录和财务状况，发现他们还没有偿还旧贷款。因此，银行拒绝了申请。</a:t>
            </a:r>
            <a:endParaRPr lang="zh-CN" altLang="en-US"/>
          </a:p>
          <a:p>
            <a:pPr indent="457200"/>
            <a:r>
              <a:rPr lang="zh-CN" altLang="en-US"/>
              <a:t>然而对于银行庞大的金库来说，贷款数额非常小，他们本可以在非常低风险的情况下批准贷款。因此，银行失去了赚钱的机会。</a:t>
            </a:r>
            <a:endParaRPr lang="zh-CN" altLang="en-US"/>
          </a:p>
          <a:p>
            <a:pPr indent="457200"/>
            <a:r>
              <a:rPr lang="zh-CN" altLang="en-US"/>
              <a:t>现在，又一个贷款申请将在几天内完成，但这一次银行提出了一个不同的策略：多个决策过程。有时它先检查信用记录，有时它先检查客户的财务状况和贷款金额。最终银行结合这些多个决策过程的结果，决定向客户发放贷款。</a:t>
            </a:r>
            <a:endParaRPr lang="zh-CN" altLang="en-US"/>
          </a:p>
          <a:p>
            <a:pPr indent="457200"/>
            <a:r>
              <a:rPr lang="zh-CN" altLang="en-US"/>
              <a:t>即使这一过程比前一个过程花费更多的时间，银行也可以利用这一方法获利。这是一个典型的例子，集体决策优于单一决策过程，这也是随机森林相较于决策树的优势所在。</a:t>
            </a:r>
            <a:endParaRPr lang="zh-CN" altLang="en-US"/>
          </a:p>
        </p:txBody>
      </p:sp>
      <p:pic>
        <p:nvPicPr>
          <p:cNvPr id="6" name="图片 5" descr="5b2cd3a90781e-s3"/>
          <p:cNvPicPr>
            <a:picLocks noChangeAspect="1"/>
          </p:cNvPicPr>
          <p:nvPr/>
        </p:nvPicPr>
        <p:blipFill>
          <a:blip r:embed="rId4"/>
          <a:stretch>
            <a:fillRect/>
          </a:stretch>
        </p:blipFill>
        <p:spPr>
          <a:xfrm>
            <a:off x="7743190" y="1928495"/>
            <a:ext cx="3781425" cy="345630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3455035" y="2952750"/>
            <a:ext cx="8068310" cy="3844290"/>
          </a:xfrm>
          <a:prstGeom prst="rect">
            <a:avLst/>
          </a:prstGeom>
        </p:spPr>
      </p:pic>
      <p:sp>
        <p:nvSpPr>
          <p:cNvPr id="4" name="文本框 3"/>
          <p:cNvSpPr txBox="1"/>
          <p:nvPr/>
        </p:nvSpPr>
        <p:spPr>
          <a:xfrm>
            <a:off x="269240" y="973455"/>
            <a:ext cx="11321415" cy="2445385"/>
          </a:xfrm>
          <a:prstGeom prst="rect">
            <a:avLst/>
          </a:prstGeom>
          <a:noFill/>
        </p:spPr>
        <p:txBody>
          <a:bodyPr wrap="square" rtlCol="0" anchor="t">
            <a:spAutoFit/>
          </a:bodyPr>
          <a:lstStyle/>
          <a:p>
            <a:r>
              <a:rPr lang="zh-CN" altLang="en-US" b="1">
                <a:sym typeface="+mn-ea"/>
              </a:rPr>
              <a:t>那么如何训练一个随机森林？</a:t>
            </a:r>
            <a:endParaRPr lang="zh-CN" altLang="en-US">
              <a:sym typeface="+mn-ea"/>
            </a:endParaRPr>
          </a:p>
          <a:p>
            <a:pPr>
              <a:lnSpc>
                <a:spcPct val="150000"/>
              </a:lnSpc>
            </a:pPr>
            <a:r>
              <a:rPr lang="zh-CN" altLang="en-US" b="1">
                <a:solidFill>
                  <a:srgbClr val="0070C0"/>
                </a:solidFill>
                <a:sym typeface="+mn-ea"/>
              </a:rPr>
              <a:t>随机森林</a:t>
            </a:r>
            <a:r>
              <a:rPr lang="zh-CN" altLang="en-US">
                <a:sym typeface="+mn-ea"/>
              </a:rPr>
              <a:t>应拆分为</a:t>
            </a:r>
            <a:r>
              <a:rPr lang="zh-CN" altLang="en-US" b="1">
                <a:solidFill>
                  <a:srgbClr val="0070C0"/>
                </a:solidFill>
                <a:sym typeface="+mn-ea"/>
              </a:rPr>
              <a:t>随机</a:t>
            </a:r>
            <a:r>
              <a:rPr lang="en-US" altLang="zh-CN">
                <a:sym typeface="+mn-ea"/>
              </a:rPr>
              <a:t>+</a:t>
            </a:r>
            <a:r>
              <a:rPr lang="zh-CN" altLang="en-US" b="1">
                <a:solidFill>
                  <a:srgbClr val="0070C0"/>
                </a:solidFill>
                <a:sym typeface="+mn-ea"/>
              </a:rPr>
              <a:t>森林</a:t>
            </a:r>
            <a:endParaRPr lang="zh-CN" altLang="en-US">
              <a:solidFill>
                <a:schemeClr val="accent1"/>
              </a:solidFill>
              <a:effectLst>
                <a:outerShdw blurRad="38100" dist="25400" dir="5400000" algn="ctr" rotWithShape="0">
                  <a:srgbClr val="6E747A">
                    <a:alpha val="43000"/>
                  </a:srgbClr>
                </a:outerShdw>
              </a:effectLst>
              <a:sym typeface="+mn-ea"/>
            </a:endParaRPr>
          </a:p>
          <a:p>
            <a:pPr>
              <a:lnSpc>
                <a:spcPct val="150000"/>
              </a:lnSpc>
            </a:pPr>
            <a:r>
              <a:rPr lang="zh-CN" altLang="en-US" b="1">
                <a:solidFill>
                  <a:srgbClr val="0070C0"/>
                </a:solidFill>
                <a:sym typeface="+mn-ea"/>
              </a:rPr>
              <a:t>森林：</a:t>
            </a:r>
            <a:r>
              <a:rPr lang="zh-CN" altLang="en-US">
                <a:sym typeface="+mn-ea"/>
              </a:rPr>
              <a:t>由多个决策树组成，最终的分类和回归结果由所有决策树的分类和回归结果共同决定</a:t>
            </a:r>
            <a:endParaRPr lang="zh-CN" altLang="en-US">
              <a:sym typeface="+mn-ea"/>
            </a:endParaRPr>
          </a:p>
          <a:p>
            <a:pPr>
              <a:lnSpc>
                <a:spcPct val="150000"/>
              </a:lnSpc>
            </a:pPr>
            <a:r>
              <a:rPr lang="zh-CN" altLang="en-US" b="1">
                <a:solidFill>
                  <a:srgbClr val="0070C0"/>
                </a:solidFill>
                <a:sym typeface="+mn-ea"/>
              </a:rPr>
              <a:t>随机：</a:t>
            </a:r>
            <a:r>
              <a:rPr lang="zh-CN" altLang="en-US">
                <a:sym typeface="+mn-ea"/>
              </a:rPr>
              <a:t>当样本集</a:t>
            </a:r>
            <a:r>
              <a:rPr lang="en-US" altLang="zh-CN">
                <a:sym typeface="+mn-ea"/>
              </a:rPr>
              <a:t>D</a:t>
            </a:r>
            <a:r>
              <a:rPr lang="zh-CN" altLang="en-US">
                <a:sym typeface="+mn-ea"/>
              </a:rPr>
              <a:t>相同，属性集</a:t>
            </a:r>
            <a:r>
              <a:rPr lang="en-US" altLang="zh-CN">
                <a:sym typeface="+mn-ea"/>
              </a:rPr>
              <a:t>A</a:t>
            </a:r>
            <a:r>
              <a:rPr lang="zh-CN" altLang="en-US">
                <a:sym typeface="+mn-ea"/>
              </a:rPr>
              <a:t>相同时，无论我们训练多少次所获得的决策树均相同，因此将这些结构相同的</a:t>
            </a:r>
            <a:endParaRPr lang="en-US" altLang="zh-CN">
              <a:sym typeface="+mn-ea"/>
            </a:endParaRPr>
          </a:p>
          <a:p>
            <a:pPr>
              <a:lnSpc>
                <a:spcPct val="150000"/>
              </a:lnSpc>
            </a:pPr>
            <a:r>
              <a:rPr lang="en-US" altLang="zh-CN">
                <a:sym typeface="+mn-ea"/>
              </a:rPr>
              <a:t>             </a:t>
            </a:r>
            <a:r>
              <a:rPr lang="zh-CN" altLang="en-US">
                <a:sym typeface="+mn-ea"/>
              </a:rPr>
              <a:t>决策树进行集成并无意义。因此需要通过对于样本集</a:t>
            </a:r>
            <a:r>
              <a:rPr lang="en-US" altLang="zh-CN">
                <a:sym typeface="+mn-ea"/>
              </a:rPr>
              <a:t>D</a:t>
            </a:r>
            <a:r>
              <a:rPr lang="zh-CN" altLang="en-US">
                <a:sym typeface="+mn-ea"/>
              </a:rPr>
              <a:t>随机采样，以及属性集</a:t>
            </a:r>
            <a:r>
              <a:rPr lang="en-US" altLang="zh-CN">
                <a:sym typeface="+mn-ea"/>
              </a:rPr>
              <a:t>A</a:t>
            </a:r>
            <a:r>
              <a:rPr lang="zh-CN" altLang="en-US">
                <a:sym typeface="+mn-ea"/>
              </a:rPr>
              <a:t>随机选取来训练出不同的</a:t>
            </a:r>
            <a:endParaRPr lang="en-US" altLang="zh-CN">
              <a:sym typeface="+mn-ea"/>
            </a:endParaRPr>
          </a:p>
          <a:p>
            <a:pPr>
              <a:lnSpc>
                <a:spcPct val="150000"/>
              </a:lnSpc>
            </a:pPr>
            <a:r>
              <a:rPr lang="en-US" altLang="zh-CN">
                <a:sym typeface="+mn-ea"/>
              </a:rPr>
              <a:t>             </a:t>
            </a:r>
            <a:r>
              <a:rPr lang="zh-CN" altLang="en-US">
                <a:sym typeface="+mn-ea"/>
              </a:rPr>
              <a:t>决策树，最终组成随机森林</a:t>
            </a:r>
            <a:endParaRPr lang="zh-CN" altLang="en-US">
              <a:sym typeface="+mn-ea"/>
            </a:endParaRPr>
          </a:p>
        </p:txBody>
      </p:sp>
      <p:sp>
        <p:nvSpPr>
          <p:cNvPr id="5" name="矩形 4"/>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5"/>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sym typeface="+mn-ea"/>
              </a:rPr>
              <a:t>拓展：随机森林</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01625" y="1233170"/>
            <a:ext cx="11294110" cy="4022725"/>
          </a:xfrm>
          <a:prstGeom prst="rect">
            <a:avLst/>
          </a:prstGeom>
          <a:noFill/>
        </p:spPr>
        <p:txBody>
          <a:bodyPr wrap="square" rtlCol="0" anchor="t">
            <a:spAutoFit/>
          </a:bodyPr>
          <a:lstStyle/>
          <a:p>
            <a:r>
              <a:rPr lang="zh-CN" altLang="en-US" b="1">
                <a:solidFill>
                  <a:srgbClr val="0070C0"/>
                </a:solidFill>
                <a:sym typeface="+mn-ea"/>
              </a:rPr>
              <a:t>随机森林</a:t>
            </a:r>
            <a:r>
              <a:rPr lang="zh-CN" altLang="en-US">
                <a:sym typeface="+mn-ea"/>
              </a:rPr>
              <a:t>的优势：</a:t>
            </a:r>
            <a:endParaRPr lang="zh-CN" altLang="en-US">
              <a:sym typeface="+mn-ea"/>
            </a:endParaRPr>
          </a:p>
          <a:p>
            <a:pPr>
              <a:lnSpc>
                <a:spcPct val="60000"/>
              </a:lnSpc>
            </a:pPr>
            <a:endParaRPr lang="zh-CN" altLang="en-US">
              <a:sym typeface="+mn-ea"/>
            </a:endParaRPr>
          </a:p>
          <a:p>
            <a:pPr indent="457200"/>
            <a:r>
              <a:rPr lang="en-US" altLang="zh-CN">
                <a:sym typeface="+mn-ea"/>
              </a:rPr>
              <a:t>1</a:t>
            </a:r>
            <a:r>
              <a:rPr lang="zh-CN" altLang="en-US">
                <a:sym typeface="+mn-ea"/>
              </a:rPr>
              <a:t>）能够处理很高维度的数据（特征很多）</a:t>
            </a:r>
            <a:endParaRPr lang="zh-CN" altLang="en-US">
              <a:sym typeface="+mn-ea"/>
            </a:endParaRPr>
          </a:p>
          <a:p>
            <a:pPr indent="457200">
              <a:lnSpc>
                <a:spcPct val="30000"/>
              </a:lnSpc>
            </a:pPr>
            <a:endParaRPr lang="zh-CN" altLang="en-US">
              <a:sym typeface="+mn-ea"/>
            </a:endParaRPr>
          </a:p>
          <a:p>
            <a:pPr indent="457200"/>
            <a:r>
              <a:rPr lang="en-US" altLang="zh-CN">
                <a:sym typeface="+mn-ea"/>
              </a:rPr>
              <a:t>2</a:t>
            </a:r>
            <a:r>
              <a:rPr lang="zh-CN" altLang="en-US">
                <a:sym typeface="+mn-ea"/>
              </a:rPr>
              <a:t>）在随机森林训练完之后，能够提供不同特征对于目标任务的重要性</a:t>
            </a:r>
            <a:endParaRPr lang="zh-CN" altLang="en-US">
              <a:sym typeface="+mn-ea"/>
            </a:endParaRPr>
          </a:p>
          <a:p>
            <a:pPr indent="457200">
              <a:lnSpc>
                <a:spcPct val="30000"/>
              </a:lnSpc>
            </a:pPr>
            <a:endParaRPr lang="zh-CN" altLang="en-US">
              <a:sym typeface="+mn-ea"/>
            </a:endParaRPr>
          </a:p>
          <a:p>
            <a:pPr indent="457200"/>
            <a:r>
              <a:rPr lang="en-US" altLang="zh-CN">
                <a:sym typeface="+mn-ea"/>
              </a:rPr>
              <a:t>3</a:t>
            </a:r>
            <a:r>
              <a:rPr lang="zh-CN" altLang="en-US">
                <a:sym typeface="+mn-ea"/>
              </a:rPr>
              <a:t>）并行化方法，推理速度较快</a:t>
            </a:r>
            <a:endParaRPr lang="zh-CN" altLang="en-US">
              <a:sym typeface="+mn-ea"/>
            </a:endParaRPr>
          </a:p>
          <a:p>
            <a:pPr indent="457200">
              <a:lnSpc>
                <a:spcPct val="30000"/>
              </a:lnSpc>
            </a:pPr>
            <a:endParaRPr lang="zh-CN" altLang="en-US">
              <a:sym typeface="+mn-ea"/>
            </a:endParaRPr>
          </a:p>
          <a:p>
            <a:pPr indent="457200"/>
            <a:r>
              <a:rPr lang="en-US" altLang="zh-CN">
                <a:sym typeface="+mn-ea"/>
              </a:rPr>
              <a:t>4</a:t>
            </a:r>
            <a:r>
              <a:rPr lang="zh-CN" altLang="en-US">
                <a:sym typeface="+mn-ea"/>
              </a:rPr>
              <a:t>）可以进行可视化展示，便于分析</a:t>
            </a:r>
            <a:endParaRPr lang="zh-CN" altLang="en-US">
              <a:sym typeface="+mn-ea"/>
            </a:endParaRPr>
          </a:p>
          <a:p>
            <a:pPr indent="457200">
              <a:lnSpc>
                <a:spcPct val="10000"/>
              </a:lnSpc>
            </a:pPr>
            <a:endParaRPr lang="zh-CN" altLang="en-US">
              <a:sym typeface="+mn-ea"/>
            </a:endParaRPr>
          </a:p>
          <a:p>
            <a:pPr indent="457200"/>
            <a:endParaRPr lang="zh-CN" altLang="en-US">
              <a:sym typeface="+mn-ea"/>
            </a:endParaRPr>
          </a:p>
          <a:p>
            <a:pPr marL="0" lvl="0" indent="0">
              <a:buNone/>
            </a:pPr>
            <a:r>
              <a:rPr lang="zh-CN" altLang="en-US" b="1">
                <a:solidFill>
                  <a:srgbClr val="0070C0"/>
                </a:solidFill>
                <a:sym typeface="+mn-ea"/>
              </a:rPr>
              <a:t>随机森林</a:t>
            </a:r>
            <a:r>
              <a:rPr lang="zh-CN" altLang="en-US">
                <a:solidFill>
                  <a:schemeClr val="tx1"/>
                </a:solidFill>
                <a:sym typeface="+mn-ea"/>
              </a:rPr>
              <a:t>为什么可以提供不同特征对于目标任务的重要性？</a:t>
            </a:r>
            <a:endParaRPr lang="zh-CN" altLang="en-US">
              <a:solidFill>
                <a:schemeClr val="tx1"/>
              </a:solidFill>
              <a:sym typeface="+mn-ea"/>
            </a:endParaRPr>
          </a:p>
          <a:p>
            <a:pPr marL="0" lvl="0" indent="0">
              <a:lnSpc>
                <a:spcPct val="50000"/>
              </a:lnSpc>
              <a:buNone/>
            </a:pPr>
            <a:endParaRPr lang="zh-CN" altLang="en-US">
              <a:solidFill>
                <a:schemeClr val="tx1"/>
              </a:solidFill>
              <a:sym typeface="+mn-ea"/>
            </a:endParaRPr>
          </a:p>
          <a:p>
            <a:pPr marL="0" lvl="0" indent="457200">
              <a:buNone/>
            </a:pPr>
            <a:r>
              <a:rPr lang="en-US" altLang="zh-CN">
                <a:solidFill>
                  <a:schemeClr val="tx1"/>
                </a:solidFill>
                <a:sym typeface="+mn-ea"/>
              </a:rPr>
              <a:t>1</a:t>
            </a:r>
            <a:r>
              <a:rPr lang="zh-CN" altLang="en-US">
                <a:solidFill>
                  <a:schemeClr val="tx1"/>
                </a:solidFill>
                <a:sym typeface="+mn-ea"/>
              </a:rPr>
              <a:t>）根据生成的决策树模型，越靠近根结点的特征越重要</a:t>
            </a:r>
            <a:r>
              <a:rPr lang="en-US" altLang="zh-CN">
                <a:solidFill>
                  <a:schemeClr val="tx1"/>
                </a:solidFill>
                <a:sym typeface="+mn-ea"/>
              </a:rPr>
              <a:t> </a:t>
            </a:r>
            <a:endParaRPr lang="en-US" altLang="zh-CN">
              <a:solidFill>
                <a:schemeClr val="tx1"/>
              </a:solidFill>
              <a:sym typeface="+mn-ea"/>
            </a:endParaRPr>
          </a:p>
          <a:p>
            <a:pPr marL="0" lvl="0" indent="457200">
              <a:lnSpc>
                <a:spcPct val="50000"/>
              </a:lnSpc>
              <a:buNone/>
            </a:pPr>
            <a:endParaRPr lang="en-US" altLang="zh-CN">
              <a:solidFill>
                <a:schemeClr val="tx1"/>
              </a:solidFill>
              <a:sym typeface="+mn-ea"/>
            </a:endParaRPr>
          </a:p>
          <a:p>
            <a:pPr marL="0" lvl="0" indent="457200">
              <a:buNone/>
            </a:pPr>
            <a:r>
              <a:rPr lang="en-US" altLang="zh-CN">
                <a:solidFill>
                  <a:schemeClr val="tx1"/>
                </a:solidFill>
                <a:sym typeface="+mn-ea"/>
              </a:rPr>
              <a:t>2</a:t>
            </a:r>
            <a:r>
              <a:rPr lang="zh-CN" altLang="en-US">
                <a:solidFill>
                  <a:schemeClr val="tx1"/>
                </a:solidFill>
                <a:sym typeface="+mn-ea"/>
              </a:rPr>
              <a:t>）在训练过程中，若要分析特征</a:t>
            </a:r>
            <a:r>
              <a:rPr lang="en-US" altLang="zh-CN">
                <a:solidFill>
                  <a:schemeClr val="tx1"/>
                </a:solidFill>
                <a:sym typeface="+mn-ea"/>
              </a:rPr>
              <a:t>a</a:t>
            </a:r>
            <a:r>
              <a:rPr lang="zh-CN" altLang="en-US">
                <a:solidFill>
                  <a:schemeClr val="tx1"/>
                </a:solidFill>
                <a:sym typeface="+mn-ea"/>
              </a:rPr>
              <a:t>的重要性，可以将样本数据集中每个样本的特征</a:t>
            </a:r>
            <a:r>
              <a:rPr lang="en-US" altLang="zh-CN">
                <a:solidFill>
                  <a:schemeClr val="tx1"/>
                </a:solidFill>
                <a:sym typeface="+mn-ea"/>
              </a:rPr>
              <a:t>a</a:t>
            </a:r>
            <a:r>
              <a:rPr lang="zh-CN" altLang="en-US">
                <a:solidFill>
                  <a:schemeClr val="tx1"/>
                </a:solidFill>
                <a:sym typeface="+mn-ea"/>
              </a:rPr>
              <a:t>的值打乱甚至任意赋值，</a:t>
            </a:r>
            <a:endParaRPr lang="zh-CN" altLang="en-US">
              <a:solidFill>
                <a:schemeClr val="tx1"/>
              </a:solidFill>
              <a:sym typeface="+mn-ea"/>
            </a:endParaRPr>
          </a:p>
          <a:p>
            <a:pPr marL="0" lvl="0" indent="457200">
              <a:lnSpc>
                <a:spcPct val="30000"/>
              </a:lnSpc>
              <a:buNone/>
            </a:pPr>
            <a:r>
              <a:rPr lang="zh-CN" altLang="en-US">
                <a:solidFill>
                  <a:schemeClr val="tx1"/>
                </a:solidFill>
                <a:sym typeface="+mn-ea"/>
              </a:rPr>
              <a:t> </a:t>
            </a:r>
            <a:r>
              <a:rPr lang="en-US" altLang="zh-CN">
                <a:solidFill>
                  <a:schemeClr val="tx1"/>
                </a:solidFill>
                <a:sym typeface="+mn-ea"/>
              </a:rPr>
              <a:t>   </a:t>
            </a:r>
            <a:endParaRPr lang="en-US" altLang="zh-CN">
              <a:solidFill>
                <a:schemeClr val="tx1"/>
              </a:solidFill>
              <a:sym typeface="+mn-ea"/>
            </a:endParaRPr>
          </a:p>
          <a:p>
            <a:pPr marL="0" lvl="0" indent="457200">
              <a:buNone/>
            </a:pPr>
            <a:r>
              <a:rPr lang="en-US" altLang="zh-CN">
                <a:solidFill>
                  <a:schemeClr val="tx1"/>
                </a:solidFill>
                <a:sym typeface="+mn-ea"/>
              </a:rPr>
              <a:t>       </a:t>
            </a:r>
            <a:r>
              <a:rPr lang="zh-CN" altLang="en-US">
                <a:solidFill>
                  <a:schemeClr val="tx1"/>
                </a:solidFill>
                <a:sym typeface="+mn-ea"/>
              </a:rPr>
              <a:t>之后再去进行推理预测，看最终结果的准确率，若准确率大幅度下降，则证明该特征较为重要；若结果</a:t>
            </a:r>
            <a:endParaRPr lang="zh-CN" altLang="en-US">
              <a:solidFill>
                <a:schemeClr val="tx1"/>
              </a:solidFill>
              <a:sym typeface="+mn-ea"/>
            </a:endParaRPr>
          </a:p>
          <a:p>
            <a:pPr marL="0" lvl="0" indent="457200">
              <a:lnSpc>
                <a:spcPct val="30000"/>
              </a:lnSpc>
              <a:buNone/>
            </a:pPr>
            <a:endParaRPr lang="zh-CN" altLang="en-US">
              <a:solidFill>
                <a:schemeClr val="tx1"/>
              </a:solidFill>
              <a:sym typeface="+mn-ea"/>
            </a:endParaRPr>
          </a:p>
          <a:p>
            <a:pPr marL="0" lvl="0" indent="457200">
              <a:buNone/>
            </a:pPr>
            <a:r>
              <a:rPr lang="zh-CN" altLang="en-US">
                <a:solidFill>
                  <a:schemeClr val="tx1"/>
                </a:solidFill>
                <a:sym typeface="+mn-ea"/>
              </a:rPr>
              <a:t> </a:t>
            </a:r>
            <a:r>
              <a:rPr lang="en-US" altLang="zh-CN">
                <a:solidFill>
                  <a:schemeClr val="tx1"/>
                </a:solidFill>
                <a:sym typeface="+mn-ea"/>
              </a:rPr>
              <a:t>      </a:t>
            </a:r>
            <a:r>
              <a:rPr lang="zh-CN" altLang="en-US">
                <a:solidFill>
                  <a:schemeClr val="tx1"/>
                </a:solidFill>
                <a:sym typeface="+mn-ea"/>
              </a:rPr>
              <a:t>准确率不变或只有小幅度下降，则证明该特征不重要</a:t>
            </a:r>
            <a:endParaRPr lang="zh-CN" altLang="en-US">
              <a:solidFill>
                <a:schemeClr val="tx1"/>
              </a:solidFill>
              <a:sym typeface="+mn-ea"/>
            </a:endParaRPr>
          </a:p>
        </p:txBody>
      </p:sp>
      <p:sp>
        <p:nvSpPr>
          <p:cNvPr id="5" name="矩形 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sym typeface="+mn-ea"/>
              </a:rPr>
              <a:t>拓展：随机森林</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2342" y="1048426"/>
            <a:ext cx="13335" cy="5395595"/>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nvSpPr>
        <p:spPr>
          <a:xfrm>
            <a:off x="5396865" y="908685"/>
            <a:ext cx="5099050" cy="5686425"/>
          </a:xfrm>
          <a:prstGeom prst="rect">
            <a:avLst/>
          </a:prstGeom>
          <a:noFill/>
        </p:spPr>
        <p:txBody>
          <a:bodyPr wrap="square" rtlCol="0">
            <a:noAutofit/>
            <a:scene3d>
              <a:camera prst="orthographicFront"/>
              <a:lightRig rig="threePt" dir="t"/>
            </a:scene3d>
          </a:bodyPr>
          <a:lstStyle/>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rPr>
              <a:t>决策树定义</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如何生成决策树？</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solidFill>
                  <a:schemeClr val="tx1"/>
                </a:solidFill>
                <a:uFillTx/>
                <a:latin typeface="微软雅黑" panose="020B0503020204020204" charset="-122"/>
                <a:ea typeface="微软雅黑" panose="020B0503020204020204" charset="-122"/>
                <a:cs typeface="+mj-cs"/>
                <a:sym typeface="+mn-ea"/>
              </a:rPr>
              <a:t>如何确定最优划分属性？</a:t>
            </a:r>
            <a:endParaRPr lang="zh-CN" altLang="en-US" sz="2800" b="1" spc="200" dirty="0">
              <a:solidFill>
                <a:schemeClr val="tx1"/>
              </a:solidFill>
              <a:uFillTx/>
              <a:latin typeface="微软雅黑" panose="020B0503020204020204" charset="-122"/>
              <a:ea typeface="微软雅黑" panose="020B0503020204020204" charset="-122"/>
              <a:cs typeface="+mj-cs"/>
              <a:sym typeface="+mn-ea"/>
            </a:endParaRPr>
          </a:p>
          <a:p>
            <a:pPr algn="l">
              <a:lnSpc>
                <a:spcPct val="130000"/>
              </a:lnSpc>
              <a:spcBef>
                <a:spcPts val="0"/>
              </a:spcBef>
              <a:spcAft>
                <a:spcPts val="0"/>
              </a:spcAft>
              <a:buClrTx/>
              <a:buSzTx/>
              <a:buFontTx/>
            </a:pPr>
            <a:r>
              <a:rPr lang="zh-CN" altLang="en-US" sz="2800" b="1" spc="200" dirty="0">
                <a:uFillTx/>
                <a:latin typeface="微软雅黑" panose="020B0503020204020204" charset="-122"/>
                <a:ea typeface="微软雅黑" panose="020B0503020204020204" charset="-122"/>
                <a:cs typeface="+mj-cs"/>
                <a:sym typeface="+mn-ea"/>
              </a:rPr>
              <a:t>基于python创建分类决策树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决策树剪枝</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连续值与缺失值处理</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多变量决策树</a:t>
            </a:r>
            <a:endParaRPr lang="zh-CN" altLang="en-US" sz="2800" b="1" spc="200" dirty="0">
              <a:uFillTx/>
              <a:latin typeface="微软雅黑" panose="020B0503020204020204" charset="-122"/>
              <a:ea typeface="微软雅黑" panose="020B0503020204020204" charset="-122"/>
              <a:cs typeface="+mj-cs"/>
              <a:sym typeface="+mn-ea"/>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sym typeface="+mn-ea"/>
              </a:rPr>
              <a:t>回归决策树</a:t>
            </a:r>
            <a:endParaRPr lang="zh-CN" altLang="en-US" sz="2800" b="1" spc="200" dirty="0">
              <a:uFillTx/>
              <a:latin typeface="微软雅黑" panose="020B0503020204020204" charset="-122"/>
              <a:ea typeface="微软雅黑" panose="020B0503020204020204" charset="-122"/>
              <a:cs typeface="+mj-cs"/>
            </a:endParaRPr>
          </a:p>
          <a:p>
            <a:pPr>
              <a:lnSpc>
                <a:spcPct val="130000"/>
              </a:lnSpc>
              <a:spcBef>
                <a:spcPts val="0"/>
              </a:spcBef>
              <a:spcAft>
                <a:spcPts val="0"/>
              </a:spcAft>
            </a:pPr>
            <a:r>
              <a:rPr lang="zh-CN" altLang="en-US" sz="2800" b="1" spc="200" dirty="0">
                <a:uFillTx/>
                <a:latin typeface="微软雅黑" panose="020B0503020204020204" charset="-122"/>
                <a:ea typeface="微软雅黑" panose="020B0503020204020204" charset="-122"/>
                <a:cs typeface="+mj-cs"/>
              </a:rPr>
              <a:t>拓展：随机森林</a:t>
            </a:r>
            <a:endParaRPr lang="zh-CN" altLang="en-US" sz="2800" b="1" spc="200" dirty="0">
              <a:uFillTx/>
              <a:latin typeface="微软雅黑" panose="020B0503020204020204" charset="-122"/>
              <a:ea typeface="微软雅黑" panose="020B0503020204020204" charset="-122"/>
              <a:cs typeface="+mj-cs"/>
            </a:endParaRPr>
          </a:p>
          <a:p>
            <a:pPr algn="l">
              <a:lnSpc>
                <a:spcPct val="130000"/>
              </a:lnSpc>
              <a:spcBef>
                <a:spcPts val="0"/>
              </a:spcBef>
              <a:spcAft>
                <a:spcPts val="0"/>
              </a:spcAft>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思考题</a:t>
            </a:r>
            <a:endParaRPr lang="zh-CN" altLang="en-US" sz="2800" b="1" spc="200" dirty="0">
              <a:solidFill>
                <a:srgbClr val="2E75B6"/>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5"/>
          <p:cNvSpPr>
            <a:spLocks noGrp="1" noChangeArrowheads="1"/>
          </p:cNvSpPr>
          <p:nvPr>
            <p:ph idx="1"/>
          </p:nvPr>
        </p:nvSpPr>
        <p:spPr>
          <a:xfrm>
            <a:off x="419735" y="1057275"/>
            <a:ext cx="11203940" cy="5922645"/>
          </a:xfrm>
          <a:noFill/>
        </p:spPr>
        <p:txBody>
          <a:bodyPr>
            <a:normAutofit/>
          </a:bodyPr>
          <a:lstStyle/>
          <a:p>
            <a:pPr eaLnBrk="1" hangingPunct="1"/>
            <a:r>
              <a:rPr lang="en-US" altLang="zh-CN" sz="2400" b="1"/>
              <a:t>3-1</a:t>
            </a:r>
            <a:r>
              <a:rPr lang="en-US" altLang="zh-CN" sz="2400"/>
              <a:t> </a:t>
            </a:r>
            <a:r>
              <a:rPr lang="zh-CN" altLang="en-US" sz="2400"/>
              <a:t> </a:t>
            </a:r>
            <a:r>
              <a:rPr lang="zh-CN" altLang="en-US" sz="2000"/>
              <a:t>决策树算法中，如何判断一个结点的最优划分属性是什么？当选序号作为最优划分属性时，</a:t>
            </a:r>
            <a:r>
              <a:rPr lang="en-US" altLang="zh-CN" sz="2000"/>
              <a:t> </a:t>
            </a:r>
            <a:r>
              <a:rPr lang="zh-CN" altLang="en-US" sz="2000"/>
              <a:t>为什么基于信息增益的划分方法不再适用？</a:t>
            </a:r>
            <a:endParaRPr lang="zh-CN" altLang="en-US" sz="2000"/>
          </a:p>
          <a:p>
            <a:pPr eaLnBrk="1" hangingPunct="1"/>
            <a:endParaRPr lang="zh-CN" altLang="en-US" sz="2000"/>
          </a:p>
          <a:p>
            <a:pPr eaLnBrk="1" hangingPunct="1"/>
            <a:r>
              <a:rPr lang="en-US" altLang="zh-CN" sz="2400" b="1"/>
              <a:t>3-2  </a:t>
            </a:r>
            <a:r>
              <a:rPr lang="zh-CN" altLang="en-US" sz="2000"/>
              <a:t>集成算法中，除了</a:t>
            </a:r>
            <a:r>
              <a:rPr lang="en-US" altLang="zh-CN" sz="2000"/>
              <a:t>Bagging</a:t>
            </a:r>
            <a:r>
              <a:rPr lang="zh-CN" altLang="en-US" sz="2000"/>
              <a:t>算法以外，还有哪些算法？这些算法是如何将多个模型集成的？</a:t>
            </a:r>
            <a:endParaRPr lang="zh-CN" altLang="en-US" sz="2000"/>
          </a:p>
          <a:p>
            <a:pPr eaLnBrk="1" hangingPunct="1"/>
            <a:endParaRPr lang="zh-CN" altLang="en-US" sz="2000"/>
          </a:p>
          <a:p>
            <a:pPr eaLnBrk="1" hangingPunct="1"/>
            <a:r>
              <a:rPr lang="en-US" altLang="zh-CN" sz="2400" b="1"/>
              <a:t>3-3 </a:t>
            </a:r>
            <a:r>
              <a:rPr lang="zh-CN" altLang="en-US" sz="2000" b="1"/>
              <a:t>代码题：</a:t>
            </a:r>
            <a:endParaRPr lang="zh-CN" altLang="en-US" sz="2000" b="1"/>
          </a:p>
          <a:p>
            <a:pPr marL="0" indent="0" eaLnBrk="1" hangingPunct="1">
              <a:lnSpc>
                <a:spcPct val="150000"/>
              </a:lnSpc>
              <a:buNone/>
            </a:pPr>
            <a:r>
              <a:rPr lang="en-US" altLang="zh-CN" sz="2000"/>
              <a:t>    </a:t>
            </a:r>
            <a:r>
              <a:rPr lang="zh-CN" altLang="en-US" sz="2000"/>
              <a:t>使用 sklearn 库构建一个简单的决策树分类模型。你需要完成以下步骤：</a:t>
            </a:r>
            <a:endParaRPr lang="zh-CN" altLang="en-US" sz="2000" b="1"/>
          </a:p>
          <a:p>
            <a:pPr marL="800100" lvl="1" indent="-342900" eaLnBrk="1" hangingPunct="1">
              <a:lnSpc>
                <a:spcPct val="150000"/>
              </a:lnSpc>
              <a:buFont typeface="+mj-lt"/>
              <a:buAutoNum type="arabicPeriod"/>
            </a:pPr>
            <a:r>
              <a:rPr lang="zh-CN" altLang="en-US" sz="1710"/>
              <a:t>导入必要的库。</a:t>
            </a:r>
            <a:endParaRPr lang="zh-CN" altLang="en-US" sz="1710"/>
          </a:p>
          <a:p>
            <a:pPr marL="800100" lvl="1" indent="-342900" eaLnBrk="1" hangingPunct="1">
              <a:lnSpc>
                <a:spcPct val="150000"/>
              </a:lnSpc>
              <a:buFont typeface="+mj-lt"/>
              <a:buAutoNum type="arabicPeriod"/>
            </a:pPr>
            <a:r>
              <a:rPr lang="zh-CN" altLang="en-US" sz="1710"/>
              <a:t>加载 Iris 数据集。</a:t>
            </a:r>
            <a:endParaRPr lang="zh-CN" altLang="en-US" sz="1710"/>
          </a:p>
          <a:p>
            <a:pPr marL="800100" lvl="1" indent="-342900" eaLnBrk="1" hangingPunct="1">
              <a:lnSpc>
                <a:spcPct val="150000"/>
              </a:lnSpc>
              <a:buFont typeface="+mj-lt"/>
              <a:buAutoNum type="arabicPeriod"/>
            </a:pPr>
            <a:r>
              <a:rPr lang="zh-CN" altLang="en-US" sz="1710"/>
              <a:t>划分数据集为训练集和测试集。</a:t>
            </a:r>
            <a:endParaRPr lang="zh-CN" altLang="en-US" sz="1710"/>
          </a:p>
          <a:p>
            <a:pPr marL="800100" lvl="1" indent="-342900" eaLnBrk="1" hangingPunct="1">
              <a:lnSpc>
                <a:spcPct val="150000"/>
              </a:lnSpc>
              <a:buFont typeface="+mj-lt"/>
              <a:buAutoNum type="arabicPeriod"/>
            </a:pPr>
            <a:r>
              <a:rPr lang="zh-CN" altLang="en-US" sz="1710"/>
              <a:t>训练一个决策树分类模型。</a:t>
            </a:r>
            <a:endParaRPr lang="zh-CN" altLang="en-US" sz="1710"/>
          </a:p>
          <a:p>
            <a:pPr marL="800100" lvl="1" indent="-342900" eaLnBrk="1" hangingPunct="1">
              <a:lnSpc>
                <a:spcPct val="150000"/>
              </a:lnSpc>
              <a:buFont typeface="+mj-lt"/>
              <a:buAutoNum type="arabicPeriod"/>
            </a:pPr>
            <a:r>
              <a:rPr lang="zh-CN" altLang="en-US" sz="1710"/>
              <a:t>使用模型对测试集进行预测。</a:t>
            </a:r>
            <a:endParaRPr lang="zh-CN" altLang="en-US" sz="1710"/>
          </a:p>
          <a:p>
            <a:pPr marL="800100" lvl="1" indent="-342900" eaLnBrk="1" hangingPunct="1">
              <a:lnSpc>
                <a:spcPct val="150000"/>
              </a:lnSpc>
              <a:buFont typeface="+mj-lt"/>
              <a:buAutoNum type="arabicPeriod"/>
            </a:pPr>
            <a:r>
              <a:rPr lang="zh-CN" altLang="en-US" sz="1710"/>
              <a:t>计算并输出模型的准确率。</a:t>
            </a:r>
            <a:endParaRPr lang="zh-CN" altLang="en-US" sz="1710"/>
          </a:p>
        </p:txBody>
      </p:sp>
      <p:sp>
        <p:nvSpPr>
          <p:cNvPr id="5" name="矩形 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思考题</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9410" y="1221105"/>
            <a:ext cx="11400790" cy="1143635"/>
          </a:xfrm>
          <a:prstGeom prst="rect">
            <a:avLst/>
          </a:prstGeom>
          <a:noFill/>
        </p:spPr>
        <p:txBody>
          <a:bodyPr wrap="square" rtlCol="0">
            <a:spAutoFit/>
          </a:bodyPr>
          <a:lstStyle/>
          <a:p>
            <a:r>
              <a:rPr lang="en-US" altLang="zh-CN" b="1">
                <a:solidFill>
                  <a:schemeClr val="tx1"/>
                </a:solidFill>
              </a:rPr>
              <a:t>3-1</a:t>
            </a:r>
            <a:r>
              <a:rPr lang="zh-CN" altLang="en-US" b="1">
                <a:solidFill>
                  <a:schemeClr val="tx1"/>
                </a:solidFill>
              </a:rPr>
              <a:t>答案：</a:t>
            </a:r>
            <a:endParaRPr lang="zh-CN" altLang="en-US" b="1">
              <a:solidFill>
                <a:schemeClr val="tx1"/>
              </a:solidFill>
            </a:endParaRPr>
          </a:p>
          <a:p>
            <a:pPr>
              <a:lnSpc>
                <a:spcPct val="30000"/>
              </a:lnSpc>
            </a:pPr>
            <a:endParaRPr lang="en-US" altLang="zh-CN">
              <a:solidFill>
                <a:schemeClr val="tx1"/>
              </a:solidFill>
            </a:endParaRPr>
          </a:p>
          <a:p>
            <a:r>
              <a:rPr lang="en-US" altLang="zh-CN">
                <a:solidFill>
                  <a:schemeClr val="tx1"/>
                </a:solidFill>
              </a:rPr>
              <a:t>1</a:t>
            </a:r>
            <a:r>
              <a:rPr lang="zh-CN" altLang="en-US">
                <a:solidFill>
                  <a:schemeClr val="tx1"/>
                </a:solidFill>
              </a:rPr>
              <a:t>）通过计算属性集中每个属性的信息增益</a:t>
            </a:r>
            <a:r>
              <a:rPr lang="en-US" altLang="zh-CN">
                <a:solidFill>
                  <a:schemeClr val="tx1"/>
                </a:solidFill>
              </a:rPr>
              <a:t>/</a:t>
            </a:r>
            <a:r>
              <a:rPr lang="zh-CN" altLang="en-US">
                <a:solidFill>
                  <a:schemeClr val="tx1"/>
                </a:solidFill>
              </a:rPr>
              <a:t>增益率或基尼指数来判断</a:t>
            </a:r>
            <a:endParaRPr lang="en-US" altLang="zh-CN">
              <a:solidFill>
                <a:schemeClr val="tx1"/>
              </a:solidFill>
              <a:sym typeface="+mn-ea"/>
            </a:endParaRPr>
          </a:p>
          <a:p>
            <a:pPr>
              <a:lnSpc>
                <a:spcPct val="50000"/>
              </a:lnSpc>
            </a:pPr>
            <a:endParaRPr lang="zh-CN" altLang="en-US">
              <a:solidFill>
                <a:schemeClr val="tx1"/>
              </a:solidFill>
            </a:endParaRPr>
          </a:p>
          <a:p>
            <a:r>
              <a:rPr lang="en-US" altLang="zh-CN">
                <a:solidFill>
                  <a:schemeClr val="tx1"/>
                </a:solidFill>
              </a:rPr>
              <a:t>2</a:t>
            </a:r>
            <a:r>
              <a:rPr lang="zh-CN" altLang="en-US">
                <a:solidFill>
                  <a:schemeClr val="tx1"/>
                </a:solidFill>
              </a:rPr>
              <a:t>）信息增益准则对可取值数目较多的属性有所偏好，通过增益率来判断可以有效防止该问题的出现</a:t>
            </a:r>
            <a:endParaRPr lang="en-US" altLang="zh-CN">
              <a:solidFill>
                <a:schemeClr val="tx1"/>
              </a:solidFill>
              <a:sym typeface="+mn-ea"/>
            </a:endParaRPr>
          </a:p>
        </p:txBody>
      </p:sp>
      <p:sp>
        <p:nvSpPr>
          <p:cNvPr id="7" name="文本框 6"/>
          <p:cNvSpPr txBox="1"/>
          <p:nvPr/>
        </p:nvSpPr>
        <p:spPr>
          <a:xfrm>
            <a:off x="359410" y="2910840"/>
            <a:ext cx="11576685" cy="2971165"/>
          </a:xfrm>
          <a:prstGeom prst="rect">
            <a:avLst/>
          </a:prstGeom>
          <a:noFill/>
        </p:spPr>
        <p:txBody>
          <a:bodyPr wrap="square" rtlCol="0">
            <a:spAutoFit/>
          </a:bodyPr>
          <a:lstStyle/>
          <a:p>
            <a:r>
              <a:rPr lang="en-US" altLang="zh-CN" b="1">
                <a:solidFill>
                  <a:schemeClr val="tx1"/>
                </a:solidFill>
              </a:rPr>
              <a:t>3-2</a:t>
            </a:r>
            <a:r>
              <a:rPr lang="zh-CN" altLang="en-US" b="1">
                <a:solidFill>
                  <a:schemeClr val="tx1"/>
                </a:solidFill>
              </a:rPr>
              <a:t>答案：</a:t>
            </a:r>
            <a:endParaRPr lang="zh-CN" altLang="en-US" b="1">
              <a:solidFill>
                <a:schemeClr val="tx1"/>
              </a:solidFill>
            </a:endParaRPr>
          </a:p>
          <a:p>
            <a:pPr>
              <a:lnSpc>
                <a:spcPct val="30000"/>
              </a:lnSpc>
            </a:pPr>
            <a:endParaRPr lang="en-US" altLang="zh-CN">
              <a:solidFill>
                <a:schemeClr val="tx1"/>
              </a:solidFill>
            </a:endParaRPr>
          </a:p>
          <a:p>
            <a:r>
              <a:rPr lang="en-US" altLang="zh-CN">
                <a:solidFill>
                  <a:schemeClr val="tx1"/>
                </a:solidFill>
                <a:sym typeface="+mn-ea"/>
              </a:rPr>
              <a:t>1</a:t>
            </a:r>
            <a:r>
              <a:rPr lang="zh-CN" altLang="en-US">
                <a:solidFill>
                  <a:schemeClr val="tx1"/>
                </a:solidFill>
                <a:sym typeface="+mn-ea"/>
              </a:rPr>
              <a:t>）集成算法中包括</a:t>
            </a:r>
            <a:r>
              <a:rPr lang="en-US" altLang="zh-CN">
                <a:solidFill>
                  <a:schemeClr val="tx1"/>
                </a:solidFill>
                <a:sym typeface="+mn-ea"/>
              </a:rPr>
              <a:t>Bagging</a:t>
            </a:r>
            <a:r>
              <a:rPr lang="zh-CN" altLang="en-US">
                <a:solidFill>
                  <a:schemeClr val="tx1"/>
                </a:solidFill>
                <a:sym typeface="+mn-ea"/>
              </a:rPr>
              <a:t>算法、</a:t>
            </a:r>
            <a:r>
              <a:rPr lang="en-US" altLang="zh-CN">
                <a:solidFill>
                  <a:schemeClr val="tx1"/>
                </a:solidFill>
                <a:sym typeface="+mn-ea"/>
              </a:rPr>
              <a:t>Boosting</a:t>
            </a:r>
            <a:r>
              <a:rPr lang="zh-CN" altLang="en-US">
                <a:solidFill>
                  <a:schemeClr val="tx1"/>
                </a:solidFill>
                <a:sym typeface="+mn-ea"/>
              </a:rPr>
              <a:t>算法以及</a:t>
            </a:r>
            <a:r>
              <a:rPr lang="en-US" altLang="zh-CN">
                <a:solidFill>
                  <a:schemeClr val="tx1"/>
                </a:solidFill>
                <a:sym typeface="+mn-ea"/>
              </a:rPr>
              <a:t>Stacking</a:t>
            </a:r>
            <a:r>
              <a:rPr lang="zh-CN" altLang="en-US">
                <a:solidFill>
                  <a:schemeClr val="tx1"/>
                </a:solidFill>
                <a:sym typeface="+mn-ea"/>
              </a:rPr>
              <a:t>算法</a:t>
            </a:r>
            <a:endParaRPr lang="en-US" altLang="zh-CN">
              <a:solidFill>
                <a:schemeClr val="tx1"/>
              </a:solidFill>
              <a:sym typeface="+mn-ea"/>
            </a:endParaRPr>
          </a:p>
          <a:p>
            <a:pPr>
              <a:lnSpc>
                <a:spcPct val="50000"/>
              </a:lnSpc>
            </a:pPr>
            <a:endParaRPr lang="en-US" altLang="zh-CN">
              <a:solidFill>
                <a:schemeClr val="tx1"/>
              </a:solidFill>
              <a:sym typeface="+mn-ea"/>
            </a:endParaRPr>
          </a:p>
          <a:p>
            <a:r>
              <a:rPr lang="en-US" altLang="zh-CN">
                <a:solidFill>
                  <a:schemeClr val="tx1"/>
                </a:solidFill>
                <a:sym typeface="+mn-ea"/>
              </a:rPr>
              <a:t>2</a:t>
            </a:r>
            <a:r>
              <a:rPr lang="zh-CN" altLang="en-US">
                <a:solidFill>
                  <a:schemeClr val="tx1"/>
                </a:solidFill>
                <a:sym typeface="+mn-ea"/>
              </a:rPr>
              <a:t>）</a:t>
            </a:r>
            <a:r>
              <a:rPr lang="en-US" altLang="zh-CN">
                <a:solidFill>
                  <a:schemeClr val="tx1"/>
                </a:solidFill>
                <a:sym typeface="+mn-ea"/>
              </a:rPr>
              <a:t>Boosting</a:t>
            </a:r>
            <a:r>
              <a:rPr lang="zh-CN" altLang="en-US">
                <a:solidFill>
                  <a:schemeClr val="tx1"/>
                </a:solidFill>
                <a:sym typeface="+mn-ea"/>
              </a:rPr>
              <a:t>算法：首先使用初始权重从训练集中训练出一个弱学习器，根据弱学习器的学习误差率来更新样本的、</a:t>
            </a:r>
            <a:endParaRPr lang="zh-CN" altLang="en-US">
              <a:solidFill>
                <a:schemeClr val="tx1"/>
              </a:solidFill>
              <a:sym typeface="+mn-ea"/>
            </a:endParaRPr>
          </a:p>
          <a:p>
            <a:r>
              <a:rPr lang="zh-CN" altLang="en-US">
                <a:solidFill>
                  <a:schemeClr val="tx1"/>
                </a:solidFill>
                <a:sym typeface="+mn-ea"/>
              </a:rPr>
              <a:t> </a:t>
            </a:r>
            <a:r>
              <a:rPr lang="en-US" altLang="zh-CN">
                <a:solidFill>
                  <a:schemeClr val="tx1"/>
                </a:solidFill>
                <a:sym typeface="+mn-ea"/>
              </a:rPr>
              <a:t>                                   </a:t>
            </a:r>
            <a:r>
              <a:rPr lang="zh-CN" altLang="en-US">
                <a:solidFill>
                  <a:schemeClr val="tx1"/>
                </a:solidFill>
                <a:sym typeface="+mn-ea"/>
              </a:rPr>
              <a:t>权重，提高之前弱学习器误差率较高的训练样本点的权重，使得这些误差率高的样本在后面的</a:t>
            </a:r>
            <a:endParaRPr lang="zh-CN" altLang="en-US">
              <a:solidFill>
                <a:schemeClr val="tx1"/>
              </a:solidFill>
              <a:sym typeface="+mn-ea"/>
            </a:endParaRPr>
          </a:p>
          <a:p>
            <a:r>
              <a:rPr lang="zh-CN" altLang="en-US">
                <a:solidFill>
                  <a:schemeClr val="tx1"/>
                </a:solidFill>
                <a:sym typeface="+mn-ea"/>
              </a:rPr>
              <a:t> </a:t>
            </a:r>
            <a:r>
              <a:rPr lang="en-US" altLang="zh-CN">
                <a:solidFill>
                  <a:schemeClr val="tx1"/>
                </a:solidFill>
                <a:sym typeface="+mn-ea"/>
              </a:rPr>
              <a:t>                                   </a:t>
            </a:r>
            <a:r>
              <a:rPr lang="zh-CN" altLang="en-US">
                <a:solidFill>
                  <a:schemeClr val="tx1"/>
                </a:solidFill>
                <a:sym typeface="+mn-ea"/>
              </a:rPr>
              <a:t>弱学习器中得到更多的重视。如此循环，直到得到指定数量的学习器，再通过结合策略进行整</a:t>
            </a:r>
            <a:endParaRPr lang="zh-CN" altLang="en-US">
              <a:solidFill>
                <a:schemeClr val="tx1"/>
              </a:solidFill>
              <a:sym typeface="+mn-ea"/>
            </a:endParaRPr>
          </a:p>
          <a:p>
            <a:r>
              <a:rPr lang="zh-CN" altLang="en-US">
                <a:solidFill>
                  <a:schemeClr val="tx1"/>
                </a:solidFill>
                <a:sym typeface="+mn-ea"/>
              </a:rPr>
              <a:t> </a:t>
            </a:r>
            <a:r>
              <a:rPr lang="en-US" altLang="zh-CN">
                <a:solidFill>
                  <a:schemeClr val="tx1"/>
                </a:solidFill>
                <a:sym typeface="+mn-ea"/>
              </a:rPr>
              <a:t>                                   </a:t>
            </a:r>
            <a:r>
              <a:rPr lang="zh-CN" altLang="en-US">
                <a:solidFill>
                  <a:schemeClr val="tx1"/>
                </a:solidFill>
                <a:sym typeface="+mn-ea"/>
              </a:rPr>
              <a:t>合，得到最终的强学习器</a:t>
            </a:r>
            <a:endParaRPr lang="zh-CN" altLang="en-US">
              <a:solidFill>
                <a:schemeClr val="tx1"/>
              </a:solidFill>
              <a:sym typeface="+mn-ea"/>
            </a:endParaRPr>
          </a:p>
          <a:p>
            <a:pPr>
              <a:lnSpc>
                <a:spcPct val="30000"/>
              </a:lnSpc>
            </a:pPr>
            <a:endParaRPr lang="zh-CN" altLang="en-US">
              <a:solidFill>
                <a:schemeClr val="tx1"/>
              </a:solidFill>
              <a:sym typeface="+mn-ea"/>
            </a:endParaRPr>
          </a:p>
          <a:p>
            <a:pPr>
              <a:lnSpc>
                <a:spcPct val="30000"/>
              </a:lnSpc>
            </a:pPr>
            <a:endParaRPr lang="zh-CN" altLang="en-US">
              <a:solidFill>
                <a:schemeClr val="tx1"/>
              </a:solidFill>
              <a:sym typeface="+mn-ea"/>
            </a:endParaRPr>
          </a:p>
          <a:p>
            <a:r>
              <a:rPr lang="en-US" altLang="zh-CN">
                <a:solidFill>
                  <a:schemeClr val="tx1"/>
                </a:solidFill>
                <a:sym typeface="+mn-ea"/>
              </a:rPr>
              <a:t>       Stacking</a:t>
            </a:r>
            <a:r>
              <a:rPr lang="zh-CN" altLang="en-US">
                <a:solidFill>
                  <a:schemeClr val="tx1"/>
                </a:solidFill>
                <a:sym typeface="+mn-ea"/>
              </a:rPr>
              <a:t>算法：一种分层模型集成框架，通过训练集学习多个初级学习器，通过初级学习器对输入进行预测，</a:t>
            </a:r>
            <a:endParaRPr lang="zh-CN" altLang="en-US">
              <a:solidFill>
                <a:schemeClr val="tx1"/>
              </a:solidFill>
              <a:sym typeface="+mn-ea"/>
            </a:endParaRPr>
          </a:p>
          <a:p>
            <a:r>
              <a:rPr lang="zh-CN" altLang="en-US">
                <a:solidFill>
                  <a:schemeClr val="tx1"/>
                </a:solidFill>
                <a:sym typeface="+mn-ea"/>
              </a:rPr>
              <a:t> </a:t>
            </a:r>
            <a:r>
              <a:rPr lang="en-US" altLang="zh-CN">
                <a:solidFill>
                  <a:schemeClr val="tx1"/>
                </a:solidFill>
                <a:sym typeface="+mn-ea"/>
              </a:rPr>
              <a:t>                                  </a:t>
            </a:r>
            <a:r>
              <a:rPr lang="zh-CN" altLang="en-US">
                <a:solidFill>
                  <a:schemeClr val="tx1"/>
                </a:solidFill>
                <a:sym typeface="+mn-ea"/>
              </a:rPr>
              <a:t>并将初级学习器的输出作为下一阶段的输入，用于训练次级学习器，以此类推直到最后一阶段</a:t>
            </a:r>
            <a:endParaRPr lang="zh-CN" altLang="en-US">
              <a:solidFill>
                <a:schemeClr val="tx1"/>
              </a:solidFill>
              <a:sym typeface="+mn-ea"/>
            </a:endParaRPr>
          </a:p>
          <a:p>
            <a:r>
              <a:rPr lang="zh-CN" altLang="en-US">
                <a:solidFill>
                  <a:schemeClr val="tx1"/>
                </a:solidFill>
                <a:sym typeface="+mn-ea"/>
              </a:rPr>
              <a:t> </a:t>
            </a:r>
            <a:r>
              <a:rPr lang="en-US" altLang="zh-CN">
                <a:solidFill>
                  <a:schemeClr val="tx1"/>
                </a:solidFill>
                <a:sym typeface="+mn-ea"/>
              </a:rPr>
              <a:t>                                  </a:t>
            </a:r>
            <a:r>
              <a:rPr lang="zh-CN" altLang="en-US">
                <a:solidFill>
                  <a:schemeClr val="tx1"/>
                </a:solidFill>
                <a:sym typeface="+mn-ea"/>
              </a:rPr>
              <a:t>输出到最终任务目标</a:t>
            </a:r>
            <a:endParaRPr lang="en-US" altLang="zh-CN">
              <a:solidFill>
                <a:schemeClr val="tx1"/>
              </a:solidFill>
              <a:sym typeface="+mn-ea"/>
            </a:endParaRPr>
          </a:p>
        </p:txBody>
      </p:sp>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思考题</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59410" y="1221105"/>
            <a:ext cx="11400790" cy="368300"/>
          </a:xfrm>
          <a:prstGeom prst="rect">
            <a:avLst/>
          </a:prstGeom>
          <a:noFill/>
        </p:spPr>
        <p:txBody>
          <a:bodyPr wrap="square" rtlCol="0">
            <a:spAutoFit/>
          </a:bodyPr>
          <a:lstStyle/>
          <a:p>
            <a:r>
              <a:rPr lang="en-US" altLang="zh-CN" b="1">
                <a:solidFill>
                  <a:schemeClr val="tx1"/>
                </a:solidFill>
              </a:rPr>
              <a:t>3-3</a:t>
            </a:r>
            <a:r>
              <a:rPr lang="zh-CN" altLang="en-US" b="1">
                <a:solidFill>
                  <a:schemeClr val="tx1"/>
                </a:solidFill>
              </a:rPr>
              <a:t>答案：</a:t>
            </a:r>
            <a:endParaRPr lang="en-US" altLang="zh-CN">
              <a:solidFill>
                <a:schemeClr val="tx1"/>
              </a:solidFill>
              <a:sym typeface="+mn-ea"/>
            </a:endParaRPr>
          </a:p>
        </p:txBody>
      </p:sp>
      <p:sp>
        <p:nvSpPr>
          <p:cNvPr id="4" name="矩形 3"/>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19735" y="321945"/>
            <a:ext cx="36709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思考题</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pic>
        <p:nvPicPr>
          <p:cNvPr id="3" name="图片 2"/>
          <p:cNvPicPr>
            <a:picLocks noChangeAspect="1"/>
          </p:cNvPicPr>
          <p:nvPr/>
        </p:nvPicPr>
        <p:blipFill>
          <a:blip r:embed="rId4"/>
          <a:stretch>
            <a:fillRect/>
          </a:stretch>
        </p:blipFill>
        <p:spPr>
          <a:xfrm>
            <a:off x="1558290" y="1441450"/>
            <a:ext cx="6791325" cy="523875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UNIT_TABLE_BEAUTIFY" val="smartTable{d5031d80-c3dd-4f72-a062-90dd3674973d}"/>
  <p:tag name="TABLE_ENDDRAG_ORIGIN_RECT" val="579*201"/>
  <p:tag name="TABLE_ENDDRAG_RECT" val="33*214*579*201"/>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UNIT_TABLE_BEAUTIFY" val="smartTable{a322999c-6440-4494-847d-671e911e487e}"/>
  <p:tag name="TABLE_ENDDRAG_ORIGIN_RECT" val="579*201"/>
  <p:tag name="TABLE_ENDDRAG_RECT" val="33*214*579*201"/>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UNIT_TABLE_BEAUTIFY" val="smartTable{44f7cd1b-bfb8-4593-a851-c09518c5d88b}"/>
  <p:tag name="TABLE_ENDDRAG_ORIGIN_RECT" val="579*201"/>
  <p:tag name="TABLE_ENDDRAG_RECT" val="33*214*579*201"/>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UNIT_TABLE_BEAUTIFY" val="smartTable{9eb344f6-18f3-4ab6-a93b-1d18b8a75a9f}"/>
  <p:tag name="TABLE_ENDDRAG_ORIGIN_RECT" val="579*201"/>
  <p:tag name="TABLE_ENDDRAG_RECT" val="33*214*579*201"/>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UNIT_TABLE_BEAUTIFY" val="smartTable{51e050f8-3102-4dfc-b460-b219fb5f97d3}"/>
  <p:tag name="TABLE_ENDDRAG_ORIGIN_RECT" val="579*201"/>
  <p:tag name="TABLE_ENDDRAG_RECT" val="33*214*579*201"/>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UNIT_TABLE_BEAUTIFY" val="smartTable{0f5d91cb-8c91-4e4c-8d98-20996a91a197}"/>
  <p:tag name="TABLE_ENDDRAG_ORIGIN_RECT" val="579*201"/>
  <p:tag name="TABLE_ENDDRAG_RECT" val="33*214*579*201"/>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UNIT_PLACING_PICTURE_USER_VIEWPORT" val="{&quot;height&quot;:3810,&quot;width&quot;:6660}"/>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PP_MARK_KEY" val="ce225390-6514-4faa-84f2-e89cbf6ee03a"/>
  <p:tag name="COMMONDATA" val="eyJoZGlkIjoiZWVhYmRhZTIyMDlkYTBlYWEwMTNhN2ZhYWRhYjdkNGUifQ=="/>
  <p:tag name="commondata" val="eyJoZGlkIjoiNGZlOTEyN2FjOTYyM2RkZDFhMzc2OGZlNDc3OTZmYz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16965</Words>
  <Application>WPS 演示</Application>
  <PresentationFormat>宽屏</PresentationFormat>
  <Paragraphs>1498</Paragraphs>
  <Slides>57</Slides>
  <Notes>0</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57</vt:i4>
      </vt:variant>
    </vt:vector>
  </HeadingPairs>
  <TitlesOfParts>
    <vt:vector size="73" baseType="lpstr">
      <vt:lpstr>Arial</vt:lpstr>
      <vt:lpstr>宋体</vt:lpstr>
      <vt:lpstr>Wingdings</vt:lpstr>
      <vt:lpstr>Wingdings</vt:lpstr>
      <vt:lpstr>黑体</vt:lpstr>
      <vt:lpstr>Times New Roman</vt:lpstr>
      <vt:lpstr>微软雅黑</vt:lpstr>
      <vt:lpstr>华文琥珀</vt:lpstr>
      <vt:lpstr>Arial Unicode MS</vt:lpstr>
      <vt:lpstr>Calibri</vt:lpstr>
      <vt:lpstr>Cambria Math</vt:lpstr>
      <vt:lpstr>等线 Light</vt:lpstr>
      <vt:lpstr>等线</vt:lpstr>
      <vt:lpstr>Office 主题</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王泽林</dc:creator>
  <cp:lastModifiedBy>周意尧</cp:lastModifiedBy>
  <cp:revision>251</cp:revision>
  <dcterms:created xsi:type="dcterms:W3CDTF">2022-04-13T13:21:00Z</dcterms:created>
  <dcterms:modified xsi:type="dcterms:W3CDTF">2025-01-08T06:26:09Z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B462288B34EB402DA6EF70CBA2B234F3</vt:lpwstr>
  </property>
  <property fmtid="{D5CDD505-2E9C-101B-9397-08002B2CF9AE}" pid="3" name="KSOProductBuildVer">
    <vt:lpwstr>2052-12.1.0.18276</vt:lpwstr>
  </property>
  <property fmtid="{D5CDD505-2E9C-101B-9397-08002B2CF9AE}" pid="4" name="commondata">
    <vt:lpwstr>eyJoZGlkIjoiNWRiN2EzOTIwNTFkMWRjYjlhM2M2MjEwMTAzOTAyMTAifQ==</vt:lpwstr>
  </property>
</Properties>
</file>