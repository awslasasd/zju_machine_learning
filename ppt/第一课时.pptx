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412" r:id="rId3"/>
    <p:sldId id="302" r:id="rId4"/>
    <p:sldId id="357" r:id="rId5"/>
    <p:sldId id="385" r:id="rId6"/>
    <p:sldId id="386" r:id="rId7"/>
    <p:sldId id="258" r:id="rId8"/>
    <p:sldId id="260" r:id="rId9"/>
    <p:sldId id="261" r:id="rId10"/>
    <p:sldId id="259" r:id="rId11"/>
    <p:sldId id="286" r:id="rId13"/>
    <p:sldId id="287" r:id="rId14"/>
    <p:sldId id="301" r:id="rId15"/>
    <p:sldId id="339" r:id="rId16"/>
    <p:sldId id="340" r:id="rId17"/>
    <p:sldId id="323" r:id="rId18"/>
    <p:sldId id="324" r:id="rId19"/>
    <p:sldId id="325" r:id="rId20"/>
    <p:sldId id="326" r:id="rId21"/>
    <p:sldId id="327" r:id="rId22"/>
    <p:sldId id="288" r:id="rId23"/>
    <p:sldId id="289" r:id="rId24"/>
    <p:sldId id="291" r:id="rId25"/>
    <p:sldId id="290" r:id="rId26"/>
    <p:sldId id="292" r:id="rId27"/>
    <p:sldId id="293" r:id="rId28"/>
    <p:sldId id="295" r:id="rId29"/>
    <p:sldId id="296" r:id="rId30"/>
    <p:sldId id="297" r:id="rId31"/>
    <p:sldId id="298" r:id="rId32"/>
    <p:sldId id="299" r:id="rId33"/>
  </p:sldIdLst>
  <p:sldSz cx="12192000" cy="6858000"/>
  <p:notesSz cx="6858000" cy="9144000"/>
  <p:custDataLst>
    <p:tags r:id="rId3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61" d="100"/>
          <a:sy n="161" d="100"/>
        </p:scale>
        <p:origin x="112" y="2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7" Type="http://schemas.openxmlformats.org/officeDocument/2006/relationships/tags" Target="tags/tag14.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notesMaster" Target="notesMasters/notesMaster1.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6.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11.xml"/><Relationship Id="rId6" Type="http://schemas.openxmlformats.org/officeDocument/2006/relationships/image" Target="../media/image10.png"/><Relationship Id="rId5" Type="http://schemas.openxmlformats.org/officeDocument/2006/relationships/tags" Target="../tags/tag10.xml"/><Relationship Id="rId4" Type="http://schemas.openxmlformats.org/officeDocument/2006/relationships/tags" Target="../tags/tag9.xml"/><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image" Target="../media/image9.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3.wmf"/><Relationship Id="rId1"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wmf"/><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1.jpeg"/><Relationship Id="rId1" Type="http://schemas.openxmlformats.org/officeDocument/2006/relationships/tags" Target="../tags/tag13.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image" Target="../media/image22.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image" Target="../media/image25.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封面背景"/>
          <p:cNvPicPr>
            <a:picLocks noChangeAspect="1"/>
          </p:cNvPicPr>
          <p:nvPr/>
        </p:nvPicPr>
        <p:blipFill>
          <a:blip r:embed="rId1"/>
          <a:stretch>
            <a:fillRect/>
          </a:stretch>
        </p:blipFill>
        <p:spPr>
          <a:xfrm>
            <a:off x="9041450" y="3777941"/>
            <a:ext cx="3083698" cy="2840509"/>
          </a:xfrm>
          <a:prstGeom prst="rect">
            <a:avLst/>
          </a:prstGeom>
        </p:spPr>
      </p:pic>
      <p:pic>
        <p:nvPicPr>
          <p:cNvPr id="6" name="图片 5" descr="AI"/>
          <p:cNvPicPr>
            <a:picLocks noChangeAspect="1"/>
          </p:cNvPicPr>
          <p:nvPr/>
        </p:nvPicPr>
        <p:blipFill>
          <a:blip r:embed="rId2"/>
          <a:stretch>
            <a:fillRect/>
          </a:stretch>
        </p:blipFill>
        <p:spPr>
          <a:xfrm>
            <a:off x="0" y="658027"/>
            <a:ext cx="4818380" cy="3021330"/>
          </a:xfrm>
          <a:prstGeom prst="rect">
            <a:avLst/>
          </a:prstGeom>
        </p:spPr>
      </p:pic>
      <p:sp>
        <p:nvSpPr>
          <p:cNvPr id="7" name="矩形 6"/>
          <p:cNvSpPr/>
          <p:nvPr/>
        </p:nvSpPr>
        <p:spPr>
          <a:xfrm>
            <a:off x="4991201" y="4172834"/>
            <a:ext cx="6096000" cy="2214880"/>
          </a:xfrm>
          <a:prstGeom prst="rect">
            <a:avLst/>
          </a:prstGeom>
        </p:spPr>
        <p:txBody>
          <a:bodyPr>
            <a:spAutoFit/>
          </a:bodyPr>
          <a:lstStyle/>
          <a:p>
            <a:pPr lvl="1">
              <a:lnSpc>
                <a:spcPct val="150000"/>
              </a:lnSpc>
            </a:pPr>
            <a:r>
              <a:rPr lang="zh-CN" altLang="en-US" sz="3600" b="1" dirty="0" smtClean="0">
                <a:latin typeface="黑体" panose="02010609060101010101" charset="-122"/>
                <a:ea typeface="黑体" panose="02010609060101010101" charset="-122"/>
                <a:cs typeface="Times New Roman" panose="02020603050405020304" charset="0"/>
              </a:rPr>
              <a:t>周建光</a:t>
            </a:r>
            <a:endParaRPr lang="en-US" altLang="zh-CN" sz="3600" b="1" dirty="0" smtClean="0">
              <a:latin typeface="黑体" panose="02010609060101010101" charset="-122"/>
              <a:ea typeface="黑体" panose="02010609060101010101" charset="-122"/>
              <a:cs typeface="Times New Roman" panose="02020603050405020304" charset="0"/>
            </a:endParaRPr>
          </a:p>
          <a:p>
            <a:pPr lvl="1">
              <a:lnSpc>
                <a:spcPct val="150000"/>
              </a:lnSpc>
            </a:pPr>
            <a:r>
              <a:rPr lang="en-US" altLang="zh-CN" sz="2800" b="1" dirty="0" err="1" smtClean="0">
                <a:latin typeface="Times New Roman" panose="02020603050405020304" charset="0"/>
                <a:cs typeface="Times New Roman" panose="02020603050405020304" charset="0"/>
              </a:rPr>
              <a:t>jgzhou</a:t>
            </a:r>
            <a:r>
              <a:rPr lang="zh-CN" altLang="en-US" sz="2800" b="1" dirty="0">
                <a:latin typeface="Times New Roman" panose="02020603050405020304" charset="0"/>
                <a:cs typeface="Times New Roman" panose="02020603050405020304" charset="0"/>
              </a:rPr>
              <a:t>@zju.edu.cn 		</a:t>
            </a:r>
            <a:endParaRPr lang="zh-CN" altLang="en-US" sz="2800" b="1" dirty="0">
              <a:latin typeface="Times New Roman" panose="02020603050405020304" charset="0"/>
              <a:cs typeface="Times New Roman" panose="02020603050405020304" charset="0"/>
            </a:endParaRPr>
          </a:p>
          <a:p>
            <a:pPr lvl="1">
              <a:lnSpc>
                <a:spcPct val="150000"/>
              </a:lnSpc>
            </a:pPr>
            <a:r>
              <a:rPr lang="en-US" altLang="zh-CN" sz="2800" b="1" dirty="0" smtClean="0">
                <a:latin typeface="Times New Roman" panose="02020603050405020304" charset="0"/>
                <a:cs typeface="Times New Roman" panose="02020603050405020304" charset="0"/>
              </a:rPr>
              <a:t>15988109537</a:t>
            </a:r>
            <a:endParaRPr lang="zh-CN" altLang="en-US" sz="2800" b="1" kern="0" dirty="0">
              <a:solidFill>
                <a:srgbClr val="0000FF"/>
              </a:solidFill>
              <a:latin typeface="微软雅黑" panose="020B0503020204020204" charset="-122"/>
              <a:ea typeface="微软雅黑" panose="020B0503020204020204" charset="-122"/>
            </a:endParaRPr>
          </a:p>
        </p:txBody>
      </p:sp>
      <p:sp>
        <p:nvSpPr>
          <p:cNvPr id="8" name="文本框 7"/>
          <p:cNvSpPr txBox="1"/>
          <p:nvPr/>
        </p:nvSpPr>
        <p:spPr>
          <a:xfrm>
            <a:off x="4818380" y="2000543"/>
            <a:ext cx="7200900" cy="1015663"/>
          </a:xfrm>
          <a:prstGeom prst="rect">
            <a:avLst/>
          </a:prstGeom>
          <a:noFill/>
        </p:spPr>
        <p:txBody>
          <a:bodyPr wrap="square" rtlCol="0">
            <a:spAutoFit/>
          </a:bodyPr>
          <a:lstStyle/>
          <a:p>
            <a:pPr algn="ctr"/>
            <a:r>
              <a:rPr lang="zh-CN" altLang="en-US" sz="6000" dirty="0" smtClean="0">
                <a:solidFill>
                  <a:srgbClr val="FF0000"/>
                </a:solidFill>
                <a:latin typeface="华文琥珀" panose="02010800040101010101" pitchFamily="2" charset="-122"/>
                <a:ea typeface="华文琥珀" panose="02010800040101010101" pitchFamily="2" charset="-122"/>
                <a:cs typeface="Times New Roman" panose="02020603050405020304" charset="0"/>
              </a:rPr>
              <a:t>人工智能</a:t>
            </a:r>
            <a:r>
              <a:rPr lang="zh-CN" altLang="en-US" sz="6000" dirty="0" smtClean="0">
                <a:solidFill>
                  <a:srgbClr val="FF0000"/>
                </a:solidFill>
                <a:latin typeface="华文琥珀" panose="02010800040101010101" pitchFamily="2" charset="-122"/>
                <a:ea typeface="华文琥珀" panose="02010800040101010101" pitchFamily="2" charset="-122"/>
                <a:cs typeface="Times New Roman" panose="02020603050405020304" charset="0"/>
              </a:rPr>
              <a:t>与机器人</a:t>
            </a:r>
            <a:endParaRPr lang="zh-CN" altLang="en-US" sz="6000" dirty="0">
              <a:solidFill>
                <a:srgbClr val="FF0000"/>
              </a:solidFill>
              <a:latin typeface="华文琥珀" panose="02010800040101010101" pitchFamily="2" charset="-122"/>
              <a:ea typeface="华文琥珀" panose="02010800040101010101" pitchFamily="2" charset="-122"/>
              <a:cs typeface="Times New Roman" panose="02020603050405020304" charset="0"/>
            </a:endParaRPr>
          </a:p>
        </p:txBody>
      </p:sp>
      <p:pic>
        <p:nvPicPr>
          <p:cNvPr id="9" name="图片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943211"/>
            <a:ext cx="4777356" cy="2675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9"/>
          <p:cNvPicPr>
            <a:picLocks noChangeAspect="1"/>
          </p:cNvPicPr>
          <p:nvPr/>
        </p:nvPicPr>
        <p:blipFill>
          <a:blip r:embed="rId4" cstate="print"/>
          <a:stretch>
            <a:fillRect/>
          </a:stretch>
        </p:blipFill>
        <p:spPr>
          <a:xfrm>
            <a:off x="8475860" y="0"/>
            <a:ext cx="3710248" cy="1046480"/>
          </a:xfrm>
          <a:prstGeom prst="rect">
            <a:avLst/>
          </a:prstGeom>
        </p:spPr>
      </p:pic>
    </p:spTree>
  </p:cSld>
  <p:clrMapOvr>
    <a:masterClrMapping/>
  </p:clrMapOvr>
  <p:transition advTm="30417"/>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流程图: 可选过程 9"/>
          <p:cNvSpPr/>
          <p:nvPr/>
        </p:nvSpPr>
        <p:spPr>
          <a:xfrm>
            <a:off x="1407160" y="2283460"/>
            <a:ext cx="4488180" cy="2249170"/>
          </a:xfrm>
          <a:prstGeom prst="flowChartAlternateProcess">
            <a:avLst/>
          </a:prstGeom>
          <a:solidFill>
            <a:schemeClr val="accent5">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6000" b="1"/>
              <a:t>本课程内容</a:t>
            </a:r>
            <a:endParaRPr lang="zh-CN" altLang="en-US" sz="6000" b="1"/>
          </a:p>
        </p:txBody>
      </p:sp>
      <p:sp>
        <p:nvSpPr>
          <p:cNvPr id="12" name="燕尾形 11"/>
          <p:cNvSpPr/>
          <p:nvPr/>
        </p:nvSpPr>
        <p:spPr>
          <a:xfrm>
            <a:off x="7414895" y="912495"/>
            <a:ext cx="2352040" cy="457200"/>
          </a:xfrm>
          <a:prstGeom prst="chevron">
            <a:avLst/>
          </a:prstGeom>
          <a:solidFill>
            <a:schemeClr val="accent2">
              <a:lumMod val="60000"/>
              <a:lumOff val="40000"/>
            </a:schemeClr>
          </a:solidFill>
          <a:ln>
            <a:noFill/>
          </a:ln>
          <a:effectLst>
            <a:outerShdw blurRad="50800" dist="38100" dir="8100000" algn="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t>绪论</a:t>
            </a:r>
            <a:endParaRPr lang="zh-CN" altLang="en-US" b="1"/>
          </a:p>
        </p:txBody>
      </p:sp>
      <p:sp>
        <p:nvSpPr>
          <p:cNvPr id="13" name="燕尾形 12"/>
          <p:cNvSpPr/>
          <p:nvPr>
            <p:custDataLst>
              <p:tags r:id="rId1"/>
            </p:custDataLst>
          </p:nvPr>
        </p:nvSpPr>
        <p:spPr>
          <a:xfrm>
            <a:off x="7414895" y="1668145"/>
            <a:ext cx="2352040" cy="457200"/>
          </a:xfrm>
          <a:prstGeom prst="chevron">
            <a:avLst/>
          </a:prstGeom>
          <a:solidFill>
            <a:schemeClr val="accent5">
              <a:lumMod val="60000"/>
              <a:lumOff val="40000"/>
            </a:schemeClr>
          </a:solidFill>
          <a:ln>
            <a:noFill/>
          </a:ln>
          <a:effectLst>
            <a:outerShdw blurRad="50800" dist="38100" dir="8100000" algn="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t>概念学习</a:t>
            </a:r>
            <a:endParaRPr lang="zh-CN" altLang="en-US" b="1"/>
          </a:p>
        </p:txBody>
      </p:sp>
      <p:sp>
        <p:nvSpPr>
          <p:cNvPr id="14" name="燕尾形 13"/>
          <p:cNvSpPr/>
          <p:nvPr>
            <p:custDataLst>
              <p:tags r:id="rId2"/>
            </p:custDataLst>
          </p:nvPr>
        </p:nvSpPr>
        <p:spPr>
          <a:xfrm>
            <a:off x="7384415" y="2423795"/>
            <a:ext cx="2352040" cy="457200"/>
          </a:xfrm>
          <a:prstGeom prst="chevron">
            <a:avLst/>
          </a:prstGeom>
          <a:solidFill>
            <a:schemeClr val="accent5">
              <a:lumMod val="60000"/>
              <a:lumOff val="40000"/>
            </a:schemeClr>
          </a:solidFill>
          <a:ln>
            <a:noFill/>
          </a:ln>
          <a:effectLst>
            <a:outerShdw blurRad="50800" dist="38100" dir="8100000" algn="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t>决策树</a:t>
            </a:r>
            <a:endParaRPr lang="zh-CN" altLang="en-US" b="1"/>
          </a:p>
        </p:txBody>
      </p:sp>
      <p:sp>
        <p:nvSpPr>
          <p:cNvPr id="15" name="燕尾形 14"/>
          <p:cNvSpPr/>
          <p:nvPr>
            <p:custDataLst>
              <p:tags r:id="rId3"/>
            </p:custDataLst>
          </p:nvPr>
        </p:nvSpPr>
        <p:spPr>
          <a:xfrm>
            <a:off x="7414895" y="3179445"/>
            <a:ext cx="2352040" cy="457200"/>
          </a:xfrm>
          <a:prstGeom prst="chevron">
            <a:avLst/>
          </a:prstGeom>
          <a:solidFill>
            <a:schemeClr val="accent5">
              <a:lumMod val="60000"/>
              <a:lumOff val="40000"/>
            </a:schemeClr>
          </a:solidFill>
          <a:ln>
            <a:noFill/>
          </a:ln>
          <a:effectLst>
            <a:outerShdw blurRad="50800" dist="38100" dir="8100000" algn="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t>神经网络</a:t>
            </a:r>
            <a:endParaRPr lang="zh-CN" altLang="en-US" b="1"/>
          </a:p>
        </p:txBody>
      </p:sp>
      <p:sp>
        <p:nvSpPr>
          <p:cNvPr id="16" name="燕尾形 15"/>
          <p:cNvSpPr/>
          <p:nvPr>
            <p:custDataLst>
              <p:tags r:id="rId4"/>
            </p:custDataLst>
          </p:nvPr>
        </p:nvSpPr>
        <p:spPr>
          <a:xfrm>
            <a:off x="7414895" y="3935095"/>
            <a:ext cx="2352040" cy="457200"/>
          </a:xfrm>
          <a:prstGeom prst="chevron">
            <a:avLst/>
          </a:prstGeom>
          <a:solidFill>
            <a:schemeClr val="accent5">
              <a:lumMod val="60000"/>
              <a:lumOff val="40000"/>
            </a:schemeClr>
          </a:solidFill>
          <a:ln>
            <a:noFill/>
          </a:ln>
          <a:effectLst>
            <a:outerShdw blurRad="50800" dist="38100" dir="8100000" algn="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t>支持向量机</a:t>
            </a:r>
            <a:endParaRPr lang="zh-CN" altLang="en-US" b="1"/>
          </a:p>
        </p:txBody>
      </p:sp>
      <p:sp>
        <p:nvSpPr>
          <p:cNvPr id="17" name="燕尾形 16"/>
          <p:cNvSpPr/>
          <p:nvPr>
            <p:custDataLst>
              <p:tags r:id="rId5"/>
            </p:custDataLst>
          </p:nvPr>
        </p:nvSpPr>
        <p:spPr>
          <a:xfrm>
            <a:off x="7384415" y="4690745"/>
            <a:ext cx="2352040" cy="457200"/>
          </a:xfrm>
          <a:prstGeom prst="chevron">
            <a:avLst/>
          </a:prstGeom>
          <a:solidFill>
            <a:schemeClr val="accent5">
              <a:lumMod val="60000"/>
              <a:lumOff val="40000"/>
            </a:schemeClr>
          </a:solidFill>
          <a:ln>
            <a:noFill/>
          </a:ln>
          <a:effectLst>
            <a:outerShdw blurRad="50800" dist="38100" dir="8100000" algn="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t>贝叶斯分类器</a:t>
            </a:r>
            <a:endParaRPr lang="zh-CN" altLang="en-US" b="1"/>
          </a:p>
        </p:txBody>
      </p:sp>
      <p:sp>
        <p:nvSpPr>
          <p:cNvPr id="18" name="燕尾形 17"/>
          <p:cNvSpPr/>
          <p:nvPr>
            <p:custDataLst>
              <p:tags r:id="rId6"/>
            </p:custDataLst>
          </p:nvPr>
        </p:nvSpPr>
        <p:spPr>
          <a:xfrm>
            <a:off x="7384415" y="5446395"/>
            <a:ext cx="2352040" cy="457200"/>
          </a:xfrm>
          <a:prstGeom prst="chevron">
            <a:avLst/>
          </a:prstGeom>
          <a:solidFill>
            <a:schemeClr val="accent5">
              <a:lumMod val="60000"/>
              <a:lumOff val="40000"/>
            </a:schemeClr>
          </a:solidFill>
          <a:ln>
            <a:noFill/>
          </a:ln>
          <a:effectLst>
            <a:outerShdw blurRad="50800" dist="38100" dir="8100000" algn="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t>强化学习</a:t>
            </a:r>
            <a:endParaRPr lang="zh-CN" altLang="en-US" b="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830580" y="572770"/>
            <a:ext cx="10159365" cy="645160"/>
          </a:xfrm>
          <a:prstGeom prst="rect">
            <a:avLst/>
          </a:prstGeom>
        </p:spPr>
        <p:txBody>
          <a:bodyPr wrap="square">
            <a:spAutoFit/>
          </a:bodyPr>
          <a:p>
            <a:pPr marL="0" indent="0"/>
            <a:r>
              <a:rPr lang="zh-CN" altLang="en-US" sz="1800" b="1" i="0">
                <a:latin typeface="+mn-ea"/>
                <a:cs typeface="+mn-ea"/>
              </a:rPr>
              <a:t>2024年诺贝尔奖科学类的3个奖项：生理学或医学奖、物理学奖、化学奖全部揭晓，后两项均颁发给AI（人工智能）领域科学家。人们惊呼：AI成为2024年诺奖最大赢家！</a:t>
            </a:r>
            <a:endParaRPr lang="zh-CN" altLang="en-US" sz="1600" b="0" i="0">
              <a:solidFill>
                <a:srgbClr val="222222"/>
              </a:solidFill>
              <a:latin typeface="Arial" panose="020B0604020202020204"/>
              <a:ea typeface="Arial" panose="020B0604020202020204"/>
            </a:endParaRPr>
          </a:p>
        </p:txBody>
      </p:sp>
      <p:pic>
        <p:nvPicPr>
          <p:cNvPr id="6" name="图片 5"/>
          <p:cNvPicPr/>
          <p:nvPr/>
        </p:nvPicPr>
        <p:blipFill>
          <a:blip r:embed="rId1"/>
        </p:blipFill>
        <p:spPr>
          <a:xfrm>
            <a:off x="830580" y="1559560"/>
            <a:ext cx="4829810" cy="3259455"/>
          </a:xfrm>
          <a:prstGeom prst="rect">
            <a:avLst/>
          </a:prstGeom>
        </p:spPr>
      </p:pic>
      <p:pic>
        <p:nvPicPr>
          <p:cNvPr id="7" name="图片 6"/>
          <p:cNvPicPr/>
          <p:nvPr/>
        </p:nvPicPr>
        <p:blipFill>
          <a:blip r:embed="rId2"/>
        </p:blipFill>
        <p:spPr>
          <a:xfrm>
            <a:off x="6158865" y="1559560"/>
            <a:ext cx="4831200" cy="3259455"/>
          </a:xfrm>
          <a:prstGeom prst="rect">
            <a:avLst/>
          </a:prstGeom>
        </p:spPr>
      </p:pic>
      <p:sp>
        <p:nvSpPr>
          <p:cNvPr id="8" name="文本框 7"/>
          <p:cNvSpPr txBox="1"/>
          <p:nvPr/>
        </p:nvSpPr>
        <p:spPr>
          <a:xfrm>
            <a:off x="1257935" y="4972050"/>
            <a:ext cx="3974465" cy="1076325"/>
          </a:xfrm>
          <a:prstGeom prst="rect">
            <a:avLst/>
          </a:prstGeom>
        </p:spPr>
        <p:txBody>
          <a:bodyPr wrap="square">
            <a:spAutoFit/>
          </a:bodyPr>
          <a:p>
            <a:pPr marL="0" indent="0"/>
            <a:r>
              <a:rPr lang="en-US" altLang="zh-CN" sz="1600" b="0" i="0">
                <a:latin typeface="PingFang SC"/>
                <a:ea typeface="PingFang SC"/>
              </a:rPr>
              <a:t>2024</a:t>
            </a:r>
            <a:r>
              <a:rPr lang="zh-CN" altLang="en-US" sz="1600" b="0" i="0">
                <a:latin typeface="PingFang SC"/>
                <a:ea typeface="PingFang SC"/>
              </a:rPr>
              <a:t>年诺贝尔物理学奖授予美国科学家约翰</a:t>
            </a:r>
            <a:r>
              <a:rPr lang="en-US" altLang="zh-CN" sz="1600" b="0" i="0">
                <a:latin typeface="PingFang SC"/>
                <a:ea typeface="PingFang SC"/>
              </a:rPr>
              <a:t>·</a:t>
            </a:r>
            <a:r>
              <a:rPr lang="zh-CN" altLang="en-US" sz="1600" b="0" i="0">
                <a:latin typeface="PingFang SC"/>
                <a:ea typeface="PingFang SC"/>
              </a:rPr>
              <a:t>霍普菲尔德和英国裔加拿大科学家杰弗里</a:t>
            </a:r>
            <a:r>
              <a:rPr lang="en-US" altLang="zh-CN" sz="1600" b="0" i="0">
                <a:latin typeface="PingFang SC"/>
                <a:ea typeface="PingFang SC"/>
              </a:rPr>
              <a:t>·</a:t>
            </a:r>
            <a:r>
              <a:rPr lang="zh-CN" altLang="en-US" sz="1600" b="0" i="0">
                <a:latin typeface="PingFang SC"/>
                <a:ea typeface="PingFang SC"/>
              </a:rPr>
              <a:t>欣顿，以表彰他们在使用人工神经网络的机器学习方面的基础性发现和发明。</a:t>
            </a:r>
            <a:endParaRPr lang="zh-CN" altLang="en-US" sz="1600" b="0" i="0">
              <a:latin typeface="PingFang SC"/>
              <a:ea typeface="PingFang SC"/>
            </a:endParaRPr>
          </a:p>
        </p:txBody>
      </p:sp>
      <p:sp>
        <p:nvSpPr>
          <p:cNvPr id="9" name="文本框 8"/>
          <p:cNvSpPr txBox="1"/>
          <p:nvPr/>
        </p:nvSpPr>
        <p:spPr>
          <a:xfrm>
            <a:off x="6587490" y="4972050"/>
            <a:ext cx="3974465" cy="1322070"/>
          </a:xfrm>
          <a:prstGeom prst="rect">
            <a:avLst/>
          </a:prstGeom>
        </p:spPr>
        <p:txBody>
          <a:bodyPr wrap="square">
            <a:spAutoFit/>
          </a:bodyPr>
          <a:p>
            <a:pPr marL="0" indent="0"/>
            <a:r>
              <a:rPr lang="en-US" altLang="zh-CN" sz="1600" b="0" i="0">
                <a:latin typeface="PingFang SC"/>
                <a:ea typeface="PingFang SC"/>
              </a:rPr>
              <a:t>2024</a:t>
            </a:r>
            <a:r>
              <a:rPr lang="zh-CN" altLang="en-US" sz="1600" b="0" i="0">
                <a:latin typeface="PingFang SC"/>
                <a:ea typeface="PingFang SC"/>
              </a:rPr>
              <a:t>年诺贝尔化学奖授予美国华盛顿大学西雅图分校的戴维</a:t>
            </a:r>
            <a:r>
              <a:rPr lang="en-US" altLang="zh-CN" sz="1600" b="0" i="0">
                <a:latin typeface="PingFang SC"/>
                <a:ea typeface="PingFang SC"/>
              </a:rPr>
              <a:t>·</a:t>
            </a:r>
            <a:r>
              <a:rPr lang="zh-CN" altLang="en-US" sz="1600" b="0" i="0">
                <a:latin typeface="PingFang SC"/>
                <a:ea typeface="PingFang SC"/>
              </a:rPr>
              <a:t>贝克，以及谷歌旗下“深层思维”公司的德米斯</a:t>
            </a:r>
            <a:r>
              <a:rPr lang="en-US" altLang="zh-CN" sz="1600" b="0" i="0">
                <a:latin typeface="PingFang SC"/>
                <a:ea typeface="PingFang SC"/>
              </a:rPr>
              <a:t>·</a:t>
            </a:r>
            <a:r>
              <a:rPr lang="zh-CN" altLang="en-US" sz="1600" b="0" i="0">
                <a:latin typeface="PingFang SC"/>
                <a:ea typeface="PingFang SC"/>
              </a:rPr>
              <a:t>哈萨比斯和约翰</a:t>
            </a:r>
            <a:r>
              <a:rPr lang="en-US" altLang="zh-CN" sz="1600" b="0" i="0">
                <a:latin typeface="PingFang SC"/>
                <a:ea typeface="PingFang SC"/>
              </a:rPr>
              <a:t>·</a:t>
            </a:r>
            <a:r>
              <a:rPr lang="zh-CN" altLang="en-US" sz="1600" b="0" i="0">
                <a:latin typeface="PingFang SC"/>
                <a:ea typeface="PingFang SC"/>
              </a:rPr>
              <a:t>江珀，以表彰他们破解了蛋白质神奇结构的密码。</a:t>
            </a:r>
            <a:endParaRPr lang="zh-CN" altLang="en-US" sz="1600" b="0" i="0">
              <a:latin typeface="PingFang SC"/>
              <a:ea typeface="PingFang SC"/>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5819775" y="1802130"/>
            <a:ext cx="6031865" cy="3858895"/>
          </a:xfrm>
          <a:prstGeom prst="rect">
            <a:avLst/>
          </a:prstGeom>
        </p:spPr>
        <p:txBody>
          <a:bodyPr wrap="square">
            <a:spAutoFit/>
          </a:bodyPr>
          <a:p>
            <a:pPr marL="0" indent="0" algn="just">
              <a:spcAft>
                <a:spcPts val="2500"/>
              </a:spcAft>
            </a:pPr>
            <a:r>
              <a:rPr lang="zh-CN" altLang="en-US" sz="1600" b="0" i="0">
                <a:latin typeface="PingFang SC"/>
                <a:ea typeface="PingFang SC"/>
              </a:rPr>
              <a:t>现在，当人们谈论人工智能时，他们通常指的是使用人工神经网络的机器学习技术。这项技术最初受到了人体大脑结构的启发。在人工神经网络用具有不同值的节点来模仿大脑的神经元。这些节点以类比突触的连接方式相互影响，从而产生更强或更弱的连接。这为训练AI模型提供了最基本的理论之一。今年的物理奖获奖者</a:t>
            </a:r>
            <a:r>
              <a:rPr lang="zh-CN" altLang="en-US" sz="1600">
                <a:latin typeface="PingFang SC"/>
                <a:ea typeface="PingFang SC"/>
                <a:sym typeface="+mn-ea"/>
              </a:rPr>
              <a:t>约翰</a:t>
            </a:r>
            <a:r>
              <a:rPr lang="en-US" altLang="zh-CN" sz="1600">
                <a:latin typeface="PingFang SC"/>
                <a:ea typeface="PingFang SC"/>
                <a:sym typeface="+mn-ea"/>
              </a:rPr>
              <a:t>·</a:t>
            </a:r>
            <a:r>
              <a:rPr lang="zh-CN" altLang="en-US" sz="1600">
                <a:latin typeface="PingFang SC"/>
                <a:ea typeface="PingFang SC"/>
                <a:sym typeface="+mn-ea"/>
              </a:rPr>
              <a:t>霍普菲尔德</a:t>
            </a:r>
            <a:r>
              <a:rPr lang="zh-CN" altLang="en-US" sz="1600" b="0" i="0">
                <a:latin typeface="PingFang SC"/>
                <a:ea typeface="PingFang SC"/>
              </a:rPr>
              <a:t>、</a:t>
            </a:r>
            <a:r>
              <a:rPr lang="zh-CN" altLang="en-US" sz="1600">
                <a:latin typeface="PingFang SC"/>
                <a:ea typeface="PingFang SC"/>
                <a:sym typeface="+mn-ea"/>
              </a:rPr>
              <a:t>杰弗里</a:t>
            </a:r>
            <a:r>
              <a:rPr lang="en-US" altLang="zh-CN" sz="1600">
                <a:latin typeface="PingFang SC"/>
                <a:ea typeface="PingFang SC"/>
                <a:sym typeface="+mn-ea"/>
              </a:rPr>
              <a:t>·</a:t>
            </a:r>
            <a:r>
              <a:rPr lang="zh-CN" altLang="en-US" sz="1600">
                <a:latin typeface="PingFang SC"/>
                <a:ea typeface="PingFang SC"/>
                <a:sym typeface="+mn-ea"/>
              </a:rPr>
              <a:t>欣顿</a:t>
            </a:r>
            <a:r>
              <a:rPr lang="zh-CN" altLang="en-US" sz="1600" b="0" i="0">
                <a:latin typeface="PingFang SC"/>
                <a:ea typeface="PingFang SC"/>
              </a:rPr>
              <a:t>从1980年代开始对人工神经网络进行了重要的先驱研究。</a:t>
            </a:r>
            <a:endParaRPr lang="zh-CN" altLang="en-US" sz="1600" b="0" i="0">
              <a:latin typeface="PingFang SC"/>
              <a:ea typeface="PingFang SC"/>
            </a:endParaRPr>
          </a:p>
          <a:p>
            <a:pPr marL="0" indent="0" algn="just">
              <a:spcAft>
                <a:spcPts val="2500"/>
              </a:spcAft>
            </a:pPr>
            <a:r>
              <a:rPr lang="zh-CN" altLang="en-US" sz="1600">
                <a:latin typeface="PingFang SC"/>
                <a:ea typeface="PingFang SC"/>
                <a:sym typeface="+mn-ea"/>
              </a:rPr>
              <a:t>约翰</a:t>
            </a:r>
            <a:r>
              <a:rPr lang="en-US" altLang="zh-CN" sz="1600">
                <a:latin typeface="PingFang SC"/>
                <a:ea typeface="PingFang SC"/>
                <a:sym typeface="+mn-ea"/>
              </a:rPr>
              <a:t>·</a:t>
            </a:r>
            <a:r>
              <a:rPr lang="zh-CN" altLang="en-US" sz="1600">
                <a:latin typeface="PingFang SC"/>
                <a:ea typeface="PingFang SC"/>
                <a:sym typeface="+mn-ea"/>
              </a:rPr>
              <a:t>霍普菲尔德、杰弗里</a:t>
            </a:r>
            <a:r>
              <a:rPr lang="en-US" altLang="zh-CN" sz="1600">
                <a:latin typeface="PingFang SC"/>
                <a:ea typeface="PingFang SC"/>
                <a:sym typeface="+mn-ea"/>
              </a:rPr>
              <a:t>·</a:t>
            </a:r>
            <a:r>
              <a:rPr lang="zh-CN" altLang="en-US" sz="1600">
                <a:latin typeface="PingFang SC"/>
                <a:ea typeface="PingFang SC"/>
                <a:sym typeface="+mn-ea"/>
              </a:rPr>
              <a:t>欣顿</a:t>
            </a:r>
            <a:r>
              <a:rPr lang="zh-CN" altLang="en-US" sz="1600" b="0" i="0">
                <a:latin typeface="PingFang SC"/>
                <a:ea typeface="PingFang SC"/>
              </a:rPr>
              <a:t>开发的技术方法是如今强大的机器学习的先驱。</a:t>
            </a:r>
            <a:r>
              <a:rPr lang="zh-CN" altLang="en-US" sz="1600">
                <a:latin typeface="PingFang SC"/>
                <a:ea typeface="PingFang SC"/>
                <a:sym typeface="+mn-ea"/>
              </a:rPr>
              <a:t>约翰</a:t>
            </a:r>
            <a:r>
              <a:rPr lang="en-US" altLang="zh-CN" sz="1600">
                <a:latin typeface="PingFang SC"/>
                <a:ea typeface="PingFang SC"/>
                <a:sym typeface="+mn-ea"/>
              </a:rPr>
              <a:t>·</a:t>
            </a:r>
            <a:r>
              <a:rPr lang="zh-CN" altLang="en-US" sz="1600">
                <a:latin typeface="PingFang SC"/>
                <a:ea typeface="PingFang SC"/>
                <a:sym typeface="+mn-ea"/>
              </a:rPr>
              <a:t>霍普菲尔德根据物理学原理创造了一种关联神经网络</a:t>
            </a:r>
            <a:r>
              <a:rPr lang="zh-CN" altLang="en-US" sz="1600" b="0" i="0">
                <a:latin typeface="PingFang SC"/>
                <a:ea typeface="PingFang SC"/>
              </a:rPr>
              <a:t>，可以存储和重建图像和其他数据模式。</a:t>
            </a:r>
            <a:r>
              <a:rPr sz="1600" b="0" i="0">
                <a:latin typeface="PingFang SC"/>
                <a:ea typeface="PingFang SC"/>
              </a:rPr>
              <a:t>杰弗里·辛顿以霍普菲尔德网络为基础发明了一种方法，可以自动发现数据属性，从而执行识别图片中的特定元素等任务。</a:t>
            </a:r>
            <a:r>
              <a:rPr lang="zh-CN" altLang="en-US" sz="1600" b="0" i="0">
                <a:latin typeface="PingFang SC"/>
                <a:ea typeface="PingFang SC"/>
              </a:rPr>
              <a:t>诺贝尔物理学奖委员会主席Ellen Moons称，“</a:t>
            </a:r>
            <a:r>
              <a:rPr sz="1600">
                <a:latin typeface="PingFang SC"/>
                <a:ea typeface="PingFang SC"/>
                <a:sym typeface="+mn-ea"/>
              </a:rPr>
              <a:t>他们的工作帮助启动了当前机器学习的爆炸性发展</a:t>
            </a:r>
            <a:r>
              <a:rPr lang="zh-CN" altLang="en-US" sz="1600" b="0" i="0">
                <a:latin typeface="PingFang SC"/>
                <a:ea typeface="PingFang SC"/>
              </a:rPr>
              <a:t>，人们正在相当广泛的领域使用人工神经网络。</a:t>
            </a:r>
            <a:endParaRPr lang="zh-CN" altLang="en-US" sz="1600" b="0" i="0">
              <a:latin typeface="PingFang SC"/>
              <a:ea typeface="PingFang SC"/>
            </a:endParaRPr>
          </a:p>
        </p:txBody>
      </p:sp>
      <p:pic>
        <p:nvPicPr>
          <p:cNvPr id="5" name="图片 4"/>
          <p:cNvPicPr/>
          <p:nvPr/>
        </p:nvPicPr>
        <p:blipFill>
          <a:blip r:embed="rId1"/>
        </p:blipFill>
        <p:spPr>
          <a:xfrm>
            <a:off x="350520" y="1132840"/>
            <a:ext cx="5288915" cy="5197475"/>
          </a:xfrm>
          <a:prstGeom prst="rect">
            <a:avLst/>
          </a:prstGeom>
        </p:spPr>
      </p:pic>
      <p:sp>
        <p:nvSpPr>
          <p:cNvPr id="2" name="文本框 1"/>
          <p:cNvSpPr txBox="1"/>
          <p:nvPr/>
        </p:nvSpPr>
        <p:spPr>
          <a:xfrm>
            <a:off x="350520" y="201295"/>
            <a:ext cx="7068185" cy="521970"/>
          </a:xfrm>
          <a:prstGeom prst="rect">
            <a:avLst/>
          </a:prstGeom>
          <a:noFill/>
        </p:spPr>
        <p:txBody>
          <a:bodyPr wrap="square" rtlCol="0" anchor="t">
            <a:spAutoFit/>
          </a:bodyPr>
          <a:p>
            <a:r>
              <a:rPr lang="en-US" altLang="zh-CN" sz="2800" b="1">
                <a:latin typeface="PingFang SC"/>
                <a:ea typeface="PingFang SC"/>
                <a:sym typeface="+mn-ea"/>
              </a:rPr>
              <a:t>2024</a:t>
            </a:r>
            <a:r>
              <a:rPr lang="zh-CN" altLang="en-US" sz="2800" b="1">
                <a:latin typeface="PingFang SC"/>
                <a:ea typeface="宋体" panose="02010600030101010101" pitchFamily="2" charset="-122"/>
                <a:sym typeface="+mn-ea"/>
              </a:rPr>
              <a:t>年</a:t>
            </a:r>
            <a:r>
              <a:rPr lang="zh-CN" altLang="en-US" sz="2800" b="1">
                <a:latin typeface="PingFang SC"/>
                <a:ea typeface="PingFang SC"/>
                <a:sym typeface="+mn-ea"/>
              </a:rPr>
              <a:t>诺贝尔物理学奖：人工智能先驱</a:t>
            </a:r>
            <a:endParaRPr lang="zh-CN" altLang="en-US" sz="2800" b="1">
              <a:latin typeface="PingFang SC"/>
              <a:ea typeface="PingFang SC"/>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50520" y="201295"/>
            <a:ext cx="9636760" cy="521970"/>
          </a:xfrm>
          <a:prstGeom prst="rect">
            <a:avLst/>
          </a:prstGeom>
          <a:noFill/>
        </p:spPr>
        <p:txBody>
          <a:bodyPr wrap="square" rtlCol="0" anchor="t">
            <a:spAutoFit/>
          </a:bodyPr>
          <a:p>
            <a:r>
              <a:rPr lang="en-US" altLang="zh-CN" sz="2800" b="1">
                <a:latin typeface="PingFang SC"/>
                <a:ea typeface="PingFang SC"/>
                <a:sym typeface="+mn-ea"/>
              </a:rPr>
              <a:t>2024</a:t>
            </a:r>
            <a:r>
              <a:rPr lang="zh-CN" altLang="en-US" sz="2800" b="1">
                <a:latin typeface="PingFang SC"/>
                <a:ea typeface="宋体" panose="02010600030101010101" pitchFamily="2" charset="-122"/>
                <a:sym typeface="+mn-ea"/>
              </a:rPr>
              <a:t>年</a:t>
            </a:r>
            <a:r>
              <a:rPr lang="zh-CN" altLang="en-US" sz="2800" b="1">
                <a:latin typeface="PingFang SC"/>
                <a:ea typeface="PingFang SC"/>
                <a:sym typeface="+mn-ea"/>
              </a:rPr>
              <a:t>诺贝尔化学奖：</a:t>
            </a:r>
            <a:r>
              <a:rPr lang="zh-CN" altLang="en-US" sz="2800" b="1">
                <a:latin typeface="PingFang SC"/>
                <a:ea typeface="宋体" panose="02010600030101010101" pitchFamily="2" charset="-122"/>
                <a:sym typeface="+mn-ea"/>
              </a:rPr>
              <a:t>AI 预测蛋白质结构里程碑突破</a:t>
            </a:r>
            <a:endParaRPr lang="zh-CN" altLang="en-US" sz="2800" b="1">
              <a:latin typeface="PingFang SC"/>
              <a:ea typeface="宋体" panose="02010600030101010101" pitchFamily="2" charset="-122"/>
              <a:sym typeface="+mn-ea"/>
            </a:endParaRPr>
          </a:p>
        </p:txBody>
      </p:sp>
      <p:pic>
        <p:nvPicPr>
          <p:cNvPr id="6" name="图片 5"/>
          <p:cNvPicPr/>
          <p:nvPr/>
        </p:nvPicPr>
        <p:blipFill>
          <a:blip r:embed="rId1"/>
          <a:stretch>
            <a:fillRect/>
          </a:stretch>
        </p:blipFill>
        <p:spPr>
          <a:xfrm>
            <a:off x="418465" y="906780"/>
            <a:ext cx="5288400" cy="5198400"/>
          </a:xfrm>
          <a:prstGeom prst="rect">
            <a:avLst/>
          </a:prstGeom>
        </p:spPr>
      </p:pic>
      <p:sp>
        <p:nvSpPr>
          <p:cNvPr id="7" name="文本框 6"/>
          <p:cNvSpPr txBox="1"/>
          <p:nvPr/>
        </p:nvSpPr>
        <p:spPr>
          <a:xfrm>
            <a:off x="6096000" y="1127760"/>
            <a:ext cx="5681980" cy="4769485"/>
          </a:xfrm>
          <a:prstGeom prst="rect">
            <a:avLst/>
          </a:prstGeom>
        </p:spPr>
        <p:txBody>
          <a:bodyPr wrap="square">
            <a:spAutoFit/>
          </a:bodyPr>
          <a:p>
            <a:pPr marL="0" indent="0" algn="just"/>
            <a:r>
              <a:rPr lang="zh-CN" altLang="en-US" sz="1600" i="0">
                <a:latin typeface="PingFang SC"/>
                <a:ea typeface="PingFang SC"/>
              </a:rPr>
              <a:t>2024 年诺贝尔化学奖一半授予大卫</a:t>
            </a:r>
            <a:r>
              <a:rPr lang="en-US" altLang="zh-CN" sz="1600">
                <a:latin typeface="PingFang SC"/>
                <a:ea typeface="PingFang SC"/>
                <a:sym typeface="+mn-ea"/>
              </a:rPr>
              <a:t>·</a:t>
            </a:r>
            <a:r>
              <a:rPr lang="zh-CN" altLang="en-US" sz="1600">
                <a:latin typeface="PingFang SC"/>
                <a:ea typeface="宋体" panose="02010600030101010101" pitchFamily="2" charset="-122"/>
                <a:sym typeface="+mn-ea"/>
              </a:rPr>
              <a:t>贝克</a:t>
            </a:r>
            <a:r>
              <a:rPr lang="zh-CN" altLang="en-US" sz="1600" i="0">
                <a:latin typeface="PingFang SC"/>
                <a:ea typeface="PingFang SC"/>
              </a:rPr>
              <a:t>，奖励“计算蛋白质设计”，他成功构建了大量全新的蛋白质，实现了这一几乎不可能的壮举；另一半共同授予戴密斯·哈萨比斯和约翰·江珀，奖励“蛋白质结构预测</a:t>
            </a:r>
            <a:r>
              <a:rPr lang="en-US" altLang="zh-CN" sz="1600" i="0">
                <a:latin typeface="PingFang SC"/>
                <a:ea typeface="PingFang SC"/>
              </a:rPr>
              <a:t>”</a:t>
            </a:r>
            <a:r>
              <a:rPr lang="zh-CN" altLang="en-US" sz="1600" i="0">
                <a:latin typeface="PingFang SC"/>
                <a:ea typeface="宋体" panose="02010600030101010101" pitchFamily="2" charset="-122"/>
              </a:rPr>
              <a:t>，他们开发了名为alphafold2的人工智能模型来解决 50 年来的问题：预测蛋白质的复杂结构，这些发现具有巨大的潜力</a:t>
            </a:r>
            <a:r>
              <a:rPr lang="zh-CN" altLang="en-US" sz="1600" i="0">
                <a:latin typeface="PingFang SC"/>
                <a:ea typeface="PingFang SC"/>
              </a:rPr>
              <a:t>。</a:t>
            </a:r>
            <a:endParaRPr lang="zh-CN" altLang="en-US" sz="1600" i="0">
              <a:latin typeface="PingFang SC"/>
              <a:ea typeface="PingFang SC"/>
            </a:endParaRPr>
          </a:p>
          <a:p>
            <a:pPr marL="0" indent="457200" algn="just"/>
            <a:r>
              <a:rPr lang="zh-CN" altLang="en-US" sz="1600" i="0">
                <a:latin typeface="PingFang SC"/>
                <a:ea typeface="PingFang SC"/>
              </a:rPr>
              <a:t>大卫·贝克编写一个叫做rosetta的程序，这个程序可以根据一段氨基酸序列解出蛋白质的结构。在rosetta这个程序基础上，2003年，大卫·贝克的团队设计出了第一个原本并不存在于自然界中的蛋白质，它被命名为top7，具有完全新颖的褶皱。接下来的几年时间，大卫的团队对rosetta进行了更多的优化。如今，大卫·贝克的实验室，以及他的合作伙伴们已能设计出一个又一个富有想象力的蛋白质，并证明能被用于药物、疫苗、纳米材料和微型传感器。</a:t>
            </a:r>
            <a:endParaRPr lang="zh-CN" altLang="en-US" sz="1600" i="0">
              <a:latin typeface="PingFang SC"/>
              <a:ea typeface="PingFang SC"/>
            </a:endParaRPr>
          </a:p>
          <a:p>
            <a:pPr marL="0" indent="457200" algn="just"/>
            <a:r>
              <a:rPr lang="zh-CN" altLang="en-US" sz="1600" i="0">
                <a:latin typeface="PingFang SC"/>
                <a:ea typeface="PingFang SC"/>
              </a:rPr>
              <a:t>2020年，戴米斯·哈萨比斯和约翰·江珀首次公布了他们所开发的alphafold2人工智能模型。在该模型的帮助下，二人得以预测出当时人们已确定的几乎所有2亿种蛋白质的结构。在2020年的竞赛中，第二代alphafold击败了rosetta，一举成名。</a:t>
            </a:r>
            <a:endParaRPr lang="zh-CN" altLang="en-US" sz="1600" i="0">
              <a:latin typeface="PingFang SC"/>
              <a:ea typeface="PingFang SC"/>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19735" y="291465"/>
            <a:ext cx="3643630" cy="583565"/>
          </a:xfrm>
          <a:prstGeom prst="rect">
            <a:avLst/>
          </a:prstGeom>
          <a:noFill/>
        </p:spPr>
        <p:txBody>
          <a:bodyPr wrap="square" rtlCol="0">
            <a:spAutoFit/>
            <a:scene3d>
              <a:camera prst="orthographicFront"/>
              <a:lightRig rig="threePt" dir="t"/>
            </a:scene3d>
          </a:bodyPr>
          <a:lstStyle/>
          <a:p>
            <a:r>
              <a:rPr lang="zh-CN" altLang="en-US" sz="3200" b="1" spc="200" dirty="0">
                <a:solidFill>
                  <a:schemeClr val="accent1"/>
                </a:solidFill>
                <a:uFillTx/>
                <a:latin typeface="华文中宋" panose="02010600040101010101" charset="-122"/>
                <a:ea typeface="华文中宋" panose="02010600040101010101" charset="-122"/>
                <a:cs typeface="+mj-cs"/>
              </a:rPr>
              <a:t>什么是人工智能？</a:t>
            </a:r>
            <a:endParaRPr lang="zh-CN" altLang="en-US" sz="3200" b="1" spc="200" dirty="0">
              <a:solidFill>
                <a:schemeClr val="accent1"/>
              </a:solidFill>
              <a:uFillTx/>
              <a:latin typeface="华文中宋" panose="02010600040101010101" charset="-122"/>
              <a:ea typeface="华文中宋" panose="02010600040101010101" charset="-122"/>
              <a:cs typeface="+mj-cs"/>
            </a:endParaRPr>
          </a:p>
        </p:txBody>
      </p:sp>
      <p:pic>
        <p:nvPicPr>
          <p:cNvPr id="6" name="图片 5" descr="Turing"/>
          <p:cNvPicPr>
            <a:picLocks noChangeAspect="1"/>
          </p:cNvPicPr>
          <p:nvPr/>
        </p:nvPicPr>
        <p:blipFill>
          <a:blip r:embed="rId1"/>
          <a:stretch>
            <a:fillRect/>
          </a:stretch>
        </p:blipFill>
        <p:spPr>
          <a:xfrm>
            <a:off x="1174115" y="3406775"/>
            <a:ext cx="2189480" cy="2900680"/>
          </a:xfrm>
          <a:prstGeom prst="rect">
            <a:avLst/>
          </a:prstGeom>
        </p:spPr>
      </p:pic>
      <p:sp>
        <p:nvSpPr>
          <p:cNvPr id="7" name="文本框 6"/>
          <p:cNvSpPr txBox="1"/>
          <p:nvPr/>
        </p:nvSpPr>
        <p:spPr>
          <a:xfrm>
            <a:off x="1398270" y="6371590"/>
            <a:ext cx="1741805" cy="337185"/>
          </a:xfrm>
          <a:prstGeom prst="rect">
            <a:avLst/>
          </a:prstGeom>
          <a:noFill/>
        </p:spPr>
        <p:txBody>
          <a:bodyPr wrap="square" rtlCol="0" anchor="t">
            <a:spAutoFit/>
          </a:bodyPr>
          <a:lstStyle/>
          <a:p>
            <a:r>
              <a:rPr lang="zh-CN" altLang="en-US" sz="1600" b="1"/>
              <a:t>艾伦·麦席森·图灵</a:t>
            </a:r>
            <a:endParaRPr lang="zh-CN" altLang="en-US" sz="1600" b="1"/>
          </a:p>
        </p:txBody>
      </p:sp>
      <p:sp>
        <p:nvSpPr>
          <p:cNvPr id="18" name="矩形 17"/>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19" name="矩形 18"/>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5059" name="Text Box 5" descr="7b0a20202020227461726765744d6f64756c65223a20226b6f6e6c696e6574657874626f78220a7d0a"/>
          <p:cNvSpPr txBox="1"/>
          <p:nvPr>
            <p:custDataLst>
              <p:tags r:id="rId2"/>
            </p:custDataLst>
          </p:nvPr>
        </p:nvSpPr>
        <p:spPr>
          <a:xfrm>
            <a:off x="301625" y="1583690"/>
            <a:ext cx="4060190" cy="1529715"/>
          </a:xfrm>
          <a:prstGeom prst="rect">
            <a:avLst/>
          </a:prstGeom>
          <a:noFill/>
          <a:ln w="9525">
            <a:solidFill>
              <a:srgbClr val="0070C0"/>
            </a:solid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algn="just" eaLnBrk="1" hangingPunct="1">
              <a:lnSpc>
                <a:spcPct val="130000"/>
              </a:lnSpc>
              <a:spcBef>
                <a:spcPct val="50000"/>
              </a:spcBef>
              <a:buClrTx/>
              <a:buFontTx/>
              <a:buNone/>
            </a:pPr>
            <a:r>
              <a:rPr lang="zh-CN" altLang="en-US" sz="1800" dirty="0">
                <a:latin typeface="微软雅黑" panose="020B0503020204020204" charset="-122"/>
                <a:ea typeface="微软雅黑" panose="020B0503020204020204" charset="-122"/>
                <a:cs typeface="微软雅黑" panose="020B0503020204020204" charset="-122"/>
              </a:rPr>
              <a:t>“</a:t>
            </a:r>
            <a:r>
              <a:rPr lang="zh-CN" altLang="en-US" sz="1800" b="1" dirty="0">
                <a:latin typeface="微软雅黑" panose="020B0503020204020204" charset="-122"/>
                <a:ea typeface="微软雅黑" panose="020B0503020204020204" charset="-122"/>
                <a:cs typeface="微软雅黑" panose="020B0503020204020204" charset="-122"/>
              </a:rPr>
              <a:t>人工智能</a:t>
            </a:r>
            <a:r>
              <a:rPr lang="zh-CN" altLang="en-US" sz="1800" dirty="0">
                <a:latin typeface="微软雅黑" panose="020B0503020204020204" charset="-122"/>
                <a:ea typeface="微软雅黑" panose="020B0503020204020204" charset="-122"/>
                <a:cs typeface="微软雅黑" panose="020B0503020204020204" charset="-122"/>
              </a:rPr>
              <a:t>”一词目前是</a:t>
            </a:r>
            <a:r>
              <a:rPr lang="zh-CN" altLang="en-US" sz="1800" b="1" dirty="0">
                <a:solidFill>
                  <a:srgbClr val="FF0000"/>
                </a:solidFill>
                <a:latin typeface="微软雅黑" panose="020B0503020204020204" charset="-122"/>
                <a:ea typeface="微软雅黑" panose="020B0503020204020204" charset="-122"/>
                <a:cs typeface="微软雅黑" panose="020B0503020204020204" charset="-122"/>
              </a:rPr>
              <a:t>指用计算机模拟或实现的智能</a:t>
            </a:r>
            <a:r>
              <a:rPr lang="zh-CN" altLang="en-US" sz="1800" dirty="0">
                <a:latin typeface="微软雅黑" panose="020B0503020204020204" charset="-122"/>
                <a:ea typeface="微软雅黑" panose="020B0503020204020204" charset="-122"/>
                <a:cs typeface="微软雅黑" panose="020B0503020204020204" charset="-122"/>
              </a:rPr>
              <a:t>，</a:t>
            </a:r>
            <a:r>
              <a:rPr lang="en-US" altLang="zh-CN" sz="1800" dirty="0">
                <a:latin typeface="微软雅黑" panose="020B0503020204020204" charset="-122"/>
                <a:ea typeface="微软雅黑" panose="020B0503020204020204" charset="-122"/>
                <a:cs typeface="微软雅黑" panose="020B0503020204020204" charset="-122"/>
              </a:rPr>
              <a:t> </a:t>
            </a:r>
            <a:r>
              <a:rPr lang="zh-CN" altLang="en-US" sz="1800" dirty="0">
                <a:latin typeface="微软雅黑" panose="020B0503020204020204" charset="-122"/>
                <a:ea typeface="微软雅黑" panose="020B0503020204020204" charset="-122"/>
                <a:cs typeface="微软雅黑" panose="020B0503020204020204" charset="-122"/>
              </a:rPr>
              <a:t>研究如何在</a:t>
            </a:r>
            <a:r>
              <a:rPr lang="zh-CN" altLang="en-US" sz="1800" b="1" dirty="0">
                <a:latin typeface="微软雅黑" panose="020B0503020204020204" charset="-122"/>
                <a:ea typeface="微软雅黑" panose="020B0503020204020204" charset="-122"/>
                <a:cs typeface="微软雅黑" panose="020B0503020204020204" charset="-122"/>
              </a:rPr>
              <a:t>机器</a:t>
            </a:r>
            <a:r>
              <a:rPr lang="zh-CN" altLang="en-US" sz="1800" dirty="0">
                <a:latin typeface="微软雅黑" panose="020B0503020204020204" charset="-122"/>
                <a:ea typeface="微软雅黑" panose="020B0503020204020204" charset="-122"/>
                <a:cs typeface="微软雅黑" panose="020B0503020204020204" charset="-122"/>
              </a:rPr>
              <a:t>上实现</a:t>
            </a:r>
            <a:r>
              <a:rPr lang="zh-CN" altLang="en-US" sz="1800" b="1" dirty="0">
                <a:latin typeface="微软雅黑" panose="020B0503020204020204" charset="-122"/>
                <a:ea typeface="微软雅黑" panose="020B0503020204020204" charset="-122"/>
                <a:cs typeface="微软雅黑" panose="020B0503020204020204" charset="-122"/>
              </a:rPr>
              <a:t>人类智能</a:t>
            </a:r>
            <a:r>
              <a:rPr lang="zh-CN" altLang="en-US" sz="1800" dirty="0">
                <a:latin typeface="微软雅黑" panose="020B0503020204020204" charset="-122"/>
                <a:ea typeface="微软雅黑" panose="020B0503020204020204" charset="-122"/>
                <a:cs typeface="微软雅黑" panose="020B0503020204020204" charset="-122"/>
              </a:rPr>
              <a:t>。即用机器来模仿人的智能。因此人工智能又称</a:t>
            </a:r>
            <a:r>
              <a:rPr lang="zh-CN" altLang="en-US" sz="1800" b="1" dirty="0">
                <a:solidFill>
                  <a:srgbClr val="FF0000"/>
                </a:solidFill>
                <a:latin typeface="微软雅黑" panose="020B0503020204020204" charset="-122"/>
                <a:ea typeface="微软雅黑" panose="020B0503020204020204" charset="-122"/>
                <a:cs typeface="微软雅黑" panose="020B0503020204020204" charset="-122"/>
              </a:rPr>
              <a:t>机器智能</a:t>
            </a:r>
            <a:r>
              <a:rPr lang="zh-CN" altLang="en-US" sz="1800" dirty="0">
                <a:latin typeface="微软雅黑" panose="020B0503020204020204" charset="-122"/>
                <a:ea typeface="微软雅黑" panose="020B0503020204020204" charset="-122"/>
                <a:cs typeface="微软雅黑" panose="020B0503020204020204" charset="-122"/>
              </a:rPr>
              <a:t>。 </a:t>
            </a:r>
            <a:endParaRPr lang="zh-CN" altLang="en-US" sz="1800" dirty="0">
              <a:latin typeface="微软雅黑" panose="020B0503020204020204" charset="-122"/>
              <a:ea typeface="微软雅黑" panose="020B0503020204020204" charset="-122"/>
              <a:cs typeface="微软雅黑" panose="020B0503020204020204" charset="-122"/>
            </a:endParaRPr>
          </a:p>
        </p:txBody>
      </p:sp>
      <p:sp>
        <p:nvSpPr>
          <p:cNvPr id="172" name="文本框 171" descr="7b0a20202020227461726765744d6f64756c65223a20226b6f6e6c696e6574657874626f78220a7d0a"/>
          <p:cNvSpPr txBox="1"/>
          <p:nvPr>
            <p:custDataLst>
              <p:tags r:id="rId3"/>
            </p:custDataLst>
          </p:nvPr>
        </p:nvSpPr>
        <p:spPr>
          <a:xfrm>
            <a:off x="903605" y="1116330"/>
            <a:ext cx="2730500" cy="368300"/>
          </a:xfrm>
          <a:prstGeom prst="rect">
            <a:avLst/>
          </a:prstGeom>
          <a:noFill/>
        </p:spPr>
        <p:txBody>
          <a:bodyPr wrap="square" rtlCol="0" anchor="t">
            <a:spAutoFit/>
          </a:bodyPr>
          <a:p>
            <a:pPr algn="ctr"/>
            <a:r>
              <a:rPr lang="zh-CN" altLang="en-US" b="1">
                <a:solidFill>
                  <a:srgbClr val="0070C0"/>
                </a:solidFill>
                <a:latin typeface="微软雅黑" panose="020B0503020204020204" charset="-122"/>
                <a:ea typeface="微软雅黑" panose="020B0503020204020204" charset="-122"/>
              </a:rPr>
              <a:t>人工智能概念的一般描述</a:t>
            </a:r>
            <a:endParaRPr lang="zh-CN" altLang="en-US" b="1">
              <a:solidFill>
                <a:srgbClr val="0070C0"/>
              </a:solidFill>
              <a:latin typeface="微软雅黑" panose="020B0503020204020204" charset="-122"/>
              <a:ea typeface="微软雅黑" panose="020B0503020204020204" charset="-122"/>
            </a:endParaRPr>
          </a:p>
        </p:txBody>
      </p:sp>
      <p:sp>
        <p:nvSpPr>
          <p:cNvPr id="5" name="Text Box 5" descr="7b0a20202020227461726765744d6f64756c65223a20226b6f6e6c696e6574657874626f78220a7d0a"/>
          <p:cNvSpPr txBox="1"/>
          <p:nvPr>
            <p:custDataLst>
              <p:tags r:id="rId4"/>
            </p:custDataLst>
          </p:nvPr>
        </p:nvSpPr>
        <p:spPr>
          <a:xfrm>
            <a:off x="4834255" y="1584325"/>
            <a:ext cx="6790055" cy="1529080"/>
          </a:xfrm>
          <a:prstGeom prst="rect">
            <a:avLst/>
          </a:prstGeom>
          <a:noFill/>
          <a:ln w="9525">
            <a:solidFill>
              <a:srgbClr val="0070C0"/>
            </a:solidFill>
          </a:ln>
        </p:spPr>
        <p:txBody>
          <a:bodyPr wrap="square">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stStyle>
          <a:p>
            <a:pPr marL="0" lvl="0" indent="0" algn="just" eaLnBrk="1" hangingPunct="1">
              <a:lnSpc>
                <a:spcPct val="130000"/>
              </a:lnSpc>
              <a:spcBef>
                <a:spcPct val="50000"/>
              </a:spcBef>
              <a:buClrTx/>
              <a:buFontTx/>
              <a:buNone/>
            </a:pPr>
            <a:r>
              <a:rPr lang="zh-CN" altLang="en-US" sz="1800" b="1">
                <a:latin typeface="+mn-ea"/>
                <a:cs typeface="+mn-ea"/>
                <a:sym typeface="+mn-ea"/>
              </a:rPr>
              <a:t>测试者与被测试者（一个人和一台机器）隔开的情况下，通过一些装置（如键盘）向被测试者随意提问。进行多次测试后，如果机器让平均每个参与者做出超过30%的误判，那么这台机器就通过了测试，并被认为具有人类智能</a:t>
            </a:r>
            <a:endParaRPr lang="zh-CN" altLang="en-US" sz="1800" b="1">
              <a:latin typeface="+mn-ea"/>
              <a:cs typeface="+mn-ea"/>
            </a:endParaRPr>
          </a:p>
          <a:p>
            <a:pPr marL="0" lvl="0" indent="0" algn="just" eaLnBrk="1" hangingPunct="1">
              <a:lnSpc>
                <a:spcPct val="130000"/>
              </a:lnSpc>
              <a:spcBef>
                <a:spcPct val="50000"/>
              </a:spcBef>
              <a:buClrTx/>
              <a:buFontTx/>
              <a:buNone/>
            </a:pPr>
            <a:r>
              <a:rPr lang="zh-CN" altLang="en-US" sz="1800" dirty="0">
                <a:latin typeface="微软雅黑" panose="020B0503020204020204" charset="-122"/>
                <a:ea typeface="微软雅黑" panose="020B0503020204020204" charset="-122"/>
                <a:cs typeface="微软雅黑" panose="020B0503020204020204" charset="-122"/>
              </a:rPr>
              <a:t> </a:t>
            </a:r>
            <a:endParaRPr lang="zh-CN" altLang="en-US" sz="1800" dirty="0">
              <a:latin typeface="微软雅黑" panose="020B0503020204020204" charset="-122"/>
              <a:ea typeface="微软雅黑" panose="020B0503020204020204" charset="-122"/>
              <a:cs typeface="微软雅黑" panose="020B0503020204020204" charset="-122"/>
            </a:endParaRPr>
          </a:p>
        </p:txBody>
      </p:sp>
      <p:pic>
        <p:nvPicPr>
          <p:cNvPr id="8" name="图片 7"/>
          <p:cNvPicPr>
            <a:picLocks noChangeAspect="1"/>
          </p:cNvPicPr>
          <p:nvPr>
            <p:custDataLst>
              <p:tags r:id="rId5"/>
            </p:custDataLst>
          </p:nvPr>
        </p:nvPicPr>
        <p:blipFill>
          <a:blip r:embed="rId6"/>
          <a:stretch>
            <a:fillRect/>
          </a:stretch>
        </p:blipFill>
        <p:spPr>
          <a:xfrm>
            <a:off x="5600700" y="3429000"/>
            <a:ext cx="4871085" cy="2878455"/>
          </a:xfrm>
          <a:prstGeom prst="rect">
            <a:avLst/>
          </a:prstGeom>
        </p:spPr>
      </p:pic>
      <p:sp>
        <p:nvSpPr>
          <p:cNvPr id="9" name="文本框 8" descr="7b0a20202020227461726765744d6f64756c65223a20226b6f6e6c696e6574657874626f78220a7d0a"/>
          <p:cNvSpPr txBox="1"/>
          <p:nvPr>
            <p:custDataLst>
              <p:tags r:id="rId7"/>
            </p:custDataLst>
          </p:nvPr>
        </p:nvSpPr>
        <p:spPr>
          <a:xfrm>
            <a:off x="7432040" y="1116330"/>
            <a:ext cx="1209040" cy="368300"/>
          </a:xfrm>
          <a:prstGeom prst="rect">
            <a:avLst/>
          </a:prstGeom>
          <a:noFill/>
        </p:spPr>
        <p:txBody>
          <a:bodyPr wrap="square" rtlCol="0" anchor="t">
            <a:spAutoFit/>
          </a:bodyPr>
          <a:p>
            <a:pPr algn="ctr"/>
            <a:r>
              <a:rPr lang="zh-CN" altLang="en-US" b="1">
                <a:solidFill>
                  <a:srgbClr val="0070C0"/>
                </a:solidFill>
                <a:latin typeface="微软雅黑" panose="020B0503020204020204" charset="-122"/>
                <a:ea typeface="微软雅黑" panose="020B0503020204020204" charset="-122"/>
              </a:rPr>
              <a:t>图灵测试</a:t>
            </a:r>
            <a:endParaRPr lang="zh-CN" altLang="en-US" b="1">
              <a:solidFill>
                <a:srgbClr val="0070C0"/>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19735" y="291465"/>
            <a:ext cx="5146040" cy="583565"/>
          </a:xfrm>
          <a:prstGeom prst="rect">
            <a:avLst/>
          </a:prstGeom>
          <a:noFill/>
        </p:spPr>
        <p:txBody>
          <a:bodyPr wrap="square" rtlCol="0">
            <a:spAutoFit/>
          </a:bodyPr>
          <a:lstStyle/>
          <a:p>
            <a:r>
              <a:rPr lang="zh-CN" altLang="en-US" sz="3200" b="1" spc="200" dirty="0">
                <a:solidFill>
                  <a:schemeClr val="accent1"/>
                </a:solidFill>
                <a:uFillTx/>
                <a:latin typeface="华文中宋" panose="02010600040101010101" charset="-122"/>
                <a:ea typeface="华文中宋" panose="02010600040101010101" charset="-122"/>
                <a:cs typeface="+mj-cs"/>
              </a:rPr>
              <a:t>强人工智能</a:t>
            </a:r>
            <a:r>
              <a:rPr lang="en-US" altLang="zh-CN" sz="3200" b="1" spc="200" dirty="0">
                <a:solidFill>
                  <a:schemeClr val="accent1"/>
                </a:solidFill>
                <a:uFillTx/>
                <a:latin typeface="华文中宋" panose="02010600040101010101" charset="-122"/>
                <a:ea typeface="华文中宋" panose="02010600040101010101" charset="-122"/>
                <a:cs typeface="+mj-cs"/>
              </a:rPr>
              <a:t>&amp;</a:t>
            </a:r>
            <a:r>
              <a:rPr lang="zh-CN" altLang="en-US" sz="3200" b="1" spc="200" dirty="0">
                <a:solidFill>
                  <a:schemeClr val="accent1"/>
                </a:solidFill>
                <a:uFillTx/>
                <a:latin typeface="华文中宋" panose="02010600040101010101" charset="-122"/>
                <a:ea typeface="华文中宋" panose="02010600040101010101" charset="-122"/>
                <a:cs typeface="+mj-cs"/>
              </a:rPr>
              <a:t>弱人工智能</a:t>
            </a:r>
            <a:endParaRPr lang="zh-CN" altLang="en-US" sz="3200" b="1" spc="200" dirty="0">
              <a:solidFill>
                <a:schemeClr val="accent1"/>
              </a:solidFill>
              <a:uFillTx/>
              <a:latin typeface="华文中宋" panose="02010600040101010101" charset="-122"/>
              <a:ea typeface="华文中宋" panose="02010600040101010101" charset="-122"/>
              <a:cs typeface="+mj-cs"/>
            </a:endParaRPr>
          </a:p>
        </p:txBody>
      </p:sp>
      <p:sp>
        <p:nvSpPr>
          <p:cNvPr id="5" name="文本框 4"/>
          <p:cNvSpPr txBox="1"/>
          <p:nvPr/>
        </p:nvSpPr>
        <p:spPr>
          <a:xfrm>
            <a:off x="203200" y="1294765"/>
            <a:ext cx="7173595" cy="1715770"/>
          </a:xfrm>
          <a:prstGeom prst="rect">
            <a:avLst/>
          </a:prstGeom>
          <a:noFill/>
        </p:spPr>
        <p:txBody>
          <a:bodyPr wrap="square" rtlCol="0">
            <a:spAutoFit/>
          </a:bodyPr>
          <a:lstStyle/>
          <a:p>
            <a:r>
              <a:rPr lang="zh-CN" altLang="en-US" sz="2400" b="1">
                <a:latin typeface="宋体" panose="02010600030101010101" pitchFamily="2" charset="-122"/>
                <a:ea typeface="宋体" panose="02010600030101010101" pitchFamily="2" charset="-122"/>
                <a:cs typeface="宋体" panose="02010600030101010101" pitchFamily="2" charset="-122"/>
              </a:rPr>
              <a:t>强人工智能</a:t>
            </a:r>
            <a:r>
              <a:rPr lang="en-US" altLang="zh-CN" sz="2400" b="1">
                <a:latin typeface="宋体" panose="02010600030101010101" pitchFamily="2" charset="-122"/>
                <a:ea typeface="宋体" panose="02010600030101010101" pitchFamily="2" charset="-122"/>
                <a:cs typeface="宋体" panose="02010600030101010101" pitchFamily="2" charset="-122"/>
              </a:rPr>
              <a:t>:</a:t>
            </a:r>
            <a:endParaRPr lang="en-US" altLang="zh-CN" sz="2400" b="1">
              <a:latin typeface="宋体" panose="02010600030101010101" pitchFamily="2" charset="-122"/>
              <a:ea typeface="宋体" panose="02010600030101010101" pitchFamily="2" charset="-122"/>
              <a:cs typeface="宋体" panose="02010600030101010101" pitchFamily="2" charset="-122"/>
            </a:endParaRPr>
          </a:p>
          <a:p>
            <a:pPr>
              <a:lnSpc>
                <a:spcPct val="40000"/>
              </a:lnSpc>
            </a:pPr>
            <a:endParaRPr lang="en-US" altLang="zh-CN" sz="2400" b="1">
              <a:latin typeface="宋体" panose="02010600030101010101" pitchFamily="2" charset="-122"/>
              <a:ea typeface="宋体" panose="02010600030101010101" pitchFamily="2" charset="-122"/>
              <a:cs typeface="宋体" panose="02010600030101010101" pitchFamily="2" charset="-122"/>
            </a:endParaRPr>
          </a:p>
          <a:p>
            <a:r>
              <a:rPr lang="zh-CN" altLang="en-US" sz="2400" b="1">
                <a:latin typeface="宋体" panose="02010600030101010101" pitchFamily="2" charset="-122"/>
                <a:ea typeface="宋体" panose="02010600030101010101" pitchFamily="2" charset="-122"/>
                <a:cs typeface="宋体" panose="02010600030101010101" pitchFamily="2" charset="-122"/>
              </a:rPr>
              <a:t>又称为</a:t>
            </a:r>
            <a:r>
              <a:rPr lang="en-US" altLang="zh-CN" sz="2400" b="1">
                <a:latin typeface="宋体" panose="02010600030101010101" pitchFamily="2" charset="-122"/>
                <a:ea typeface="宋体" panose="02010600030101010101" pitchFamily="2" charset="-122"/>
                <a:cs typeface="宋体" panose="02010600030101010101" pitchFamily="2" charset="-122"/>
              </a:rPr>
              <a:t>通用</a:t>
            </a:r>
            <a:r>
              <a:rPr lang="en-US" altLang="zh-CN" sz="2400" b="1">
                <a:latin typeface="宋体" panose="02010600030101010101" pitchFamily="2" charset="-122"/>
                <a:ea typeface="宋体" panose="02010600030101010101" pitchFamily="2" charset="-122"/>
                <a:cs typeface="宋体" panose="02010600030101010101" pitchFamily="2" charset="-122"/>
                <a:sym typeface="+mn-ea"/>
              </a:rPr>
              <a:t>人工</a:t>
            </a:r>
            <a:r>
              <a:rPr lang="en-US" altLang="zh-CN" sz="2400" b="1">
                <a:latin typeface="宋体" panose="02010600030101010101" pitchFamily="2" charset="-122"/>
                <a:ea typeface="宋体" panose="02010600030101010101" pitchFamily="2" charset="-122"/>
                <a:cs typeface="宋体" panose="02010600030101010101" pitchFamily="2" charset="-122"/>
              </a:rPr>
              <a:t>智能，即机器将拥有与人类相同的智能</a:t>
            </a:r>
            <a:r>
              <a:rPr lang="zh-CN" altLang="en-US" sz="2400" b="1">
                <a:latin typeface="宋体" panose="02010600030101010101" pitchFamily="2" charset="-122"/>
                <a:ea typeface="宋体" panose="02010600030101010101" pitchFamily="2" charset="-122"/>
                <a:cs typeface="宋体" panose="02010600030101010101" pitchFamily="2" charset="-122"/>
              </a:rPr>
              <a:t>，</a:t>
            </a:r>
            <a:r>
              <a:rPr lang="en-US" altLang="zh-CN" sz="2400" b="1">
                <a:latin typeface="宋体" panose="02010600030101010101" pitchFamily="2" charset="-122"/>
                <a:ea typeface="宋体" panose="02010600030101010101" pitchFamily="2" charset="-122"/>
                <a:cs typeface="宋体" panose="02010600030101010101" pitchFamily="2" charset="-122"/>
              </a:rPr>
              <a:t>它会有自我意识，有能力解决问题</a:t>
            </a:r>
            <a:r>
              <a:rPr lang="zh-CN" altLang="en-US" sz="2400" b="1">
                <a:latin typeface="宋体" panose="02010600030101010101" pitchFamily="2" charset="-122"/>
                <a:ea typeface="宋体" panose="02010600030101010101" pitchFamily="2" charset="-122"/>
                <a:cs typeface="宋体" panose="02010600030101010101" pitchFamily="2" charset="-122"/>
              </a:rPr>
              <a:t>、</a:t>
            </a:r>
            <a:r>
              <a:rPr lang="en-US" altLang="zh-CN" sz="2400" b="1">
                <a:latin typeface="宋体" panose="02010600030101010101" pitchFamily="2" charset="-122"/>
                <a:ea typeface="宋体" panose="02010600030101010101" pitchFamily="2" charset="-122"/>
                <a:cs typeface="宋体" panose="02010600030101010101" pitchFamily="2" charset="-122"/>
              </a:rPr>
              <a:t>学习和计划未来。</a:t>
            </a:r>
            <a:endParaRPr lang="en-US" altLang="zh-CN" sz="2400" b="1">
              <a:latin typeface="宋体" panose="02010600030101010101" pitchFamily="2" charset="-122"/>
              <a:ea typeface="宋体" panose="02010600030101010101" pitchFamily="2" charset="-122"/>
              <a:cs typeface="宋体" panose="02010600030101010101" pitchFamily="2" charset="-122"/>
            </a:endParaRPr>
          </a:p>
        </p:txBody>
      </p:sp>
      <p:sp>
        <p:nvSpPr>
          <p:cNvPr id="6" name="文本框 5"/>
          <p:cNvSpPr txBox="1"/>
          <p:nvPr/>
        </p:nvSpPr>
        <p:spPr>
          <a:xfrm>
            <a:off x="203200" y="3425190"/>
            <a:ext cx="7173595" cy="1678940"/>
          </a:xfrm>
          <a:prstGeom prst="rect">
            <a:avLst/>
          </a:prstGeom>
          <a:noFill/>
        </p:spPr>
        <p:txBody>
          <a:bodyPr wrap="square" rtlCol="0">
            <a:spAutoFit/>
          </a:bodyPr>
          <a:lstStyle/>
          <a:p>
            <a:r>
              <a:rPr lang="zh-CN" altLang="en-US" sz="2400" b="1">
                <a:latin typeface="宋体" panose="02010600030101010101" pitchFamily="2" charset="-122"/>
                <a:ea typeface="宋体" panose="02010600030101010101" pitchFamily="2" charset="-122"/>
                <a:cs typeface="宋体" panose="02010600030101010101" pitchFamily="2" charset="-122"/>
                <a:sym typeface="+mn-ea"/>
              </a:rPr>
              <a:t>弱人工智能</a:t>
            </a:r>
            <a:r>
              <a:rPr lang="en-US" altLang="zh-CN" sz="2400" b="1">
                <a:latin typeface="宋体" panose="02010600030101010101" pitchFamily="2" charset="-122"/>
                <a:ea typeface="宋体" panose="02010600030101010101" pitchFamily="2" charset="-122"/>
                <a:cs typeface="宋体" panose="02010600030101010101" pitchFamily="2" charset="-122"/>
                <a:sym typeface="+mn-ea"/>
              </a:rPr>
              <a:t>:</a:t>
            </a:r>
            <a:endParaRPr lang="en-US" altLang="zh-CN" sz="2400" b="1">
              <a:latin typeface="宋体" panose="02010600030101010101" pitchFamily="2" charset="-122"/>
              <a:ea typeface="宋体" panose="02010600030101010101" pitchFamily="2" charset="-122"/>
              <a:cs typeface="宋体" panose="02010600030101010101" pitchFamily="2" charset="-122"/>
            </a:endParaRPr>
          </a:p>
          <a:p>
            <a:pPr>
              <a:lnSpc>
                <a:spcPct val="30000"/>
              </a:lnSpc>
            </a:pPr>
            <a:endParaRPr lang="en-US" altLang="zh-CN" sz="2400" b="1">
              <a:latin typeface="宋体" panose="02010600030101010101" pitchFamily="2" charset="-122"/>
              <a:ea typeface="宋体" panose="02010600030101010101" pitchFamily="2" charset="-122"/>
              <a:cs typeface="宋体" panose="02010600030101010101" pitchFamily="2" charset="-122"/>
            </a:endParaRPr>
          </a:p>
          <a:p>
            <a:r>
              <a:rPr lang="en-US" altLang="zh-CN" sz="2400" b="1">
                <a:latin typeface="宋体" panose="02010600030101010101" pitchFamily="2" charset="-122"/>
                <a:ea typeface="宋体" panose="02010600030101010101" pitchFamily="2" charset="-122"/>
                <a:cs typeface="宋体" panose="02010600030101010101" pitchFamily="2" charset="-122"/>
              </a:rPr>
              <a:t>也被称为</a:t>
            </a:r>
            <a:r>
              <a:rPr lang="en-US" altLang="zh-CN" sz="2400" b="1">
                <a:latin typeface="宋体" panose="02010600030101010101" pitchFamily="2" charset="-122"/>
                <a:ea typeface="宋体" panose="02010600030101010101" pitchFamily="2" charset="-122"/>
                <a:cs typeface="宋体" panose="02010600030101010101" pitchFamily="2" charset="-122"/>
                <a:sym typeface="+mn-ea"/>
              </a:rPr>
              <a:t>狭义</a:t>
            </a:r>
            <a:r>
              <a:rPr lang="en-US" altLang="zh-CN" sz="2400" b="1">
                <a:latin typeface="宋体" panose="02010600030101010101" pitchFamily="2" charset="-122"/>
                <a:ea typeface="宋体" panose="02010600030101010101" pitchFamily="2" charset="-122"/>
                <a:cs typeface="宋体" panose="02010600030101010101" pitchFamily="2" charset="-122"/>
              </a:rPr>
              <a:t>人工智能</a:t>
            </a:r>
            <a:r>
              <a:rPr lang="zh-CN" altLang="en-US" sz="2400" b="1">
                <a:latin typeface="宋体" panose="02010600030101010101" pitchFamily="2" charset="-122"/>
                <a:ea typeface="宋体" panose="02010600030101010101" pitchFamily="2" charset="-122"/>
                <a:cs typeface="宋体" panose="02010600030101010101" pitchFamily="2" charset="-122"/>
              </a:rPr>
              <a:t>，</a:t>
            </a:r>
            <a:r>
              <a:rPr lang="en-US" altLang="zh-CN" sz="2400" b="1">
                <a:latin typeface="宋体" panose="02010600030101010101" pitchFamily="2" charset="-122"/>
                <a:ea typeface="宋体" panose="02010600030101010101" pitchFamily="2" charset="-122"/>
                <a:cs typeface="宋体" panose="02010600030101010101" pitchFamily="2" charset="-122"/>
              </a:rPr>
              <a:t>是一种经过训练并专注于执行特定任务的人工智能，如苹果的</a:t>
            </a:r>
            <a:r>
              <a:rPr lang="en-US" altLang="zh-CN" sz="2400" b="1">
                <a:latin typeface="Times New Roman" panose="02020603050405020304" charset="0"/>
                <a:ea typeface="宋体" panose="02010600030101010101" pitchFamily="2" charset="-122"/>
                <a:cs typeface="Times New Roman" panose="02020603050405020304" charset="0"/>
              </a:rPr>
              <a:t>Siri</a:t>
            </a:r>
            <a:r>
              <a:rPr lang="zh-CN" altLang="en-US" sz="2400" b="1">
                <a:latin typeface="Times New Roman" panose="02020603050405020304" charset="0"/>
                <a:ea typeface="宋体" panose="02010600030101010101" pitchFamily="2" charset="-122"/>
                <a:cs typeface="Times New Roman" panose="02020603050405020304" charset="0"/>
              </a:rPr>
              <a:t>、</a:t>
            </a:r>
            <a:r>
              <a:rPr lang="en-US" altLang="zh-CN" sz="2400" b="1">
                <a:latin typeface="宋体" panose="02010600030101010101" pitchFamily="2" charset="-122"/>
                <a:ea typeface="宋体" panose="02010600030101010101" pitchFamily="2" charset="-122"/>
                <a:cs typeface="宋体" panose="02010600030101010101" pitchFamily="2" charset="-122"/>
              </a:rPr>
              <a:t>亚马逊的</a:t>
            </a:r>
            <a:r>
              <a:rPr lang="en-US" altLang="zh-CN" sz="2400" b="1">
                <a:latin typeface="Times New Roman" panose="02020603050405020304" charset="0"/>
                <a:ea typeface="宋体" panose="02010600030101010101" pitchFamily="2" charset="-122"/>
                <a:cs typeface="Times New Roman" panose="02020603050405020304" charset="0"/>
              </a:rPr>
              <a:t>Alexa</a:t>
            </a:r>
            <a:r>
              <a:rPr lang="zh-CN" altLang="en-US" sz="2400" b="1">
                <a:latin typeface="Times New Roman" panose="02020603050405020304" charset="0"/>
                <a:ea typeface="宋体" panose="02010600030101010101" pitchFamily="2" charset="-122"/>
                <a:cs typeface="Times New Roman" panose="02020603050405020304" charset="0"/>
              </a:rPr>
              <a:t>、</a:t>
            </a:r>
            <a:r>
              <a:rPr lang="en-US" altLang="zh-CN" sz="2400" b="1">
                <a:latin typeface="Times New Roman" panose="02020603050405020304" charset="0"/>
                <a:ea typeface="宋体" panose="02010600030101010101" pitchFamily="2" charset="-122"/>
                <a:cs typeface="Times New Roman" panose="02020603050405020304" charset="0"/>
              </a:rPr>
              <a:t>IBM</a:t>
            </a:r>
            <a:r>
              <a:rPr lang="en-US" altLang="zh-CN" sz="2400" b="1">
                <a:latin typeface="宋体" panose="02010600030101010101" pitchFamily="2" charset="-122"/>
                <a:ea typeface="宋体" panose="02010600030101010101" pitchFamily="2" charset="-122"/>
                <a:cs typeface="宋体" panose="02010600030101010101" pitchFamily="2" charset="-122"/>
              </a:rPr>
              <a:t>的沃森。</a:t>
            </a:r>
            <a:endParaRPr lang="en-US" altLang="zh-CN" sz="2400" b="1">
              <a:latin typeface="宋体" panose="02010600030101010101" pitchFamily="2" charset="-122"/>
              <a:ea typeface="宋体" panose="02010600030101010101" pitchFamily="2" charset="-122"/>
              <a:cs typeface="宋体" panose="02010600030101010101" pitchFamily="2" charset="-122"/>
            </a:endParaRPr>
          </a:p>
        </p:txBody>
      </p:sp>
      <p:pic>
        <p:nvPicPr>
          <p:cNvPr id="7" name="图片 6" descr="强人工智能"/>
          <p:cNvPicPr>
            <a:picLocks noChangeAspect="1"/>
          </p:cNvPicPr>
          <p:nvPr/>
        </p:nvPicPr>
        <p:blipFill>
          <a:blip r:embed="rId1"/>
          <a:stretch>
            <a:fillRect/>
          </a:stretch>
        </p:blipFill>
        <p:spPr>
          <a:xfrm>
            <a:off x="7877810" y="1818640"/>
            <a:ext cx="3575685" cy="2831465"/>
          </a:xfrm>
          <a:prstGeom prst="rect">
            <a:avLst/>
          </a:prstGeom>
        </p:spPr>
      </p:pic>
      <p:sp>
        <p:nvSpPr>
          <p:cNvPr id="16" name="文本框 15"/>
          <p:cNvSpPr txBox="1"/>
          <p:nvPr/>
        </p:nvSpPr>
        <p:spPr>
          <a:xfrm>
            <a:off x="77470" y="6212840"/>
            <a:ext cx="6496685" cy="645160"/>
          </a:xfrm>
          <a:prstGeom prst="rect">
            <a:avLst/>
          </a:prstGeom>
          <a:noFill/>
        </p:spPr>
        <p:txBody>
          <a:bodyPr wrap="square" rtlCol="0" anchor="t">
            <a:spAutoFit/>
          </a:bodyPr>
          <a:lstStyle/>
          <a:p>
            <a:r>
              <a:rPr lang="en-US" altLang="zh-CN" b="1" i="1"/>
              <a:t>IBM--What is Artificial Intelligence (AI) ?</a:t>
            </a:r>
            <a:endParaRPr lang="en-US" altLang="zh-CN" b="1" i="1"/>
          </a:p>
          <a:p>
            <a:r>
              <a:rPr lang="zh-CN" altLang="en-US" b="1" i="1" u="sng"/>
              <a:t>https://www.ibm.com/cloud/learn/what-is-artificial-intelligence</a:t>
            </a:r>
            <a:endParaRPr lang="zh-CN" altLang="en-US" b="1" i="1" u="sng"/>
          </a:p>
        </p:txBody>
      </p:sp>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67030" y="291465"/>
            <a:ext cx="3361055" cy="583565"/>
          </a:xfrm>
          <a:prstGeom prst="rect">
            <a:avLst/>
          </a:prstGeom>
          <a:noFill/>
        </p:spPr>
        <p:txBody>
          <a:bodyPr wrap="square" rtlCol="0">
            <a:spAutoFit/>
          </a:bodyPr>
          <a:lstStyle/>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人工智能历史:</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5" name="文本框 4"/>
          <p:cNvSpPr txBox="1"/>
          <p:nvPr/>
        </p:nvSpPr>
        <p:spPr>
          <a:xfrm>
            <a:off x="511175" y="1382395"/>
            <a:ext cx="10911840" cy="4092575"/>
          </a:xfrm>
          <a:prstGeom prst="rect">
            <a:avLst/>
          </a:prstGeom>
          <a:noFill/>
        </p:spPr>
        <p:txBody>
          <a:bodyPr wrap="square" rtlCol="0">
            <a:spAutoFit/>
          </a:bodyPr>
          <a:lstStyle/>
          <a:p>
            <a:r>
              <a:rPr lang="zh-CN" altLang="en-US" sz="2000" b="1">
                <a:latin typeface="宋体" panose="02010600030101010101" pitchFamily="2" charset="-122"/>
                <a:ea typeface="宋体" panose="02010600030101010101" pitchFamily="2" charset="-122"/>
                <a:cs typeface="宋体" panose="02010600030101010101" pitchFamily="2" charset="-122"/>
              </a:rPr>
              <a:t>1950年：</a:t>
            </a:r>
            <a:r>
              <a:rPr lang="zh-CN" altLang="en-US" sz="2000" b="1">
                <a:latin typeface="宋体" panose="02010600030101010101" pitchFamily="2" charset="-122"/>
                <a:ea typeface="宋体" panose="02010600030101010101" pitchFamily="2" charset="-122"/>
                <a:cs typeface="宋体" panose="02010600030101010101" pitchFamily="2" charset="-122"/>
                <a:sym typeface="+mn-ea"/>
              </a:rPr>
              <a:t>艾伦·麦席森·图灵</a:t>
            </a:r>
            <a:r>
              <a:rPr lang="zh-CN" altLang="en-US" sz="2000" b="1">
                <a:latin typeface="宋体" panose="02010600030101010101" pitchFamily="2" charset="-122"/>
                <a:ea typeface="宋体" panose="02010600030101010101" pitchFamily="2" charset="-122"/>
                <a:cs typeface="宋体" panose="02010600030101010101" pitchFamily="2" charset="-122"/>
              </a:rPr>
              <a:t>出版了《Computing Machinery and Intelligence》</a:t>
            </a:r>
            <a:endParaRPr lang="zh-CN" altLang="en-US" sz="2000" b="1">
              <a:latin typeface="宋体" panose="02010600030101010101" pitchFamily="2" charset="-122"/>
              <a:ea typeface="宋体" panose="02010600030101010101" pitchFamily="2" charset="-122"/>
              <a:cs typeface="宋体" panose="02010600030101010101" pitchFamily="2" charset="-122"/>
            </a:endParaRPr>
          </a:p>
          <a:p>
            <a:endParaRPr lang="zh-CN" altLang="en-US" sz="2000" b="1">
              <a:latin typeface="宋体" panose="02010600030101010101" pitchFamily="2" charset="-122"/>
              <a:ea typeface="宋体" panose="02010600030101010101" pitchFamily="2" charset="-122"/>
              <a:cs typeface="宋体" panose="02010600030101010101" pitchFamily="2" charset="-122"/>
            </a:endParaRPr>
          </a:p>
          <a:p>
            <a:r>
              <a:rPr lang="zh-CN" altLang="en-US" sz="2000" b="1">
                <a:latin typeface="宋体" panose="02010600030101010101" pitchFamily="2" charset="-122"/>
                <a:ea typeface="宋体" panose="02010600030101010101" pitchFamily="2" charset="-122"/>
                <a:cs typeface="宋体" panose="02010600030101010101" pitchFamily="2" charset="-122"/>
                <a:sym typeface="+mn-ea"/>
              </a:rPr>
              <a:t>1956年：约翰·麦卡锡在达特茅斯学院首次举行的人工智能会议上创造了“人工智能”一词 </a:t>
            </a:r>
            <a:endParaRPr lang="zh-CN" altLang="en-US" sz="2000" b="1">
              <a:latin typeface="宋体" panose="02010600030101010101" pitchFamily="2" charset="-122"/>
              <a:ea typeface="宋体" panose="02010600030101010101" pitchFamily="2" charset="-122"/>
              <a:cs typeface="宋体" panose="02010600030101010101" pitchFamily="2" charset="-122"/>
              <a:sym typeface="+mn-ea"/>
            </a:endParaRPr>
          </a:p>
          <a:p>
            <a:endParaRPr lang="zh-CN" altLang="en-US" sz="2000" b="1">
              <a:latin typeface="宋体" panose="02010600030101010101" pitchFamily="2" charset="-122"/>
              <a:ea typeface="宋体" panose="02010600030101010101" pitchFamily="2" charset="-122"/>
              <a:cs typeface="宋体" panose="02010600030101010101" pitchFamily="2" charset="-122"/>
              <a:sym typeface="+mn-ea"/>
            </a:endParaRPr>
          </a:p>
          <a:p>
            <a:r>
              <a:rPr lang="zh-CN" altLang="en-US" sz="2000" b="1">
                <a:latin typeface="宋体" panose="02010600030101010101" pitchFamily="2" charset="-122"/>
                <a:ea typeface="宋体" panose="02010600030101010101" pitchFamily="2" charset="-122"/>
                <a:cs typeface="宋体" panose="02010600030101010101" pitchFamily="2" charset="-122"/>
                <a:sym typeface="+mn-ea"/>
              </a:rPr>
              <a:t>1967年：弗兰克·罗森布拉特制造了马克一号感知机，这是第一台基于神经网络的计算机，可以</a:t>
            </a:r>
            <a:endParaRPr lang="zh-CN" altLang="en-US" sz="2000" b="1">
              <a:latin typeface="宋体" panose="02010600030101010101" pitchFamily="2" charset="-122"/>
              <a:ea typeface="宋体" panose="02010600030101010101" pitchFamily="2" charset="-122"/>
              <a:cs typeface="宋体" panose="02010600030101010101" pitchFamily="2" charset="-122"/>
              <a:sym typeface="+mn-ea"/>
            </a:endParaRPr>
          </a:p>
          <a:p>
            <a:r>
              <a:rPr lang="zh-CN" altLang="en-US" sz="2000" b="1">
                <a:latin typeface="宋体" panose="02010600030101010101" pitchFamily="2" charset="-122"/>
                <a:ea typeface="宋体" panose="02010600030101010101" pitchFamily="2" charset="-122"/>
                <a:cs typeface="宋体" panose="02010600030101010101" pitchFamily="2" charset="-122"/>
                <a:sym typeface="+mn-ea"/>
              </a:rPr>
              <a:t> </a:t>
            </a:r>
            <a:r>
              <a:rPr lang="en-US" altLang="zh-CN" sz="2000" b="1">
                <a:latin typeface="宋体" panose="02010600030101010101" pitchFamily="2" charset="-122"/>
                <a:ea typeface="宋体" panose="02010600030101010101" pitchFamily="2" charset="-122"/>
                <a:cs typeface="宋体" panose="02010600030101010101" pitchFamily="2" charset="-122"/>
                <a:sym typeface="+mn-ea"/>
              </a:rPr>
              <a:t>       </a:t>
            </a:r>
            <a:r>
              <a:rPr lang="zh-CN" altLang="en-US" sz="2000" b="1">
                <a:latin typeface="宋体" panose="02010600030101010101" pitchFamily="2" charset="-122"/>
                <a:ea typeface="宋体" panose="02010600030101010101" pitchFamily="2" charset="-122"/>
                <a:cs typeface="宋体" panose="02010600030101010101" pitchFamily="2" charset="-122"/>
                <a:sym typeface="+mn-ea"/>
              </a:rPr>
              <a:t>通过试验和错误“学习”</a:t>
            </a:r>
            <a:endParaRPr lang="zh-CN" altLang="en-US" sz="2000" b="1">
              <a:latin typeface="宋体" panose="02010600030101010101" pitchFamily="2" charset="-122"/>
              <a:ea typeface="宋体" panose="02010600030101010101" pitchFamily="2" charset="-122"/>
              <a:cs typeface="宋体" panose="02010600030101010101" pitchFamily="2" charset="-122"/>
              <a:sym typeface="+mn-ea"/>
            </a:endParaRPr>
          </a:p>
          <a:p>
            <a:endParaRPr lang="zh-CN" altLang="en-US" sz="2000" b="1">
              <a:latin typeface="宋体" panose="02010600030101010101" pitchFamily="2" charset="-122"/>
              <a:ea typeface="宋体" panose="02010600030101010101" pitchFamily="2" charset="-122"/>
              <a:cs typeface="宋体" panose="02010600030101010101" pitchFamily="2" charset="-122"/>
              <a:sym typeface="+mn-ea"/>
            </a:endParaRPr>
          </a:p>
          <a:p>
            <a:r>
              <a:rPr lang="zh-CN" altLang="en-US" sz="2000" b="1">
                <a:latin typeface="宋体" panose="02010600030101010101" pitchFamily="2" charset="-122"/>
                <a:ea typeface="宋体" panose="02010600030101010101" pitchFamily="2" charset="-122"/>
                <a:cs typeface="宋体" panose="02010600030101010101" pitchFamily="2" charset="-122"/>
                <a:sym typeface="+mn-ea"/>
              </a:rPr>
              <a:t>1980年-1990年：利用反向传播算法进行自我训练的神经网络得到了广泛的应用</a:t>
            </a:r>
            <a:endParaRPr lang="zh-CN" altLang="en-US" sz="2000" b="1">
              <a:latin typeface="宋体" panose="02010600030101010101" pitchFamily="2" charset="-122"/>
              <a:ea typeface="宋体" panose="02010600030101010101" pitchFamily="2" charset="-122"/>
              <a:cs typeface="宋体" panose="02010600030101010101" pitchFamily="2" charset="-122"/>
              <a:sym typeface="+mn-ea"/>
            </a:endParaRPr>
          </a:p>
          <a:p>
            <a:endParaRPr lang="zh-CN" altLang="en-US" sz="2000" b="1">
              <a:latin typeface="宋体" panose="02010600030101010101" pitchFamily="2" charset="-122"/>
              <a:ea typeface="宋体" panose="02010600030101010101" pitchFamily="2" charset="-122"/>
              <a:cs typeface="宋体" panose="02010600030101010101" pitchFamily="2" charset="-122"/>
              <a:sym typeface="+mn-ea"/>
            </a:endParaRPr>
          </a:p>
          <a:p>
            <a:r>
              <a:rPr lang="zh-CN" altLang="en-US" sz="2000" b="1">
                <a:latin typeface="宋体" panose="02010600030101010101" pitchFamily="2" charset="-122"/>
                <a:ea typeface="宋体" panose="02010600030101010101" pitchFamily="2" charset="-122"/>
                <a:cs typeface="宋体" panose="02010600030101010101" pitchFamily="2" charset="-122"/>
                <a:sym typeface="+mn-ea"/>
              </a:rPr>
              <a:t>1997年：IBM的“深蓝”在国际象棋比赛中击败了世界象棋冠军加里·卡斯帕罗夫</a:t>
            </a:r>
            <a:endParaRPr lang="zh-CN" altLang="en-US" sz="2000" b="1">
              <a:latin typeface="宋体" panose="02010600030101010101" pitchFamily="2" charset="-122"/>
              <a:ea typeface="宋体" panose="02010600030101010101" pitchFamily="2" charset="-122"/>
              <a:cs typeface="宋体" panose="02010600030101010101" pitchFamily="2" charset="-122"/>
              <a:sym typeface="+mn-ea"/>
            </a:endParaRPr>
          </a:p>
          <a:p>
            <a:endParaRPr lang="zh-CN" altLang="en-US" sz="2000" b="1">
              <a:latin typeface="宋体" panose="02010600030101010101" pitchFamily="2" charset="-122"/>
              <a:ea typeface="宋体" panose="02010600030101010101" pitchFamily="2" charset="-122"/>
              <a:cs typeface="宋体" panose="02010600030101010101" pitchFamily="2" charset="-122"/>
              <a:sym typeface="+mn-ea"/>
            </a:endParaRPr>
          </a:p>
          <a:p>
            <a:r>
              <a:rPr lang="zh-CN" altLang="en-US" sz="2000" b="1">
                <a:latin typeface="宋体" panose="02010600030101010101" pitchFamily="2" charset="-122"/>
                <a:ea typeface="宋体" panose="02010600030101010101" pitchFamily="2" charset="-122"/>
                <a:cs typeface="宋体" panose="02010600030101010101" pitchFamily="2" charset="-122"/>
                <a:sym typeface="+mn-ea"/>
              </a:rPr>
              <a:t>2016年：DeepMind的AlphaGo程序在深度神经网络的支持下，在五局比赛中击败了世界围棋冠军</a:t>
            </a:r>
            <a:endParaRPr lang="zh-CN" altLang="en-US" sz="2000" b="1">
              <a:latin typeface="宋体" panose="02010600030101010101" pitchFamily="2" charset="-122"/>
              <a:ea typeface="宋体" panose="02010600030101010101" pitchFamily="2" charset="-122"/>
              <a:cs typeface="宋体" panose="02010600030101010101" pitchFamily="2" charset="-122"/>
              <a:sym typeface="+mn-ea"/>
            </a:endParaRPr>
          </a:p>
          <a:p>
            <a:r>
              <a:rPr lang="zh-CN" altLang="en-US" sz="2000" b="1">
                <a:latin typeface="宋体" panose="02010600030101010101" pitchFamily="2" charset="-122"/>
                <a:ea typeface="宋体" panose="02010600030101010101" pitchFamily="2" charset="-122"/>
                <a:cs typeface="宋体" panose="02010600030101010101" pitchFamily="2" charset="-122"/>
                <a:sym typeface="+mn-ea"/>
              </a:rPr>
              <a:t> </a:t>
            </a:r>
            <a:r>
              <a:rPr lang="en-US" altLang="zh-CN" sz="2000" b="1">
                <a:latin typeface="宋体" panose="02010600030101010101" pitchFamily="2" charset="-122"/>
                <a:ea typeface="宋体" panose="02010600030101010101" pitchFamily="2" charset="-122"/>
                <a:cs typeface="宋体" panose="02010600030101010101" pitchFamily="2" charset="-122"/>
                <a:sym typeface="+mn-ea"/>
              </a:rPr>
              <a:t>       </a:t>
            </a:r>
            <a:r>
              <a:rPr lang="zh-CN" altLang="en-US" sz="2000" b="1">
                <a:latin typeface="宋体" panose="02010600030101010101" pitchFamily="2" charset="-122"/>
                <a:ea typeface="宋体" panose="02010600030101010101" pitchFamily="2" charset="-122"/>
                <a:cs typeface="宋体" panose="02010600030101010101" pitchFamily="2" charset="-122"/>
                <a:sym typeface="+mn-ea"/>
              </a:rPr>
              <a:t>李世石</a:t>
            </a:r>
            <a:endParaRPr lang="zh-CN" altLang="en-US" sz="2000" b="1">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16" name="文本框 15"/>
          <p:cNvSpPr txBox="1"/>
          <p:nvPr/>
        </p:nvSpPr>
        <p:spPr>
          <a:xfrm>
            <a:off x="77470" y="6212840"/>
            <a:ext cx="6496685" cy="645160"/>
          </a:xfrm>
          <a:prstGeom prst="rect">
            <a:avLst/>
          </a:prstGeom>
          <a:noFill/>
        </p:spPr>
        <p:txBody>
          <a:bodyPr wrap="square" rtlCol="0" anchor="t">
            <a:spAutoFit/>
          </a:bodyPr>
          <a:lstStyle/>
          <a:p>
            <a:r>
              <a:rPr lang="en-US" altLang="zh-CN" b="1" i="1"/>
              <a:t>IBM--What is Artificial Intelligence (AI) ?</a:t>
            </a:r>
            <a:endParaRPr lang="en-US" altLang="zh-CN" b="1" i="1"/>
          </a:p>
          <a:p>
            <a:r>
              <a:rPr lang="zh-CN" altLang="en-US" b="1" i="1" u="sng"/>
              <a:t>https://www.ibm.com/cloud/learn/what-is-artificial-intelligence</a:t>
            </a:r>
            <a:endParaRPr lang="zh-CN" altLang="en-US" b="1" i="1" u="sng"/>
          </a:p>
        </p:txBody>
      </p:sp>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19100" y="291465"/>
            <a:ext cx="7560310" cy="583565"/>
          </a:xfrm>
          <a:prstGeom prst="rect">
            <a:avLst/>
          </a:prstGeom>
          <a:noFill/>
        </p:spPr>
        <p:txBody>
          <a:bodyPr wrap="square" rtlCol="0">
            <a:spAutoFit/>
          </a:bodyPr>
          <a:lstStyle/>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人工智能 = 计算机科学 + 大数据 </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pic>
        <p:nvPicPr>
          <p:cNvPr id="3" name="图片 2"/>
          <p:cNvPicPr>
            <a:picLocks noChangeAspect="1"/>
          </p:cNvPicPr>
          <p:nvPr/>
        </p:nvPicPr>
        <p:blipFill>
          <a:blip r:embed="rId1"/>
          <a:stretch>
            <a:fillRect/>
          </a:stretch>
        </p:blipFill>
        <p:spPr>
          <a:xfrm>
            <a:off x="2204720" y="1097915"/>
            <a:ext cx="4888230" cy="4838065"/>
          </a:xfrm>
          <a:prstGeom prst="rect">
            <a:avLst/>
          </a:prstGeom>
        </p:spPr>
      </p:pic>
      <p:sp>
        <p:nvSpPr>
          <p:cNvPr id="15" name="文本框 14"/>
          <p:cNvSpPr txBox="1"/>
          <p:nvPr/>
        </p:nvSpPr>
        <p:spPr>
          <a:xfrm>
            <a:off x="0" y="6212840"/>
            <a:ext cx="9021445" cy="645160"/>
          </a:xfrm>
          <a:prstGeom prst="rect">
            <a:avLst/>
          </a:prstGeom>
          <a:noFill/>
        </p:spPr>
        <p:txBody>
          <a:bodyPr wrap="square" rtlCol="0">
            <a:spAutoFit/>
          </a:bodyPr>
          <a:lstStyle/>
          <a:p>
            <a:r>
              <a:rPr lang="en-US" altLang="zh-CN" b="1" i="1"/>
              <a:t>RELATIONSHIP BETWEEN AI, MACHINE LEARNING, DEEP LEARNING &amp; DATA SCIENCE?</a:t>
            </a:r>
            <a:endParaRPr lang="en-US" altLang="zh-CN" b="1" i="1"/>
          </a:p>
          <a:p>
            <a:r>
              <a:rPr lang="en-US" altLang="zh-CN" b="1" i="1" u="sng"/>
              <a:t>www.corpnce.com</a:t>
            </a:r>
            <a:endParaRPr lang="en-US" altLang="zh-CN" b="1" i="1" u="sng"/>
          </a:p>
        </p:txBody>
      </p:sp>
      <p:sp>
        <p:nvSpPr>
          <p:cNvPr id="2" name="文本框 1"/>
          <p:cNvSpPr txBox="1"/>
          <p:nvPr/>
        </p:nvSpPr>
        <p:spPr>
          <a:xfrm>
            <a:off x="7499985" y="3168015"/>
            <a:ext cx="4544695" cy="521970"/>
          </a:xfrm>
          <a:prstGeom prst="rect">
            <a:avLst/>
          </a:prstGeom>
          <a:noFill/>
        </p:spPr>
        <p:txBody>
          <a:bodyPr wrap="square" rtlCol="0">
            <a:spAutoFit/>
          </a:bodyPr>
          <a:p>
            <a:r>
              <a:rPr lang="en-US" altLang="zh-CN" sz="2800">
                <a:solidFill>
                  <a:schemeClr val="bg2">
                    <a:lumMod val="50000"/>
                  </a:schemeClr>
                </a:solidFill>
                <a:effectLst>
                  <a:outerShdw blurRad="38100" dist="25400" dir="5400000" algn="ctr" rotWithShape="0">
                    <a:srgbClr val="6E747A">
                      <a:alpha val="43000"/>
                    </a:srgbClr>
                  </a:outerShdw>
                </a:effectLst>
                <a:latin typeface="Times New Roman" panose="02020603050405020304" charset="0"/>
                <a:cs typeface="Times New Roman" panose="02020603050405020304" charset="0"/>
              </a:rPr>
              <a:t>通过机器学习实现人工智能</a:t>
            </a:r>
            <a:endParaRPr lang="en-US" altLang="zh-CN" sz="2800">
              <a:solidFill>
                <a:schemeClr val="bg2">
                  <a:lumMod val="50000"/>
                </a:schemeClr>
              </a:solidFill>
              <a:effectLst>
                <a:outerShdw blurRad="38100" dist="25400" dir="5400000" algn="ctr" rotWithShape="0">
                  <a:srgbClr val="6E747A">
                    <a:alpha val="43000"/>
                  </a:srgbClr>
                </a:outerShdw>
              </a:effectLst>
              <a:latin typeface="Times New Roman" panose="02020603050405020304" charset="0"/>
              <a:cs typeface="Times New Roman" panose="02020603050405020304" charset="0"/>
            </a:endParaRPr>
          </a:p>
        </p:txBody>
      </p:sp>
      <p:sp>
        <p:nvSpPr>
          <p:cNvPr id="6" name="矩形 5"/>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8" name="矩形 7"/>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035" y="286385"/>
            <a:ext cx="3155950" cy="593090"/>
          </a:xfrm>
        </p:spPr>
        <p:txBody>
          <a:bodyPr>
            <a:normAutofit fontScale="90000"/>
          </a:bodyPr>
          <a:lstStyle/>
          <a:p>
            <a:r>
              <a:rPr lang="zh-CN" altLang="en-US" sz="3200" b="1" spc="200" dirty="0">
                <a:solidFill>
                  <a:schemeClr val="accent1"/>
                </a:solidFill>
                <a:uFillTx/>
                <a:latin typeface="微软雅黑 Light" panose="020B0502040204020203" pitchFamily="34" charset="-122"/>
                <a:ea typeface="微软雅黑" panose="020B0503020204020204" charset="-122"/>
              </a:rPr>
              <a:t>什么是机器学习?</a:t>
            </a:r>
            <a:endParaRPr lang="zh-CN" altLang="en-US" sz="3200" b="1" spc="200" dirty="0">
              <a:solidFill>
                <a:schemeClr val="accent1"/>
              </a:solidFill>
              <a:uFillTx/>
              <a:latin typeface="微软雅黑 Light" panose="020B0502040204020203" pitchFamily="34" charset="-122"/>
              <a:ea typeface="微软雅黑" panose="020B0503020204020204" charset="-122"/>
            </a:endParaRPr>
          </a:p>
        </p:txBody>
      </p:sp>
      <p:sp>
        <p:nvSpPr>
          <p:cNvPr id="3" name="Content Placeholder 2"/>
          <p:cNvSpPr>
            <a:spLocks noGrp="1"/>
          </p:cNvSpPr>
          <p:nvPr>
            <p:ph idx="1"/>
          </p:nvPr>
        </p:nvSpPr>
        <p:spPr>
          <a:xfrm>
            <a:off x="669925" y="1896745"/>
            <a:ext cx="10852150" cy="2809240"/>
          </a:xfrm>
        </p:spPr>
        <p:txBody>
          <a:bodyPr/>
          <a:lstStyle/>
          <a:p>
            <a:pPr marL="0" indent="0">
              <a:buNone/>
            </a:pPr>
            <a:r>
              <a:rPr lang="zh-CN" altLang="en-US" sz="2400" b="1">
                <a:latin typeface="宋体" panose="02010600030101010101" pitchFamily="2" charset="-122"/>
                <a:ea typeface="宋体" panose="02010600030101010101" pitchFamily="2" charset="-122"/>
                <a:cs typeface="宋体" panose="02010600030101010101" pitchFamily="2" charset="-122"/>
              </a:rPr>
              <a:t>计算机程序如何随着经验积累自动提高性能，系统自我改进的过程; 或计算机利用经验改善系统自身性能的行为</a:t>
            </a:r>
            <a:r>
              <a:rPr lang="en-US" altLang="zh-CN" sz="2400" b="1">
                <a:latin typeface="宋体" panose="02010600030101010101" pitchFamily="2" charset="-122"/>
                <a:ea typeface="宋体" panose="02010600030101010101" pitchFamily="2" charset="-122"/>
                <a:cs typeface="宋体" panose="02010600030101010101" pitchFamily="2" charset="-122"/>
              </a:rPr>
              <a:t> </a:t>
            </a:r>
            <a:r>
              <a:rPr lang="zh-CN" altLang="en-US" sz="2400" b="1">
                <a:latin typeface="宋体" panose="02010600030101010101" pitchFamily="2" charset="-122"/>
                <a:ea typeface="宋体" panose="02010600030101010101" pitchFamily="2" charset="-122"/>
                <a:cs typeface="宋体" panose="02010600030101010101" pitchFamily="2" charset="-122"/>
              </a:rPr>
              <a:t>——米切尔</a:t>
            </a:r>
            <a:endParaRPr lang="zh-CN" altLang="en-US" sz="2400" b="1">
              <a:latin typeface="宋体" panose="02010600030101010101" pitchFamily="2" charset="-122"/>
              <a:ea typeface="宋体" panose="02010600030101010101" pitchFamily="2" charset="-122"/>
              <a:cs typeface="宋体" panose="02010600030101010101" pitchFamily="2" charset="-122"/>
            </a:endParaRPr>
          </a:p>
          <a:p>
            <a:endParaRPr lang="zh-CN" altLang="en-US" sz="2000">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sz="2400" b="1">
                <a:latin typeface="宋体" panose="02010600030101010101" pitchFamily="2" charset="-122"/>
                <a:ea typeface="宋体" panose="02010600030101010101" pitchFamily="2" charset="-122"/>
                <a:cs typeface="宋体" panose="02010600030101010101" pitchFamily="2" charset="-122"/>
              </a:rPr>
              <a:t>案例：</a:t>
            </a:r>
            <a:endParaRPr lang="zh-CN" altLang="en-US" sz="2400" b="1">
              <a:latin typeface="宋体" panose="02010600030101010101" pitchFamily="2" charset="-122"/>
              <a:ea typeface="宋体" panose="02010600030101010101" pitchFamily="2" charset="-122"/>
              <a:cs typeface="宋体" panose="02010600030101010101" pitchFamily="2" charset="-122"/>
            </a:endParaRPr>
          </a:p>
          <a:p>
            <a:pPr lvl="1"/>
            <a:r>
              <a:rPr lang="zh-CN" altLang="en-US" b="1">
                <a:latin typeface="宋体" panose="02010600030101010101" pitchFamily="2" charset="-122"/>
                <a:ea typeface="宋体" panose="02010600030101010101" pitchFamily="2" charset="-122"/>
                <a:cs typeface="宋体" panose="02010600030101010101" pitchFamily="2" charset="-122"/>
              </a:rPr>
              <a:t>通过</a:t>
            </a:r>
            <a:r>
              <a:rPr lang="zh-CN" altLang="en-US" b="1">
                <a:latin typeface="宋体" panose="02010600030101010101" pitchFamily="2" charset="-122"/>
                <a:ea typeface="宋体" panose="02010600030101010101" pitchFamily="2" charset="-122"/>
                <a:cs typeface="宋体" panose="02010600030101010101" pitchFamily="2" charset="-122"/>
                <a:sym typeface="+mn-ea"/>
              </a:rPr>
              <a:t>学习</a:t>
            </a:r>
            <a:r>
              <a:rPr lang="zh-CN" altLang="en-US" b="1">
                <a:latin typeface="宋体" panose="02010600030101010101" pitchFamily="2" charset="-122"/>
                <a:ea typeface="宋体" panose="02010600030101010101" pitchFamily="2" charset="-122"/>
                <a:cs typeface="宋体" panose="02010600030101010101" pitchFamily="2" charset="-122"/>
              </a:rPr>
              <a:t>医疗记录实现治疗新疾病的方法</a:t>
            </a:r>
            <a:endParaRPr lang="zh-CN" altLang="en-US" b="1">
              <a:latin typeface="宋体" panose="02010600030101010101" pitchFamily="2" charset="-122"/>
              <a:ea typeface="宋体" panose="02010600030101010101" pitchFamily="2" charset="-122"/>
              <a:cs typeface="宋体" panose="02010600030101010101" pitchFamily="2" charset="-122"/>
            </a:endParaRPr>
          </a:p>
          <a:p>
            <a:pPr lvl="1"/>
            <a:r>
              <a:rPr lang="zh-CN" altLang="en-US" b="1">
                <a:latin typeface="宋体" panose="02010600030101010101" pitchFamily="2" charset="-122"/>
                <a:ea typeface="宋体" panose="02010600030101010101" pitchFamily="2" charset="-122"/>
                <a:cs typeface="宋体" panose="02010600030101010101" pitchFamily="2" charset="-122"/>
              </a:rPr>
              <a:t>通过学习用户用电模式提出降低能源消耗的策略</a:t>
            </a:r>
            <a:endParaRPr lang="zh-CN" altLang="en-US" b="1">
              <a:latin typeface="宋体" panose="02010600030101010101" pitchFamily="2" charset="-122"/>
              <a:ea typeface="宋体" panose="02010600030101010101" pitchFamily="2" charset="-122"/>
              <a:cs typeface="宋体" panose="02010600030101010101" pitchFamily="2" charset="-122"/>
            </a:endParaRPr>
          </a:p>
          <a:p>
            <a:pPr lvl="1"/>
            <a:r>
              <a:rPr lang="zh-CN" altLang="en-US" b="1">
                <a:latin typeface="宋体" panose="02010600030101010101" pitchFamily="2" charset="-122"/>
                <a:ea typeface="宋体" panose="02010600030101010101" pitchFamily="2" charset="-122"/>
                <a:cs typeface="宋体" panose="02010600030101010101" pitchFamily="2" charset="-122"/>
              </a:rPr>
              <a:t>通过学习用户浏览记录实现广告精准投放</a:t>
            </a:r>
            <a:endParaRPr lang="zh-CN" altLang="en-US" sz="2400" b="1">
              <a:latin typeface="宋体" panose="02010600030101010101" pitchFamily="2" charset="-122"/>
              <a:ea typeface="宋体" panose="02010600030101010101" pitchFamily="2" charset="-122"/>
              <a:cs typeface="宋体" panose="02010600030101010101" pitchFamily="2" charset="-122"/>
            </a:endParaRPr>
          </a:p>
        </p:txBody>
      </p:sp>
      <p:graphicFrame>
        <p:nvGraphicFramePr>
          <p:cNvPr id="5" name="Object 47"/>
          <p:cNvGraphicFramePr>
            <a:graphicFrameLocks noChangeAspect="1"/>
          </p:cNvGraphicFramePr>
          <p:nvPr/>
        </p:nvGraphicFramePr>
        <p:xfrm>
          <a:off x="8839835" y="4551680"/>
          <a:ext cx="2902585" cy="1780540"/>
        </p:xfrm>
        <a:graphic>
          <a:graphicData uri="http://schemas.openxmlformats.org/presentationml/2006/ole">
            <mc:AlternateContent xmlns:mc="http://schemas.openxmlformats.org/markup-compatibility/2006">
              <mc:Choice xmlns:v="urn:schemas-microsoft-com:vml" Requires="v">
                <p:oleObj spid="_x0000_s1027" name="剪辑" r:id="rId1" imgW="4582795" imgH="3041650" progId="MS_ClipArt_Gallery.2">
                  <p:embed/>
                </p:oleObj>
              </mc:Choice>
              <mc:Fallback>
                <p:oleObj name="剪辑" r:id="rId1" imgW="4582795" imgH="3041650" progId="MS_ClipArt_Gallery.2">
                  <p:embed/>
                  <p:pic>
                    <p:nvPicPr>
                      <p:cNvPr id="0" name="Object 4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39835" y="4551680"/>
                        <a:ext cx="2902585" cy="17805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矩形 5"/>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7" name="矩形 6"/>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035" y="286385"/>
            <a:ext cx="3155950" cy="593090"/>
          </a:xfrm>
        </p:spPr>
        <p:txBody>
          <a:bodyPr>
            <a:normAutofit fontScale="90000"/>
          </a:bodyPr>
          <a:lstStyle/>
          <a:p>
            <a:r>
              <a:rPr lang="zh-CN" altLang="en-US" sz="3200" b="1" spc="200" dirty="0">
                <a:solidFill>
                  <a:schemeClr val="accent1"/>
                </a:solidFill>
                <a:uFillTx/>
                <a:latin typeface="微软雅黑 Light" panose="020B0502040204020203" pitchFamily="34" charset="-122"/>
                <a:ea typeface="微软雅黑" panose="020B0503020204020204" charset="-122"/>
              </a:rPr>
              <a:t>什么是机器学习?</a:t>
            </a:r>
            <a:endParaRPr lang="zh-CN" altLang="en-US" sz="3200" b="1" spc="200" dirty="0">
              <a:solidFill>
                <a:schemeClr val="accent1"/>
              </a:solidFill>
              <a:uFillTx/>
              <a:latin typeface="微软雅黑 Light" panose="020B0502040204020203" pitchFamily="34" charset="-122"/>
              <a:ea typeface="微软雅黑" panose="020B0503020204020204" charset="-122"/>
            </a:endParaRPr>
          </a:p>
        </p:txBody>
      </p:sp>
      <p:sp>
        <p:nvSpPr>
          <p:cNvPr id="6" name="矩形 5"/>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7" name="矩形 6"/>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pic>
        <p:nvPicPr>
          <p:cNvPr id="8" name="Picture 4"/>
          <p:cNvPicPr>
            <a:picLocks noChangeAspect="1" noChangeArrowheads="1"/>
          </p:cNvPicPr>
          <p:nvPr>
            <p:custDataLst>
              <p:tags r:id="rId1"/>
            </p:custDataLst>
          </p:nvPr>
        </p:nvPicPr>
        <p:blipFill>
          <a:blip r:embed="rId2">
            <a:extLst>
              <a:ext uri="{28A0092B-C50C-407E-A947-70E740481C1C}">
                <a14:useLocalDpi xmlns:a14="http://schemas.microsoft.com/office/drawing/2010/main" val="0"/>
              </a:ext>
            </a:extLst>
          </a:blip>
          <a:srcRect/>
          <a:stretch>
            <a:fillRect/>
          </a:stretch>
        </p:blipFill>
        <p:spPr bwMode="auto">
          <a:xfrm>
            <a:off x="269306" y="1558873"/>
            <a:ext cx="7260065" cy="4669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8"/>
          <p:cNvSpPr txBox="1"/>
          <p:nvPr/>
        </p:nvSpPr>
        <p:spPr>
          <a:xfrm>
            <a:off x="6964680" y="2925445"/>
            <a:ext cx="4544695" cy="1198880"/>
          </a:xfrm>
          <a:prstGeom prst="rect">
            <a:avLst/>
          </a:prstGeom>
          <a:noFill/>
        </p:spPr>
        <p:txBody>
          <a:bodyPr wrap="square" rtlCol="0">
            <a:spAutoFit/>
          </a:bodyPr>
          <a:p>
            <a:r>
              <a:rPr lang="zh-CN" altLang="en-US" sz="2400" b="1">
                <a:latin typeface="宋体" panose="02010600030101010101" pitchFamily="2" charset="-122"/>
                <a:ea typeface="宋体" panose="02010600030101010101" pitchFamily="2" charset="-122"/>
                <a:cs typeface="宋体" panose="02010600030101010101" pitchFamily="2" charset="-122"/>
              </a:rPr>
              <a:t>简而言之，就是通过不断地向机器喂入数据来提高机器学习算法的性能</a:t>
            </a:r>
            <a:endParaRPr lang="zh-CN" altLang="en-US" sz="2400" b="1">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035" y="286385"/>
            <a:ext cx="1811655" cy="593090"/>
          </a:xfrm>
        </p:spPr>
        <p:txBody>
          <a:bodyPr>
            <a:normAutofit fontScale="90000"/>
          </a:bodyPr>
          <a:lstStyle/>
          <a:p>
            <a:r>
              <a:rPr lang="zh-CN" altLang="en-US" sz="3200" b="1" spc="200" dirty="0">
                <a:solidFill>
                  <a:schemeClr val="accent1"/>
                </a:solidFill>
                <a:uFillTx/>
                <a:latin typeface="微软雅黑 Light" panose="020B0502040204020203" pitchFamily="34" charset="-122"/>
                <a:ea typeface="微软雅黑" panose="020B0503020204020204" charset="-122"/>
              </a:rPr>
              <a:t>机器学习</a:t>
            </a:r>
            <a:endParaRPr lang="zh-CN" altLang="en-US" sz="3200" b="1" spc="200" dirty="0">
              <a:solidFill>
                <a:schemeClr val="accent1"/>
              </a:solidFill>
              <a:uFillTx/>
              <a:latin typeface="微软雅黑 Light" panose="020B0502040204020203" pitchFamily="34" charset="-122"/>
              <a:ea typeface="微软雅黑" panose="020B0503020204020204" charset="-122"/>
            </a:endParaRPr>
          </a:p>
        </p:txBody>
      </p:sp>
      <p:sp>
        <p:nvSpPr>
          <p:cNvPr id="6" name="矩形 5"/>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7" name="矩形 6"/>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347345" y="1587500"/>
            <a:ext cx="6271895" cy="4447540"/>
          </a:xfrm>
          <a:prstGeom prst="rect">
            <a:avLst/>
          </a:prstGeom>
          <a:noFill/>
        </p:spPr>
        <p:txBody>
          <a:bodyPr wrap="square" rtlCol="0">
            <a:spAutoFit/>
          </a:bodyPr>
          <a:p>
            <a:r>
              <a:rPr lang="zh-CN" altLang="en-US" sz="2400" b="1">
                <a:latin typeface="宋体" panose="02010600030101010101" pitchFamily="2" charset="-122"/>
                <a:ea typeface="宋体" panose="02010600030101010101" pitchFamily="2" charset="-122"/>
              </a:rPr>
              <a:t>机器学习包含以下方法：</a:t>
            </a:r>
            <a:endParaRPr lang="zh-CN" altLang="en-US" sz="2400" b="1">
              <a:latin typeface="宋体" panose="02010600030101010101" pitchFamily="2" charset="-122"/>
              <a:ea typeface="宋体" panose="02010600030101010101" pitchFamily="2" charset="-122"/>
            </a:endParaRPr>
          </a:p>
          <a:p>
            <a:pPr lvl="4" indent="457200" algn="l">
              <a:lnSpc>
                <a:spcPct val="40000"/>
              </a:lnSpc>
              <a:buClrTx/>
              <a:buSzTx/>
              <a:buFontTx/>
            </a:pPr>
            <a:endParaRPr lang="zh-CN" altLang="en-US" sz="2400" b="1">
              <a:latin typeface="宋体" panose="02010600030101010101" pitchFamily="2" charset="-122"/>
              <a:ea typeface="宋体" panose="02010600030101010101" pitchFamily="2" charset="-122"/>
            </a:endParaRPr>
          </a:p>
          <a:p>
            <a:pPr marL="1828800" lvl="4" indent="457200"/>
            <a:r>
              <a:rPr lang="en-US" altLang="zh-CN" sz="2400" b="1">
                <a:latin typeface="宋体" panose="02010600030101010101" pitchFamily="2" charset="-122"/>
                <a:ea typeface="宋体" panose="02010600030101010101" pitchFamily="2" charset="-122"/>
              </a:rPr>
              <a:t>      </a:t>
            </a:r>
            <a:r>
              <a:rPr lang="zh-CN" altLang="en-US" sz="2400" b="1">
                <a:latin typeface="宋体" panose="02010600030101010101" pitchFamily="2" charset="-122"/>
                <a:ea typeface="宋体" panose="02010600030101010101" pitchFamily="2" charset="-122"/>
              </a:rPr>
              <a:t>概念学习</a:t>
            </a:r>
            <a:endParaRPr lang="zh-CN" altLang="en-US" sz="2400" b="1">
              <a:latin typeface="宋体" panose="02010600030101010101" pitchFamily="2" charset="-122"/>
              <a:ea typeface="宋体" panose="02010600030101010101" pitchFamily="2" charset="-122"/>
            </a:endParaRPr>
          </a:p>
          <a:p>
            <a:pPr marL="1828800" lvl="4" indent="457200" algn="l">
              <a:lnSpc>
                <a:spcPct val="40000"/>
              </a:lnSpc>
              <a:buClrTx/>
              <a:buSzTx/>
              <a:buFontTx/>
            </a:pPr>
            <a:endParaRPr lang="zh-CN" altLang="en-US" sz="2400" b="1">
              <a:latin typeface="宋体" panose="02010600030101010101" pitchFamily="2" charset="-122"/>
              <a:ea typeface="宋体" panose="02010600030101010101" pitchFamily="2" charset="-122"/>
            </a:endParaRPr>
          </a:p>
          <a:p>
            <a:pPr marL="1828800" lvl="4" indent="457200"/>
            <a:r>
              <a:rPr lang="en-US" altLang="zh-CN" sz="2400" b="1">
                <a:latin typeface="宋体" panose="02010600030101010101" pitchFamily="2" charset="-122"/>
                <a:ea typeface="宋体" panose="02010600030101010101" pitchFamily="2" charset="-122"/>
              </a:rPr>
              <a:t>      </a:t>
            </a:r>
            <a:r>
              <a:rPr lang="zh-CN" altLang="en-US" sz="2400" b="1">
                <a:latin typeface="宋体" panose="02010600030101010101" pitchFamily="2" charset="-122"/>
                <a:ea typeface="宋体" panose="02010600030101010101" pitchFamily="2" charset="-122"/>
              </a:rPr>
              <a:t>决策树</a:t>
            </a:r>
            <a:endParaRPr lang="zh-CN" altLang="en-US" sz="2400" b="1">
              <a:latin typeface="宋体" panose="02010600030101010101" pitchFamily="2" charset="-122"/>
              <a:ea typeface="宋体" panose="02010600030101010101" pitchFamily="2" charset="-122"/>
            </a:endParaRPr>
          </a:p>
          <a:p>
            <a:pPr marL="1828800" lvl="4" indent="457200">
              <a:lnSpc>
                <a:spcPct val="40000"/>
              </a:lnSpc>
            </a:pPr>
            <a:endParaRPr lang="zh-CN" altLang="en-US" sz="2400" b="1">
              <a:latin typeface="宋体" panose="02010600030101010101" pitchFamily="2" charset="-122"/>
              <a:ea typeface="宋体" panose="02010600030101010101" pitchFamily="2" charset="-122"/>
            </a:endParaRPr>
          </a:p>
          <a:p>
            <a:pPr marL="1828800" lvl="4" indent="457200"/>
            <a:r>
              <a:rPr lang="en-US" altLang="zh-CN" sz="2400" b="1">
                <a:latin typeface="宋体" panose="02010600030101010101" pitchFamily="2" charset="-122"/>
                <a:ea typeface="宋体" panose="02010600030101010101" pitchFamily="2" charset="-122"/>
              </a:rPr>
              <a:t>      </a:t>
            </a:r>
            <a:r>
              <a:rPr lang="zh-CN" altLang="en-US" sz="2400" b="1">
                <a:latin typeface="宋体" panose="02010600030101010101" pitchFamily="2" charset="-122"/>
                <a:ea typeface="宋体" panose="02010600030101010101" pitchFamily="2" charset="-122"/>
              </a:rPr>
              <a:t>神经网络</a:t>
            </a:r>
            <a:endParaRPr lang="zh-CN" altLang="en-US" sz="2400" b="1">
              <a:latin typeface="宋体" panose="02010600030101010101" pitchFamily="2" charset="-122"/>
              <a:ea typeface="宋体" panose="02010600030101010101" pitchFamily="2" charset="-122"/>
            </a:endParaRPr>
          </a:p>
          <a:p>
            <a:pPr lvl="4" indent="457200" algn="l">
              <a:lnSpc>
                <a:spcPct val="40000"/>
              </a:lnSpc>
              <a:buClrTx/>
              <a:buSzTx/>
              <a:buFontTx/>
            </a:pPr>
            <a:endParaRPr lang="zh-CN" altLang="en-US" sz="2400" b="1">
              <a:latin typeface="宋体" panose="02010600030101010101" pitchFamily="2" charset="-122"/>
              <a:ea typeface="宋体" panose="02010600030101010101" pitchFamily="2" charset="-122"/>
            </a:endParaRPr>
          </a:p>
          <a:p>
            <a:pPr marL="1828800" lvl="4" indent="457200"/>
            <a:r>
              <a:rPr lang="en-US" altLang="zh-CN" sz="2400" b="1">
                <a:latin typeface="宋体" panose="02010600030101010101" pitchFamily="2" charset="-122"/>
                <a:ea typeface="宋体" panose="02010600030101010101" pitchFamily="2" charset="-122"/>
              </a:rPr>
              <a:t>      </a:t>
            </a:r>
            <a:r>
              <a:rPr lang="zh-CN" altLang="en-US" sz="2400" b="1">
                <a:latin typeface="宋体" panose="02010600030101010101" pitchFamily="2" charset="-122"/>
                <a:ea typeface="宋体" panose="02010600030101010101" pitchFamily="2" charset="-122"/>
              </a:rPr>
              <a:t>支持向量机</a:t>
            </a:r>
            <a:endParaRPr lang="zh-CN" altLang="en-US" sz="2400" b="1">
              <a:latin typeface="宋体" panose="02010600030101010101" pitchFamily="2" charset="-122"/>
              <a:ea typeface="宋体" panose="02010600030101010101" pitchFamily="2" charset="-122"/>
            </a:endParaRPr>
          </a:p>
          <a:p>
            <a:pPr marL="1828800" lvl="4" indent="457200" algn="l">
              <a:lnSpc>
                <a:spcPct val="40000"/>
              </a:lnSpc>
              <a:buClrTx/>
              <a:buSzTx/>
              <a:buFontTx/>
            </a:pPr>
            <a:endParaRPr lang="zh-CN" altLang="en-US" sz="2400" b="1">
              <a:latin typeface="宋体" panose="02010600030101010101" pitchFamily="2" charset="-122"/>
              <a:ea typeface="宋体" panose="02010600030101010101" pitchFamily="2" charset="-122"/>
            </a:endParaRPr>
          </a:p>
          <a:p>
            <a:pPr marL="1828800" lvl="4" indent="457200"/>
            <a:r>
              <a:rPr lang="en-US" altLang="zh-CN" sz="2400" b="1">
                <a:latin typeface="宋体" panose="02010600030101010101" pitchFamily="2" charset="-122"/>
                <a:ea typeface="宋体" panose="02010600030101010101" pitchFamily="2" charset="-122"/>
              </a:rPr>
              <a:t>      </a:t>
            </a:r>
            <a:r>
              <a:rPr lang="zh-CN" altLang="en-US" sz="2400" b="1">
                <a:latin typeface="宋体" panose="02010600030101010101" pitchFamily="2" charset="-122"/>
                <a:ea typeface="宋体" panose="02010600030101010101" pitchFamily="2" charset="-122"/>
              </a:rPr>
              <a:t>贝叶斯分类器</a:t>
            </a:r>
            <a:endParaRPr lang="zh-CN" altLang="en-US" sz="2400" b="1">
              <a:latin typeface="宋体" panose="02010600030101010101" pitchFamily="2" charset="-122"/>
              <a:ea typeface="宋体" panose="02010600030101010101" pitchFamily="2" charset="-122"/>
            </a:endParaRPr>
          </a:p>
          <a:p>
            <a:pPr marL="1828800" lvl="4" indent="457200" algn="l">
              <a:lnSpc>
                <a:spcPct val="40000"/>
              </a:lnSpc>
              <a:buClrTx/>
              <a:buSzTx/>
              <a:buFontTx/>
            </a:pPr>
            <a:endParaRPr lang="zh-CN" altLang="en-US" sz="2400" b="1">
              <a:latin typeface="宋体" panose="02010600030101010101" pitchFamily="2" charset="-122"/>
              <a:ea typeface="宋体" panose="02010600030101010101" pitchFamily="2" charset="-122"/>
            </a:endParaRPr>
          </a:p>
          <a:p>
            <a:pPr marL="1828800" lvl="4" indent="457200"/>
            <a:r>
              <a:rPr lang="en-US" altLang="zh-CN" sz="2400" b="1">
                <a:latin typeface="宋体" panose="02010600030101010101" pitchFamily="2" charset="-122"/>
                <a:ea typeface="宋体" panose="02010600030101010101" pitchFamily="2" charset="-122"/>
              </a:rPr>
              <a:t>      </a:t>
            </a:r>
            <a:r>
              <a:rPr lang="zh-CN" altLang="en-US" sz="2400" b="1">
                <a:latin typeface="宋体" panose="02010600030101010101" pitchFamily="2" charset="-122"/>
                <a:ea typeface="宋体" panose="02010600030101010101" pitchFamily="2" charset="-122"/>
              </a:rPr>
              <a:t>强化学习</a:t>
            </a:r>
            <a:endParaRPr lang="zh-CN" altLang="en-US" sz="2400" b="1">
              <a:latin typeface="宋体" panose="02010600030101010101" pitchFamily="2" charset="-122"/>
              <a:ea typeface="宋体" panose="02010600030101010101" pitchFamily="2" charset="-122"/>
            </a:endParaRPr>
          </a:p>
          <a:p>
            <a:pPr marL="1828800" lvl="4" indent="457200" algn="l">
              <a:lnSpc>
                <a:spcPct val="40000"/>
              </a:lnSpc>
              <a:buClrTx/>
              <a:buSzTx/>
              <a:buFontTx/>
            </a:pPr>
            <a:endParaRPr lang="zh-CN" altLang="en-US" sz="2400" b="1">
              <a:latin typeface="宋体" panose="02010600030101010101" pitchFamily="2" charset="-122"/>
              <a:ea typeface="宋体" panose="02010600030101010101" pitchFamily="2" charset="-122"/>
            </a:endParaRPr>
          </a:p>
          <a:p>
            <a:pPr marL="1828800" lvl="4" indent="457200"/>
            <a:r>
              <a:rPr lang="en-US" altLang="zh-CN" sz="2400" b="1">
                <a:latin typeface="宋体" panose="02010600030101010101" pitchFamily="2" charset="-122"/>
                <a:ea typeface="宋体" panose="02010600030101010101" pitchFamily="2" charset="-122"/>
              </a:rPr>
              <a:t>      ......</a:t>
            </a:r>
            <a:endParaRPr lang="zh-CN" altLang="en-US" sz="2400" b="1">
              <a:latin typeface="宋体" panose="02010600030101010101" pitchFamily="2" charset="-122"/>
              <a:ea typeface="宋体" panose="02010600030101010101" pitchFamily="2" charset="-122"/>
            </a:endParaRPr>
          </a:p>
          <a:p>
            <a:pPr marL="1828800" lvl="4" indent="457200"/>
            <a:endParaRPr lang="zh-CN" altLang="en-US" sz="2400" b="1">
              <a:latin typeface="宋体" panose="02010600030101010101" pitchFamily="2" charset="-122"/>
              <a:ea typeface="宋体" panose="02010600030101010101" pitchFamily="2" charset="-122"/>
            </a:endParaRPr>
          </a:p>
        </p:txBody>
      </p:sp>
      <p:pic>
        <p:nvPicPr>
          <p:cNvPr id="3" name="图片 2" descr="西瓜书"/>
          <p:cNvPicPr>
            <a:picLocks noChangeAspect="1"/>
          </p:cNvPicPr>
          <p:nvPr/>
        </p:nvPicPr>
        <p:blipFill>
          <a:blip r:embed="rId1"/>
          <a:stretch>
            <a:fillRect/>
          </a:stretch>
        </p:blipFill>
        <p:spPr>
          <a:xfrm>
            <a:off x="6953885" y="1644015"/>
            <a:ext cx="3874135" cy="3874135"/>
          </a:xfrm>
          <a:prstGeom prst="rect">
            <a:avLst/>
          </a:prstGeom>
        </p:spPr>
      </p:pic>
      <p:sp>
        <p:nvSpPr>
          <p:cNvPr id="5" name="文本框 4"/>
          <p:cNvSpPr txBox="1"/>
          <p:nvPr/>
        </p:nvSpPr>
        <p:spPr>
          <a:xfrm>
            <a:off x="6696710" y="5518150"/>
            <a:ext cx="4389120" cy="460375"/>
          </a:xfrm>
          <a:prstGeom prst="rect">
            <a:avLst/>
          </a:prstGeom>
          <a:noFill/>
        </p:spPr>
        <p:txBody>
          <a:bodyPr wrap="square" rtlCol="0">
            <a:spAutoFit/>
          </a:bodyPr>
          <a:p>
            <a:r>
              <a:rPr lang="zh-CN" altLang="en-US" sz="2400" b="1">
                <a:latin typeface="宋体" panose="02010600030101010101" pitchFamily="2" charset="-122"/>
                <a:ea typeface="宋体" panose="02010600030101010101" pitchFamily="2" charset="-122"/>
              </a:rPr>
              <a:t>参考教材：周志华《机器学习》</a:t>
            </a:r>
            <a:endParaRPr lang="zh-CN" altLang="en-US" sz="2400" b="1">
              <a:latin typeface="宋体" panose="02010600030101010101" pitchFamily="2" charset="-122"/>
              <a:ea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035" y="286385"/>
            <a:ext cx="1811655" cy="593090"/>
          </a:xfrm>
        </p:spPr>
        <p:txBody>
          <a:bodyPr>
            <a:normAutofit fontScale="90000"/>
          </a:bodyPr>
          <a:lstStyle/>
          <a:p>
            <a:r>
              <a:rPr lang="zh-CN" altLang="en-US" sz="3200" b="1" spc="200" dirty="0">
                <a:solidFill>
                  <a:schemeClr val="accent1"/>
                </a:solidFill>
                <a:uFillTx/>
                <a:latin typeface="微软雅黑 Light" panose="020B0502040204020203" pitchFamily="34" charset="-122"/>
                <a:ea typeface="微软雅黑" panose="020B0503020204020204" charset="-122"/>
              </a:rPr>
              <a:t>机器学习</a:t>
            </a:r>
            <a:endParaRPr lang="zh-CN" altLang="en-US" sz="3200" b="1" spc="200" dirty="0">
              <a:solidFill>
                <a:schemeClr val="accent1"/>
              </a:solidFill>
              <a:uFillTx/>
              <a:latin typeface="微软雅黑 Light" panose="020B0502040204020203" pitchFamily="34" charset="-122"/>
              <a:ea typeface="微软雅黑" panose="020B0503020204020204" charset="-122"/>
            </a:endParaRPr>
          </a:p>
        </p:txBody>
      </p:sp>
      <p:sp>
        <p:nvSpPr>
          <p:cNvPr id="6" name="矩形 5"/>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7" name="矩形 6"/>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pic>
        <p:nvPicPr>
          <p:cNvPr id="8" name="图片 7" descr="课程要求"/>
          <p:cNvPicPr>
            <a:picLocks noChangeAspect="1"/>
          </p:cNvPicPr>
          <p:nvPr/>
        </p:nvPicPr>
        <p:blipFill>
          <a:blip r:embed="rId1"/>
          <a:stretch>
            <a:fillRect/>
          </a:stretch>
        </p:blipFill>
        <p:spPr>
          <a:xfrm>
            <a:off x="2153285" y="2311400"/>
            <a:ext cx="7886065" cy="3644265"/>
          </a:xfrm>
          <a:prstGeom prst="rect">
            <a:avLst/>
          </a:prstGeom>
        </p:spPr>
      </p:pic>
      <p:sp>
        <p:nvSpPr>
          <p:cNvPr id="9" name="文本框 8"/>
          <p:cNvSpPr txBox="1"/>
          <p:nvPr/>
        </p:nvSpPr>
        <p:spPr>
          <a:xfrm>
            <a:off x="4909820" y="1529715"/>
            <a:ext cx="2373630" cy="460375"/>
          </a:xfrm>
          <a:prstGeom prst="rect">
            <a:avLst/>
          </a:prstGeom>
          <a:noFill/>
        </p:spPr>
        <p:txBody>
          <a:bodyPr wrap="square" rtlCol="0">
            <a:spAutoFit/>
          </a:bodyPr>
          <a:p>
            <a:r>
              <a:rPr lang="zh-CN" altLang="en-US" sz="2400"/>
              <a:t>课程需掌握知识</a:t>
            </a:r>
            <a:endParaRPr lang="zh-CN" altLang="en-US" sz="2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035" y="286385"/>
            <a:ext cx="3848100" cy="593090"/>
          </a:xfrm>
        </p:spPr>
        <p:txBody>
          <a:bodyPr>
            <a:normAutofit fontScale="90000"/>
          </a:bodyPr>
          <a:lstStyle/>
          <a:p>
            <a:r>
              <a:rPr lang="zh-CN" altLang="en-US" sz="3200" b="1" spc="200" dirty="0">
                <a:solidFill>
                  <a:schemeClr val="accent1"/>
                </a:solidFill>
                <a:uFillTx/>
                <a:latin typeface="微软雅黑 Light" panose="020B0502040204020203" pitchFamily="34" charset="-122"/>
                <a:ea typeface="微软雅黑" panose="020B0503020204020204" charset="-122"/>
              </a:rPr>
              <a:t>机器学习：概念学习</a:t>
            </a:r>
            <a:endParaRPr lang="zh-CN" altLang="en-US" sz="3200" b="1" spc="200" dirty="0">
              <a:solidFill>
                <a:schemeClr val="accent1"/>
              </a:solidFill>
              <a:uFillTx/>
              <a:latin typeface="微软雅黑 Light" panose="020B0502040204020203" pitchFamily="34" charset="-122"/>
              <a:ea typeface="微软雅黑" panose="020B0503020204020204" charset="-122"/>
            </a:endParaRPr>
          </a:p>
        </p:txBody>
      </p:sp>
      <p:sp>
        <p:nvSpPr>
          <p:cNvPr id="6" name="矩形 5"/>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7" name="矩形 6"/>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099" name="Rectangle 3"/>
          <p:cNvSpPr>
            <a:spLocks noGrp="1" noChangeArrowheads="1"/>
          </p:cNvSpPr>
          <p:nvPr>
            <p:ph idx="1"/>
          </p:nvPr>
        </p:nvSpPr>
        <p:spPr>
          <a:xfrm>
            <a:off x="346075" y="1252855"/>
            <a:ext cx="11142345" cy="4351655"/>
          </a:xfrm>
        </p:spPr>
        <p:txBody>
          <a:bodyPr/>
          <a:p>
            <a:pPr marL="0" indent="0" eaLnBrk="1" hangingPunct="1">
              <a:buNone/>
              <a:defRPr/>
            </a:pPr>
            <a:r>
              <a:rPr lang="zh-CN" altLang="en-US" sz="1800">
                <a:latin typeface="宋体" panose="02010600030101010101" pitchFamily="2" charset="-122"/>
                <a:ea typeface="宋体" panose="02010600030101010101" pitchFamily="2" charset="-122"/>
              </a:rPr>
              <a:t>许多机器学习涉及到从特殊训练样例中得到一般概念</a:t>
            </a:r>
            <a:endParaRPr lang="zh-CN" altLang="en-US" sz="1800">
              <a:latin typeface="宋体" panose="02010600030101010101" pitchFamily="2" charset="-122"/>
              <a:ea typeface="宋体" panose="02010600030101010101" pitchFamily="2" charset="-122"/>
            </a:endParaRPr>
          </a:p>
          <a:p>
            <a:pPr marL="0" indent="0" eaLnBrk="1" hangingPunct="1">
              <a:buNone/>
              <a:defRPr/>
            </a:pPr>
            <a:r>
              <a:rPr lang="zh-CN" altLang="en-US" sz="1800" u="sng">
                <a:latin typeface="宋体" panose="02010600030101010101" pitchFamily="2" charset="-122"/>
                <a:ea typeface="宋体" panose="02010600030101010101" pitchFamily="2" charset="-122"/>
              </a:rPr>
              <a:t>概念</a:t>
            </a:r>
            <a:r>
              <a:rPr lang="zh-CN" altLang="en-US" sz="1800">
                <a:latin typeface="宋体" panose="02010600030101010101" pitchFamily="2" charset="-122"/>
                <a:ea typeface="宋体" panose="02010600030101010101" pitchFamily="2" charset="-122"/>
              </a:rPr>
              <a:t>：</a:t>
            </a:r>
            <a:endParaRPr lang="zh-CN" altLang="en-US" sz="1800" u="sng">
              <a:latin typeface="宋体" panose="02010600030101010101" pitchFamily="2" charset="-122"/>
              <a:ea typeface="宋体" panose="02010600030101010101" pitchFamily="2" charset="-122"/>
            </a:endParaRPr>
          </a:p>
          <a:p>
            <a:pPr marL="0" indent="457200" eaLnBrk="1" hangingPunct="1">
              <a:buNone/>
              <a:defRPr/>
            </a:pPr>
            <a:r>
              <a:rPr lang="zh-CN" altLang="en-US" sz="1800">
                <a:latin typeface="宋体" panose="02010600030101010101" pitchFamily="2" charset="-122"/>
                <a:ea typeface="宋体" panose="02010600030101010101" pitchFamily="2" charset="-122"/>
              </a:rPr>
              <a:t>可被看作一个对象或事件集合，它是从更大的集合中选取的子集，或在这个较大集合中定义的布尔函数。</a:t>
            </a:r>
            <a:endParaRPr lang="zh-CN" altLang="en-US" sz="1800">
              <a:latin typeface="宋体" panose="02010600030101010101" pitchFamily="2" charset="-122"/>
              <a:ea typeface="宋体" panose="02010600030101010101" pitchFamily="2" charset="-122"/>
            </a:endParaRPr>
          </a:p>
          <a:p>
            <a:pPr marL="0" indent="0" eaLnBrk="1" hangingPunct="1">
              <a:buNone/>
              <a:defRPr/>
            </a:pPr>
            <a:r>
              <a:rPr lang="zh-CN" altLang="en-US" sz="1800" u="sng">
                <a:latin typeface="宋体" panose="02010600030101010101" pitchFamily="2" charset="-122"/>
                <a:ea typeface="宋体" panose="02010600030101010101" pitchFamily="2" charset="-122"/>
              </a:rPr>
              <a:t>概念学习</a:t>
            </a:r>
            <a:r>
              <a:rPr lang="zh-CN" altLang="en-US" sz="1800">
                <a:latin typeface="宋体" panose="02010600030101010101" pitchFamily="2" charset="-122"/>
                <a:ea typeface="宋体" panose="02010600030101010101" pitchFamily="2" charset="-122"/>
              </a:rPr>
              <a:t>问题的定义：</a:t>
            </a:r>
            <a:endParaRPr lang="zh-CN" altLang="en-US" dirty="0"/>
          </a:p>
          <a:p>
            <a:pPr lvl="1" eaLnBrk="1" hangingPunct="1">
              <a:defRPr/>
            </a:pPr>
            <a:r>
              <a:rPr lang="zh-CN" altLang="en-US" sz="1800">
                <a:latin typeface="宋体" panose="02010600030101010101" pitchFamily="2" charset="-122"/>
                <a:ea typeface="宋体" panose="02010600030101010101" pitchFamily="2" charset="-122"/>
              </a:rPr>
              <a:t>给定一个样例集合以及每个样例是否属于某个概念的标注，怎样推断出该概念的一般定义（又称从样例中逼近布尔函数）</a:t>
            </a:r>
            <a:endParaRPr lang="zh-CN" altLang="en-US" sz="1800">
              <a:latin typeface="宋体" panose="02010600030101010101" pitchFamily="2" charset="-122"/>
              <a:ea typeface="宋体" panose="02010600030101010101" pitchFamily="2" charset="-122"/>
            </a:endParaRPr>
          </a:p>
          <a:p>
            <a:pPr lvl="1" eaLnBrk="1" hangingPunct="1">
              <a:defRPr/>
            </a:pPr>
            <a:r>
              <a:rPr lang="zh-CN" altLang="en-US" sz="1800">
                <a:latin typeface="宋体" panose="02010600030101010101" pitchFamily="2" charset="-122"/>
                <a:ea typeface="宋体" panose="02010600030101010101" pitchFamily="2" charset="-122"/>
              </a:rPr>
              <a:t>概念学习是指从有关某个布尔函数的输入输出训练样例中推断出该布尔函数。</a:t>
            </a:r>
            <a:endParaRPr lang="zh-CN" altLang="en-US" dirty="0"/>
          </a:p>
        </p:txBody>
      </p:sp>
      <p:pic>
        <p:nvPicPr>
          <p:cNvPr id="4100"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861560" y="4286250"/>
            <a:ext cx="6328410" cy="1891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Effect transition="in" filter="blinds(horizontal)">
                                      <p:cBhvr>
                                        <p:cTn id="7" dur="500"/>
                                        <p:tgtEl>
                                          <p:spTgt spid="40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099">
                                            <p:txEl>
                                              <p:pRg st="1" end="1"/>
                                            </p:txEl>
                                          </p:spTgt>
                                        </p:tgtEl>
                                        <p:attrNameLst>
                                          <p:attrName>style.visibility</p:attrName>
                                        </p:attrNameLst>
                                      </p:cBhvr>
                                      <p:to>
                                        <p:strVal val="visible"/>
                                      </p:to>
                                    </p:set>
                                    <p:animEffect transition="in" filter="blinds(horizontal)">
                                      <p:cBhvr>
                                        <p:cTn id="12" dur="500"/>
                                        <p:tgtEl>
                                          <p:spTgt spid="409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099">
                                            <p:txEl>
                                              <p:pRg st="2" end="2"/>
                                            </p:txEl>
                                          </p:spTgt>
                                        </p:tgtEl>
                                        <p:attrNameLst>
                                          <p:attrName>style.visibility</p:attrName>
                                        </p:attrNameLst>
                                      </p:cBhvr>
                                      <p:to>
                                        <p:strVal val="visible"/>
                                      </p:to>
                                    </p:set>
                                    <p:animEffect transition="in" filter="blinds(horizontal)">
                                      <p:cBhvr>
                                        <p:cTn id="17" dur="500"/>
                                        <p:tgtEl>
                                          <p:spTgt spid="409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099">
                                            <p:txEl>
                                              <p:pRg st="3" end="3"/>
                                            </p:txEl>
                                          </p:spTgt>
                                        </p:tgtEl>
                                        <p:attrNameLst>
                                          <p:attrName>style.visibility</p:attrName>
                                        </p:attrNameLst>
                                      </p:cBhvr>
                                      <p:to>
                                        <p:strVal val="visible"/>
                                      </p:to>
                                    </p:set>
                                    <p:animEffect transition="in" filter="blinds(horizontal)">
                                      <p:cBhvr>
                                        <p:cTn id="22" dur="500"/>
                                        <p:tgtEl>
                                          <p:spTgt spid="409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099">
                                            <p:txEl>
                                              <p:pRg st="4" end="4"/>
                                            </p:txEl>
                                          </p:spTgt>
                                        </p:tgtEl>
                                        <p:attrNameLst>
                                          <p:attrName>style.visibility</p:attrName>
                                        </p:attrNameLst>
                                      </p:cBhvr>
                                      <p:to>
                                        <p:strVal val="visible"/>
                                      </p:to>
                                    </p:set>
                                    <p:animEffect transition="in" filter="blinds(horizontal)">
                                      <p:cBhvr>
                                        <p:cTn id="27" dur="500"/>
                                        <p:tgtEl>
                                          <p:spTgt spid="4099">
                                            <p:txEl>
                                              <p:pRg st="4" end="4"/>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4099">
                                            <p:txEl>
                                              <p:pRg st="5" end="5"/>
                                            </p:txEl>
                                          </p:spTgt>
                                        </p:tgtEl>
                                        <p:attrNameLst>
                                          <p:attrName>style.visibility</p:attrName>
                                        </p:attrNameLst>
                                      </p:cBhvr>
                                      <p:to>
                                        <p:strVal val="visible"/>
                                      </p:to>
                                    </p:set>
                                    <p:animEffect transition="in" filter="blinds(horizontal)">
                                      <p:cBhvr>
                                        <p:cTn id="30" dur="500"/>
                                        <p:tgtEl>
                                          <p:spTgt spid="4099">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4100"/>
                                        </p:tgtEl>
                                        <p:attrNameLst>
                                          <p:attrName>style.visibility</p:attrName>
                                        </p:attrNameLst>
                                      </p:cBhvr>
                                      <p:to>
                                        <p:strVal val="visible"/>
                                      </p:to>
                                    </p:set>
                                    <p:animEffect transition="in" filter="blinds(horizontal)">
                                      <p:cBhvr>
                                        <p:cTn id="35" dur="500"/>
                                        <p:tgtEl>
                                          <p:spTgt spid="4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035" y="286385"/>
            <a:ext cx="3619500" cy="593090"/>
          </a:xfrm>
        </p:spPr>
        <p:txBody>
          <a:bodyPr>
            <a:normAutofit fontScale="90000"/>
          </a:bodyPr>
          <a:lstStyle/>
          <a:p>
            <a:r>
              <a:rPr lang="zh-CN" altLang="en-US" sz="3200" b="1" spc="200" dirty="0">
                <a:solidFill>
                  <a:schemeClr val="accent1"/>
                </a:solidFill>
                <a:uFillTx/>
                <a:latin typeface="微软雅黑 Light" panose="020B0502040204020203" pitchFamily="34" charset="-122"/>
                <a:ea typeface="微软雅黑" panose="020B0503020204020204" charset="-122"/>
              </a:rPr>
              <a:t>机器学习：决策树</a:t>
            </a:r>
            <a:endParaRPr lang="zh-CN" altLang="en-US" sz="3200" b="1" spc="200" dirty="0">
              <a:solidFill>
                <a:schemeClr val="accent1"/>
              </a:solidFill>
              <a:uFillTx/>
              <a:latin typeface="微软雅黑 Light" panose="020B0502040204020203" pitchFamily="34" charset="-122"/>
              <a:ea typeface="微软雅黑" panose="020B0503020204020204" charset="-122"/>
            </a:endParaRPr>
          </a:p>
        </p:txBody>
      </p:sp>
      <p:sp>
        <p:nvSpPr>
          <p:cNvPr id="6" name="矩形 5"/>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7" name="矩形 6"/>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8" name="文本框 7"/>
          <p:cNvSpPr txBox="1"/>
          <p:nvPr/>
        </p:nvSpPr>
        <p:spPr>
          <a:xfrm>
            <a:off x="269240" y="1471295"/>
            <a:ext cx="11407140" cy="3692525"/>
          </a:xfrm>
          <a:prstGeom prst="rect">
            <a:avLst/>
          </a:prstGeom>
          <a:noFill/>
        </p:spPr>
        <p:txBody>
          <a:bodyPr wrap="square" rtlCol="0">
            <a:spAutoFit/>
          </a:bodyPr>
          <a:p>
            <a:r>
              <a:rPr lang="zh-CN" altLang="en-US" b="1">
                <a:latin typeface="宋体" panose="02010600030101010101" pitchFamily="2" charset="-122"/>
                <a:ea typeface="宋体" panose="02010600030101010101" pitchFamily="2" charset="-122"/>
              </a:rPr>
              <a:t>定义：</a:t>
            </a:r>
            <a:r>
              <a:rPr lang="zh-CN" altLang="en-US">
                <a:latin typeface="宋体" panose="02010600030101010101" pitchFamily="2" charset="-122"/>
                <a:ea typeface="宋体" panose="02010600030101010101" pitchFamily="2" charset="-122"/>
              </a:rPr>
              <a:t>决策树是一种通过图示罗列解题的有关步骤以及各步骤发生的条件与结果的一种方法。决策树不仅可以帮助人们理解问题，也可以帮助人们解决问题。决策树一般是自上而下生成的，每个决策或事件都可能引出两个或多个事件，导致不同的结果，把这种决策分支画成图形很像一棵树的枝干，故称之为决策树。</a:t>
            </a:r>
            <a:endParaRPr lang="zh-CN" altLang="en-US">
              <a:latin typeface="宋体" panose="02010600030101010101" pitchFamily="2" charset="-122"/>
              <a:ea typeface="宋体" panose="02010600030101010101" pitchFamily="2" charset="-122"/>
            </a:endParaRPr>
          </a:p>
          <a:p>
            <a:endParaRPr lang="zh-CN" altLang="en-US"/>
          </a:p>
          <a:p>
            <a:r>
              <a:rPr lang="zh-CN" altLang="en-US" b="1">
                <a:latin typeface="宋体" panose="02010600030101010101" pitchFamily="2" charset="-122"/>
                <a:ea typeface="宋体" panose="02010600030101010101" pitchFamily="2" charset="-122"/>
              </a:rPr>
              <a:t>优势：</a:t>
            </a:r>
            <a:r>
              <a:rPr lang="en-US" altLang="zh-CN">
                <a:latin typeface="宋体" panose="02010600030101010101" pitchFamily="2" charset="-122"/>
                <a:ea typeface="宋体" panose="02010600030101010101" pitchFamily="2" charset="-122"/>
              </a:rPr>
              <a:t>1</a:t>
            </a:r>
            <a:r>
              <a:rPr lang="zh-CN" altLang="en-US">
                <a:latin typeface="宋体" panose="02010600030101010101" pitchFamily="2" charset="-122"/>
                <a:ea typeface="宋体" panose="02010600030101010101" pitchFamily="2" charset="-122"/>
              </a:rPr>
              <a:t>）决策条理清晰，易于人们理解</a:t>
            </a:r>
            <a:endParaRPr lang="zh-CN" altLang="en-US">
              <a:latin typeface="宋体" panose="02010600030101010101" pitchFamily="2" charset="-122"/>
              <a:ea typeface="宋体" panose="02010600030101010101" pitchFamily="2" charset="-122"/>
            </a:endParaRPr>
          </a:p>
          <a:p>
            <a:r>
              <a:rPr lang="en-US" altLang="zh-CN" b="1">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 2</a:t>
            </a:r>
            <a:r>
              <a:rPr lang="zh-CN" altLang="en-US">
                <a:latin typeface="宋体" panose="02010600030101010101" pitchFamily="2" charset="-122"/>
                <a:ea typeface="宋体" panose="02010600030101010101" pitchFamily="2" charset="-122"/>
              </a:rPr>
              <a:t>）计算量相对较小</a:t>
            </a:r>
            <a:endParaRPr lang="zh-CN" altLang="en-US">
              <a:latin typeface="宋体" panose="02010600030101010101" pitchFamily="2" charset="-122"/>
              <a:ea typeface="宋体" panose="02010600030101010101" pitchFamily="2" charset="-122"/>
            </a:endParaRPr>
          </a:p>
          <a:p>
            <a:endParaRPr lang="zh-CN" altLang="en-US">
              <a:latin typeface="宋体" panose="02010600030101010101" pitchFamily="2" charset="-122"/>
              <a:ea typeface="宋体" panose="02010600030101010101" pitchFamily="2" charset="-122"/>
            </a:endParaRPr>
          </a:p>
          <a:p>
            <a:r>
              <a:rPr lang="zh-CN" altLang="en-US" b="1">
                <a:latin typeface="宋体" panose="02010600030101010101" pitchFamily="2" charset="-122"/>
                <a:ea typeface="宋体" panose="02010600030101010101" pitchFamily="2" charset="-122"/>
              </a:rPr>
              <a:t>劣势：</a:t>
            </a:r>
            <a:r>
              <a:rPr lang="en-US" altLang="zh-CN">
                <a:latin typeface="宋体" panose="02010600030101010101" pitchFamily="2" charset="-122"/>
                <a:ea typeface="宋体" panose="02010600030101010101" pitchFamily="2" charset="-122"/>
              </a:rPr>
              <a:t>1</a:t>
            </a:r>
            <a:r>
              <a:rPr lang="zh-CN" altLang="en-US">
                <a:latin typeface="宋体" panose="02010600030101010101" pitchFamily="2" charset="-122"/>
                <a:ea typeface="宋体" panose="02010600030101010101" pitchFamily="2" charset="-122"/>
              </a:rPr>
              <a:t>）只能处理结构化数据</a:t>
            </a:r>
            <a:endParaRPr lang="zh-CN" altLang="en-US" b="1">
              <a:latin typeface="宋体" panose="02010600030101010101" pitchFamily="2" charset="-122"/>
              <a:ea typeface="宋体" panose="02010600030101010101" pitchFamily="2" charset="-122"/>
            </a:endParaRPr>
          </a:p>
          <a:p>
            <a:r>
              <a:rPr lang="zh-CN" altLang="en-US" b="1">
                <a:latin typeface="宋体" panose="02010600030101010101" pitchFamily="2" charset="-122"/>
                <a:ea typeface="宋体" panose="02010600030101010101" pitchFamily="2" charset="-122"/>
              </a:rPr>
              <a:t> </a:t>
            </a:r>
            <a:r>
              <a:rPr lang="en-US" altLang="zh-CN" b="1">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2</a:t>
            </a:r>
            <a:r>
              <a:rPr lang="zh-CN" altLang="en-US">
                <a:latin typeface="宋体" panose="02010600030101010101" pitchFamily="2" charset="-122"/>
                <a:ea typeface="宋体" panose="02010600030101010101" pitchFamily="2" charset="-122"/>
              </a:rPr>
              <a:t>）当决策数量较多时，易产生错误</a:t>
            </a:r>
            <a:endParaRPr lang="zh-CN" altLang="en-US">
              <a:latin typeface="宋体" panose="02010600030101010101" pitchFamily="2" charset="-122"/>
              <a:ea typeface="宋体" panose="02010600030101010101" pitchFamily="2" charset="-122"/>
            </a:endParaRPr>
          </a:p>
          <a:p>
            <a:r>
              <a:rPr lang="en-US" altLang="zh-CN" b="1">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 3</a:t>
            </a:r>
            <a:r>
              <a:rPr lang="zh-CN" altLang="en-US">
                <a:latin typeface="宋体" panose="02010600030101010101" pitchFamily="2" charset="-122"/>
                <a:ea typeface="宋体" panose="02010600030101010101" pitchFamily="2" charset="-122"/>
              </a:rPr>
              <a:t>）当处理特征关联性比较强的数据时，效果较差</a:t>
            </a:r>
            <a:endParaRPr lang="zh-CN" altLang="en-US">
              <a:latin typeface="宋体" panose="02010600030101010101" pitchFamily="2" charset="-122"/>
              <a:ea typeface="宋体" panose="02010600030101010101" pitchFamily="2" charset="-122"/>
            </a:endParaRPr>
          </a:p>
          <a:p>
            <a:endParaRPr lang="en-US" altLang="zh-CN">
              <a:latin typeface="宋体" panose="02010600030101010101" pitchFamily="2" charset="-122"/>
              <a:ea typeface="宋体" panose="02010600030101010101" pitchFamily="2" charset="-122"/>
            </a:endParaRPr>
          </a:p>
          <a:p>
            <a:r>
              <a:rPr lang="zh-CN" altLang="en-US" b="1">
                <a:latin typeface="宋体" panose="02010600030101010101" pitchFamily="2" charset="-122"/>
                <a:ea typeface="宋体" panose="02010600030101010101" pitchFamily="2" charset="-122"/>
              </a:rPr>
              <a:t>应用场景：</a:t>
            </a:r>
            <a:r>
              <a:rPr lang="en-US" altLang="zh-CN">
                <a:latin typeface="宋体" panose="02010600030101010101" pitchFamily="2" charset="-122"/>
                <a:ea typeface="宋体" panose="02010600030101010101" pitchFamily="2" charset="-122"/>
              </a:rPr>
              <a:t>1</a:t>
            </a:r>
            <a:r>
              <a:rPr lang="zh-CN" altLang="en-US">
                <a:latin typeface="宋体" panose="02010600030101010101" pitchFamily="2" charset="-122"/>
                <a:ea typeface="宋体" panose="02010600030101010101" pitchFamily="2" charset="-122"/>
              </a:rPr>
              <a:t>）企业利用决策树评价生产方案</a:t>
            </a:r>
            <a:endParaRPr lang="zh-CN" altLang="en-US">
              <a:latin typeface="宋体" panose="02010600030101010101" pitchFamily="2" charset="-122"/>
              <a:ea typeface="宋体" panose="02010600030101010101" pitchFamily="2" charset="-122"/>
            </a:endParaRPr>
          </a:p>
          <a:p>
            <a:r>
              <a:rPr lang="en-US" altLang="zh-CN">
                <a:latin typeface="宋体" panose="02010600030101010101" pitchFamily="2" charset="-122"/>
                <a:ea typeface="宋体" panose="02010600030101010101" pitchFamily="2" charset="-122"/>
              </a:rPr>
              <a:t>          2</a:t>
            </a:r>
            <a:r>
              <a:rPr lang="zh-CN" altLang="en-US">
                <a:latin typeface="宋体" panose="02010600030101010101" pitchFamily="2" charset="-122"/>
                <a:ea typeface="宋体" panose="02010600030101010101" pitchFamily="2" charset="-122"/>
              </a:rPr>
              <a:t>）金融行业利用决策树进行风险贷款评估</a:t>
            </a:r>
            <a:r>
              <a:rPr lang="en-US" altLang="zh-CN">
                <a:latin typeface="宋体" panose="02010600030101010101" pitchFamily="2" charset="-122"/>
                <a:ea typeface="宋体" panose="02010600030101010101" pitchFamily="2" charset="-122"/>
              </a:rPr>
              <a:t>...</a:t>
            </a:r>
            <a:endParaRPr lang="en-US" altLang="zh-CN">
              <a:latin typeface="宋体" panose="02010600030101010101" pitchFamily="2" charset="-122"/>
              <a:ea typeface="宋体" panose="02010600030101010101" pitchFamily="2" charset="-122"/>
            </a:endParaRPr>
          </a:p>
        </p:txBody>
      </p:sp>
      <p:pic>
        <p:nvPicPr>
          <p:cNvPr id="4" name="图片 3" descr="决策树"/>
          <p:cNvPicPr>
            <a:picLocks noChangeAspect="1"/>
          </p:cNvPicPr>
          <p:nvPr/>
        </p:nvPicPr>
        <p:blipFill>
          <a:blip r:embed="rId1"/>
          <a:stretch>
            <a:fillRect/>
          </a:stretch>
        </p:blipFill>
        <p:spPr>
          <a:xfrm>
            <a:off x="7726680" y="2710815"/>
            <a:ext cx="4021455" cy="364172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035" y="286385"/>
            <a:ext cx="3755390" cy="593090"/>
          </a:xfrm>
        </p:spPr>
        <p:txBody>
          <a:bodyPr>
            <a:normAutofit fontScale="90000"/>
          </a:bodyPr>
          <a:lstStyle/>
          <a:p>
            <a:r>
              <a:rPr lang="zh-CN" altLang="en-US" sz="3200" b="1" spc="200" dirty="0">
                <a:solidFill>
                  <a:schemeClr val="accent1"/>
                </a:solidFill>
                <a:uFillTx/>
                <a:latin typeface="微软雅黑 Light" panose="020B0502040204020203" pitchFamily="34" charset="-122"/>
                <a:ea typeface="微软雅黑" panose="020B0503020204020204" charset="-122"/>
              </a:rPr>
              <a:t>机器学习：神经网络</a:t>
            </a:r>
            <a:endParaRPr lang="zh-CN" altLang="en-US" sz="3200" b="1" spc="200" dirty="0">
              <a:solidFill>
                <a:schemeClr val="accent1"/>
              </a:solidFill>
              <a:uFillTx/>
              <a:latin typeface="微软雅黑 Light" panose="020B0502040204020203" pitchFamily="34" charset="-122"/>
              <a:ea typeface="微软雅黑" panose="020B0503020204020204" charset="-122"/>
            </a:endParaRPr>
          </a:p>
        </p:txBody>
      </p:sp>
      <p:sp>
        <p:nvSpPr>
          <p:cNvPr id="6" name="矩形 5"/>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7" name="矩形 6"/>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8" name="文本框 7"/>
          <p:cNvSpPr txBox="1"/>
          <p:nvPr/>
        </p:nvSpPr>
        <p:spPr>
          <a:xfrm>
            <a:off x="340360" y="1351280"/>
            <a:ext cx="11282680" cy="3969385"/>
          </a:xfrm>
          <a:prstGeom prst="rect">
            <a:avLst/>
          </a:prstGeom>
          <a:noFill/>
        </p:spPr>
        <p:txBody>
          <a:bodyPr wrap="square" rtlCol="0">
            <a:spAutoFit/>
          </a:bodyPr>
          <a:p>
            <a:r>
              <a:rPr lang="zh-CN" altLang="en-US" b="1">
                <a:latin typeface="宋体" panose="02010600030101010101" pitchFamily="2" charset="-122"/>
                <a:ea typeface="宋体" panose="02010600030101010101" pitchFamily="2" charset="-122"/>
              </a:rPr>
              <a:t>定义：</a:t>
            </a:r>
            <a:r>
              <a:rPr lang="zh-CN" altLang="en-US">
                <a:latin typeface="宋体" panose="02010600030101010101" pitchFamily="2" charset="-122"/>
                <a:ea typeface="宋体" panose="02010600030101010101" pitchFamily="2" charset="-122"/>
              </a:rPr>
              <a:t>人工神经网络或称作连接模型，它是一种模仿动物神经网络行为特征，进行分布式并行信息处理的算法数学模型。这种网络依靠系统的复杂程度，通过调整内部大量节点之间相互连接的关系，从而达到处理信息的目的。</a:t>
            </a:r>
            <a:endParaRPr lang="zh-CN" altLang="en-US" b="1">
              <a:latin typeface="宋体" panose="02010600030101010101" pitchFamily="2" charset="-122"/>
              <a:ea typeface="宋体" panose="02010600030101010101" pitchFamily="2" charset="-122"/>
            </a:endParaRPr>
          </a:p>
          <a:p>
            <a:endParaRPr lang="zh-CN" altLang="en-US"/>
          </a:p>
          <a:p>
            <a:r>
              <a:rPr lang="zh-CN" altLang="en-US" b="1">
                <a:latin typeface="宋体" panose="02010600030101010101" pitchFamily="2" charset="-122"/>
                <a:ea typeface="宋体" panose="02010600030101010101" pitchFamily="2" charset="-122"/>
              </a:rPr>
              <a:t>优势：</a:t>
            </a:r>
            <a:r>
              <a:rPr lang="en-US" altLang="zh-CN">
                <a:latin typeface="宋体" panose="02010600030101010101" pitchFamily="2" charset="-122"/>
                <a:ea typeface="宋体" panose="02010600030101010101" pitchFamily="2" charset="-122"/>
              </a:rPr>
              <a:t>1</a:t>
            </a:r>
            <a:r>
              <a:rPr lang="zh-CN" altLang="en-US">
                <a:latin typeface="宋体" panose="02010600030101010101" pitchFamily="2" charset="-122"/>
                <a:ea typeface="宋体" panose="02010600030101010101" pitchFamily="2" charset="-122"/>
              </a:rPr>
              <a:t>）可以实现端到端学习而无需专家知识</a:t>
            </a:r>
            <a:endParaRPr lang="zh-CN" altLang="en-US">
              <a:latin typeface="宋体" panose="02010600030101010101" pitchFamily="2" charset="-122"/>
              <a:ea typeface="宋体" panose="02010600030101010101" pitchFamily="2" charset="-122"/>
            </a:endParaRPr>
          </a:p>
          <a:p>
            <a:r>
              <a:rPr lang="zh-CN" altLang="en-US">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     2</a:t>
            </a:r>
            <a:r>
              <a:rPr lang="zh-CN" altLang="en-US">
                <a:latin typeface="宋体" panose="02010600030101010101" pitchFamily="2" charset="-122"/>
                <a:ea typeface="宋体" panose="02010600030101010101" pitchFamily="2" charset="-122"/>
              </a:rPr>
              <a:t>）可以通过损失函数反向传播快速寻找问题最优解</a:t>
            </a:r>
            <a:endParaRPr lang="zh-CN" altLang="en-US">
              <a:latin typeface="宋体" panose="02010600030101010101" pitchFamily="2" charset="-122"/>
              <a:ea typeface="宋体" panose="02010600030101010101" pitchFamily="2" charset="-122"/>
            </a:endParaRPr>
          </a:p>
          <a:p>
            <a:endParaRPr lang="zh-CN" altLang="en-US"/>
          </a:p>
          <a:p>
            <a:r>
              <a:rPr lang="zh-CN" altLang="en-US" b="1">
                <a:latin typeface="宋体" panose="02010600030101010101" pitchFamily="2" charset="-122"/>
                <a:ea typeface="宋体" panose="02010600030101010101" pitchFamily="2" charset="-122"/>
              </a:rPr>
              <a:t>劣势：</a:t>
            </a:r>
            <a:r>
              <a:rPr lang="en-US" altLang="zh-CN">
                <a:latin typeface="宋体" panose="02010600030101010101" pitchFamily="2" charset="-122"/>
                <a:ea typeface="宋体" panose="02010600030101010101" pitchFamily="2" charset="-122"/>
              </a:rPr>
              <a:t>1</a:t>
            </a:r>
            <a:r>
              <a:rPr lang="zh-CN" altLang="en-US">
                <a:latin typeface="宋体" panose="02010600030101010101" pitchFamily="2" charset="-122"/>
                <a:ea typeface="宋体" panose="02010600030101010101" pitchFamily="2" charset="-122"/>
              </a:rPr>
              <a:t>）无法解释推理过程及推理依据</a:t>
            </a:r>
            <a:endParaRPr lang="zh-CN" altLang="en-US">
              <a:latin typeface="宋体" panose="02010600030101010101" pitchFamily="2" charset="-122"/>
              <a:ea typeface="宋体" panose="02010600030101010101" pitchFamily="2" charset="-122"/>
            </a:endParaRPr>
          </a:p>
          <a:p>
            <a:r>
              <a:rPr lang="zh-CN" altLang="en-US">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     2</a:t>
            </a:r>
            <a:r>
              <a:rPr lang="zh-CN" altLang="en-US">
                <a:latin typeface="宋体" panose="02010600030101010101" pitchFamily="2" charset="-122"/>
                <a:ea typeface="宋体" panose="02010600030101010101" pitchFamily="2" charset="-122"/>
              </a:rPr>
              <a:t>）数据量较少时网络性能较差</a:t>
            </a:r>
            <a:endParaRPr lang="zh-CN" altLang="en-US">
              <a:latin typeface="宋体" panose="02010600030101010101" pitchFamily="2" charset="-122"/>
              <a:ea typeface="宋体" panose="02010600030101010101" pitchFamily="2" charset="-122"/>
            </a:endParaRPr>
          </a:p>
          <a:p>
            <a:endParaRPr lang="zh-CN" altLang="en-US" b="1">
              <a:latin typeface="宋体" panose="02010600030101010101" pitchFamily="2" charset="-122"/>
              <a:ea typeface="宋体" panose="02010600030101010101" pitchFamily="2" charset="-122"/>
            </a:endParaRPr>
          </a:p>
          <a:p>
            <a:r>
              <a:rPr lang="zh-CN" altLang="en-US" b="1">
                <a:latin typeface="宋体" panose="02010600030101010101" pitchFamily="2" charset="-122"/>
                <a:ea typeface="宋体" panose="02010600030101010101" pitchFamily="2" charset="-122"/>
              </a:rPr>
              <a:t>应用场景：</a:t>
            </a:r>
            <a:r>
              <a:rPr lang="en-US" altLang="zh-CN">
                <a:latin typeface="宋体" panose="02010600030101010101" pitchFamily="2" charset="-122"/>
                <a:ea typeface="宋体" panose="02010600030101010101" pitchFamily="2" charset="-122"/>
              </a:rPr>
              <a:t>1</a:t>
            </a:r>
            <a:r>
              <a:rPr lang="zh-CN" altLang="en-US">
                <a:latin typeface="宋体" panose="02010600030101010101" pitchFamily="2" charset="-122"/>
                <a:ea typeface="宋体" panose="02010600030101010101" pitchFamily="2" charset="-122"/>
              </a:rPr>
              <a:t>）自动驾驶</a:t>
            </a:r>
            <a:endParaRPr lang="zh-CN" altLang="en-US">
              <a:latin typeface="宋体" panose="02010600030101010101" pitchFamily="2" charset="-122"/>
              <a:ea typeface="宋体" panose="02010600030101010101" pitchFamily="2" charset="-122"/>
            </a:endParaRPr>
          </a:p>
          <a:p>
            <a:r>
              <a:rPr lang="en-US" altLang="zh-CN">
                <a:latin typeface="宋体" panose="02010600030101010101" pitchFamily="2" charset="-122"/>
                <a:ea typeface="宋体" panose="02010600030101010101" pitchFamily="2" charset="-122"/>
              </a:rPr>
              <a:t>          2</a:t>
            </a:r>
            <a:r>
              <a:rPr lang="zh-CN" altLang="en-US">
                <a:latin typeface="宋体" panose="02010600030101010101" pitchFamily="2" charset="-122"/>
                <a:ea typeface="宋体" panose="02010600030101010101" pitchFamily="2" charset="-122"/>
              </a:rPr>
              <a:t>）医疗辅助诊断</a:t>
            </a:r>
            <a:endParaRPr lang="zh-CN" altLang="en-US">
              <a:latin typeface="宋体" panose="02010600030101010101" pitchFamily="2" charset="-122"/>
              <a:ea typeface="宋体" panose="02010600030101010101" pitchFamily="2" charset="-122"/>
            </a:endParaRPr>
          </a:p>
          <a:p>
            <a:r>
              <a:rPr lang="en-US" altLang="zh-CN">
                <a:latin typeface="宋体" panose="02010600030101010101" pitchFamily="2" charset="-122"/>
                <a:ea typeface="宋体" panose="02010600030101010101" pitchFamily="2" charset="-122"/>
              </a:rPr>
              <a:t>          3</a:t>
            </a:r>
            <a:r>
              <a:rPr lang="zh-CN" altLang="en-US">
                <a:latin typeface="宋体" panose="02010600030101010101" pitchFamily="2" charset="-122"/>
                <a:ea typeface="宋体" panose="02010600030101010101" pitchFamily="2" charset="-122"/>
              </a:rPr>
              <a:t>）机器翻译</a:t>
            </a:r>
            <a:endParaRPr lang="zh-CN" altLang="en-US">
              <a:latin typeface="宋体" panose="02010600030101010101" pitchFamily="2" charset="-122"/>
              <a:ea typeface="宋体" panose="02010600030101010101" pitchFamily="2" charset="-122"/>
            </a:endParaRPr>
          </a:p>
          <a:p>
            <a:r>
              <a:rPr lang="en-US" altLang="zh-CN">
                <a:latin typeface="宋体" panose="02010600030101010101" pitchFamily="2" charset="-122"/>
                <a:ea typeface="宋体" panose="02010600030101010101" pitchFamily="2" charset="-122"/>
              </a:rPr>
              <a:t>          4</a:t>
            </a:r>
            <a:r>
              <a:rPr lang="zh-CN" altLang="en-US">
                <a:latin typeface="宋体" panose="02010600030101010101" pitchFamily="2" charset="-122"/>
                <a:ea typeface="宋体" panose="02010600030101010101" pitchFamily="2" charset="-122"/>
              </a:rPr>
              <a:t>）个性化推荐</a:t>
            </a:r>
            <a:r>
              <a:rPr lang="en-US" altLang="zh-CN">
                <a:latin typeface="宋体" panose="02010600030101010101" pitchFamily="2" charset="-122"/>
                <a:ea typeface="宋体" panose="02010600030101010101" pitchFamily="2" charset="-122"/>
              </a:rPr>
              <a:t>...</a:t>
            </a:r>
            <a:endParaRPr lang="en-US" altLang="zh-CN">
              <a:latin typeface="宋体" panose="02010600030101010101" pitchFamily="2" charset="-122"/>
              <a:ea typeface="宋体" panose="02010600030101010101" pitchFamily="2" charset="-122"/>
            </a:endParaRPr>
          </a:p>
        </p:txBody>
      </p:sp>
      <p:pic>
        <p:nvPicPr>
          <p:cNvPr id="3" name="图片 2" descr="神经网络"/>
          <p:cNvPicPr>
            <a:picLocks noChangeAspect="1"/>
          </p:cNvPicPr>
          <p:nvPr/>
        </p:nvPicPr>
        <p:blipFill>
          <a:blip r:embed="rId1"/>
          <a:stretch>
            <a:fillRect/>
          </a:stretch>
        </p:blipFill>
        <p:spPr>
          <a:xfrm>
            <a:off x="6656705" y="2727960"/>
            <a:ext cx="5110480" cy="331406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035" y="286385"/>
            <a:ext cx="4177030" cy="593090"/>
          </a:xfrm>
        </p:spPr>
        <p:txBody>
          <a:bodyPr>
            <a:normAutofit fontScale="90000"/>
          </a:bodyPr>
          <a:lstStyle/>
          <a:p>
            <a:r>
              <a:rPr lang="zh-CN" altLang="en-US" sz="3200" b="1" spc="200" dirty="0">
                <a:solidFill>
                  <a:schemeClr val="accent1"/>
                </a:solidFill>
                <a:uFillTx/>
                <a:latin typeface="微软雅黑 Light" panose="020B0502040204020203" pitchFamily="34" charset="-122"/>
                <a:ea typeface="微软雅黑" panose="020B0503020204020204" charset="-122"/>
              </a:rPr>
              <a:t>机器学习：支持向量机</a:t>
            </a:r>
            <a:endParaRPr lang="zh-CN" altLang="en-US" sz="3200" b="1" spc="200" dirty="0">
              <a:solidFill>
                <a:schemeClr val="accent1"/>
              </a:solidFill>
              <a:uFillTx/>
              <a:latin typeface="微软雅黑 Light" panose="020B0502040204020203" pitchFamily="34" charset="-122"/>
              <a:ea typeface="微软雅黑" panose="020B0503020204020204" charset="-122"/>
            </a:endParaRPr>
          </a:p>
        </p:txBody>
      </p:sp>
      <p:sp>
        <p:nvSpPr>
          <p:cNvPr id="6" name="矩形 5"/>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7" name="矩形 6"/>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3" name="文本框 2"/>
          <p:cNvSpPr txBox="1"/>
          <p:nvPr/>
        </p:nvSpPr>
        <p:spPr>
          <a:xfrm>
            <a:off x="340360" y="1351280"/>
            <a:ext cx="10353675" cy="3692525"/>
          </a:xfrm>
          <a:prstGeom prst="rect">
            <a:avLst/>
          </a:prstGeom>
          <a:noFill/>
        </p:spPr>
        <p:txBody>
          <a:bodyPr wrap="square" rtlCol="0">
            <a:spAutoFit/>
          </a:bodyPr>
          <a:p>
            <a:r>
              <a:rPr lang="zh-CN" altLang="en-US" b="1">
                <a:latin typeface="宋体" panose="02010600030101010101" pitchFamily="2" charset="-122"/>
                <a:ea typeface="宋体" panose="02010600030101010101" pitchFamily="2" charset="-122"/>
              </a:rPr>
              <a:t>定义：</a:t>
            </a:r>
            <a:r>
              <a:rPr lang="zh-CN" altLang="en-US">
                <a:latin typeface="宋体" panose="02010600030101010101" pitchFamily="2" charset="-122"/>
                <a:ea typeface="宋体" panose="02010600030101010101" pitchFamily="2" charset="-122"/>
              </a:rPr>
              <a:t>支持向量机是一类按监督学习方式对数据进行二元分类的广义线性分类器，其决策边界是对学习样本求解的最大边距超平面</a:t>
            </a:r>
            <a:endParaRPr lang="zh-CN" altLang="en-US" b="1">
              <a:latin typeface="宋体" panose="02010600030101010101" pitchFamily="2" charset="-122"/>
              <a:ea typeface="宋体" panose="02010600030101010101" pitchFamily="2" charset="-122"/>
            </a:endParaRPr>
          </a:p>
          <a:p>
            <a:endParaRPr lang="zh-CN" altLang="en-US"/>
          </a:p>
          <a:p>
            <a:r>
              <a:rPr lang="zh-CN" altLang="en-US" b="1">
                <a:latin typeface="宋体" panose="02010600030101010101" pitchFamily="2" charset="-122"/>
                <a:ea typeface="宋体" panose="02010600030101010101" pitchFamily="2" charset="-122"/>
              </a:rPr>
              <a:t>优势：</a:t>
            </a:r>
            <a:r>
              <a:rPr lang="en-US" altLang="zh-CN">
                <a:latin typeface="宋体" panose="02010600030101010101" pitchFamily="2" charset="-122"/>
                <a:ea typeface="宋体" panose="02010600030101010101" pitchFamily="2" charset="-122"/>
              </a:rPr>
              <a:t>1</a:t>
            </a:r>
            <a:r>
              <a:rPr lang="zh-CN" altLang="en-US">
                <a:latin typeface="宋体" panose="02010600030101010101" pitchFamily="2" charset="-122"/>
                <a:ea typeface="宋体" panose="02010600030101010101" pitchFamily="2" charset="-122"/>
              </a:rPr>
              <a:t>）适用于小样本学习</a:t>
            </a:r>
            <a:endParaRPr lang="zh-CN" altLang="en-US">
              <a:latin typeface="宋体" panose="02010600030101010101" pitchFamily="2" charset="-122"/>
              <a:ea typeface="宋体" panose="02010600030101010101" pitchFamily="2" charset="-122"/>
            </a:endParaRPr>
          </a:p>
          <a:p>
            <a:r>
              <a:rPr lang="zh-CN" altLang="en-US">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     2</a:t>
            </a:r>
            <a:r>
              <a:rPr lang="zh-CN" altLang="en-US">
                <a:latin typeface="宋体" panose="02010600030101010101" pitchFamily="2" charset="-122"/>
                <a:ea typeface="宋体" panose="02010600030101010101" pitchFamily="2" charset="-122"/>
              </a:rPr>
              <a:t>）具有较好的鲁棒性</a:t>
            </a:r>
            <a:endParaRPr lang="zh-CN" altLang="en-US">
              <a:latin typeface="宋体" panose="02010600030101010101" pitchFamily="2" charset="-122"/>
              <a:ea typeface="宋体" panose="02010600030101010101" pitchFamily="2" charset="-122"/>
            </a:endParaRPr>
          </a:p>
          <a:p>
            <a:r>
              <a:rPr lang="zh-CN" altLang="en-US">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     3</a:t>
            </a:r>
            <a:r>
              <a:rPr lang="zh-CN" altLang="en-US">
                <a:latin typeface="宋体" panose="02010600030101010101" pitchFamily="2" charset="-122"/>
                <a:ea typeface="宋体" panose="02010600030101010101" pitchFamily="2" charset="-122"/>
              </a:rPr>
              <a:t>）支持向量机学习问题可以表示为凸优化问题，</a:t>
            </a:r>
            <a:endParaRPr lang="zh-CN" altLang="en-US">
              <a:latin typeface="宋体" panose="02010600030101010101" pitchFamily="2" charset="-122"/>
              <a:ea typeface="宋体" panose="02010600030101010101" pitchFamily="2" charset="-122"/>
            </a:endParaRPr>
          </a:p>
          <a:p>
            <a:r>
              <a:rPr lang="zh-CN" altLang="en-US">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        </a:t>
            </a:r>
            <a:r>
              <a:rPr lang="zh-CN" altLang="en-US">
                <a:latin typeface="宋体" panose="02010600030101010101" pitchFamily="2" charset="-122"/>
                <a:ea typeface="宋体" panose="02010600030101010101" pitchFamily="2" charset="-122"/>
              </a:rPr>
              <a:t>可以得到目标函数的全局最优值</a:t>
            </a:r>
            <a:endParaRPr lang="zh-CN" altLang="en-US">
              <a:latin typeface="宋体" panose="02010600030101010101" pitchFamily="2" charset="-122"/>
              <a:ea typeface="宋体" panose="02010600030101010101" pitchFamily="2" charset="-122"/>
            </a:endParaRPr>
          </a:p>
          <a:p>
            <a:endParaRPr lang="zh-CN" altLang="en-US"/>
          </a:p>
          <a:p>
            <a:r>
              <a:rPr lang="zh-CN" altLang="en-US" b="1">
                <a:latin typeface="宋体" panose="02010600030101010101" pitchFamily="2" charset="-122"/>
                <a:ea typeface="宋体" panose="02010600030101010101" pitchFamily="2" charset="-122"/>
              </a:rPr>
              <a:t>劣势：</a:t>
            </a:r>
            <a:r>
              <a:rPr lang="en-US" altLang="zh-CN">
                <a:latin typeface="宋体" panose="02010600030101010101" pitchFamily="2" charset="-122"/>
                <a:ea typeface="宋体" panose="02010600030101010101" pitchFamily="2" charset="-122"/>
              </a:rPr>
              <a:t>1</a:t>
            </a:r>
            <a:r>
              <a:rPr lang="zh-CN" altLang="en-US">
                <a:latin typeface="宋体" panose="02010600030101010101" pitchFamily="2" charset="-122"/>
                <a:ea typeface="宋体" panose="02010600030101010101" pitchFamily="2" charset="-122"/>
              </a:rPr>
              <a:t>）数据量较大时难以训练</a:t>
            </a:r>
            <a:endParaRPr lang="zh-CN" altLang="en-US">
              <a:latin typeface="宋体" panose="02010600030101010101" pitchFamily="2" charset="-122"/>
              <a:ea typeface="宋体" panose="02010600030101010101" pitchFamily="2" charset="-122"/>
            </a:endParaRPr>
          </a:p>
          <a:p>
            <a:r>
              <a:rPr lang="zh-CN" altLang="en-US">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     2</a:t>
            </a:r>
            <a:r>
              <a:rPr lang="zh-CN" altLang="en-US">
                <a:latin typeface="宋体" panose="02010600030101010101" pitchFamily="2" charset="-122"/>
                <a:ea typeface="宋体" panose="02010600030101010101" pitchFamily="2" charset="-122"/>
              </a:rPr>
              <a:t>）无法解决多分类问题</a:t>
            </a:r>
            <a:endParaRPr lang="zh-CN" altLang="en-US">
              <a:latin typeface="宋体" panose="02010600030101010101" pitchFamily="2" charset="-122"/>
              <a:ea typeface="宋体" panose="02010600030101010101" pitchFamily="2" charset="-122"/>
            </a:endParaRPr>
          </a:p>
          <a:p>
            <a:endParaRPr lang="zh-CN" altLang="en-US" b="1">
              <a:latin typeface="宋体" panose="02010600030101010101" pitchFamily="2" charset="-122"/>
              <a:ea typeface="宋体" panose="02010600030101010101" pitchFamily="2" charset="-122"/>
            </a:endParaRPr>
          </a:p>
          <a:p>
            <a:r>
              <a:rPr lang="zh-CN" altLang="en-US" b="1">
                <a:latin typeface="宋体" panose="02010600030101010101" pitchFamily="2" charset="-122"/>
                <a:ea typeface="宋体" panose="02010600030101010101" pitchFamily="2" charset="-122"/>
                <a:sym typeface="+mn-ea"/>
              </a:rPr>
              <a:t>应用场景：</a:t>
            </a:r>
            <a:r>
              <a:rPr lang="en-US" altLang="zh-CN">
                <a:latin typeface="宋体" panose="02010600030101010101" pitchFamily="2" charset="-122"/>
                <a:ea typeface="宋体" panose="02010600030101010101" pitchFamily="2" charset="-122"/>
                <a:sym typeface="+mn-ea"/>
              </a:rPr>
              <a:t>1</a:t>
            </a:r>
            <a:r>
              <a:rPr lang="zh-CN" altLang="en-US">
                <a:latin typeface="宋体" panose="02010600030101010101" pitchFamily="2" charset="-122"/>
                <a:ea typeface="宋体" panose="02010600030101010101" pitchFamily="2" charset="-122"/>
                <a:sym typeface="+mn-ea"/>
              </a:rPr>
              <a:t>）字符识别</a:t>
            </a:r>
            <a:endParaRPr lang="zh-CN" altLang="en-US">
              <a:latin typeface="宋体" panose="02010600030101010101" pitchFamily="2" charset="-122"/>
              <a:ea typeface="宋体" panose="02010600030101010101" pitchFamily="2" charset="-122"/>
              <a:sym typeface="+mn-ea"/>
            </a:endParaRPr>
          </a:p>
          <a:p>
            <a:r>
              <a:rPr lang="en-US" altLang="zh-CN">
                <a:latin typeface="宋体" panose="02010600030101010101" pitchFamily="2" charset="-122"/>
                <a:ea typeface="宋体" panose="02010600030101010101" pitchFamily="2" charset="-122"/>
                <a:sym typeface="+mn-ea"/>
              </a:rPr>
              <a:t>          2</a:t>
            </a:r>
            <a:r>
              <a:rPr lang="zh-CN" altLang="en-US">
                <a:latin typeface="宋体" panose="02010600030101010101" pitchFamily="2" charset="-122"/>
                <a:ea typeface="宋体" panose="02010600030101010101" pitchFamily="2" charset="-122"/>
                <a:sym typeface="+mn-ea"/>
              </a:rPr>
              <a:t>）文本分类</a:t>
            </a:r>
            <a:r>
              <a:rPr lang="en-US" altLang="zh-CN">
                <a:latin typeface="宋体" panose="02010600030101010101" pitchFamily="2" charset="-122"/>
                <a:ea typeface="宋体" panose="02010600030101010101" pitchFamily="2" charset="-122"/>
                <a:sym typeface="+mn-ea"/>
              </a:rPr>
              <a:t>...</a:t>
            </a:r>
            <a:endParaRPr lang="en-US" altLang="zh-CN">
              <a:latin typeface="宋体" panose="02010600030101010101" pitchFamily="2" charset="-122"/>
              <a:ea typeface="宋体" panose="02010600030101010101" pitchFamily="2" charset="-122"/>
              <a:sym typeface="+mn-ea"/>
            </a:endParaRPr>
          </a:p>
        </p:txBody>
      </p:sp>
      <p:pic>
        <p:nvPicPr>
          <p:cNvPr id="5" name="图片 4" descr="支持向量机"/>
          <p:cNvPicPr>
            <a:picLocks noChangeAspect="1"/>
          </p:cNvPicPr>
          <p:nvPr/>
        </p:nvPicPr>
        <p:blipFill>
          <a:blip r:embed="rId1"/>
          <a:stretch>
            <a:fillRect/>
          </a:stretch>
        </p:blipFill>
        <p:spPr>
          <a:xfrm>
            <a:off x="6024880" y="2519680"/>
            <a:ext cx="5920105" cy="337502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035" y="286385"/>
            <a:ext cx="4573905" cy="593090"/>
          </a:xfrm>
        </p:spPr>
        <p:txBody>
          <a:bodyPr>
            <a:normAutofit fontScale="90000"/>
          </a:bodyPr>
          <a:lstStyle/>
          <a:p>
            <a:r>
              <a:rPr lang="zh-CN" altLang="en-US" sz="3200" b="1" spc="200" dirty="0">
                <a:solidFill>
                  <a:schemeClr val="accent1"/>
                </a:solidFill>
                <a:uFillTx/>
                <a:latin typeface="微软雅黑 Light" panose="020B0502040204020203" pitchFamily="34" charset="-122"/>
                <a:ea typeface="微软雅黑" panose="020B0503020204020204" charset="-122"/>
              </a:rPr>
              <a:t>机器学习：贝叶斯分类器</a:t>
            </a:r>
            <a:endParaRPr lang="zh-CN" altLang="en-US" sz="3200" b="1" spc="200" dirty="0">
              <a:solidFill>
                <a:schemeClr val="accent1"/>
              </a:solidFill>
              <a:uFillTx/>
              <a:latin typeface="微软雅黑 Light" panose="020B0502040204020203" pitchFamily="34" charset="-122"/>
              <a:ea typeface="微软雅黑" panose="020B0503020204020204" charset="-122"/>
            </a:endParaRPr>
          </a:p>
        </p:txBody>
      </p:sp>
      <p:sp>
        <p:nvSpPr>
          <p:cNvPr id="6" name="矩形 5"/>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7" name="矩形 6"/>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3" name="文本框 2"/>
          <p:cNvSpPr txBox="1"/>
          <p:nvPr/>
        </p:nvSpPr>
        <p:spPr>
          <a:xfrm>
            <a:off x="340360" y="1351280"/>
            <a:ext cx="10353675" cy="3692525"/>
          </a:xfrm>
          <a:prstGeom prst="rect">
            <a:avLst/>
          </a:prstGeom>
          <a:noFill/>
        </p:spPr>
        <p:txBody>
          <a:bodyPr wrap="square" rtlCol="0">
            <a:spAutoFit/>
          </a:bodyPr>
          <a:p>
            <a:r>
              <a:rPr lang="zh-CN" altLang="en-US" b="1">
                <a:latin typeface="宋体" panose="02010600030101010101" pitchFamily="2" charset="-122"/>
                <a:ea typeface="宋体" panose="02010600030101010101" pitchFamily="2" charset="-122"/>
              </a:rPr>
              <a:t>定义：</a:t>
            </a:r>
            <a:r>
              <a:rPr lang="zh-CN" altLang="en-US">
                <a:latin typeface="宋体" panose="02010600030101010101" pitchFamily="2" charset="-122"/>
                <a:ea typeface="宋体" panose="02010600030101010101" pitchFamily="2" charset="-122"/>
              </a:rPr>
              <a:t>贝叶斯分类器是各种分类器中分类错误概率最小或者在预先给定代价的情况下平均风险最小的分类器。它的设计方法是一种最基本的统计分类方法。其分类原理是通过某对象的先验概率，利用贝叶斯公式计算出其后验概率，即该对象属于某一类的概率，选择具有最大后验概率的类作为该对象所属的类。</a:t>
            </a:r>
            <a:endParaRPr lang="zh-CN" altLang="en-US">
              <a:latin typeface="宋体" panose="02010600030101010101" pitchFamily="2" charset="-122"/>
              <a:ea typeface="宋体" panose="02010600030101010101" pitchFamily="2" charset="-122"/>
            </a:endParaRPr>
          </a:p>
          <a:p>
            <a:endParaRPr lang="zh-CN" altLang="en-US"/>
          </a:p>
          <a:p>
            <a:r>
              <a:rPr lang="zh-CN" altLang="en-US" b="1">
                <a:latin typeface="宋体" panose="02010600030101010101" pitchFamily="2" charset="-122"/>
                <a:ea typeface="宋体" panose="02010600030101010101" pitchFamily="2" charset="-122"/>
              </a:rPr>
              <a:t>优势：</a:t>
            </a:r>
            <a:r>
              <a:rPr lang="en-US" altLang="zh-CN">
                <a:latin typeface="宋体" panose="02010600030101010101" pitchFamily="2" charset="-122"/>
                <a:ea typeface="宋体" panose="02010600030101010101" pitchFamily="2" charset="-122"/>
              </a:rPr>
              <a:t>1</a:t>
            </a:r>
            <a:r>
              <a:rPr lang="zh-CN" altLang="en-US">
                <a:latin typeface="宋体" panose="02010600030101010101" pitchFamily="2" charset="-122"/>
                <a:ea typeface="宋体" panose="02010600030101010101" pitchFamily="2" charset="-122"/>
              </a:rPr>
              <a:t>）具有稳定的分类效率</a:t>
            </a:r>
            <a:endParaRPr lang="zh-CN" altLang="en-US">
              <a:latin typeface="宋体" panose="02010600030101010101" pitchFamily="2" charset="-122"/>
              <a:ea typeface="宋体" panose="02010600030101010101" pitchFamily="2" charset="-122"/>
            </a:endParaRPr>
          </a:p>
          <a:p>
            <a:r>
              <a:rPr lang="zh-CN" altLang="en-US">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     2</a:t>
            </a:r>
            <a:r>
              <a:rPr lang="zh-CN" altLang="en-US">
                <a:latin typeface="宋体" panose="02010600030101010101" pitchFamily="2" charset="-122"/>
                <a:ea typeface="宋体" panose="02010600030101010101" pitchFamily="2" charset="-122"/>
              </a:rPr>
              <a:t>）对小规模数据表现较好，并且对缺失数据不敏感</a:t>
            </a:r>
            <a:endParaRPr lang="zh-CN" altLang="en-US">
              <a:latin typeface="宋体" panose="02010600030101010101" pitchFamily="2" charset="-122"/>
              <a:ea typeface="宋体" panose="02010600030101010101" pitchFamily="2" charset="-122"/>
            </a:endParaRPr>
          </a:p>
          <a:p>
            <a:endParaRPr lang="zh-CN" altLang="en-US"/>
          </a:p>
          <a:p>
            <a:r>
              <a:rPr lang="zh-CN" altLang="en-US" b="1">
                <a:latin typeface="宋体" panose="02010600030101010101" pitchFamily="2" charset="-122"/>
                <a:ea typeface="宋体" panose="02010600030101010101" pitchFamily="2" charset="-122"/>
              </a:rPr>
              <a:t>劣势：</a:t>
            </a:r>
            <a:r>
              <a:rPr lang="zh-CN" altLang="en-US">
                <a:latin typeface="宋体" panose="02010600030101010101" pitchFamily="2" charset="-122"/>
                <a:ea typeface="宋体" panose="02010600030101010101" pitchFamily="2" charset="-122"/>
              </a:rPr>
              <a:t>需要知道先验概率，有时可能因假设的先验模型不够准确而导致预测效果不佳</a:t>
            </a:r>
            <a:endParaRPr lang="zh-CN" altLang="en-US">
              <a:latin typeface="宋体" panose="02010600030101010101" pitchFamily="2" charset="-122"/>
              <a:ea typeface="宋体" panose="02010600030101010101" pitchFamily="2" charset="-122"/>
            </a:endParaRPr>
          </a:p>
          <a:p>
            <a:endParaRPr lang="zh-CN" altLang="en-US">
              <a:latin typeface="宋体" panose="02010600030101010101" pitchFamily="2" charset="-122"/>
              <a:ea typeface="宋体" panose="02010600030101010101" pitchFamily="2" charset="-122"/>
            </a:endParaRPr>
          </a:p>
          <a:p>
            <a:r>
              <a:rPr lang="zh-CN" altLang="en-US" b="1">
                <a:latin typeface="宋体" panose="02010600030101010101" pitchFamily="2" charset="-122"/>
                <a:ea typeface="宋体" panose="02010600030101010101" pitchFamily="2" charset="-122"/>
              </a:rPr>
              <a:t>应用场景：</a:t>
            </a:r>
            <a:r>
              <a:rPr lang="en-US" altLang="zh-CN">
                <a:latin typeface="宋体" panose="02010600030101010101" pitchFamily="2" charset="-122"/>
                <a:ea typeface="宋体" panose="02010600030101010101" pitchFamily="2" charset="-122"/>
              </a:rPr>
              <a:t>1</a:t>
            </a:r>
            <a:r>
              <a:rPr lang="zh-CN" altLang="en-US">
                <a:latin typeface="宋体" panose="02010600030101010101" pitchFamily="2" charset="-122"/>
                <a:ea typeface="宋体" panose="02010600030101010101" pitchFamily="2" charset="-122"/>
              </a:rPr>
              <a:t>）文本分类</a:t>
            </a:r>
            <a:endParaRPr lang="zh-CN" altLang="en-US">
              <a:latin typeface="宋体" panose="02010600030101010101" pitchFamily="2" charset="-122"/>
              <a:ea typeface="宋体" panose="02010600030101010101" pitchFamily="2" charset="-122"/>
            </a:endParaRPr>
          </a:p>
          <a:p>
            <a:r>
              <a:rPr lang="zh-CN" altLang="en-US">
                <a:latin typeface="宋体" panose="02010600030101010101" pitchFamily="2" charset="-122"/>
                <a:ea typeface="宋体" panose="02010600030101010101" pitchFamily="2" charset="-122"/>
              </a:rPr>
              <a:t> </a:t>
            </a:r>
            <a:r>
              <a:rPr lang="en-US" altLang="zh-CN">
                <a:latin typeface="宋体" panose="02010600030101010101" pitchFamily="2" charset="-122"/>
                <a:ea typeface="宋体" panose="02010600030101010101" pitchFamily="2" charset="-122"/>
              </a:rPr>
              <a:t>         2</a:t>
            </a:r>
            <a:r>
              <a:rPr lang="zh-CN" altLang="en-US">
                <a:latin typeface="宋体" panose="02010600030101010101" pitchFamily="2" charset="-122"/>
                <a:ea typeface="宋体" panose="02010600030101010101" pitchFamily="2" charset="-122"/>
              </a:rPr>
              <a:t>）情感判别</a:t>
            </a:r>
            <a:r>
              <a:rPr lang="en-US" altLang="zh-CN">
                <a:latin typeface="宋体" panose="02010600030101010101" pitchFamily="2" charset="-122"/>
                <a:ea typeface="宋体" panose="02010600030101010101" pitchFamily="2" charset="-122"/>
              </a:rPr>
              <a:t>...</a:t>
            </a:r>
            <a:endParaRPr lang="zh-CN" altLang="en-US">
              <a:latin typeface="宋体" panose="02010600030101010101" pitchFamily="2" charset="-122"/>
              <a:ea typeface="宋体" panose="02010600030101010101" pitchFamily="2" charset="-122"/>
            </a:endParaRPr>
          </a:p>
          <a:p>
            <a:endParaRPr lang="zh-CN" altLang="en-US">
              <a:latin typeface="宋体" panose="02010600030101010101" pitchFamily="2" charset="-122"/>
              <a:ea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035" y="286385"/>
            <a:ext cx="4161790" cy="593090"/>
          </a:xfrm>
        </p:spPr>
        <p:txBody>
          <a:bodyPr>
            <a:normAutofit fontScale="90000"/>
          </a:bodyPr>
          <a:lstStyle/>
          <a:p>
            <a:r>
              <a:rPr lang="zh-CN" altLang="en-US" sz="3200" b="1" spc="200" dirty="0">
                <a:solidFill>
                  <a:schemeClr val="accent1"/>
                </a:solidFill>
                <a:uFillTx/>
                <a:latin typeface="微软雅黑 Light" panose="020B0502040204020203" pitchFamily="34" charset="-122"/>
                <a:ea typeface="微软雅黑" panose="020B0503020204020204" charset="-122"/>
              </a:rPr>
              <a:t>机器学习：强化学习</a:t>
            </a:r>
            <a:endParaRPr lang="zh-CN" altLang="en-US" sz="3200" b="1" spc="200" dirty="0">
              <a:solidFill>
                <a:schemeClr val="accent1"/>
              </a:solidFill>
              <a:uFillTx/>
              <a:latin typeface="微软雅黑 Light" panose="020B0502040204020203" pitchFamily="34" charset="-122"/>
              <a:ea typeface="微软雅黑" panose="020B0503020204020204" charset="-122"/>
            </a:endParaRPr>
          </a:p>
        </p:txBody>
      </p:sp>
      <p:sp>
        <p:nvSpPr>
          <p:cNvPr id="6" name="矩形 5"/>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7" name="矩形 6"/>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3" name="文本框 2"/>
          <p:cNvSpPr txBox="1"/>
          <p:nvPr/>
        </p:nvSpPr>
        <p:spPr>
          <a:xfrm>
            <a:off x="340360" y="1351280"/>
            <a:ext cx="10353675" cy="3138170"/>
          </a:xfrm>
          <a:prstGeom prst="rect">
            <a:avLst/>
          </a:prstGeom>
          <a:noFill/>
        </p:spPr>
        <p:txBody>
          <a:bodyPr wrap="square" rtlCol="0">
            <a:spAutoFit/>
          </a:bodyPr>
          <a:p>
            <a:r>
              <a:rPr lang="zh-CN" altLang="en-US" b="1">
                <a:latin typeface="宋体" panose="02010600030101010101" pitchFamily="2" charset="-122"/>
                <a:ea typeface="宋体" panose="02010600030101010101" pitchFamily="2" charset="-122"/>
              </a:rPr>
              <a:t>定义：</a:t>
            </a:r>
            <a:r>
              <a:rPr lang="zh-CN" altLang="en-US">
                <a:latin typeface="宋体" panose="02010600030101010101" pitchFamily="2" charset="-122"/>
                <a:ea typeface="宋体" panose="02010600030101010101" pitchFamily="2" charset="-122"/>
              </a:rPr>
              <a:t>强化学习，又称再励学习、评价学习或增强学习，是机器学习的范式和方法论之一，用于描述和解决智能体在与环境的交互过程中通过学习策略以达成回报最大化或实现特定目标的问题</a:t>
            </a:r>
            <a:endParaRPr lang="zh-CN" altLang="en-US" b="1">
              <a:latin typeface="宋体" panose="02010600030101010101" pitchFamily="2" charset="-122"/>
              <a:ea typeface="宋体" panose="02010600030101010101" pitchFamily="2" charset="-122"/>
            </a:endParaRPr>
          </a:p>
          <a:p>
            <a:endParaRPr lang="zh-CN" altLang="en-US"/>
          </a:p>
          <a:p>
            <a:r>
              <a:rPr lang="zh-CN" altLang="en-US" b="1">
                <a:latin typeface="宋体" panose="02010600030101010101" pitchFamily="2" charset="-122"/>
                <a:ea typeface="宋体" panose="02010600030101010101" pitchFamily="2" charset="-122"/>
              </a:rPr>
              <a:t>优势：</a:t>
            </a:r>
            <a:r>
              <a:rPr lang="en-US" altLang="zh-CN">
                <a:latin typeface="宋体" panose="02010600030101010101" pitchFamily="2" charset="-122"/>
                <a:ea typeface="宋体" panose="02010600030101010101" pitchFamily="2" charset="-122"/>
              </a:rPr>
              <a:t>1</a:t>
            </a:r>
            <a:r>
              <a:rPr lang="zh-CN" altLang="en-US">
                <a:latin typeface="宋体" panose="02010600030101010101" pitchFamily="2" charset="-122"/>
                <a:ea typeface="宋体" panose="02010600030101010101" pitchFamily="2" charset="-122"/>
              </a:rPr>
              <a:t>）可以准确解决高阶复杂问题</a:t>
            </a:r>
            <a:endParaRPr lang="zh-CN" altLang="en-US">
              <a:latin typeface="宋体" panose="02010600030101010101" pitchFamily="2" charset="-122"/>
              <a:ea typeface="宋体" panose="02010600030101010101" pitchFamily="2" charset="-122"/>
            </a:endParaRPr>
          </a:p>
          <a:p>
            <a:r>
              <a:rPr lang="en-US" altLang="zh-CN">
                <a:latin typeface="宋体" panose="02010600030101010101" pitchFamily="2" charset="-122"/>
                <a:ea typeface="宋体" panose="02010600030101010101" pitchFamily="2" charset="-122"/>
              </a:rPr>
              <a:t>      2</a:t>
            </a:r>
            <a:r>
              <a:rPr lang="zh-CN" altLang="en-US">
                <a:latin typeface="宋体" panose="02010600030101010101" pitchFamily="2" charset="-122"/>
                <a:ea typeface="宋体" panose="02010600030101010101" pitchFamily="2" charset="-122"/>
              </a:rPr>
              <a:t>）可以构建广泛问题的解决模型</a:t>
            </a:r>
            <a:endParaRPr lang="zh-CN" altLang="en-US">
              <a:latin typeface="宋体" panose="02010600030101010101" pitchFamily="2" charset="-122"/>
              <a:ea typeface="宋体" panose="02010600030101010101" pitchFamily="2" charset="-122"/>
            </a:endParaRPr>
          </a:p>
          <a:p>
            <a:endParaRPr lang="zh-CN" altLang="en-US"/>
          </a:p>
          <a:p>
            <a:r>
              <a:rPr lang="zh-CN" altLang="en-US" b="1">
                <a:latin typeface="宋体" panose="02010600030101010101" pitchFamily="2" charset="-122"/>
                <a:ea typeface="宋体" panose="02010600030101010101" pitchFamily="2" charset="-122"/>
              </a:rPr>
              <a:t>劣势：</a:t>
            </a:r>
            <a:r>
              <a:rPr lang="en-US" altLang="zh-CN">
                <a:latin typeface="宋体" panose="02010600030101010101" pitchFamily="2" charset="-122"/>
                <a:ea typeface="宋体" panose="02010600030101010101" pitchFamily="2" charset="-122"/>
              </a:rPr>
              <a:t>1</a:t>
            </a:r>
            <a:r>
              <a:rPr lang="zh-CN" altLang="en-US">
                <a:latin typeface="宋体" panose="02010600030101010101" pitchFamily="2" charset="-122"/>
                <a:ea typeface="宋体" panose="02010600030101010101" pitchFamily="2" charset="-122"/>
              </a:rPr>
              <a:t>）需要大量的训练数据才能得到准确的结果</a:t>
            </a:r>
            <a:endParaRPr lang="zh-CN" altLang="en-US">
              <a:latin typeface="宋体" panose="02010600030101010101" pitchFamily="2" charset="-122"/>
              <a:ea typeface="宋体" panose="02010600030101010101" pitchFamily="2" charset="-122"/>
            </a:endParaRPr>
          </a:p>
          <a:p>
            <a:r>
              <a:rPr lang="en-US" altLang="zh-CN">
                <a:latin typeface="宋体" panose="02010600030101010101" pitchFamily="2" charset="-122"/>
                <a:ea typeface="宋体" panose="02010600030101010101" pitchFamily="2" charset="-122"/>
              </a:rPr>
              <a:t>      2</a:t>
            </a:r>
            <a:r>
              <a:rPr lang="zh-CN" altLang="en-US">
                <a:latin typeface="宋体" panose="02010600030101010101" pitchFamily="2" charset="-122"/>
                <a:ea typeface="宋体" panose="02010600030101010101" pitchFamily="2" charset="-122"/>
              </a:rPr>
              <a:t>）过度训练会导致模型状态过载</a:t>
            </a:r>
            <a:endParaRPr lang="zh-CN" altLang="en-US">
              <a:latin typeface="宋体" panose="02010600030101010101" pitchFamily="2" charset="-122"/>
              <a:ea typeface="宋体" panose="02010600030101010101" pitchFamily="2" charset="-122"/>
            </a:endParaRPr>
          </a:p>
          <a:p>
            <a:endParaRPr lang="zh-CN" altLang="en-US">
              <a:latin typeface="宋体" panose="02010600030101010101" pitchFamily="2" charset="-122"/>
              <a:ea typeface="宋体" panose="02010600030101010101" pitchFamily="2" charset="-122"/>
            </a:endParaRPr>
          </a:p>
          <a:p>
            <a:r>
              <a:rPr lang="zh-CN" altLang="en-US" b="1">
                <a:latin typeface="宋体" panose="02010600030101010101" pitchFamily="2" charset="-122"/>
                <a:ea typeface="宋体" panose="02010600030101010101" pitchFamily="2" charset="-122"/>
              </a:rPr>
              <a:t>应用场景：</a:t>
            </a:r>
            <a:r>
              <a:rPr lang="en-US" altLang="zh-CN">
                <a:latin typeface="宋体" panose="02010600030101010101" pitchFamily="2" charset="-122"/>
                <a:ea typeface="宋体" panose="02010600030101010101" pitchFamily="2" charset="-122"/>
              </a:rPr>
              <a:t>1</a:t>
            </a:r>
            <a:r>
              <a:rPr lang="zh-CN" altLang="en-US">
                <a:latin typeface="宋体" panose="02010600030101010101" pitchFamily="2" charset="-122"/>
                <a:ea typeface="宋体" panose="02010600030101010101" pitchFamily="2" charset="-122"/>
              </a:rPr>
              <a:t>）机器人控制</a:t>
            </a:r>
            <a:endParaRPr lang="zh-CN" altLang="en-US">
              <a:latin typeface="宋体" panose="02010600030101010101" pitchFamily="2" charset="-122"/>
              <a:ea typeface="宋体" panose="02010600030101010101" pitchFamily="2" charset="-122"/>
            </a:endParaRPr>
          </a:p>
          <a:p>
            <a:r>
              <a:rPr lang="en-US" altLang="zh-CN">
                <a:latin typeface="宋体" panose="02010600030101010101" pitchFamily="2" charset="-122"/>
                <a:ea typeface="宋体" panose="02010600030101010101" pitchFamily="2" charset="-122"/>
              </a:rPr>
              <a:t>          2</a:t>
            </a:r>
            <a:r>
              <a:rPr lang="zh-CN" altLang="en-US">
                <a:latin typeface="宋体" panose="02010600030101010101" pitchFamily="2" charset="-122"/>
                <a:ea typeface="宋体" panose="02010600030101010101" pitchFamily="2" charset="-122"/>
              </a:rPr>
              <a:t>）游戏领域</a:t>
            </a:r>
            <a:r>
              <a:rPr lang="en-US" altLang="zh-CN">
                <a:latin typeface="宋体" panose="02010600030101010101" pitchFamily="2" charset="-122"/>
                <a:ea typeface="宋体" panose="02010600030101010101" pitchFamily="2" charset="-122"/>
              </a:rPr>
              <a:t>...</a:t>
            </a:r>
            <a:endParaRPr lang="en-US" altLang="zh-CN">
              <a:latin typeface="宋体" panose="02010600030101010101" pitchFamily="2" charset="-122"/>
              <a:ea typeface="宋体" panose="02010600030101010101" pitchFamily="2" charset="-122"/>
            </a:endParaRPr>
          </a:p>
        </p:txBody>
      </p:sp>
      <p:pic>
        <p:nvPicPr>
          <p:cNvPr id="4" name="图片 3" descr="强化学习"/>
          <p:cNvPicPr>
            <a:picLocks noChangeAspect="1"/>
          </p:cNvPicPr>
          <p:nvPr>
            <p:custDataLst>
              <p:tags r:id="rId1"/>
            </p:custDataLst>
          </p:nvPr>
        </p:nvPicPr>
        <p:blipFill>
          <a:blip r:embed="rId2"/>
          <a:stretch>
            <a:fillRect/>
          </a:stretch>
        </p:blipFill>
        <p:spPr>
          <a:xfrm>
            <a:off x="6304915" y="2397125"/>
            <a:ext cx="5318760" cy="378714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035" y="286385"/>
            <a:ext cx="4620260" cy="593090"/>
          </a:xfrm>
        </p:spPr>
        <p:txBody>
          <a:bodyPr>
            <a:normAutofit fontScale="90000"/>
          </a:bodyPr>
          <a:lstStyle/>
          <a:p>
            <a:r>
              <a:rPr lang="zh-CN" altLang="en-US" sz="3200" b="1" spc="200" dirty="0">
                <a:solidFill>
                  <a:schemeClr val="accent1"/>
                </a:solidFill>
                <a:uFillTx/>
                <a:latin typeface="微软雅黑 Light" panose="020B0502040204020203" pitchFamily="34" charset="-122"/>
                <a:ea typeface="微软雅黑" panose="020B0503020204020204" charset="-122"/>
              </a:rPr>
              <a:t>机器学习案例：人脸识别</a:t>
            </a:r>
            <a:endParaRPr lang="zh-CN" altLang="en-US" sz="3200" b="1" spc="200" dirty="0">
              <a:solidFill>
                <a:schemeClr val="accent1"/>
              </a:solidFill>
              <a:uFillTx/>
              <a:latin typeface="微软雅黑 Light" panose="020B0502040204020203" pitchFamily="34" charset="-122"/>
              <a:ea typeface="微软雅黑" panose="020B0503020204020204" charset="-122"/>
            </a:endParaRPr>
          </a:p>
        </p:txBody>
      </p:sp>
      <p:sp>
        <p:nvSpPr>
          <p:cNvPr id="6" name="矩形 5"/>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7" name="矩形 6"/>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3" name="文本框 2"/>
          <p:cNvSpPr txBox="1"/>
          <p:nvPr/>
        </p:nvSpPr>
        <p:spPr>
          <a:xfrm>
            <a:off x="301625" y="1250315"/>
            <a:ext cx="7950200" cy="460375"/>
          </a:xfrm>
          <a:prstGeom prst="rect">
            <a:avLst/>
          </a:prstGeom>
          <a:noFill/>
        </p:spPr>
        <p:txBody>
          <a:bodyPr wrap="square" rtlCol="0">
            <a:spAutoFit/>
          </a:bodyPr>
          <a:p>
            <a:r>
              <a:rPr lang="zh-CN" altLang="en-US" sz="2400" b="1">
                <a:latin typeface="宋体" panose="02010600030101010101" pitchFamily="2" charset="-122"/>
                <a:ea typeface="宋体" panose="02010600030101010101" pitchFamily="2" charset="-122"/>
                <a:cs typeface="宋体" panose="02010600030101010101" pitchFamily="2" charset="-122"/>
              </a:rPr>
              <a:t>第一步：人脸检测 （从全身照中提取出人脸部分）</a:t>
            </a:r>
            <a:endParaRPr lang="zh-CN" altLang="en-US" sz="2400"/>
          </a:p>
        </p:txBody>
      </p:sp>
      <p:pic>
        <p:nvPicPr>
          <p:cNvPr id="4" name="图片 3" descr="人脸"/>
          <p:cNvPicPr>
            <a:picLocks noChangeAspect="1"/>
          </p:cNvPicPr>
          <p:nvPr/>
        </p:nvPicPr>
        <p:blipFill>
          <a:blip r:embed="rId1"/>
          <a:stretch>
            <a:fillRect/>
          </a:stretch>
        </p:blipFill>
        <p:spPr>
          <a:xfrm>
            <a:off x="2398395" y="2389505"/>
            <a:ext cx="2381250" cy="2381250"/>
          </a:xfrm>
          <a:prstGeom prst="rect">
            <a:avLst/>
          </a:prstGeom>
        </p:spPr>
      </p:pic>
      <p:sp>
        <p:nvSpPr>
          <p:cNvPr id="5" name="矩形 4"/>
          <p:cNvSpPr/>
          <p:nvPr/>
        </p:nvSpPr>
        <p:spPr>
          <a:xfrm>
            <a:off x="3011170" y="2448560"/>
            <a:ext cx="1661160" cy="1621155"/>
          </a:xfrm>
          <a:prstGeom prst="rect">
            <a:avLst/>
          </a:prstGeom>
          <a:noFill/>
          <a:ln w="28575">
            <a:solidFill>
              <a:srgbClr val="0070C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右箭头 9"/>
          <p:cNvSpPr/>
          <p:nvPr/>
        </p:nvSpPr>
        <p:spPr>
          <a:xfrm>
            <a:off x="5224145" y="3154680"/>
            <a:ext cx="1744345" cy="6470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11" name="图片 10" descr="人脸 - 副本"/>
          <p:cNvPicPr>
            <a:picLocks noChangeAspect="1"/>
          </p:cNvPicPr>
          <p:nvPr/>
        </p:nvPicPr>
        <p:blipFill>
          <a:blip r:embed="rId2"/>
          <a:stretch>
            <a:fillRect/>
          </a:stretch>
        </p:blipFill>
        <p:spPr>
          <a:xfrm>
            <a:off x="7336155" y="2668905"/>
            <a:ext cx="1724025" cy="1619250"/>
          </a:xfrm>
          <a:prstGeom prst="rect">
            <a:avLst/>
          </a:prstGeom>
        </p:spPr>
      </p:pic>
      <p:sp>
        <p:nvSpPr>
          <p:cNvPr id="12" name="文本框 11"/>
          <p:cNvSpPr txBox="1"/>
          <p:nvPr/>
        </p:nvSpPr>
        <p:spPr>
          <a:xfrm>
            <a:off x="1894205" y="5246370"/>
            <a:ext cx="8104505" cy="1445260"/>
          </a:xfrm>
          <a:prstGeom prst="rect">
            <a:avLst/>
          </a:prstGeom>
          <a:noFill/>
        </p:spPr>
        <p:txBody>
          <a:bodyPr wrap="square" rtlCol="0">
            <a:spAutoFit/>
          </a:bodyPr>
          <a:p>
            <a:r>
              <a:rPr lang="zh-CN" altLang="en-US" sz="2000" b="1">
                <a:latin typeface="宋体" panose="02010600030101010101" pitchFamily="2" charset="-122"/>
                <a:ea typeface="宋体" panose="02010600030101010101" pitchFamily="2" charset="-122"/>
                <a:cs typeface="宋体" panose="02010600030101010101" pitchFamily="2" charset="-122"/>
              </a:rPr>
              <a:t>实现方法：目标检测网络</a:t>
            </a:r>
            <a:endParaRPr lang="zh-CN" altLang="en-US" sz="2000" b="1">
              <a:latin typeface="宋体" panose="02010600030101010101" pitchFamily="2" charset="-122"/>
              <a:ea typeface="宋体" panose="02010600030101010101" pitchFamily="2" charset="-122"/>
              <a:cs typeface="宋体" panose="02010600030101010101" pitchFamily="2" charset="-122"/>
            </a:endParaRPr>
          </a:p>
          <a:p>
            <a:pPr>
              <a:lnSpc>
                <a:spcPct val="40000"/>
              </a:lnSpc>
            </a:pPr>
            <a:endParaRPr lang="zh-CN" altLang="en-US" sz="2000" b="1">
              <a:latin typeface="宋体" panose="02010600030101010101" pitchFamily="2" charset="-122"/>
              <a:ea typeface="宋体" panose="02010600030101010101" pitchFamily="2" charset="-122"/>
              <a:cs typeface="宋体" panose="02010600030101010101" pitchFamily="2" charset="-122"/>
            </a:endParaRPr>
          </a:p>
          <a:p>
            <a:r>
              <a:rPr lang="zh-CN" altLang="en-US" sz="2000" b="1">
                <a:latin typeface="宋体" panose="02010600030101010101" pitchFamily="2" charset="-122"/>
                <a:ea typeface="宋体" panose="02010600030101010101" pitchFamily="2" charset="-122"/>
                <a:cs typeface="宋体" panose="02010600030101010101" pitchFamily="2" charset="-122"/>
              </a:rPr>
              <a:t>将图片与人为标注好的目标框数据（目标框中心点的横坐标与纵坐标以及目标框的长度和宽度）输入至目标检测网络，</a:t>
            </a:r>
            <a:r>
              <a:rPr lang="zh-CN" altLang="en-US" sz="2000" b="1">
                <a:latin typeface="宋体" panose="02010600030101010101" pitchFamily="2" charset="-122"/>
                <a:ea typeface="宋体" panose="02010600030101010101" pitchFamily="2" charset="-122"/>
                <a:cs typeface="宋体" panose="02010600030101010101" pitchFamily="2" charset="-122"/>
                <a:sym typeface="+mn-ea"/>
              </a:rPr>
              <a:t>通过损失函数梯度反向传播进行训练</a:t>
            </a:r>
            <a:endParaRPr lang="zh-CN" altLang="en-US" sz="2000" b="1">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035" y="286385"/>
            <a:ext cx="4620260" cy="593090"/>
          </a:xfrm>
        </p:spPr>
        <p:txBody>
          <a:bodyPr>
            <a:normAutofit fontScale="90000"/>
          </a:bodyPr>
          <a:lstStyle/>
          <a:p>
            <a:r>
              <a:rPr lang="zh-CN" altLang="en-US" sz="3200" b="1" spc="200" dirty="0">
                <a:solidFill>
                  <a:schemeClr val="accent1"/>
                </a:solidFill>
                <a:uFillTx/>
                <a:latin typeface="微软雅黑 Light" panose="020B0502040204020203" pitchFamily="34" charset="-122"/>
                <a:ea typeface="微软雅黑" panose="020B0503020204020204" charset="-122"/>
              </a:rPr>
              <a:t>机器学习案例：人脸识别</a:t>
            </a:r>
            <a:endParaRPr lang="zh-CN" altLang="en-US" sz="3200" b="1" spc="200" dirty="0">
              <a:solidFill>
                <a:schemeClr val="accent1"/>
              </a:solidFill>
              <a:uFillTx/>
              <a:latin typeface="微软雅黑 Light" panose="020B0502040204020203" pitchFamily="34" charset="-122"/>
              <a:ea typeface="微软雅黑" panose="020B0503020204020204" charset="-122"/>
            </a:endParaRPr>
          </a:p>
        </p:txBody>
      </p:sp>
      <p:sp>
        <p:nvSpPr>
          <p:cNvPr id="6" name="矩形 5"/>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7" name="矩形 6"/>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3" name="文本框 2"/>
          <p:cNvSpPr txBox="1"/>
          <p:nvPr/>
        </p:nvSpPr>
        <p:spPr>
          <a:xfrm>
            <a:off x="301625" y="1250315"/>
            <a:ext cx="7950200" cy="460375"/>
          </a:xfrm>
          <a:prstGeom prst="rect">
            <a:avLst/>
          </a:prstGeom>
          <a:noFill/>
        </p:spPr>
        <p:txBody>
          <a:bodyPr wrap="square" rtlCol="0">
            <a:spAutoFit/>
          </a:bodyPr>
          <a:p>
            <a:r>
              <a:rPr lang="zh-CN" altLang="en-US" sz="2400" b="1">
                <a:latin typeface="宋体" panose="02010600030101010101" pitchFamily="2" charset="-122"/>
                <a:ea typeface="宋体" panose="02010600030101010101" pitchFamily="2" charset="-122"/>
                <a:cs typeface="宋体" panose="02010600030101010101" pitchFamily="2" charset="-122"/>
              </a:rPr>
              <a:t>第二步：关键点检测 （识别出人脸的关键位置）</a:t>
            </a:r>
            <a:endParaRPr lang="zh-CN" altLang="en-US" sz="2400" b="1">
              <a:latin typeface="宋体" panose="02010600030101010101" pitchFamily="2" charset="-122"/>
              <a:ea typeface="宋体" panose="02010600030101010101" pitchFamily="2" charset="-122"/>
              <a:cs typeface="宋体" panose="02010600030101010101" pitchFamily="2" charset="-122"/>
            </a:endParaRPr>
          </a:p>
        </p:txBody>
      </p:sp>
      <p:sp>
        <p:nvSpPr>
          <p:cNvPr id="10" name="右箭头 9"/>
          <p:cNvSpPr/>
          <p:nvPr/>
        </p:nvSpPr>
        <p:spPr>
          <a:xfrm>
            <a:off x="5224145" y="3154680"/>
            <a:ext cx="1744345" cy="6470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11" name="图片 10" descr="人脸 - 副本"/>
          <p:cNvPicPr>
            <a:picLocks noChangeAspect="1"/>
          </p:cNvPicPr>
          <p:nvPr/>
        </p:nvPicPr>
        <p:blipFill>
          <a:blip r:embed="rId1"/>
          <a:stretch>
            <a:fillRect/>
          </a:stretch>
        </p:blipFill>
        <p:spPr>
          <a:xfrm>
            <a:off x="3020695" y="2619375"/>
            <a:ext cx="1724025" cy="1619250"/>
          </a:xfrm>
          <a:prstGeom prst="rect">
            <a:avLst/>
          </a:prstGeom>
        </p:spPr>
      </p:pic>
      <p:sp>
        <p:nvSpPr>
          <p:cNvPr id="12" name="文本框 11"/>
          <p:cNvSpPr txBox="1"/>
          <p:nvPr/>
        </p:nvSpPr>
        <p:spPr>
          <a:xfrm>
            <a:off x="1012825" y="5065395"/>
            <a:ext cx="9867265" cy="1445260"/>
          </a:xfrm>
          <a:prstGeom prst="rect">
            <a:avLst/>
          </a:prstGeom>
          <a:noFill/>
        </p:spPr>
        <p:txBody>
          <a:bodyPr wrap="square" rtlCol="0">
            <a:spAutoFit/>
          </a:bodyPr>
          <a:p>
            <a:r>
              <a:rPr lang="zh-CN" altLang="en-US" sz="2000" b="1">
                <a:latin typeface="宋体" panose="02010600030101010101" pitchFamily="2" charset="-122"/>
                <a:ea typeface="宋体" panose="02010600030101010101" pitchFamily="2" charset="-122"/>
                <a:cs typeface="宋体" panose="02010600030101010101" pitchFamily="2" charset="-122"/>
              </a:rPr>
              <a:t>实现方法：基于主动形状模型（</a:t>
            </a:r>
            <a:r>
              <a:rPr lang="en-US" altLang="zh-CN" sz="2000" b="1">
                <a:latin typeface="宋体" panose="02010600030101010101" pitchFamily="2" charset="-122"/>
                <a:ea typeface="宋体" panose="02010600030101010101" pitchFamily="2" charset="-122"/>
                <a:cs typeface="宋体" panose="02010600030101010101" pitchFamily="2" charset="-122"/>
              </a:rPr>
              <a:t>ASM</a:t>
            </a:r>
            <a:r>
              <a:rPr lang="zh-CN" altLang="en-US" sz="2000" b="1">
                <a:latin typeface="宋体" panose="02010600030101010101" pitchFamily="2" charset="-122"/>
                <a:ea typeface="宋体" panose="02010600030101010101" pitchFamily="2" charset="-122"/>
                <a:cs typeface="宋体" panose="02010600030101010101" pitchFamily="2" charset="-122"/>
              </a:rPr>
              <a:t>）的传统方法</a:t>
            </a:r>
            <a:r>
              <a:rPr lang="en-US" altLang="zh-CN" sz="2000" b="1">
                <a:latin typeface="宋体" panose="02010600030101010101" pitchFamily="2" charset="-122"/>
                <a:ea typeface="宋体" panose="02010600030101010101" pitchFamily="2" charset="-122"/>
                <a:cs typeface="宋体" panose="02010600030101010101" pitchFamily="2" charset="-122"/>
              </a:rPr>
              <a:t>→基于级联形状回归的方法</a:t>
            </a:r>
            <a:r>
              <a:rPr lang="en-US" altLang="zh-CN" sz="2000" b="1">
                <a:latin typeface="宋体" panose="02010600030101010101" pitchFamily="2" charset="-122"/>
                <a:ea typeface="宋体" panose="02010600030101010101" pitchFamily="2" charset="-122"/>
                <a:cs typeface="宋体" panose="02010600030101010101" pitchFamily="2" charset="-122"/>
                <a:sym typeface="+mn-ea"/>
              </a:rPr>
              <a:t>→</a:t>
            </a:r>
            <a:r>
              <a:rPr lang="zh-CN" altLang="en-US" sz="2000" b="1">
                <a:latin typeface="宋体" panose="02010600030101010101" pitchFamily="2" charset="-122"/>
                <a:ea typeface="宋体" panose="02010600030101010101" pitchFamily="2" charset="-122"/>
                <a:cs typeface="宋体" panose="02010600030101010101" pitchFamily="2" charset="-122"/>
                <a:sym typeface="+mn-ea"/>
              </a:rPr>
              <a:t>基于</a:t>
            </a:r>
            <a:r>
              <a:rPr lang="en-US" altLang="zh-CN" sz="2000" b="1">
                <a:latin typeface="宋体" panose="02010600030101010101" pitchFamily="2" charset="-122"/>
                <a:ea typeface="宋体" panose="02010600030101010101" pitchFamily="2" charset="-122"/>
                <a:cs typeface="宋体" panose="02010600030101010101" pitchFamily="2" charset="-122"/>
                <a:sym typeface="+mn-ea"/>
              </a:rPr>
              <a:t>CNN</a:t>
            </a:r>
            <a:r>
              <a:rPr lang="zh-CN" altLang="en-US" sz="2000" b="1">
                <a:latin typeface="宋体" panose="02010600030101010101" pitchFamily="2" charset="-122"/>
                <a:ea typeface="宋体" panose="02010600030101010101" pitchFamily="2" charset="-122"/>
                <a:cs typeface="宋体" panose="02010600030101010101" pitchFamily="2" charset="-122"/>
                <a:sym typeface="+mn-ea"/>
              </a:rPr>
              <a:t>的深度学习方法</a:t>
            </a:r>
            <a:endParaRPr lang="zh-CN" altLang="en-US" sz="2000" b="1">
              <a:latin typeface="宋体" panose="02010600030101010101" pitchFamily="2" charset="-122"/>
              <a:ea typeface="宋体" panose="02010600030101010101" pitchFamily="2" charset="-122"/>
              <a:cs typeface="宋体" panose="02010600030101010101" pitchFamily="2" charset="-122"/>
            </a:endParaRPr>
          </a:p>
          <a:p>
            <a:pPr>
              <a:lnSpc>
                <a:spcPct val="40000"/>
              </a:lnSpc>
            </a:pPr>
            <a:endParaRPr lang="zh-CN" altLang="en-US" sz="2000" b="1">
              <a:latin typeface="宋体" panose="02010600030101010101" pitchFamily="2" charset="-122"/>
              <a:ea typeface="宋体" panose="02010600030101010101" pitchFamily="2" charset="-122"/>
              <a:cs typeface="宋体" panose="02010600030101010101" pitchFamily="2" charset="-122"/>
            </a:endParaRPr>
          </a:p>
          <a:p>
            <a:r>
              <a:rPr lang="zh-CN" altLang="en-US" sz="2000" b="1">
                <a:latin typeface="宋体" panose="02010600030101010101" pitchFamily="2" charset="-122"/>
                <a:ea typeface="宋体" panose="02010600030101010101" pitchFamily="2" charset="-122"/>
                <a:cs typeface="宋体" panose="02010600030101010101" pitchFamily="2" charset="-122"/>
              </a:rPr>
              <a:t>基于</a:t>
            </a:r>
            <a:r>
              <a:rPr lang="en-US" altLang="zh-CN" sz="2000" b="1">
                <a:latin typeface="宋体" panose="02010600030101010101" pitchFamily="2" charset="-122"/>
                <a:ea typeface="宋体" panose="02010600030101010101" pitchFamily="2" charset="-122"/>
                <a:cs typeface="宋体" panose="02010600030101010101" pitchFamily="2" charset="-122"/>
              </a:rPr>
              <a:t>CNN</a:t>
            </a:r>
            <a:r>
              <a:rPr lang="zh-CN" altLang="en-US" sz="2000" b="1">
                <a:latin typeface="宋体" panose="02010600030101010101" pitchFamily="2" charset="-122"/>
                <a:ea typeface="宋体" panose="02010600030101010101" pitchFamily="2" charset="-122"/>
                <a:cs typeface="宋体" panose="02010600030101010101" pitchFamily="2" charset="-122"/>
              </a:rPr>
              <a:t>的深度学习方法：将图片与人为标注好的关键点数据（每个关键点的坐标信息）输入至卷积神经网络，通过损失函数梯度反向传播进行训练</a:t>
            </a:r>
            <a:endParaRPr lang="en-US" altLang="zh-CN" sz="2000" b="1">
              <a:latin typeface="宋体" panose="02010600030101010101" pitchFamily="2" charset="-122"/>
              <a:ea typeface="宋体" panose="02010600030101010101" pitchFamily="2" charset="-122"/>
              <a:cs typeface="宋体" panose="02010600030101010101" pitchFamily="2" charset="-122"/>
            </a:endParaRPr>
          </a:p>
        </p:txBody>
      </p:sp>
      <p:pic>
        <p:nvPicPr>
          <p:cNvPr id="8" name="图片 7" descr="人脸 - 副本"/>
          <p:cNvPicPr>
            <a:picLocks noChangeAspect="1"/>
          </p:cNvPicPr>
          <p:nvPr/>
        </p:nvPicPr>
        <p:blipFill>
          <a:blip r:embed="rId1"/>
          <a:stretch>
            <a:fillRect/>
          </a:stretch>
        </p:blipFill>
        <p:spPr>
          <a:xfrm>
            <a:off x="7290435" y="2668270"/>
            <a:ext cx="1724025" cy="1619250"/>
          </a:xfrm>
          <a:prstGeom prst="rect">
            <a:avLst/>
          </a:prstGeom>
        </p:spPr>
      </p:pic>
      <p:sp>
        <p:nvSpPr>
          <p:cNvPr id="9" name="椭圆 8"/>
          <p:cNvSpPr/>
          <p:nvPr/>
        </p:nvSpPr>
        <p:spPr>
          <a:xfrm>
            <a:off x="8002270" y="3197225"/>
            <a:ext cx="90170" cy="9017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椭圆 12"/>
          <p:cNvSpPr/>
          <p:nvPr/>
        </p:nvSpPr>
        <p:spPr>
          <a:xfrm>
            <a:off x="8291830" y="3520440"/>
            <a:ext cx="90170" cy="9017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 name="椭圆 13"/>
          <p:cNvSpPr/>
          <p:nvPr/>
        </p:nvSpPr>
        <p:spPr>
          <a:xfrm>
            <a:off x="8043545" y="3383915"/>
            <a:ext cx="90170" cy="9017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 name="椭圆 14"/>
          <p:cNvSpPr/>
          <p:nvPr/>
        </p:nvSpPr>
        <p:spPr>
          <a:xfrm>
            <a:off x="7912100" y="3474085"/>
            <a:ext cx="90170" cy="9017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椭圆 15"/>
          <p:cNvSpPr/>
          <p:nvPr/>
        </p:nvSpPr>
        <p:spPr>
          <a:xfrm>
            <a:off x="8002270" y="3559810"/>
            <a:ext cx="90170" cy="9017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 name="椭圆 16"/>
          <p:cNvSpPr/>
          <p:nvPr/>
        </p:nvSpPr>
        <p:spPr>
          <a:xfrm>
            <a:off x="8070215" y="2974340"/>
            <a:ext cx="90170" cy="9017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 name="椭圆 17"/>
          <p:cNvSpPr/>
          <p:nvPr/>
        </p:nvSpPr>
        <p:spPr>
          <a:xfrm>
            <a:off x="8179435" y="2947670"/>
            <a:ext cx="90170" cy="9017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 name="椭圆 18"/>
          <p:cNvSpPr/>
          <p:nvPr/>
        </p:nvSpPr>
        <p:spPr>
          <a:xfrm>
            <a:off x="8179435" y="3064510"/>
            <a:ext cx="90170" cy="9017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 name="椭圆 19"/>
          <p:cNvSpPr/>
          <p:nvPr/>
        </p:nvSpPr>
        <p:spPr>
          <a:xfrm>
            <a:off x="8365490" y="3345815"/>
            <a:ext cx="90170" cy="9017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 name="椭圆 20"/>
          <p:cNvSpPr/>
          <p:nvPr/>
        </p:nvSpPr>
        <p:spPr>
          <a:xfrm>
            <a:off x="8474710" y="3345815"/>
            <a:ext cx="90170" cy="9017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 name="椭圆 21"/>
          <p:cNvSpPr/>
          <p:nvPr/>
        </p:nvSpPr>
        <p:spPr>
          <a:xfrm>
            <a:off x="8495665" y="3455035"/>
            <a:ext cx="90170" cy="9017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035" y="286385"/>
            <a:ext cx="4620260" cy="593090"/>
          </a:xfrm>
        </p:spPr>
        <p:txBody>
          <a:bodyPr>
            <a:normAutofit fontScale="90000"/>
          </a:bodyPr>
          <a:lstStyle/>
          <a:p>
            <a:r>
              <a:rPr lang="zh-CN" altLang="en-US" sz="3200" b="1" spc="200" dirty="0">
                <a:solidFill>
                  <a:schemeClr val="accent1"/>
                </a:solidFill>
                <a:uFillTx/>
                <a:latin typeface="微软雅黑 Light" panose="020B0502040204020203" pitchFamily="34" charset="-122"/>
                <a:ea typeface="微软雅黑" panose="020B0503020204020204" charset="-122"/>
              </a:rPr>
              <a:t>机器学习案例：人脸识别</a:t>
            </a:r>
            <a:endParaRPr lang="zh-CN" altLang="en-US" sz="3200" b="1" spc="200" dirty="0">
              <a:solidFill>
                <a:schemeClr val="accent1"/>
              </a:solidFill>
              <a:uFillTx/>
              <a:latin typeface="微软雅黑 Light" panose="020B0502040204020203" pitchFamily="34" charset="-122"/>
              <a:ea typeface="微软雅黑" panose="020B0503020204020204" charset="-122"/>
            </a:endParaRPr>
          </a:p>
        </p:txBody>
      </p:sp>
      <p:sp>
        <p:nvSpPr>
          <p:cNvPr id="6" name="矩形 5"/>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7" name="矩形 6"/>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3" name="文本框 2"/>
          <p:cNvSpPr txBox="1"/>
          <p:nvPr/>
        </p:nvSpPr>
        <p:spPr>
          <a:xfrm>
            <a:off x="301625" y="1250315"/>
            <a:ext cx="7950200" cy="460375"/>
          </a:xfrm>
          <a:prstGeom prst="rect">
            <a:avLst/>
          </a:prstGeom>
          <a:noFill/>
        </p:spPr>
        <p:txBody>
          <a:bodyPr wrap="square" rtlCol="0">
            <a:spAutoFit/>
          </a:bodyPr>
          <a:p>
            <a:r>
              <a:rPr lang="zh-CN" altLang="en-US" sz="2400" b="1">
                <a:latin typeface="宋体" panose="02010600030101010101" pitchFamily="2" charset="-122"/>
                <a:ea typeface="宋体" panose="02010600030101010101" pitchFamily="2" charset="-122"/>
                <a:cs typeface="宋体" panose="02010600030101010101" pitchFamily="2" charset="-122"/>
              </a:rPr>
              <a:t>第三步：人脸对齐 （通过关键点信息使人脸摆正）</a:t>
            </a:r>
            <a:endParaRPr lang="zh-CN" altLang="en-US" sz="2400" b="1">
              <a:latin typeface="宋体" panose="02010600030101010101" pitchFamily="2" charset="-122"/>
              <a:ea typeface="宋体" panose="02010600030101010101" pitchFamily="2" charset="-122"/>
              <a:cs typeface="宋体" panose="02010600030101010101" pitchFamily="2" charset="-122"/>
            </a:endParaRPr>
          </a:p>
        </p:txBody>
      </p:sp>
      <p:sp>
        <p:nvSpPr>
          <p:cNvPr id="10" name="右箭头 9"/>
          <p:cNvSpPr/>
          <p:nvPr/>
        </p:nvSpPr>
        <p:spPr>
          <a:xfrm>
            <a:off x="5223510" y="3457575"/>
            <a:ext cx="1744345" cy="6470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11" name="图片 10" descr="人脸 - 副本"/>
          <p:cNvPicPr>
            <a:picLocks noChangeAspect="1"/>
          </p:cNvPicPr>
          <p:nvPr/>
        </p:nvPicPr>
        <p:blipFill>
          <a:blip r:embed="rId1"/>
          <a:stretch>
            <a:fillRect/>
          </a:stretch>
        </p:blipFill>
        <p:spPr>
          <a:xfrm>
            <a:off x="3020060" y="2922270"/>
            <a:ext cx="1724025" cy="1619250"/>
          </a:xfrm>
          <a:prstGeom prst="rect">
            <a:avLst/>
          </a:prstGeom>
        </p:spPr>
      </p:pic>
      <p:sp>
        <p:nvSpPr>
          <p:cNvPr id="9" name="椭圆 8"/>
          <p:cNvSpPr/>
          <p:nvPr/>
        </p:nvSpPr>
        <p:spPr>
          <a:xfrm>
            <a:off x="3731895" y="3451225"/>
            <a:ext cx="90170" cy="9017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椭圆 12"/>
          <p:cNvSpPr/>
          <p:nvPr/>
        </p:nvSpPr>
        <p:spPr>
          <a:xfrm>
            <a:off x="4021455" y="3774440"/>
            <a:ext cx="90170" cy="9017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 name="椭圆 13"/>
          <p:cNvSpPr/>
          <p:nvPr/>
        </p:nvSpPr>
        <p:spPr>
          <a:xfrm>
            <a:off x="3773170" y="3637915"/>
            <a:ext cx="90170" cy="9017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 name="椭圆 14"/>
          <p:cNvSpPr/>
          <p:nvPr/>
        </p:nvSpPr>
        <p:spPr>
          <a:xfrm>
            <a:off x="3641725" y="3728085"/>
            <a:ext cx="90170" cy="9017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椭圆 15"/>
          <p:cNvSpPr/>
          <p:nvPr/>
        </p:nvSpPr>
        <p:spPr>
          <a:xfrm>
            <a:off x="3731895" y="3813810"/>
            <a:ext cx="90170" cy="9017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 name="椭圆 16"/>
          <p:cNvSpPr/>
          <p:nvPr/>
        </p:nvSpPr>
        <p:spPr>
          <a:xfrm>
            <a:off x="3799840" y="3228340"/>
            <a:ext cx="90170" cy="9017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 name="椭圆 17"/>
          <p:cNvSpPr/>
          <p:nvPr/>
        </p:nvSpPr>
        <p:spPr>
          <a:xfrm>
            <a:off x="3909060" y="3201670"/>
            <a:ext cx="90170" cy="9017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 name="椭圆 18"/>
          <p:cNvSpPr/>
          <p:nvPr/>
        </p:nvSpPr>
        <p:spPr>
          <a:xfrm>
            <a:off x="3909060" y="3318510"/>
            <a:ext cx="90170" cy="9017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 name="椭圆 19"/>
          <p:cNvSpPr/>
          <p:nvPr/>
        </p:nvSpPr>
        <p:spPr>
          <a:xfrm>
            <a:off x="4095115" y="3599815"/>
            <a:ext cx="90170" cy="9017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 name="椭圆 20"/>
          <p:cNvSpPr/>
          <p:nvPr/>
        </p:nvSpPr>
        <p:spPr>
          <a:xfrm>
            <a:off x="4204335" y="3599815"/>
            <a:ext cx="90170" cy="9017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 name="椭圆 21"/>
          <p:cNvSpPr/>
          <p:nvPr/>
        </p:nvSpPr>
        <p:spPr>
          <a:xfrm>
            <a:off x="4225290" y="3709035"/>
            <a:ext cx="90170" cy="9017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4" name="图片 3" descr="人脸 - 副本"/>
          <p:cNvPicPr>
            <a:picLocks noChangeAspect="1"/>
          </p:cNvPicPr>
          <p:nvPr/>
        </p:nvPicPr>
        <p:blipFill>
          <a:blip r:embed="rId1"/>
          <a:stretch>
            <a:fillRect/>
          </a:stretch>
        </p:blipFill>
        <p:spPr>
          <a:xfrm rot="18720000">
            <a:off x="7633970" y="2873375"/>
            <a:ext cx="1724025" cy="1619250"/>
          </a:xfrm>
          <a:prstGeom prst="rect">
            <a:avLst/>
          </a:prstGeom>
        </p:spPr>
      </p:pic>
      <p:sp>
        <p:nvSpPr>
          <p:cNvPr id="5" name="文本框 4"/>
          <p:cNvSpPr txBox="1"/>
          <p:nvPr/>
        </p:nvSpPr>
        <p:spPr>
          <a:xfrm>
            <a:off x="992505" y="5221605"/>
            <a:ext cx="9907905" cy="706755"/>
          </a:xfrm>
          <a:prstGeom prst="rect">
            <a:avLst/>
          </a:prstGeom>
          <a:noFill/>
        </p:spPr>
        <p:txBody>
          <a:bodyPr wrap="square" rtlCol="0">
            <a:spAutoFit/>
          </a:bodyPr>
          <a:p>
            <a:r>
              <a:rPr lang="zh-CN" altLang="en-US" sz="2000" b="1">
                <a:latin typeface="宋体" panose="02010600030101010101" pitchFamily="2" charset="-122"/>
                <a:ea typeface="宋体" panose="02010600030101010101" pitchFamily="2" charset="-122"/>
                <a:cs typeface="宋体" panose="02010600030101010101" pitchFamily="2" charset="-122"/>
              </a:rPr>
              <a:t>根据关键点检测坐标与关键点设定坐标，计算得到一个位置变换矩阵，通过该矩阵对人脸所有的像素位置进行变换，对于未匹配到的点则根据周围像素点进行插值获得</a:t>
            </a:r>
            <a:endParaRPr lang="zh-CN" altLang="en-US" sz="2000" b="1">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035" y="286385"/>
            <a:ext cx="4620260" cy="593090"/>
          </a:xfrm>
        </p:spPr>
        <p:txBody>
          <a:bodyPr>
            <a:normAutofit fontScale="90000"/>
          </a:bodyPr>
          <a:lstStyle/>
          <a:p>
            <a:r>
              <a:rPr lang="zh-CN" altLang="en-US" sz="3200" b="1" spc="200" dirty="0">
                <a:solidFill>
                  <a:schemeClr val="accent1"/>
                </a:solidFill>
                <a:uFillTx/>
                <a:latin typeface="微软雅黑 Light" panose="020B0502040204020203" pitchFamily="34" charset="-122"/>
                <a:ea typeface="微软雅黑" panose="020B0503020204020204" charset="-122"/>
              </a:rPr>
              <a:t>机器学习案例：人脸识别</a:t>
            </a:r>
            <a:endParaRPr lang="zh-CN" altLang="en-US" sz="3200" b="1" spc="200" dirty="0">
              <a:solidFill>
                <a:schemeClr val="accent1"/>
              </a:solidFill>
              <a:uFillTx/>
              <a:latin typeface="微软雅黑 Light" panose="020B0502040204020203" pitchFamily="34" charset="-122"/>
              <a:ea typeface="微软雅黑" panose="020B0503020204020204" charset="-122"/>
            </a:endParaRPr>
          </a:p>
        </p:txBody>
      </p:sp>
      <p:sp>
        <p:nvSpPr>
          <p:cNvPr id="6" name="矩形 5"/>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7" name="矩形 6"/>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3" name="文本框 2"/>
          <p:cNvSpPr txBox="1"/>
          <p:nvPr/>
        </p:nvSpPr>
        <p:spPr>
          <a:xfrm>
            <a:off x="301625" y="1250315"/>
            <a:ext cx="11707495" cy="460375"/>
          </a:xfrm>
          <a:prstGeom prst="rect">
            <a:avLst/>
          </a:prstGeom>
          <a:noFill/>
        </p:spPr>
        <p:txBody>
          <a:bodyPr wrap="square" rtlCol="0">
            <a:spAutoFit/>
          </a:bodyPr>
          <a:p>
            <a:r>
              <a:rPr lang="zh-CN" altLang="en-US" sz="2400" b="1">
                <a:latin typeface="宋体" panose="02010600030101010101" pitchFamily="2" charset="-122"/>
                <a:ea typeface="宋体" panose="02010600030101010101" pitchFamily="2" charset="-122"/>
                <a:cs typeface="宋体" panose="02010600030101010101" pitchFamily="2" charset="-122"/>
              </a:rPr>
              <a:t>第四步：特征提取 （根据摆正的人脸提取出特征向量，该特征向量可代表这张人脸）</a:t>
            </a:r>
            <a:endParaRPr lang="zh-CN" altLang="en-US" sz="2400" b="1">
              <a:latin typeface="宋体" panose="02010600030101010101" pitchFamily="2" charset="-122"/>
              <a:ea typeface="宋体" panose="02010600030101010101" pitchFamily="2" charset="-122"/>
              <a:cs typeface="宋体" panose="02010600030101010101" pitchFamily="2" charset="-122"/>
            </a:endParaRPr>
          </a:p>
        </p:txBody>
      </p:sp>
      <p:sp>
        <p:nvSpPr>
          <p:cNvPr id="10" name="右箭头 9"/>
          <p:cNvSpPr/>
          <p:nvPr/>
        </p:nvSpPr>
        <p:spPr>
          <a:xfrm>
            <a:off x="5074285" y="3569970"/>
            <a:ext cx="1744345" cy="6470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4" name="图片 3" descr="人脸 - 副本"/>
          <p:cNvPicPr>
            <a:picLocks noChangeAspect="1"/>
          </p:cNvPicPr>
          <p:nvPr/>
        </p:nvPicPr>
        <p:blipFill>
          <a:blip r:embed="rId1"/>
          <a:stretch>
            <a:fillRect/>
          </a:stretch>
        </p:blipFill>
        <p:spPr>
          <a:xfrm rot="18720000">
            <a:off x="2857500" y="2887980"/>
            <a:ext cx="1724025" cy="1619250"/>
          </a:xfrm>
          <a:prstGeom prst="rect">
            <a:avLst/>
          </a:prstGeom>
        </p:spPr>
      </p:pic>
      <p:sp>
        <p:nvSpPr>
          <p:cNvPr id="24" name="矩形 23"/>
          <p:cNvSpPr/>
          <p:nvPr/>
        </p:nvSpPr>
        <p:spPr>
          <a:xfrm>
            <a:off x="7359015" y="2570480"/>
            <a:ext cx="295275" cy="2645410"/>
          </a:xfrm>
          <a:prstGeom prst="rect">
            <a:avLst/>
          </a:prstGeom>
          <a:gradFill>
            <a:gsLst>
              <a:gs pos="0">
                <a:srgbClr val="56A0B9"/>
              </a:gs>
              <a:gs pos="100000">
                <a:srgbClr val="5DBDC3"/>
              </a:gs>
            </a:gsLst>
            <a:lin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5" name="文本框 24"/>
          <p:cNvSpPr txBox="1"/>
          <p:nvPr/>
        </p:nvSpPr>
        <p:spPr>
          <a:xfrm>
            <a:off x="7852410" y="3478530"/>
            <a:ext cx="1113155" cy="829945"/>
          </a:xfrm>
          <a:prstGeom prst="rect">
            <a:avLst/>
          </a:prstGeom>
          <a:noFill/>
        </p:spPr>
        <p:txBody>
          <a:bodyPr wrap="square" rtlCol="0">
            <a:spAutoFit/>
          </a:bodyPr>
          <a:p>
            <a:r>
              <a:rPr lang="en-US" altLang="zh-CN" sz="2400">
                <a:latin typeface="Times New Roman" panose="02020603050405020304" charset="0"/>
                <a:cs typeface="Times New Roman" panose="02020603050405020304" charset="0"/>
              </a:rPr>
              <a:t>feature</a:t>
            </a:r>
            <a:endParaRPr lang="en-US" altLang="zh-CN" sz="2400">
              <a:latin typeface="Times New Roman" panose="02020603050405020304" charset="0"/>
              <a:cs typeface="Times New Roman" panose="02020603050405020304" charset="0"/>
            </a:endParaRPr>
          </a:p>
          <a:p>
            <a:r>
              <a:rPr lang="en-US" altLang="zh-CN" sz="2400">
                <a:latin typeface="Times New Roman" panose="02020603050405020304" charset="0"/>
                <a:cs typeface="Times New Roman" panose="02020603050405020304" charset="0"/>
              </a:rPr>
              <a:t>vector</a:t>
            </a:r>
            <a:endParaRPr lang="en-US" altLang="zh-CN" sz="2400">
              <a:latin typeface="Times New Roman" panose="02020603050405020304" charset="0"/>
              <a:cs typeface="Times New Roman" panose="02020603050405020304" charset="0"/>
            </a:endParaRPr>
          </a:p>
        </p:txBody>
      </p:sp>
      <p:sp>
        <p:nvSpPr>
          <p:cNvPr id="26" name="文本框 25"/>
          <p:cNvSpPr txBox="1"/>
          <p:nvPr/>
        </p:nvSpPr>
        <p:spPr>
          <a:xfrm>
            <a:off x="326390" y="5319395"/>
            <a:ext cx="11239500" cy="1445260"/>
          </a:xfrm>
          <a:prstGeom prst="rect">
            <a:avLst/>
          </a:prstGeom>
          <a:noFill/>
        </p:spPr>
        <p:txBody>
          <a:bodyPr wrap="square" rtlCol="0">
            <a:spAutoFit/>
          </a:bodyPr>
          <a:p>
            <a:r>
              <a:rPr lang="zh-CN" altLang="en-US" sz="2000" b="1">
                <a:latin typeface="宋体" panose="02010600030101010101" pitchFamily="2" charset="-122"/>
                <a:ea typeface="宋体" panose="02010600030101010101" pitchFamily="2" charset="-122"/>
                <a:cs typeface="宋体" panose="02010600030101010101" pitchFamily="2" charset="-122"/>
              </a:rPr>
              <a:t>实现方法：基于方向梯度直方图（</a:t>
            </a:r>
            <a:r>
              <a:rPr lang="en-US" altLang="zh-CN" sz="2000" b="1">
                <a:latin typeface="宋体" panose="02010600030101010101" pitchFamily="2" charset="-122"/>
                <a:ea typeface="宋体" panose="02010600030101010101" pitchFamily="2" charset="-122"/>
                <a:cs typeface="宋体" panose="02010600030101010101" pitchFamily="2" charset="-122"/>
              </a:rPr>
              <a:t>HOG</a:t>
            </a:r>
            <a:r>
              <a:rPr lang="zh-CN" altLang="en-US" sz="2000" b="1">
                <a:latin typeface="宋体" panose="02010600030101010101" pitchFamily="2" charset="-122"/>
                <a:ea typeface="宋体" panose="02010600030101010101" pitchFamily="2" charset="-122"/>
                <a:cs typeface="宋体" panose="02010600030101010101" pitchFamily="2" charset="-122"/>
              </a:rPr>
              <a:t>）的传统方法</a:t>
            </a:r>
            <a:r>
              <a:rPr lang="en-US" altLang="zh-CN" sz="2000" b="1">
                <a:latin typeface="宋体" panose="02010600030101010101" pitchFamily="2" charset="-122"/>
                <a:ea typeface="宋体" panose="02010600030101010101" pitchFamily="2" charset="-122"/>
                <a:cs typeface="宋体" panose="02010600030101010101" pitchFamily="2" charset="-122"/>
              </a:rPr>
              <a:t>→</a:t>
            </a:r>
            <a:r>
              <a:rPr lang="zh-CN" altLang="en-US" sz="2000" b="1">
                <a:latin typeface="宋体" panose="02010600030101010101" pitchFamily="2" charset="-122"/>
                <a:ea typeface="宋体" panose="02010600030101010101" pitchFamily="2" charset="-122"/>
                <a:cs typeface="宋体" panose="02010600030101010101" pitchFamily="2" charset="-122"/>
              </a:rPr>
              <a:t>基于</a:t>
            </a:r>
            <a:r>
              <a:rPr lang="en-US" altLang="zh-CN" sz="2000" b="1">
                <a:latin typeface="宋体" panose="02010600030101010101" pitchFamily="2" charset="-122"/>
                <a:ea typeface="宋体" panose="02010600030101010101" pitchFamily="2" charset="-122"/>
                <a:cs typeface="宋体" panose="02010600030101010101" pitchFamily="2" charset="-122"/>
              </a:rPr>
              <a:t>CNN</a:t>
            </a:r>
            <a:r>
              <a:rPr lang="zh-CN" altLang="en-US" sz="2000" b="1">
                <a:latin typeface="宋体" panose="02010600030101010101" pitchFamily="2" charset="-122"/>
                <a:ea typeface="宋体" panose="02010600030101010101" pitchFamily="2" charset="-122"/>
                <a:cs typeface="宋体" panose="02010600030101010101" pitchFamily="2" charset="-122"/>
              </a:rPr>
              <a:t>的深度学习方法</a:t>
            </a:r>
            <a:endParaRPr lang="zh-CN" altLang="en-US" sz="2000" b="1">
              <a:latin typeface="宋体" panose="02010600030101010101" pitchFamily="2" charset="-122"/>
              <a:ea typeface="宋体" panose="02010600030101010101" pitchFamily="2" charset="-122"/>
              <a:cs typeface="宋体" panose="02010600030101010101" pitchFamily="2" charset="-122"/>
            </a:endParaRPr>
          </a:p>
          <a:p>
            <a:pPr>
              <a:lnSpc>
                <a:spcPct val="40000"/>
              </a:lnSpc>
            </a:pPr>
            <a:endParaRPr lang="zh-CN" altLang="en-US" sz="2000" b="1">
              <a:latin typeface="宋体" panose="02010600030101010101" pitchFamily="2" charset="-122"/>
              <a:ea typeface="宋体" panose="02010600030101010101" pitchFamily="2" charset="-122"/>
              <a:cs typeface="宋体" panose="02010600030101010101" pitchFamily="2" charset="-122"/>
            </a:endParaRPr>
          </a:p>
          <a:p>
            <a:r>
              <a:rPr lang="zh-CN" altLang="en-US" sz="2000" b="1">
                <a:latin typeface="宋体" panose="02010600030101010101" pitchFamily="2" charset="-122"/>
                <a:ea typeface="宋体" panose="02010600030101010101" pitchFamily="2" charset="-122"/>
                <a:cs typeface="宋体" panose="02010600030101010101" pitchFamily="2" charset="-122"/>
                <a:sym typeface="+mn-ea"/>
              </a:rPr>
              <a:t>基于</a:t>
            </a:r>
            <a:r>
              <a:rPr lang="en-US" altLang="zh-CN" sz="2000" b="1">
                <a:latin typeface="宋体" panose="02010600030101010101" pitchFamily="2" charset="-122"/>
                <a:ea typeface="宋体" panose="02010600030101010101" pitchFamily="2" charset="-122"/>
                <a:cs typeface="宋体" panose="02010600030101010101" pitchFamily="2" charset="-122"/>
                <a:sym typeface="+mn-ea"/>
              </a:rPr>
              <a:t>CNN</a:t>
            </a:r>
            <a:r>
              <a:rPr lang="zh-CN" altLang="en-US" sz="2000" b="1">
                <a:latin typeface="宋体" panose="02010600030101010101" pitchFamily="2" charset="-122"/>
                <a:ea typeface="宋体" panose="02010600030101010101" pitchFamily="2" charset="-122"/>
                <a:cs typeface="宋体" panose="02010600030101010101" pitchFamily="2" charset="-122"/>
                <a:sym typeface="+mn-ea"/>
              </a:rPr>
              <a:t>的深度学习方法：</a:t>
            </a:r>
            <a:r>
              <a:rPr lang="zh-CN" altLang="en-US" sz="2000" b="1">
                <a:latin typeface="宋体" panose="02010600030101010101" pitchFamily="2" charset="-122"/>
                <a:ea typeface="宋体" panose="02010600030101010101" pitchFamily="2" charset="-122"/>
                <a:cs typeface="宋体" panose="02010600030101010101" pitchFamily="2" charset="-122"/>
              </a:rPr>
              <a:t>将一个人的多张不同脸部图片进行特征提取，并使得提取出的特征向量在向量空间上距离较近；同时将其他人的脸部图片进行特征提取，并使得提取出的特征向量与该人的特征向量在向量空间上的距离较远</a:t>
            </a:r>
            <a:endParaRPr lang="zh-CN" altLang="en-US" sz="2000" b="1">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035" y="286385"/>
            <a:ext cx="4620260" cy="593090"/>
          </a:xfrm>
        </p:spPr>
        <p:txBody>
          <a:bodyPr>
            <a:normAutofit fontScale="90000"/>
          </a:bodyPr>
          <a:lstStyle/>
          <a:p>
            <a:r>
              <a:rPr lang="zh-CN" altLang="en-US" sz="3200" b="1" spc="200" dirty="0">
                <a:solidFill>
                  <a:schemeClr val="accent1"/>
                </a:solidFill>
                <a:uFillTx/>
                <a:latin typeface="微软雅黑 Light" panose="020B0502040204020203" pitchFamily="34" charset="-122"/>
                <a:ea typeface="微软雅黑" panose="020B0503020204020204" charset="-122"/>
              </a:rPr>
              <a:t>机器学习案例：人脸识别</a:t>
            </a:r>
            <a:endParaRPr lang="zh-CN" altLang="en-US" sz="3200" b="1" spc="200" dirty="0">
              <a:solidFill>
                <a:schemeClr val="accent1"/>
              </a:solidFill>
              <a:uFillTx/>
              <a:latin typeface="微软雅黑 Light" panose="020B0502040204020203" pitchFamily="34" charset="-122"/>
              <a:ea typeface="微软雅黑" panose="020B0503020204020204" charset="-122"/>
            </a:endParaRPr>
          </a:p>
        </p:txBody>
      </p:sp>
      <p:sp>
        <p:nvSpPr>
          <p:cNvPr id="6" name="矩形 5"/>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7" name="矩形 6"/>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3" name="文本框 2"/>
          <p:cNvSpPr txBox="1"/>
          <p:nvPr/>
        </p:nvSpPr>
        <p:spPr>
          <a:xfrm>
            <a:off x="301625" y="1250315"/>
            <a:ext cx="11322685" cy="460375"/>
          </a:xfrm>
          <a:prstGeom prst="rect">
            <a:avLst/>
          </a:prstGeom>
          <a:noFill/>
        </p:spPr>
        <p:txBody>
          <a:bodyPr wrap="square" rtlCol="0">
            <a:spAutoFit/>
          </a:bodyPr>
          <a:p>
            <a:r>
              <a:rPr lang="zh-CN" altLang="en-US" sz="2400" b="1">
                <a:latin typeface="宋体" panose="02010600030101010101" pitchFamily="2" charset="-122"/>
                <a:ea typeface="宋体" panose="02010600030101010101" pitchFamily="2" charset="-122"/>
                <a:cs typeface="宋体" panose="02010600030101010101" pitchFamily="2" charset="-122"/>
              </a:rPr>
              <a:t>第五步：人脸比对（将得到的人脸特征向量与数据库中保存好的特征向量进行比较）</a:t>
            </a:r>
            <a:endParaRPr lang="zh-CN" altLang="en-US" sz="2400" b="1">
              <a:latin typeface="宋体" panose="02010600030101010101" pitchFamily="2" charset="-122"/>
              <a:ea typeface="宋体" panose="02010600030101010101" pitchFamily="2" charset="-122"/>
              <a:cs typeface="宋体" panose="02010600030101010101" pitchFamily="2" charset="-122"/>
            </a:endParaRPr>
          </a:p>
        </p:txBody>
      </p:sp>
      <p:sp>
        <p:nvSpPr>
          <p:cNvPr id="24" name="矩形 23"/>
          <p:cNvSpPr/>
          <p:nvPr/>
        </p:nvSpPr>
        <p:spPr>
          <a:xfrm>
            <a:off x="3666490" y="2120265"/>
            <a:ext cx="295275" cy="2645410"/>
          </a:xfrm>
          <a:prstGeom prst="rect">
            <a:avLst/>
          </a:prstGeom>
          <a:gradFill>
            <a:gsLst>
              <a:gs pos="0">
                <a:srgbClr val="56A0B9"/>
              </a:gs>
              <a:gs pos="100000">
                <a:srgbClr val="5DBDC3"/>
              </a:gs>
            </a:gsLst>
            <a:lin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5" name="文本框 24"/>
          <p:cNvSpPr txBox="1"/>
          <p:nvPr/>
        </p:nvSpPr>
        <p:spPr>
          <a:xfrm>
            <a:off x="2292985" y="3025775"/>
            <a:ext cx="1113155" cy="829945"/>
          </a:xfrm>
          <a:prstGeom prst="rect">
            <a:avLst/>
          </a:prstGeom>
          <a:noFill/>
        </p:spPr>
        <p:txBody>
          <a:bodyPr wrap="square" rtlCol="0">
            <a:spAutoFit/>
          </a:bodyPr>
          <a:p>
            <a:r>
              <a:rPr lang="en-US" altLang="zh-CN" sz="2400">
                <a:latin typeface="Times New Roman" panose="02020603050405020304" charset="0"/>
                <a:cs typeface="Times New Roman" panose="02020603050405020304" charset="0"/>
              </a:rPr>
              <a:t>feature</a:t>
            </a:r>
            <a:endParaRPr lang="en-US" altLang="zh-CN" sz="2400">
              <a:latin typeface="Times New Roman" panose="02020603050405020304" charset="0"/>
              <a:cs typeface="Times New Roman" panose="02020603050405020304" charset="0"/>
            </a:endParaRPr>
          </a:p>
          <a:p>
            <a:r>
              <a:rPr lang="en-US" altLang="zh-CN" sz="2400">
                <a:latin typeface="Times New Roman" panose="02020603050405020304" charset="0"/>
                <a:cs typeface="Times New Roman" panose="02020603050405020304" charset="0"/>
              </a:rPr>
              <a:t>vector</a:t>
            </a:r>
            <a:endParaRPr lang="en-US" altLang="zh-CN" sz="2400">
              <a:latin typeface="Times New Roman" panose="02020603050405020304" charset="0"/>
              <a:cs typeface="Times New Roman" panose="02020603050405020304" charset="0"/>
            </a:endParaRPr>
          </a:p>
        </p:txBody>
      </p:sp>
      <p:sp>
        <p:nvSpPr>
          <p:cNvPr id="26" name="文本框 25"/>
          <p:cNvSpPr txBox="1"/>
          <p:nvPr/>
        </p:nvSpPr>
        <p:spPr>
          <a:xfrm>
            <a:off x="342900" y="5637530"/>
            <a:ext cx="11239500" cy="1014730"/>
          </a:xfrm>
          <a:prstGeom prst="rect">
            <a:avLst/>
          </a:prstGeom>
          <a:noFill/>
        </p:spPr>
        <p:txBody>
          <a:bodyPr wrap="square" rtlCol="0">
            <a:spAutoFit/>
          </a:bodyPr>
          <a:p>
            <a:r>
              <a:rPr lang="zh-CN" altLang="en-US" sz="2000" b="1">
                <a:latin typeface="宋体" panose="02010600030101010101" pitchFamily="2" charset="-122"/>
                <a:ea typeface="宋体" panose="02010600030101010101" pitchFamily="2" charset="-122"/>
                <a:cs typeface="宋体" panose="02010600030101010101" pitchFamily="2" charset="-122"/>
              </a:rPr>
              <a:t>通过计算输入图像最终得到的人脸特征向量与数据库中原有保存的每个员工的人脸特征向量在向量空间的距离，若有距离小于预设定阈值的，则判定为该员工；若历遍数据库没有距离小于预设定阈值的，则判定为陌生人</a:t>
            </a:r>
            <a:endParaRPr lang="zh-CN" altLang="en-US" sz="2000" b="1">
              <a:latin typeface="宋体" panose="02010600030101010101" pitchFamily="2" charset="-122"/>
              <a:ea typeface="宋体" panose="02010600030101010101" pitchFamily="2" charset="-122"/>
              <a:cs typeface="宋体" panose="02010600030101010101" pitchFamily="2" charset="-122"/>
            </a:endParaRPr>
          </a:p>
        </p:txBody>
      </p:sp>
      <p:sp>
        <p:nvSpPr>
          <p:cNvPr id="5" name="左右箭头 4"/>
          <p:cNvSpPr/>
          <p:nvPr/>
        </p:nvSpPr>
        <p:spPr>
          <a:xfrm>
            <a:off x="4295775" y="3081020"/>
            <a:ext cx="1498600" cy="720725"/>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矩形 7"/>
          <p:cNvSpPr/>
          <p:nvPr/>
        </p:nvSpPr>
        <p:spPr>
          <a:xfrm>
            <a:off x="6160770" y="2118995"/>
            <a:ext cx="295275" cy="2645410"/>
          </a:xfrm>
          <a:prstGeom prst="rect">
            <a:avLst/>
          </a:prstGeom>
          <a:gradFill>
            <a:gsLst>
              <a:gs pos="50000">
                <a:srgbClr val="EBA874"/>
              </a:gs>
              <a:gs pos="0">
                <a:srgbClr val="F2C5A2"/>
              </a:gs>
              <a:gs pos="100000">
                <a:srgbClr val="E48B45"/>
              </a:gs>
            </a:gsLst>
            <a:lin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矩形 8"/>
          <p:cNvSpPr/>
          <p:nvPr/>
        </p:nvSpPr>
        <p:spPr>
          <a:xfrm>
            <a:off x="6562090" y="2117725"/>
            <a:ext cx="295275" cy="2645410"/>
          </a:xfrm>
          <a:prstGeom prst="rect">
            <a:avLst/>
          </a:prstGeom>
          <a:gradFill>
            <a:gsLst>
              <a:gs pos="0">
                <a:srgbClr val="9EE256"/>
              </a:gs>
              <a:gs pos="100000">
                <a:srgbClr val="52762D"/>
              </a:gs>
            </a:gsLst>
            <a:lin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 name="矩形 10"/>
          <p:cNvSpPr/>
          <p:nvPr/>
        </p:nvSpPr>
        <p:spPr>
          <a:xfrm>
            <a:off x="6976745" y="2118995"/>
            <a:ext cx="295275" cy="2645410"/>
          </a:xfrm>
          <a:prstGeom prst="rect">
            <a:avLst/>
          </a:prstGeom>
          <a:gradFill>
            <a:gsLst>
              <a:gs pos="0">
                <a:srgbClr val="FBFB11"/>
              </a:gs>
              <a:gs pos="100000">
                <a:srgbClr val="838309"/>
              </a:gs>
            </a:gsLst>
            <a:lin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矩形 11"/>
          <p:cNvSpPr/>
          <p:nvPr/>
        </p:nvSpPr>
        <p:spPr>
          <a:xfrm>
            <a:off x="7391400" y="2118995"/>
            <a:ext cx="295275" cy="2645410"/>
          </a:xfrm>
          <a:prstGeom prst="rect">
            <a:avLst/>
          </a:prstGeom>
          <a:gradFill>
            <a:gsLst>
              <a:gs pos="0">
                <a:srgbClr val="14CD68"/>
              </a:gs>
              <a:gs pos="100000">
                <a:srgbClr val="0B6E38"/>
              </a:gs>
            </a:gsLst>
            <a:lin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矩形 12"/>
          <p:cNvSpPr/>
          <p:nvPr/>
        </p:nvSpPr>
        <p:spPr>
          <a:xfrm>
            <a:off x="7827010" y="2117725"/>
            <a:ext cx="295275" cy="2645410"/>
          </a:xfrm>
          <a:prstGeom prst="rect">
            <a:avLst/>
          </a:prstGeom>
          <a:gradFill>
            <a:gsLst>
              <a:gs pos="0">
                <a:srgbClr val="007BD3"/>
              </a:gs>
              <a:gs pos="100000">
                <a:srgbClr val="034373"/>
              </a:gs>
            </a:gsLst>
            <a:lin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 name="矩形 13"/>
          <p:cNvSpPr/>
          <p:nvPr/>
        </p:nvSpPr>
        <p:spPr>
          <a:xfrm>
            <a:off x="8262620" y="2117725"/>
            <a:ext cx="295275" cy="2645410"/>
          </a:xfrm>
          <a:prstGeom prst="rect">
            <a:avLst/>
          </a:prstGeom>
          <a:gradFill>
            <a:gsLst>
              <a:gs pos="0">
                <a:srgbClr val="7B32B2"/>
              </a:gs>
              <a:gs pos="100000">
                <a:srgbClr val="401A5D"/>
              </a:gs>
            </a:gsLst>
            <a:lin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 name="矩形 14"/>
          <p:cNvSpPr/>
          <p:nvPr/>
        </p:nvSpPr>
        <p:spPr>
          <a:xfrm>
            <a:off x="8698230" y="2117090"/>
            <a:ext cx="295275" cy="2645410"/>
          </a:xfrm>
          <a:prstGeom prst="rect">
            <a:avLst/>
          </a:prstGeom>
          <a:gradFill>
            <a:gsLst>
              <a:gs pos="0">
                <a:srgbClr val="56A0B9"/>
              </a:gs>
              <a:gs pos="100000">
                <a:srgbClr val="5DBDC3"/>
              </a:gs>
            </a:gsLst>
            <a:lin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左大括号 15"/>
          <p:cNvSpPr/>
          <p:nvPr/>
        </p:nvSpPr>
        <p:spPr>
          <a:xfrm rot="16200000">
            <a:off x="7475220" y="3686175"/>
            <a:ext cx="254000" cy="2628265"/>
          </a:xfrm>
          <a:prstGeom prst="leftBrace">
            <a:avLst/>
          </a:prstGeom>
          <a:ln w="19050"/>
        </p:spPr>
        <p:style>
          <a:lnRef idx="1">
            <a:schemeClr val="dk1"/>
          </a:lnRef>
          <a:fillRef idx="0">
            <a:schemeClr val="dk1"/>
          </a:fillRef>
          <a:effectRef idx="0">
            <a:schemeClr val="dk1"/>
          </a:effectRef>
          <a:fontRef idx="minor">
            <a:schemeClr val="tx1"/>
          </a:fontRef>
        </p:style>
        <p:txBody>
          <a:bodyPr rtlCol="0" anchor="ctr"/>
          <a:p>
            <a:pPr algn="ctr"/>
            <a:endParaRPr lang="zh-CN" altLang="en-US"/>
          </a:p>
        </p:txBody>
      </p:sp>
      <p:sp>
        <p:nvSpPr>
          <p:cNvPr id="17" name="文本框 16"/>
          <p:cNvSpPr txBox="1"/>
          <p:nvPr/>
        </p:nvSpPr>
        <p:spPr>
          <a:xfrm>
            <a:off x="7000875" y="5238750"/>
            <a:ext cx="1203960" cy="398780"/>
          </a:xfrm>
          <a:prstGeom prst="rect">
            <a:avLst/>
          </a:prstGeom>
          <a:noFill/>
        </p:spPr>
        <p:txBody>
          <a:bodyPr wrap="square" rtlCol="0">
            <a:spAutoFit/>
          </a:bodyPr>
          <a:p>
            <a:r>
              <a:rPr lang="en-US" altLang="zh-CN" sz="2000" b="1">
                <a:latin typeface="Times New Roman" panose="02020603050405020304" charset="0"/>
                <a:cs typeface="Times New Roman" panose="02020603050405020304" charset="0"/>
              </a:rPr>
              <a:t>Database</a:t>
            </a:r>
            <a:endParaRPr lang="en-US" altLang="zh-CN" sz="2000" b="1">
              <a:latin typeface="Times New Roman" panose="02020603050405020304" charset="0"/>
              <a:cs typeface="Times New Roman" panose="0202060305040502030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035" y="286385"/>
            <a:ext cx="2573020" cy="593090"/>
          </a:xfrm>
        </p:spPr>
        <p:txBody>
          <a:bodyPr>
            <a:normAutofit fontScale="90000"/>
          </a:bodyPr>
          <a:lstStyle/>
          <a:p>
            <a:r>
              <a:rPr lang="zh-CN" altLang="en-US" sz="3200" b="1" spc="200" dirty="0">
                <a:solidFill>
                  <a:schemeClr val="accent1"/>
                </a:solidFill>
                <a:uFillTx/>
                <a:latin typeface="微软雅黑 Light" panose="020B0502040204020203" pitchFamily="34" charset="-122"/>
                <a:ea typeface="微软雅黑" panose="020B0503020204020204" charset="-122"/>
              </a:rPr>
              <a:t>机器学习应用</a:t>
            </a:r>
            <a:endParaRPr lang="zh-CN" altLang="en-US" sz="3200" b="1" spc="200" dirty="0">
              <a:solidFill>
                <a:schemeClr val="accent1"/>
              </a:solidFill>
              <a:uFillTx/>
              <a:latin typeface="微软雅黑 Light" panose="020B0502040204020203" pitchFamily="34" charset="-122"/>
              <a:ea typeface="微软雅黑" panose="020B0503020204020204" charset="-122"/>
            </a:endParaRPr>
          </a:p>
        </p:txBody>
      </p:sp>
      <p:sp>
        <p:nvSpPr>
          <p:cNvPr id="6" name="矩形 5"/>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7" name="矩形 6"/>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31" name="AutoShape 9"/>
          <p:cNvSpPr>
            <a:spLocks noChangeArrowheads="1"/>
          </p:cNvSpPr>
          <p:nvPr/>
        </p:nvSpPr>
        <p:spPr bwMode="auto">
          <a:xfrm>
            <a:off x="2376488" y="2985253"/>
            <a:ext cx="7391400" cy="1447800"/>
          </a:xfrm>
          <a:prstGeom prst="parallelogram">
            <a:avLst>
              <a:gd name="adj" fmla="val 127632"/>
            </a:avLst>
          </a:prstGeom>
          <a:solidFill>
            <a:srgbClr val="00FF00">
              <a:alpha val="50195"/>
            </a:srgbClr>
          </a:solidFill>
          <a:ln w="9525">
            <a:solidFill>
              <a:schemeClr val="tx1"/>
            </a:solidFill>
            <a:miter lim="800000"/>
          </a:ln>
        </p:spPr>
        <p:txBody>
          <a:bodyPr wrap="none" anchor="ct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spcBef>
                <a:spcPct val="0"/>
              </a:spcBef>
              <a:buSzTx/>
              <a:buFontTx/>
              <a:buNone/>
            </a:pPr>
            <a:endParaRPr lang="zh-CN" altLang="en-US" dirty="0">
              <a:latin typeface="微软雅黑 Light" panose="020B0502040204020203" pitchFamily="34" charset="-122"/>
              <a:ea typeface="微软雅黑 Light" panose="020B0502040204020203" pitchFamily="34" charset="-122"/>
            </a:endParaRPr>
          </a:p>
        </p:txBody>
      </p:sp>
      <p:sp>
        <p:nvSpPr>
          <p:cNvPr id="32" name="AutoShape 10"/>
          <p:cNvSpPr>
            <a:spLocks noChangeArrowheads="1"/>
          </p:cNvSpPr>
          <p:nvPr/>
        </p:nvSpPr>
        <p:spPr bwMode="auto">
          <a:xfrm>
            <a:off x="2886075" y="3540878"/>
            <a:ext cx="990600" cy="719138"/>
          </a:xfrm>
          <a:prstGeom prst="cube">
            <a:avLst>
              <a:gd name="adj" fmla="val 25000"/>
            </a:avLst>
          </a:prstGeom>
          <a:solidFill>
            <a:srgbClr val="FFFF00"/>
          </a:solidFill>
          <a:ln w="9525">
            <a:solidFill>
              <a:schemeClr val="tx1"/>
            </a:solidFill>
            <a:miter lim="800000"/>
          </a:ln>
        </p:spPr>
        <p:txBody>
          <a:bodyPr wrap="none" anchor="ct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spcBef>
                <a:spcPct val="0"/>
              </a:spcBef>
              <a:buSzTx/>
              <a:buFontTx/>
              <a:buNone/>
            </a:pPr>
            <a:endParaRPr lang="zh-CN" altLang="en-US" dirty="0">
              <a:latin typeface="微软雅黑 Light" panose="020B0502040204020203" pitchFamily="34" charset="-122"/>
              <a:ea typeface="微软雅黑 Light" panose="020B0502040204020203" pitchFamily="34" charset="-122"/>
            </a:endParaRPr>
          </a:p>
        </p:txBody>
      </p:sp>
      <p:sp>
        <p:nvSpPr>
          <p:cNvPr id="33" name="Text Box 11"/>
          <p:cNvSpPr txBox="1">
            <a:spLocks noChangeArrowheads="1"/>
          </p:cNvSpPr>
          <p:nvPr/>
        </p:nvSpPr>
        <p:spPr bwMode="auto">
          <a:xfrm>
            <a:off x="2771775" y="3699629"/>
            <a:ext cx="10668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lnSpc>
                <a:spcPct val="100000"/>
              </a:lnSpc>
              <a:spcBef>
                <a:spcPct val="0"/>
              </a:spcBef>
              <a:buSzTx/>
              <a:buFontTx/>
              <a:buNone/>
            </a:pPr>
            <a:r>
              <a:rPr kumimoji="1" lang="zh-CN" altLang="en-US" sz="1600" b="0" dirty="0">
                <a:solidFill>
                  <a:srgbClr val="000000"/>
                </a:solidFill>
                <a:latin typeface="Tahoma" panose="020B0604030504040204" pitchFamily="34" charset="0"/>
                <a:ea typeface="微软雅黑" panose="020B0503020204020204" charset="-122"/>
              </a:rPr>
              <a:t>生物</a:t>
            </a:r>
            <a:endParaRPr kumimoji="1" lang="zh-CN" altLang="en-US" sz="1600" b="0" dirty="0">
              <a:solidFill>
                <a:srgbClr val="000000"/>
              </a:solidFill>
              <a:latin typeface="Tahoma" panose="020B0604030504040204" pitchFamily="34" charset="0"/>
              <a:ea typeface="微软雅黑" panose="020B0503020204020204" charset="-122"/>
            </a:endParaRPr>
          </a:p>
          <a:p>
            <a:pPr algn="ctr" eaLnBrk="1" hangingPunct="1">
              <a:lnSpc>
                <a:spcPct val="100000"/>
              </a:lnSpc>
              <a:spcBef>
                <a:spcPct val="0"/>
              </a:spcBef>
              <a:buSzTx/>
              <a:buFontTx/>
              <a:buNone/>
            </a:pPr>
            <a:r>
              <a:rPr kumimoji="1" lang="zh-CN" altLang="en-US" sz="1600" b="0" dirty="0">
                <a:solidFill>
                  <a:srgbClr val="000000"/>
                </a:solidFill>
                <a:latin typeface="Tahoma" panose="020B0604030504040204" pitchFamily="34" charset="0"/>
                <a:ea typeface="微软雅黑" panose="020B0503020204020204" charset="-122"/>
              </a:rPr>
              <a:t>信息学</a:t>
            </a:r>
            <a:endParaRPr kumimoji="1" lang="zh-CN" altLang="en-US" sz="1600" b="0" dirty="0">
              <a:solidFill>
                <a:srgbClr val="000000"/>
              </a:solidFill>
              <a:latin typeface="Tahoma" panose="020B0604030504040204" pitchFamily="34" charset="0"/>
              <a:ea typeface="微软雅黑" panose="020B0503020204020204" charset="-122"/>
            </a:endParaRPr>
          </a:p>
        </p:txBody>
      </p:sp>
      <p:sp>
        <p:nvSpPr>
          <p:cNvPr id="34" name="AutoShape 12"/>
          <p:cNvSpPr>
            <a:spLocks noChangeArrowheads="1"/>
          </p:cNvSpPr>
          <p:nvPr/>
        </p:nvSpPr>
        <p:spPr bwMode="auto">
          <a:xfrm>
            <a:off x="3990976" y="3540878"/>
            <a:ext cx="989013" cy="719138"/>
          </a:xfrm>
          <a:prstGeom prst="cube">
            <a:avLst>
              <a:gd name="adj" fmla="val 25000"/>
            </a:avLst>
          </a:prstGeom>
          <a:solidFill>
            <a:srgbClr val="00FFFF"/>
          </a:solidFill>
          <a:ln w="9525">
            <a:solidFill>
              <a:schemeClr val="tx1"/>
            </a:solidFill>
            <a:miter lim="800000"/>
          </a:ln>
        </p:spPr>
        <p:txBody>
          <a:bodyPr wrap="none" anchor="ct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spcBef>
                <a:spcPct val="0"/>
              </a:spcBef>
              <a:buSzTx/>
              <a:buFontTx/>
              <a:buNone/>
            </a:pPr>
            <a:endParaRPr lang="zh-CN" altLang="en-US" dirty="0">
              <a:latin typeface="微软雅黑 Light" panose="020B0502040204020203" pitchFamily="34" charset="-122"/>
              <a:ea typeface="微软雅黑 Light" panose="020B0502040204020203" pitchFamily="34" charset="-122"/>
            </a:endParaRPr>
          </a:p>
        </p:txBody>
      </p:sp>
      <p:sp>
        <p:nvSpPr>
          <p:cNvPr id="35" name="Text Box 13"/>
          <p:cNvSpPr txBox="1">
            <a:spLocks noChangeArrowheads="1"/>
          </p:cNvSpPr>
          <p:nvPr/>
        </p:nvSpPr>
        <p:spPr bwMode="auto">
          <a:xfrm>
            <a:off x="3876675" y="3693279"/>
            <a:ext cx="10668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lnSpc>
                <a:spcPct val="100000"/>
              </a:lnSpc>
              <a:spcBef>
                <a:spcPct val="50000"/>
              </a:spcBef>
              <a:buSzTx/>
              <a:buFontTx/>
              <a:buNone/>
            </a:pPr>
            <a:r>
              <a:rPr kumimoji="1" lang="zh-CN" altLang="en-US" sz="1600" b="0" dirty="0">
                <a:solidFill>
                  <a:srgbClr val="000000"/>
                </a:solidFill>
                <a:latin typeface="Tahoma" panose="020B0604030504040204" pitchFamily="34" charset="0"/>
                <a:ea typeface="微软雅黑" panose="020B0503020204020204" charset="-122"/>
              </a:rPr>
              <a:t>计算</a:t>
            </a:r>
            <a:endParaRPr kumimoji="1" lang="zh-CN" altLang="en-US" sz="1600" b="0" dirty="0">
              <a:solidFill>
                <a:srgbClr val="000000"/>
              </a:solidFill>
              <a:latin typeface="Tahoma" panose="020B0604030504040204" pitchFamily="34" charset="0"/>
              <a:ea typeface="微软雅黑" panose="020B0503020204020204" charset="-122"/>
            </a:endParaRPr>
          </a:p>
          <a:p>
            <a:pPr algn="ctr" eaLnBrk="1" hangingPunct="1">
              <a:lnSpc>
                <a:spcPct val="100000"/>
              </a:lnSpc>
              <a:spcBef>
                <a:spcPct val="0"/>
              </a:spcBef>
              <a:buSzTx/>
              <a:buFontTx/>
              <a:buNone/>
            </a:pPr>
            <a:r>
              <a:rPr kumimoji="1" lang="zh-CN" altLang="en-US" sz="1600" b="0" dirty="0">
                <a:solidFill>
                  <a:srgbClr val="000000"/>
                </a:solidFill>
                <a:latin typeface="Tahoma" panose="020B0604030504040204" pitchFamily="34" charset="0"/>
                <a:ea typeface="微软雅黑" panose="020B0503020204020204" charset="-122"/>
              </a:rPr>
              <a:t>金融学</a:t>
            </a:r>
            <a:endParaRPr kumimoji="1" lang="zh-CN" altLang="en-US" sz="1600" b="0" dirty="0">
              <a:solidFill>
                <a:srgbClr val="000000"/>
              </a:solidFill>
              <a:latin typeface="Tahoma" panose="020B0604030504040204" pitchFamily="34" charset="0"/>
              <a:ea typeface="微软雅黑" panose="020B0503020204020204" charset="-122"/>
            </a:endParaRPr>
          </a:p>
        </p:txBody>
      </p:sp>
      <p:sp>
        <p:nvSpPr>
          <p:cNvPr id="36" name="AutoShape 14"/>
          <p:cNvSpPr>
            <a:spLocks noChangeArrowheads="1"/>
          </p:cNvSpPr>
          <p:nvPr/>
        </p:nvSpPr>
        <p:spPr bwMode="auto">
          <a:xfrm>
            <a:off x="5946776" y="3540878"/>
            <a:ext cx="989013" cy="719138"/>
          </a:xfrm>
          <a:prstGeom prst="cube">
            <a:avLst>
              <a:gd name="adj" fmla="val 25000"/>
            </a:avLst>
          </a:prstGeom>
          <a:solidFill>
            <a:srgbClr val="FFCC99"/>
          </a:solidFill>
          <a:ln w="9525">
            <a:solidFill>
              <a:schemeClr val="tx1"/>
            </a:solidFill>
            <a:miter lim="800000"/>
          </a:ln>
        </p:spPr>
        <p:txBody>
          <a:bodyPr wrap="none" anchor="ct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spcBef>
                <a:spcPct val="0"/>
              </a:spcBef>
              <a:buSzTx/>
              <a:buFontTx/>
              <a:buNone/>
            </a:pPr>
            <a:endParaRPr lang="zh-CN" altLang="en-US" dirty="0">
              <a:latin typeface="微软雅黑 Light" panose="020B0502040204020203" pitchFamily="34" charset="-122"/>
              <a:ea typeface="微软雅黑 Light" panose="020B0502040204020203" pitchFamily="34" charset="-122"/>
            </a:endParaRPr>
          </a:p>
        </p:txBody>
      </p:sp>
      <p:sp>
        <p:nvSpPr>
          <p:cNvPr id="37" name="Text Box 15"/>
          <p:cNvSpPr txBox="1">
            <a:spLocks noChangeArrowheads="1"/>
          </p:cNvSpPr>
          <p:nvPr/>
        </p:nvSpPr>
        <p:spPr bwMode="auto">
          <a:xfrm>
            <a:off x="5845175" y="3693279"/>
            <a:ext cx="10668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lnSpc>
                <a:spcPct val="100000"/>
              </a:lnSpc>
              <a:spcBef>
                <a:spcPct val="50000"/>
              </a:spcBef>
              <a:buSzTx/>
              <a:buFontTx/>
              <a:buNone/>
            </a:pPr>
            <a:r>
              <a:rPr kumimoji="1" lang="zh-CN" altLang="en-US" sz="1600" b="0" dirty="0">
                <a:solidFill>
                  <a:srgbClr val="000000"/>
                </a:solidFill>
                <a:latin typeface="Tahoma" panose="020B0604030504040204" pitchFamily="34" charset="0"/>
                <a:ea typeface="微软雅黑" panose="020B0503020204020204" charset="-122"/>
              </a:rPr>
              <a:t>分子</a:t>
            </a:r>
            <a:endParaRPr kumimoji="1" lang="zh-CN" altLang="en-US" sz="1600" b="0" dirty="0">
              <a:solidFill>
                <a:srgbClr val="000000"/>
              </a:solidFill>
              <a:latin typeface="Tahoma" panose="020B0604030504040204" pitchFamily="34" charset="0"/>
              <a:ea typeface="微软雅黑" panose="020B0503020204020204" charset="-122"/>
            </a:endParaRPr>
          </a:p>
          <a:p>
            <a:pPr algn="ctr" eaLnBrk="1" hangingPunct="1">
              <a:lnSpc>
                <a:spcPct val="100000"/>
              </a:lnSpc>
              <a:spcBef>
                <a:spcPct val="0"/>
              </a:spcBef>
              <a:buSzTx/>
              <a:buFontTx/>
              <a:buNone/>
            </a:pPr>
            <a:r>
              <a:rPr kumimoji="1" lang="zh-CN" altLang="en-US" sz="1600" b="0" dirty="0">
                <a:solidFill>
                  <a:srgbClr val="000000"/>
                </a:solidFill>
                <a:latin typeface="Tahoma" panose="020B0604030504040204" pitchFamily="34" charset="0"/>
                <a:ea typeface="微软雅黑" panose="020B0503020204020204" charset="-122"/>
              </a:rPr>
              <a:t>生物学</a:t>
            </a:r>
            <a:endParaRPr kumimoji="1" lang="zh-CN" altLang="en-US" sz="1600" b="0" dirty="0">
              <a:solidFill>
                <a:srgbClr val="000000"/>
              </a:solidFill>
              <a:latin typeface="Tahoma" panose="020B0604030504040204" pitchFamily="34" charset="0"/>
              <a:ea typeface="微软雅黑" panose="020B0503020204020204" charset="-122"/>
            </a:endParaRPr>
          </a:p>
        </p:txBody>
      </p:sp>
      <p:sp>
        <p:nvSpPr>
          <p:cNvPr id="38" name="AutoShape 16"/>
          <p:cNvSpPr>
            <a:spLocks noChangeArrowheads="1"/>
          </p:cNvSpPr>
          <p:nvPr/>
        </p:nvSpPr>
        <p:spPr bwMode="auto">
          <a:xfrm>
            <a:off x="7102476" y="3540878"/>
            <a:ext cx="989013" cy="719138"/>
          </a:xfrm>
          <a:prstGeom prst="cube">
            <a:avLst>
              <a:gd name="adj" fmla="val 25000"/>
            </a:avLst>
          </a:prstGeom>
          <a:solidFill>
            <a:schemeClr val="bg2"/>
          </a:solidFill>
          <a:ln w="9525">
            <a:solidFill>
              <a:schemeClr val="tx1"/>
            </a:solidFill>
            <a:miter lim="800000"/>
          </a:ln>
        </p:spPr>
        <p:txBody>
          <a:bodyPr wrap="none" anchor="ct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spcBef>
                <a:spcPct val="0"/>
              </a:spcBef>
              <a:buSzTx/>
              <a:buFontTx/>
              <a:buNone/>
            </a:pPr>
            <a:endParaRPr lang="zh-CN" altLang="en-US" dirty="0">
              <a:latin typeface="微软雅黑 Light" panose="020B0502040204020203" pitchFamily="34" charset="-122"/>
              <a:ea typeface="微软雅黑 Light" panose="020B0502040204020203" pitchFamily="34" charset="-122"/>
            </a:endParaRPr>
          </a:p>
        </p:txBody>
      </p:sp>
      <p:sp>
        <p:nvSpPr>
          <p:cNvPr id="39" name="Text Box 17"/>
          <p:cNvSpPr txBox="1">
            <a:spLocks noChangeArrowheads="1"/>
          </p:cNvSpPr>
          <p:nvPr/>
        </p:nvSpPr>
        <p:spPr bwMode="auto">
          <a:xfrm>
            <a:off x="7000875" y="3693279"/>
            <a:ext cx="10668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lnSpc>
                <a:spcPct val="100000"/>
              </a:lnSpc>
              <a:spcBef>
                <a:spcPct val="50000"/>
              </a:spcBef>
              <a:buSzTx/>
              <a:buFontTx/>
              <a:buNone/>
            </a:pPr>
            <a:r>
              <a:rPr kumimoji="1" lang="zh-CN" altLang="en-US" sz="1600" b="0" dirty="0">
                <a:solidFill>
                  <a:srgbClr val="000000"/>
                </a:solidFill>
                <a:latin typeface="Tahoma" panose="020B0604030504040204" pitchFamily="34" charset="0"/>
                <a:ea typeface="微软雅黑" panose="020B0503020204020204" charset="-122"/>
              </a:rPr>
              <a:t>行星</a:t>
            </a:r>
            <a:endParaRPr kumimoji="1" lang="zh-CN" altLang="en-US" sz="1600" b="0" dirty="0">
              <a:solidFill>
                <a:srgbClr val="000000"/>
              </a:solidFill>
              <a:latin typeface="Tahoma" panose="020B0604030504040204" pitchFamily="34" charset="0"/>
              <a:ea typeface="微软雅黑" panose="020B0503020204020204" charset="-122"/>
            </a:endParaRPr>
          </a:p>
          <a:p>
            <a:pPr algn="ctr" eaLnBrk="1" hangingPunct="1">
              <a:lnSpc>
                <a:spcPct val="100000"/>
              </a:lnSpc>
              <a:spcBef>
                <a:spcPct val="0"/>
              </a:spcBef>
              <a:buSzTx/>
              <a:buFontTx/>
              <a:buNone/>
            </a:pPr>
            <a:r>
              <a:rPr kumimoji="1" lang="zh-CN" altLang="en-US" sz="1600" b="0" dirty="0">
                <a:solidFill>
                  <a:srgbClr val="000000"/>
                </a:solidFill>
                <a:latin typeface="Tahoma" panose="020B0604030504040204" pitchFamily="34" charset="0"/>
                <a:ea typeface="微软雅黑" panose="020B0503020204020204" charset="-122"/>
              </a:rPr>
              <a:t>地质学</a:t>
            </a:r>
            <a:endParaRPr kumimoji="1" lang="zh-CN" altLang="en-US" sz="1600" b="0" dirty="0">
              <a:solidFill>
                <a:srgbClr val="000000"/>
              </a:solidFill>
              <a:latin typeface="Tahoma" panose="020B0604030504040204" pitchFamily="34" charset="0"/>
              <a:ea typeface="微软雅黑" panose="020B0503020204020204" charset="-122"/>
            </a:endParaRPr>
          </a:p>
        </p:txBody>
      </p:sp>
      <p:sp>
        <p:nvSpPr>
          <p:cNvPr id="40" name="Text Box 18"/>
          <p:cNvSpPr txBox="1">
            <a:spLocks noChangeArrowheads="1"/>
          </p:cNvSpPr>
          <p:nvPr/>
        </p:nvSpPr>
        <p:spPr bwMode="auto">
          <a:xfrm>
            <a:off x="4941888" y="3525003"/>
            <a:ext cx="1066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lnSpc>
                <a:spcPct val="100000"/>
              </a:lnSpc>
              <a:spcBef>
                <a:spcPct val="50000"/>
              </a:spcBef>
              <a:buSzTx/>
              <a:buFontTx/>
              <a:buNone/>
            </a:pPr>
            <a:r>
              <a:rPr kumimoji="1" lang="en-US" altLang="zh-CN" sz="3200" b="0" dirty="0">
                <a:solidFill>
                  <a:srgbClr val="000000"/>
                </a:solidFill>
                <a:latin typeface="Tahoma" panose="020B0604030504040204" pitchFamily="34" charset="0"/>
                <a:ea typeface="微软雅黑" panose="020B0503020204020204" charset="-122"/>
              </a:rPr>
              <a:t>……</a:t>
            </a:r>
            <a:endParaRPr kumimoji="1" lang="en-US" altLang="zh-CN" sz="3200" b="0" dirty="0">
              <a:solidFill>
                <a:srgbClr val="000000"/>
              </a:solidFill>
              <a:latin typeface="Tahoma" panose="020B0604030504040204" pitchFamily="34" charset="0"/>
              <a:ea typeface="微软雅黑" panose="020B0503020204020204" charset="-122"/>
            </a:endParaRPr>
          </a:p>
        </p:txBody>
      </p:sp>
      <p:sp>
        <p:nvSpPr>
          <p:cNvPr id="41" name="AutoShape 19"/>
          <p:cNvSpPr>
            <a:spLocks noChangeArrowheads="1"/>
          </p:cNvSpPr>
          <p:nvPr/>
        </p:nvSpPr>
        <p:spPr bwMode="auto">
          <a:xfrm>
            <a:off x="3938588" y="2772528"/>
            <a:ext cx="989012" cy="719138"/>
          </a:xfrm>
          <a:prstGeom prst="cube">
            <a:avLst>
              <a:gd name="adj" fmla="val 25000"/>
            </a:avLst>
          </a:prstGeom>
          <a:solidFill>
            <a:srgbClr val="99CCFF"/>
          </a:solidFill>
          <a:ln w="9525">
            <a:solidFill>
              <a:schemeClr val="tx1"/>
            </a:solidFill>
            <a:miter lim="800000"/>
          </a:ln>
        </p:spPr>
        <p:txBody>
          <a:bodyPr wrap="none" anchor="ct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spcBef>
                <a:spcPct val="0"/>
              </a:spcBef>
              <a:buSzTx/>
              <a:buFontTx/>
              <a:buNone/>
            </a:pPr>
            <a:endParaRPr lang="zh-CN" altLang="en-US" dirty="0">
              <a:latin typeface="微软雅黑 Light" panose="020B0502040204020203" pitchFamily="34" charset="-122"/>
              <a:ea typeface="微软雅黑 Light" panose="020B0502040204020203" pitchFamily="34" charset="-122"/>
            </a:endParaRPr>
          </a:p>
        </p:txBody>
      </p:sp>
      <p:sp>
        <p:nvSpPr>
          <p:cNvPr id="42" name="Text Box 20"/>
          <p:cNvSpPr txBox="1">
            <a:spLocks noChangeArrowheads="1"/>
          </p:cNvSpPr>
          <p:nvPr/>
        </p:nvSpPr>
        <p:spPr bwMode="auto">
          <a:xfrm>
            <a:off x="3900488" y="2937629"/>
            <a:ext cx="9144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lnSpc>
                <a:spcPct val="100000"/>
              </a:lnSpc>
              <a:spcBef>
                <a:spcPct val="50000"/>
              </a:spcBef>
              <a:buSzTx/>
              <a:buFontTx/>
              <a:buNone/>
            </a:pPr>
            <a:r>
              <a:rPr kumimoji="1" lang="zh-CN" altLang="en-US" sz="1600" b="0" dirty="0">
                <a:solidFill>
                  <a:srgbClr val="000000"/>
                </a:solidFill>
                <a:latin typeface="Tahoma" panose="020B0604030504040204" pitchFamily="34" charset="0"/>
                <a:ea typeface="微软雅黑" panose="020B0503020204020204" charset="-122"/>
              </a:rPr>
              <a:t>工业过程控制</a:t>
            </a:r>
            <a:endParaRPr kumimoji="1" lang="zh-CN" altLang="en-US" sz="1600" b="0" dirty="0">
              <a:solidFill>
                <a:srgbClr val="000000"/>
              </a:solidFill>
              <a:latin typeface="Tahoma" panose="020B0604030504040204" pitchFamily="34" charset="0"/>
              <a:ea typeface="微软雅黑" panose="020B0503020204020204" charset="-122"/>
            </a:endParaRPr>
          </a:p>
        </p:txBody>
      </p:sp>
      <p:sp>
        <p:nvSpPr>
          <p:cNvPr id="43" name="AutoShape 21"/>
          <p:cNvSpPr>
            <a:spLocks noChangeArrowheads="1"/>
          </p:cNvSpPr>
          <p:nvPr/>
        </p:nvSpPr>
        <p:spPr bwMode="auto">
          <a:xfrm>
            <a:off x="5081588" y="2772528"/>
            <a:ext cx="989012" cy="719138"/>
          </a:xfrm>
          <a:prstGeom prst="cube">
            <a:avLst>
              <a:gd name="adj" fmla="val 25000"/>
            </a:avLst>
          </a:prstGeom>
          <a:solidFill>
            <a:srgbClr val="FFFF99"/>
          </a:solidFill>
          <a:ln w="9525">
            <a:solidFill>
              <a:schemeClr val="tx1"/>
            </a:solidFill>
            <a:miter lim="800000"/>
          </a:ln>
        </p:spPr>
        <p:txBody>
          <a:bodyPr wrap="none" anchor="ct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spcBef>
                <a:spcPct val="0"/>
              </a:spcBef>
              <a:buSzTx/>
              <a:buFontTx/>
              <a:buNone/>
            </a:pPr>
            <a:endParaRPr lang="zh-CN" altLang="en-US" dirty="0">
              <a:latin typeface="微软雅黑 Light" panose="020B0502040204020203" pitchFamily="34" charset="-122"/>
              <a:ea typeface="微软雅黑 Light" panose="020B0502040204020203" pitchFamily="34" charset="-122"/>
            </a:endParaRPr>
          </a:p>
        </p:txBody>
      </p:sp>
      <p:sp>
        <p:nvSpPr>
          <p:cNvPr id="44" name="AutoShape 22"/>
          <p:cNvSpPr>
            <a:spLocks noChangeArrowheads="1"/>
          </p:cNvSpPr>
          <p:nvPr/>
        </p:nvSpPr>
        <p:spPr bwMode="auto">
          <a:xfrm>
            <a:off x="6946901" y="2772528"/>
            <a:ext cx="989013" cy="719138"/>
          </a:xfrm>
          <a:prstGeom prst="cube">
            <a:avLst>
              <a:gd name="adj" fmla="val 25000"/>
            </a:avLst>
          </a:prstGeom>
          <a:solidFill>
            <a:srgbClr val="CCFFCC"/>
          </a:solidFill>
          <a:ln w="9525">
            <a:solidFill>
              <a:schemeClr val="tx1"/>
            </a:solidFill>
            <a:miter lim="800000"/>
          </a:ln>
        </p:spPr>
        <p:txBody>
          <a:bodyPr wrap="none" anchor="ct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spcBef>
                <a:spcPct val="0"/>
              </a:spcBef>
              <a:buSzTx/>
              <a:buFontTx/>
              <a:buNone/>
            </a:pPr>
            <a:endParaRPr lang="zh-CN" altLang="en-US" dirty="0">
              <a:latin typeface="微软雅黑 Light" panose="020B0502040204020203" pitchFamily="34" charset="-122"/>
              <a:ea typeface="微软雅黑 Light" panose="020B0502040204020203" pitchFamily="34" charset="-122"/>
            </a:endParaRPr>
          </a:p>
        </p:txBody>
      </p:sp>
      <p:sp>
        <p:nvSpPr>
          <p:cNvPr id="45" name="Text Box 23"/>
          <p:cNvSpPr txBox="1">
            <a:spLocks noChangeArrowheads="1"/>
          </p:cNvSpPr>
          <p:nvPr/>
        </p:nvSpPr>
        <p:spPr bwMode="auto">
          <a:xfrm>
            <a:off x="6832600" y="3026528"/>
            <a:ext cx="1066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lnSpc>
                <a:spcPct val="100000"/>
              </a:lnSpc>
              <a:spcBef>
                <a:spcPct val="50000"/>
              </a:spcBef>
              <a:buSzTx/>
              <a:buFontTx/>
              <a:buNone/>
            </a:pPr>
            <a:r>
              <a:rPr kumimoji="1" lang="zh-CN" altLang="en-US" sz="1600" b="0" dirty="0">
                <a:solidFill>
                  <a:srgbClr val="000000"/>
                </a:solidFill>
                <a:latin typeface="Tahoma" panose="020B0604030504040204" pitchFamily="34" charset="0"/>
                <a:ea typeface="微软雅黑" panose="020B0503020204020204" charset="-122"/>
              </a:rPr>
              <a:t>机器人</a:t>
            </a:r>
            <a:endParaRPr kumimoji="1" lang="zh-CN" altLang="en-US" sz="1600" b="0" dirty="0">
              <a:solidFill>
                <a:srgbClr val="000000"/>
              </a:solidFill>
              <a:latin typeface="Tahoma" panose="020B0604030504040204" pitchFamily="34" charset="0"/>
              <a:ea typeface="微软雅黑" panose="020B0503020204020204" charset="-122"/>
            </a:endParaRPr>
          </a:p>
        </p:txBody>
      </p:sp>
      <p:sp>
        <p:nvSpPr>
          <p:cNvPr id="46" name="AutoShape 24"/>
          <p:cNvSpPr>
            <a:spLocks noChangeArrowheads="1"/>
          </p:cNvSpPr>
          <p:nvPr/>
        </p:nvSpPr>
        <p:spPr bwMode="auto">
          <a:xfrm>
            <a:off x="8089901" y="2772528"/>
            <a:ext cx="989013" cy="719138"/>
          </a:xfrm>
          <a:prstGeom prst="cube">
            <a:avLst>
              <a:gd name="adj" fmla="val 25000"/>
            </a:avLst>
          </a:prstGeom>
          <a:solidFill>
            <a:srgbClr val="FFCC00"/>
          </a:solidFill>
          <a:ln w="9525">
            <a:solidFill>
              <a:schemeClr val="tx1"/>
            </a:solidFill>
            <a:miter lim="800000"/>
          </a:ln>
        </p:spPr>
        <p:txBody>
          <a:bodyPr wrap="none" anchor="ct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spcBef>
                <a:spcPct val="0"/>
              </a:spcBef>
              <a:buSzTx/>
              <a:buFontTx/>
              <a:buNone/>
            </a:pPr>
            <a:endParaRPr lang="zh-CN" altLang="en-US" dirty="0">
              <a:latin typeface="微软雅黑 Light" panose="020B0502040204020203" pitchFamily="34" charset="-122"/>
              <a:ea typeface="微软雅黑 Light" panose="020B0502040204020203" pitchFamily="34" charset="-122"/>
            </a:endParaRPr>
          </a:p>
        </p:txBody>
      </p:sp>
      <p:sp>
        <p:nvSpPr>
          <p:cNvPr id="47" name="Text Box 25"/>
          <p:cNvSpPr txBox="1">
            <a:spLocks noChangeArrowheads="1"/>
          </p:cNvSpPr>
          <p:nvPr/>
        </p:nvSpPr>
        <p:spPr bwMode="auto">
          <a:xfrm>
            <a:off x="5994400" y="2756653"/>
            <a:ext cx="1066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lnSpc>
                <a:spcPct val="100000"/>
              </a:lnSpc>
              <a:spcBef>
                <a:spcPct val="50000"/>
              </a:spcBef>
              <a:buSzTx/>
              <a:buFontTx/>
              <a:buNone/>
            </a:pPr>
            <a:r>
              <a:rPr kumimoji="1" lang="en-US" altLang="zh-CN" sz="3200" b="0" dirty="0">
                <a:solidFill>
                  <a:srgbClr val="000000"/>
                </a:solidFill>
                <a:latin typeface="Tahoma" panose="020B0604030504040204" pitchFamily="34" charset="0"/>
                <a:ea typeface="微软雅黑" panose="020B0503020204020204" charset="-122"/>
              </a:rPr>
              <a:t>……</a:t>
            </a:r>
            <a:endParaRPr kumimoji="1" lang="en-US" altLang="zh-CN" sz="3200" b="0" dirty="0">
              <a:solidFill>
                <a:srgbClr val="000000"/>
              </a:solidFill>
              <a:latin typeface="Tahoma" panose="020B0604030504040204" pitchFamily="34" charset="0"/>
              <a:ea typeface="微软雅黑" panose="020B0503020204020204" charset="-122"/>
            </a:endParaRPr>
          </a:p>
        </p:txBody>
      </p:sp>
      <p:sp>
        <p:nvSpPr>
          <p:cNvPr id="48" name="Text Box 26"/>
          <p:cNvSpPr txBox="1">
            <a:spLocks noChangeArrowheads="1"/>
          </p:cNvSpPr>
          <p:nvPr/>
        </p:nvSpPr>
        <p:spPr bwMode="auto">
          <a:xfrm>
            <a:off x="7975600" y="2937629"/>
            <a:ext cx="10668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lnSpc>
                <a:spcPct val="100000"/>
              </a:lnSpc>
              <a:spcBef>
                <a:spcPct val="50000"/>
              </a:spcBef>
              <a:buSzTx/>
              <a:buFontTx/>
              <a:buNone/>
            </a:pPr>
            <a:r>
              <a:rPr kumimoji="1" lang="zh-CN" altLang="en-US" sz="1600" b="0" dirty="0">
                <a:solidFill>
                  <a:srgbClr val="000000"/>
                </a:solidFill>
                <a:latin typeface="Tahoma" panose="020B0604030504040204" pitchFamily="34" charset="0"/>
                <a:ea typeface="微软雅黑" panose="020B0503020204020204" charset="-122"/>
              </a:rPr>
              <a:t>遥感信</a:t>
            </a:r>
            <a:endParaRPr kumimoji="1" lang="zh-CN" altLang="en-US" sz="1600" b="0" dirty="0">
              <a:solidFill>
                <a:srgbClr val="000000"/>
              </a:solidFill>
              <a:latin typeface="Tahoma" panose="020B0604030504040204" pitchFamily="34" charset="0"/>
              <a:ea typeface="微软雅黑" panose="020B0503020204020204" charset="-122"/>
            </a:endParaRPr>
          </a:p>
          <a:p>
            <a:pPr algn="ctr" eaLnBrk="1" hangingPunct="1">
              <a:lnSpc>
                <a:spcPct val="100000"/>
              </a:lnSpc>
              <a:spcBef>
                <a:spcPct val="0"/>
              </a:spcBef>
              <a:buSzTx/>
              <a:buFontTx/>
              <a:buNone/>
            </a:pPr>
            <a:r>
              <a:rPr kumimoji="1" lang="zh-CN" altLang="en-US" sz="1600" b="0" dirty="0">
                <a:solidFill>
                  <a:srgbClr val="000000"/>
                </a:solidFill>
                <a:latin typeface="Tahoma" panose="020B0604030504040204" pitchFamily="34" charset="0"/>
                <a:ea typeface="微软雅黑" panose="020B0503020204020204" charset="-122"/>
              </a:rPr>
              <a:t>息处理</a:t>
            </a:r>
            <a:endParaRPr kumimoji="1" lang="zh-CN" altLang="en-US" sz="1600" b="0" dirty="0">
              <a:solidFill>
                <a:srgbClr val="000000"/>
              </a:solidFill>
              <a:latin typeface="Tahoma" panose="020B0604030504040204" pitchFamily="34" charset="0"/>
              <a:ea typeface="微软雅黑" panose="020B0503020204020204" charset="-122"/>
            </a:endParaRPr>
          </a:p>
        </p:txBody>
      </p:sp>
      <p:sp>
        <p:nvSpPr>
          <p:cNvPr id="49" name="Text Box 27"/>
          <p:cNvSpPr txBox="1">
            <a:spLocks noChangeArrowheads="1"/>
          </p:cNvSpPr>
          <p:nvPr/>
        </p:nvSpPr>
        <p:spPr bwMode="auto">
          <a:xfrm>
            <a:off x="5132388" y="2937629"/>
            <a:ext cx="7366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lnSpc>
                <a:spcPct val="100000"/>
              </a:lnSpc>
              <a:spcBef>
                <a:spcPct val="50000"/>
              </a:spcBef>
              <a:buSzTx/>
              <a:buFontTx/>
              <a:buNone/>
            </a:pPr>
            <a:r>
              <a:rPr kumimoji="1" lang="zh-CN" altLang="en-US" sz="1600" b="0" dirty="0">
                <a:solidFill>
                  <a:srgbClr val="000000"/>
                </a:solidFill>
                <a:latin typeface="Tahoma" panose="020B0604030504040204" pitchFamily="34" charset="0"/>
                <a:ea typeface="微软雅黑" panose="020B0503020204020204" charset="-122"/>
              </a:rPr>
              <a:t>信息安全</a:t>
            </a:r>
            <a:endParaRPr kumimoji="1" lang="zh-CN" altLang="en-US" sz="1600" b="0" dirty="0">
              <a:solidFill>
                <a:srgbClr val="000000"/>
              </a:solidFill>
              <a:latin typeface="Tahoma" panose="020B0604030504040204" pitchFamily="34" charset="0"/>
              <a:ea typeface="微软雅黑" panose="020B0503020204020204" charset="-122"/>
            </a:endParaRPr>
          </a:p>
        </p:txBody>
      </p:sp>
      <p:sp>
        <p:nvSpPr>
          <p:cNvPr id="50" name="AutoShape 28"/>
          <p:cNvSpPr>
            <a:spLocks noChangeArrowheads="1"/>
          </p:cNvSpPr>
          <p:nvPr/>
        </p:nvSpPr>
        <p:spPr bwMode="auto">
          <a:xfrm>
            <a:off x="3671888" y="4661653"/>
            <a:ext cx="4038600" cy="838200"/>
          </a:xfrm>
          <a:prstGeom prst="cube">
            <a:avLst>
              <a:gd name="adj" fmla="val 52472"/>
            </a:avLst>
          </a:prstGeom>
          <a:solidFill>
            <a:schemeClr val="accent1">
              <a:alpha val="50195"/>
            </a:schemeClr>
          </a:solidFill>
          <a:ln w="9525">
            <a:solidFill>
              <a:schemeClr val="tx1"/>
            </a:solidFill>
            <a:miter lim="800000"/>
          </a:ln>
        </p:spPr>
        <p:txBody>
          <a:bodyPr wrap="none" anchor="ct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spcBef>
                <a:spcPct val="0"/>
              </a:spcBef>
              <a:buSzTx/>
              <a:buFontTx/>
              <a:buNone/>
            </a:pPr>
            <a:endParaRPr lang="zh-CN" altLang="en-US" dirty="0">
              <a:latin typeface="微软雅黑 Light" panose="020B0502040204020203" pitchFamily="34" charset="-122"/>
              <a:ea typeface="微软雅黑 Light" panose="020B0502040204020203" pitchFamily="34" charset="-122"/>
            </a:endParaRPr>
          </a:p>
        </p:txBody>
      </p:sp>
      <p:sp>
        <p:nvSpPr>
          <p:cNvPr id="51" name="AutoShape 29"/>
          <p:cNvSpPr>
            <a:spLocks noChangeArrowheads="1"/>
          </p:cNvSpPr>
          <p:nvPr/>
        </p:nvSpPr>
        <p:spPr bwMode="auto">
          <a:xfrm>
            <a:off x="5272088" y="4458453"/>
            <a:ext cx="914400" cy="304800"/>
          </a:xfrm>
          <a:prstGeom prst="upArrow">
            <a:avLst>
              <a:gd name="adj1" fmla="val 53120"/>
              <a:gd name="adj2" fmla="val 45833"/>
            </a:avLst>
          </a:prstGeom>
          <a:solidFill>
            <a:schemeClr val="accent1">
              <a:alpha val="50000"/>
            </a:schemeClr>
          </a:solidFill>
          <a:ln w="9525">
            <a:solidFill>
              <a:schemeClr val="tx1"/>
            </a:solidFill>
            <a:miter lim="800000"/>
          </a:ln>
          <a:effectLst/>
        </p:spPr>
        <p:txBody>
          <a:bodyPr wrap="none" anchor="ctr"/>
          <a:lstStyle/>
          <a:p>
            <a:pPr algn="ctr" eaLnBrk="1" hangingPunct="1">
              <a:defRPr/>
            </a:pPr>
            <a:endParaRPr kumimoji="1" lang="zh-CN" altLang="en-US" sz="2400">
              <a:effectLst>
                <a:outerShdw blurRad="38100" dist="38100" dir="2700000" algn="tl">
                  <a:srgbClr val="FFFFFF"/>
                </a:outerShdw>
              </a:effectLst>
              <a:latin typeface="Tahoma" panose="020B0604030504040204" pitchFamily="34" charset="0"/>
            </a:endParaRPr>
          </a:p>
        </p:txBody>
      </p:sp>
      <p:sp>
        <p:nvSpPr>
          <p:cNvPr id="52" name="Text Box 30"/>
          <p:cNvSpPr txBox="1">
            <a:spLocks noChangeArrowheads="1"/>
          </p:cNvSpPr>
          <p:nvPr/>
        </p:nvSpPr>
        <p:spPr bwMode="auto">
          <a:xfrm>
            <a:off x="4446588" y="5093454"/>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lnSpc>
                <a:spcPct val="100000"/>
              </a:lnSpc>
              <a:spcBef>
                <a:spcPct val="50000"/>
              </a:spcBef>
              <a:buSzTx/>
              <a:buFontTx/>
              <a:buNone/>
            </a:pPr>
            <a:r>
              <a:rPr kumimoji="1" lang="zh-CN" altLang="en-US" sz="2000" b="0" dirty="0">
                <a:solidFill>
                  <a:srgbClr val="000000"/>
                </a:solidFill>
                <a:latin typeface="Tahoma" panose="020B0604030504040204" pitchFamily="34" charset="0"/>
                <a:ea typeface="微软雅黑" panose="020B0503020204020204" charset="-122"/>
              </a:rPr>
              <a:t>机 器 学 习</a:t>
            </a:r>
            <a:endParaRPr kumimoji="1" lang="zh-CN" altLang="en-US" sz="2000" b="0" dirty="0">
              <a:solidFill>
                <a:srgbClr val="000000"/>
              </a:solidFill>
              <a:latin typeface="Tahoma" panose="020B0604030504040204" pitchFamily="34" charset="0"/>
              <a:ea typeface="微软雅黑" panose="020B0503020204020204" charset="-122"/>
            </a:endParaRPr>
          </a:p>
        </p:txBody>
      </p:sp>
      <p:sp>
        <p:nvSpPr>
          <p:cNvPr id="4" name="文本框 3"/>
          <p:cNvSpPr txBox="1"/>
          <p:nvPr/>
        </p:nvSpPr>
        <p:spPr>
          <a:xfrm>
            <a:off x="1604645" y="1290955"/>
            <a:ext cx="6271895" cy="460375"/>
          </a:xfrm>
          <a:prstGeom prst="rect">
            <a:avLst/>
          </a:prstGeom>
          <a:noFill/>
        </p:spPr>
        <p:txBody>
          <a:bodyPr wrap="square" rtlCol="0">
            <a:spAutoFit/>
          </a:bodyPr>
          <a:p>
            <a:r>
              <a:rPr lang="zh-CN" altLang="en-US" sz="2400" b="1">
                <a:latin typeface="宋体" panose="02010600030101010101" pitchFamily="2" charset="-122"/>
                <a:ea typeface="宋体" panose="02010600030101010101" pitchFamily="2" charset="-122"/>
              </a:rPr>
              <a:t>此外，机器学习在各行各业还有许多应用：</a:t>
            </a:r>
            <a:endParaRPr lang="zh-CN" altLang="en-US" sz="2400" b="1">
              <a:latin typeface="宋体" panose="02010600030101010101" pitchFamily="2" charset="-122"/>
              <a:ea typeface="宋体" panose="0201060003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035" y="286385"/>
            <a:ext cx="1787525" cy="593090"/>
          </a:xfrm>
        </p:spPr>
        <p:txBody>
          <a:bodyPr>
            <a:normAutofit fontScale="90000"/>
          </a:bodyPr>
          <a:lstStyle/>
          <a:p>
            <a:r>
              <a:rPr lang="zh-CN" altLang="en-US" sz="3200" b="1" spc="200" dirty="0">
                <a:solidFill>
                  <a:schemeClr val="accent1"/>
                </a:solidFill>
                <a:uFillTx/>
                <a:latin typeface="微软雅黑 Light" panose="020B0502040204020203" pitchFamily="34" charset="-122"/>
                <a:ea typeface="微软雅黑" panose="020B0503020204020204" charset="-122"/>
              </a:rPr>
              <a:t>机器学习</a:t>
            </a:r>
            <a:endParaRPr lang="zh-CN" altLang="en-US" sz="3200" b="1" spc="200" dirty="0">
              <a:solidFill>
                <a:schemeClr val="accent1"/>
              </a:solidFill>
              <a:uFillTx/>
              <a:latin typeface="微软雅黑 Light" panose="020B0502040204020203" pitchFamily="34" charset="-122"/>
              <a:ea typeface="微软雅黑" panose="020B0503020204020204" charset="-122"/>
            </a:endParaRPr>
          </a:p>
        </p:txBody>
      </p:sp>
      <p:sp>
        <p:nvSpPr>
          <p:cNvPr id="6" name="矩形 5"/>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7" name="矩形 6"/>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3" name="Title 1"/>
          <p:cNvSpPr>
            <a:spLocks noGrp="1"/>
          </p:cNvSpPr>
          <p:nvPr/>
        </p:nvSpPr>
        <p:spPr>
          <a:xfrm>
            <a:off x="604520" y="1694180"/>
            <a:ext cx="2550160" cy="593090"/>
          </a:xfrm>
          <a:prstGeom prst="rect">
            <a:avLst/>
          </a:prstGeom>
        </p:spPr>
        <p:txBody>
          <a:bodyPr vert="horz" lIns="101600" tIns="38100" rIns="76200" bIns="38100" rtlCol="0" anchor="t" anchorCtr="0">
            <a:noAutofit/>
          </a:bodyPr>
          <a:lstStyle>
            <a:lvl1pPr marL="0" marR="0" algn="l" defTabSz="914400" rtl="0" eaLnBrk="1" fontAlgn="auto" latinLnBrk="0" hangingPunct="1">
              <a:lnSpc>
                <a:spcPct val="100000"/>
              </a:lnSpc>
              <a:spcBef>
                <a:spcPct val="0"/>
              </a:spcBef>
              <a:buNone/>
              <a:defRPr kumimoji="0" lang="zh-CN" altLang="en-US" sz="3200" b="1" i="0" u="none" strike="noStrike" kern="1200" cap="none" spc="200" normalizeH="0" baseline="0" noProof="1" dirty="0">
                <a:solidFill>
                  <a:schemeClr val="accent1"/>
                </a:solidFill>
                <a:uFillTx/>
                <a:latin typeface="微软雅黑 Light" panose="020B0502040204020203" pitchFamily="34" charset="-122"/>
                <a:ea typeface="微软雅黑" panose="020B0503020204020204" charset="-122"/>
                <a:cs typeface="+mj-cs"/>
                <a:sym typeface="+mn-ea"/>
              </a:defRPr>
            </a:lvl1pPr>
          </a:lstStyle>
          <a:p>
            <a:r>
              <a:rPr lang="zh-CN" altLang="en-US" dirty="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多学科交叉</a:t>
            </a:r>
            <a:endParaRPr lang="zh-CN" altLang="en-US" dirty="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5" name="Content Placeholder 2"/>
          <p:cNvSpPr>
            <a:spLocks noGrp="1"/>
          </p:cNvSpPr>
          <p:nvPr>
            <p:ph idx="1"/>
          </p:nvPr>
        </p:nvSpPr>
        <p:spPr>
          <a:xfrm>
            <a:off x="604520" y="2606675"/>
            <a:ext cx="10515600" cy="2198370"/>
          </a:xfrm>
        </p:spPr>
        <p:txBody>
          <a:bodyPr/>
          <a:lstStyle/>
          <a:p>
            <a:r>
              <a:rPr lang="zh-CN" altLang="en-US" sz="2400" b="1">
                <a:latin typeface="宋体" panose="02010600030101010101" pitchFamily="2" charset="-122"/>
                <a:ea typeface="宋体" panose="02010600030101010101" pitchFamily="2" charset="-122"/>
                <a:cs typeface="宋体" panose="02010600030101010101" pitchFamily="2" charset="-122"/>
              </a:rPr>
              <a:t>同时机器学习也是一个多学科交叉的产物，它吸取了人工智能、概率统计、神经生物学、认知科学、信息论、控制论、计算复杂性理论、哲学等学科的成果。</a:t>
            </a:r>
            <a:endParaRPr lang="zh-CN" altLang="en-US" sz="2400" b="1">
              <a:latin typeface="宋体" panose="02010600030101010101" pitchFamily="2" charset="-122"/>
              <a:ea typeface="宋体" panose="02010600030101010101" pitchFamily="2" charset="-122"/>
              <a:cs typeface="宋体" panose="02010600030101010101" pitchFamily="2" charset="-122"/>
            </a:endParaRPr>
          </a:p>
          <a:p>
            <a:r>
              <a:rPr lang="zh-CN" altLang="en-US" sz="2400" b="1">
                <a:latin typeface="宋体" panose="02010600030101010101" pitchFamily="2" charset="-122"/>
                <a:ea typeface="宋体" panose="02010600030101010101" pitchFamily="2" charset="-122"/>
                <a:cs typeface="宋体" panose="02010600030101010101" pitchFamily="2" charset="-122"/>
              </a:rPr>
              <a:t>机器学习在很多应用领域发挥了重要的实用价值，特别是在数据挖掘、语音识别、图像处理、机器人、车辆自动驾驶、生物信息学、信息安全、遥感信息处理、计算金融学、工业过程控制。</a:t>
            </a:r>
            <a:endParaRPr lang="zh-CN" altLang="en-US" sz="2400" b="1">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035" y="286385"/>
            <a:ext cx="3391535" cy="593090"/>
          </a:xfrm>
        </p:spPr>
        <p:txBody>
          <a:bodyPr>
            <a:normAutofit fontScale="90000"/>
          </a:bodyPr>
          <a:lstStyle/>
          <a:p>
            <a:r>
              <a:rPr lang="zh-CN" altLang="en-US" sz="3200" b="1" spc="200" dirty="0">
                <a:solidFill>
                  <a:schemeClr val="accent1"/>
                </a:solidFill>
                <a:uFillTx/>
                <a:latin typeface="微软雅黑 Light" panose="020B0502040204020203" pitchFamily="34" charset="-122"/>
                <a:ea typeface="微软雅黑" panose="020B0503020204020204" charset="-122"/>
              </a:rPr>
              <a:t>机器学习发展历史</a:t>
            </a:r>
            <a:endParaRPr lang="zh-CN" altLang="en-US" sz="3200" b="1" spc="200" dirty="0">
              <a:solidFill>
                <a:schemeClr val="accent1"/>
              </a:solidFill>
              <a:uFillTx/>
              <a:latin typeface="微软雅黑 Light" panose="020B0502040204020203" pitchFamily="34" charset="-122"/>
              <a:ea typeface="微软雅黑" panose="020B0503020204020204" charset="-122"/>
            </a:endParaRPr>
          </a:p>
        </p:txBody>
      </p:sp>
      <p:sp>
        <p:nvSpPr>
          <p:cNvPr id="6" name="矩形 5"/>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7" name="矩形 6"/>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8" name="Content Placeholder 2"/>
          <p:cNvSpPr>
            <a:spLocks noGrp="1"/>
          </p:cNvSpPr>
          <p:nvPr>
            <p:ph idx="1"/>
          </p:nvPr>
        </p:nvSpPr>
        <p:spPr>
          <a:xfrm>
            <a:off x="355600" y="1833245"/>
            <a:ext cx="6887845" cy="3533140"/>
          </a:xfrm>
        </p:spPr>
        <p:txBody>
          <a:bodyPr>
            <a:normAutofit lnSpcReduction="10000"/>
          </a:bodyPr>
          <a:p>
            <a:pPr marL="0" indent="0">
              <a:buNone/>
            </a:pPr>
            <a:r>
              <a:rPr lang="zh-CN" altLang="en-US" sz="2400" b="1">
                <a:latin typeface="宋体" panose="02010600030101010101" pitchFamily="2" charset="-122"/>
                <a:ea typeface="宋体" panose="02010600030101010101" pitchFamily="2" charset="-122"/>
              </a:rPr>
              <a:t>1950s：神经科学的理论基础</a:t>
            </a:r>
            <a:endParaRPr lang="zh-CN" altLang="en-US" sz="2400" b="1">
              <a:latin typeface="宋体" panose="02010600030101010101" pitchFamily="2" charset="-122"/>
              <a:ea typeface="宋体" panose="02010600030101010101" pitchFamily="2" charset="-122"/>
            </a:endParaRPr>
          </a:p>
          <a:p>
            <a:pPr lvl="1"/>
            <a:r>
              <a:rPr lang="zh-CN" altLang="en-US" b="1">
                <a:latin typeface="宋体" panose="02010600030101010101" pitchFamily="2" charset="-122"/>
                <a:ea typeface="宋体" panose="02010600030101010101" pitchFamily="2" charset="-122"/>
              </a:rPr>
              <a:t>James关于神经元是相互连接的发现</a:t>
            </a:r>
            <a:endParaRPr lang="zh-CN" altLang="en-US" b="1">
              <a:latin typeface="宋体" panose="02010600030101010101" pitchFamily="2" charset="-122"/>
              <a:ea typeface="宋体" panose="02010600030101010101" pitchFamily="2" charset="-122"/>
            </a:endParaRPr>
          </a:p>
          <a:p>
            <a:pPr lvl="1"/>
            <a:r>
              <a:rPr lang="zh-CN" altLang="en-US" b="1">
                <a:latin typeface="宋体" panose="02010600030101010101" pitchFamily="2" charset="-122"/>
                <a:ea typeface="宋体" panose="02010600030101010101" pitchFamily="2" charset="-122"/>
              </a:rPr>
              <a:t>McCulloch &amp; Pitts的神经元模型</a:t>
            </a:r>
            <a:endParaRPr lang="zh-CN" altLang="en-US" b="1">
              <a:latin typeface="宋体" panose="02010600030101010101" pitchFamily="2" charset="-122"/>
              <a:ea typeface="宋体" panose="02010600030101010101" pitchFamily="2" charset="-122"/>
            </a:endParaRPr>
          </a:p>
          <a:p>
            <a:pPr lvl="1"/>
            <a:r>
              <a:rPr lang="zh-CN" altLang="en-US" b="1">
                <a:latin typeface="宋体" panose="02010600030101010101" pitchFamily="2" charset="-122"/>
                <a:ea typeface="宋体" panose="02010600030101010101" pitchFamily="2" charset="-122"/>
              </a:rPr>
              <a:t>Hebb 学习律（相互连接强弱度的变换规则）</a:t>
            </a:r>
            <a:endParaRPr lang="zh-CN" altLang="en-US" b="1">
              <a:latin typeface="宋体" panose="02010600030101010101" pitchFamily="2" charset="-122"/>
              <a:ea typeface="宋体" panose="02010600030101010101" pitchFamily="2" charset="-122"/>
            </a:endParaRPr>
          </a:p>
          <a:p>
            <a:endParaRPr lang="zh-CN" altLang="en-US" sz="2400" b="1">
              <a:latin typeface="宋体" panose="02010600030101010101" pitchFamily="2" charset="-122"/>
              <a:ea typeface="宋体" panose="02010600030101010101" pitchFamily="2" charset="-122"/>
            </a:endParaRPr>
          </a:p>
          <a:p>
            <a:pPr marL="0" indent="0">
              <a:buNone/>
            </a:pPr>
            <a:r>
              <a:rPr lang="zh-CN" altLang="en-US" sz="2400" b="1">
                <a:latin typeface="宋体" panose="02010600030101010101" pitchFamily="2" charset="-122"/>
                <a:ea typeface="宋体" panose="02010600030101010101" pitchFamily="2" charset="-122"/>
              </a:rPr>
              <a:t>1960s：感知器（Perceptron）时代</a:t>
            </a:r>
            <a:endParaRPr lang="zh-CN" altLang="en-US" sz="2400" b="1">
              <a:latin typeface="宋体" panose="02010600030101010101" pitchFamily="2" charset="-122"/>
              <a:ea typeface="宋体" panose="02010600030101010101" pitchFamily="2" charset="-122"/>
            </a:endParaRPr>
          </a:p>
          <a:p>
            <a:pPr lvl="1"/>
            <a:r>
              <a:rPr lang="zh-CN" altLang="en-US" b="1">
                <a:latin typeface="宋体" panose="02010600030101010101" pitchFamily="2" charset="-122"/>
                <a:ea typeface="宋体" panose="02010600030101010101" pitchFamily="2" charset="-122"/>
              </a:rPr>
              <a:t>1957年Rosenblatt首次提出</a:t>
            </a:r>
            <a:endParaRPr lang="zh-CN" altLang="en-US" b="1">
              <a:latin typeface="宋体" panose="02010600030101010101" pitchFamily="2" charset="-122"/>
              <a:ea typeface="宋体" panose="02010600030101010101" pitchFamily="2" charset="-122"/>
            </a:endParaRPr>
          </a:p>
          <a:p>
            <a:pPr lvl="1"/>
            <a:r>
              <a:rPr lang="zh-CN" altLang="en-US" b="1">
                <a:latin typeface="宋体" panose="02010600030101010101" pitchFamily="2" charset="-122"/>
                <a:ea typeface="宋体" panose="02010600030101010101" pitchFamily="2" charset="-122"/>
              </a:rPr>
              <a:t>1969年：《Perceptron》出版，提出著名的XOR问题</a:t>
            </a:r>
            <a:endParaRPr lang="zh-CN" altLang="en-US" sz="2400" b="1">
              <a:latin typeface="宋体" panose="02010600030101010101" pitchFamily="2" charset="-122"/>
              <a:ea typeface="宋体" panose="02010600030101010101" pitchFamily="2" charset="-122"/>
            </a:endParaRPr>
          </a:p>
          <a:p>
            <a:endParaRPr lang="zh-CN" altLang="en-US" sz="2400" b="1">
              <a:latin typeface="宋体" panose="02010600030101010101" pitchFamily="2" charset="-122"/>
              <a:ea typeface="宋体" panose="02010600030101010101" pitchFamily="2" charset="-122"/>
            </a:endParaRPr>
          </a:p>
        </p:txBody>
      </p:sp>
      <p:pic>
        <p:nvPicPr>
          <p:cNvPr id="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560945" y="2054860"/>
            <a:ext cx="4497705" cy="229171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5"/>
          <p:cNvSpPr txBox="1"/>
          <p:nvPr/>
        </p:nvSpPr>
        <p:spPr>
          <a:xfrm>
            <a:off x="8735695" y="4346575"/>
            <a:ext cx="1984375" cy="368300"/>
          </a:xfrm>
          <a:prstGeom prst="rect">
            <a:avLst/>
          </a:prstGeom>
          <a:noFill/>
        </p:spPr>
        <p:txBody>
          <a:bodyPr wrap="square" rtlCol="0">
            <a:spAutoFit/>
          </a:bodyPr>
          <a:p>
            <a:r>
              <a:rPr lang="en-GB" dirty="0">
                <a:latin typeface="+mn-ea"/>
                <a:ea typeface="+mn-ea"/>
              </a:rPr>
              <a:t>Rosenblatt</a:t>
            </a:r>
            <a:r>
              <a:rPr lang="zh-CN" altLang="en-US" dirty="0">
                <a:latin typeface="+mn-ea"/>
                <a:ea typeface="+mn-ea"/>
              </a:rPr>
              <a:t>感知器</a:t>
            </a:r>
            <a:endParaRPr lang="en-GB" dirty="0">
              <a:latin typeface="+mn-ea"/>
              <a:ea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7" name="矩形 6"/>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9" name="Title 1"/>
          <p:cNvSpPr>
            <a:spLocks noGrp="1"/>
          </p:cNvSpPr>
          <p:nvPr>
            <p:ph type="title"/>
          </p:nvPr>
        </p:nvSpPr>
        <p:spPr>
          <a:xfrm>
            <a:off x="407035" y="286385"/>
            <a:ext cx="3391535" cy="593090"/>
          </a:xfrm>
        </p:spPr>
        <p:txBody>
          <a:bodyPr>
            <a:normAutofit fontScale="90000"/>
          </a:bodyPr>
          <a:p>
            <a:r>
              <a:rPr lang="zh-CN" altLang="en-US" sz="3200" b="1" spc="200" dirty="0">
                <a:solidFill>
                  <a:schemeClr val="accent1"/>
                </a:solidFill>
                <a:uFillTx/>
                <a:latin typeface="微软雅黑 Light" panose="020B0502040204020203" pitchFamily="34" charset="-122"/>
                <a:ea typeface="微软雅黑" panose="020B0503020204020204" charset="-122"/>
              </a:rPr>
              <a:t>机器学习发展历史</a:t>
            </a:r>
            <a:endParaRPr lang="zh-CN" altLang="en-US" sz="3200" b="1" spc="200" dirty="0">
              <a:solidFill>
                <a:schemeClr val="accent1"/>
              </a:solidFill>
              <a:uFillTx/>
              <a:latin typeface="微软雅黑 Light" panose="020B0502040204020203" pitchFamily="34" charset="-122"/>
              <a:ea typeface="微软雅黑" panose="020B0503020204020204" charset="-122"/>
            </a:endParaRPr>
          </a:p>
        </p:txBody>
      </p:sp>
      <p:sp>
        <p:nvSpPr>
          <p:cNvPr id="10" name="Content Placeholder 2"/>
          <p:cNvSpPr>
            <a:spLocks noGrp="1"/>
          </p:cNvSpPr>
          <p:nvPr>
            <p:ph idx="1"/>
          </p:nvPr>
        </p:nvSpPr>
        <p:spPr>
          <a:xfrm>
            <a:off x="128905" y="1301750"/>
            <a:ext cx="10704195" cy="4932680"/>
          </a:xfrm>
        </p:spPr>
        <p:txBody>
          <a:bodyPr>
            <a:normAutofit lnSpcReduction="20000"/>
          </a:bodyPr>
          <a:p>
            <a:pPr marL="457200" lvl="1" indent="0" algn="l">
              <a:buClrTx/>
              <a:buSzTx/>
              <a:buNone/>
            </a:pPr>
            <a:r>
              <a:rPr lang="zh-CN" altLang="en-US" b="1">
                <a:latin typeface="宋体" panose="02010600030101010101" pitchFamily="2" charset="-122"/>
                <a:ea typeface="宋体" panose="02010600030101010101" pitchFamily="2" charset="-122"/>
              </a:rPr>
              <a:t>1970s：符号主义，逻辑推理</a:t>
            </a:r>
            <a:endParaRPr lang="zh-CN" altLang="en-US" b="1">
              <a:latin typeface="宋体" panose="02010600030101010101" pitchFamily="2" charset="-122"/>
              <a:ea typeface="宋体" panose="02010600030101010101" pitchFamily="2" charset="-122"/>
            </a:endParaRPr>
          </a:p>
          <a:p>
            <a:pPr marL="1828800" lvl="4" indent="457200" algn="l">
              <a:lnSpc>
                <a:spcPct val="40000"/>
              </a:lnSpc>
              <a:buClrTx/>
              <a:buSzTx/>
              <a:buFontTx/>
              <a:buNone/>
            </a:pPr>
            <a:endParaRPr lang="zh-CN" altLang="en-US" sz="2400" b="1">
              <a:latin typeface="宋体" panose="02010600030101010101" pitchFamily="2" charset="-122"/>
              <a:ea typeface="宋体" panose="02010600030101010101" pitchFamily="2" charset="-122"/>
            </a:endParaRPr>
          </a:p>
          <a:p>
            <a:pPr marL="457200" lvl="1" indent="0" algn="l">
              <a:buClrTx/>
              <a:buSzTx/>
              <a:buNone/>
            </a:pPr>
            <a:r>
              <a:rPr lang="zh-CN" altLang="en-US" b="1">
                <a:latin typeface="宋体" panose="02010600030101010101" pitchFamily="2" charset="-122"/>
                <a:ea typeface="宋体" panose="02010600030101010101" pitchFamily="2" charset="-122"/>
              </a:rPr>
              <a:t>1980s：MLP+BP算法成功解决XOR问题，从此进入神经网络时代（连接主义）</a:t>
            </a:r>
            <a:endParaRPr lang="zh-CN" altLang="en-US" b="1">
              <a:latin typeface="宋体" panose="02010600030101010101" pitchFamily="2" charset="-122"/>
              <a:ea typeface="宋体" panose="02010600030101010101" pitchFamily="2" charset="-122"/>
            </a:endParaRPr>
          </a:p>
          <a:p>
            <a:pPr marL="1828800" lvl="4" indent="457200" algn="l">
              <a:lnSpc>
                <a:spcPct val="40000"/>
              </a:lnSpc>
              <a:buClrTx/>
              <a:buSzTx/>
              <a:buFontTx/>
              <a:buNone/>
            </a:pPr>
            <a:endParaRPr lang="zh-CN" altLang="en-US" sz="2400" b="1">
              <a:latin typeface="宋体" panose="02010600030101010101" pitchFamily="2" charset="-122"/>
              <a:ea typeface="宋体" panose="02010600030101010101" pitchFamily="2" charset="-122"/>
            </a:endParaRPr>
          </a:p>
          <a:p>
            <a:pPr marL="457200" lvl="1" indent="0" algn="l">
              <a:buClrTx/>
              <a:buSzTx/>
              <a:buNone/>
            </a:pPr>
            <a:r>
              <a:rPr lang="zh-CN" altLang="en-US" b="1">
                <a:latin typeface="宋体" panose="02010600030101010101" pitchFamily="2" charset="-122"/>
                <a:ea typeface="宋体" panose="02010600030101010101" pitchFamily="2" charset="-122"/>
              </a:rPr>
              <a:t>1960s-1970s: 统计学习理论创立</a:t>
            </a:r>
            <a:endParaRPr lang="zh-CN" altLang="en-US" b="1">
              <a:latin typeface="宋体" panose="02010600030101010101" pitchFamily="2" charset="-122"/>
              <a:ea typeface="宋体" panose="02010600030101010101" pitchFamily="2" charset="-122"/>
            </a:endParaRPr>
          </a:p>
          <a:p>
            <a:pPr lvl="2" algn="l">
              <a:buClrTx/>
              <a:buSzTx/>
            </a:pPr>
            <a:r>
              <a:rPr lang="zh-CN" altLang="en-US" sz="2000" b="1">
                <a:latin typeface="宋体" panose="02010600030101010101" pitchFamily="2" charset="-122"/>
                <a:ea typeface="宋体" panose="02010600030101010101" pitchFamily="2" charset="-122"/>
                <a:sym typeface="+mn-ea"/>
              </a:rPr>
              <a:t>VC维的基本概念</a:t>
            </a:r>
            <a:endParaRPr lang="zh-CN" altLang="en-US" sz="2000" b="1">
              <a:latin typeface="宋体" panose="02010600030101010101" pitchFamily="2" charset="-122"/>
              <a:ea typeface="宋体" panose="02010600030101010101" pitchFamily="2" charset="-122"/>
            </a:endParaRPr>
          </a:p>
          <a:p>
            <a:pPr lvl="2" algn="l">
              <a:buClrTx/>
              <a:buSzTx/>
            </a:pPr>
            <a:r>
              <a:rPr lang="zh-CN" altLang="en-US" sz="2000" b="1">
                <a:latin typeface="宋体" panose="02010600030101010101" pitchFamily="2" charset="-122"/>
                <a:ea typeface="宋体" panose="02010600030101010101" pitchFamily="2" charset="-122"/>
                <a:sym typeface="+mn-ea"/>
              </a:rPr>
              <a:t>结构风险最小化原则</a:t>
            </a:r>
            <a:endParaRPr lang="zh-CN" altLang="en-US" sz="2000" b="1">
              <a:latin typeface="宋体" panose="02010600030101010101" pitchFamily="2" charset="-122"/>
              <a:ea typeface="宋体" panose="02010600030101010101" pitchFamily="2" charset="-122"/>
            </a:endParaRPr>
          </a:p>
          <a:p>
            <a:pPr lvl="2" algn="l">
              <a:buClrTx/>
              <a:buSzTx/>
            </a:pPr>
            <a:r>
              <a:rPr lang="zh-CN" altLang="en-US" sz="2000" b="1">
                <a:latin typeface="宋体" panose="02010600030101010101" pitchFamily="2" charset="-122"/>
                <a:ea typeface="宋体" panose="02010600030101010101" pitchFamily="2" charset="-122"/>
                <a:sym typeface="+mn-ea"/>
              </a:rPr>
              <a:t>概率空间的大数定律</a:t>
            </a:r>
            <a:endParaRPr lang="zh-CN" altLang="en-US" b="1">
              <a:latin typeface="宋体" panose="02010600030101010101" pitchFamily="2" charset="-122"/>
              <a:ea typeface="宋体" panose="02010600030101010101" pitchFamily="2" charset="-122"/>
            </a:endParaRPr>
          </a:p>
          <a:p>
            <a:pPr marL="1828800" lvl="4" indent="457200" algn="l">
              <a:lnSpc>
                <a:spcPct val="40000"/>
              </a:lnSpc>
              <a:buClrTx/>
              <a:buSzTx/>
              <a:buFontTx/>
              <a:buNone/>
            </a:pPr>
            <a:endParaRPr lang="zh-CN" altLang="en-US" sz="2400" b="1">
              <a:latin typeface="宋体" panose="02010600030101010101" pitchFamily="2" charset="-122"/>
              <a:ea typeface="宋体" panose="02010600030101010101" pitchFamily="2" charset="-122"/>
              <a:sym typeface="+mn-ea"/>
            </a:endParaRPr>
          </a:p>
          <a:p>
            <a:pPr marL="457200" lvl="1" indent="0" algn="l">
              <a:buClrTx/>
              <a:buSzTx/>
              <a:buNone/>
            </a:pPr>
            <a:r>
              <a:rPr lang="zh-CN" altLang="en-US" sz="2400" b="1">
                <a:latin typeface="宋体" panose="02010600030101010101" pitchFamily="2" charset="-122"/>
                <a:ea typeface="宋体" panose="02010600030101010101" pitchFamily="2" charset="-122"/>
                <a:sym typeface="+mn-ea"/>
              </a:rPr>
              <a:t>1990s：统计学习理论的发展及完善</a:t>
            </a:r>
            <a:endParaRPr lang="zh-CN" altLang="en-US" sz="2400" b="1">
              <a:latin typeface="宋体" panose="02010600030101010101" pitchFamily="2" charset="-122"/>
              <a:ea typeface="宋体" panose="02010600030101010101" pitchFamily="2" charset="-122"/>
            </a:endParaRPr>
          </a:p>
          <a:p>
            <a:pPr lvl="2"/>
            <a:r>
              <a:rPr lang="zh-CN" altLang="en-US" sz="2000" b="1">
                <a:latin typeface="宋体" panose="02010600030101010101" pitchFamily="2" charset="-122"/>
                <a:ea typeface="宋体" panose="02010600030101010101" pitchFamily="2" charset="-122"/>
                <a:sym typeface="+mn-ea"/>
              </a:rPr>
              <a:t>典型代表：SVM （Vapnik，Bell实验室）</a:t>
            </a:r>
            <a:endParaRPr lang="zh-CN" altLang="en-US" sz="2000" b="1">
              <a:latin typeface="宋体" panose="02010600030101010101" pitchFamily="2" charset="-122"/>
              <a:ea typeface="宋体" panose="02010600030101010101" pitchFamily="2" charset="-122"/>
            </a:endParaRPr>
          </a:p>
          <a:p>
            <a:pPr lvl="2"/>
            <a:r>
              <a:rPr lang="zh-CN" altLang="en-US" sz="2000" b="1">
                <a:latin typeface="宋体" panose="02010600030101010101" pitchFamily="2" charset="-122"/>
                <a:ea typeface="宋体" panose="02010600030101010101" pitchFamily="2" charset="-122"/>
                <a:sym typeface="+mn-ea"/>
              </a:rPr>
              <a:t>结构风险最小化</a:t>
            </a:r>
            <a:endParaRPr lang="zh-CN" altLang="en-US" sz="2000" b="1">
              <a:latin typeface="宋体" panose="02010600030101010101" pitchFamily="2" charset="-122"/>
              <a:ea typeface="宋体" panose="02010600030101010101" pitchFamily="2" charset="-122"/>
            </a:endParaRPr>
          </a:p>
          <a:p>
            <a:pPr lvl="2"/>
            <a:r>
              <a:rPr lang="zh-CN" altLang="en-US" sz="2000" b="1">
                <a:latin typeface="宋体" panose="02010600030101010101" pitchFamily="2" charset="-122"/>
                <a:ea typeface="宋体" panose="02010600030101010101" pitchFamily="2" charset="-122"/>
                <a:sym typeface="+mn-ea"/>
              </a:rPr>
              <a:t>最小描述长度原则</a:t>
            </a:r>
            <a:endParaRPr lang="zh-CN" altLang="en-US" sz="2000" b="1">
              <a:latin typeface="宋体" panose="02010600030101010101" pitchFamily="2" charset="-122"/>
              <a:ea typeface="宋体" panose="02010600030101010101" pitchFamily="2" charset="-122"/>
            </a:endParaRPr>
          </a:p>
          <a:p>
            <a:pPr lvl="2"/>
            <a:r>
              <a:rPr lang="zh-CN" altLang="en-US" sz="2000" b="1">
                <a:latin typeface="宋体" panose="02010600030101010101" pitchFamily="2" charset="-122"/>
                <a:ea typeface="宋体" panose="02010600030101010101" pitchFamily="2" charset="-122"/>
                <a:sym typeface="+mn-ea"/>
              </a:rPr>
              <a:t>小样本问题</a:t>
            </a:r>
            <a:endParaRPr lang="zh-CN" altLang="en-US" sz="2000" b="1">
              <a:latin typeface="宋体" panose="02010600030101010101" pitchFamily="2" charset="-122"/>
              <a:ea typeface="宋体" panose="02010600030101010101" pitchFamily="2" charset="-122"/>
            </a:endParaRPr>
          </a:p>
          <a:p>
            <a:pPr lvl="2"/>
            <a:r>
              <a:rPr lang="zh-CN" altLang="en-US" sz="2000" b="1">
                <a:latin typeface="宋体" panose="02010600030101010101" pitchFamily="2" charset="-122"/>
                <a:ea typeface="宋体" panose="02010600030101010101" pitchFamily="2" charset="-122"/>
                <a:sym typeface="+mn-ea"/>
              </a:rPr>
              <a:t>核函数、核空间变化</a:t>
            </a:r>
            <a:endParaRPr lang="zh-CN" altLang="en-US" sz="2000" b="1">
              <a:latin typeface="宋体" panose="02010600030101010101" pitchFamily="2" charset="-122"/>
              <a:ea typeface="宋体" panose="02010600030101010101" pitchFamily="2" charset="-122"/>
            </a:endParaRPr>
          </a:p>
          <a:p>
            <a:pPr lvl="2"/>
            <a:r>
              <a:rPr lang="zh-CN" altLang="en-US" sz="2000" b="1">
                <a:latin typeface="宋体" panose="02010600030101010101" pitchFamily="2" charset="-122"/>
                <a:ea typeface="宋体" panose="02010600030101010101" pitchFamily="2" charset="-122"/>
                <a:sym typeface="+mn-ea"/>
              </a:rPr>
              <a:t>PAC理论下的弱可学习理论的建立</a:t>
            </a:r>
            <a:endParaRPr lang="zh-CN" altLang="en-US" sz="2000" b="1">
              <a:latin typeface="宋体" panose="02010600030101010101" pitchFamily="2" charset="-122"/>
              <a:ea typeface="宋体" panose="02010600030101010101" pitchFamily="2" charset="-122"/>
            </a:endParaRPr>
          </a:p>
          <a:p>
            <a:pPr lvl="2"/>
            <a:r>
              <a:rPr lang="zh-CN" altLang="en-US" sz="2000" b="1">
                <a:latin typeface="宋体" panose="02010600030101010101" pitchFamily="2" charset="-122"/>
                <a:ea typeface="宋体" panose="02010600030101010101" pitchFamily="2" charset="-122"/>
                <a:sym typeface="+mn-ea"/>
              </a:rPr>
              <a:t>支持向量机</a:t>
            </a:r>
            <a:endParaRPr lang="zh-CN" altLang="en-US" sz="2000" b="1">
              <a:latin typeface="宋体" panose="02010600030101010101" pitchFamily="2" charset="-122"/>
              <a:ea typeface="宋体" panose="02010600030101010101" pitchFamily="2" charset="-122"/>
            </a:endParaRPr>
          </a:p>
          <a:p>
            <a:pPr lvl="2"/>
            <a:r>
              <a:rPr lang="zh-CN" altLang="en-US" sz="2000" b="1">
                <a:latin typeface="宋体" panose="02010600030101010101" pitchFamily="2" charset="-122"/>
                <a:ea typeface="宋体" panose="02010600030101010101" pitchFamily="2" charset="-122"/>
                <a:sym typeface="+mn-ea"/>
              </a:rPr>
              <a:t>…</a:t>
            </a:r>
            <a:endParaRPr lang="zh-CN" altLang="en-US" sz="2000" b="1">
              <a:latin typeface="宋体" panose="02010600030101010101" pitchFamily="2" charset="-122"/>
              <a:ea typeface="宋体" panose="02010600030101010101" pitchFamily="2" charset="-122"/>
              <a:sym typeface="+mn-ea"/>
            </a:endParaRPr>
          </a:p>
          <a:p>
            <a:pPr lvl="2" algn="l">
              <a:buClrTx/>
              <a:buSzTx/>
            </a:pPr>
            <a:endParaRPr lang="zh-CN" altLang="en-US" b="1">
              <a:latin typeface="宋体" panose="02010600030101010101" pitchFamily="2" charset="-122"/>
              <a:ea typeface="宋体" panose="02010600030101010101" pitchFamily="2" charset="-122"/>
            </a:endParaRPr>
          </a:p>
          <a:p>
            <a:pPr marL="914400" lvl="2" indent="0" algn="l">
              <a:buClrTx/>
              <a:buSzTx/>
              <a:buNone/>
            </a:pPr>
            <a:endParaRPr lang="zh-CN" altLang="en-US" b="1">
              <a:latin typeface="宋体" panose="02010600030101010101" pitchFamily="2" charset="-122"/>
              <a:ea typeface="宋体" panose="02010600030101010101" pitchFamily="2"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7" name="矩形 6"/>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9" name="Title 1"/>
          <p:cNvSpPr>
            <a:spLocks noGrp="1"/>
          </p:cNvSpPr>
          <p:nvPr>
            <p:ph type="title"/>
          </p:nvPr>
        </p:nvSpPr>
        <p:spPr>
          <a:xfrm>
            <a:off x="407035" y="286385"/>
            <a:ext cx="3391535" cy="593090"/>
          </a:xfrm>
        </p:spPr>
        <p:txBody>
          <a:bodyPr>
            <a:normAutofit fontScale="90000"/>
          </a:bodyPr>
          <a:lstStyle/>
          <a:p>
            <a:r>
              <a:rPr lang="zh-CN" altLang="en-US" sz="3200" b="1" spc="200" dirty="0">
                <a:solidFill>
                  <a:schemeClr val="accent1"/>
                </a:solidFill>
                <a:uFillTx/>
                <a:latin typeface="微软雅黑 Light" panose="020B0502040204020203" pitchFamily="34" charset="-122"/>
                <a:ea typeface="微软雅黑" panose="020B0503020204020204" charset="-122"/>
              </a:rPr>
              <a:t>机器学习发展历史</a:t>
            </a:r>
            <a:endParaRPr lang="zh-CN" altLang="en-US" sz="3200" b="1" spc="200" dirty="0">
              <a:solidFill>
                <a:schemeClr val="accent1"/>
              </a:solidFill>
              <a:uFillTx/>
              <a:latin typeface="微软雅黑 Light" panose="020B0502040204020203" pitchFamily="34" charset="-122"/>
              <a:ea typeface="微软雅黑" panose="020B0503020204020204" charset="-122"/>
            </a:endParaRPr>
          </a:p>
        </p:txBody>
      </p:sp>
      <p:sp>
        <p:nvSpPr>
          <p:cNvPr id="10" name="Content Placeholder 2"/>
          <p:cNvSpPr>
            <a:spLocks noGrp="1"/>
          </p:cNvSpPr>
          <p:nvPr>
            <p:ph idx="1"/>
          </p:nvPr>
        </p:nvSpPr>
        <p:spPr>
          <a:xfrm>
            <a:off x="407035" y="1253490"/>
            <a:ext cx="10515600" cy="3246120"/>
          </a:xfrm>
        </p:spPr>
        <p:txBody>
          <a:bodyPr/>
          <a:p>
            <a:pPr marL="0" indent="0">
              <a:buNone/>
            </a:pPr>
            <a:r>
              <a:rPr lang="zh-CN" altLang="en-US" sz="2400" b="1">
                <a:latin typeface="宋体" panose="02010600030101010101" pitchFamily="2" charset="-122"/>
                <a:ea typeface="宋体" panose="02010600030101010101" pitchFamily="2" charset="-122"/>
              </a:rPr>
              <a:t>2000s：各种机器学习理论及算法得以充分发展</a:t>
            </a:r>
            <a:endParaRPr lang="zh-CN" altLang="en-US" sz="2000" b="1">
              <a:latin typeface="宋体" panose="02010600030101010101" pitchFamily="2" charset="-122"/>
              <a:ea typeface="宋体" panose="02010600030101010101" pitchFamily="2" charset="-122"/>
            </a:endParaRPr>
          </a:p>
          <a:p>
            <a:pPr lvl="2" algn="l">
              <a:buClrTx/>
              <a:buSzTx/>
            </a:pPr>
            <a:r>
              <a:rPr lang="zh-CN" altLang="en-US" b="1">
                <a:latin typeface="宋体" panose="02010600030101010101" pitchFamily="2" charset="-122"/>
                <a:ea typeface="宋体" panose="02010600030101010101" pitchFamily="2" charset="-122"/>
              </a:rPr>
              <a:t>符号机器学习</a:t>
            </a:r>
            <a:endParaRPr lang="zh-CN" altLang="en-US" b="1">
              <a:latin typeface="宋体" panose="02010600030101010101" pitchFamily="2" charset="-122"/>
              <a:ea typeface="宋体" panose="02010600030101010101" pitchFamily="2" charset="-122"/>
            </a:endParaRPr>
          </a:p>
          <a:p>
            <a:pPr lvl="2" algn="l">
              <a:buClrTx/>
              <a:buSzTx/>
            </a:pPr>
            <a:r>
              <a:rPr lang="zh-CN" altLang="en-US" b="1">
                <a:latin typeface="宋体" panose="02010600030101010101" pitchFamily="2" charset="-122"/>
                <a:ea typeface="宋体" panose="02010600030101010101" pitchFamily="2" charset="-122"/>
              </a:rPr>
              <a:t>计算机器学习（统计学习理论，典型例子：SVM）</a:t>
            </a:r>
            <a:endParaRPr lang="zh-CN" altLang="en-US" b="1">
              <a:latin typeface="宋体" panose="02010600030101010101" pitchFamily="2" charset="-122"/>
              <a:ea typeface="宋体" panose="02010600030101010101" pitchFamily="2" charset="-122"/>
            </a:endParaRPr>
          </a:p>
          <a:p>
            <a:pPr lvl="2" algn="l">
              <a:buClrTx/>
              <a:buSzTx/>
            </a:pPr>
            <a:r>
              <a:rPr lang="zh-CN" altLang="en-US" b="1">
                <a:latin typeface="宋体" panose="02010600030101010101" pitchFamily="2" charset="-122"/>
                <a:ea typeface="宋体" panose="02010600030101010101" pitchFamily="2" charset="-122"/>
              </a:rPr>
              <a:t>集群机器学习（典型代表：Boosting）</a:t>
            </a:r>
            <a:endParaRPr lang="zh-CN" altLang="en-US" b="1">
              <a:latin typeface="宋体" panose="02010600030101010101" pitchFamily="2" charset="-122"/>
              <a:ea typeface="宋体" panose="02010600030101010101" pitchFamily="2" charset="-122"/>
            </a:endParaRPr>
          </a:p>
          <a:p>
            <a:pPr lvl="2" algn="l">
              <a:buClrTx/>
              <a:buSzTx/>
            </a:pPr>
            <a:r>
              <a:rPr lang="zh-CN" altLang="en-US" b="1">
                <a:latin typeface="宋体" panose="02010600030101010101" pitchFamily="2" charset="-122"/>
                <a:ea typeface="宋体" panose="02010600030101010101" pitchFamily="2" charset="-122"/>
              </a:rPr>
              <a:t>强化机器学习</a:t>
            </a:r>
            <a:endParaRPr lang="zh-CN" altLang="en-US" b="1">
              <a:latin typeface="宋体" panose="02010600030101010101" pitchFamily="2" charset="-122"/>
              <a:ea typeface="宋体" panose="02010600030101010101" pitchFamily="2" charset="-122"/>
            </a:endParaRPr>
          </a:p>
          <a:p>
            <a:pPr lvl="2" algn="l">
              <a:buClrTx/>
              <a:buSzTx/>
            </a:pPr>
            <a:r>
              <a:rPr lang="zh-CN" altLang="en-US" b="1">
                <a:latin typeface="宋体" panose="02010600030101010101" pitchFamily="2" charset="-122"/>
                <a:ea typeface="宋体" panose="02010600030101010101" pitchFamily="2" charset="-122"/>
              </a:rPr>
              <a:t>流行机器学习</a:t>
            </a:r>
            <a:endParaRPr lang="zh-CN" altLang="en-US" b="1">
              <a:latin typeface="宋体" panose="02010600030101010101" pitchFamily="2" charset="-122"/>
              <a:ea typeface="宋体" panose="02010600030101010101" pitchFamily="2" charset="-122"/>
            </a:endParaRPr>
          </a:p>
          <a:p>
            <a:pPr lvl="2" algn="l">
              <a:buClrTx/>
              <a:buSzTx/>
            </a:pPr>
            <a:r>
              <a:rPr lang="zh-CN" altLang="en-US" b="1">
                <a:latin typeface="宋体" panose="02010600030101010101" pitchFamily="2" charset="-122"/>
                <a:ea typeface="宋体" panose="02010600030101010101" pitchFamily="2" charset="-122"/>
              </a:rPr>
              <a:t>监督学习、非监督学习</a:t>
            </a:r>
            <a:endParaRPr lang="zh-CN" altLang="en-US" b="1">
              <a:latin typeface="宋体" panose="02010600030101010101" pitchFamily="2" charset="-122"/>
              <a:ea typeface="宋体" panose="02010600030101010101" pitchFamily="2" charset="-122"/>
            </a:endParaRPr>
          </a:p>
          <a:p>
            <a:pPr lvl="2" algn="l">
              <a:buClrTx/>
              <a:buSzTx/>
            </a:pPr>
            <a:r>
              <a:rPr lang="zh-CN" altLang="en-US" b="1">
                <a:latin typeface="宋体" panose="02010600030101010101" pitchFamily="2" charset="-122"/>
                <a:ea typeface="宋体" panose="02010600030101010101" pitchFamily="2" charset="-122"/>
              </a:rPr>
              <a:t>半监督学习</a:t>
            </a:r>
            <a:endParaRPr lang="zh-CN" altLang="en-US" b="1">
              <a:latin typeface="宋体" panose="02010600030101010101" pitchFamily="2" charset="-122"/>
              <a:ea typeface="宋体" panose="02010600030101010101" pitchFamily="2" charset="-122"/>
            </a:endParaRPr>
          </a:p>
          <a:p>
            <a:pPr lvl="2" algn="l">
              <a:buClrTx/>
              <a:buSzTx/>
            </a:pPr>
            <a:r>
              <a:rPr lang="zh-CN" altLang="en-US" b="1">
                <a:latin typeface="宋体" panose="02010600030101010101" pitchFamily="2" charset="-122"/>
                <a:ea typeface="宋体" panose="02010600030101010101" pitchFamily="2" charset="-122"/>
              </a:rPr>
              <a:t>…</a:t>
            </a:r>
            <a:endParaRPr lang="zh-CN" altLang="en-US" b="1">
              <a:latin typeface="宋体" panose="02010600030101010101" pitchFamily="2" charset="-122"/>
              <a:ea typeface="宋体" panose="02010600030101010101"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7" name="矩形 6"/>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9" name="Title 1"/>
          <p:cNvSpPr>
            <a:spLocks noGrp="1"/>
          </p:cNvSpPr>
          <p:nvPr>
            <p:ph type="title"/>
          </p:nvPr>
        </p:nvSpPr>
        <p:spPr>
          <a:xfrm>
            <a:off x="407035" y="286385"/>
            <a:ext cx="3391535" cy="593090"/>
          </a:xfrm>
        </p:spPr>
        <p:txBody>
          <a:bodyPr>
            <a:normAutofit fontScale="90000"/>
          </a:bodyPr>
          <a:lstStyle/>
          <a:p>
            <a:r>
              <a:rPr lang="zh-CN" altLang="en-US" sz="3200" b="1" spc="200" dirty="0">
                <a:solidFill>
                  <a:schemeClr val="accent1"/>
                </a:solidFill>
                <a:uFillTx/>
                <a:latin typeface="微软雅黑 Light" panose="020B0502040204020203" pitchFamily="34" charset="-122"/>
                <a:ea typeface="微软雅黑" panose="020B0503020204020204" charset="-122"/>
              </a:rPr>
              <a:t>机器学习发展历史</a:t>
            </a:r>
            <a:endParaRPr lang="zh-CN" altLang="en-US" sz="3200" b="1" spc="200" dirty="0">
              <a:solidFill>
                <a:schemeClr val="accent1"/>
              </a:solidFill>
              <a:uFillTx/>
              <a:latin typeface="微软雅黑 Light" panose="020B0502040204020203" pitchFamily="34" charset="-122"/>
              <a:ea typeface="微软雅黑" panose="020B0503020204020204" charset="-122"/>
            </a:endParaRPr>
          </a:p>
        </p:txBody>
      </p:sp>
      <p:sp>
        <p:nvSpPr>
          <p:cNvPr id="3" name="Content Placeholder 2"/>
          <p:cNvSpPr>
            <a:spLocks noGrp="1"/>
          </p:cNvSpPr>
          <p:nvPr>
            <p:ph idx="1"/>
          </p:nvPr>
        </p:nvSpPr>
        <p:spPr>
          <a:xfrm>
            <a:off x="299085" y="1243965"/>
            <a:ext cx="10515600" cy="4351338"/>
          </a:xfrm>
        </p:spPr>
        <p:txBody>
          <a:bodyPr/>
          <a:p>
            <a:pPr marL="0" indent="0">
              <a:buNone/>
            </a:pPr>
            <a:r>
              <a:rPr lang="zh-CN" altLang="en-US" sz="3200" b="1">
                <a:latin typeface="宋体" panose="02010600030101010101" pitchFamily="2" charset="-122"/>
                <a:ea typeface="宋体" panose="02010600030101010101" pitchFamily="2" charset="-122"/>
              </a:rPr>
              <a:t>2012：深度学习的兴起</a:t>
            </a:r>
            <a:endParaRPr lang="zh-CN" altLang="en-US" sz="3200" b="1">
              <a:latin typeface="宋体" panose="02010600030101010101" pitchFamily="2" charset="-122"/>
              <a:ea typeface="宋体" panose="02010600030101010101" pitchFamily="2" charset="-122"/>
            </a:endParaRPr>
          </a:p>
        </p:txBody>
      </p:sp>
      <p:pic>
        <p:nvPicPr>
          <p:cNvPr id="5" name="图片 1"/>
          <p:cNvPicPr>
            <a:picLocks noChangeAspect="1"/>
          </p:cNvPicPr>
          <p:nvPr/>
        </p:nvPicPr>
        <p:blipFill>
          <a:blip r:embed="rId1"/>
          <a:stretch>
            <a:fillRect/>
          </a:stretch>
        </p:blipFill>
        <p:spPr>
          <a:xfrm>
            <a:off x="269023" y="1985232"/>
            <a:ext cx="6683332" cy="4124574"/>
          </a:xfrm>
          <a:prstGeom prst="rect">
            <a:avLst/>
          </a:prstGeom>
        </p:spPr>
      </p:pic>
      <p:pic>
        <p:nvPicPr>
          <p:cNvPr id="8" name="Picture 4" descr="ImageNet缔造者：让冰冷的机器读懂照片背后的故事"/>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6770" y="3860336"/>
            <a:ext cx="3882672" cy="2202204"/>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descr="ImageNet缔造者：让冰冷的机器读懂照片背后的故事"/>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86770" y="1821900"/>
            <a:ext cx="3882672" cy="2038436"/>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7"/>
          <p:cNvSpPr txBox="1"/>
          <p:nvPr/>
        </p:nvSpPr>
        <p:spPr>
          <a:xfrm>
            <a:off x="937196" y="6219565"/>
            <a:ext cx="8097347" cy="369332"/>
          </a:xfrm>
          <a:prstGeom prst="rect">
            <a:avLst/>
          </a:prstGeom>
          <a:noFill/>
        </p:spPr>
        <p:txBody>
          <a:bodyPr wrap="square" rtlCol="0">
            <a:spAutoFit/>
          </a:bodyPr>
          <a:p>
            <a:pPr algn="l"/>
            <a:r>
              <a:rPr lang="en-US" altLang="zh-CN" dirty="0">
                <a:latin typeface="+mn-ea"/>
                <a:ea typeface="+mn-ea"/>
              </a:rPr>
              <a:t>2012</a:t>
            </a:r>
            <a:r>
              <a:rPr lang="zh-CN" altLang="en-US" dirty="0">
                <a:latin typeface="+mn-ea"/>
                <a:ea typeface="+mn-ea"/>
              </a:rPr>
              <a:t>年</a:t>
            </a:r>
            <a:r>
              <a:rPr lang="en-US" altLang="zh-CN" dirty="0">
                <a:latin typeface="+mn-ea"/>
                <a:ea typeface="+mn-ea"/>
              </a:rPr>
              <a:t>, </a:t>
            </a:r>
            <a:r>
              <a:rPr lang="en-GB" dirty="0">
                <a:latin typeface="+mn-ea"/>
                <a:ea typeface="+mn-ea"/>
              </a:rPr>
              <a:t>ImageNet</a:t>
            </a:r>
            <a:r>
              <a:rPr lang="zh-CN" altLang="en-US" dirty="0">
                <a:latin typeface="+mn-ea"/>
                <a:ea typeface="+mn-ea"/>
              </a:rPr>
              <a:t>中深度学习方法取得了最佳效果，显著提升了性能</a:t>
            </a:r>
            <a:endParaRPr lang="zh-CN" altLang="en-US" dirty="0">
              <a:latin typeface="+mn-ea"/>
              <a:ea typeface="+mn-ea"/>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UNIT_PLACING_PICTURE_USER_VIEWPORT" val="{&quot;height&quot;:7353.603149606299,&quot;width&quot;:11433.173228346457}"/>
</p:tagLst>
</file>

<file path=ppt/tags/tag13.xml><?xml version="1.0" encoding="utf-8"?>
<p:tagLst xmlns:p="http://schemas.openxmlformats.org/presentationml/2006/main">
  <p:tag name="KSO_WM_UNIT_PLACING_PICTURE_USER_VIEWPORT" val="{&quot;height&quot;:5964,&quot;width&quot;:8376}"/>
</p:tagLst>
</file>

<file path=ppt/tags/tag14.xml><?xml version="1.0" encoding="utf-8"?>
<p:tagLst xmlns:p="http://schemas.openxmlformats.org/presentationml/2006/main">
  <p:tag name="KSO_WPP_MARK_KEY" val="ce225390-6514-4faa-84f2-e89cbf6ee03a"/>
  <p:tag name="COMMONDATA" val="eyJoZGlkIjoiNWRiN2EzOTIwNTFkMWRjYjlhM2M2MjEwMTAzOTAyMTAifQ=="/>
  <p:tag name="commondata" val="eyJoZGlkIjoiZWVhYmRhZTIyMDlkYTBlYWEwMTNhN2ZhYWRhYjdkNGU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5411</Words>
  <Application>WPS 演示</Application>
  <PresentationFormat>宽屏</PresentationFormat>
  <Paragraphs>345</Paragraphs>
  <Slides>30</Slides>
  <Notes>1</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1</vt:i4>
      </vt:variant>
      <vt:variant>
        <vt:lpstr>幻灯片标题</vt:lpstr>
      </vt:variant>
      <vt:variant>
        <vt:i4>30</vt:i4>
      </vt:variant>
    </vt:vector>
  </HeadingPairs>
  <TitlesOfParts>
    <vt:vector size="47" baseType="lpstr">
      <vt:lpstr>Arial</vt:lpstr>
      <vt:lpstr>宋体</vt:lpstr>
      <vt:lpstr>Wingdings</vt:lpstr>
      <vt:lpstr>Times New Roman</vt:lpstr>
      <vt:lpstr>Arial</vt:lpstr>
      <vt:lpstr>PingFang SC</vt:lpstr>
      <vt:lpstr>Segoe Print</vt:lpstr>
      <vt:lpstr>华文中宋</vt:lpstr>
      <vt:lpstr>微软雅黑</vt:lpstr>
      <vt:lpstr>微软雅黑 Light</vt:lpstr>
      <vt:lpstr>Arial Unicode MS</vt:lpstr>
      <vt:lpstr>Calibri</vt:lpstr>
      <vt:lpstr>Tahoma</vt:lpstr>
      <vt:lpstr>黑体</vt:lpstr>
      <vt:lpstr>华文琥珀</vt:lpstr>
      <vt:lpstr>Office 主题</vt:lpstr>
      <vt:lpstr>MS_ClipArt_Gallery.2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什么是机器学习?</vt:lpstr>
      <vt:lpstr>什么是机器学习?</vt:lpstr>
      <vt:lpstr>机器学习</vt:lpstr>
      <vt:lpstr>机器学习</vt:lpstr>
      <vt:lpstr>机器学习：概念学习</vt:lpstr>
      <vt:lpstr>机器学习：决策树</vt:lpstr>
      <vt:lpstr>机器学习：神经网络</vt:lpstr>
      <vt:lpstr>机器学习：支持向量机</vt:lpstr>
      <vt:lpstr>机器学习：贝叶斯分类器</vt:lpstr>
      <vt:lpstr>机器学习：强化学习</vt:lpstr>
      <vt:lpstr>机器学习案例：人脸识别</vt:lpstr>
      <vt:lpstr>机器学习案例：人脸识别</vt:lpstr>
      <vt:lpstr>机器学习案例：人脸识别</vt:lpstr>
      <vt:lpstr>机器学习案例：人脸识别</vt:lpstr>
      <vt:lpstr>机器学习案例：人脸识别</vt:lpstr>
      <vt:lpstr>机器学习应用</vt:lpstr>
      <vt:lpstr>机器学习</vt:lpstr>
      <vt:lpstr>机器学习发展历史</vt:lpstr>
      <vt:lpstr>机器学习发展历史</vt:lpstr>
      <vt:lpstr>机器学习发展历史</vt:lpstr>
      <vt:lpstr>机器学习发展历史</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王泽林</dc:creator>
  <cp:lastModifiedBy>周建光</cp:lastModifiedBy>
  <cp:revision>150</cp:revision>
  <dcterms:created xsi:type="dcterms:W3CDTF">2022-04-13T13:21:00Z</dcterms:created>
  <dcterms:modified xsi:type="dcterms:W3CDTF">2024-11-13T15:05:40Z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B462288B34EB402DA6EF70CBA2B234F3</vt:lpwstr>
  </property>
  <property fmtid="{D5CDD505-2E9C-101B-9397-08002B2CF9AE}" pid="3" name="KSOProductBuildVer">
    <vt:lpwstr>2052-12.1.0.18276</vt:lpwstr>
  </property>
  <property fmtid="{D5CDD505-2E9C-101B-9397-08002B2CF9AE}" pid="4" name="commondata">
    <vt:lpwstr>eyJoZGlkIjoiNWRiN2EzOTIwNTFkMWRjYjlhM2M2MjEwMTAzOTAyMTAifQ==</vt:lpwstr>
  </property>
</Properties>
</file>