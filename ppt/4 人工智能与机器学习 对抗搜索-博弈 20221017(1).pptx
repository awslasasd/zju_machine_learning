
<file path=[Content_Types].xml><?xml version="1.0" encoding="utf-8"?>
<Types xmlns="http://schemas.openxmlformats.org/package/2006/content-types">
  <Default Extension="bin" ContentType="image/unknown"/>
  <Default Extension="bmp" ContentType="image/bmp"/>
  <Default Extension="GIF" ContentType="image/gi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4.xml" ContentType="application/vnd.openxmlformats-officedocument.them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5.xml" ContentType="application/vnd.openxmlformats-officedocument.theme+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6.xml" ContentType="application/vnd.openxmlformats-officedocument.theme+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7.xml" ContentType="application/vnd.openxmlformats-officedocument.theme+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notesSlides/notesSlide1.xml" ContentType="application/vnd.openxmlformats-officedocument.presentationml.notesSlide+xml"/>
  <Override PartName="/ppt/tags/tag773.xml" ContentType="application/vnd.openxmlformats-officedocument.presentationml.tags+xml"/>
  <Override PartName="/ppt/notesSlides/notesSlide2.xml" ContentType="application/vnd.openxmlformats-officedocument.presentationml.notesSlide+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notesSlides/notesSlide3.xml" ContentType="application/vnd.openxmlformats-officedocument.presentationml.notesSlide+xml"/>
  <Override PartName="/ppt/tags/tag777.xml" ContentType="application/vnd.openxmlformats-officedocument.presentationml.tags+xml"/>
  <Override PartName="/ppt/tags/tag778.xml" ContentType="application/vnd.openxmlformats-officedocument.presentationml.tags+xml"/>
  <Override PartName="/ppt/notesSlides/notesSlide4.xml" ContentType="application/vnd.openxmlformats-officedocument.presentationml.notesSlide+xml"/>
  <Override PartName="/ppt/tags/tag779.xml" ContentType="application/vnd.openxmlformats-officedocument.presentationml.tags+xml"/>
  <Override PartName="/ppt/tags/tag780.xml" ContentType="application/vnd.openxmlformats-officedocument.presentationml.tags+xml"/>
  <Override PartName="/ppt/notesSlides/notesSlide5.xml" ContentType="application/vnd.openxmlformats-officedocument.presentationml.notesSlide+xml"/>
  <Override PartName="/ppt/tags/tag781.xml" ContentType="application/vnd.openxmlformats-officedocument.presentationml.tags+xml"/>
  <Override PartName="/ppt/notesSlides/notesSlide6.xml" ContentType="application/vnd.openxmlformats-officedocument.presentationml.notesSlide+xml"/>
  <Override PartName="/ppt/tags/tag782.xml" ContentType="application/vnd.openxmlformats-officedocument.presentationml.tags+xml"/>
  <Override PartName="/ppt/notesSlides/notesSlide7.xml" ContentType="application/vnd.openxmlformats-officedocument.presentationml.notesSlide+xml"/>
  <Override PartName="/ppt/tags/tag783.xml" ContentType="application/vnd.openxmlformats-officedocument.presentationml.tags+xml"/>
  <Override PartName="/ppt/notesSlides/notesSlide8.xml" ContentType="application/vnd.openxmlformats-officedocument.presentationml.notesSlide+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notesSlides/notesSlide9.xml" ContentType="application/vnd.openxmlformats-officedocument.presentationml.notesSlide+xml"/>
  <Override PartName="/ppt/tags/tag788.xml" ContentType="application/vnd.openxmlformats-officedocument.presentationml.tags+xml"/>
  <Override PartName="/ppt/tags/tag789.xml" ContentType="application/vnd.openxmlformats-officedocument.presentationml.tags+xml"/>
  <Override PartName="/ppt/notesSlides/notesSlide10.xml" ContentType="application/vnd.openxmlformats-officedocument.presentationml.notesSlide+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notesSlides/notesSlide11.xml" ContentType="application/vnd.openxmlformats-officedocument.presentationml.notesSlide+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notesSlides/notesSlide12.xml" ContentType="application/vnd.openxmlformats-officedocument.presentationml.notesSlide+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notesSlides/notesSlide13.xml" ContentType="application/vnd.openxmlformats-officedocument.presentationml.notesSlide+xml"/>
  <Override PartName="/ppt/tags/tag813.xml" ContentType="application/vnd.openxmlformats-officedocument.presentationml.tags+xml"/>
  <Override PartName="/ppt/tags/tag814.xml" ContentType="application/vnd.openxmlformats-officedocument.presentationml.tags+xml"/>
  <Override PartName="/ppt/notesSlides/notesSlide14.xml" ContentType="application/vnd.openxmlformats-officedocument.presentationml.notesSlide+xml"/>
  <Override PartName="/ppt/tags/tag815.xml" ContentType="application/vnd.openxmlformats-officedocument.presentationml.tags+xml"/>
  <Override PartName="/ppt/tags/tag816.xml" ContentType="application/vnd.openxmlformats-officedocument.presentationml.tags+xml"/>
  <Override PartName="/ppt/notesSlides/notesSlide15.xml" ContentType="application/vnd.openxmlformats-officedocument.presentationml.notesSlide+xml"/>
  <Override PartName="/ppt/embeddings/oleObject1.bin" ContentType="application/vnd.openxmlformats-officedocument.oleObject"/>
  <Override PartName="/ppt/tags/tag817.xml" ContentType="application/vnd.openxmlformats-officedocument.presentationml.tags+xml"/>
  <Override PartName="/ppt/notesSlides/notesSlide16.xml" ContentType="application/vnd.openxmlformats-officedocument.presentationml.notesSlide+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notesSlides/notesSlide17.xml" ContentType="application/vnd.openxmlformats-officedocument.presentationml.notesSlide+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notesSlides/notesSlide18.xml" ContentType="application/vnd.openxmlformats-officedocument.presentationml.notesSlide+xml"/>
  <Override PartName="/ppt/tags/tag826.xml" ContentType="application/vnd.openxmlformats-officedocument.presentationml.tags+xml"/>
  <Override PartName="/ppt/tags/tag827.xml" ContentType="application/vnd.openxmlformats-officedocument.presentationml.tags+xml"/>
  <Override PartName="/ppt/notesSlides/notesSlide19.xml" ContentType="application/vnd.openxmlformats-officedocument.presentationml.notesSlide+xml"/>
  <Override PartName="/ppt/tags/tag828.xml" ContentType="application/vnd.openxmlformats-officedocument.presentationml.tags+xml"/>
  <Override PartName="/ppt/notesSlides/notesSlide20.xml" ContentType="application/vnd.openxmlformats-officedocument.presentationml.notesSlide+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notesSlides/notesSlide21.xml" ContentType="application/vnd.openxmlformats-officedocument.presentationml.notesSlide+xml"/>
  <Override PartName="/ppt/tags/tag835.xml" ContentType="application/vnd.openxmlformats-officedocument.presentationml.tags+xml"/>
  <Override PartName="/ppt/notesSlides/notesSlide22.xml" ContentType="application/vnd.openxmlformats-officedocument.presentationml.notesSlide+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notesSlides/notesSlide23.xml" ContentType="application/vnd.openxmlformats-officedocument.presentationml.notesSlide+xml"/>
  <Override PartName="/ppt/tags/tag841.xml" ContentType="application/vnd.openxmlformats-officedocument.presentationml.tags+xml"/>
  <Override PartName="/ppt/notesSlides/notesSlide24.xml" ContentType="application/vnd.openxmlformats-officedocument.presentationml.notesSlide+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notesSlides/notesSlide25.xml" ContentType="application/vnd.openxmlformats-officedocument.presentationml.notesSlide+xml"/>
  <Override PartName="/ppt/tags/tag863.xml" ContentType="application/vnd.openxmlformats-officedocument.presentationml.tags+xml"/>
  <Override PartName="/ppt/notesSlides/notesSlide26.xml" ContentType="application/vnd.openxmlformats-officedocument.presentationml.notesSlide+xml"/>
  <Override PartName="/ppt/tags/tag864.xml" ContentType="application/vnd.openxmlformats-officedocument.presentationml.tags+xml"/>
  <Override PartName="/ppt/notesSlides/notesSlide27.xml" ContentType="application/vnd.openxmlformats-officedocument.presentationml.notesSlide+xml"/>
  <Override PartName="/ppt/tags/tag865.xml" ContentType="application/vnd.openxmlformats-officedocument.presentationml.tags+xml"/>
  <Override PartName="/ppt/notesSlides/notesSlide28.xml" ContentType="application/vnd.openxmlformats-officedocument.presentationml.notesSlide+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notesSlides/notesSlide29.xml" ContentType="application/vnd.openxmlformats-officedocument.presentationml.notesSlide+xml"/>
  <Override PartName="/ppt/tags/tag876.xml" ContentType="application/vnd.openxmlformats-officedocument.presentationml.tags+xml"/>
  <Override PartName="/ppt/notesSlides/notesSlide30.xml" ContentType="application/vnd.openxmlformats-officedocument.presentationml.notesSlide+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notesSlides/notesSlide31.xml" ContentType="application/vnd.openxmlformats-officedocument.presentationml.notesSlide+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notesSlides/notesSlide32.xml" ContentType="application/vnd.openxmlformats-officedocument.presentationml.notesSlide+xml"/>
  <Override PartName="/ppt/tags/tag896.xml" ContentType="application/vnd.openxmlformats-officedocument.presentationml.tags+xml"/>
  <Override PartName="/ppt/tags/tag897.xml" ContentType="application/vnd.openxmlformats-officedocument.presentationml.tags+xml"/>
  <Override PartName="/ppt/notesSlides/notesSlide33.xml" ContentType="application/vnd.openxmlformats-officedocument.presentationml.notesSlide+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notesSlides/notesSlide34.xml" ContentType="application/vnd.openxmlformats-officedocument.presentationml.notesSlide+xml"/>
  <Override PartName="/ppt/tags/tag902.xml" ContentType="application/vnd.openxmlformats-officedocument.presentationml.tags+xml"/>
  <Override PartName="/ppt/tags/tag903.xml" ContentType="application/vnd.openxmlformats-officedocument.presentationml.tags+xml"/>
  <Override PartName="/ppt/notesSlides/notesSlide35.xml" ContentType="application/vnd.openxmlformats-officedocument.presentationml.notesSlide+xml"/>
  <Override PartName="/ppt/embeddings/oleObject2.bin" ContentType="application/vnd.openxmlformats-officedocument.oleObject"/>
  <Override PartName="/ppt/tags/tag904.xml" ContentType="application/vnd.openxmlformats-officedocument.presentationml.tags+xml"/>
  <Override PartName="/ppt/embeddings/oleObject3.bin" ContentType="application/vnd.openxmlformats-officedocument.oleObject"/>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notesSlides/notesSlide36.xml" ContentType="application/vnd.openxmlformats-officedocument.presentationml.notesSlide+xml"/>
  <Override PartName="/ppt/tags/tag910.xml" ContentType="application/vnd.openxmlformats-officedocument.presentationml.tags+xml"/>
  <Override PartName="/ppt/tags/tag911.xml" ContentType="application/vnd.openxmlformats-officedocument.presentationml.tags+xml"/>
  <Override PartName="/ppt/notesSlides/notesSlide37.xml" ContentType="application/vnd.openxmlformats-officedocument.presentationml.notesSlide+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notesSlides/notesSlide38.xml" ContentType="application/vnd.openxmlformats-officedocument.presentationml.notesSlide+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notesSlides/notesSlide39.xml" ContentType="application/vnd.openxmlformats-officedocument.presentationml.notesSlide+xml"/>
  <Override PartName="/ppt/tags/tag922.xml" ContentType="application/vnd.openxmlformats-officedocument.presentationml.tags+xml"/>
  <Override PartName="/ppt/embeddings/oleObject4.bin" ContentType="application/vnd.openxmlformats-officedocument.oleObject"/>
  <Override PartName="/ppt/tags/tag923.xml" ContentType="application/vnd.openxmlformats-officedocument.presentationml.tags+xml"/>
  <Override PartName="/ppt/tags/tag924.xml" ContentType="application/vnd.openxmlformats-officedocument.presentationml.tags+xml"/>
  <Override PartName="/ppt/notesSlides/notesSlide40.xml" ContentType="application/vnd.openxmlformats-officedocument.presentationml.notesSlide+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notesSlides/notesSlide41.xml" ContentType="application/vnd.openxmlformats-officedocument.presentationml.notesSlide+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notesSlides/notesSlide42.xml" ContentType="application/vnd.openxmlformats-officedocument.presentationml.notesSlide+xml"/>
  <Override PartName="/ppt/tags/tag934.xml" ContentType="application/vnd.openxmlformats-officedocument.presentationml.tags+xml"/>
  <Override PartName="/ppt/notesSlides/notesSlide43.xml" ContentType="application/vnd.openxmlformats-officedocument.presentationml.notesSlide+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notesSlides/notesSlide44.xml" ContentType="application/vnd.openxmlformats-officedocument.presentationml.notesSlide+xml"/>
  <Override PartName="/ppt/tags/tag939.xml" ContentType="application/vnd.openxmlformats-officedocument.presentationml.tags+xml"/>
  <Override PartName="/ppt/notesSlides/notesSlide45.xml" ContentType="application/vnd.openxmlformats-officedocument.presentationml.notesSlide+xml"/>
  <Override PartName="/ppt/tags/tag940.xml" ContentType="application/vnd.openxmlformats-officedocument.presentationml.tags+xml"/>
  <Override PartName="/ppt/notesSlides/notesSlide46.xml" ContentType="application/vnd.openxmlformats-officedocument.presentationml.notesSlide+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82" r:id="rId3"/>
    <p:sldMasterId id="2147483702" r:id="rId4"/>
    <p:sldMasterId id="2147483722" r:id="rId5"/>
    <p:sldMasterId id="2147483742" r:id="rId6"/>
    <p:sldMasterId id="2147483762" r:id="rId7"/>
  </p:sldMasterIdLst>
  <p:notesMasterIdLst>
    <p:notesMasterId r:id="rId120"/>
  </p:notesMasterIdLst>
  <p:handoutMasterIdLst>
    <p:handoutMasterId r:id="rId121"/>
  </p:handoutMasterIdLst>
  <p:sldIdLst>
    <p:sldId id="897" r:id="rId8"/>
    <p:sldId id="1223" r:id="rId9"/>
    <p:sldId id="1224" r:id="rId10"/>
    <p:sldId id="1345" r:id="rId11"/>
    <p:sldId id="1347" r:id="rId12"/>
    <p:sldId id="1346" r:id="rId13"/>
    <p:sldId id="898" r:id="rId14"/>
    <p:sldId id="899" r:id="rId15"/>
    <p:sldId id="1236" r:id="rId16"/>
    <p:sldId id="1237" r:id="rId17"/>
    <p:sldId id="1350" r:id="rId18"/>
    <p:sldId id="1351" r:id="rId19"/>
    <p:sldId id="1352" r:id="rId20"/>
    <p:sldId id="1357" r:id="rId21"/>
    <p:sldId id="1225" r:id="rId22"/>
    <p:sldId id="1238" r:id="rId23"/>
    <p:sldId id="1344" r:id="rId24"/>
    <p:sldId id="904" r:id="rId25"/>
    <p:sldId id="905" r:id="rId26"/>
    <p:sldId id="910" r:id="rId27"/>
    <p:sldId id="907" r:id="rId28"/>
    <p:sldId id="908" r:id="rId29"/>
    <p:sldId id="909" r:id="rId30"/>
    <p:sldId id="848" r:id="rId31"/>
    <p:sldId id="1011" r:id="rId32"/>
    <p:sldId id="849" r:id="rId33"/>
    <p:sldId id="1012" r:id="rId34"/>
    <p:sldId id="1013" r:id="rId35"/>
    <p:sldId id="851" r:id="rId36"/>
    <p:sldId id="852" r:id="rId37"/>
    <p:sldId id="992" r:id="rId38"/>
    <p:sldId id="854" r:id="rId39"/>
    <p:sldId id="1047" r:id="rId40"/>
    <p:sldId id="1016" r:id="rId41"/>
    <p:sldId id="1017" r:id="rId42"/>
    <p:sldId id="1018" r:id="rId43"/>
    <p:sldId id="1019" r:id="rId44"/>
    <p:sldId id="855" r:id="rId45"/>
    <p:sldId id="988" r:id="rId46"/>
    <p:sldId id="858" r:id="rId47"/>
    <p:sldId id="859" r:id="rId48"/>
    <p:sldId id="860" r:id="rId49"/>
    <p:sldId id="861" r:id="rId50"/>
    <p:sldId id="862" r:id="rId51"/>
    <p:sldId id="863" r:id="rId52"/>
    <p:sldId id="864" r:id="rId53"/>
    <p:sldId id="865" r:id="rId54"/>
    <p:sldId id="866" r:id="rId55"/>
    <p:sldId id="1069" r:id="rId56"/>
    <p:sldId id="1156" r:id="rId57"/>
    <p:sldId id="1072" r:id="rId58"/>
    <p:sldId id="1158" r:id="rId59"/>
    <p:sldId id="1159" r:id="rId60"/>
    <p:sldId id="1160" r:id="rId61"/>
    <p:sldId id="1161" r:id="rId62"/>
    <p:sldId id="1162" r:id="rId63"/>
    <p:sldId id="1163" r:id="rId64"/>
    <p:sldId id="1164" r:id="rId65"/>
    <p:sldId id="1165" r:id="rId66"/>
    <p:sldId id="1166" r:id="rId67"/>
    <p:sldId id="1167" r:id="rId68"/>
    <p:sldId id="1168" r:id="rId69"/>
    <p:sldId id="1169" r:id="rId70"/>
    <p:sldId id="1170" r:id="rId71"/>
    <p:sldId id="1171" r:id="rId72"/>
    <p:sldId id="1048" r:id="rId73"/>
    <p:sldId id="1049" r:id="rId74"/>
    <p:sldId id="1050" r:id="rId75"/>
    <p:sldId id="1051" r:id="rId76"/>
    <p:sldId id="1052" r:id="rId77"/>
    <p:sldId id="1053" r:id="rId78"/>
    <p:sldId id="1054" r:id="rId79"/>
    <p:sldId id="1055" r:id="rId80"/>
    <p:sldId id="1056" r:id="rId81"/>
    <p:sldId id="1173" r:id="rId82"/>
    <p:sldId id="1174" r:id="rId83"/>
    <p:sldId id="1175" r:id="rId84"/>
    <p:sldId id="1176" r:id="rId85"/>
    <p:sldId id="868" r:id="rId86"/>
    <p:sldId id="869" r:id="rId87"/>
    <p:sldId id="870" r:id="rId88"/>
    <p:sldId id="871" r:id="rId89"/>
    <p:sldId id="872" r:id="rId90"/>
    <p:sldId id="873" r:id="rId91"/>
    <p:sldId id="874" r:id="rId92"/>
    <p:sldId id="876" r:id="rId93"/>
    <p:sldId id="877" r:id="rId94"/>
    <p:sldId id="878" r:id="rId95"/>
    <p:sldId id="879" r:id="rId96"/>
    <p:sldId id="880" r:id="rId97"/>
    <p:sldId id="882" r:id="rId98"/>
    <p:sldId id="883" r:id="rId99"/>
    <p:sldId id="884" r:id="rId100"/>
    <p:sldId id="885" r:id="rId101"/>
    <p:sldId id="886" r:id="rId102"/>
    <p:sldId id="887" r:id="rId103"/>
    <p:sldId id="888" r:id="rId104"/>
    <p:sldId id="889" r:id="rId105"/>
    <p:sldId id="890" r:id="rId106"/>
    <p:sldId id="1359" r:id="rId107"/>
    <p:sldId id="891" r:id="rId108"/>
    <p:sldId id="892" r:id="rId109"/>
    <p:sldId id="893" r:id="rId110"/>
    <p:sldId id="1356" r:id="rId111"/>
    <p:sldId id="1358" r:id="rId112"/>
    <p:sldId id="894" r:id="rId113"/>
    <p:sldId id="1229" r:id="rId114"/>
    <p:sldId id="1230" r:id="rId115"/>
    <p:sldId id="1231" r:id="rId116"/>
    <p:sldId id="1232" r:id="rId117"/>
    <p:sldId id="1233" r:id="rId118"/>
    <p:sldId id="1234" r:id="rId119"/>
  </p:sldIdLst>
  <p:sldSz cx="9144000" cy="6858000" type="screen4x3"/>
  <p:notesSz cx="7099300" cy="10234613"/>
  <p:custDataLst>
    <p:tags r:id="rId122"/>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74">
          <p15:clr>
            <a:srgbClr val="A4A3A4"/>
          </p15:clr>
        </p15:guide>
        <p15:guide id="2" pos="27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00"/>
    <a:srgbClr val="003366"/>
    <a:srgbClr val="FF3300"/>
    <a:srgbClr val="FF0066"/>
    <a:srgbClr val="FF00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0"/>
    <p:restoredTop sz="74762" autoAdjust="0"/>
  </p:normalViewPr>
  <p:slideViewPr>
    <p:cSldViewPr snapToGrid="0" showGuides="1">
      <p:cViewPr varScale="1">
        <p:scale>
          <a:sx n="149" d="100"/>
          <a:sy n="149" d="100"/>
        </p:scale>
        <p:origin x="2008" y="92"/>
      </p:cViewPr>
      <p:guideLst>
        <p:guide orient="horz" pos="2274"/>
        <p:guide pos="279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12" Type="http://schemas.openxmlformats.org/officeDocument/2006/relationships/slide" Target="slides/slide105.xml"/><Relationship Id="rId16" Type="http://schemas.openxmlformats.org/officeDocument/2006/relationships/slide" Target="slides/slide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presProps" Target="presProps.xml"/><Relationship Id="rId5" Type="http://schemas.openxmlformats.org/officeDocument/2006/relationships/slideMaster" Target="slideMasters/slideMaster5.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viewProps" Target="viewProps.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notesMaster" Target="notesMasters/notesMaster1.xml"/><Relationship Id="rId125"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handoutMaster" Target="handoutMasters/handoutMaster1.xml"/><Relationship Id="rId3" Type="http://schemas.openxmlformats.org/officeDocument/2006/relationships/slideMaster" Target="slideMasters/slideMaster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341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1"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2"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3"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724A3FDA-F3DA-453D-A7C3-9D8509E79BF4}" type="slidenum">
              <a:rPr kumimoji="0" lang="zh-CN" altLang="en-US" sz="13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59"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224261"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24262"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63"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B0596101-CD61-4585-A955-B76E26C15B28}" type="slidenum">
              <a:rPr kumimoji="0" lang="zh-CN" altLang="en-US" sz="13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1</a:t>
            </a:fld>
            <a:endParaRPr lang="zh-CN" altLang="en-US" sz="1300" dirty="0"/>
          </a:p>
        </p:txBody>
      </p:sp>
      <p:sp>
        <p:nvSpPr>
          <p:cNvPr id="6147" name="Rectangle 2"/>
          <p:cNvSpPr>
            <a:spLocks noGrp="1" noRot="1" noChangeAspect="1" noTextEdit="1"/>
          </p:cNvSpPr>
          <p:nvPr>
            <p:ph type="sldImg"/>
          </p:nvPr>
        </p:nvSpPr>
        <p:spPr/>
      </p:sp>
      <p:sp>
        <p:nvSpPr>
          <p:cNvPr id="6148" name="Rectangle 3"/>
          <p:cNvSpPr>
            <a:spLocks noGrp="1"/>
          </p:cNvSpPr>
          <p:nvPr>
            <p:ph type="body" idx="1"/>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怎么才能得到最佳招数呢？这显然是一个搜索问题。</a:t>
            </a:r>
          </a:p>
        </p:txBody>
      </p:sp>
    </p:spTree>
    <p:extLst>
      <p:ext uri="{BB962C8B-B14F-4D97-AF65-F5344CB8AC3E}">
        <p14:creationId xmlns:p14="http://schemas.microsoft.com/office/powerpoint/2010/main" val="2061359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en-US" altLang="zh-CN"/>
              <a:t>2001</a:t>
            </a:r>
            <a:r>
              <a:rPr lang="zh-CN" altLang="en-US"/>
              <a:t>年</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我相信大部分的人都曾经接触过甚至使用过博弈论的相关概念和方法，但是却没有真正的深入研究。</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数学中的博弈论，是经济学的一个分支</a:t>
            </a:r>
          </a:p>
          <a:p>
            <a:endParaRPr lang="zh-CN" altLang="en-US"/>
          </a:p>
          <a:p>
            <a:r>
              <a:rPr lang="zh-CN" altLang="en-US"/>
              <a:t>国际象棋，一个棋手赢了，则对手一定是输了。</a:t>
            </a:r>
          </a:p>
          <a:p>
            <a:r>
              <a:rPr lang="zh-CN" altLang="en-US"/>
              <a:t>难以求解：国际象棋的平均分支因子大约是</a:t>
            </a:r>
            <a:r>
              <a:rPr lang="en-US" altLang="zh-CN"/>
              <a:t>35</a:t>
            </a:r>
            <a:r>
              <a:rPr lang="zh-CN" altLang="en-US"/>
              <a:t>，一盘棋一个棋手走大约</a:t>
            </a:r>
            <a:r>
              <a:rPr lang="en-US" altLang="zh-CN"/>
              <a:t>50</a:t>
            </a:r>
            <a:r>
              <a:rPr lang="zh-CN" altLang="en-US"/>
              <a:t>步，所以搜索树大约有</a:t>
            </a:r>
            <a:r>
              <a:rPr lang="en-US" altLang="zh-CN"/>
              <a:t>35^100</a:t>
            </a:r>
            <a:r>
              <a:rPr lang="zh-CN" altLang="en-US"/>
              <a:t>个节点</a:t>
            </a:r>
          </a:p>
          <a:p>
            <a:endParaRPr lang="zh-CN" altLang="en-US"/>
          </a:p>
          <a:p>
            <a:pPr marL="857250" lvl="2" indent="-171450" algn="l" fontAlgn="auto">
              <a:lnSpc>
                <a:spcPct val="120000"/>
              </a:lnSpc>
              <a:spcBef>
                <a:spcPts val="0"/>
              </a:spcBef>
              <a:spcAft>
                <a:spcPts val="1000"/>
              </a:spcAft>
              <a:buClr>
                <a:srgbClr val="213A71"/>
              </a:buClr>
              <a:buFont typeface="Arial" panose="020B0604020202020204" pitchFamily="34" charset="0"/>
              <a:buChar char="•"/>
            </a:pP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博弈是</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多智能体</a:t>
            </a: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环境，包含竞争与合作</a:t>
            </a:r>
          </a:p>
          <a:p>
            <a:pPr marL="857250" lvl="2" indent="-171450" algn="l" fontAlgn="auto">
              <a:lnSpc>
                <a:spcPct val="120000"/>
              </a:lnSpc>
              <a:spcBef>
                <a:spcPts val="0"/>
              </a:spcBef>
              <a:spcAft>
                <a:spcPts val="1000"/>
              </a:spcAft>
              <a:buClr>
                <a:srgbClr val="213A71"/>
              </a:buClr>
              <a:buFont typeface="Arial" panose="020B0604020202020204" pitchFamily="34" charset="0"/>
              <a:buChar char="•"/>
            </a:pP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博弈很有趣，与人类智慧密不可分</a:t>
            </a:r>
          </a:p>
          <a:p>
            <a:pPr marL="857250" lvl="2" indent="-171450" algn="l" fontAlgn="auto">
              <a:lnSpc>
                <a:spcPct val="120000"/>
              </a:lnSpc>
              <a:spcBef>
                <a:spcPts val="0"/>
              </a:spcBef>
              <a:spcAft>
                <a:spcPts val="1000"/>
              </a:spcAft>
              <a:buClr>
                <a:srgbClr val="213A71"/>
              </a:buClr>
              <a:buFont typeface="Arial" panose="020B0604020202020204" pitchFamily="34" charset="0"/>
              <a:buChar char="•"/>
            </a:pP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博弈很难，求解通常是NP-Hard</a:t>
            </a:r>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50" dirty="0">
                <a:solidFill>
                  <a:schemeClr val="tx1">
                    <a:lumMod val="75000"/>
                    <a:lumOff val="25000"/>
                  </a:schemeClr>
                </a:solidFill>
                <a:uFillTx/>
                <a:ea typeface="微软雅黑" panose="020B0503020204020204" pitchFamily="34" charset="-122"/>
                <a:sym typeface="+mn-ea"/>
              </a:rPr>
              <a:t>注重时间效率</a:t>
            </a:r>
            <a:endPar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7250" lvl="2" indent="-171450" algn="l" fontAlgn="auto">
              <a:lnSpc>
                <a:spcPct val="120000"/>
              </a:lnSpc>
              <a:spcBef>
                <a:spcPts val="0"/>
              </a:spcBef>
              <a:spcAft>
                <a:spcPts val="1000"/>
              </a:spcAft>
              <a:buClr>
                <a:srgbClr val="213A71"/>
              </a:buClr>
              <a:buFont typeface="Arial" panose="020B0604020202020204" pitchFamily="34" charset="0"/>
              <a:buChar char="•"/>
            </a:pP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博弈的状态表达容易，动作数量少</a:t>
            </a:r>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，规则严谨</a:t>
            </a:r>
          </a:p>
          <a:p>
            <a:pPr marL="857250" lvl="2" indent="-171450" algn="l" fontAlgn="auto">
              <a:lnSpc>
                <a:spcPct val="120000"/>
              </a:lnSpc>
              <a:spcBef>
                <a:spcPts val="0"/>
              </a:spcBef>
              <a:spcAft>
                <a:spcPts val="1000"/>
              </a:spcAft>
              <a:buClr>
                <a:srgbClr val="213A71"/>
              </a:buClr>
              <a:buFont typeface="Arial" panose="020B0604020202020204" pitchFamily="34" charset="0"/>
              <a:buChar char="•"/>
            </a:pPr>
            <a:r>
              <a:rPr lang="zh-CN" altLang="en-US" spc="150" dirty="0">
                <a:solidFill>
                  <a:schemeClr val="tx1">
                    <a:lumMod val="75000"/>
                    <a:lumOff val="25000"/>
                  </a:schemeClr>
                </a:solidFill>
                <a:uFillTx/>
                <a:ea typeface="微软雅黑" panose="020B0503020204020204" pitchFamily="34" charset="-122"/>
                <a:sym typeface="+mn-ea"/>
              </a:rPr>
              <a:t>博弈的抽象本性成为AI研究者感兴趣的对象</a:t>
            </a: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sym typeface="+mn-ea"/>
              </a:rPr>
              <a:t>       相信大家在网上或多或少的都玩过很多对抗类游戏，比如五子棋、象棋、国际象棋、围棋等。初期时，可能很多时候是和电脑进行人机联系。电脑方的出牌策略就是应用了很多对抗搜索的算法。</a:t>
            </a:r>
            <a:endParaRPr lang="zh-CN" altLang="en-US"/>
          </a:p>
          <a:p>
            <a:r>
              <a:rPr lang="zh-CN" altLang="en-US">
                <a:sym typeface="+mn-ea"/>
              </a:rPr>
              <a:t>  这些问题非常难于求解，例如国际象棋的平均分支因子大约是35，一盘棋一般每个游戏者走50步，所以搜索树大约有35100即10154个节点（尽管整个状态空间“只”约1040个不同节点）。和现实世界一样，游戏要求即使无法找到最优决策也必须能做某种决策，而不能花费太多的时间。换句话说，这些游戏有严格的时间限制(time limit)。所以对博弈的研究也产生了一些有趣的思想，如何尽可能充分的利用好时间。</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这个困境主要是因为他们都不知道对方的选择会是什么</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sym typeface="+mn-ea"/>
              </a:rPr>
              <a:t>现代博弈理论创建者、计算机先锋冯·诺依曼有句名言，用来形容非完全信息类对弈再合适不过：</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双陆棋</a:t>
            </a:r>
            <a:r>
              <a:rPr lang="en-US" altLang="zh-CN"/>
              <a:t>  </a:t>
            </a:r>
            <a:r>
              <a:rPr lang="zh-CN" altLang="en-US"/>
              <a:t>双六（骰子）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pPr>
              <a:buFont typeface="Arial" panose="020B0604020202020204" pitchFamily="34" charset="0"/>
            </a:pPr>
            <a:r>
              <a:rPr lang="zh-CN" altLang="en-US">
                <a:sym typeface="+mn-ea"/>
              </a:rPr>
              <a:t>本章讨论</a:t>
            </a:r>
            <a:endParaRPr lang="zh-CN" altLang="en-US"/>
          </a:p>
          <a:p>
            <a:pPr marL="285750" indent="-285750">
              <a:buFont typeface="Arial" panose="020B0604020202020204" pitchFamily="34" charset="0"/>
              <a:buChar char="•"/>
            </a:pPr>
            <a:r>
              <a:rPr lang="zh-CN" altLang="en-US">
                <a:sym typeface="+mn-ea"/>
              </a:rPr>
              <a:t>最佳招数（</a:t>
            </a:r>
            <a:r>
              <a:rPr lang="en-US" altLang="zh-CN">
                <a:sym typeface="+mn-ea"/>
              </a:rPr>
              <a:t>Optimal Move</a:t>
            </a:r>
            <a:r>
              <a:rPr lang="zh-CN" altLang="en-US">
                <a:sym typeface="+mn-ea"/>
              </a:rPr>
              <a:t>）的定义</a:t>
            </a:r>
          </a:p>
          <a:p>
            <a:pPr marL="285750" indent="-285750">
              <a:buFont typeface="Arial" panose="020B0604020202020204" pitchFamily="34" charset="0"/>
              <a:buChar char="•"/>
            </a:pPr>
            <a:r>
              <a:rPr lang="zh-CN" altLang="en-US">
                <a:sym typeface="+mn-ea"/>
              </a:rPr>
              <a:t>寻找最佳招数的搜索算法</a:t>
            </a:r>
            <a:endParaRPr lang="zh-CN" altLang="en-US"/>
          </a:p>
          <a:p>
            <a:pPr marL="285750" indent="-285750">
              <a:buFont typeface="Arial" panose="020B0604020202020204" pitchFamily="34" charset="0"/>
              <a:buChar char="•"/>
            </a:pPr>
            <a:r>
              <a:rPr lang="zh-CN" altLang="en-US">
                <a:sym typeface="+mn-ea"/>
              </a:rPr>
              <a:t>时间有限时如何寻找最佳招数</a:t>
            </a:r>
            <a:endParaRPr lang="zh-CN" altLang="en-US"/>
          </a:p>
          <a:p>
            <a:pPr marL="285750" indent="-285750">
              <a:buFont typeface="Arial" panose="020B0604020202020204" pitchFamily="34" charset="0"/>
              <a:buChar char="•"/>
            </a:pPr>
            <a:r>
              <a:rPr lang="zh-CN" altLang="en-US">
                <a:sym typeface="+mn-ea"/>
              </a:rPr>
              <a:t>对搜索算法进行优化</a:t>
            </a:r>
            <a:endParaRPr lang="zh-CN" altLang="en-US"/>
          </a:p>
          <a:p>
            <a:r>
              <a:rPr lang="zh-CN" altLang="en-US"/>
              <a:t>介绍</a:t>
            </a:r>
          </a:p>
          <a:p>
            <a:pPr marL="171450" indent="-171450">
              <a:buFont typeface="Arial" panose="020B0604020202020204" pitchFamily="34" charset="0"/>
              <a:buChar char="•"/>
            </a:pPr>
            <a:r>
              <a:rPr lang="zh-CN" altLang="en-US"/>
              <a:t>概率博弈</a:t>
            </a:r>
          </a:p>
          <a:p>
            <a:pPr marL="171450" indent="-171450">
              <a:buFont typeface="Arial" panose="020B0604020202020204" pitchFamily="34" charset="0"/>
              <a:buChar char="•"/>
            </a:pPr>
            <a:r>
              <a:rPr lang="zh-CN" altLang="en-US"/>
              <a:t>不完全信息博弈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搜索问题</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在对抗搜索中，</a:t>
            </a:r>
            <a:r>
              <a:rPr lang="en-US" altLang="zh-CN"/>
              <a:t>MIN</a:t>
            </a:r>
            <a:r>
              <a:rPr lang="zh-CN" altLang="en-US"/>
              <a:t>在博弈中也有发言权</a:t>
            </a:r>
          </a:p>
          <a:p>
            <a:r>
              <a:rPr lang="en-US" altLang="zh-CN"/>
              <a:t>MAX</a:t>
            </a:r>
            <a:r>
              <a:rPr lang="zh-CN" altLang="en-US"/>
              <a:t>必须找到应急的</a:t>
            </a:r>
            <a:r>
              <a:rPr lang="en-US" altLang="zh-CN"/>
              <a:t>“</a:t>
            </a:r>
            <a:r>
              <a:rPr lang="zh-CN" altLang="en-US"/>
              <a:t>策略</a:t>
            </a:r>
            <a:r>
              <a:rPr lang="en-US" altLang="zh-CN"/>
              <a:t>”</a:t>
            </a:r>
            <a:r>
              <a:rPr lang="zh-CN" altLang="en-US"/>
              <a:t>，制定出</a:t>
            </a:r>
            <a:r>
              <a:rPr lang="en-US" altLang="zh-CN"/>
              <a:t>MAX</a:t>
            </a:r>
            <a:r>
              <a:rPr lang="zh-CN" altLang="en-US"/>
              <a:t>在初始状态下应该采取的行动</a:t>
            </a:r>
          </a:p>
          <a:p>
            <a:r>
              <a:rPr lang="zh-CN" altLang="en-US"/>
              <a:t>接着是</a:t>
            </a:r>
            <a:r>
              <a:rPr lang="en-US" altLang="zh-CN"/>
              <a:t>MIN</a:t>
            </a:r>
            <a:r>
              <a:rPr lang="zh-CN" altLang="en-US"/>
              <a:t>行棋</a:t>
            </a:r>
          </a:p>
          <a:p>
            <a:r>
              <a:rPr lang="zh-CN" altLang="en-US"/>
              <a:t>然后</a:t>
            </a:r>
            <a:r>
              <a:rPr lang="en-US" altLang="zh-CN"/>
              <a:t>MAX</a:t>
            </a:r>
            <a:r>
              <a:rPr lang="zh-CN" altLang="en-US"/>
              <a:t>再行棋时要考虑到</a:t>
            </a:r>
            <a:r>
              <a:rPr lang="en-US" altLang="zh-CN"/>
              <a:t>MIN</a:t>
            </a:r>
            <a:r>
              <a:rPr lang="zh-CN" altLang="en-US"/>
              <a:t>的每种可能性的回应。</a:t>
            </a:r>
          </a:p>
          <a:p>
            <a:r>
              <a:rPr lang="zh-CN" altLang="en-US"/>
              <a:t>依此类推</a:t>
            </a:r>
          </a:p>
          <a:p>
            <a:endParaRPr lang="zh-CN" altLang="en-US"/>
          </a:p>
          <a:p>
            <a:r>
              <a:rPr lang="zh-CN" altLang="en-US"/>
              <a:t>这有些类似于</a:t>
            </a:r>
            <a:r>
              <a:rPr lang="en-US" altLang="zh-CN"/>
              <a:t>AND-OR</a:t>
            </a:r>
            <a:r>
              <a:rPr lang="zh-CN" altLang="en-US"/>
              <a:t>搜索算法</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给定一棵博弈树，最优策略可以通过检查每个节点的极小极大值来决定，这里我们记为MINIMAX-VALUE(n)。</a:t>
            </a:r>
          </a:p>
          <a:p>
            <a:r>
              <a:rPr lang="zh-CN" altLang="en-US"/>
              <a:t>假设在某一步以后两个游戏者都按照最优策略进行，那么这一个节点的极小极大值就是对应状态的效用值（对于MAX）。</a:t>
            </a:r>
          </a:p>
          <a:p>
            <a:r>
              <a:rPr lang="zh-CN" altLang="en-US"/>
              <a:t>显然对于终止状态，极小极大值就是它的效用值。</a:t>
            </a:r>
          </a:p>
          <a:p>
            <a:r>
              <a:rPr lang="zh-CN" altLang="en-US"/>
              <a:t>此外，已知一个选择，MAX将优先选择移动到一个有极大值的状态，而MIN选择移动到有极小值的状态。所以我们得到如下公式：</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我们在图3-1-1中的博弈树上运用这些定义。在最底层的终止节点已经标有它们的效用值。</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用红色箭头表示</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极小极大值算法假设了MIN也按最优招数行动，可以最大化MAX的最坏情况结果。如果MIN没有按最优招数行动怎么办？显而易见MAX可以做得更好。</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不实用</a:t>
            </a:r>
          </a:p>
          <a:p>
            <a:r>
              <a:rPr lang="zh-CN" altLang="en-US"/>
              <a:t>但可以作为对博弈进行数学分析和设计实用算法的基础</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sym typeface="+mn-ea"/>
              </a:rPr>
              <a:t>我方应选择中间的路线。</a:t>
            </a:r>
            <a:endParaRPr lang="zh-CN" altLang="en-US"/>
          </a:p>
          <a:p>
            <a:r>
              <a:rPr lang="zh-CN" altLang="en-US">
                <a:sym typeface="+mn-ea"/>
              </a:rPr>
              <a:t>因为，如果选择左边的路线，最差的赢面是3；如果选择中间的路线，最差的赢面是15；如果选择右边的路线，最差的赢面是1。</a:t>
            </a:r>
            <a:endParaRPr lang="zh-CN" altLang="en-US"/>
          </a:p>
          <a:p>
            <a:r>
              <a:rPr lang="zh-CN" altLang="en-US">
                <a:sym typeface="+mn-ea"/>
              </a:rPr>
              <a:t>虽然选择右边的路线可能有22的赢面，但对方也可能使我方只有1的赢面，</a:t>
            </a:r>
            <a:endParaRPr lang="zh-CN" altLang="en-US"/>
          </a:p>
          <a:p>
            <a:r>
              <a:rPr lang="zh-CN" altLang="en-US">
                <a:sym typeface="+mn-ea"/>
              </a:rPr>
              <a:t>假设对方会选择使得我方赢面最小的方向走，那么经过权衡，显然选择中间的路线更为稳妥。</a:t>
            </a:r>
            <a:endParaRPr lang="zh-CN" altLang="en-US"/>
          </a:p>
          <a:p>
            <a:r>
              <a:rPr lang="zh-CN" altLang="en-US">
                <a:sym typeface="+mn-ea"/>
              </a:rPr>
              <a:t>————————————————</a:t>
            </a:r>
            <a:endParaRPr lang="zh-CN" altLang="en-US"/>
          </a:p>
          <a:p>
            <a:r>
              <a:rPr lang="zh-CN" altLang="en-US">
                <a:sym typeface="+mn-ea"/>
              </a:rPr>
              <a:t>版权声明：本文为CSDN博主「文剑木然」的原创文章，遵循CC 4.0 BY-SA版权协议，转载请附上原文出处链接及本声明。</a:t>
            </a:r>
            <a:endParaRPr lang="zh-CN" altLang="en-US"/>
          </a:p>
          <a:p>
            <a:r>
              <a:rPr lang="zh-CN" altLang="en-US">
                <a:sym typeface="+mn-ea"/>
              </a:rPr>
              <a:t>原文链接：https://blog.csdn.net/wenjianmuran/article/details/90633418</a:t>
            </a:r>
            <a:endParaRPr lang="zh-CN" altLang="en-US"/>
          </a:p>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其实我们能够看到，这种博弈树是基于搜索或者穷举或者dp的思想都可以，这不难理解，这是很基本的编程思维，虽然可以说这是设计棋类AI很核心的部分，但是这样就能打败人类了么？</a:t>
            </a:r>
          </a:p>
          <a:p>
            <a:r>
              <a:rPr lang="zh-CN" altLang="en-US"/>
              <a:t>当然不能，这种算法设计模式面临的一个最大的问题是，博弈树的规模太过庞大，当时计算能力超强的计算机也无从招架，因此在真正的算法设计中，我们需要需要限制搜索深度和各种各样的剪枝如阿尔法贝塔剪枝、A*剪枝等算法来削减博弈树的规模，这便是我们下面要介绍的内容。</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倒推值（回传值）</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倒推值（回传值）</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en-US" altLang="zh-CN" dirty="0"/>
              <a:t>Min</a:t>
            </a:r>
            <a:r>
              <a:rPr lang="zh-CN" altLang="en-US" dirty="0"/>
              <a:t>节点的</a:t>
            </a:r>
            <a:r>
              <a:rPr lang="en-US" altLang="zh-CN" dirty="0"/>
              <a:t>alpha </a:t>
            </a:r>
            <a:r>
              <a:rPr lang="zh-CN" altLang="en-US" dirty="0"/>
              <a:t>就是 </a:t>
            </a:r>
            <a:r>
              <a:rPr lang="en-US" altLang="zh-CN" dirty="0"/>
              <a:t>max</a:t>
            </a:r>
            <a:r>
              <a:rPr lang="zh-CN" altLang="en-US" dirty="0"/>
              <a:t>节点的 </a:t>
            </a:r>
            <a:r>
              <a:rPr lang="en-US" altLang="zh-CN" dirty="0"/>
              <a:t>beta</a:t>
            </a:r>
          </a:p>
          <a:p>
            <a:r>
              <a:rPr lang="zh-CN" altLang="en-US" dirty="0"/>
              <a:t>反之亦然</a:t>
            </a:r>
            <a:endParaRPr lang="en-US" altLang="zh-CN" dirty="0"/>
          </a:p>
          <a:p>
            <a:endParaRPr lang="en-US" altLang="zh-CN" dirty="0"/>
          </a:p>
          <a:p>
            <a:r>
              <a:rPr lang="zh-CN" altLang="en-US" dirty="0"/>
              <a:t>如果我是</a:t>
            </a:r>
            <a:r>
              <a:rPr lang="en-US" altLang="zh-CN" dirty="0"/>
              <a:t>max</a:t>
            </a:r>
            <a:r>
              <a:rPr lang="zh-CN" altLang="en-US" dirty="0"/>
              <a:t>， </a:t>
            </a:r>
            <a:r>
              <a:rPr lang="en-US" altLang="zh-CN" dirty="0"/>
              <a:t>【alpha</a:t>
            </a:r>
            <a:r>
              <a:rPr lang="zh-CN" altLang="en-US" dirty="0"/>
              <a:t>， </a:t>
            </a:r>
            <a:r>
              <a:rPr lang="en-US" altLang="zh-CN" dirty="0"/>
              <a:t>beta】</a:t>
            </a:r>
            <a:r>
              <a:rPr lang="zh-CN" altLang="en-US" dirty="0"/>
              <a:t>对应到目前为止</a:t>
            </a:r>
            <a:r>
              <a:rPr lang="en-US" altLang="zh-CN" dirty="0"/>
              <a:t>【</a:t>
            </a:r>
            <a:r>
              <a:rPr lang="zh-CN" altLang="en-US" dirty="0"/>
              <a:t>我至少能拿到多少，对方最多拿到多少</a:t>
            </a:r>
            <a:r>
              <a:rPr lang="en-US" altLang="zh-CN" dirty="0"/>
              <a:t>】</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noTextEdit="1"/>
          </p:cNvSpPr>
          <p:nvPr>
            <p:ph type="sldImg"/>
          </p:nvPr>
        </p:nvSpPr>
        <p:spPr/>
      </p:sp>
      <p:sp>
        <p:nvSpPr>
          <p:cNvPr id="40962" name="备注占位符 2"/>
          <p:cNvSpPr>
            <a:spLocks noGrp="1"/>
          </p:cNvSpPr>
          <p:nvPr>
            <p:ph type="body"/>
          </p:nvPr>
        </p:nvSpPr>
        <p:spPr/>
        <p:txBody>
          <a:bodyPr wrap="square" lIns="99048" tIns="49524" rIns="99048" bIns="49524" anchor="t" anchorCtr="0"/>
          <a:lstStyle/>
          <a:p>
            <a:pPr lvl="0"/>
            <a:r>
              <a:rPr lang="en-US" altLang="zh-CN" dirty="0">
                <a:latin typeface="Arial" panose="020B0604020202020204" pitchFamily="34" charset="0"/>
              </a:rPr>
              <a:t>Alpha</a:t>
            </a:r>
            <a:r>
              <a:rPr lang="zh-CN" altLang="en-US" dirty="0">
                <a:latin typeface="Arial" panose="020B0604020202020204" pitchFamily="34" charset="0"/>
              </a:rPr>
              <a:t>只会增加不会减小，</a:t>
            </a:r>
            <a:r>
              <a:rPr lang="en-US" altLang="zh-CN" dirty="0">
                <a:latin typeface="Arial" panose="020B0604020202020204" pitchFamily="34" charset="0"/>
              </a:rPr>
              <a:t>beta</a:t>
            </a:r>
            <a:r>
              <a:rPr lang="zh-CN" altLang="en-US" dirty="0">
                <a:latin typeface="Arial" panose="020B0604020202020204" pitchFamily="34" charset="0"/>
              </a:rPr>
              <a:t>只会减小不会增加</a:t>
            </a:r>
          </a:p>
        </p:txBody>
      </p:sp>
      <p:sp>
        <p:nvSpPr>
          <p:cNvPr id="40963"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dirty="0"/>
              <a:t>79</a:t>
            </a:fld>
            <a:endParaRPr lang="zh-CN" altLang="en-US" sz="13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再出现时不用重新计算</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与第三章中启发式函数返回对目标距离的估计一样，</a:t>
            </a:r>
          </a:p>
          <a:p>
            <a:r>
              <a:rPr lang="zh-CN" altLang="en-US"/>
              <a:t>对给定的棋局，</a:t>
            </a:r>
          </a:p>
          <a:p>
            <a:r>
              <a:rPr lang="zh-CN" altLang="en-US"/>
              <a:t>评估函数返回对游戏的期望效用值的估计。</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不准确的估计函数导致失败，所以，如何设计。。？</a:t>
            </a:r>
          </a:p>
          <a:p>
            <a:r>
              <a:rPr lang="zh-CN" altLang="en-US"/>
              <a:t>特征参数，包括白兵的数量，黑兵的数量，白后的数量，黑后的数量。。</a:t>
            </a:r>
          </a:p>
          <a:p>
            <a:endParaRPr lang="zh-CN" altLang="en-US"/>
          </a:p>
          <a:p>
            <a:endParaRPr lang="zh-CN" altLang="en-US"/>
          </a:p>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两个几乎相同的棋局，只有右下角车的位置不同</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noTextEdit="1"/>
          </p:cNvSpPr>
          <p:nvPr>
            <p:ph type="sldImg"/>
          </p:nvPr>
        </p:nvSpPr>
        <p:spPr/>
      </p:sp>
      <p:sp>
        <p:nvSpPr>
          <p:cNvPr id="54274" name="备注占位符 2"/>
          <p:cNvSpPr>
            <a:spLocks noGrp="1"/>
          </p:cNvSpPr>
          <p:nvPr>
            <p:ph type="body"/>
          </p:nvPr>
        </p:nvSpPr>
        <p:spPr/>
        <p:txBody>
          <a:bodyPr wrap="square" lIns="99048" tIns="49524" rIns="99048" bIns="49524" anchor="t" anchorCtr="0"/>
          <a:lstStyle/>
          <a:p>
            <a:pPr lvl="0"/>
            <a:r>
              <a:rPr lang="zh-CN" altLang="en-US" dirty="0">
                <a:latin typeface="Arial" panose="020B0604020202020204" pitchFamily="34" charset="0"/>
              </a:rPr>
              <a:t>实际常在开局和终局附近采用查询表，中间采用最小最大方法</a:t>
            </a:r>
          </a:p>
        </p:txBody>
      </p:sp>
      <p:sp>
        <p:nvSpPr>
          <p:cNvPr id="5427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zh-CN" altLang="en-US" sz="1300" dirty="0"/>
              <a:t>89</a:t>
            </a:fld>
            <a:endParaRPr lang="zh-CN" altLang="en-US" sz="13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nchorCtr="0"/>
          <a:lstStyle/>
          <a:p>
            <a:pPr lvl="0" algn="r" eaLnBrk="1" hangingPunct="1"/>
            <a:fld id="{9A0DB2DC-4C9A-4742-B13C-FB6460FD3503}" type="slidenum">
              <a:rPr lang="en-US" altLang="zh-CN" sz="1300" dirty="0"/>
              <a:t>92</a:t>
            </a:fld>
            <a:endParaRPr lang="en-US" altLang="zh-CN" sz="1300" dirty="0"/>
          </a:p>
        </p:txBody>
      </p:sp>
      <p:sp>
        <p:nvSpPr>
          <p:cNvPr id="59394" name="Rectangle 2"/>
          <p:cNvSpPr>
            <a:spLocks noGrp="1" noRot="1" noChangeAspect="1" noTextEdit="1"/>
          </p:cNvSpPr>
          <p:nvPr>
            <p:ph type="sldImg"/>
          </p:nvPr>
        </p:nvSpPr>
        <p:spPr/>
      </p:sp>
      <p:sp>
        <p:nvSpPr>
          <p:cNvPr id="59395" name="Rectangle 3"/>
          <p:cNvSpPr>
            <a:spLocks noGrp="1"/>
          </p:cNvSpPr>
          <p:nvPr>
            <p:ph type="body"/>
          </p:nvPr>
        </p:nvSpPr>
        <p:spPr/>
        <p:txBody>
          <a:bodyPr wrap="square" lIns="99048" tIns="49524" rIns="99048" bIns="49524" anchor="t" anchorCtr="0"/>
          <a:lstStyle/>
          <a:p>
            <a:pPr lvl="0"/>
            <a:r>
              <a:rPr lang="zh-CN" dirty="0"/>
              <a:t>掷出</a:t>
            </a:r>
            <a:r>
              <a:rPr lang="en-US" altLang="zh-CN" dirty="0"/>
              <a:t>5-6,6-5</a:t>
            </a:r>
            <a:r>
              <a:rPr lang="zh-CN" altLang="en-US" dirty="0"/>
              <a:t>是一样的</a:t>
            </a:r>
          </a:p>
          <a:p>
            <a:pPr lvl="0"/>
            <a:endParaRPr lang="zh-CN" altLang="en-US" dirty="0"/>
          </a:p>
          <a:p>
            <a:pPr lvl="0"/>
            <a:r>
              <a:rPr lang="zh-CN" altLang="en-US" dirty="0"/>
              <a:t>棋子只能移动到未被占据或被己方棋子占据的点，也可以移动到仅被一枚对方棋子占据的点——对方的这枚棋子叫做弱棋。弱棋被攻击后放在棋盘中央的分界上。</a:t>
            </a:r>
          </a:p>
          <a:p>
            <a:pPr lvl="0"/>
            <a:r>
              <a:rPr lang="zh-CN" altLang="en-US" dirty="0"/>
              <a:t>棋子不能移动到已被两枚或以上对方棋子占据的点。因此不可能有任何点同时被己方和对方的棋子占据。</a:t>
            </a:r>
          </a:p>
          <a:p>
            <a:pPr lvl="0"/>
            <a:endParaRPr lang="zh-CN" altLang="en-US" dirty="0"/>
          </a:p>
          <a:p>
            <a:pPr lvl="0"/>
            <a:r>
              <a:rPr lang="zh-CN" altLang="en-US" dirty="0"/>
              <a:t>所以</a:t>
            </a:r>
            <a:r>
              <a:rPr lang="en-US" altLang="zh-CN" dirty="0"/>
              <a:t>3</a:t>
            </a:r>
            <a:r>
              <a:rPr lang="zh-CN" altLang="en-US" dirty="0"/>
              <a:t>上的白棋不能移动：（</a:t>
            </a:r>
            <a:r>
              <a:rPr lang="en-US" altLang="zh-CN" dirty="0"/>
              <a:t>3+5,3+6)=</a:t>
            </a:r>
            <a:r>
              <a:rPr lang="zh-CN" altLang="en-US" dirty="0"/>
              <a:t>（</a:t>
            </a:r>
            <a:r>
              <a:rPr lang="en-US" altLang="zh-CN" dirty="0"/>
              <a:t>8,9</a:t>
            </a:r>
            <a:r>
              <a:rPr lang="zh-CN" altLang="en-US" dirty="0"/>
              <a:t>）上都已经有两个黑棋</a:t>
            </a:r>
          </a:p>
          <a:p>
            <a:pPr lvl="0"/>
            <a:r>
              <a:rPr lang="en-US" altLang="zh-CN" dirty="0"/>
              <a:t>5</a:t>
            </a:r>
            <a:r>
              <a:rPr lang="zh-CN" altLang="en-US" dirty="0"/>
              <a:t>上的白棋、</a:t>
            </a:r>
            <a:r>
              <a:rPr lang="en-US" altLang="zh-CN" dirty="0"/>
              <a:t>19</a:t>
            </a:r>
            <a:r>
              <a:rPr lang="zh-CN" altLang="en-US" dirty="0"/>
              <a:t>上的白棋都可以移动</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机会均等，都是</a:t>
            </a:r>
            <a:r>
              <a:rPr lang="en-US" altLang="zh-CN"/>
              <a:t>1/2</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正确道路</a:t>
            </a:r>
          </a:p>
          <a:p>
            <a:r>
              <a:rPr lang="zh-CN" altLang="en-US"/>
              <a:t>平均法</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完全信息</a:t>
            </a:r>
            <a:r>
              <a:rPr lang="en-US" altLang="zh-CN"/>
              <a:t>0</a:t>
            </a:r>
            <a:r>
              <a:rPr lang="zh-CN" altLang="en-US"/>
              <a:t>必赢</a:t>
            </a:r>
          </a:p>
          <a:p>
            <a:r>
              <a:rPr lang="zh-CN" altLang="en-US"/>
              <a:t>不完全信息</a:t>
            </a:r>
            <a:r>
              <a:rPr lang="en-US" altLang="zh-CN"/>
              <a:t> 50%</a:t>
            </a:r>
            <a:r>
              <a:rPr lang="zh-CN" altLang="en-US"/>
              <a:t>的概率输</a:t>
            </a:r>
          </a:p>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sym typeface="+mn-ea"/>
              </a:rPr>
              <a:t>（天秤座）</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与象棋、围棋、德州扑克等棋牌类游戏相比，麻将具有更复杂的隐藏信息和更高的难度</a:t>
            </a:r>
          </a:p>
          <a:p>
            <a:r>
              <a:rPr lang="zh-CN" altLang="en-US"/>
              <a:t>与只有 52 张牌的德州扑克相比，136 张麻将牌的排列组合可能性更多。</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2.xml"/><Relationship Id="rId5" Type="http://schemas.openxmlformats.org/officeDocument/2006/relationships/tags" Target="../tags/tag25.xml"/><Relationship Id="rId4" Type="http://schemas.openxmlformats.org/officeDocument/2006/relationships/tags" Target="../tags/tag24.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Master" Target="../slideMasters/slideMaster2.xml"/><Relationship Id="rId4"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2.xml"/><Relationship Id="rId5" Type="http://schemas.openxmlformats.org/officeDocument/2006/relationships/tags" Target="../tags/tag63.xml"/><Relationship Id="rId4" Type="http://schemas.openxmlformats.org/officeDocument/2006/relationships/tags" Target="../tags/tag6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slideMaster" Target="../slideMasters/slideMaster2.xml"/><Relationship Id="rId4" Type="http://schemas.openxmlformats.org/officeDocument/2006/relationships/tags" Target="../tags/tag67.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10" Type="http://schemas.openxmlformats.org/officeDocument/2006/relationships/slideMaster" Target="../slideMasters/slideMaster2.xml"/><Relationship Id="rId4" Type="http://schemas.openxmlformats.org/officeDocument/2006/relationships/tags" Target="../tags/tag92.xml"/><Relationship Id="rId9" Type="http://schemas.openxmlformats.org/officeDocument/2006/relationships/tags" Target="../tags/tag97.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10" Type="http://schemas.openxmlformats.org/officeDocument/2006/relationships/slideMaster" Target="../slideMasters/slideMaster2.xml"/><Relationship Id="rId4" Type="http://schemas.openxmlformats.org/officeDocument/2006/relationships/tags" Target="../tags/tag101.xml"/><Relationship Id="rId9" Type="http://schemas.openxmlformats.org/officeDocument/2006/relationships/tags" Target="../tags/tag106.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14.xml"/><Relationship Id="rId3" Type="http://schemas.openxmlformats.org/officeDocument/2006/relationships/tags" Target="../tags/tag109.xml"/><Relationship Id="rId7" Type="http://schemas.openxmlformats.org/officeDocument/2006/relationships/tags" Target="../tags/tag113.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slideMaster" Target="../slideMasters/slideMaster2.xml"/><Relationship Id="rId4" Type="http://schemas.openxmlformats.org/officeDocument/2006/relationships/tags" Target="../tags/tag118.xml"/><Relationship Id="rId9" Type="http://schemas.openxmlformats.org/officeDocument/2006/relationships/tags" Target="../tags/tag123.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126.xml"/><Relationship Id="rId7" Type="http://schemas.openxmlformats.org/officeDocument/2006/relationships/slideMaster" Target="../slideMasters/slideMaster2.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tags" Target="../tags/tag147.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5" Type="http://schemas.openxmlformats.org/officeDocument/2006/relationships/tags" Target="../tags/tag14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slideMaster" Target="../slideMasters/slideMaster3.xml"/><Relationship Id="rId5" Type="http://schemas.openxmlformats.org/officeDocument/2006/relationships/tags" Target="../tags/tag153.xml"/><Relationship Id="rId4" Type="http://schemas.openxmlformats.org/officeDocument/2006/relationships/tags" Target="../tags/tag152.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56.xml"/><Relationship Id="rId7"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62.xml"/><Relationship Id="rId7"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173.xml"/><Relationship Id="rId3" Type="http://schemas.openxmlformats.org/officeDocument/2006/relationships/tags" Target="../tags/tag168.xml"/><Relationship Id="rId7" Type="http://schemas.openxmlformats.org/officeDocument/2006/relationships/tags" Target="../tags/tag172.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9"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5" Type="http://schemas.openxmlformats.org/officeDocument/2006/relationships/slideMaster" Target="../slideMasters/slideMaster3.xml"/><Relationship Id="rId4" Type="http://schemas.openxmlformats.org/officeDocument/2006/relationships/tags" Target="../tags/tag177.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4"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83.xml"/><Relationship Id="rId7"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slideMaster" Target="../slideMasters/slideMaster3.xml"/><Relationship Id="rId5" Type="http://schemas.openxmlformats.org/officeDocument/2006/relationships/tags" Target="../tags/tag191.xml"/><Relationship Id="rId4" Type="http://schemas.openxmlformats.org/officeDocument/2006/relationships/tags" Target="../tags/tag190.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5" Type="http://schemas.openxmlformats.org/officeDocument/2006/relationships/slideMaster" Target="../slideMasters/slideMaster3.xml"/><Relationship Id="rId4" Type="http://schemas.openxmlformats.org/officeDocument/2006/relationships/tags" Target="../tags/tag195.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203.xml"/><Relationship Id="rId3" Type="http://schemas.openxmlformats.org/officeDocument/2006/relationships/tags" Target="../tags/tag198.xml"/><Relationship Id="rId7" Type="http://schemas.openxmlformats.org/officeDocument/2006/relationships/tags" Target="../tags/tag202.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9"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206.xml"/><Relationship Id="rId7"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s>
</file>

<file path=ppt/slideLayouts/_rels/slideLayout45.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12.xml"/><Relationship Id="rId7" Type="http://schemas.openxmlformats.org/officeDocument/2006/relationships/tags" Target="../tags/tag216.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224.xml"/><Relationship Id="rId3" Type="http://schemas.openxmlformats.org/officeDocument/2006/relationships/tags" Target="../tags/tag219.xml"/><Relationship Id="rId7" Type="http://schemas.openxmlformats.org/officeDocument/2006/relationships/tags" Target="../tags/tag223.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tags" Target="../tags/tag222.xml"/><Relationship Id="rId5" Type="http://schemas.openxmlformats.org/officeDocument/2006/relationships/tags" Target="../tags/tag221.xml"/><Relationship Id="rId10" Type="http://schemas.openxmlformats.org/officeDocument/2006/relationships/slideMaster" Target="../slideMasters/slideMaster3.xml"/><Relationship Id="rId4" Type="http://schemas.openxmlformats.org/officeDocument/2006/relationships/tags" Target="../tags/tag220.xml"/><Relationship Id="rId9" Type="http://schemas.openxmlformats.org/officeDocument/2006/relationships/tags" Target="../tags/tag225.xm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233.xml"/><Relationship Id="rId3" Type="http://schemas.openxmlformats.org/officeDocument/2006/relationships/tags" Target="../tags/tag228.xml"/><Relationship Id="rId7" Type="http://schemas.openxmlformats.org/officeDocument/2006/relationships/tags" Target="../tags/tag232.xml"/><Relationship Id="rId2" Type="http://schemas.openxmlformats.org/officeDocument/2006/relationships/tags" Target="../tags/tag227.xml"/><Relationship Id="rId1" Type="http://schemas.openxmlformats.org/officeDocument/2006/relationships/tags" Target="../tags/tag226.xml"/><Relationship Id="rId6" Type="http://schemas.openxmlformats.org/officeDocument/2006/relationships/tags" Target="../tags/tag231.xml"/><Relationship Id="rId5" Type="http://schemas.openxmlformats.org/officeDocument/2006/relationships/tags" Target="../tags/tag230.xml"/><Relationship Id="rId10" Type="http://schemas.openxmlformats.org/officeDocument/2006/relationships/slideMaster" Target="../slideMasters/slideMaster3.xml"/><Relationship Id="rId4" Type="http://schemas.openxmlformats.org/officeDocument/2006/relationships/tags" Target="../tags/tag229.xml"/><Relationship Id="rId9" Type="http://schemas.openxmlformats.org/officeDocument/2006/relationships/tags" Target="../tags/tag234.xml"/></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242.xml"/><Relationship Id="rId3" Type="http://schemas.openxmlformats.org/officeDocument/2006/relationships/tags" Target="../tags/tag237.xml"/><Relationship Id="rId7" Type="http://schemas.openxmlformats.org/officeDocument/2006/relationships/tags" Target="../tags/tag241.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9"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250.xml"/><Relationship Id="rId3" Type="http://schemas.openxmlformats.org/officeDocument/2006/relationships/tags" Target="../tags/tag245.xml"/><Relationship Id="rId7" Type="http://schemas.openxmlformats.org/officeDocument/2006/relationships/tags" Target="../tags/tag249.xml"/><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tags" Target="../tags/tag248.xml"/><Relationship Id="rId5" Type="http://schemas.openxmlformats.org/officeDocument/2006/relationships/tags" Target="../tags/tag247.xml"/><Relationship Id="rId10" Type="http://schemas.openxmlformats.org/officeDocument/2006/relationships/slideMaster" Target="../slideMasters/slideMaster3.xml"/><Relationship Id="rId4" Type="http://schemas.openxmlformats.org/officeDocument/2006/relationships/tags" Target="../tags/tag246.xml"/><Relationship Id="rId9" Type="http://schemas.openxmlformats.org/officeDocument/2006/relationships/tags" Target="../tags/tag251.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254.xml"/><Relationship Id="rId7" Type="http://schemas.openxmlformats.org/officeDocument/2006/relationships/slideMaster" Target="../slideMasters/slideMaster3.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tags" Target="../tags/tag276.xml"/><Relationship Id="rId3" Type="http://schemas.openxmlformats.org/officeDocument/2006/relationships/tags" Target="../tags/tag266.xml"/><Relationship Id="rId7" Type="http://schemas.openxmlformats.org/officeDocument/2006/relationships/tags" Target="../tags/tag270.xml"/><Relationship Id="rId12" Type="http://schemas.openxmlformats.org/officeDocument/2006/relationships/tags" Target="../tags/tag275.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5" Type="http://schemas.openxmlformats.org/officeDocument/2006/relationships/tags" Target="../tags/tag268.xml"/><Relationship Id="rId10" Type="http://schemas.openxmlformats.org/officeDocument/2006/relationships/tags" Target="../tags/tag273.xml"/><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 Id="rId6" Type="http://schemas.openxmlformats.org/officeDocument/2006/relationships/slideMaster" Target="../slideMasters/slideMaster4.xml"/><Relationship Id="rId5" Type="http://schemas.openxmlformats.org/officeDocument/2006/relationships/tags" Target="../tags/tag281.xml"/><Relationship Id="rId4" Type="http://schemas.openxmlformats.org/officeDocument/2006/relationships/tags" Target="../tags/tag280.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284.xml"/><Relationship Id="rId7" Type="http://schemas.openxmlformats.org/officeDocument/2006/relationships/slideMaster" Target="../slideMasters/slideMaster4.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5" Type="http://schemas.openxmlformats.org/officeDocument/2006/relationships/tags" Target="../tags/tag286.xml"/><Relationship Id="rId4" Type="http://schemas.openxmlformats.org/officeDocument/2006/relationships/tags" Target="../tags/tag285.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290.xml"/><Relationship Id="rId7" Type="http://schemas.openxmlformats.org/officeDocument/2006/relationships/slideMaster" Target="../slideMasters/slideMaster4.xm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301.xml"/><Relationship Id="rId3" Type="http://schemas.openxmlformats.org/officeDocument/2006/relationships/tags" Target="../tags/tag296.xml"/><Relationship Id="rId7" Type="http://schemas.openxmlformats.org/officeDocument/2006/relationships/tags" Target="../tags/tag300.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9"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 Id="rId5" Type="http://schemas.openxmlformats.org/officeDocument/2006/relationships/slideMaster" Target="../slideMasters/slideMaster4.xml"/><Relationship Id="rId4" Type="http://schemas.openxmlformats.org/officeDocument/2006/relationships/tags" Target="../tags/tag305.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 Id="rId4"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311.xml"/><Relationship Id="rId7" Type="http://schemas.openxmlformats.org/officeDocument/2006/relationships/slideMaster" Target="../slideMasters/slideMaster4.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 Id="rId6" Type="http://schemas.openxmlformats.org/officeDocument/2006/relationships/slideMaster" Target="../slideMasters/slideMaster4.xml"/><Relationship Id="rId5" Type="http://schemas.openxmlformats.org/officeDocument/2006/relationships/tags" Target="../tags/tag319.xml"/><Relationship Id="rId4" Type="http://schemas.openxmlformats.org/officeDocument/2006/relationships/tags" Target="../tags/tag318.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322.xml"/><Relationship Id="rId2" Type="http://schemas.openxmlformats.org/officeDocument/2006/relationships/tags" Target="../tags/tag321.xml"/><Relationship Id="rId1" Type="http://schemas.openxmlformats.org/officeDocument/2006/relationships/tags" Target="../tags/tag320.xml"/><Relationship Id="rId5" Type="http://schemas.openxmlformats.org/officeDocument/2006/relationships/slideMaster" Target="../slideMasters/slideMaster4.xml"/><Relationship Id="rId4" Type="http://schemas.openxmlformats.org/officeDocument/2006/relationships/tags" Target="../tags/tag323.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331.xml"/><Relationship Id="rId3" Type="http://schemas.openxmlformats.org/officeDocument/2006/relationships/tags" Target="../tags/tag326.xml"/><Relationship Id="rId7" Type="http://schemas.openxmlformats.org/officeDocument/2006/relationships/tags" Target="../tags/tag330.xml"/><Relationship Id="rId2" Type="http://schemas.openxmlformats.org/officeDocument/2006/relationships/tags" Target="../tags/tag325.xml"/><Relationship Id="rId1" Type="http://schemas.openxmlformats.org/officeDocument/2006/relationships/tags" Target="../tags/tag324.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9"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334.xml"/><Relationship Id="rId7" Type="http://schemas.openxmlformats.org/officeDocument/2006/relationships/slideMaster" Target="../slideMasters/slideMaster4.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5" Type="http://schemas.openxmlformats.org/officeDocument/2006/relationships/tags" Target="../tags/tag336.xml"/><Relationship Id="rId4" Type="http://schemas.openxmlformats.org/officeDocument/2006/relationships/tags" Target="../tags/tag335.xml"/></Relationships>
</file>

<file path=ppt/slideLayouts/_rels/slideLayout64.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340.xml"/><Relationship Id="rId7" Type="http://schemas.openxmlformats.org/officeDocument/2006/relationships/tags" Target="../tags/tag344.xml"/><Relationship Id="rId2" Type="http://schemas.openxmlformats.org/officeDocument/2006/relationships/tags" Target="../tags/tag339.xml"/><Relationship Id="rId1" Type="http://schemas.openxmlformats.org/officeDocument/2006/relationships/tags" Target="../tags/tag338.xml"/><Relationship Id="rId6" Type="http://schemas.openxmlformats.org/officeDocument/2006/relationships/tags" Target="../tags/tag343.xml"/><Relationship Id="rId5" Type="http://schemas.openxmlformats.org/officeDocument/2006/relationships/tags" Target="../tags/tag342.xml"/><Relationship Id="rId4" Type="http://schemas.openxmlformats.org/officeDocument/2006/relationships/tags" Target="../tags/tag341.xml"/></Relationships>
</file>

<file path=ppt/slideLayouts/_rels/slideLayout65.xml.rels><?xml version="1.0" encoding="UTF-8" standalone="yes"?>
<Relationships xmlns="http://schemas.openxmlformats.org/package/2006/relationships"><Relationship Id="rId8" Type="http://schemas.openxmlformats.org/officeDocument/2006/relationships/tags" Target="../tags/tag352.xml"/><Relationship Id="rId3" Type="http://schemas.openxmlformats.org/officeDocument/2006/relationships/tags" Target="../tags/tag347.xml"/><Relationship Id="rId7" Type="http://schemas.openxmlformats.org/officeDocument/2006/relationships/tags" Target="../tags/tag351.xml"/><Relationship Id="rId2" Type="http://schemas.openxmlformats.org/officeDocument/2006/relationships/tags" Target="../tags/tag346.xml"/><Relationship Id="rId1" Type="http://schemas.openxmlformats.org/officeDocument/2006/relationships/tags" Target="../tags/tag345.xml"/><Relationship Id="rId6" Type="http://schemas.openxmlformats.org/officeDocument/2006/relationships/tags" Target="../tags/tag350.xml"/><Relationship Id="rId5" Type="http://schemas.openxmlformats.org/officeDocument/2006/relationships/tags" Target="../tags/tag349.xml"/><Relationship Id="rId10" Type="http://schemas.openxmlformats.org/officeDocument/2006/relationships/slideMaster" Target="../slideMasters/slideMaster4.xml"/><Relationship Id="rId4" Type="http://schemas.openxmlformats.org/officeDocument/2006/relationships/tags" Target="../tags/tag348.xml"/><Relationship Id="rId9" Type="http://schemas.openxmlformats.org/officeDocument/2006/relationships/tags" Target="../tags/tag353.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361.xml"/><Relationship Id="rId3" Type="http://schemas.openxmlformats.org/officeDocument/2006/relationships/tags" Target="../tags/tag356.xml"/><Relationship Id="rId7" Type="http://schemas.openxmlformats.org/officeDocument/2006/relationships/tags" Target="../tags/tag360.xml"/><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tags" Target="../tags/tag359.xml"/><Relationship Id="rId5" Type="http://schemas.openxmlformats.org/officeDocument/2006/relationships/tags" Target="../tags/tag358.xml"/><Relationship Id="rId10" Type="http://schemas.openxmlformats.org/officeDocument/2006/relationships/slideMaster" Target="../slideMasters/slideMaster4.xml"/><Relationship Id="rId4" Type="http://schemas.openxmlformats.org/officeDocument/2006/relationships/tags" Target="../tags/tag357.xml"/><Relationship Id="rId9" Type="http://schemas.openxmlformats.org/officeDocument/2006/relationships/tags" Target="../tags/tag362.xml"/></Relationships>
</file>

<file path=ppt/slideLayouts/_rels/slideLayout67.xml.rels><?xml version="1.0" encoding="UTF-8" standalone="yes"?>
<Relationships xmlns="http://schemas.openxmlformats.org/package/2006/relationships"><Relationship Id="rId8" Type="http://schemas.openxmlformats.org/officeDocument/2006/relationships/tags" Target="../tags/tag370.xml"/><Relationship Id="rId3" Type="http://schemas.openxmlformats.org/officeDocument/2006/relationships/tags" Target="../tags/tag365.xml"/><Relationship Id="rId7" Type="http://schemas.openxmlformats.org/officeDocument/2006/relationships/tags" Target="../tags/tag369.xml"/><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tags" Target="../tags/tag368.xml"/><Relationship Id="rId5" Type="http://schemas.openxmlformats.org/officeDocument/2006/relationships/tags" Target="../tags/tag367.xml"/><Relationship Id="rId4" Type="http://schemas.openxmlformats.org/officeDocument/2006/relationships/tags" Target="../tags/tag366.xml"/><Relationship Id="rId9"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378.xml"/><Relationship Id="rId3" Type="http://schemas.openxmlformats.org/officeDocument/2006/relationships/tags" Target="../tags/tag373.xml"/><Relationship Id="rId7" Type="http://schemas.openxmlformats.org/officeDocument/2006/relationships/tags" Target="../tags/tag377.xml"/><Relationship Id="rId2" Type="http://schemas.openxmlformats.org/officeDocument/2006/relationships/tags" Target="../tags/tag372.xml"/><Relationship Id="rId1" Type="http://schemas.openxmlformats.org/officeDocument/2006/relationships/tags" Target="../tags/tag371.xml"/><Relationship Id="rId6" Type="http://schemas.openxmlformats.org/officeDocument/2006/relationships/tags" Target="../tags/tag376.xml"/><Relationship Id="rId5" Type="http://schemas.openxmlformats.org/officeDocument/2006/relationships/tags" Target="../tags/tag375.xml"/><Relationship Id="rId10" Type="http://schemas.openxmlformats.org/officeDocument/2006/relationships/slideMaster" Target="../slideMasters/slideMaster4.xml"/><Relationship Id="rId4" Type="http://schemas.openxmlformats.org/officeDocument/2006/relationships/tags" Target="../tags/tag374.xml"/><Relationship Id="rId9" Type="http://schemas.openxmlformats.org/officeDocument/2006/relationships/tags" Target="../tags/tag379.xml"/></Relationships>
</file>

<file path=ppt/slideLayouts/_rels/slideLayout69.xml.rels><?xml version="1.0" encoding="UTF-8" standalone="yes"?>
<Relationships xmlns="http://schemas.openxmlformats.org/package/2006/relationships"><Relationship Id="rId3" Type="http://schemas.openxmlformats.org/officeDocument/2006/relationships/tags" Target="../tags/tag382.xml"/><Relationship Id="rId7" Type="http://schemas.openxmlformats.org/officeDocument/2006/relationships/slideMaster" Target="../slideMasters/slideMaster4.xml"/><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tags" Target="../tags/tag385.xml"/><Relationship Id="rId5" Type="http://schemas.openxmlformats.org/officeDocument/2006/relationships/tags" Target="../tags/tag384.xml"/><Relationship Id="rId4" Type="http://schemas.openxmlformats.org/officeDocument/2006/relationships/tags" Target="../tags/tag38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399.xml"/><Relationship Id="rId13" Type="http://schemas.openxmlformats.org/officeDocument/2006/relationships/tags" Target="../tags/tag404.xml"/><Relationship Id="rId3" Type="http://schemas.openxmlformats.org/officeDocument/2006/relationships/tags" Target="../tags/tag394.xml"/><Relationship Id="rId7" Type="http://schemas.openxmlformats.org/officeDocument/2006/relationships/tags" Target="../tags/tag398.xml"/><Relationship Id="rId12" Type="http://schemas.openxmlformats.org/officeDocument/2006/relationships/tags" Target="../tags/tag403.xml"/><Relationship Id="rId2" Type="http://schemas.openxmlformats.org/officeDocument/2006/relationships/tags" Target="../tags/tag393.xml"/><Relationship Id="rId1" Type="http://schemas.openxmlformats.org/officeDocument/2006/relationships/tags" Target="../tags/tag392.xml"/><Relationship Id="rId6" Type="http://schemas.openxmlformats.org/officeDocument/2006/relationships/tags" Target="../tags/tag397.xml"/><Relationship Id="rId11" Type="http://schemas.openxmlformats.org/officeDocument/2006/relationships/tags" Target="../tags/tag402.xml"/><Relationship Id="rId5" Type="http://schemas.openxmlformats.org/officeDocument/2006/relationships/tags" Target="../tags/tag396.xml"/><Relationship Id="rId10" Type="http://schemas.openxmlformats.org/officeDocument/2006/relationships/tags" Target="../tags/tag401.xml"/><Relationship Id="rId4" Type="http://schemas.openxmlformats.org/officeDocument/2006/relationships/tags" Target="../tags/tag395.xml"/><Relationship Id="rId9" Type="http://schemas.openxmlformats.org/officeDocument/2006/relationships/tags" Target="../tags/tag400.xml"/><Relationship Id="rId14"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tags" Target="../tags/tag407.xml"/><Relationship Id="rId2" Type="http://schemas.openxmlformats.org/officeDocument/2006/relationships/tags" Target="../tags/tag406.xml"/><Relationship Id="rId1" Type="http://schemas.openxmlformats.org/officeDocument/2006/relationships/tags" Target="../tags/tag405.xml"/><Relationship Id="rId6" Type="http://schemas.openxmlformats.org/officeDocument/2006/relationships/slideMaster" Target="../slideMasters/slideMaster5.xml"/><Relationship Id="rId5" Type="http://schemas.openxmlformats.org/officeDocument/2006/relationships/tags" Target="../tags/tag409.xml"/><Relationship Id="rId4" Type="http://schemas.openxmlformats.org/officeDocument/2006/relationships/tags" Target="../tags/tag408.xml"/></Relationships>
</file>

<file path=ppt/slideLayouts/_rels/slideLayout73.xml.rels><?xml version="1.0" encoding="UTF-8" standalone="yes"?>
<Relationships xmlns="http://schemas.openxmlformats.org/package/2006/relationships"><Relationship Id="rId3" Type="http://schemas.openxmlformats.org/officeDocument/2006/relationships/tags" Target="../tags/tag412.xml"/><Relationship Id="rId7" Type="http://schemas.openxmlformats.org/officeDocument/2006/relationships/slideMaster" Target="../slideMasters/slideMaster5.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5" Type="http://schemas.openxmlformats.org/officeDocument/2006/relationships/tags" Target="../tags/tag414.xml"/><Relationship Id="rId4" Type="http://schemas.openxmlformats.org/officeDocument/2006/relationships/tags" Target="../tags/tag413.xml"/></Relationships>
</file>

<file path=ppt/slideLayouts/_rels/slideLayout74.xml.rels><?xml version="1.0" encoding="UTF-8" standalone="yes"?>
<Relationships xmlns="http://schemas.openxmlformats.org/package/2006/relationships"><Relationship Id="rId3" Type="http://schemas.openxmlformats.org/officeDocument/2006/relationships/tags" Target="../tags/tag418.xml"/><Relationship Id="rId7" Type="http://schemas.openxmlformats.org/officeDocument/2006/relationships/slideMaster" Target="../slideMasters/slideMaster5.xml"/><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s>
</file>

<file path=ppt/slideLayouts/_rels/slideLayout75.xml.rels><?xml version="1.0" encoding="UTF-8" standalone="yes"?>
<Relationships xmlns="http://schemas.openxmlformats.org/package/2006/relationships"><Relationship Id="rId8" Type="http://schemas.openxmlformats.org/officeDocument/2006/relationships/tags" Target="../tags/tag429.xml"/><Relationship Id="rId3" Type="http://schemas.openxmlformats.org/officeDocument/2006/relationships/tags" Target="../tags/tag424.xml"/><Relationship Id="rId7" Type="http://schemas.openxmlformats.org/officeDocument/2006/relationships/tags" Target="../tags/tag428.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9"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tags" Target="../tags/tag432.xml"/><Relationship Id="rId2" Type="http://schemas.openxmlformats.org/officeDocument/2006/relationships/tags" Target="../tags/tag431.xml"/><Relationship Id="rId1" Type="http://schemas.openxmlformats.org/officeDocument/2006/relationships/tags" Target="../tags/tag430.xml"/><Relationship Id="rId5" Type="http://schemas.openxmlformats.org/officeDocument/2006/relationships/slideMaster" Target="../slideMasters/slideMaster5.xml"/><Relationship Id="rId4" Type="http://schemas.openxmlformats.org/officeDocument/2006/relationships/tags" Target="../tags/tag433.xml"/></Relationships>
</file>

<file path=ppt/slideLayouts/_rels/slideLayout77.xml.rels><?xml version="1.0" encoding="UTF-8" standalone="yes"?>
<Relationships xmlns="http://schemas.openxmlformats.org/package/2006/relationships"><Relationship Id="rId3" Type="http://schemas.openxmlformats.org/officeDocument/2006/relationships/tags" Target="../tags/tag436.xml"/><Relationship Id="rId2" Type="http://schemas.openxmlformats.org/officeDocument/2006/relationships/tags" Target="../tags/tag435.xml"/><Relationship Id="rId1" Type="http://schemas.openxmlformats.org/officeDocument/2006/relationships/tags" Target="../tags/tag434.xml"/><Relationship Id="rId4"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tags" Target="../tags/tag439.xml"/><Relationship Id="rId7" Type="http://schemas.openxmlformats.org/officeDocument/2006/relationships/slideMaster" Target="../slideMasters/slideMaster5.xml"/><Relationship Id="rId2" Type="http://schemas.openxmlformats.org/officeDocument/2006/relationships/tags" Target="../tags/tag438.xml"/><Relationship Id="rId1" Type="http://schemas.openxmlformats.org/officeDocument/2006/relationships/tags" Target="../tags/tag437.xml"/><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s>
</file>

<file path=ppt/slideLayouts/_rels/slideLayout79.xml.rels><?xml version="1.0" encoding="UTF-8" standalone="yes"?>
<Relationships xmlns="http://schemas.openxmlformats.org/package/2006/relationships"><Relationship Id="rId3" Type="http://schemas.openxmlformats.org/officeDocument/2006/relationships/tags" Target="../tags/tag445.xml"/><Relationship Id="rId2" Type="http://schemas.openxmlformats.org/officeDocument/2006/relationships/tags" Target="../tags/tag444.xml"/><Relationship Id="rId1" Type="http://schemas.openxmlformats.org/officeDocument/2006/relationships/tags" Target="../tags/tag443.xml"/><Relationship Id="rId6" Type="http://schemas.openxmlformats.org/officeDocument/2006/relationships/slideMaster" Target="../slideMasters/slideMaster5.xml"/><Relationship Id="rId5" Type="http://schemas.openxmlformats.org/officeDocument/2006/relationships/tags" Target="../tags/tag447.xml"/><Relationship Id="rId4" Type="http://schemas.openxmlformats.org/officeDocument/2006/relationships/tags" Target="../tags/tag446.xml"/></Relationships>
</file>

<file path=ppt/slideLayouts/_rels/slideLayout80.xml.rels><?xml version="1.0" encoding="UTF-8" standalone="yes"?>
<Relationships xmlns="http://schemas.openxmlformats.org/package/2006/relationships"><Relationship Id="rId3" Type="http://schemas.openxmlformats.org/officeDocument/2006/relationships/tags" Target="../tags/tag450.xml"/><Relationship Id="rId2" Type="http://schemas.openxmlformats.org/officeDocument/2006/relationships/tags" Target="../tags/tag449.xml"/><Relationship Id="rId1" Type="http://schemas.openxmlformats.org/officeDocument/2006/relationships/tags" Target="../tags/tag448.xml"/><Relationship Id="rId5" Type="http://schemas.openxmlformats.org/officeDocument/2006/relationships/slideMaster" Target="../slideMasters/slideMaster5.xml"/><Relationship Id="rId4" Type="http://schemas.openxmlformats.org/officeDocument/2006/relationships/tags" Target="../tags/tag451.xml"/></Relationships>
</file>

<file path=ppt/slideLayouts/_rels/slideLayout81.xml.rels><?xml version="1.0" encoding="UTF-8" standalone="yes"?>
<Relationships xmlns="http://schemas.openxmlformats.org/package/2006/relationships"><Relationship Id="rId8" Type="http://schemas.openxmlformats.org/officeDocument/2006/relationships/tags" Target="../tags/tag459.xml"/><Relationship Id="rId3" Type="http://schemas.openxmlformats.org/officeDocument/2006/relationships/tags" Target="../tags/tag454.xml"/><Relationship Id="rId7" Type="http://schemas.openxmlformats.org/officeDocument/2006/relationships/tags" Target="../tags/tag458.xml"/><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tags" Target="../tags/tag457.xml"/><Relationship Id="rId5" Type="http://schemas.openxmlformats.org/officeDocument/2006/relationships/tags" Target="../tags/tag456.xml"/><Relationship Id="rId4" Type="http://schemas.openxmlformats.org/officeDocument/2006/relationships/tags" Target="../tags/tag455.xml"/><Relationship Id="rId9"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3" Type="http://schemas.openxmlformats.org/officeDocument/2006/relationships/tags" Target="../tags/tag462.xml"/><Relationship Id="rId7" Type="http://schemas.openxmlformats.org/officeDocument/2006/relationships/slideMaster" Target="../slideMasters/slideMaster5.xml"/><Relationship Id="rId2" Type="http://schemas.openxmlformats.org/officeDocument/2006/relationships/tags" Target="../tags/tag461.xml"/><Relationship Id="rId1" Type="http://schemas.openxmlformats.org/officeDocument/2006/relationships/tags" Target="../tags/tag460.xml"/><Relationship Id="rId6" Type="http://schemas.openxmlformats.org/officeDocument/2006/relationships/tags" Target="../tags/tag465.xml"/><Relationship Id="rId5" Type="http://schemas.openxmlformats.org/officeDocument/2006/relationships/tags" Target="../tags/tag464.xml"/><Relationship Id="rId4" Type="http://schemas.openxmlformats.org/officeDocument/2006/relationships/tags" Target="../tags/tag463.xml"/></Relationships>
</file>

<file path=ppt/slideLayouts/_rels/slideLayout83.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468.xml"/><Relationship Id="rId7" Type="http://schemas.openxmlformats.org/officeDocument/2006/relationships/tags" Target="../tags/tag472.xml"/><Relationship Id="rId2" Type="http://schemas.openxmlformats.org/officeDocument/2006/relationships/tags" Target="../tags/tag467.xml"/><Relationship Id="rId1" Type="http://schemas.openxmlformats.org/officeDocument/2006/relationships/tags" Target="../tags/tag466.xml"/><Relationship Id="rId6" Type="http://schemas.openxmlformats.org/officeDocument/2006/relationships/tags" Target="../tags/tag471.xml"/><Relationship Id="rId5" Type="http://schemas.openxmlformats.org/officeDocument/2006/relationships/tags" Target="../tags/tag470.xml"/><Relationship Id="rId4" Type="http://schemas.openxmlformats.org/officeDocument/2006/relationships/tags" Target="../tags/tag469.xml"/></Relationships>
</file>

<file path=ppt/slideLayouts/_rels/slideLayout84.xml.rels><?xml version="1.0" encoding="UTF-8" standalone="yes"?>
<Relationships xmlns="http://schemas.openxmlformats.org/package/2006/relationships"><Relationship Id="rId8" Type="http://schemas.openxmlformats.org/officeDocument/2006/relationships/tags" Target="../tags/tag480.xml"/><Relationship Id="rId3" Type="http://schemas.openxmlformats.org/officeDocument/2006/relationships/tags" Target="../tags/tag475.xml"/><Relationship Id="rId7" Type="http://schemas.openxmlformats.org/officeDocument/2006/relationships/tags" Target="../tags/tag479.xml"/><Relationship Id="rId2" Type="http://schemas.openxmlformats.org/officeDocument/2006/relationships/tags" Target="../tags/tag474.xml"/><Relationship Id="rId1" Type="http://schemas.openxmlformats.org/officeDocument/2006/relationships/tags" Target="../tags/tag473.xml"/><Relationship Id="rId6" Type="http://schemas.openxmlformats.org/officeDocument/2006/relationships/tags" Target="../tags/tag478.xml"/><Relationship Id="rId5" Type="http://schemas.openxmlformats.org/officeDocument/2006/relationships/tags" Target="../tags/tag477.xml"/><Relationship Id="rId10" Type="http://schemas.openxmlformats.org/officeDocument/2006/relationships/slideMaster" Target="../slideMasters/slideMaster5.xml"/><Relationship Id="rId4" Type="http://schemas.openxmlformats.org/officeDocument/2006/relationships/tags" Target="../tags/tag476.xml"/><Relationship Id="rId9" Type="http://schemas.openxmlformats.org/officeDocument/2006/relationships/tags" Target="../tags/tag481.xml"/></Relationships>
</file>

<file path=ppt/slideLayouts/_rels/slideLayout85.xml.rels><?xml version="1.0" encoding="UTF-8" standalone="yes"?>
<Relationships xmlns="http://schemas.openxmlformats.org/package/2006/relationships"><Relationship Id="rId8" Type="http://schemas.openxmlformats.org/officeDocument/2006/relationships/tags" Target="../tags/tag489.xml"/><Relationship Id="rId3" Type="http://schemas.openxmlformats.org/officeDocument/2006/relationships/tags" Target="../tags/tag484.xml"/><Relationship Id="rId7" Type="http://schemas.openxmlformats.org/officeDocument/2006/relationships/tags" Target="../tags/tag488.xml"/><Relationship Id="rId2" Type="http://schemas.openxmlformats.org/officeDocument/2006/relationships/tags" Target="../tags/tag483.xml"/><Relationship Id="rId1" Type="http://schemas.openxmlformats.org/officeDocument/2006/relationships/tags" Target="../tags/tag482.xml"/><Relationship Id="rId6" Type="http://schemas.openxmlformats.org/officeDocument/2006/relationships/tags" Target="../tags/tag487.xml"/><Relationship Id="rId5" Type="http://schemas.openxmlformats.org/officeDocument/2006/relationships/tags" Target="../tags/tag486.xml"/><Relationship Id="rId10" Type="http://schemas.openxmlformats.org/officeDocument/2006/relationships/slideMaster" Target="../slideMasters/slideMaster5.xml"/><Relationship Id="rId4" Type="http://schemas.openxmlformats.org/officeDocument/2006/relationships/tags" Target="../tags/tag485.xml"/><Relationship Id="rId9" Type="http://schemas.openxmlformats.org/officeDocument/2006/relationships/tags" Target="../tags/tag490.xml"/></Relationships>
</file>

<file path=ppt/slideLayouts/_rels/slideLayout86.xml.rels><?xml version="1.0" encoding="UTF-8" standalone="yes"?>
<Relationships xmlns="http://schemas.openxmlformats.org/package/2006/relationships"><Relationship Id="rId8" Type="http://schemas.openxmlformats.org/officeDocument/2006/relationships/tags" Target="../tags/tag498.xml"/><Relationship Id="rId3" Type="http://schemas.openxmlformats.org/officeDocument/2006/relationships/tags" Target="../tags/tag493.xml"/><Relationship Id="rId7" Type="http://schemas.openxmlformats.org/officeDocument/2006/relationships/tags" Target="../tags/tag497.xml"/><Relationship Id="rId2" Type="http://schemas.openxmlformats.org/officeDocument/2006/relationships/tags" Target="../tags/tag492.xml"/><Relationship Id="rId1" Type="http://schemas.openxmlformats.org/officeDocument/2006/relationships/tags" Target="../tags/tag491.xml"/><Relationship Id="rId6" Type="http://schemas.openxmlformats.org/officeDocument/2006/relationships/tags" Target="../tags/tag496.xml"/><Relationship Id="rId5" Type="http://schemas.openxmlformats.org/officeDocument/2006/relationships/tags" Target="../tags/tag495.xml"/><Relationship Id="rId4" Type="http://schemas.openxmlformats.org/officeDocument/2006/relationships/tags" Target="../tags/tag494.xml"/><Relationship Id="rId9"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8" Type="http://schemas.openxmlformats.org/officeDocument/2006/relationships/tags" Target="../tags/tag506.xml"/><Relationship Id="rId3" Type="http://schemas.openxmlformats.org/officeDocument/2006/relationships/tags" Target="../tags/tag501.xml"/><Relationship Id="rId7" Type="http://schemas.openxmlformats.org/officeDocument/2006/relationships/tags" Target="../tags/tag505.xml"/><Relationship Id="rId2" Type="http://schemas.openxmlformats.org/officeDocument/2006/relationships/tags" Target="../tags/tag500.xml"/><Relationship Id="rId1" Type="http://schemas.openxmlformats.org/officeDocument/2006/relationships/tags" Target="../tags/tag499.xml"/><Relationship Id="rId6" Type="http://schemas.openxmlformats.org/officeDocument/2006/relationships/tags" Target="../tags/tag504.xml"/><Relationship Id="rId5" Type="http://schemas.openxmlformats.org/officeDocument/2006/relationships/tags" Target="../tags/tag503.xml"/><Relationship Id="rId10" Type="http://schemas.openxmlformats.org/officeDocument/2006/relationships/slideMaster" Target="../slideMasters/slideMaster5.xml"/><Relationship Id="rId4" Type="http://schemas.openxmlformats.org/officeDocument/2006/relationships/tags" Target="../tags/tag502.xml"/><Relationship Id="rId9" Type="http://schemas.openxmlformats.org/officeDocument/2006/relationships/tags" Target="../tags/tag507.xml"/></Relationships>
</file>

<file path=ppt/slideLayouts/_rels/slideLayout88.xml.rels><?xml version="1.0" encoding="UTF-8" standalone="yes"?>
<Relationships xmlns="http://schemas.openxmlformats.org/package/2006/relationships"><Relationship Id="rId3" Type="http://schemas.openxmlformats.org/officeDocument/2006/relationships/tags" Target="../tags/tag510.xml"/><Relationship Id="rId7" Type="http://schemas.openxmlformats.org/officeDocument/2006/relationships/slideMaster" Target="../slideMasters/slideMaster5.xml"/><Relationship Id="rId2" Type="http://schemas.openxmlformats.org/officeDocument/2006/relationships/tags" Target="../tags/tag509.xml"/><Relationship Id="rId1" Type="http://schemas.openxmlformats.org/officeDocument/2006/relationships/tags" Target="../tags/tag508.xml"/><Relationship Id="rId6" Type="http://schemas.openxmlformats.org/officeDocument/2006/relationships/tags" Target="../tags/tag513.xml"/><Relationship Id="rId5" Type="http://schemas.openxmlformats.org/officeDocument/2006/relationships/tags" Target="../tags/tag512.xml"/><Relationship Id="rId4" Type="http://schemas.openxmlformats.org/officeDocument/2006/relationships/tags" Target="../tags/tag51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8" Type="http://schemas.openxmlformats.org/officeDocument/2006/relationships/tags" Target="../tags/tag527.xml"/><Relationship Id="rId13" Type="http://schemas.openxmlformats.org/officeDocument/2006/relationships/tags" Target="../tags/tag532.xml"/><Relationship Id="rId3" Type="http://schemas.openxmlformats.org/officeDocument/2006/relationships/tags" Target="../tags/tag522.xml"/><Relationship Id="rId7" Type="http://schemas.openxmlformats.org/officeDocument/2006/relationships/tags" Target="../tags/tag526.xml"/><Relationship Id="rId12" Type="http://schemas.openxmlformats.org/officeDocument/2006/relationships/tags" Target="../tags/tag531.xml"/><Relationship Id="rId2" Type="http://schemas.openxmlformats.org/officeDocument/2006/relationships/tags" Target="../tags/tag521.xml"/><Relationship Id="rId1" Type="http://schemas.openxmlformats.org/officeDocument/2006/relationships/tags" Target="../tags/tag520.xml"/><Relationship Id="rId6" Type="http://schemas.openxmlformats.org/officeDocument/2006/relationships/tags" Target="../tags/tag525.xml"/><Relationship Id="rId11" Type="http://schemas.openxmlformats.org/officeDocument/2006/relationships/tags" Target="../tags/tag530.xml"/><Relationship Id="rId5" Type="http://schemas.openxmlformats.org/officeDocument/2006/relationships/tags" Target="../tags/tag524.xml"/><Relationship Id="rId10" Type="http://schemas.openxmlformats.org/officeDocument/2006/relationships/tags" Target="../tags/tag529.xml"/><Relationship Id="rId4" Type="http://schemas.openxmlformats.org/officeDocument/2006/relationships/tags" Target="../tags/tag523.xml"/><Relationship Id="rId9" Type="http://schemas.openxmlformats.org/officeDocument/2006/relationships/tags" Target="../tags/tag528.xml"/><Relationship Id="rId14"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3" Type="http://schemas.openxmlformats.org/officeDocument/2006/relationships/tags" Target="../tags/tag535.xml"/><Relationship Id="rId2" Type="http://schemas.openxmlformats.org/officeDocument/2006/relationships/tags" Target="../tags/tag534.xml"/><Relationship Id="rId1" Type="http://schemas.openxmlformats.org/officeDocument/2006/relationships/tags" Target="../tags/tag533.xml"/><Relationship Id="rId6" Type="http://schemas.openxmlformats.org/officeDocument/2006/relationships/slideMaster" Target="../slideMasters/slideMaster6.xml"/><Relationship Id="rId5" Type="http://schemas.openxmlformats.org/officeDocument/2006/relationships/tags" Target="../tags/tag537.xml"/><Relationship Id="rId4" Type="http://schemas.openxmlformats.org/officeDocument/2006/relationships/tags" Target="../tags/tag536.xml"/></Relationships>
</file>

<file path=ppt/slideLayouts/_rels/slideLayout92.xml.rels><?xml version="1.0" encoding="UTF-8" standalone="yes"?>
<Relationships xmlns="http://schemas.openxmlformats.org/package/2006/relationships"><Relationship Id="rId3" Type="http://schemas.openxmlformats.org/officeDocument/2006/relationships/tags" Target="../tags/tag540.xml"/><Relationship Id="rId7" Type="http://schemas.openxmlformats.org/officeDocument/2006/relationships/slideMaster" Target="../slideMasters/slideMaster6.xml"/><Relationship Id="rId2" Type="http://schemas.openxmlformats.org/officeDocument/2006/relationships/tags" Target="../tags/tag539.xml"/><Relationship Id="rId1" Type="http://schemas.openxmlformats.org/officeDocument/2006/relationships/tags" Target="../tags/tag538.xml"/><Relationship Id="rId6" Type="http://schemas.openxmlformats.org/officeDocument/2006/relationships/tags" Target="../tags/tag543.xml"/><Relationship Id="rId5" Type="http://schemas.openxmlformats.org/officeDocument/2006/relationships/tags" Target="../tags/tag542.xml"/><Relationship Id="rId4" Type="http://schemas.openxmlformats.org/officeDocument/2006/relationships/tags" Target="../tags/tag541.xml"/></Relationships>
</file>

<file path=ppt/slideLayouts/_rels/slideLayout93.xml.rels><?xml version="1.0" encoding="UTF-8" standalone="yes"?>
<Relationships xmlns="http://schemas.openxmlformats.org/package/2006/relationships"><Relationship Id="rId3" Type="http://schemas.openxmlformats.org/officeDocument/2006/relationships/tags" Target="../tags/tag546.xml"/><Relationship Id="rId7" Type="http://schemas.openxmlformats.org/officeDocument/2006/relationships/slideMaster" Target="../slideMasters/slideMaster6.xml"/><Relationship Id="rId2" Type="http://schemas.openxmlformats.org/officeDocument/2006/relationships/tags" Target="../tags/tag545.xml"/><Relationship Id="rId1" Type="http://schemas.openxmlformats.org/officeDocument/2006/relationships/tags" Target="../tags/tag544.xml"/><Relationship Id="rId6" Type="http://schemas.openxmlformats.org/officeDocument/2006/relationships/tags" Target="../tags/tag549.xml"/><Relationship Id="rId5" Type="http://schemas.openxmlformats.org/officeDocument/2006/relationships/tags" Target="../tags/tag548.xml"/><Relationship Id="rId4" Type="http://schemas.openxmlformats.org/officeDocument/2006/relationships/tags" Target="../tags/tag547.xml"/></Relationships>
</file>

<file path=ppt/slideLayouts/_rels/slideLayout94.xml.rels><?xml version="1.0" encoding="UTF-8" standalone="yes"?>
<Relationships xmlns="http://schemas.openxmlformats.org/package/2006/relationships"><Relationship Id="rId8" Type="http://schemas.openxmlformats.org/officeDocument/2006/relationships/tags" Target="../tags/tag557.xml"/><Relationship Id="rId3" Type="http://schemas.openxmlformats.org/officeDocument/2006/relationships/tags" Target="../tags/tag552.xml"/><Relationship Id="rId7" Type="http://schemas.openxmlformats.org/officeDocument/2006/relationships/tags" Target="../tags/tag556.xml"/><Relationship Id="rId2" Type="http://schemas.openxmlformats.org/officeDocument/2006/relationships/tags" Target="../tags/tag551.xml"/><Relationship Id="rId1" Type="http://schemas.openxmlformats.org/officeDocument/2006/relationships/tags" Target="../tags/tag550.xml"/><Relationship Id="rId6" Type="http://schemas.openxmlformats.org/officeDocument/2006/relationships/tags" Target="../tags/tag555.xml"/><Relationship Id="rId5" Type="http://schemas.openxmlformats.org/officeDocument/2006/relationships/tags" Target="../tags/tag554.xml"/><Relationship Id="rId4" Type="http://schemas.openxmlformats.org/officeDocument/2006/relationships/tags" Target="../tags/tag553.xml"/><Relationship Id="rId9"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3" Type="http://schemas.openxmlformats.org/officeDocument/2006/relationships/tags" Target="../tags/tag560.xml"/><Relationship Id="rId2" Type="http://schemas.openxmlformats.org/officeDocument/2006/relationships/tags" Target="../tags/tag559.xml"/><Relationship Id="rId1" Type="http://schemas.openxmlformats.org/officeDocument/2006/relationships/tags" Target="../tags/tag558.xml"/><Relationship Id="rId5" Type="http://schemas.openxmlformats.org/officeDocument/2006/relationships/slideMaster" Target="../slideMasters/slideMaster6.xml"/><Relationship Id="rId4" Type="http://schemas.openxmlformats.org/officeDocument/2006/relationships/tags" Target="../tags/tag561.xml"/></Relationships>
</file>

<file path=ppt/slideLayouts/_rels/slideLayout96.xml.rels><?xml version="1.0" encoding="UTF-8" standalone="yes"?>
<Relationships xmlns="http://schemas.openxmlformats.org/package/2006/relationships"><Relationship Id="rId3" Type="http://schemas.openxmlformats.org/officeDocument/2006/relationships/tags" Target="../tags/tag564.xml"/><Relationship Id="rId2" Type="http://schemas.openxmlformats.org/officeDocument/2006/relationships/tags" Target="../tags/tag563.xml"/><Relationship Id="rId1" Type="http://schemas.openxmlformats.org/officeDocument/2006/relationships/tags" Target="../tags/tag562.xml"/><Relationship Id="rId4"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3" Type="http://schemas.openxmlformats.org/officeDocument/2006/relationships/tags" Target="../tags/tag567.xml"/><Relationship Id="rId7" Type="http://schemas.openxmlformats.org/officeDocument/2006/relationships/slideMaster" Target="../slideMasters/slideMaster6.xml"/><Relationship Id="rId2" Type="http://schemas.openxmlformats.org/officeDocument/2006/relationships/tags" Target="../tags/tag566.xml"/><Relationship Id="rId1" Type="http://schemas.openxmlformats.org/officeDocument/2006/relationships/tags" Target="../tags/tag565.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s>
</file>

<file path=ppt/slideLayouts/_rels/slideLayout98.xml.rels><?xml version="1.0" encoding="UTF-8" standalone="yes"?>
<Relationships xmlns="http://schemas.openxmlformats.org/package/2006/relationships"><Relationship Id="rId3" Type="http://schemas.openxmlformats.org/officeDocument/2006/relationships/tags" Target="../tags/tag573.xml"/><Relationship Id="rId2" Type="http://schemas.openxmlformats.org/officeDocument/2006/relationships/tags" Target="../tags/tag572.xml"/><Relationship Id="rId1" Type="http://schemas.openxmlformats.org/officeDocument/2006/relationships/tags" Target="../tags/tag571.xml"/><Relationship Id="rId6" Type="http://schemas.openxmlformats.org/officeDocument/2006/relationships/slideMaster" Target="../slideMasters/slideMaster6.xml"/><Relationship Id="rId5" Type="http://schemas.openxmlformats.org/officeDocument/2006/relationships/tags" Target="../tags/tag575.xml"/><Relationship Id="rId4" Type="http://schemas.openxmlformats.org/officeDocument/2006/relationships/tags" Target="../tags/tag574.xml"/></Relationships>
</file>

<file path=ppt/slideLayouts/_rels/slideLayout99.xml.rels><?xml version="1.0" encoding="UTF-8" standalone="yes"?>
<Relationships xmlns="http://schemas.openxmlformats.org/package/2006/relationships"><Relationship Id="rId3" Type="http://schemas.openxmlformats.org/officeDocument/2006/relationships/tags" Target="../tags/tag578.xml"/><Relationship Id="rId2" Type="http://schemas.openxmlformats.org/officeDocument/2006/relationships/tags" Target="../tags/tag577.xml"/><Relationship Id="rId1" Type="http://schemas.openxmlformats.org/officeDocument/2006/relationships/tags" Target="../tags/tag576.xml"/><Relationship Id="rId5" Type="http://schemas.openxmlformats.org/officeDocument/2006/relationships/slideMaster" Target="../slideMasters/slideMaster6.xml"/><Relationship Id="rId4" Type="http://schemas.openxmlformats.org/officeDocument/2006/relationships/tags" Target="../tags/tag579.xml"/></Relationships>
</file>

<file path=ppt/slideLayouts/_rels/slideLayout100.xml.rels><?xml version="1.0" encoding="UTF-8" standalone="yes"?>
<Relationships xmlns="http://schemas.openxmlformats.org/package/2006/relationships"><Relationship Id="rId8" Type="http://schemas.openxmlformats.org/officeDocument/2006/relationships/tags" Target="../tags/tag587.xml"/><Relationship Id="rId3" Type="http://schemas.openxmlformats.org/officeDocument/2006/relationships/tags" Target="../tags/tag582.xml"/><Relationship Id="rId7" Type="http://schemas.openxmlformats.org/officeDocument/2006/relationships/tags" Target="../tags/tag586.xml"/><Relationship Id="rId2" Type="http://schemas.openxmlformats.org/officeDocument/2006/relationships/tags" Target="../tags/tag581.xml"/><Relationship Id="rId1" Type="http://schemas.openxmlformats.org/officeDocument/2006/relationships/tags" Target="../tags/tag580.xml"/><Relationship Id="rId6" Type="http://schemas.openxmlformats.org/officeDocument/2006/relationships/tags" Target="../tags/tag585.xml"/><Relationship Id="rId5" Type="http://schemas.openxmlformats.org/officeDocument/2006/relationships/tags" Target="../tags/tag584.xml"/><Relationship Id="rId4" Type="http://schemas.openxmlformats.org/officeDocument/2006/relationships/tags" Target="../tags/tag583.xml"/><Relationship Id="rId9"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3" Type="http://schemas.openxmlformats.org/officeDocument/2006/relationships/tags" Target="../tags/tag590.xml"/><Relationship Id="rId7" Type="http://schemas.openxmlformats.org/officeDocument/2006/relationships/slideMaster" Target="../slideMasters/slideMaster6.xml"/><Relationship Id="rId2" Type="http://schemas.openxmlformats.org/officeDocument/2006/relationships/tags" Target="../tags/tag589.xml"/><Relationship Id="rId1" Type="http://schemas.openxmlformats.org/officeDocument/2006/relationships/tags" Target="../tags/tag588.xml"/><Relationship Id="rId6" Type="http://schemas.openxmlformats.org/officeDocument/2006/relationships/tags" Target="../tags/tag593.xml"/><Relationship Id="rId5" Type="http://schemas.openxmlformats.org/officeDocument/2006/relationships/tags" Target="../tags/tag592.xml"/><Relationship Id="rId4" Type="http://schemas.openxmlformats.org/officeDocument/2006/relationships/tags" Target="../tags/tag591.xml"/></Relationships>
</file>

<file path=ppt/slideLayouts/_rels/slideLayout102.xml.rels><?xml version="1.0" encoding="UTF-8" standalone="yes"?>
<Relationships xmlns="http://schemas.openxmlformats.org/package/2006/relationships"><Relationship Id="rId8" Type="http://schemas.openxmlformats.org/officeDocument/2006/relationships/slideMaster" Target="../slideMasters/slideMaster6.xml"/><Relationship Id="rId3" Type="http://schemas.openxmlformats.org/officeDocument/2006/relationships/tags" Target="../tags/tag596.xml"/><Relationship Id="rId7" Type="http://schemas.openxmlformats.org/officeDocument/2006/relationships/tags" Target="../tags/tag600.xml"/><Relationship Id="rId2" Type="http://schemas.openxmlformats.org/officeDocument/2006/relationships/tags" Target="../tags/tag595.xml"/><Relationship Id="rId1" Type="http://schemas.openxmlformats.org/officeDocument/2006/relationships/tags" Target="../tags/tag594.xml"/><Relationship Id="rId6" Type="http://schemas.openxmlformats.org/officeDocument/2006/relationships/tags" Target="../tags/tag599.xml"/><Relationship Id="rId5" Type="http://schemas.openxmlformats.org/officeDocument/2006/relationships/tags" Target="../tags/tag598.xml"/><Relationship Id="rId4" Type="http://schemas.openxmlformats.org/officeDocument/2006/relationships/tags" Target="../tags/tag597.xml"/></Relationships>
</file>

<file path=ppt/slideLayouts/_rels/slideLayout103.xml.rels><?xml version="1.0" encoding="UTF-8" standalone="yes"?>
<Relationships xmlns="http://schemas.openxmlformats.org/package/2006/relationships"><Relationship Id="rId8" Type="http://schemas.openxmlformats.org/officeDocument/2006/relationships/tags" Target="../tags/tag608.xml"/><Relationship Id="rId3" Type="http://schemas.openxmlformats.org/officeDocument/2006/relationships/tags" Target="../tags/tag603.xml"/><Relationship Id="rId7" Type="http://schemas.openxmlformats.org/officeDocument/2006/relationships/tags" Target="../tags/tag607.xml"/><Relationship Id="rId2" Type="http://schemas.openxmlformats.org/officeDocument/2006/relationships/tags" Target="../tags/tag602.xml"/><Relationship Id="rId1" Type="http://schemas.openxmlformats.org/officeDocument/2006/relationships/tags" Target="../tags/tag601.xml"/><Relationship Id="rId6" Type="http://schemas.openxmlformats.org/officeDocument/2006/relationships/tags" Target="../tags/tag606.xml"/><Relationship Id="rId5" Type="http://schemas.openxmlformats.org/officeDocument/2006/relationships/tags" Target="../tags/tag605.xml"/><Relationship Id="rId10" Type="http://schemas.openxmlformats.org/officeDocument/2006/relationships/slideMaster" Target="../slideMasters/slideMaster6.xml"/><Relationship Id="rId4" Type="http://schemas.openxmlformats.org/officeDocument/2006/relationships/tags" Target="../tags/tag604.xml"/><Relationship Id="rId9" Type="http://schemas.openxmlformats.org/officeDocument/2006/relationships/tags" Target="../tags/tag609.xml"/></Relationships>
</file>

<file path=ppt/slideLayouts/_rels/slideLayout104.xml.rels><?xml version="1.0" encoding="UTF-8" standalone="yes"?>
<Relationships xmlns="http://schemas.openxmlformats.org/package/2006/relationships"><Relationship Id="rId8" Type="http://schemas.openxmlformats.org/officeDocument/2006/relationships/tags" Target="../tags/tag617.xml"/><Relationship Id="rId3" Type="http://schemas.openxmlformats.org/officeDocument/2006/relationships/tags" Target="../tags/tag612.xml"/><Relationship Id="rId7" Type="http://schemas.openxmlformats.org/officeDocument/2006/relationships/tags" Target="../tags/tag616.xml"/><Relationship Id="rId2" Type="http://schemas.openxmlformats.org/officeDocument/2006/relationships/tags" Target="../tags/tag611.xml"/><Relationship Id="rId1" Type="http://schemas.openxmlformats.org/officeDocument/2006/relationships/tags" Target="../tags/tag610.xml"/><Relationship Id="rId6" Type="http://schemas.openxmlformats.org/officeDocument/2006/relationships/tags" Target="../tags/tag615.xml"/><Relationship Id="rId5" Type="http://schemas.openxmlformats.org/officeDocument/2006/relationships/tags" Target="../tags/tag614.xml"/><Relationship Id="rId10" Type="http://schemas.openxmlformats.org/officeDocument/2006/relationships/slideMaster" Target="../slideMasters/slideMaster6.xml"/><Relationship Id="rId4" Type="http://schemas.openxmlformats.org/officeDocument/2006/relationships/tags" Target="../tags/tag613.xml"/><Relationship Id="rId9" Type="http://schemas.openxmlformats.org/officeDocument/2006/relationships/tags" Target="../tags/tag618.xml"/></Relationships>
</file>

<file path=ppt/slideLayouts/_rels/slideLayout105.xml.rels><?xml version="1.0" encoding="UTF-8" standalone="yes"?>
<Relationships xmlns="http://schemas.openxmlformats.org/package/2006/relationships"><Relationship Id="rId8" Type="http://schemas.openxmlformats.org/officeDocument/2006/relationships/tags" Target="../tags/tag626.xml"/><Relationship Id="rId3" Type="http://schemas.openxmlformats.org/officeDocument/2006/relationships/tags" Target="../tags/tag621.xml"/><Relationship Id="rId7" Type="http://schemas.openxmlformats.org/officeDocument/2006/relationships/tags" Target="../tags/tag625.xml"/><Relationship Id="rId2" Type="http://schemas.openxmlformats.org/officeDocument/2006/relationships/tags" Target="../tags/tag620.xml"/><Relationship Id="rId1" Type="http://schemas.openxmlformats.org/officeDocument/2006/relationships/tags" Target="../tags/tag619.xml"/><Relationship Id="rId6" Type="http://schemas.openxmlformats.org/officeDocument/2006/relationships/tags" Target="../tags/tag624.xml"/><Relationship Id="rId5" Type="http://schemas.openxmlformats.org/officeDocument/2006/relationships/tags" Target="../tags/tag623.xml"/><Relationship Id="rId4" Type="http://schemas.openxmlformats.org/officeDocument/2006/relationships/tags" Target="../tags/tag622.xml"/><Relationship Id="rId9"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8" Type="http://schemas.openxmlformats.org/officeDocument/2006/relationships/tags" Target="../tags/tag634.xml"/><Relationship Id="rId3" Type="http://schemas.openxmlformats.org/officeDocument/2006/relationships/tags" Target="../tags/tag629.xml"/><Relationship Id="rId7" Type="http://schemas.openxmlformats.org/officeDocument/2006/relationships/tags" Target="../tags/tag633.xml"/><Relationship Id="rId2" Type="http://schemas.openxmlformats.org/officeDocument/2006/relationships/tags" Target="../tags/tag628.xml"/><Relationship Id="rId1" Type="http://schemas.openxmlformats.org/officeDocument/2006/relationships/tags" Target="../tags/tag627.xml"/><Relationship Id="rId6" Type="http://schemas.openxmlformats.org/officeDocument/2006/relationships/tags" Target="../tags/tag632.xml"/><Relationship Id="rId5" Type="http://schemas.openxmlformats.org/officeDocument/2006/relationships/tags" Target="../tags/tag631.xml"/><Relationship Id="rId10" Type="http://schemas.openxmlformats.org/officeDocument/2006/relationships/slideMaster" Target="../slideMasters/slideMaster6.xml"/><Relationship Id="rId4" Type="http://schemas.openxmlformats.org/officeDocument/2006/relationships/tags" Target="../tags/tag630.xml"/><Relationship Id="rId9" Type="http://schemas.openxmlformats.org/officeDocument/2006/relationships/tags" Target="../tags/tag635.xml"/></Relationships>
</file>

<file path=ppt/slideLayouts/_rels/slideLayout107.xml.rels><?xml version="1.0" encoding="UTF-8" standalone="yes"?>
<Relationships xmlns="http://schemas.openxmlformats.org/package/2006/relationships"><Relationship Id="rId3" Type="http://schemas.openxmlformats.org/officeDocument/2006/relationships/tags" Target="../tags/tag638.xml"/><Relationship Id="rId7" Type="http://schemas.openxmlformats.org/officeDocument/2006/relationships/slideMaster" Target="../slideMasters/slideMaster6.xml"/><Relationship Id="rId2" Type="http://schemas.openxmlformats.org/officeDocument/2006/relationships/tags" Target="../tags/tag637.xml"/><Relationship Id="rId1" Type="http://schemas.openxmlformats.org/officeDocument/2006/relationships/tags" Target="../tags/tag636.xml"/><Relationship Id="rId6" Type="http://schemas.openxmlformats.org/officeDocument/2006/relationships/tags" Target="../tags/tag641.xml"/><Relationship Id="rId5" Type="http://schemas.openxmlformats.org/officeDocument/2006/relationships/tags" Target="../tags/tag640.xml"/><Relationship Id="rId4" Type="http://schemas.openxmlformats.org/officeDocument/2006/relationships/tags" Target="../tags/tag63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8" Type="http://schemas.openxmlformats.org/officeDocument/2006/relationships/tags" Target="../tags/tag655.xml"/><Relationship Id="rId13" Type="http://schemas.openxmlformats.org/officeDocument/2006/relationships/tags" Target="../tags/tag660.xml"/><Relationship Id="rId3" Type="http://schemas.openxmlformats.org/officeDocument/2006/relationships/tags" Target="../tags/tag650.xml"/><Relationship Id="rId7" Type="http://schemas.openxmlformats.org/officeDocument/2006/relationships/tags" Target="../tags/tag654.xml"/><Relationship Id="rId12" Type="http://schemas.openxmlformats.org/officeDocument/2006/relationships/tags" Target="../tags/tag659.xml"/><Relationship Id="rId2" Type="http://schemas.openxmlformats.org/officeDocument/2006/relationships/tags" Target="../tags/tag649.xml"/><Relationship Id="rId1" Type="http://schemas.openxmlformats.org/officeDocument/2006/relationships/tags" Target="../tags/tag648.xml"/><Relationship Id="rId6" Type="http://schemas.openxmlformats.org/officeDocument/2006/relationships/tags" Target="../tags/tag653.xml"/><Relationship Id="rId11" Type="http://schemas.openxmlformats.org/officeDocument/2006/relationships/tags" Target="../tags/tag658.xml"/><Relationship Id="rId5" Type="http://schemas.openxmlformats.org/officeDocument/2006/relationships/tags" Target="../tags/tag652.xml"/><Relationship Id="rId10" Type="http://schemas.openxmlformats.org/officeDocument/2006/relationships/tags" Target="../tags/tag657.xml"/><Relationship Id="rId4" Type="http://schemas.openxmlformats.org/officeDocument/2006/relationships/tags" Target="../tags/tag651.xml"/><Relationship Id="rId9" Type="http://schemas.openxmlformats.org/officeDocument/2006/relationships/tags" Target="../tags/tag656.xml"/><Relationship Id="rId14"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3" Type="http://schemas.openxmlformats.org/officeDocument/2006/relationships/tags" Target="../tags/tag663.xml"/><Relationship Id="rId2" Type="http://schemas.openxmlformats.org/officeDocument/2006/relationships/tags" Target="../tags/tag662.xml"/><Relationship Id="rId1" Type="http://schemas.openxmlformats.org/officeDocument/2006/relationships/tags" Target="../tags/tag661.xml"/><Relationship Id="rId6" Type="http://schemas.openxmlformats.org/officeDocument/2006/relationships/slideMaster" Target="../slideMasters/slideMaster7.xml"/><Relationship Id="rId5" Type="http://schemas.openxmlformats.org/officeDocument/2006/relationships/tags" Target="../tags/tag665.xml"/><Relationship Id="rId4" Type="http://schemas.openxmlformats.org/officeDocument/2006/relationships/tags" Target="../tags/tag664.xml"/></Relationships>
</file>

<file path=ppt/slideLayouts/_rels/slideLayout111.xml.rels><?xml version="1.0" encoding="UTF-8" standalone="yes"?>
<Relationships xmlns="http://schemas.openxmlformats.org/package/2006/relationships"><Relationship Id="rId3" Type="http://schemas.openxmlformats.org/officeDocument/2006/relationships/tags" Target="../tags/tag668.xml"/><Relationship Id="rId7" Type="http://schemas.openxmlformats.org/officeDocument/2006/relationships/slideMaster" Target="../slideMasters/slideMaster7.xml"/><Relationship Id="rId2" Type="http://schemas.openxmlformats.org/officeDocument/2006/relationships/tags" Target="../tags/tag667.xml"/><Relationship Id="rId1" Type="http://schemas.openxmlformats.org/officeDocument/2006/relationships/tags" Target="../tags/tag666.xml"/><Relationship Id="rId6" Type="http://schemas.openxmlformats.org/officeDocument/2006/relationships/tags" Target="../tags/tag671.xml"/><Relationship Id="rId5" Type="http://schemas.openxmlformats.org/officeDocument/2006/relationships/tags" Target="../tags/tag670.xml"/><Relationship Id="rId4" Type="http://schemas.openxmlformats.org/officeDocument/2006/relationships/tags" Target="../tags/tag669.xml"/></Relationships>
</file>

<file path=ppt/slideLayouts/_rels/slideLayout112.xml.rels><?xml version="1.0" encoding="UTF-8" standalone="yes"?>
<Relationships xmlns="http://schemas.openxmlformats.org/package/2006/relationships"><Relationship Id="rId3" Type="http://schemas.openxmlformats.org/officeDocument/2006/relationships/tags" Target="../tags/tag674.xml"/><Relationship Id="rId7" Type="http://schemas.openxmlformats.org/officeDocument/2006/relationships/slideMaster" Target="../slideMasters/slideMaster7.xml"/><Relationship Id="rId2" Type="http://schemas.openxmlformats.org/officeDocument/2006/relationships/tags" Target="../tags/tag673.xml"/><Relationship Id="rId1" Type="http://schemas.openxmlformats.org/officeDocument/2006/relationships/tags" Target="../tags/tag672.xml"/><Relationship Id="rId6" Type="http://schemas.openxmlformats.org/officeDocument/2006/relationships/tags" Target="../tags/tag677.xml"/><Relationship Id="rId5" Type="http://schemas.openxmlformats.org/officeDocument/2006/relationships/tags" Target="../tags/tag676.xml"/><Relationship Id="rId4" Type="http://schemas.openxmlformats.org/officeDocument/2006/relationships/tags" Target="../tags/tag675.xml"/></Relationships>
</file>

<file path=ppt/slideLayouts/_rels/slideLayout113.xml.rels><?xml version="1.0" encoding="UTF-8" standalone="yes"?>
<Relationships xmlns="http://schemas.openxmlformats.org/package/2006/relationships"><Relationship Id="rId8" Type="http://schemas.openxmlformats.org/officeDocument/2006/relationships/tags" Target="../tags/tag685.xml"/><Relationship Id="rId3" Type="http://schemas.openxmlformats.org/officeDocument/2006/relationships/tags" Target="../tags/tag680.xml"/><Relationship Id="rId7" Type="http://schemas.openxmlformats.org/officeDocument/2006/relationships/tags" Target="../tags/tag684.xml"/><Relationship Id="rId2" Type="http://schemas.openxmlformats.org/officeDocument/2006/relationships/tags" Target="../tags/tag679.xml"/><Relationship Id="rId1" Type="http://schemas.openxmlformats.org/officeDocument/2006/relationships/tags" Target="../tags/tag678.xml"/><Relationship Id="rId6" Type="http://schemas.openxmlformats.org/officeDocument/2006/relationships/tags" Target="../tags/tag683.xml"/><Relationship Id="rId5" Type="http://schemas.openxmlformats.org/officeDocument/2006/relationships/tags" Target="../tags/tag682.xml"/><Relationship Id="rId4" Type="http://schemas.openxmlformats.org/officeDocument/2006/relationships/tags" Target="../tags/tag681.xml"/><Relationship Id="rId9"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3" Type="http://schemas.openxmlformats.org/officeDocument/2006/relationships/tags" Target="../tags/tag688.xml"/><Relationship Id="rId2" Type="http://schemas.openxmlformats.org/officeDocument/2006/relationships/tags" Target="../tags/tag687.xml"/><Relationship Id="rId1" Type="http://schemas.openxmlformats.org/officeDocument/2006/relationships/tags" Target="../tags/tag686.xml"/><Relationship Id="rId5" Type="http://schemas.openxmlformats.org/officeDocument/2006/relationships/slideMaster" Target="../slideMasters/slideMaster7.xml"/><Relationship Id="rId4" Type="http://schemas.openxmlformats.org/officeDocument/2006/relationships/tags" Target="../tags/tag689.xml"/></Relationships>
</file>

<file path=ppt/slideLayouts/_rels/slideLayout115.xml.rels><?xml version="1.0" encoding="UTF-8" standalone="yes"?>
<Relationships xmlns="http://schemas.openxmlformats.org/package/2006/relationships"><Relationship Id="rId3" Type="http://schemas.openxmlformats.org/officeDocument/2006/relationships/tags" Target="../tags/tag692.xml"/><Relationship Id="rId2" Type="http://schemas.openxmlformats.org/officeDocument/2006/relationships/tags" Target="../tags/tag691.xml"/><Relationship Id="rId1" Type="http://schemas.openxmlformats.org/officeDocument/2006/relationships/tags" Target="../tags/tag690.xml"/><Relationship Id="rId4"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3" Type="http://schemas.openxmlformats.org/officeDocument/2006/relationships/tags" Target="../tags/tag695.xml"/><Relationship Id="rId7" Type="http://schemas.openxmlformats.org/officeDocument/2006/relationships/slideMaster" Target="../slideMasters/slideMaster7.xml"/><Relationship Id="rId2" Type="http://schemas.openxmlformats.org/officeDocument/2006/relationships/tags" Target="../tags/tag694.xml"/><Relationship Id="rId1" Type="http://schemas.openxmlformats.org/officeDocument/2006/relationships/tags" Target="../tags/tag693.xml"/><Relationship Id="rId6" Type="http://schemas.openxmlformats.org/officeDocument/2006/relationships/tags" Target="../tags/tag698.xml"/><Relationship Id="rId5" Type="http://schemas.openxmlformats.org/officeDocument/2006/relationships/tags" Target="../tags/tag697.xml"/><Relationship Id="rId4" Type="http://schemas.openxmlformats.org/officeDocument/2006/relationships/tags" Target="../tags/tag696.xml"/></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701.xml"/><Relationship Id="rId2" Type="http://schemas.openxmlformats.org/officeDocument/2006/relationships/tags" Target="../tags/tag700.xml"/><Relationship Id="rId1" Type="http://schemas.openxmlformats.org/officeDocument/2006/relationships/tags" Target="../tags/tag699.xml"/><Relationship Id="rId6" Type="http://schemas.openxmlformats.org/officeDocument/2006/relationships/slideMaster" Target="../slideMasters/slideMaster7.xml"/><Relationship Id="rId5" Type="http://schemas.openxmlformats.org/officeDocument/2006/relationships/tags" Target="../tags/tag703.xml"/><Relationship Id="rId4" Type="http://schemas.openxmlformats.org/officeDocument/2006/relationships/tags" Target="../tags/tag70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706.xml"/><Relationship Id="rId2" Type="http://schemas.openxmlformats.org/officeDocument/2006/relationships/tags" Target="../tags/tag705.xml"/><Relationship Id="rId1" Type="http://schemas.openxmlformats.org/officeDocument/2006/relationships/tags" Target="../tags/tag704.xml"/><Relationship Id="rId5" Type="http://schemas.openxmlformats.org/officeDocument/2006/relationships/slideMaster" Target="../slideMasters/slideMaster7.xml"/><Relationship Id="rId4" Type="http://schemas.openxmlformats.org/officeDocument/2006/relationships/tags" Target="../tags/tag707.xml"/></Relationships>
</file>

<file path=ppt/slideLayouts/_rels/slideLayout119.xml.rels><?xml version="1.0" encoding="UTF-8" standalone="yes"?>
<Relationships xmlns="http://schemas.openxmlformats.org/package/2006/relationships"><Relationship Id="rId8" Type="http://schemas.openxmlformats.org/officeDocument/2006/relationships/tags" Target="../tags/tag715.xml"/><Relationship Id="rId3" Type="http://schemas.openxmlformats.org/officeDocument/2006/relationships/tags" Target="../tags/tag710.xml"/><Relationship Id="rId7" Type="http://schemas.openxmlformats.org/officeDocument/2006/relationships/tags" Target="../tags/tag714.xml"/><Relationship Id="rId2" Type="http://schemas.openxmlformats.org/officeDocument/2006/relationships/tags" Target="../tags/tag709.xml"/><Relationship Id="rId1" Type="http://schemas.openxmlformats.org/officeDocument/2006/relationships/tags" Target="../tags/tag708.xml"/><Relationship Id="rId6" Type="http://schemas.openxmlformats.org/officeDocument/2006/relationships/tags" Target="../tags/tag713.xml"/><Relationship Id="rId5" Type="http://schemas.openxmlformats.org/officeDocument/2006/relationships/tags" Target="../tags/tag712.xml"/><Relationship Id="rId4" Type="http://schemas.openxmlformats.org/officeDocument/2006/relationships/tags" Target="../tags/tag711.xml"/><Relationship Id="rId9"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3" Type="http://schemas.openxmlformats.org/officeDocument/2006/relationships/tags" Target="../tags/tag718.xml"/><Relationship Id="rId7" Type="http://schemas.openxmlformats.org/officeDocument/2006/relationships/slideMaster" Target="../slideMasters/slideMaster7.xml"/><Relationship Id="rId2" Type="http://schemas.openxmlformats.org/officeDocument/2006/relationships/tags" Target="../tags/tag717.xml"/><Relationship Id="rId1" Type="http://schemas.openxmlformats.org/officeDocument/2006/relationships/tags" Target="../tags/tag716.xml"/><Relationship Id="rId6" Type="http://schemas.openxmlformats.org/officeDocument/2006/relationships/tags" Target="../tags/tag721.xml"/><Relationship Id="rId5" Type="http://schemas.openxmlformats.org/officeDocument/2006/relationships/tags" Target="../tags/tag720.xml"/><Relationship Id="rId4" Type="http://schemas.openxmlformats.org/officeDocument/2006/relationships/tags" Target="../tags/tag719.xml"/></Relationships>
</file>

<file path=ppt/slideLayouts/_rels/slideLayout121.xml.rels><?xml version="1.0" encoding="UTF-8" standalone="yes"?>
<Relationships xmlns="http://schemas.openxmlformats.org/package/2006/relationships"><Relationship Id="rId8" Type="http://schemas.openxmlformats.org/officeDocument/2006/relationships/slideMaster" Target="../slideMasters/slideMaster7.xml"/><Relationship Id="rId3" Type="http://schemas.openxmlformats.org/officeDocument/2006/relationships/tags" Target="../tags/tag724.xml"/><Relationship Id="rId7" Type="http://schemas.openxmlformats.org/officeDocument/2006/relationships/tags" Target="../tags/tag728.xml"/><Relationship Id="rId2" Type="http://schemas.openxmlformats.org/officeDocument/2006/relationships/tags" Target="../tags/tag723.xml"/><Relationship Id="rId1" Type="http://schemas.openxmlformats.org/officeDocument/2006/relationships/tags" Target="../tags/tag722.xml"/><Relationship Id="rId6" Type="http://schemas.openxmlformats.org/officeDocument/2006/relationships/tags" Target="../tags/tag727.xml"/><Relationship Id="rId5" Type="http://schemas.openxmlformats.org/officeDocument/2006/relationships/tags" Target="../tags/tag726.xml"/><Relationship Id="rId4" Type="http://schemas.openxmlformats.org/officeDocument/2006/relationships/tags" Target="../tags/tag725.xml"/></Relationships>
</file>

<file path=ppt/slideLayouts/_rels/slideLayout122.xml.rels><?xml version="1.0" encoding="UTF-8" standalone="yes"?>
<Relationships xmlns="http://schemas.openxmlformats.org/package/2006/relationships"><Relationship Id="rId8" Type="http://schemas.openxmlformats.org/officeDocument/2006/relationships/tags" Target="../tags/tag736.xml"/><Relationship Id="rId3" Type="http://schemas.openxmlformats.org/officeDocument/2006/relationships/tags" Target="../tags/tag731.xml"/><Relationship Id="rId7" Type="http://schemas.openxmlformats.org/officeDocument/2006/relationships/tags" Target="../tags/tag735.xml"/><Relationship Id="rId2" Type="http://schemas.openxmlformats.org/officeDocument/2006/relationships/tags" Target="../tags/tag730.xml"/><Relationship Id="rId1" Type="http://schemas.openxmlformats.org/officeDocument/2006/relationships/tags" Target="../tags/tag729.xml"/><Relationship Id="rId6" Type="http://schemas.openxmlformats.org/officeDocument/2006/relationships/tags" Target="../tags/tag734.xml"/><Relationship Id="rId5" Type="http://schemas.openxmlformats.org/officeDocument/2006/relationships/tags" Target="../tags/tag733.xml"/><Relationship Id="rId10" Type="http://schemas.openxmlformats.org/officeDocument/2006/relationships/slideMaster" Target="../slideMasters/slideMaster7.xml"/><Relationship Id="rId4" Type="http://schemas.openxmlformats.org/officeDocument/2006/relationships/tags" Target="../tags/tag732.xml"/><Relationship Id="rId9" Type="http://schemas.openxmlformats.org/officeDocument/2006/relationships/tags" Target="../tags/tag737.xml"/></Relationships>
</file>

<file path=ppt/slideLayouts/_rels/slideLayout123.xml.rels><?xml version="1.0" encoding="UTF-8" standalone="yes"?>
<Relationships xmlns="http://schemas.openxmlformats.org/package/2006/relationships"><Relationship Id="rId8" Type="http://schemas.openxmlformats.org/officeDocument/2006/relationships/tags" Target="../tags/tag745.xml"/><Relationship Id="rId3" Type="http://schemas.openxmlformats.org/officeDocument/2006/relationships/tags" Target="../tags/tag740.xml"/><Relationship Id="rId7" Type="http://schemas.openxmlformats.org/officeDocument/2006/relationships/tags" Target="../tags/tag744.xml"/><Relationship Id="rId2" Type="http://schemas.openxmlformats.org/officeDocument/2006/relationships/tags" Target="../tags/tag739.xml"/><Relationship Id="rId1" Type="http://schemas.openxmlformats.org/officeDocument/2006/relationships/tags" Target="../tags/tag738.xml"/><Relationship Id="rId6" Type="http://schemas.openxmlformats.org/officeDocument/2006/relationships/tags" Target="../tags/tag743.xml"/><Relationship Id="rId5" Type="http://schemas.openxmlformats.org/officeDocument/2006/relationships/tags" Target="../tags/tag742.xml"/><Relationship Id="rId10" Type="http://schemas.openxmlformats.org/officeDocument/2006/relationships/slideMaster" Target="../slideMasters/slideMaster7.xml"/><Relationship Id="rId4" Type="http://schemas.openxmlformats.org/officeDocument/2006/relationships/tags" Target="../tags/tag741.xml"/><Relationship Id="rId9" Type="http://schemas.openxmlformats.org/officeDocument/2006/relationships/tags" Target="../tags/tag746.xml"/></Relationships>
</file>

<file path=ppt/slideLayouts/_rels/slideLayout124.xml.rels><?xml version="1.0" encoding="UTF-8" standalone="yes"?>
<Relationships xmlns="http://schemas.openxmlformats.org/package/2006/relationships"><Relationship Id="rId8" Type="http://schemas.openxmlformats.org/officeDocument/2006/relationships/tags" Target="../tags/tag754.xml"/><Relationship Id="rId3" Type="http://schemas.openxmlformats.org/officeDocument/2006/relationships/tags" Target="../tags/tag749.xml"/><Relationship Id="rId7" Type="http://schemas.openxmlformats.org/officeDocument/2006/relationships/tags" Target="../tags/tag753.xml"/><Relationship Id="rId2" Type="http://schemas.openxmlformats.org/officeDocument/2006/relationships/tags" Target="../tags/tag748.xml"/><Relationship Id="rId1" Type="http://schemas.openxmlformats.org/officeDocument/2006/relationships/tags" Target="../tags/tag747.xml"/><Relationship Id="rId6" Type="http://schemas.openxmlformats.org/officeDocument/2006/relationships/tags" Target="../tags/tag752.xml"/><Relationship Id="rId5" Type="http://schemas.openxmlformats.org/officeDocument/2006/relationships/tags" Target="../tags/tag751.xml"/><Relationship Id="rId4" Type="http://schemas.openxmlformats.org/officeDocument/2006/relationships/tags" Target="../tags/tag750.xml"/><Relationship Id="rId9"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8" Type="http://schemas.openxmlformats.org/officeDocument/2006/relationships/tags" Target="../tags/tag762.xml"/><Relationship Id="rId3" Type="http://schemas.openxmlformats.org/officeDocument/2006/relationships/tags" Target="../tags/tag757.xml"/><Relationship Id="rId7" Type="http://schemas.openxmlformats.org/officeDocument/2006/relationships/tags" Target="../tags/tag761.xml"/><Relationship Id="rId2" Type="http://schemas.openxmlformats.org/officeDocument/2006/relationships/tags" Target="../tags/tag756.xml"/><Relationship Id="rId1" Type="http://schemas.openxmlformats.org/officeDocument/2006/relationships/tags" Target="../tags/tag755.xml"/><Relationship Id="rId6" Type="http://schemas.openxmlformats.org/officeDocument/2006/relationships/tags" Target="../tags/tag760.xml"/><Relationship Id="rId5" Type="http://schemas.openxmlformats.org/officeDocument/2006/relationships/tags" Target="../tags/tag759.xml"/><Relationship Id="rId10" Type="http://schemas.openxmlformats.org/officeDocument/2006/relationships/slideMaster" Target="../slideMasters/slideMaster7.xml"/><Relationship Id="rId4" Type="http://schemas.openxmlformats.org/officeDocument/2006/relationships/tags" Target="../tags/tag758.xml"/><Relationship Id="rId9" Type="http://schemas.openxmlformats.org/officeDocument/2006/relationships/tags" Target="../tags/tag763.xml"/></Relationships>
</file>

<file path=ppt/slideLayouts/_rels/slideLayout126.xml.rels><?xml version="1.0" encoding="UTF-8" standalone="yes"?>
<Relationships xmlns="http://schemas.openxmlformats.org/package/2006/relationships"><Relationship Id="rId3" Type="http://schemas.openxmlformats.org/officeDocument/2006/relationships/tags" Target="../tags/tag766.xml"/><Relationship Id="rId7" Type="http://schemas.openxmlformats.org/officeDocument/2006/relationships/slideMaster" Target="../slideMasters/slideMaster7.xml"/><Relationship Id="rId2" Type="http://schemas.openxmlformats.org/officeDocument/2006/relationships/tags" Target="../tags/tag765.xml"/><Relationship Id="rId1" Type="http://schemas.openxmlformats.org/officeDocument/2006/relationships/tags" Target="../tags/tag764.xml"/><Relationship Id="rId6" Type="http://schemas.openxmlformats.org/officeDocument/2006/relationships/tags" Target="../tags/tag769.xml"/><Relationship Id="rId5" Type="http://schemas.openxmlformats.org/officeDocument/2006/relationships/tags" Target="../tags/tag768.xml"/><Relationship Id="rId4" Type="http://schemas.openxmlformats.org/officeDocument/2006/relationships/tags" Target="../tags/tag76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6802" name="Rectangle 2"/>
          <p:cNvSpPr>
            <a:spLocks noGrp="1" noRot="1" noChangeArrowheads="1"/>
          </p:cNvSpPr>
          <p:nvPr>
            <p:ph type="ctrTitle"/>
          </p:nvPr>
        </p:nvSpPr>
        <p:spPr>
          <a:xfrm>
            <a:off x="685800" y="2286000"/>
            <a:ext cx="7772400" cy="1143000"/>
          </a:xfrm>
        </p:spPr>
        <p:txBody>
          <a:bodyPr/>
          <a:lstStyle>
            <a:lvl1pPr>
              <a:defRPr/>
            </a:lvl1pPr>
          </a:lstStyle>
          <a:p>
            <a:pPr fontAlgn="base"/>
            <a:r>
              <a:rPr lang="zh-CN" altLang="en-US" strike="noStrike" noProof="1"/>
              <a:t>单击此处编辑母版标题样式</a:t>
            </a:r>
          </a:p>
        </p:txBody>
      </p:sp>
      <p:sp>
        <p:nvSpPr>
          <p:cNvPr id="76803"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p>
        </p:txBody>
      </p:sp>
      <p:sp>
        <p:nvSpPr>
          <p:cNvPr id="8"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9DB2536-54CA-4740-A216-5297BDFEE5F2}"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01625" y="1752600"/>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752600"/>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381000"/>
            <a:ext cx="2135187" cy="564197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01625" y="381000"/>
            <a:ext cx="6253163" cy="564197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01625" y="1752600"/>
            <a:ext cx="4194175" cy="42703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752600"/>
            <a:ext cx="4194175" cy="42703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1182688" y="2017713"/>
            <a:ext cx="77724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1182688" y="4151313"/>
            <a:ext cx="77724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8" name="日期占位符 4"/>
          <p:cNvSpPr>
            <a:spLocks noGrp="1"/>
          </p:cNvSpPr>
          <p:nvPr>
            <p:ph type="dt" sz="half" idx="1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灯片编号占位符 6"/>
          <p:cNvSpPr>
            <a:spLocks noGrp="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08C8ECD-CA08-4A4D-9B56-E2A9617853FA}"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solidFill>
                <a:schemeClr val="lt1"/>
              </a:solidFill>
              <a:highlight>
                <a:srgbClr val="1171F1"/>
              </a:highlight>
            </a:endParaRPr>
          </a:p>
        </p:txBody>
      </p:sp>
      <p:sp>
        <p:nvSpPr>
          <p:cNvPr id="8" name="任意形状 8"/>
          <p:cNvSpPr/>
          <p:nvPr userDrawn="1">
            <p:custDataLst>
              <p:tags r:id="rId2"/>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1" name="矩形 10"/>
          <p:cNvSpPr/>
          <p:nvPr userDrawn="1">
            <p:custDataLst>
              <p:tags r:id="rId5"/>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2" name="矩形 11"/>
          <p:cNvSpPr/>
          <p:nvPr userDrawn="1">
            <p:custDataLst>
              <p:tags r:id="rId6"/>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3" name="矩形 12"/>
          <p:cNvSpPr/>
          <p:nvPr userDrawn="1">
            <p:custDataLst>
              <p:tags r:id="rId7"/>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6" name="日期占位符 15"/>
          <p:cNvSpPr>
            <a:spLocks noGrp="1"/>
          </p:cNvSpPr>
          <p:nvPr>
            <p:ph type="dt" sz="half" idx="10"/>
            <p:custDataLst>
              <p:tags r:id="rId8"/>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17" name="页脚占位符 16"/>
          <p:cNvSpPr>
            <a:spLocks noGrp="1"/>
          </p:cNvSpPr>
          <p:nvPr>
            <p:ph type="ftr" sz="quarter" idx="11"/>
            <p:custDataLst>
              <p:tags r:id="rId9"/>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2"/>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8" name="页脚占位符 7"/>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9EFD9D74-47D9-4702-A33C-335B63B48DBF}" type="datetimeFigureOut">
              <a:rPr lang="zh-CN" altLang="en-US" smtClean="0"/>
              <a:t>2022/10/31</a:t>
            </a:fld>
            <a:endParaRPr lang="zh-CN" altLang="en-US" dirty="0"/>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2"/>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3"/>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4"/>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3"/>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2"/>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3"/>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4"/>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2"/>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2"/>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2"/>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2"/>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2"/>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5"/>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6"/>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7"/>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8"/>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17" name="页脚占位符 16"/>
          <p:cNvSpPr>
            <a:spLocks noGrp="1"/>
          </p:cNvSpPr>
          <p:nvPr>
            <p:ph type="ftr" sz="quarter" idx="11"/>
            <p:custDataLst>
              <p:tags r:id="rId9"/>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285" y="498475"/>
            <a:ext cx="8139430" cy="857885"/>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40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2"/>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8" name="页脚占位符 7"/>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9EFD9D74-47D9-4702-A33C-335B63B48DBF}" type="datetimeFigureOut">
              <a:rPr lang="zh-CN" altLang="en-US" smtClean="0"/>
              <a:t>2022/10/31</a:t>
            </a:fld>
            <a:endParaRPr lang="zh-CN" altLang="en-US" dirty="0"/>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2"/>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3"/>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4"/>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3"/>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2"/>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3"/>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4"/>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2"/>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2"/>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2"/>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2"/>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2"/>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5"/>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6"/>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7"/>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8"/>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17" name="页脚占位符 16"/>
          <p:cNvSpPr>
            <a:spLocks noGrp="1"/>
          </p:cNvSpPr>
          <p:nvPr>
            <p:ph type="ftr" sz="quarter" idx="11"/>
            <p:custDataLst>
              <p:tags r:id="rId9"/>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2"/>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8" name="页脚占位符 7"/>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9EFD9D74-47D9-4702-A33C-335B63B48DBF}" type="datetimeFigureOut">
              <a:rPr lang="zh-CN" altLang="en-US" smtClean="0"/>
              <a:t>2022/10/31</a:t>
            </a:fld>
            <a:endParaRPr lang="zh-CN" altLang="en-US" dirty="0"/>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2"/>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3"/>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4"/>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3"/>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2"/>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3"/>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4"/>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2"/>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2"/>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2"/>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2"/>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2"/>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5"/>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6"/>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7"/>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8"/>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17" name="页脚占位符 16"/>
          <p:cNvSpPr>
            <a:spLocks noGrp="1"/>
          </p:cNvSpPr>
          <p:nvPr>
            <p:ph type="ftr" sz="quarter" idx="11"/>
            <p:custDataLst>
              <p:tags r:id="rId9"/>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2"/>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8" name="页脚占位符 7"/>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9EFD9D74-47D9-4702-A33C-335B63B48DBF}" type="datetimeFigureOut">
              <a:rPr lang="zh-CN" altLang="en-US" smtClean="0"/>
              <a:t>2022/10/31</a:t>
            </a:fld>
            <a:endParaRPr lang="zh-CN" altLang="en-US" dirty="0"/>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2"/>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3"/>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4"/>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3"/>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2"/>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3"/>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4"/>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2"/>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2"/>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2"/>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2"/>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2"/>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5"/>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6"/>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7"/>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8"/>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17" name="页脚占位符 16"/>
          <p:cNvSpPr>
            <a:spLocks noGrp="1"/>
          </p:cNvSpPr>
          <p:nvPr>
            <p:ph type="ftr" sz="quarter" idx="11"/>
            <p:custDataLst>
              <p:tags r:id="rId9"/>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2"/>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8" name="页脚占位符 7"/>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9EFD9D74-47D9-4702-A33C-335B63B48DBF}" type="datetimeFigureOut">
              <a:rPr lang="zh-CN" altLang="en-US" smtClean="0"/>
              <a:t>2022/10/31</a:t>
            </a:fld>
            <a:endParaRPr lang="zh-CN" altLang="en-US" dirty="0"/>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2"/>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3"/>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4"/>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3"/>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2"/>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3"/>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4"/>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2"/>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2"/>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2"/>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2"/>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2"/>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5"/>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6"/>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7"/>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8"/>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17" name="页脚占位符 16"/>
          <p:cNvSpPr>
            <a:spLocks noGrp="1"/>
          </p:cNvSpPr>
          <p:nvPr>
            <p:ph type="ftr" sz="quarter" idx="11"/>
            <p:custDataLst>
              <p:tags r:id="rId9"/>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2"/>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8" name="页脚占位符 7"/>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659807" y="6389433"/>
            <a:ext cx="2025000" cy="237600"/>
          </a:xfrm>
        </p:spPr>
        <p:txBody>
          <a:bodyPr/>
          <a:lstStyle/>
          <a:p>
            <a:fld id="{9EFD9D74-47D9-4702-A33C-335B63B48DBF}" type="datetimeFigureOut">
              <a:rPr lang="zh-CN" altLang="en-US" smtClean="0"/>
              <a:t>2022/10/31</a:t>
            </a:fld>
            <a:endParaRPr lang="zh-CN" altLang="en-US" dirty="0"/>
          </a:p>
        </p:txBody>
      </p:sp>
      <p:sp>
        <p:nvSpPr>
          <p:cNvPr id="6" name="页脚占位符 5"/>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389433"/>
            <a:ext cx="2025000" cy="2376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2"/>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389433"/>
            <a:ext cx="2025000" cy="2376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2"/>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3"/>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4"/>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3"/>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2"/>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3"/>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4"/>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2"/>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2"/>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2"/>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2"/>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t>2022/10/31</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ags" Target="../tags/tag7.xml"/><Relationship Id="rId3" Type="http://schemas.openxmlformats.org/officeDocument/2006/relationships/slideLayout" Target="../slideLayouts/slideLayout16.xml"/><Relationship Id="rId21" Type="http://schemas.openxmlformats.org/officeDocument/2006/relationships/tags" Target="../tags/tag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tags" Target="../tags/tag6.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ags" Target="../tags/tag5.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ags" Target="../tags/tag4.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tags" Target="../tags/tag135.xml"/><Relationship Id="rId3" Type="http://schemas.openxmlformats.org/officeDocument/2006/relationships/slideLayout" Target="../slideLayouts/slideLayout35.xml"/><Relationship Id="rId21" Type="http://schemas.openxmlformats.org/officeDocument/2006/relationships/tags" Target="../tags/tag130.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tags" Target="../tags/tag134.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theme" Target="../theme/theme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tags" Target="../tags/tag13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tags" Target="../tags/tag132.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tags" Target="../tags/tag1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tags" Target="../tags/tag263.xml"/><Relationship Id="rId3" Type="http://schemas.openxmlformats.org/officeDocument/2006/relationships/slideLayout" Target="../slideLayouts/slideLayout54.xml"/><Relationship Id="rId21" Type="http://schemas.openxmlformats.org/officeDocument/2006/relationships/tags" Target="../tags/tag258.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tags" Target="../tags/tag262.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theme" Target="../theme/theme4.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24" Type="http://schemas.openxmlformats.org/officeDocument/2006/relationships/tags" Target="../tags/tag261.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tags" Target="../tags/tag260.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tags" Target="../tags/tag2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18" Type="http://schemas.openxmlformats.org/officeDocument/2006/relationships/slideLayout" Target="../slideLayouts/slideLayout88.xml"/><Relationship Id="rId26" Type="http://schemas.openxmlformats.org/officeDocument/2006/relationships/tags" Target="../tags/tag391.xml"/><Relationship Id="rId3" Type="http://schemas.openxmlformats.org/officeDocument/2006/relationships/slideLayout" Target="../slideLayouts/slideLayout73.xml"/><Relationship Id="rId21" Type="http://schemas.openxmlformats.org/officeDocument/2006/relationships/tags" Target="../tags/tag386.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5" Type="http://schemas.openxmlformats.org/officeDocument/2006/relationships/tags" Target="../tags/tag390.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20" Type="http://schemas.openxmlformats.org/officeDocument/2006/relationships/theme" Target="../theme/theme5.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24" Type="http://schemas.openxmlformats.org/officeDocument/2006/relationships/tags" Target="../tags/tag389.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23" Type="http://schemas.openxmlformats.org/officeDocument/2006/relationships/tags" Target="../tags/tag388.xml"/><Relationship Id="rId10" Type="http://schemas.openxmlformats.org/officeDocument/2006/relationships/slideLayout" Target="../slideLayouts/slideLayout80.xml"/><Relationship Id="rId19" Type="http://schemas.openxmlformats.org/officeDocument/2006/relationships/slideLayout" Target="../slideLayouts/slideLayout89.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 Id="rId22" Type="http://schemas.openxmlformats.org/officeDocument/2006/relationships/tags" Target="../tags/tag38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26" Type="http://schemas.openxmlformats.org/officeDocument/2006/relationships/tags" Target="../tags/tag519.xml"/><Relationship Id="rId3" Type="http://schemas.openxmlformats.org/officeDocument/2006/relationships/slideLayout" Target="../slideLayouts/slideLayout92.xml"/><Relationship Id="rId21" Type="http://schemas.openxmlformats.org/officeDocument/2006/relationships/tags" Target="../tags/tag514.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5" Type="http://schemas.openxmlformats.org/officeDocument/2006/relationships/tags" Target="../tags/tag518.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6.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24" Type="http://schemas.openxmlformats.org/officeDocument/2006/relationships/tags" Target="../tags/tag517.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23" Type="http://schemas.openxmlformats.org/officeDocument/2006/relationships/tags" Target="../tags/tag516.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 Id="rId22" Type="http://schemas.openxmlformats.org/officeDocument/2006/relationships/tags" Target="../tags/tag51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slideLayout" Target="../slideLayouts/slideLayout121.xml"/><Relationship Id="rId18" Type="http://schemas.openxmlformats.org/officeDocument/2006/relationships/slideLayout" Target="../slideLayouts/slideLayout126.xml"/><Relationship Id="rId3" Type="http://schemas.openxmlformats.org/officeDocument/2006/relationships/slideLayout" Target="../slideLayouts/slideLayout111.xml"/><Relationship Id="rId21" Type="http://schemas.openxmlformats.org/officeDocument/2006/relationships/tags" Target="../tags/tag643.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5" Type="http://schemas.openxmlformats.org/officeDocument/2006/relationships/tags" Target="../tags/tag647.xml"/><Relationship Id="rId2" Type="http://schemas.openxmlformats.org/officeDocument/2006/relationships/slideLayout" Target="../slideLayouts/slideLayout110.xml"/><Relationship Id="rId16" Type="http://schemas.openxmlformats.org/officeDocument/2006/relationships/slideLayout" Target="../slideLayouts/slideLayout124.xml"/><Relationship Id="rId20" Type="http://schemas.openxmlformats.org/officeDocument/2006/relationships/tags" Target="../tags/tag642.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24" Type="http://schemas.openxmlformats.org/officeDocument/2006/relationships/tags" Target="../tags/tag646.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23" Type="http://schemas.openxmlformats.org/officeDocument/2006/relationships/tags" Target="../tags/tag645.xml"/><Relationship Id="rId10" Type="http://schemas.openxmlformats.org/officeDocument/2006/relationships/slideLayout" Target="../slideLayouts/slideLayout118.xml"/><Relationship Id="rId19" Type="http://schemas.openxmlformats.org/officeDocument/2006/relationships/theme" Target="../theme/theme7.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 Id="rId22" Type="http://schemas.openxmlformats.org/officeDocument/2006/relationships/tags" Target="../tags/tag6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3810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noRot="1"/>
          </p:cNvSpPr>
          <p:nvPr>
            <p:ph type="body"/>
          </p:nvPr>
        </p:nvSpPr>
        <p:spPr>
          <a:xfrm>
            <a:off x="301625" y="1752600"/>
            <a:ext cx="8540750" cy="4270375"/>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75780" name="Rectangle 4"/>
          <p:cNvSpPr>
            <a:spLocks noGrp="1" noChangeArrowheads="1"/>
          </p:cNvSpPr>
          <p:nvPr>
            <p:ph type="dt" sz="half" idx="2"/>
          </p:nvPr>
        </p:nvSpPr>
        <p:spPr bwMode="auto">
          <a:xfrm>
            <a:off x="301625" y="61722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Rectangle 5"/>
          <p:cNvSpPr>
            <a:spLocks noGrp="1" noChangeArrowheads="1"/>
          </p:cNvSpPr>
          <p:nvPr>
            <p:ph type="ftr" sz="quarter" idx="3"/>
          </p:nvPr>
        </p:nvSpPr>
        <p:spPr bwMode="auto">
          <a:xfrm>
            <a:off x="3124200" y="61722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2" name="Rectangle 6"/>
          <p:cNvSpPr>
            <a:spLocks noGrp="1" noChangeArrowheads="1"/>
          </p:cNvSpPr>
          <p:nvPr>
            <p:ph type="sldNum" sz="quarter" idx="4"/>
          </p:nvPr>
        </p:nvSpPr>
        <p:spPr bwMode="auto">
          <a:xfrm>
            <a:off x="6553200" y="61722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1EB9C7E6-7E1C-482F-A3BB-D8EE884B8C33}"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Line 7"/>
          <p:cNvSpPr/>
          <p:nvPr userDrawn="1"/>
        </p:nvSpPr>
        <p:spPr>
          <a:xfrm>
            <a:off x="304800" y="1371600"/>
            <a:ext cx="8534400" cy="0"/>
          </a:xfrm>
          <a:prstGeom prst="line">
            <a:avLst/>
          </a:prstGeom>
          <a:ln w="38100" cap="flat" cmpd="sng">
            <a:solidFill>
              <a:srgbClr val="FF0000"/>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 id="2147483760" r:id="rId18"/>
    <p:sldLayoutId id="2147483761" r:id="rId19"/>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2022/10/31</a:t>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80" r:id="rId18"/>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772.xml"/><Relationship Id="rId2" Type="http://schemas.openxmlformats.org/officeDocument/2006/relationships/tags" Target="../tags/tag771.xml"/><Relationship Id="rId1" Type="http://schemas.openxmlformats.org/officeDocument/2006/relationships/tags" Target="../tags/tag770.xml"/><Relationship Id="rId5" Type="http://schemas.openxmlformats.org/officeDocument/2006/relationships/notesSlide" Target="../notesSlides/notesSlide1.xml"/><Relationship Id="rId4"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77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775.xml"/><Relationship Id="rId1" Type="http://schemas.openxmlformats.org/officeDocument/2006/relationships/tags" Target="../tags/tag77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776.xml"/><Relationship Id="rId4" Type="http://schemas.openxmlformats.org/officeDocument/2006/relationships/image" Target="../media/image3.bin"/></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0.xml"/><Relationship Id="rId1" Type="http://schemas.openxmlformats.org/officeDocument/2006/relationships/tags" Target="../tags/tag77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778.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39.xml"/><Relationship Id="rId1" Type="http://schemas.openxmlformats.org/officeDocument/2006/relationships/tags" Target="../tags/tag77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4.xml"/><Relationship Id="rId1" Type="http://schemas.openxmlformats.org/officeDocument/2006/relationships/tags" Target="../tags/tag780.xml"/><Relationship Id="rId5" Type="http://schemas.openxmlformats.org/officeDocument/2006/relationships/image" Target="../media/image7.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78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7.xml"/><Relationship Id="rId7" Type="http://schemas.openxmlformats.org/officeDocument/2006/relationships/image" Target="../media/image12.svg"/><Relationship Id="rId2" Type="http://schemas.openxmlformats.org/officeDocument/2006/relationships/slideLayout" Target="../slideLayouts/slideLayout15.xml"/><Relationship Id="rId1" Type="http://schemas.openxmlformats.org/officeDocument/2006/relationships/tags" Target="../tags/tag78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78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785.xml"/><Relationship Id="rId1" Type="http://schemas.openxmlformats.org/officeDocument/2006/relationships/tags" Target="../tags/tag784.xml"/><Relationship Id="rId4" Type="http://schemas.openxmlformats.org/officeDocument/2006/relationships/image" Target="../media/image15.GIF"/></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4.xml"/><Relationship Id="rId1" Type="http://schemas.openxmlformats.org/officeDocument/2006/relationships/tags" Target="../tags/tag78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4.xml"/><Relationship Id="rId1" Type="http://schemas.openxmlformats.org/officeDocument/2006/relationships/tags" Target="../tags/tag787.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slideLayout" Target="../slideLayouts/slideLayout34.xml"/><Relationship Id="rId7" Type="http://schemas.openxmlformats.org/officeDocument/2006/relationships/image" Target="../media/image20.png"/><Relationship Id="rId2" Type="http://schemas.openxmlformats.org/officeDocument/2006/relationships/tags" Target="../tags/tag789.xml"/><Relationship Id="rId1" Type="http://schemas.openxmlformats.org/officeDocument/2006/relationships/tags" Target="../tags/tag788.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8" Type="http://schemas.openxmlformats.org/officeDocument/2006/relationships/tags" Target="../tags/tag797.xml"/><Relationship Id="rId13" Type="http://schemas.openxmlformats.org/officeDocument/2006/relationships/tags" Target="../tags/tag802.xml"/><Relationship Id="rId3" Type="http://schemas.openxmlformats.org/officeDocument/2006/relationships/tags" Target="../tags/tag792.xml"/><Relationship Id="rId7" Type="http://schemas.openxmlformats.org/officeDocument/2006/relationships/tags" Target="../tags/tag796.xml"/><Relationship Id="rId12" Type="http://schemas.openxmlformats.org/officeDocument/2006/relationships/tags" Target="../tags/tag801.xml"/><Relationship Id="rId2" Type="http://schemas.openxmlformats.org/officeDocument/2006/relationships/tags" Target="../tags/tag791.xml"/><Relationship Id="rId1" Type="http://schemas.openxmlformats.org/officeDocument/2006/relationships/tags" Target="../tags/tag790.xml"/><Relationship Id="rId6" Type="http://schemas.openxmlformats.org/officeDocument/2006/relationships/tags" Target="../tags/tag795.xml"/><Relationship Id="rId11" Type="http://schemas.openxmlformats.org/officeDocument/2006/relationships/tags" Target="../tags/tag800.xml"/><Relationship Id="rId5" Type="http://schemas.openxmlformats.org/officeDocument/2006/relationships/tags" Target="../tags/tag794.xml"/><Relationship Id="rId15" Type="http://schemas.openxmlformats.org/officeDocument/2006/relationships/notesSlide" Target="../notesSlides/notesSlide11.xml"/><Relationship Id="rId10" Type="http://schemas.openxmlformats.org/officeDocument/2006/relationships/tags" Target="../tags/tag799.xml"/><Relationship Id="rId4" Type="http://schemas.openxmlformats.org/officeDocument/2006/relationships/tags" Target="../tags/tag793.xml"/><Relationship Id="rId9" Type="http://schemas.openxmlformats.org/officeDocument/2006/relationships/tags" Target="../tags/tag798.xml"/><Relationship Id="rId14"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804.xml"/><Relationship Id="rId1" Type="http://schemas.openxmlformats.org/officeDocument/2006/relationships/tags" Target="../tags/tag803.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806.xml"/><Relationship Id="rId1" Type="http://schemas.openxmlformats.org/officeDocument/2006/relationships/tags" Target="../tags/tag805.xml"/><Relationship Id="rId5" Type="http://schemas.openxmlformats.org/officeDocument/2006/relationships/image" Target="../media/image23.png"/><Relationship Id="rId4"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3" Type="http://schemas.openxmlformats.org/officeDocument/2006/relationships/tags" Target="../tags/tag809.xml"/><Relationship Id="rId2" Type="http://schemas.openxmlformats.org/officeDocument/2006/relationships/tags" Target="../tags/tag808.xml"/><Relationship Id="rId1" Type="http://schemas.openxmlformats.org/officeDocument/2006/relationships/tags" Target="../tags/tag807.xml"/><Relationship Id="rId6" Type="http://schemas.openxmlformats.org/officeDocument/2006/relationships/image" Target="../media/image15.GIF"/><Relationship Id="rId5" Type="http://schemas.openxmlformats.org/officeDocument/2006/relationships/image" Target="../media/image24.GIF"/><Relationship Id="rId4"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5.GIF"/><Relationship Id="rId2" Type="http://schemas.openxmlformats.org/officeDocument/2006/relationships/tags" Target="../tags/tag811.xml"/><Relationship Id="rId1" Type="http://schemas.openxmlformats.org/officeDocument/2006/relationships/tags" Target="../tags/tag81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4.xml"/><Relationship Id="rId1" Type="http://schemas.openxmlformats.org/officeDocument/2006/relationships/tags" Target="../tags/tag81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34.xml"/><Relationship Id="rId1" Type="http://schemas.openxmlformats.org/officeDocument/2006/relationships/tags" Target="../tags/tag8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4.xml"/><Relationship Id="rId1" Type="http://schemas.openxmlformats.org/officeDocument/2006/relationships/tags" Target="../tags/tag814.xml"/><Relationship Id="rId4" Type="http://schemas.openxmlformats.org/officeDocument/2006/relationships/image" Target="../media/image30.jpeg"/></Relationships>
</file>

<file path=ppt/slides/_rels/slide24.xml.rels><?xml version="1.0" encoding="UTF-8" standalone="yes"?>
<Relationships xmlns="http://schemas.openxmlformats.org/package/2006/relationships"><Relationship Id="rId3" Type="http://schemas.openxmlformats.org/officeDocument/2006/relationships/tags" Target="../tags/tag816.xml"/><Relationship Id="rId7" Type="http://schemas.openxmlformats.org/officeDocument/2006/relationships/image" Target="../media/image31.wmf"/><Relationship Id="rId2" Type="http://schemas.openxmlformats.org/officeDocument/2006/relationships/tags" Target="../tags/tag815.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notesSlide" Target="../notesSlides/notesSlide15.xml"/><Relationship Id="rId4"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4.xml"/><Relationship Id="rId1" Type="http://schemas.openxmlformats.org/officeDocument/2006/relationships/tags" Target="../tags/tag817.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58.xml"/><Relationship Id="rId1" Type="http://schemas.openxmlformats.org/officeDocument/2006/relationships/tags" Target="../tags/tag818.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58.xml"/><Relationship Id="rId1" Type="http://schemas.openxmlformats.org/officeDocument/2006/relationships/tags" Target="../tags/tag81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8.xml"/><Relationship Id="rId1" Type="http://schemas.openxmlformats.org/officeDocument/2006/relationships/tags" Target="../tags/tag820.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823.xml"/><Relationship Id="rId7" Type="http://schemas.openxmlformats.org/officeDocument/2006/relationships/notesSlide" Target="../notesSlides/notesSlide18.xml"/><Relationship Id="rId2" Type="http://schemas.openxmlformats.org/officeDocument/2006/relationships/tags" Target="../tags/tag822.xml"/><Relationship Id="rId1" Type="http://schemas.openxmlformats.org/officeDocument/2006/relationships/tags" Target="../tags/tag821.xml"/><Relationship Id="rId6" Type="http://schemas.openxmlformats.org/officeDocument/2006/relationships/slideLayout" Target="../slideLayouts/slideLayout58.xml"/><Relationship Id="rId5" Type="http://schemas.openxmlformats.org/officeDocument/2006/relationships/tags" Target="../tags/tag825.xml"/><Relationship Id="rId4" Type="http://schemas.openxmlformats.org/officeDocument/2006/relationships/tags" Target="../tags/tag824.xml"/><Relationship Id="rId9"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827.xml"/><Relationship Id="rId1" Type="http://schemas.openxmlformats.org/officeDocument/2006/relationships/tags" Target="../tags/tag826.xml"/><Relationship Id="rId5" Type="http://schemas.openxmlformats.org/officeDocument/2006/relationships/image" Target="../media/image36.png"/><Relationship Id="rId4"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8.xml"/><Relationship Id="rId1" Type="http://schemas.openxmlformats.org/officeDocument/2006/relationships/tags" Target="../tags/tag828.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831.xml"/><Relationship Id="rId7" Type="http://schemas.openxmlformats.org/officeDocument/2006/relationships/slideLayout" Target="../slideLayouts/slideLayout58.xml"/><Relationship Id="rId2" Type="http://schemas.openxmlformats.org/officeDocument/2006/relationships/tags" Target="../tags/tag830.xml"/><Relationship Id="rId1" Type="http://schemas.openxmlformats.org/officeDocument/2006/relationships/tags" Target="../tags/tag829.xml"/><Relationship Id="rId6" Type="http://schemas.openxmlformats.org/officeDocument/2006/relationships/tags" Target="../tags/tag834.xml"/><Relationship Id="rId5" Type="http://schemas.openxmlformats.org/officeDocument/2006/relationships/tags" Target="../tags/tag833.xml"/><Relationship Id="rId10" Type="http://schemas.openxmlformats.org/officeDocument/2006/relationships/image" Target="../media/image40.svg"/><Relationship Id="rId4" Type="http://schemas.openxmlformats.org/officeDocument/2006/relationships/tags" Target="../tags/tag832.xml"/><Relationship Id="rId9"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8.xml"/><Relationship Id="rId1" Type="http://schemas.openxmlformats.org/officeDocument/2006/relationships/tags" Target="../tags/tag835.xml"/><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58.xml"/><Relationship Id="rId1" Type="http://schemas.openxmlformats.org/officeDocument/2006/relationships/tags" Target="../tags/tag836.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58.xml"/><Relationship Id="rId1" Type="http://schemas.openxmlformats.org/officeDocument/2006/relationships/tags" Target="../tags/tag837.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58.xml"/><Relationship Id="rId1" Type="http://schemas.openxmlformats.org/officeDocument/2006/relationships/tags" Target="../tags/tag838.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58.xml"/><Relationship Id="rId1" Type="http://schemas.openxmlformats.org/officeDocument/2006/relationships/tags" Target="../tags/tag839.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8.xml"/><Relationship Id="rId1" Type="http://schemas.openxmlformats.org/officeDocument/2006/relationships/tags" Target="../tags/tag840.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8.xml"/><Relationship Id="rId1" Type="http://schemas.openxmlformats.org/officeDocument/2006/relationships/tags" Target="../tags/tag841.xml"/><Relationship Id="rId4" Type="http://schemas.openxmlformats.org/officeDocument/2006/relationships/image" Target="../media/image48.jpeg"/></Relationships>
</file>

<file path=ppt/slides/_rels/slide40.xml.rels><?xml version="1.0" encoding="UTF-8" standalone="yes"?>
<Relationships xmlns="http://schemas.openxmlformats.org/package/2006/relationships"><Relationship Id="rId3" Type="http://schemas.openxmlformats.org/officeDocument/2006/relationships/tags" Target="../tags/tag844.xml"/><Relationship Id="rId2" Type="http://schemas.openxmlformats.org/officeDocument/2006/relationships/tags" Target="../tags/tag843.xml"/><Relationship Id="rId1" Type="http://schemas.openxmlformats.org/officeDocument/2006/relationships/tags" Target="../tags/tag842.xml"/><Relationship Id="rId6" Type="http://schemas.openxmlformats.org/officeDocument/2006/relationships/image" Target="../media/image49.png"/><Relationship Id="rId5" Type="http://schemas.openxmlformats.org/officeDocument/2006/relationships/slideLayout" Target="../slideLayouts/slideLayout58.xml"/><Relationship Id="rId4" Type="http://schemas.openxmlformats.org/officeDocument/2006/relationships/tags" Target="../tags/tag845.xml"/></Relationships>
</file>

<file path=ppt/slides/_rels/slide41.xml.rels><?xml version="1.0" encoding="UTF-8" standalone="yes"?>
<Relationships xmlns="http://schemas.openxmlformats.org/package/2006/relationships"><Relationship Id="rId3" Type="http://schemas.openxmlformats.org/officeDocument/2006/relationships/tags" Target="../tags/tag848.xml"/><Relationship Id="rId7" Type="http://schemas.openxmlformats.org/officeDocument/2006/relationships/image" Target="../media/image51.png"/><Relationship Id="rId2" Type="http://schemas.openxmlformats.org/officeDocument/2006/relationships/tags" Target="../tags/tag847.xml"/><Relationship Id="rId1" Type="http://schemas.openxmlformats.org/officeDocument/2006/relationships/tags" Target="../tags/tag84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slideLayout" Target="../slideLayouts/slideLayout58.xml"/></Relationships>
</file>

<file path=ppt/slides/_rels/slide42.xml.rels><?xml version="1.0" encoding="UTF-8" standalone="yes"?>
<Relationships xmlns="http://schemas.openxmlformats.org/package/2006/relationships"><Relationship Id="rId3" Type="http://schemas.openxmlformats.org/officeDocument/2006/relationships/tags" Target="../tags/tag851.xml"/><Relationship Id="rId7" Type="http://schemas.openxmlformats.org/officeDocument/2006/relationships/image" Target="../media/image51.png"/><Relationship Id="rId2" Type="http://schemas.openxmlformats.org/officeDocument/2006/relationships/tags" Target="../tags/tag850.xml"/><Relationship Id="rId1" Type="http://schemas.openxmlformats.org/officeDocument/2006/relationships/tags" Target="../tags/tag849.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slideLayout" Target="../slideLayouts/slideLayout58.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58.xml"/><Relationship Id="rId1" Type="http://schemas.openxmlformats.org/officeDocument/2006/relationships/tags" Target="../tags/tag852.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58.xml"/><Relationship Id="rId1" Type="http://schemas.openxmlformats.org/officeDocument/2006/relationships/tags" Target="../tags/tag853.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855.xml"/><Relationship Id="rId1" Type="http://schemas.openxmlformats.org/officeDocument/2006/relationships/tags" Target="../tags/tag854.xml"/><Relationship Id="rId5" Type="http://schemas.openxmlformats.org/officeDocument/2006/relationships/image" Target="../media/image54.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857.xml"/><Relationship Id="rId1" Type="http://schemas.openxmlformats.org/officeDocument/2006/relationships/tags" Target="../tags/tag856.xml"/><Relationship Id="rId5" Type="http://schemas.openxmlformats.org/officeDocument/2006/relationships/image" Target="../media/image56.pn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58.xml"/><Relationship Id="rId1" Type="http://schemas.openxmlformats.org/officeDocument/2006/relationships/tags" Target="../tags/tag858.xml"/><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58.xml"/><Relationship Id="rId7" Type="http://schemas.openxmlformats.org/officeDocument/2006/relationships/image" Target="../media/image60.png"/><Relationship Id="rId2" Type="http://schemas.openxmlformats.org/officeDocument/2006/relationships/tags" Target="../tags/tag860.xml"/><Relationship Id="rId1" Type="http://schemas.openxmlformats.org/officeDocument/2006/relationships/tags" Target="../tags/tag859.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8.xml"/><Relationship Id="rId1" Type="http://schemas.openxmlformats.org/officeDocument/2006/relationships/tags" Target="../tags/tag86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5.xml"/><Relationship Id="rId1" Type="http://schemas.openxmlformats.org/officeDocument/2006/relationships/tags" Target="../tags/tag86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0.xml"/><Relationship Id="rId1" Type="http://schemas.openxmlformats.org/officeDocument/2006/relationships/tags" Target="../tags/tag863.xml"/><Relationship Id="rId6" Type="http://schemas.openxmlformats.org/officeDocument/2006/relationships/image" Target="../media/image66.GIF"/><Relationship Id="rId5" Type="http://schemas.openxmlformats.org/officeDocument/2006/relationships/image" Target="../media/image65.GIF"/><Relationship Id="rId4" Type="http://schemas.openxmlformats.org/officeDocument/2006/relationships/image" Target="../media/image64.GI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0.xml"/><Relationship Id="rId1" Type="http://schemas.openxmlformats.org/officeDocument/2006/relationships/tags" Target="../tags/tag864.xml"/><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0.xml"/><Relationship Id="rId1" Type="http://schemas.openxmlformats.org/officeDocument/2006/relationships/tags" Target="../tags/tag865.xml"/><Relationship Id="rId4" Type="http://schemas.openxmlformats.org/officeDocument/2006/relationships/image" Target="../media/image67.png"/></Relationships>
</file>

<file path=ppt/slides/_rels/slide54.xml.rels><?xml version="1.0" encoding="UTF-8" standalone="yes"?>
<Relationships xmlns="http://schemas.openxmlformats.org/package/2006/relationships"><Relationship Id="rId3" Type="http://schemas.openxmlformats.org/officeDocument/2006/relationships/image" Target="../media/image68.bmp"/><Relationship Id="rId2" Type="http://schemas.openxmlformats.org/officeDocument/2006/relationships/slideLayout" Target="../slideLayouts/slideLayout20.xml"/><Relationship Id="rId1" Type="http://schemas.openxmlformats.org/officeDocument/2006/relationships/tags" Target="../tags/tag866.xml"/></Relationships>
</file>

<file path=ppt/slides/_rels/slide5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20.xml"/><Relationship Id="rId1" Type="http://schemas.openxmlformats.org/officeDocument/2006/relationships/tags" Target="../tags/tag867.xml"/></Relationships>
</file>

<file path=ppt/slides/_rels/slide5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20.xml"/><Relationship Id="rId1" Type="http://schemas.openxmlformats.org/officeDocument/2006/relationships/tags" Target="../tags/tag868.xml"/></Relationships>
</file>

<file path=ppt/slides/_rels/slide5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20.xml"/><Relationship Id="rId1" Type="http://schemas.openxmlformats.org/officeDocument/2006/relationships/tags" Target="../tags/tag869.xm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20.xml"/><Relationship Id="rId1" Type="http://schemas.openxmlformats.org/officeDocument/2006/relationships/tags" Target="../tags/tag870.xml"/></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slideLayout" Target="../slideLayouts/slideLayout20.xml"/><Relationship Id="rId1" Type="http://schemas.openxmlformats.org/officeDocument/2006/relationships/tags" Target="../tags/tag871.xml"/></Relationships>
</file>

<file path=ppt/slides/_rels/slide60.xml.rels><?xml version="1.0" encoding="UTF-8" standalone="yes"?>
<Relationships xmlns="http://schemas.openxmlformats.org/package/2006/relationships"><Relationship Id="rId3" Type="http://schemas.openxmlformats.org/officeDocument/2006/relationships/image" Target="../media/image74.bmp"/><Relationship Id="rId2" Type="http://schemas.openxmlformats.org/officeDocument/2006/relationships/slideLayout" Target="../slideLayouts/slideLayout20.xml"/><Relationship Id="rId1" Type="http://schemas.openxmlformats.org/officeDocument/2006/relationships/tags" Target="../tags/tag872.xml"/></Relationships>
</file>

<file path=ppt/slides/_rels/slide6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Layout" Target="../slideLayouts/slideLayout20.xml"/><Relationship Id="rId1" Type="http://schemas.openxmlformats.org/officeDocument/2006/relationships/tags" Target="../tags/tag873.xml"/></Relationships>
</file>

<file path=ppt/slides/_rels/slide62.xml.rels><?xml version="1.0" encoding="UTF-8" standalone="yes"?>
<Relationships xmlns="http://schemas.openxmlformats.org/package/2006/relationships"><Relationship Id="rId3" Type="http://schemas.openxmlformats.org/officeDocument/2006/relationships/image" Target="../media/image76.bmp"/><Relationship Id="rId2" Type="http://schemas.openxmlformats.org/officeDocument/2006/relationships/slideLayout" Target="../slideLayouts/slideLayout20.xml"/><Relationship Id="rId1" Type="http://schemas.openxmlformats.org/officeDocument/2006/relationships/tags" Target="../tags/tag874.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0.xml"/><Relationship Id="rId1" Type="http://schemas.openxmlformats.org/officeDocument/2006/relationships/tags" Target="../tags/tag875.xml"/><Relationship Id="rId4" Type="http://schemas.openxmlformats.org/officeDocument/2006/relationships/image" Target="../media/image77.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0.xml"/><Relationship Id="rId1" Type="http://schemas.openxmlformats.org/officeDocument/2006/relationships/tags" Target="../tags/tag876.xml"/><Relationship Id="rId4" Type="http://schemas.openxmlformats.org/officeDocument/2006/relationships/image" Target="../media/image78.png"/></Relationships>
</file>

<file path=ppt/slides/_rels/slide6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0.xml"/><Relationship Id="rId1" Type="http://schemas.openxmlformats.org/officeDocument/2006/relationships/tags" Target="../tags/tag877.xml"/></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58.xml"/><Relationship Id="rId1" Type="http://schemas.openxmlformats.org/officeDocument/2006/relationships/tags" Target="../tags/tag878.xml"/></Relationships>
</file>

<file path=ppt/slides/_rels/slide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58.xml"/><Relationship Id="rId1" Type="http://schemas.openxmlformats.org/officeDocument/2006/relationships/tags" Target="../tags/tag879.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6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58.xml"/><Relationship Id="rId1" Type="http://schemas.openxmlformats.org/officeDocument/2006/relationships/tags" Target="../tags/tag880.xml"/><Relationship Id="rId4" Type="http://schemas.openxmlformats.org/officeDocument/2006/relationships/image" Target="../media/image86.png"/></Relationships>
</file>

<file path=ppt/slides/_rels/slide6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slideLayout" Target="../slideLayouts/slideLayout58.xml"/><Relationship Id="rId1" Type="http://schemas.openxmlformats.org/officeDocument/2006/relationships/tags" Target="../tags/tag881.xml"/><Relationship Id="rId4" Type="http://schemas.openxmlformats.org/officeDocument/2006/relationships/image" Target="../media/image88.png"/></Relationships>
</file>

<file path=ppt/slides/_rels/slide7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slideLayout" Target="../slideLayouts/slideLayout58.xml"/><Relationship Id="rId1" Type="http://schemas.openxmlformats.org/officeDocument/2006/relationships/tags" Target="../tags/tag882.xml"/><Relationship Id="rId4" Type="http://schemas.openxmlformats.org/officeDocument/2006/relationships/image" Target="../media/image90.png"/></Relationships>
</file>

<file path=ppt/slides/_rels/slide7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Layout" Target="../slideLayouts/slideLayout58.xml"/><Relationship Id="rId1" Type="http://schemas.openxmlformats.org/officeDocument/2006/relationships/tags" Target="../tags/tag883.xml"/><Relationship Id="rId4" Type="http://schemas.openxmlformats.org/officeDocument/2006/relationships/image" Target="../media/image92.png"/></Relationships>
</file>

<file path=ppt/slides/_rels/slide7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slideLayout" Target="../slideLayouts/slideLayout58.xml"/><Relationship Id="rId1" Type="http://schemas.openxmlformats.org/officeDocument/2006/relationships/tags" Target="../tags/tag884.xml"/><Relationship Id="rId4" Type="http://schemas.openxmlformats.org/officeDocument/2006/relationships/image" Target="../media/image94.png"/></Relationships>
</file>

<file path=ppt/slides/_rels/slide7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slideLayout" Target="../slideLayouts/slideLayout58.xml"/><Relationship Id="rId1" Type="http://schemas.openxmlformats.org/officeDocument/2006/relationships/tags" Target="../tags/tag885.xml"/><Relationship Id="rId4" Type="http://schemas.openxmlformats.org/officeDocument/2006/relationships/image" Target="../media/image96.png"/></Relationships>
</file>

<file path=ppt/slides/_rels/slide7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slideLayout" Target="../slideLayouts/slideLayout58.xml"/><Relationship Id="rId1" Type="http://schemas.openxmlformats.org/officeDocument/2006/relationships/tags" Target="../tags/tag886.xml"/><Relationship Id="rId4" Type="http://schemas.openxmlformats.org/officeDocument/2006/relationships/image" Target="../media/image98.png"/></Relationships>
</file>

<file path=ppt/slides/_rels/slide7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slideLayout" Target="../slideLayouts/slideLayout20.xml"/><Relationship Id="rId1" Type="http://schemas.openxmlformats.org/officeDocument/2006/relationships/tags" Target="../tags/tag887.xml"/></Relationships>
</file>

<file path=ppt/slides/_rels/slide7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20.xml"/><Relationship Id="rId1" Type="http://schemas.openxmlformats.org/officeDocument/2006/relationships/tags" Target="../tags/tag888.xml"/></Relationships>
</file>

<file path=ppt/slides/_rels/slide7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20.xml"/><Relationship Id="rId1" Type="http://schemas.openxmlformats.org/officeDocument/2006/relationships/tags" Target="../tags/tag889.xml"/></Relationships>
</file>

<file path=ppt/slides/_rels/slide7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slideLayout" Target="../slideLayouts/slideLayout20.xml"/><Relationship Id="rId1" Type="http://schemas.openxmlformats.org/officeDocument/2006/relationships/tags" Target="../tags/tag890.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892.xml"/><Relationship Id="rId1" Type="http://schemas.openxmlformats.org/officeDocument/2006/relationships/tags" Target="../tags/tag891.xml"/><Relationship Id="rId5" Type="http://schemas.openxmlformats.org/officeDocument/2006/relationships/image" Target="../media/image103.jpeg"/><Relationship Id="rId4" Type="http://schemas.openxmlformats.org/officeDocument/2006/relationships/notesSlide" Target="../notesSlides/notesSlide31.xml"/></Relationships>
</file>

<file path=ppt/slides/_rels/slide8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slideLayout" Target="../slideLayouts/slideLayout77.xml"/><Relationship Id="rId1" Type="http://schemas.openxmlformats.org/officeDocument/2006/relationships/tags" Target="../tags/tag893.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895.xml"/><Relationship Id="rId1" Type="http://schemas.openxmlformats.org/officeDocument/2006/relationships/tags" Target="../tags/tag894.xml"/><Relationship Id="rId4" Type="http://schemas.openxmlformats.org/officeDocument/2006/relationships/notesSlide" Target="../notesSlides/notesSlide32.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897.xml"/><Relationship Id="rId1" Type="http://schemas.openxmlformats.org/officeDocument/2006/relationships/tags" Target="../tags/tag896.xml"/><Relationship Id="rId4" Type="http://schemas.openxmlformats.org/officeDocument/2006/relationships/notesSlide" Target="../notesSlides/notesSlide33.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899.xml"/><Relationship Id="rId1" Type="http://schemas.openxmlformats.org/officeDocument/2006/relationships/tags" Target="../tags/tag898.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901.xml"/><Relationship Id="rId1" Type="http://schemas.openxmlformats.org/officeDocument/2006/relationships/tags" Target="../tags/tag900.xml"/><Relationship Id="rId5" Type="http://schemas.openxmlformats.org/officeDocument/2006/relationships/image" Target="../media/image105.jpeg"/><Relationship Id="rId4" Type="http://schemas.openxmlformats.org/officeDocument/2006/relationships/notesSlide" Target="../notesSlides/notesSlide34.xml"/></Relationships>
</file>

<file path=ppt/slides/_rels/slide85.xml.rels><?xml version="1.0" encoding="UTF-8" standalone="yes"?>
<Relationships xmlns="http://schemas.openxmlformats.org/package/2006/relationships"><Relationship Id="rId3" Type="http://schemas.openxmlformats.org/officeDocument/2006/relationships/tags" Target="../tags/tag903.xml"/><Relationship Id="rId7" Type="http://schemas.openxmlformats.org/officeDocument/2006/relationships/image" Target="../media/image106.wmf"/><Relationship Id="rId2" Type="http://schemas.openxmlformats.org/officeDocument/2006/relationships/tags" Target="../tags/tag90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notesSlide" Target="../notesSlides/notesSlide35.xml"/><Relationship Id="rId4" Type="http://schemas.openxmlformats.org/officeDocument/2006/relationships/slideLayout" Target="../slideLayouts/slideLayout77.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904.xml"/><Relationship Id="rId1" Type="http://schemas.openxmlformats.org/officeDocument/2006/relationships/vmlDrawing" Target="../drawings/vmlDrawing3.vml"/><Relationship Id="rId6" Type="http://schemas.openxmlformats.org/officeDocument/2006/relationships/image" Target="../media/image107.wmf"/><Relationship Id="rId5" Type="http://schemas.openxmlformats.org/officeDocument/2006/relationships/oleObject" Target="../embeddings/oleObject3.bin"/><Relationship Id="rId4" Type="http://schemas.openxmlformats.org/officeDocument/2006/relationships/image" Target="../media/image108.jpeg"/></Relationships>
</file>

<file path=ppt/slides/_rels/slide8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slideLayout" Target="../slideLayouts/slideLayout77.xml"/><Relationship Id="rId1" Type="http://schemas.openxmlformats.org/officeDocument/2006/relationships/tags" Target="../tags/tag905.xml"/></Relationships>
</file>

<file path=ppt/slides/_rels/slide88.xml.rels><?xml version="1.0" encoding="UTF-8" standalone="yes"?>
<Relationships xmlns="http://schemas.openxmlformats.org/package/2006/relationships"><Relationship Id="rId3" Type="http://schemas.openxmlformats.org/officeDocument/2006/relationships/tags" Target="../tags/tag908.xml"/><Relationship Id="rId7" Type="http://schemas.openxmlformats.org/officeDocument/2006/relationships/image" Target="../media/image108.jpeg"/><Relationship Id="rId2" Type="http://schemas.openxmlformats.org/officeDocument/2006/relationships/tags" Target="../tags/tag907.xml"/><Relationship Id="rId1" Type="http://schemas.openxmlformats.org/officeDocument/2006/relationships/tags" Target="../tags/tag906.xml"/><Relationship Id="rId6" Type="http://schemas.openxmlformats.org/officeDocument/2006/relationships/notesSlide" Target="../notesSlides/notesSlide36.xml"/><Relationship Id="rId5" Type="http://schemas.openxmlformats.org/officeDocument/2006/relationships/slideLayout" Target="../slideLayouts/slideLayout77.xml"/><Relationship Id="rId4" Type="http://schemas.openxmlformats.org/officeDocument/2006/relationships/tags" Target="../tags/tag909.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911.xml"/><Relationship Id="rId1" Type="http://schemas.openxmlformats.org/officeDocument/2006/relationships/tags" Target="../tags/tag910.xml"/><Relationship Id="rId4" Type="http://schemas.openxmlformats.org/officeDocument/2006/relationships/notesSlide" Target="../notesSlides/notesSlide37.xml"/></Relationships>
</file>

<file path=ppt/slides/_rels/slide90.xml.rels><?xml version="1.0" encoding="UTF-8" standalone="yes"?>
<Relationships xmlns="http://schemas.openxmlformats.org/package/2006/relationships"><Relationship Id="rId3" Type="http://schemas.openxmlformats.org/officeDocument/2006/relationships/tags" Target="../tags/tag914.xml"/><Relationship Id="rId2" Type="http://schemas.openxmlformats.org/officeDocument/2006/relationships/tags" Target="../tags/tag913.xml"/><Relationship Id="rId1" Type="http://schemas.openxmlformats.org/officeDocument/2006/relationships/tags" Target="../tags/tag912.xml"/><Relationship Id="rId4" Type="http://schemas.openxmlformats.org/officeDocument/2006/relationships/slideLayout" Target="../slideLayouts/slideLayout77.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916.xml"/><Relationship Id="rId1" Type="http://schemas.openxmlformats.org/officeDocument/2006/relationships/tags" Target="../tags/tag915.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918.xml"/><Relationship Id="rId1" Type="http://schemas.openxmlformats.org/officeDocument/2006/relationships/tags" Target="../tags/tag917.xml"/><Relationship Id="rId5" Type="http://schemas.openxmlformats.org/officeDocument/2006/relationships/image" Target="../media/image110.png"/><Relationship Id="rId4" Type="http://schemas.openxmlformats.org/officeDocument/2006/relationships/notesSlide" Target="../notesSlides/notesSlide38.xml"/></Relationships>
</file>

<file path=ppt/slides/_rels/slide93.xml.rels><?xml version="1.0" encoding="UTF-8" standalone="yes"?>
<Relationships xmlns="http://schemas.openxmlformats.org/package/2006/relationships"><Relationship Id="rId3" Type="http://schemas.openxmlformats.org/officeDocument/2006/relationships/tags" Target="../tags/tag921.xml"/><Relationship Id="rId2" Type="http://schemas.openxmlformats.org/officeDocument/2006/relationships/tags" Target="../tags/tag920.xml"/><Relationship Id="rId1" Type="http://schemas.openxmlformats.org/officeDocument/2006/relationships/tags" Target="../tags/tag919.xml"/><Relationship Id="rId6" Type="http://schemas.openxmlformats.org/officeDocument/2006/relationships/image" Target="../media/image111.png"/><Relationship Id="rId5" Type="http://schemas.openxmlformats.org/officeDocument/2006/relationships/notesSlide" Target="../notesSlides/notesSlide39.xml"/><Relationship Id="rId4" Type="http://schemas.openxmlformats.org/officeDocument/2006/relationships/slideLayout" Target="../slideLayouts/slideLayout96.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22.xml"/><Relationship Id="rId1" Type="http://schemas.openxmlformats.org/officeDocument/2006/relationships/vmlDrawing" Target="../drawings/vmlDrawing4.vml"/><Relationship Id="rId5" Type="http://schemas.openxmlformats.org/officeDocument/2006/relationships/image" Target="../media/image112.wmf"/><Relationship Id="rId4" Type="http://schemas.openxmlformats.org/officeDocument/2006/relationships/oleObject" Target="../embeddings/oleObject4.bin"/></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24.xml"/><Relationship Id="rId1" Type="http://schemas.openxmlformats.org/officeDocument/2006/relationships/tags" Target="../tags/tag923.xml"/><Relationship Id="rId5" Type="http://schemas.openxmlformats.org/officeDocument/2006/relationships/image" Target="../media/image113.png"/><Relationship Id="rId4" Type="http://schemas.openxmlformats.org/officeDocument/2006/relationships/notesSlide" Target="../notesSlides/notesSlide40.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26.xml"/><Relationship Id="rId1" Type="http://schemas.openxmlformats.org/officeDocument/2006/relationships/tags" Target="../tags/tag925.xml"/><Relationship Id="rId4" Type="http://schemas.openxmlformats.org/officeDocument/2006/relationships/image" Target="../media/image114.jpe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28.xml"/><Relationship Id="rId1" Type="http://schemas.openxmlformats.org/officeDocument/2006/relationships/tags" Target="../tags/tag927.xml"/><Relationship Id="rId4" Type="http://schemas.openxmlformats.org/officeDocument/2006/relationships/notesSlide" Target="../notesSlides/notesSlide41.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30.xml"/><Relationship Id="rId1" Type="http://schemas.openxmlformats.org/officeDocument/2006/relationships/tags" Target="../tags/tag929.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32.xml"/><Relationship Id="rId1" Type="http://schemas.openxmlformats.org/officeDocument/2006/relationships/tags" Target="../tags/tag931.xml"/><Relationship Id="rId4" Type="http://schemas.openxmlformats.org/officeDocument/2006/relationships/image" Target="../media/image115.jpe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15.xml"/><Relationship Id="rId1" Type="http://schemas.openxmlformats.org/officeDocument/2006/relationships/tags" Target="../tags/tag933.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15.xml"/><Relationship Id="rId1" Type="http://schemas.openxmlformats.org/officeDocument/2006/relationships/tags" Target="../tags/tag934.xml"/><Relationship Id="rId6" Type="http://schemas.openxmlformats.org/officeDocument/2006/relationships/image" Target="../media/image118.jpeg"/><Relationship Id="rId5" Type="http://schemas.openxmlformats.org/officeDocument/2006/relationships/image" Target="../media/image117.jpeg"/><Relationship Id="rId4" Type="http://schemas.openxmlformats.org/officeDocument/2006/relationships/image" Target="../media/image116.jpe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36.xml"/><Relationship Id="rId1" Type="http://schemas.openxmlformats.org/officeDocument/2006/relationships/tags" Target="../tags/tag935.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38.xml"/><Relationship Id="rId1" Type="http://schemas.openxmlformats.org/officeDocument/2006/relationships/tags" Target="../tags/tag937.xml"/><Relationship Id="rId4" Type="http://schemas.openxmlformats.org/officeDocument/2006/relationships/notesSlide" Target="../notesSlides/notesSlide44.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0.xml"/><Relationship Id="rId1" Type="http://schemas.openxmlformats.org/officeDocument/2006/relationships/tags" Target="../tags/tag939.xml"/><Relationship Id="rId4" Type="http://schemas.openxmlformats.org/officeDocument/2006/relationships/image" Target="../media/image119.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0.xml"/><Relationship Id="rId1" Type="http://schemas.openxmlformats.org/officeDocument/2006/relationships/tags" Target="../tags/tag940.xml"/><Relationship Id="rId4" Type="http://schemas.openxmlformats.org/officeDocument/2006/relationships/image" Target="../media/image120.jpe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15.xml"/><Relationship Id="rId2" Type="http://schemas.openxmlformats.org/officeDocument/2006/relationships/tags" Target="../tags/tag942.xml"/><Relationship Id="rId1" Type="http://schemas.openxmlformats.org/officeDocument/2006/relationships/tags" Target="../tags/tag941.xml"/></Relationships>
</file>

<file path=ppt/slides/_rels/slide10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slideLayout" Target="../slideLayouts/slideLayout20.xml"/><Relationship Id="rId1" Type="http://schemas.openxmlformats.org/officeDocument/2006/relationships/tags" Target="../tags/tag943.xml"/></Relationships>
</file>

<file path=ppt/slides/_rels/slide10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slideLayout" Target="../slideLayouts/slideLayout20.xml"/><Relationship Id="rId1" Type="http://schemas.openxmlformats.org/officeDocument/2006/relationships/tags" Target="../tags/tag944.xml"/></Relationships>
</file>

<file path=ppt/slides/_rels/slide10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slideLayout" Target="../slideLayouts/slideLayout20.xml"/><Relationship Id="rId1" Type="http://schemas.openxmlformats.org/officeDocument/2006/relationships/tags" Target="../tags/tag945.xml"/></Relationships>
</file>

<file path=ppt/slides/_rels/slide110.xml.rels><?xml version="1.0" encoding="UTF-8" standalone="yes"?>
<Relationships xmlns="http://schemas.openxmlformats.org/package/2006/relationships"><Relationship Id="rId3" Type="http://schemas.openxmlformats.org/officeDocument/2006/relationships/image" Target="../media/image124.GIF"/><Relationship Id="rId2" Type="http://schemas.openxmlformats.org/officeDocument/2006/relationships/slideLayout" Target="../slideLayouts/slideLayout20.xml"/><Relationship Id="rId1" Type="http://schemas.openxmlformats.org/officeDocument/2006/relationships/tags" Target="../tags/tag946.xml"/></Relationships>
</file>

<file path=ppt/slides/_rels/slide11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slideLayout" Target="../slideLayouts/slideLayout20.xml"/><Relationship Id="rId1" Type="http://schemas.openxmlformats.org/officeDocument/2006/relationships/tags" Target="../tags/tag947.xml"/><Relationship Id="rId4" Type="http://schemas.openxmlformats.org/officeDocument/2006/relationships/image" Target="../media/image126.GIF"/></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949.xml"/><Relationship Id="rId1" Type="http://schemas.openxmlformats.org/officeDocument/2006/relationships/tags" Target="../tags/tag948.xml"/><Relationship Id="rId5" Type="http://schemas.openxmlformats.org/officeDocument/2006/relationships/image" Target="../media/image128.jpeg"/><Relationship Id="rId4" Type="http://schemas.openxmlformats.org/officeDocument/2006/relationships/image" Target="../media/image1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a:xfrm>
            <a:off x="1317546" y="1488874"/>
            <a:ext cx="6508909" cy="1558174"/>
          </a:xfrm>
        </p:spPr>
        <p:txBody>
          <a:bodyPr>
            <a:noAutofit/>
          </a:bodyPr>
          <a:lstStyle/>
          <a:p>
            <a:pPr marL="0" algn="ctr">
              <a:lnSpc>
                <a:spcPct val="100000"/>
              </a:lnSpc>
              <a:spcBef>
                <a:spcPts val="0"/>
              </a:spcBef>
              <a:spcAft>
                <a:spcPts val="0"/>
              </a:spcAft>
              <a:buClrTx/>
              <a:buSzTx/>
              <a:buFontTx/>
              <a:buNone/>
            </a:pPr>
            <a:r>
              <a:rPr lang="zh-CN" altLang="en-US" sz="4500" u="none" strike="noStrike" spc="0" baseline="0"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人工智能与机器学习</a:t>
            </a:r>
            <a:br>
              <a:rPr lang="en-US" altLang="zh-CN" sz="4500" u="none" strike="noStrike" spc="0" baseline="0"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br>
            <a:r>
              <a:rPr lang="zh-CN" altLang="en-US" sz="4500" u="none" strike="noStrike" spc="0" baseline="0" dirty="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博弈</a:t>
            </a:r>
          </a:p>
        </p:txBody>
      </p:sp>
      <p:sp>
        <p:nvSpPr>
          <p:cNvPr id="5" name="文本占位符 4"/>
          <p:cNvSpPr>
            <a:spLocks noGrp="1"/>
          </p:cNvSpPr>
          <p:nvPr>
            <p:ph type="body" sz="quarter" idx="13"/>
            <p:custDataLst>
              <p:tags r:id="rId3"/>
            </p:custDataLst>
          </p:nvPr>
        </p:nvSpPr>
        <p:spPr>
          <a:xfrm>
            <a:off x="3335655" y="5623084"/>
            <a:ext cx="2705100" cy="419100"/>
          </a:xfrm>
        </p:spPr>
        <p:txBody>
          <a:bodyPr>
            <a:normAutofit/>
          </a:bodyPr>
          <a:lstStyle/>
          <a:p>
            <a:pPr marL="0" lvl="0" indent="0" algn="ctr">
              <a:lnSpc>
                <a:spcPct val="130000"/>
              </a:lnSpc>
              <a:spcBef>
                <a:spcPts val="0"/>
              </a:spcBef>
              <a:spcAft>
                <a:spcPts val="1000"/>
              </a:spcAft>
              <a:buSzPct val="100000"/>
              <a:buNone/>
            </a:pPr>
            <a:r>
              <a:rPr lang="zh-CN" altLang="en-US" sz="1350" b="1" dirty="0">
                <a:solidFill>
                  <a:srgbClr val="0070C0"/>
                </a:solidFill>
              </a:rPr>
              <a:t>杭州 • 浙江大学</a:t>
            </a:r>
            <a:r>
              <a:rPr lang="en-US" altLang="zh-CN" sz="1350" b="1" dirty="0">
                <a:solidFill>
                  <a:srgbClr val="0070C0"/>
                </a:solidFill>
              </a:rPr>
              <a:t> </a:t>
            </a:r>
            <a:r>
              <a:rPr lang="zh-CN" altLang="en-US" b="1" dirty="0">
                <a:solidFill>
                  <a:srgbClr val="0070C0"/>
                </a:solidFill>
                <a:sym typeface="+mn-ea"/>
              </a:rPr>
              <a:t>•</a:t>
            </a:r>
            <a:r>
              <a:rPr lang="en-US" altLang="zh-CN" b="1" dirty="0">
                <a:solidFill>
                  <a:srgbClr val="0070C0"/>
                </a:solidFill>
                <a:sym typeface="+mn-ea"/>
              </a:rPr>
              <a:t> 20</a:t>
            </a:r>
            <a:r>
              <a:rPr lang="en-US" b="1" dirty="0">
                <a:solidFill>
                  <a:srgbClr val="0070C0"/>
                </a:solidFill>
                <a:sym typeface="+mn-ea"/>
              </a:rPr>
              <a:t>22</a:t>
            </a:r>
            <a:endParaRPr lang="en-US" sz="1350" b="1" dirty="0">
              <a:solidFill>
                <a:srgbClr val="0070C0"/>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z="675" smtClean="0"/>
              <a:t>1</a:t>
            </a:fld>
            <a:endParaRPr lang="zh-CN" altLang="en-US" sz="675" dirty="0"/>
          </a:p>
        </p:txBody>
      </p:sp>
      <p:sp>
        <p:nvSpPr>
          <p:cNvPr id="3" name="副标题 2"/>
          <p:cNvSpPr>
            <a:spLocks noGrp="1"/>
          </p:cNvSpPr>
          <p:nvPr>
            <p:ph type="subTitle" idx="1"/>
          </p:nvPr>
        </p:nvSpPr>
        <p:spPr>
          <a:xfrm>
            <a:off x="1143000" y="4064159"/>
            <a:ext cx="6858000" cy="667703"/>
          </a:xfrm>
        </p:spPr>
        <p:txBody>
          <a:bodyPr/>
          <a:lstStyle/>
          <a:p>
            <a:pPr algn="ctr"/>
            <a:endParaRPr lang="zh-CN" altLang="en-US" b="1"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3200">
                <a:solidFill>
                  <a:srgbClr val="0000FF"/>
                </a:solidFill>
                <a:latin typeface="微软雅黑" panose="020B0503020204020204" pitchFamily="34" charset="-122"/>
                <a:sym typeface="+mn-ea"/>
              </a:rPr>
              <a:t>回顾：</a:t>
            </a:r>
            <a:r>
              <a:rPr lang="zh-CN" altLang="en-US" sz="3200">
                <a:solidFill>
                  <a:srgbClr val="0000FF"/>
                </a:solidFill>
              </a:rPr>
              <a:t>启发函数 (Heuristic Function)</a:t>
            </a:r>
          </a:p>
        </p:txBody>
      </p:sp>
      <p:sp>
        <p:nvSpPr>
          <p:cNvPr id="3" name="内容占位符 2"/>
          <p:cNvSpPr>
            <a:spLocks noGrp="1"/>
          </p:cNvSpPr>
          <p:nvPr>
            <p:ph idx="1"/>
          </p:nvPr>
        </p:nvSpPr>
        <p:spPr>
          <a:xfrm>
            <a:off x="502285" y="1356360"/>
            <a:ext cx="8139430" cy="4486910"/>
          </a:xfrm>
        </p:spPr>
        <p:txBody>
          <a:bodyPr/>
          <a:lstStyle/>
          <a:p>
            <a:r>
              <a:rPr lang="zh-CN" altLang="en-US" dirty="0"/>
              <a:t>盲目搜索会浪费很多时间和空间, 所以我们在路径搜索时, 会首先选择</a:t>
            </a:r>
            <a:r>
              <a:rPr lang="zh-CN" altLang="en-US" b="1" dirty="0">
                <a:solidFill>
                  <a:srgbClr val="C00000"/>
                </a:solidFill>
              </a:rPr>
              <a:t>最有希望</a:t>
            </a:r>
            <a:r>
              <a:rPr lang="zh-CN" altLang="en-US" dirty="0"/>
              <a:t>的节点, 这种搜索称之为 "启发式搜索 (Heuristic Search)"</a:t>
            </a:r>
          </a:p>
          <a:p>
            <a:r>
              <a:rPr lang="zh-CN" altLang="en-US" dirty="0"/>
              <a:t>如何来界定"</a:t>
            </a:r>
            <a:r>
              <a:rPr lang="zh-CN" altLang="en-US" b="1" dirty="0">
                <a:solidFill>
                  <a:srgbClr val="C00000"/>
                </a:solidFill>
              </a:rPr>
              <a:t>最有希望</a:t>
            </a:r>
            <a:r>
              <a:rPr lang="zh-CN" altLang="en-US" dirty="0"/>
              <a:t>"? 我们需要通过 </a:t>
            </a:r>
            <a:r>
              <a:rPr lang="zh-CN" altLang="en-US" b="1" dirty="0">
                <a:solidFill>
                  <a:srgbClr val="0000FF"/>
                </a:solidFill>
              </a:rPr>
              <a:t>启发函数 (Heuristic Function) </a:t>
            </a:r>
            <a:r>
              <a:rPr lang="zh-CN" altLang="en-US" dirty="0"/>
              <a:t>计算得到.</a:t>
            </a:r>
          </a:p>
          <a:p>
            <a:endParaRPr lang="zh-CN" altLang="en-US" dirty="0"/>
          </a:p>
          <a:p>
            <a:r>
              <a:rPr lang="zh-CN" altLang="en-US" dirty="0"/>
              <a:t>启发式搜索(Heuristically Search)又称为</a:t>
            </a:r>
            <a:r>
              <a:rPr lang="zh-CN" altLang="en-US" b="1" dirty="0">
                <a:solidFill>
                  <a:srgbClr val="C00000"/>
                </a:solidFill>
              </a:rPr>
              <a:t>有信息搜索</a:t>
            </a:r>
            <a:r>
              <a:rPr lang="zh-CN" altLang="en-US" dirty="0"/>
              <a:t>(Informed Search)，它是利用问题拥有的启发信息来引导搜索，达到减少搜索范围、降低问题复杂度的目的。</a:t>
            </a:r>
          </a:p>
        </p:txBody>
      </p:sp>
    </p:spTree>
    <p:custDataLst>
      <p:tags r:id="rId1"/>
    </p:custDataLst>
    <p:extLst>
      <p:ext uri="{BB962C8B-B14F-4D97-AF65-F5344CB8AC3E}">
        <p14:creationId xmlns:p14="http://schemas.microsoft.com/office/powerpoint/2010/main" val="196611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Rot="1"/>
          </p:cNvSpPr>
          <p:nvPr>
            <p:ph idx="4294967295"/>
            <p:custDataLst>
              <p:tags r:id="rId2"/>
            </p:custDataLst>
          </p:nvPr>
        </p:nvSpPr>
        <p:spPr>
          <a:xfrm>
            <a:off x="597535" y="354965"/>
            <a:ext cx="7670800" cy="4919663"/>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Clr>
                <a:srgbClr val="213A71"/>
              </a:buClr>
              <a:buSzTx/>
              <a:buFont typeface="Wingdings" panose="05000000000000000000" charset="0"/>
              <a:buChar char="n"/>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应用</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启发式</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减少搜索耗散：</a:t>
            </a:r>
            <a:r>
              <a:rPr lang="zh-CN" altLang="en-US" sz="20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启发函数</a:t>
            </a:r>
            <a:r>
              <a:rPr lang="zh-CN" altLang="en-US" sz="2000" i="1" kern="12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h(n)</a:t>
            </a:r>
          </a:p>
          <a:p>
            <a:pPr lvl="0" algn="l" defTabSz="914400">
              <a:buClr>
                <a:srgbClr val="213A71"/>
              </a:buClr>
              <a:buSzTx/>
              <a:buFont typeface="Wingdings" panose="05000000000000000000" charset="0"/>
              <a:buChar char="n"/>
            </a:pP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（贪婪）最好优先搜索：</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选择</a:t>
            </a:r>
            <a:r>
              <a:rPr lang="zh-CN" altLang="en-US" sz="20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最小耗散</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的未扩展节点进行扩展的图搜索，通常使用</a:t>
            </a:r>
            <a:r>
              <a:rPr lang="zh-CN" altLang="en-US" sz="20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启发函数</a:t>
            </a:r>
            <a:r>
              <a:rPr lang="zh-CN" altLang="en-US" sz="2000" i="1" kern="12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h(n)</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从状态</a:t>
            </a:r>
            <a:r>
              <a:rPr lang="zh-CN" altLang="en-US" sz="2000" i="1"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估计解的耗散</a:t>
            </a:r>
          </a:p>
          <a:p>
            <a:pPr lvl="1" algn="l" defTabSz="914400">
              <a:buClr>
                <a:srgbClr val="213A71"/>
              </a:buClr>
              <a:buSzTx/>
              <a:buFont typeface="Wingdings" panose="05000000000000000000" charset="0"/>
              <a:buChar char="n"/>
            </a:pPr>
            <a:r>
              <a:rPr lang="zh-CN" altLang="en-US" sz="175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扩展</a:t>
            </a:r>
            <a:r>
              <a:rPr lang="zh-CN" altLang="en-US" sz="1750" i="1" kern="12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h(n)</a:t>
            </a:r>
            <a:r>
              <a:rPr lang="zh-CN" altLang="en-US" sz="175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最小</a:t>
            </a:r>
            <a:r>
              <a:rPr lang="zh-CN" altLang="en-US" sz="175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的节点</a:t>
            </a:r>
          </a:p>
          <a:p>
            <a:pPr lvl="1" algn="l" defTabSz="914400">
              <a:buClr>
                <a:srgbClr val="213A71"/>
              </a:buClr>
              <a:buSzTx/>
              <a:buFont typeface="Wingdings" panose="05000000000000000000" charset="0"/>
              <a:buChar char="n"/>
            </a:pPr>
            <a:r>
              <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非最优，但效率高</a:t>
            </a:r>
          </a:p>
          <a:p>
            <a:pPr lvl="0" algn="l" defTabSz="914400">
              <a:buClr>
                <a:srgbClr val="213A71"/>
              </a:buClr>
              <a:buSzTx/>
              <a:buFont typeface="Wingdings" panose="05000000000000000000" charset="0"/>
              <a:buChar char="n"/>
            </a:pP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A*搜索：</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扩展</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i="1" kern="12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f(n)=g(n)+h(n)</a:t>
            </a:r>
            <a:r>
              <a:rPr lang="en-US" altLang="zh-CN" sz="2000" i="1" kern="12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0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最小</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的节点</a:t>
            </a:r>
          </a:p>
          <a:p>
            <a:pPr lvl="1" algn="l" defTabSz="914400">
              <a:buClr>
                <a:srgbClr val="213A71"/>
              </a:buClr>
              <a:buSzTx/>
              <a:buFont typeface="Wingdings" panose="05000000000000000000" charset="0"/>
              <a:buChar char="n"/>
            </a:pPr>
            <a:r>
              <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zh-CN" altLang="en-US" sz="2000" i="1"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h(n)</a:t>
            </a:r>
            <a:r>
              <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是可采纳或一致，则A*是完备也是最优的。</a:t>
            </a:r>
          </a:p>
          <a:p>
            <a:pPr lvl="1" algn="l" defTabSz="914400">
              <a:buClr>
                <a:srgbClr val="213A71"/>
              </a:buClr>
              <a:buSzTx/>
              <a:buFont typeface="Wingdings" panose="05000000000000000000" charset="0"/>
              <a:buChar char="n"/>
            </a:pPr>
            <a:r>
              <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空间复杂度非常高。</a:t>
            </a:r>
          </a:p>
          <a:p>
            <a:pPr lvl="0" algn="l" defTabSz="914400">
              <a:buClr>
                <a:srgbClr val="213A71"/>
              </a:buClr>
              <a:buSzTx/>
              <a:buFont typeface="Wingdings" panose="05000000000000000000" charset="0"/>
              <a:buChar char="n"/>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启发式搜索算法的性能取决于启发函数的质量</a:t>
            </a:r>
          </a:p>
        </p:txBody>
      </p:sp>
      <p:sp>
        <p:nvSpPr>
          <p:cNvPr id="4" name="文本框 3"/>
          <p:cNvSpPr txBox="1"/>
          <p:nvPr/>
        </p:nvSpPr>
        <p:spPr>
          <a:xfrm>
            <a:off x="862965" y="4754880"/>
            <a:ext cx="7418070" cy="1753235"/>
          </a:xfrm>
          <a:prstGeom prst="rect">
            <a:avLst/>
          </a:prstGeom>
          <a:noFill/>
          <a:ln>
            <a:solidFill>
              <a:schemeClr val="accent1"/>
            </a:solidFill>
          </a:ln>
        </p:spPr>
        <p:txBody>
          <a:bodyPr wrap="square" rtlCol="0" anchor="t">
            <a:spAutoFit/>
          </a:bodyPr>
          <a:lstStyle/>
          <a:p>
            <a:pPr algn="ct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f(n)=g(n)+h(n)</a:t>
            </a:r>
            <a:r>
              <a:rPr lang="en-US" altLang="zh-CN"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p>
          <a:p>
            <a:pPr algn="l"/>
            <a:r>
              <a:rPr lang="zh-CN" altLang="en-US"/>
              <a:t>式中：</a:t>
            </a:r>
          </a:p>
          <a:p>
            <a:pPr indent="457200" algn="l"/>
            <a:r>
              <a:rPr lang="zh-CN" altLang="en-US"/>
              <a:t>g(x)为从初始节点到节点x付出的实际代价；</a:t>
            </a:r>
          </a:p>
          <a:p>
            <a:pPr indent="457200" algn="l"/>
            <a:r>
              <a:rPr lang="zh-CN" altLang="en-US"/>
              <a:t>h(x)为从节点x到目标节点的最优路径的估计代价。</a:t>
            </a:r>
          </a:p>
          <a:p>
            <a:endParaRPr lang="zh-CN" altLang="en-US"/>
          </a:p>
          <a:p>
            <a:r>
              <a:rPr lang="zh-CN" altLang="en-US"/>
              <a:t>启发性信息主要体现在h(x)中，其形式要根据问题的特性来确定。</a:t>
            </a:r>
          </a:p>
        </p:txBody>
      </p:sp>
    </p:spTree>
    <p:custDataLst>
      <p:tags r:id="rId1"/>
    </p:custDataLst>
    <p:extLst>
      <p:ext uri="{BB962C8B-B14F-4D97-AF65-F5344CB8AC3E}">
        <p14:creationId xmlns:p14="http://schemas.microsoft.com/office/powerpoint/2010/main" val="2666932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美丽心灵</a:t>
            </a:r>
          </a:p>
        </p:txBody>
      </p:sp>
      <p:sp>
        <p:nvSpPr>
          <p:cNvPr id="3" name="内容占位符 2"/>
          <p:cNvSpPr>
            <a:spLocks noGrp="1"/>
          </p:cNvSpPr>
          <p:nvPr>
            <p:ph idx="1"/>
          </p:nvPr>
        </p:nvSpPr>
        <p:spPr>
          <a:xfrm>
            <a:off x="502285" y="1098550"/>
            <a:ext cx="3930015" cy="4041775"/>
          </a:xfrm>
        </p:spPr>
        <p:txBody>
          <a:bodyPr/>
          <a:lstStyle/>
          <a:p>
            <a:pPr>
              <a:lnSpc>
                <a:spcPct val="140000"/>
              </a:lnSpc>
            </a:pPr>
            <a:r>
              <a:rPr lang="zh-CN" altLang="en-US" sz="1600"/>
              <a:t>本片是关于20世纪伟大数学家小约翰•福布斯-纳什的人物传记片。</a:t>
            </a:r>
          </a:p>
          <a:p>
            <a:pPr>
              <a:lnSpc>
                <a:spcPct val="140000"/>
              </a:lnSpc>
            </a:pPr>
            <a:r>
              <a:rPr lang="zh-CN" altLang="en-US" sz="1600"/>
              <a:t>小约翰•福布斯-纳什（拉塞尔•克劳）在念研究生时，便发表了著名的</a:t>
            </a:r>
            <a:r>
              <a:rPr lang="zh-CN" altLang="en-US" sz="1600" b="1">
                <a:solidFill>
                  <a:srgbClr val="0000FF"/>
                </a:solidFill>
              </a:rPr>
              <a:t>博弈理论</a:t>
            </a:r>
            <a:r>
              <a:rPr lang="zh-CN" altLang="en-US" sz="1600"/>
              <a:t>，该理论虽只有短短26页，却在经济、军事等领域产生了深远的影响。</a:t>
            </a:r>
          </a:p>
          <a:p>
            <a:pPr>
              <a:lnSpc>
                <a:spcPct val="140000"/>
              </a:lnSpc>
            </a:pPr>
            <a:r>
              <a:rPr lang="zh-CN" altLang="en-US" sz="1600"/>
              <a:t>但就在小约翰•福布斯-纳什蜚声国际时，他的出众直觉因为精神分裂症受到困扰，然而这并没阻止他向学术上的最高层进军的步伐，在深爱他的妻子艾丽西亚（珍妮弗•康纳利）的鼓励和帮助下，他走得虽然艰缓，却始终没有停步，而最终，凭借十几年的不懈努力和顽强意志，他如愿以偿。</a:t>
            </a:r>
          </a:p>
        </p:txBody>
      </p:sp>
      <p:pic>
        <p:nvPicPr>
          <p:cNvPr id="100" name="图片 99"/>
          <p:cNvPicPr/>
          <p:nvPr/>
        </p:nvPicPr>
        <p:blipFill>
          <a:blip r:embed="rId4"/>
          <a:stretch>
            <a:fillRect/>
          </a:stretch>
        </p:blipFill>
        <p:spPr>
          <a:xfrm>
            <a:off x="4555100" y="0"/>
            <a:ext cx="4524520" cy="6858000"/>
          </a:xfrm>
          <a:prstGeom prst="rect">
            <a:avLst/>
          </a:prstGeom>
          <a:noFill/>
          <a:ln w="9525">
            <a:noFill/>
          </a:ln>
        </p:spPr>
      </p:pic>
      <p:sp>
        <p:nvSpPr>
          <p:cNvPr id="4" name="文本框 3"/>
          <p:cNvSpPr txBox="1"/>
          <p:nvPr/>
        </p:nvSpPr>
        <p:spPr>
          <a:xfrm>
            <a:off x="5123815" y="6381750"/>
            <a:ext cx="3258820" cy="337185"/>
          </a:xfrm>
          <a:prstGeom prst="rect">
            <a:avLst/>
          </a:prstGeom>
        </p:spPr>
        <p:style>
          <a:lnRef idx="2">
            <a:schemeClr val="accent4"/>
          </a:lnRef>
          <a:fillRef idx="1">
            <a:schemeClr val="lt1"/>
          </a:fillRef>
          <a:effectRef idx="0">
            <a:schemeClr val="accent4"/>
          </a:effectRef>
          <a:fontRef idx="minor">
            <a:schemeClr val="dk1"/>
          </a:fontRef>
        </p:style>
        <p:txBody>
          <a:bodyPr wrap="square" rtlCol="0" anchor="t">
            <a:spAutoFit/>
          </a:bodyPr>
          <a:lstStyle/>
          <a:p>
            <a:r>
              <a:rPr lang="zh-CN" altLang="en-US" sz="1600">
                <a:solidFill>
                  <a:srgbClr val="000000"/>
                </a:solidFill>
                <a:latin typeface="Times New Roman" panose="02020603050405020304" pitchFamily="18" charset="0"/>
                <a:cs typeface="+mn-ea"/>
                <a:sym typeface="+mn-ea"/>
              </a:rPr>
              <a:t>诺贝尔经济学奖获得者 John Nash</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18845" y="1200150"/>
            <a:ext cx="7586345" cy="4629150"/>
          </a:xfrm>
          <a:prstGeom prst="rect">
            <a:avLst/>
          </a:prstGeom>
        </p:spPr>
      </p:pic>
      <p:sp>
        <p:nvSpPr>
          <p:cNvPr id="3" name="文本框 2"/>
          <p:cNvSpPr txBox="1"/>
          <p:nvPr/>
        </p:nvSpPr>
        <p:spPr>
          <a:xfrm>
            <a:off x="537845" y="387350"/>
            <a:ext cx="1554480" cy="645160"/>
          </a:xfrm>
          <a:prstGeom prst="rect">
            <a:avLst/>
          </a:prstGeom>
          <a:solidFill>
            <a:srgbClr val="C00000"/>
          </a:solidFill>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3600"/>
              <a:t>博弈论</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p:nvPr>
        </p:nvSpPr>
        <p:spPr>
          <a:xfrm>
            <a:off x="502285" y="263525"/>
            <a:ext cx="7815580" cy="629920"/>
          </a:xfrm>
          <a:solidFill>
            <a:srgbClr val="C00000"/>
          </a:solidFill>
        </p:spPr>
        <p:style>
          <a:lnRef idx="3">
            <a:schemeClr val="lt1"/>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spAutoFit/>
          </a:bodyPr>
          <a:lstStyle/>
          <a:p>
            <a:pPr lvl="0" algn="l" fontAlgn="base">
              <a:buClrTx/>
              <a:buSzTx/>
              <a:buFontTx/>
            </a:pPr>
            <a:r>
              <a:rPr sz="3600" b="0" spc="0">
                <a:solidFill>
                  <a:schemeClr val="lt1"/>
                </a:solidFill>
                <a:latin typeface="+mn-lt"/>
                <a:ea typeface="+mn-ea"/>
                <a:cs typeface="+mn-cs"/>
                <a:sym typeface="+mn-ea"/>
              </a:rPr>
              <a:t>什么是博弈论  Game Theory</a:t>
            </a:r>
          </a:p>
        </p:txBody>
      </p:sp>
      <p:sp>
        <p:nvSpPr>
          <p:cNvPr id="3" name="内容占位符 2"/>
          <p:cNvSpPr>
            <a:spLocks noGrp="1"/>
          </p:cNvSpPr>
          <p:nvPr>
            <p:ph idx="1"/>
          </p:nvPr>
        </p:nvSpPr>
        <p:spPr>
          <a:xfrm>
            <a:off x="502285" y="915670"/>
            <a:ext cx="8139430" cy="2804160"/>
          </a:xfrm>
        </p:spPr>
        <p:txBody>
          <a:bodyPr/>
          <a:lstStyle/>
          <a:p>
            <a:pPr>
              <a:lnSpc>
                <a:spcPct val="120000"/>
              </a:lnSpc>
            </a:pPr>
            <a:r>
              <a:rPr lang="zh-CN" altLang="en-US" sz="2000" b="1">
                <a:solidFill>
                  <a:srgbClr val="0000FF"/>
                </a:solidFill>
              </a:rPr>
              <a:t>定义：</a:t>
            </a:r>
            <a:r>
              <a:rPr lang="zh-CN" altLang="en-US" sz="2000">
                <a:solidFill>
                  <a:schemeClr val="tx1"/>
                </a:solidFill>
              </a:rPr>
              <a:t>Game Theory can be referred to as the modeling of the possible interactions between two or more </a:t>
            </a:r>
            <a:r>
              <a:rPr lang="zh-CN" altLang="en-US" sz="2000" b="1">
                <a:solidFill>
                  <a:srgbClr val="C00000"/>
                </a:solidFill>
              </a:rPr>
              <a:t>Rational</a:t>
            </a:r>
            <a:r>
              <a:rPr lang="zh-CN" altLang="en-US" sz="2000" b="1">
                <a:solidFill>
                  <a:schemeClr val="tx1"/>
                </a:solidFill>
              </a:rPr>
              <a:t> </a:t>
            </a:r>
            <a:r>
              <a:rPr lang="zh-CN" altLang="en-US" sz="2000">
                <a:solidFill>
                  <a:schemeClr val="tx1"/>
                </a:solidFill>
              </a:rPr>
              <a:t>Agents or players. </a:t>
            </a:r>
          </a:p>
          <a:p>
            <a:pPr>
              <a:lnSpc>
                <a:spcPct val="120000"/>
              </a:lnSpc>
            </a:pPr>
            <a:r>
              <a:rPr sz="2000">
                <a:solidFill>
                  <a:srgbClr val="C00000"/>
                </a:solidFill>
                <a:sym typeface="+mn-ea"/>
              </a:rPr>
              <a:t>Rational(明智，理智)</a:t>
            </a:r>
            <a:r>
              <a:rPr sz="2000">
                <a:solidFill>
                  <a:schemeClr val="tx1"/>
                </a:solidFill>
                <a:sym typeface="+mn-ea"/>
              </a:rPr>
              <a:t>：指的是参与博弈的每一个人都知道其他参与者都与他同样理智且掌握同样的知识、理解整个游戏，同时都追求利益最大化且了解他人也是如此。简单来说就是每个人都是利己的且追求利益最大化的。</a:t>
            </a:r>
          </a:p>
        </p:txBody>
      </p:sp>
      <p:sp>
        <p:nvSpPr>
          <p:cNvPr id="4" name="文本框 3"/>
          <p:cNvSpPr txBox="1"/>
          <p:nvPr/>
        </p:nvSpPr>
        <p:spPr>
          <a:xfrm>
            <a:off x="618490" y="4172585"/>
            <a:ext cx="8399780" cy="2414905"/>
          </a:xfrm>
          <a:prstGeom prst="rect">
            <a:avLst/>
          </a:prstGeom>
          <a:noFill/>
        </p:spPr>
        <p:txBody>
          <a:bodyPr wrap="square" rtlCol="0" anchor="t">
            <a:spAutoFit/>
          </a:bodyPr>
          <a:lstStyle/>
          <a:p>
            <a:pPr>
              <a:lnSpc>
                <a:spcPct val="140000"/>
              </a:lnSpc>
            </a:pPr>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Game(游戏): </a:t>
            </a:r>
            <a:r>
              <a:rPr lang="zh-CN" altLang="en-US">
                <a:latin typeface="微软雅黑" panose="020B0503020204020204" pitchFamily="34" charset="-122"/>
                <a:ea typeface="微软雅黑" panose="020B0503020204020204" pitchFamily="34" charset="-122"/>
                <a:cs typeface="微软雅黑" panose="020B0503020204020204" pitchFamily="34" charset="-122"/>
              </a:rPr>
              <a:t>在泛化的场景中，游戏包含了一些参与者、行为和策略以及最终收益。例如拍卖、棋类、政治等。</a:t>
            </a:r>
          </a:p>
          <a:p>
            <a:pPr>
              <a:lnSpc>
                <a:spcPct val="140000"/>
              </a:lnSpc>
            </a:pPr>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Players(参与者)：</a:t>
            </a:r>
            <a:r>
              <a:rPr lang="zh-CN" altLang="en-US">
                <a:latin typeface="微软雅黑" panose="020B0503020204020204" pitchFamily="34" charset="-122"/>
                <a:ea typeface="微软雅黑" panose="020B0503020204020204" pitchFamily="34" charset="-122"/>
                <a:cs typeface="微软雅黑" panose="020B0503020204020204" pitchFamily="34" charset="-122"/>
              </a:rPr>
              <a:t>是指参与到游戏中的具有理智的实体。例如拍卖会上的竞价者、玩剪刀-石头-布的玩家、参加竞选的政客。</a:t>
            </a:r>
          </a:p>
          <a:p>
            <a:pPr>
              <a:lnSpc>
                <a:spcPct val="140000"/>
              </a:lnSpc>
            </a:pPr>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Payoff(收益)：</a:t>
            </a:r>
            <a:r>
              <a:rPr lang="zh-CN" altLang="en-US">
                <a:latin typeface="微软雅黑" panose="020B0503020204020204" pitchFamily="34" charset="-122"/>
                <a:ea typeface="微软雅黑" panose="020B0503020204020204" pitchFamily="34" charset="-122"/>
                <a:cs typeface="微软雅黑" panose="020B0503020204020204" pitchFamily="34" charset="-122"/>
              </a:rPr>
              <a:t>收益也可以称为奖励，是玩家在参与游戏中会得到的一个结果，可以为正也可以为负。</a:t>
            </a:r>
          </a:p>
        </p:txBody>
      </p:sp>
      <p:sp>
        <p:nvSpPr>
          <p:cNvPr id="5" name="文本框 4"/>
          <p:cNvSpPr txBox="1"/>
          <p:nvPr/>
        </p:nvSpPr>
        <p:spPr>
          <a:xfrm>
            <a:off x="502285" y="3719830"/>
            <a:ext cx="4572000" cy="368300"/>
          </a:xfrm>
          <a:prstGeom prst="rect">
            <a:avLst/>
          </a:prstGeom>
          <a:noFill/>
        </p:spPr>
        <p:txBody>
          <a:bodyPr wrap="square" rtlCol="0" anchor="t">
            <a:spAutoFit/>
          </a:bodyPr>
          <a:lstStyle/>
          <a:p>
            <a:r>
              <a:rPr lang="zh-CN" altLang="en-US" b="1">
                <a:solidFill>
                  <a:srgbClr val="0000FF"/>
                </a:solidFill>
                <a:latin typeface="微软雅黑" panose="020B0503020204020204" pitchFamily="34" charset="-122"/>
                <a:ea typeface="微软雅黑" panose="020B0503020204020204" pitchFamily="34" charset="-122"/>
              </a:rPr>
              <a:t>博弈论中的其他相关概念</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4545" y="1778000"/>
            <a:ext cx="5973445" cy="64516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rPr>
              <a:t>对抗搜索（Adversarial Search）</a:t>
            </a:r>
          </a:p>
          <a:p>
            <a:pPr marL="285750" indent="-285750">
              <a:buFont typeface="Arial" panose="020B0604020202020204" pitchFamily="34" charset="0"/>
              <a:buChar char="•"/>
            </a:pPr>
            <a:r>
              <a:rPr lang="zh-CN" altLang="en-US">
                <a:latin typeface="微软雅黑" panose="020B0503020204020204" pitchFamily="34" charset="-122"/>
                <a:ea typeface="微软雅黑" panose="020B0503020204020204" pitchFamily="34" charset="-122"/>
                <a:cs typeface="微软雅黑" panose="020B0503020204020204" pitchFamily="34" charset="-122"/>
              </a:rPr>
              <a:t>博弈搜索（Game </a:t>
            </a:r>
            <a:r>
              <a:rPr lang="en-US" altLang="zh-CN">
                <a:latin typeface="微软雅黑" panose="020B0503020204020204" pitchFamily="34" charset="-122"/>
                <a:ea typeface="微软雅黑" panose="020B0503020204020204" pitchFamily="34" charset="-122"/>
                <a:cs typeface="微软雅黑" panose="020B0503020204020204" pitchFamily="34" charset="-122"/>
              </a:rPr>
              <a:t>S</a:t>
            </a:r>
            <a:r>
              <a:rPr lang="zh-CN" altLang="en-US">
                <a:latin typeface="微软雅黑" panose="020B0503020204020204" pitchFamily="34" charset="-122"/>
                <a:ea typeface="微软雅黑" panose="020B0503020204020204" pitchFamily="34" charset="-122"/>
                <a:cs typeface="微软雅黑" panose="020B0503020204020204" pitchFamily="34" charset="-122"/>
              </a:rPr>
              <a:t>earch）</a:t>
            </a:r>
          </a:p>
        </p:txBody>
      </p:sp>
      <p:sp>
        <p:nvSpPr>
          <p:cNvPr id="3" name="文本框 2"/>
          <p:cNvSpPr txBox="1"/>
          <p:nvPr/>
        </p:nvSpPr>
        <p:spPr>
          <a:xfrm>
            <a:off x="892175" y="2576195"/>
            <a:ext cx="7359015" cy="829945"/>
          </a:xfrm>
          <a:prstGeom prst="rect">
            <a:avLst/>
          </a:prstGeom>
          <a:noFill/>
        </p:spPr>
        <p:txBody>
          <a:bodyPr wrap="square" rtlCol="0" anchor="t">
            <a:spAutoFit/>
          </a:bodyPr>
          <a:lstStyle/>
          <a:p>
            <a:pPr>
              <a:lnSpc>
                <a:spcPct val="12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在一个</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竞争的环境</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中，智能体（agents）之间通过竞争实现</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相反的利益</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，一方最大化这个利益，另一方最小化。</a:t>
            </a:r>
          </a:p>
        </p:txBody>
      </p:sp>
      <p:sp>
        <p:nvSpPr>
          <p:cNvPr id="9217" name="Rectangle 2"/>
          <p:cNvSpPr>
            <a:spLocks noGrp="1" noRot="1"/>
          </p:cNvSpPr>
          <p:nvPr/>
        </p:nvSpPr>
        <p:spPr>
          <a:xfrm>
            <a:off x="301625" y="481965"/>
            <a:ext cx="8540750"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b="1" dirty="0">
                <a:solidFill>
                  <a:schemeClr val="accent1"/>
                </a:solidFill>
                <a:latin typeface="微软雅黑" panose="020B0503020204020204" pitchFamily="34" charset="-122"/>
                <a:ea typeface="微软雅黑" panose="020B0503020204020204" pitchFamily="34" charset="-122"/>
                <a:sym typeface="+mn-ea"/>
              </a:rPr>
              <a:t>第5章</a:t>
            </a:r>
            <a:r>
              <a:rPr lang="en-US" altLang="zh-CN" b="1" dirty="0">
                <a:solidFill>
                  <a:schemeClr val="accent1"/>
                </a:solidFill>
                <a:latin typeface="微软雅黑" panose="020B0503020204020204" pitchFamily="34" charset="-122"/>
                <a:ea typeface="微软雅黑" panose="020B0503020204020204" pitchFamily="34" charset="-122"/>
                <a:sym typeface="+mn-ea"/>
              </a:rPr>
              <a:t>   </a:t>
            </a:r>
            <a:r>
              <a:rPr lang="zh-CN" altLang="en-US" b="1" kern="1200" dirty="0">
                <a:solidFill>
                  <a:schemeClr val="accent1"/>
                </a:solidFill>
                <a:latin typeface="微软雅黑" panose="020B0503020204020204" pitchFamily="34" charset="-122"/>
                <a:ea typeface="微软雅黑" panose="020B0503020204020204" pitchFamily="34" charset="-122"/>
                <a:sym typeface="+mn-ea"/>
              </a:rPr>
              <a:t>对抗搜索</a:t>
            </a:r>
            <a:r>
              <a:rPr lang="en-US" altLang="zh-CN" b="1" kern="1200" dirty="0">
                <a:solidFill>
                  <a:schemeClr val="accent1"/>
                </a:solidFill>
                <a:latin typeface="微软雅黑" panose="020B0503020204020204" pitchFamily="34" charset="-122"/>
                <a:ea typeface="微软雅黑" panose="020B0503020204020204" pitchFamily="34" charset="-122"/>
                <a:sym typeface="+mn-ea"/>
              </a:rPr>
              <a:t>/</a:t>
            </a:r>
            <a:r>
              <a:rPr lang="zh-CN" altLang="en-US" b="1" kern="1200" dirty="0">
                <a:solidFill>
                  <a:schemeClr val="accent1"/>
                </a:solidFill>
                <a:latin typeface="微软雅黑" panose="020B0503020204020204" pitchFamily="34" charset="-122"/>
                <a:ea typeface="微软雅黑" panose="020B0503020204020204" pitchFamily="34" charset="-122"/>
                <a:sym typeface="+mn-ea"/>
              </a:rPr>
              <a:t>敌对搜索</a:t>
            </a:r>
            <a:br>
              <a:rPr lang="zh-CN" altLang="en-US" b="1" kern="1200" dirty="0">
                <a:solidFill>
                  <a:schemeClr val="accent1"/>
                </a:solidFill>
                <a:latin typeface="微软雅黑" panose="020B0503020204020204" pitchFamily="34" charset="-122"/>
                <a:ea typeface="微软雅黑" panose="020B0503020204020204" pitchFamily="34" charset="-122"/>
                <a:sym typeface="+mn-ea"/>
              </a:rPr>
            </a:br>
            <a:r>
              <a:rPr lang="en-US" altLang="zh-CN" sz="3200" b="1" kern="1200" dirty="0">
                <a:solidFill>
                  <a:schemeClr val="accent1"/>
                </a:solidFill>
                <a:latin typeface="微软雅黑" panose="020B0503020204020204" pitchFamily="34" charset="-122"/>
                <a:ea typeface="微软雅黑" panose="020B0503020204020204" pitchFamily="34" charset="-122"/>
                <a:sym typeface="+mn-ea"/>
              </a:rPr>
              <a:t>Adversarial Search</a:t>
            </a:r>
          </a:p>
        </p:txBody>
      </p:sp>
      <p:sp>
        <p:nvSpPr>
          <p:cNvPr id="4" name="文本框 3"/>
          <p:cNvSpPr txBox="1"/>
          <p:nvPr/>
        </p:nvSpPr>
        <p:spPr>
          <a:xfrm>
            <a:off x="804545" y="4672965"/>
            <a:ext cx="2889885" cy="645160"/>
          </a:xfrm>
          <a:prstGeom prst="rect">
            <a:avLst/>
          </a:prstGeom>
          <a:noFill/>
        </p:spPr>
        <p:txBody>
          <a:bodyPr wrap="square" rtlCol="0">
            <a:spAutoFit/>
          </a:bodyPr>
          <a:lstStyle/>
          <a:p>
            <a:r>
              <a:rPr lang="zh-CN" altLang="en-US" b="1">
                <a:latin typeface="微软雅黑" panose="020B0503020204020204" pitchFamily="34" charset="-122"/>
                <a:ea typeface="微软雅黑" panose="020B0503020204020204" pitchFamily="34" charset="-122"/>
              </a:rPr>
              <a:t>竞争的环境中，每个智能体的目标之间是有</a:t>
            </a:r>
            <a:r>
              <a:rPr lang="zh-CN" altLang="en-US" b="1">
                <a:solidFill>
                  <a:srgbClr val="FF0000"/>
                </a:solidFill>
                <a:latin typeface="微软雅黑" panose="020B0503020204020204" pitchFamily="34" charset="-122"/>
                <a:ea typeface="微软雅黑" panose="020B0503020204020204" pitchFamily="34" charset="-122"/>
              </a:rPr>
              <a:t>冲突</a:t>
            </a:r>
            <a:r>
              <a:rPr lang="zh-CN" altLang="en-US" b="1">
                <a:latin typeface="微软雅黑" panose="020B0503020204020204" pitchFamily="34" charset="-122"/>
                <a:ea typeface="微软雅黑" panose="020B0503020204020204" pitchFamily="34" charset="-122"/>
              </a:rPr>
              <a:t>的。</a:t>
            </a:r>
          </a:p>
        </p:txBody>
      </p:sp>
      <p:pic>
        <p:nvPicPr>
          <p:cNvPr id="5" name="图片 4"/>
          <p:cNvPicPr/>
          <p:nvPr/>
        </p:nvPicPr>
        <p:blipFill>
          <a:blip r:embed="rId3"/>
          <a:stretch>
            <a:fillRect/>
          </a:stretch>
        </p:blipFill>
        <p:spPr>
          <a:xfrm>
            <a:off x="3766820" y="3758565"/>
            <a:ext cx="4617085" cy="2474595"/>
          </a:xfrm>
          <a:prstGeom prst="rect">
            <a:avLst/>
          </a:prstGeom>
          <a:noFill/>
          <a:ln w="9525">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5.1 </a:t>
            </a:r>
            <a:r>
              <a:t>博弈</a:t>
            </a:r>
            <a:r>
              <a:rPr lang="en-US" altLang="zh-CN"/>
              <a:t> Games</a:t>
            </a:r>
          </a:p>
        </p:txBody>
      </p:sp>
      <p:sp>
        <p:nvSpPr>
          <p:cNvPr id="3" name="内容占位符 2"/>
          <p:cNvSpPr>
            <a:spLocks noGrp="1"/>
          </p:cNvSpPr>
          <p:nvPr>
            <p:ph idx="1"/>
          </p:nvPr>
        </p:nvSpPr>
        <p:spPr>
          <a:xfrm>
            <a:off x="502411" y="1408316"/>
            <a:ext cx="8139178" cy="4041680"/>
          </a:xfrm>
        </p:spPr>
        <p:txBody>
          <a:bodyPr/>
          <a:lstStyle/>
          <a:p>
            <a:pPr>
              <a:lnSpc>
                <a:spcPct val="120000"/>
              </a:lnSpc>
            </a:pPr>
            <a:r>
              <a:rPr lang="zh-CN" altLang="en-US" sz="1800"/>
              <a:t>多智能体环境下，智能体之间存在</a:t>
            </a:r>
            <a:r>
              <a:rPr lang="zh-CN" altLang="en-US" sz="1800" b="1">
                <a:solidFill>
                  <a:srgbClr val="C00000"/>
                </a:solidFill>
              </a:rPr>
              <a:t>合作</a:t>
            </a:r>
            <a:r>
              <a:rPr lang="zh-CN" altLang="en-US" sz="1800"/>
              <a:t>和</a:t>
            </a:r>
            <a:r>
              <a:rPr lang="zh-CN" altLang="en-US" sz="1800" b="1">
                <a:solidFill>
                  <a:srgbClr val="C00000"/>
                </a:solidFill>
              </a:rPr>
              <a:t>竞争</a:t>
            </a:r>
            <a:r>
              <a:rPr lang="zh-CN" altLang="en-US" sz="1800"/>
              <a:t>关系</a:t>
            </a:r>
          </a:p>
          <a:p>
            <a:pPr>
              <a:lnSpc>
                <a:spcPct val="120000"/>
              </a:lnSpc>
            </a:pPr>
            <a:r>
              <a:rPr lang="zh-CN" altLang="en-US" sz="1800" b="1">
                <a:solidFill>
                  <a:srgbClr val="0070C0"/>
                </a:solidFill>
              </a:rPr>
              <a:t>定义：竞争环境中多个agent之间的目标是有冲突的，称为</a:t>
            </a:r>
            <a:r>
              <a:rPr lang="zh-CN" altLang="en-US" sz="1800" b="1">
                <a:solidFill>
                  <a:srgbClr val="FF0000"/>
                </a:solidFill>
              </a:rPr>
              <a:t>对抗搜索</a:t>
            </a:r>
            <a:r>
              <a:rPr lang="zh-CN" altLang="en-US" sz="1800" b="1">
                <a:solidFill>
                  <a:srgbClr val="0070C0"/>
                </a:solidFill>
              </a:rPr>
              <a:t>问题，也称为</a:t>
            </a:r>
            <a:r>
              <a:rPr lang="zh-CN" altLang="en-US" sz="1800" b="1">
                <a:solidFill>
                  <a:srgbClr val="FF0000"/>
                </a:solidFill>
              </a:rPr>
              <a:t>博弈</a:t>
            </a:r>
            <a:r>
              <a:rPr lang="zh-CN" altLang="en-US" sz="1800" b="1">
                <a:solidFill>
                  <a:srgbClr val="0070C0"/>
                </a:solidFill>
              </a:rPr>
              <a:t>（Games）</a:t>
            </a:r>
          </a:p>
          <a:p>
            <a:pPr lvl="1">
              <a:lnSpc>
                <a:spcPct val="120000"/>
              </a:lnSpc>
            </a:pPr>
            <a:r>
              <a:rPr lang="zh-CN" altLang="en-US" sz="1800" b="1">
                <a:solidFill>
                  <a:srgbClr val="C00000"/>
                </a:solidFill>
              </a:rPr>
              <a:t>数学中的博弈论： </a:t>
            </a:r>
            <a:r>
              <a:rPr lang="zh-CN" altLang="en-US" sz="1800"/>
              <a:t>把任何</a:t>
            </a:r>
            <a:r>
              <a:rPr lang="zh-CN" altLang="en-US" sz="1800">
                <a:solidFill>
                  <a:srgbClr val="0000FF"/>
                </a:solidFill>
              </a:rPr>
              <a:t>多智能体环境（一般视为是经济系统）</a:t>
            </a:r>
            <a:r>
              <a:rPr lang="zh-CN" altLang="en-US" sz="1800"/>
              <a:t>看成是一种博弈游戏，如果其中每个智能体都会受到其它智能体的“显著”影响。这些影响可以是合作或竞争。</a:t>
            </a:r>
          </a:p>
          <a:p>
            <a:pPr lvl="1">
              <a:lnSpc>
                <a:spcPct val="120000"/>
              </a:lnSpc>
            </a:pPr>
            <a:r>
              <a:rPr lang="zh-CN" altLang="en-US" sz="1800" b="1">
                <a:solidFill>
                  <a:srgbClr val="C00000"/>
                </a:solidFill>
              </a:rPr>
              <a:t>人工智能中的博弈：</a:t>
            </a:r>
            <a:r>
              <a:rPr lang="zh-CN" altLang="en-US" sz="1800"/>
              <a:t>有</a:t>
            </a:r>
            <a:r>
              <a:rPr lang="zh-CN" altLang="en-US" sz="1800">
                <a:solidFill>
                  <a:srgbClr val="0000FF"/>
                </a:solidFill>
              </a:rPr>
              <a:t>完整信息的</a:t>
            </a:r>
            <a:r>
              <a:rPr lang="zh-CN" altLang="en-US" sz="1800"/>
              <a:t>、</a:t>
            </a:r>
            <a:r>
              <a:rPr lang="zh-CN" altLang="en-US" sz="1800">
                <a:solidFill>
                  <a:srgbClr val="0000FF"/>
                </a:solidFill>
              </a:rPr>
              <a:t>确定的</a:t>
            </a:r>
            <a:r>
              <a:rPr lang="zh-CN" altLang="en-US" sz="1800"/>
              <a:t>、</a:t>
            </a:r>
            <a:r>
              <a:rPr lang="zh-CN" altLang="en-US" sz="1800">
                <a:solidFill>
                  <a:srgbClr val="0000FF"/>
                </a:solidFill>
              </a:rPr>
              <a:t>轮流行动</a:t>
            </a:r>
            <a:r>
              <a:rPr lang="zh-CN" altLang="en-US" sz="1800"/>
              <a:t>的两个游戏者的</a:t>
            </a:r>
            <a:r>
              <a:rPr lang="zh-CN" altLang="en-US" sz="1800" b="1">
                <a:solidFill>
                  <a:srgbClr val="0000FF"/>
                </a:solidFill>
              </a:rPr>
              <a:t>零和游戏</a:t>
            </a:r>
            <a:r>
              <a:rPr lang="zh-CN" altLang="en-US" sz="1800"/>
              <a:t>。（可为多人）</a:t>
            </a:r>
          </a:p>
          <a:p>
            <a:pPr lvl="2">
              <a:lnSpc>
                <a:spcPct val="120000"/>
              </a:lnSpc>
            </a:pPr>
            <a:r>
              <a:rPr lang="zh-CN" altLang="en-US" sz="1800"/>
              <a:t>（与玩具问题相比）难于求解</a:t>
            </a:r>
          </a:p>
          <a:p>
            <a:pPr lvl="2">
              <a:lnSpc>
                <a:spcPct val="120000"/>
              </a:lnSpc>
            </a:pPr>
            <a:r>
              <a:rPr lang="zh-CN" altLang="en-US" sz="1800"/>
              <a:t>注重时间效率</a:t>
            </a:r>
          </a:p>
          <a:p>
            <a:pPr lvl="2">
              <a:lnSpc>
                <a:spcPct val="120000"/>
              </a:lnSpc>
            </a:pPr>
            <a:r>
              <a:rPr lang="zh-CN" altLang="en-US" sz="1800"/>
              <a:t>博弈的抽象本性成为AI研究者感兴趣的对象</a:t>
            </a:r>
          </a:p>
        </p:txBody>
      </p:sp>
      <p:sp>
        <p:nvSpPr>
          <p:cNvPr id="5" name="文本框 4"/>
          <p:cNvSpPr txBox="1"/>
          <p:nvPr/>
        </p:nvSpPr>
        <p:spPr>
          <a:xfrm>
            <a:off x="832485" y="6144260"/>
            <a:ext cx="7479030" cy="368300"/>
          </a:xfrm>
          <a:prstGeom prst="rect">
            <a:avLst/>
          </a:prstGeom>
          <a:solidFill>
            <a:srgbClr val="C00000"/>
          </a:solidFill>
        </p:spPr>
        <p:txBody>
          <a:bodyPr wrap="square" rtlCol="0" anchor="t">
            <a:spAutoFit/>
          </a:bodyPr>
          <a:lstStyle/>
          <a:p>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AI中研究的博弈，即如何根据当前的棋局，选择对自己最有利的一步棋 ？ </a:t>
            </a:r>
          </a:p>
        </p:txBody>
      </p:sp>
      <p:pic>
        <p:nvPicPr>
          <p:cNvPr id="4" name="图片 3" descr="343435383036393b343532333934313bb2a9dec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01105" y="4214495"/>
            <a:ext cx="1235710" cy="1235710"/>
          </a:xfrm>
          <a:prstGeom prst="rect">
            <a:avLst/>
          </a:prstGeom>
        </p:spPr>
      </p:pic>
      <p:sp>
        <p:nvSpPr>
          <p:cNvPr id="6" name="文本框 5"/>
          <p:cNvSpPr txBox="1"/>
          <p:nvPr/>
        </p:nvSpPr>
        <p:spPr>
          <a:xfrm>
            <a:off x="7536815" y="5209540"/>
            <a:ext cx="1315720" cy="773468"/>
          </a:xfrm>
          <a:prstGeom prst="cloudCallou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zh-CN" altLang="en-US"/>
              <a:t>最佳招数</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4715" y="3717290"/>
            <a:ext cx="7353935" cy="368300"/>
          </a:xfrm>
          <a:prstGeom prst="rect">
            <a:avLst/>
          </a:prstGeom>
          <a:noFill/>
        </p:spPr>
        <p:txBody>
          <a:bodyPr wrap="square" rtlCol="0" anchor="t">
            <a:spAutoFit/>
          </a:bodyPr>
          <a:lstStyle/>
          <a:p>
            <a:r>
              <a:rPr lang="zh-CN" altLang="en-US"/>
              <a:t>      </a:t>
            </a:r>
          </a:p>
        </p:txBody>
      </p:sp>
      <p:pic>
        <p:nvPicPr>
          <p:cNvPr id="3" name="图片 2"/>
          <p:cNvPicPr>
            <a:picLocks noChangeAspect="1"/>
          </p:cNvPicPr>
          <p:nvPr/>
        </p:nvPicPr>
        <p:blipFill>
          <a:blip r:embed="rId4"/>
          <a:stretch>
            <a:fillRect/>
          </a:stretch>
        </p:blipFill>
        <p:spPr>
          <a:xfrm>
            <a:off x="262255" y="2205990"/>
            <a:ext cx="8746490" cy="3886200"/>
          </a:xfrm>
          <a:prstGeom prst="rect">
            <a:avLst/>
          </a:prstGeom>
        </p:spPr>
      </p:pic>
      <p:sp>
        <p:nvSpPr>
          <p:cNvPr id="4" name="文本框 3"/>
          <p:cNvSpPr txBox="1"/>
          <p:nvPr/>
        </p:nvSpPr>
        <p:spPr>
          <a:xfrm>
            <a:off x="661035" y="381635"/>
            <a:ext cx="4012565" cy="583565"/>
          </a:xfrm>
          <a:prstGeom prst="rect">
            <a:avLst/>
          </a:prstGeom>
          <a:noFill/>
        </p:spPr>
        <p:txBody>
          <a:bodyPr wrap="square" rtlCol="0">
            <a:spAutoFit/>
          </a:bodyPr>
          <a:lstStyle/>
          <a:p>
            <a:pPr algn="l" fontAlgn="auto">
              <a:buClrTx/>
              <a:buSzTx/>
              <a:buFontTx/>
            </a:pPr>
            <a:r>
              <a:rPr lang="zh-CN" altLang="en-US" sz="3200" b="1" spc="200">
                <a:solidFill>
                  <a:schemeClr val="accent1"/>
                </a:solidFill>
                <a:uFillTx/>
                <a:ea typeface="微软雅黑" panose="020B0503020204020204" pitchFamily="34" charset="-122"/>
                <a:cs typeface="+mj-cs"/>
              </a:rPr>
              <a:t>博弈的例子：下棋</a:t>
            </a:r>
          </a:p>
        </p:txBody>
      </p:sp>
      <p:sp>
        <p:nvSpPr>
          <p:cNvPr id="5" name="文本框 4"/>
          <p:cNvSpPr txBox="1"/>
          <p:nvPr/>
        </p:nvSpPr>
        <p:spPr>
          <a:xfrm>
            <a:off x="661035" y="1047115"/>
            <a:ext cx="7822565" cy="922020"/>
          </a:xfrm>
          <a:prstGeom prst="rect">
            <a:avLst/>
          </a:prstGeom>
          <a:noFill/>
        </p:spPr>
        <p:txBody>
          <a:bodyPr wrap="square" rtlCol="0" anchor="t">
            <a:spAutoFit/>
          </a:bodyPr>
          <a:lstStyle/>
          <a:p>
            <a:r>
              <a:rPr lang="zh-CN" altLang="en-US"/>
              <a:t>两位选手对垒，轮流走步。这时每一方不仅知道对方过去已经走过的棋步，而且还能估计出对方未来可能的走步。对弈的结果是一方赢（另一方则输），或者双方和局。</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73685" y="371475"/>
            <a:ext cx="8139430" cy="915035"/>
          </a:xfrm>
        </p:spPr>
        <p:txBody>
          <a:bodyPr/>
          <a:lstStyle/>
          <a:p>
            <a:r>
              <a:rPr sz="3200"/>
              <a:t>博弈的例子：钱包拿钱</a:t>
            </a:r>
          </a:p>
        </p:txBody>
      </p:sp>
      <p:sp>
        <p:nvSpPr>
          <p:cNvPr id="4" name="文本框 3"/>
          <p:cNvSpPr txBox="1"/>
          <p:nvPr/>
        </p:nvSpPr>
        <p:spPr>
          <a:xfrm>
            <a:off x="273685" y="2887980"/>
            <a:ext cx="3621405" cy="357695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a:lnSpc>
                <a:spcPct val="140000"/>
              </a:lnSpc>
            </a:pPr>
            <a:r>
              <a:rPr lang="zh-CN" altLang="en-US"/>
              <a:t>因为Max想让自己的钱越多越好，而Min不想让Max钱多，所以Min会选一张相对最小的钱给Max。</a:t>
            </a:r>
          </a:p>
          <a:p>
            <a:pPr>
              <a:lnSpc>
                <a:spcPct val="140000"/>
              </a:lnSpc>
            </a:pPr>
            <a:r>
              <a:rPr lang="zh-CN" altLang="en-US">
                <a:solidFill>
                  <a:srgbClr val="C00000"/>
                </a:solidFill>
              </a:rPr>
              <a:t>也即，Max想获得最大利益，而Min只是想承受最小的对手变强程度。</a:t>
            </a:r>
          </a:p>
          <a:p>
            <a:pPr>
              <a:lnSpc>
                <a:spcPct val="140000"/>
              </a:lnSpc>
            </a:pPr>
            <a:r>
              <a:rPr lang="zh-CN" altLang="en-US"/>
              <a:t>在这种情况下Max应该选择包2，Min会给他2元。如果Max选择了包1 ，Min只会给他选0.5元。</a:t>
            </a:r>
          </a:p>
        </p:txBody>
      </p:sp>
      <p:pic>
        <p:nvPicPr>
          <p:cNvPr id="8" name="内容占位符 7"/>
          <p:cNvPicPr>
            <a:picLocks noGrp="1" noChangeAspect="1"/>
          </p:cNvPicPr>
          <p:nvPr>
            <p:ph idx="1"/>
          </p:nvPr>
        </p:nvPicPr>
        <p:blipFill>
          <a:blip r:embed="rId4">
            <a:clrChange>
              <a:clrFrom>
                <a:srgbClr val="FFFFFF">
                  <a:alpha val="100000"/>
                </a:srgbClr>
              </a:clrFrom>
              <a:clrTo>
                <a:srgbClr val="FFFFFF">
                  <a:alpha val="100000"/>
                  <a:alpha val="0"/>
                </a:srgbClr>
              </a:clrTo>
            </a:clrChange>
          </a:blip>
          <a:srcRect l="4038" r="1615"/>
          <a:stretch>
            <a:fillRect/>
          </a:stretch>
        </p:blipFill>
        <p:spPr>
          <a:xfrm>
            <a:off x="4130040" y="2811780"/>
            <a:ext cx="4899660" cy="3729355"/>
          </a:xfrm>
          <a:prstGeom prst="rect">
            <a:avLst/>
          </a:prstGeom>
        </p:spPr>
      </p:pic>
      <p:sp>
        <p:nvSpPr>
          <p:cNvPr id="2" name="文本框 1"/>
          <p:cNvSpPr txBox="1"/>
          <p:nvPr/>
        </p:nvSpPr>
        <p:spPr>
          <a:xfrm>
            <a:off x="273685" y="1017905"/>
            <a:ext cx="5427980" cy="1640205"/>
          </a:xfrm>
          <a:prstGeom prst="rect">
            <a:avLst/>
          </a:prstGeom>
          <a:noFill/>
        </p:spPr>
        <p:txBody>
          <a:bodyPr wrap="square" rtlCol="0" anchor="t">
            <a:spAutoFit/>
          </a:bodyPr>
          <a:lstStyle/>
          <a:p>
            <a:pPr algn="l">
              <a:lnSpc>
                <a:spcPct val="140000"/>
              </a:lnSpc>
            </a:pPr>
            <a:r>
              <a:rPr lang="zh-CN" altLang="en-US">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假设有两个钱包，每个钱包都放2张钱，第一个放了0.5元和100元，第二个放了2元和10元</a:t>
            </a:r>
            <a:r>
              <a:rPr lang="en-US" altLang="zh-CN">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Max和Min两个人是死对头。</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现在Max负责挑出一个包，Min负责从Max选的包里选一张小的钱给Max。</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 name="组合 8"/>
          <p:cNvGrpSpPr/>
          <p:nvPr/>
        </p:nvGrpSpPr>
        <p:grpSpPr>
          <a:xfrm>
            <a:off x="6041390" y="371475"/>
            <a:ext cx="2599690" cy="2018030"/>
            <a:chOff x="9514" y="585"/>
            <a:chExt cx="4094" cy="3178"/>
          </a:xfrm>
        </p:grpSpPr>
        <p:pic>
          <p:nvPicPr>
            <p:cNvPr id="3" name="图片 2"/>
            <p:cNvPicPr>
              <a:picLocks noChangeAspect="1"/>
            </p:cNvPicPr>
            <p:nvPr/>
          </p:nvPicPr>
          <p:blipFill>
            <a:blip r:embed="rId5"/>
            <a:srcRect l="8667" t="6500" r="19056"/>
            <a:stretch>
              <a:fillRect/>
            </a:stretch>
          </p:blipFill>
          <p:spPr>
            <a:xfrm>
              <a:off x="9514" y="585"/>
              <a:ext cx="4095" cy="3179"/>
            </a:xfrm>
            <a:prstGeom prst="rect">
              <a:avLst/>
            </a:prstGeom>
          </p:spPr>
        </p:pic>
        <p:pic>
          <p:nvPicPr>
            <p:cNvPr id="6" name="图片 5" descr="templates\docerresourceshop\icons\\31393935333230313b31373432363031343bd0f2bac53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48" y="1244"/>
              <a:ext cx="782" cy="782"/>
            </a:xfrm>
            <a:prstGeom prst="rect">
              <a:avLst/>
            </a:prstGeom>
          </p:spPr>
        </p:pic>
        <p:pic>
          <p:nvPicPr>
            <p:cNvPr id="7" name="图片 6" descr="templates\docerresourceshop\icons\\31393935333230313b31373432363031363bd0f2bac53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39" y="2474"/>
              <a:ext cx="841" cy="841"/>
            </a:xfrm>
            <a:prstGeom prst="rect">
              <a:avLst/>
            </a:prstGeom>
          </p:spPr>
        </p:pic>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 grpId="0"/>
      <p:bldP spid="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rgbClr val="0000FF"/>
                </a:solidFill>
              </a:rPr>
              <a:t>博弈的类型</a:t>
            </a:r>
          </a:p>
        </p:txBody>
      </p:sp>
      <p:sp>
        <p:nvSpPr>
          <p:cNvPr id="5" name="文本框 4"/>
          <p:cNvSpPr txBox="1"/>
          <p:nvPr/>
        </p:nvSpPr>
        <p:spPr>
          <a:xfrm>
            <a:off x="2630170" y="1151255"/>
            <a:ext cx="6254115" cy="645160"/>
          </a:xfrm>
          <a:prstGeom prst="rect">
            <a:avLst/>
          </a:prstGeom>
          <a:noFill/>
        </p:spPr>
        <p:txBody>
          <a:bodyPr wrap="square" rtlCol="0" anchor="t">
            <a:spAutoFit/>
          </a:bodyPr>
          <a:lstStyle/>
          <a:p>
            <a:r>
              <a:rPr lang="zh-CN" altLang="en-US"/>
              <a:t>直观来说，我们可以根据博弈中的参与者是寻求合作还是竞争来对博弈进行分类。</a:t>
            </a:r>
          </a:p>
        </p:txBody>
      </p:sp>
      <p:sp>
        <p:nvSpPr>
          <p:cNvPr id="6" name="文本框 5"/>
          <p:cNvSpPr txBox="1"/>
          <p:nvPr/>
        </p:nvSpPr>
        <p:spPr>
          <a:xfrm>
            <a:off x="3171190" y="1981835"/>
            <a:ext cx="4572000" cy="645160"/>
          </a:xfrm>
          <a:prstGeom prst="rect">
            <a:avLst/>
          </a:prstGeom>
          <a:noFill/>
        </p:spPr>
        <p:txBody>
          <a:bodyPr wrap="square" rtlCol="0" anchor="t">
            <a:spAutoFit/>
          </a:bodyPr>
          <a:lstStyle/>
          <a:p>
            <a:r>
              <a:rPr lang="zh-CN" altLang="en-US"/>
              <a:t>政治运动：竞争性博弈</a:t>
            </a:r>
          </a:p>
          <a:p>
            <a:r>
              <a:rPr lang="zh-CN" altLang="en-US"/>
              <a:t>篮球队内博弈：合作性博弈</a:t>
            </a:r>
          </a:p>
        </p:txBody>
      </p:sp>
      <p:sp>
        <p:nvSpPr>
          <p:cNvPr id="8" name="文本框 7"/>
          <p:cNvSpPr txBox="1"/>
          <p:nvPr/>
        </p:nvSpPr>
        <p:spPr>
          <a:xfrm>
            <a:off x="2630805" y="2887345"/>
            <a:ext cx="6011545" cy="645160"/>
          </a:xfrm>
          <a:prstGeom prst="rect">
            <a:avLst/>
          </a:prstGeom>
          <a:noFill/>
        </p:spPr>
        <p:txBody>
          <a:bodyPr wrap="square" rtlCol="0" anchor="t">
            <a:spAutoFit/>
          </a:bodyPr>
          <a:lstStyle/>
          <a:p>
            <a:r>
              <a:rPr lang="zh-CN" altLang="en-US"/>
              <a:t> 我们也可以根据智能体是同时的还是延展的来对博弈进行分类。</a:t>
            </a:r>
          </a:p>
        </p:txBody>
      </p:sp>
      <p:sp>
        <p:nvSpPr>
          <p:cNvPr id="9" name="文本框 8"/>
          <p:cNvSpPr txBox="1"/>
          <p:nvPr/>
        </p:nvSpPr>
        <p:spPr>
          <a:xfrm>
            <a:off x="502285" y="1155700"/>
            <a:ext cx="4572000" cy="368300"/>
          </a:xfrm>
          <a:prstGeom prst="rect">
            <a:avLst/>
          </a:prstGeom>
          <a:noFill/>
        </p:spPr>
        <p:txBody>
          <a:bodyPr wrap="square" rtlCol="0" anchor="t">
            <a:spAutoFit/>
          </a:bodyPr>
          <a:lstStyle/>
          <a:p>
            <a:r>
              <a:rPr lang="zh-CN" altLang="en-US" b="1">
                <a:latin typeface="微软雅黑" panose="020B0503020204020204" pitchFamily="34" charset="-122"/>
                <a:ea typeface="微软雅黑" panose="020B0503020204020204" pitchFamily="34" charset="-122"/>
                <a:sym typeface="+mn-ea"/>
              </a:rPr>
              <a:t>智能体之间的交互</a:t>
            </a:r>
          </a:p>
        </p:txBody>
      </p:sp>
      <p:sp>
        <p:nvSpPr>
          <p:cNvPr id="10" name="文本框 9"/>
          <p:cNvSpPr txBox="1"/>
          <p:nvPr/>
        </p:nvSpPr>
        <p:spPr>
          <a:xfrm>
            <a:off x="3171190" y="3778885"/>
            <a:ext cx="4572000" cy="368300"/>
          </a:xfrm>
          <a:prstGeom prst="rect">
            <a:avLst/>
          </a:prstGeom>
          <a:noFill/>
        </p:spPr>
        <p:txBody>
          <a:bodyPr wrap="square" rtlCol="0" anchor="t">
            <a:spAutoFit/>
          </a:bodyPr>
          <a:lstStyle/>
          <a:p>
            <a:r>
              <a:rPr lang="zh-CN" altLang="en-US"/>
              <a:t>石头-剪刀-布：同时性的博弈</a:t>
            </a:r>
          </a:p>
        </p:txBody>
      </p:sp>
      <p:sp>
        <p:nvSpPr>
          <p:cNvPr id="11" name="文本框 10"/>
          <p:cNvSpPr txBox="1"/>
          <p:nvPr/>
        </p:nvSpPr>
        <p:spPr>
          <a:xfrm>
            <a:off x="3253740" y="4272915"/>
            <a:ext cx="5292090" cy="645160"/>
          </a:xfrm>
          <a:prstGeom prst="rect">
            <a:avLst/>
          </a:prstGeom>
          <a:noFill/>
        </p:spPr>
        <p:txBody>
          <a:bodyPr wrap="square" rtlCol="0" anchor="t">
            <a:spAutoFit/>
          </a:bodyPr>
          <a:lstStyle/>
          <a:p>
            <a:r>
              <a:rPr lang="zh-CN" altLang="en-US"/>
              <a:t>Tic-Tac-Toe：扩展性的博弈（回合制博弈，每一个参与者可以看到另外一个参与者的行为）</a:t>
            </a:r>
          </a:p>
        </p:txBody>
      </p:sp>
      <p:sp>
        <p:nvSpPr>
          <p:cNvPr id="12" name="文本框 11"/>
          <p:cNvSpPr txBox="1"/>
          <p:nvPr/>
        </p:nvSpPr>
        <p:spPr>
          <a:xfrm>
            <a:off x="502285" y="2887345"/>
            <a:ext cx="4572000" cy="368300"/>
          </a:xfrm>
          <a:prstGeom prst="rect">
            <a:avLst/>
          </a:prstGeom>
          <a:noFill/>
        </p:spPr>
        <p:txBody>
          <a:bodyPr wrap="square" rtlCol="0" anchor="t">
            <a:spAutoFit/>
          </a:bodyPr>
          <a:lstStyle/>
          <a:p>
            <a:pPr lvl="0" algn="l">
              <a:buClrTx/>
              <a:buSzTx/>
              <a:buFontTx/>
            </a:pPr>
            <a:r>
              <a:rPr lang="zh-CN" altLang="en-US" sz="1800" b="1">
                <a:latin typeface="微软雅黑" panose="020B0503020204020204" pitchFamily="34" charset="-122"/>
                <a:ea typeface="微软雅黑" panose="020B0503020204020204" pitchFamily="34" charset="-122"/>
                <a:sym typeface="+mn-ea"/>
              </a:rPr>
              <a:t>智能体如何参与</a:t>
            </a:r>
          </a:p>
        </p:txBody>
      </p:sp>
      <p:sp>
        <p:nvSpPr>
          <p:cNvPr id="13" name="文本框 12"/>
          <p:cNvSpPr txBox="1"/>
          <p:nvPr/>
        </p:nvSpPr>
        <p:spPr>
          <a:xfrm>
            <a:off x="502285" y="5043805"/>
            <a:ext cx="4572000" cy="368300"/>
          </a:xfrm>
          <a:prstGeom prst="rect">
            <a:avLst/>
          </a:prstGeom>
          <a:noFill/>
        </p:spPr>
        <p:txBody>
          <a:bodyPr wrap="square" rtlCol="0" anchor="t">
            <a:spAutoFit/>
          </a:bodyPr>
          <a:lstStyle/>
          <a:p>
            <a:pPr lvl="0" algn="l">
              <a:buClrTx/>
              <a:buSzTx/>
              <a:buFontTx/>
            </a:pPr>
            <a:r>
              <a:rPr lang="zh-CN" altLang="en-US" sz="1800" b="1">
                <a:latin typeface="微软雅黑" panose="020B0503020204020204" pitchFamily="34" charset="-122"/>
                <a:ea typeface="微软雅黑" panose="020B0503020204020204" pitchFamily="34" charset="-122"/>
                <a:sym typeface="+mn-ea"/>
              </a:rPr>
              <a:t>基于信息</a:t>
            </a:r>
          </a:p>
        </p:txBody>
      </p:sp>
      <p:sp>
        <p:nvSpPr>
          <p:cNvPr id="3" name="文本框 2"/>
          <p:cNvSpPr txBox="1"/>
          <p:nvPr/>
        </p:nvSpPr>
        <p:spPr>
          <a:xfrm>
            <a:off x="2630805" y="5119370"/>
            <a:ext cx="6010910" cy="1198880"/>
          </a:xfrm>
          <a:prstGeom prst="rect">
            <a:avLst/>
          </a:prstGeom>
          <a:noFill/>
        </p:spPr>
        <p:txBody>
          <a:bodyPr wrap="square" rtlCol="0" anchor="t">
            <a:spAutoFit/>
          </a:bodyPr>
          <a:lstStyle/>
          <a:p>
            <a:r>
              <a:rPr lang="zh-CN" altLang="en-US"/>
              <a:t>在博弈论中，当参与者所了解的是不完全的信息时，情况会有所变化。他们可能不了解其他参与者所有可能的策略或者潜在的收益。参与者可能也不清楚他们所要对付的是什么人和其动机是什么。</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3" grpId="0"/>
      <p:bldP spid="13" grpId="1"/>
      <p:bldP spid="3" grpId="0"/>
      <p:bldP spid="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完美信息博弈</a:t>
            </a:r>
          </a:p>
        </p:txBody>
      </p:sp>
      <p:sp>
        <p:nvSpPr>
          <p:cNvPr id="3" name="内容占位符 2"/>
          <p:cNvSpPr>
            <a:spLocks noGrp="1"/>
          </p:cNvSpPr>
          <p:nvPr>
            <p:ph idx="1"/>
          </p:nvPr>
        </p:nvSpPr>
        <p:spPr>
          <a:xfrm>
            <a:off x="4086860" y="1626235"/>
            <a:ext cx="4554855" cy="4041775"/>
          </a:xfrm>
        </p:spPr>
        <p:txBody>
          <a:bodyPr/>
          <a:lstStyle/>
          <a:p>
            <a:r>
              <a:rPr lang="zh-CN" altLang="en-US"/>
              <a:t>Tic-Tac-Toe是一个典型的完美信息博弈，每一个参与者都掌握如下知识</a:t>
            </a:r>
          </a:p>
          <a:p>
            <a:endParaRPr lang="zh-CN" altLang="en-US"/>
          </a:p>
          <a:p>
            <a:r>
              <a:rPr lang="zh-CN" altLang="en-US"/>
              <a:t>所有其他参与者的可能行为</a:t>
            </a:r>
          </a:p>
          <a:p>
            <a:r>
              <a:rPr lang="zh-CN" altLang="en-US"/>
              <a:t>他们正在采取什么行动</a:t>
            </a:r>
          </a:p>
          <a:p>
            <a:r>
              <a:rPr lang="zh-CN" altLang="en-US"/>
              <a:t>他们所得到的收益是什么</a:t>
            </a:r>
          </a:p>
        </p:txBody>
      </p:sp>
      <p:pic>
        <p:nvPicPr>
          <p:cNvPr id="10" name="图片 9" descr="井字棋"/>
          <p:cNvPicPr>
            <a:picLocks noChangeAspect="1"/>
          </p:cNvPicPr>
          <p:nvPr>
            <p:custDataLst>
              <p:tags r:id="rId2"/>
            </p:custDataLst>
          </p:nvPr>
        </p:nvPicPr>
        <p:blipFill>
          <a:blip r:embed="rId4"/>
          <a:stretch>
            <a:fillRect/>
          </a:stretch>
        </p:blipFill>
        <p:spPr>
          <a:xfrm>
            <a:off x="312420" y="1848485"/>
            <a:ext cx="3596640" cy="3596640"/>
          </a:xfrm>
          <a:prstGeom prst="rect">
            <a:avLst/>
          </a:prstGeom>
        </p:spPr>
      </p:pic>
      <p:sp>
        <p:nvSpPr>
          <p:cNvPr id="4" name="文本框 3"/>
          <p:cNvSpPr txBox="1"/>
          <p:nvPr/>
        </p:nvSpPr>
        <p:spPr>
          <a:xfrm>
            <a:off x="2044065" y="5937250"/>
            <a:ext cx="3903980" cy="368300"/>
          </a:xfrm>
          <a:prstGeom prst="rect">
            <a:avLst/>
          </a:prstGeom>
          <a:noFill/>
        </p:spPr>
        <p:txBody>
          <a:bodyPr wrap="square" rtlCol="0" anchor="t">
            <a:spAutoFit/>
          </a:bodyPr>
          <a:lstStyle/>
          <a:p>
            <a:r>
              <a:rPr lang="zh-CN" altLang="en-US"/>
              <a:t>完全信息类——看得到我就算得出</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a:t>不完美（</a:t>
            </a:r>
            <a:r>
              <a:rPr sz="3600">
                <a:sym typeface="+mn-ea"/>
              </a:rPr>
              <a:t>不完整、不完全）</a:t>
            </a:r>
            <a:r>
              <a:rPr lang="zh-CN" altLang="en-US" sz="3600"/>
              <a:t>信息博弈</a:t>
            </a:r>
          </a:p>
        </p:txBody>
      </p:sp>
      <p:sp>
        <p:nvSpPr>
          <p:cNvPr id="3" name="内容占位符 2"/>
          <p:cNvSpPr>
            <a:spLocks noGrp="1"/>
          </p:cNvSpPr>
          <p:nvPr>
            <p:ph idx="1"/>
          </p:nvPr>
        </p:nvSpPr>
        <p:spPr>
          <a:xfrm>
            <a:off x="502285" y="1270635"/>
            <a:ext cx="3778885" cy="5236845"/>
          </a:xfrm>
        </p:spPr>
        <p:txBody>
          <a:bodyPr/>
          <a:lstStyle/>
          <a:p>
            <a:r>
              <a:rPr lang="zh-CN" altLang="en-US" sz="1600"/>
              <a:t>图中，将军知道敌人的动机和在各种场景下的收益，但是他不知道敌人隐藏在什么地方。因此，将军不知道他所在的决策点的位置。</a:t>
            </a:r>
          </a:p>
          <a:p>
            <a:r>
              <a:rPr lang="zh-CN" altLang="en-US" sz="1600"/>
              <a:t>不完美信息博弈在真实场景中是经常出现的，</a:t>
            </a:r>
            <a:r>
              <a:rPr sz="1600">
                <a:sym typeface="+mn-ea"/>
              </a:rPr>
              <a:t>非常适合对真实世界进行建模。在这种情况下，参与者甚至不知道其他参与者的类型是什么。即使参与者可以看到其他参与者所采取的行动，他并不清楚其他参与者的动机和采取某种行为所产生的收益。</a:t>
            </a:r>
          </a:p>
          <a:p>
            <a:r>
              <a:rPr sz="1600">
                <a:sym typeface="+mn-ea"/>
              </a:rPr>
              <a:t>不完全信息博弈是最广泛的博弈形式。扑克游戏是非常典型的不完全信息游戏。</a:t>
            </a:r>
            <a:endParaRPr lang="zh-CN" altLang="en-US" sz="1600"/>
          </a:p>
        </p:txBody>
      </p:sp>
      <p:pic>
        <p:nvPicPr>
          <p:cNvPr id="101" name="图片 100"/>
          <p:cNvPicPr/>
          <p:nvPr/>
        </p:nvPicPr>
        <p:blipFill>
          <a:blip r:embed="rId3"/>
          <a:stretch>
            <a:fillRect/>
          </a:stretch>
        </p:blipFill>
        <p:spPr>
          <a:xfrm>
            <a:off x="4486275" y="1435100"/>
            <a:ext cx="4294505" cy="4500880"/>
          </a:xfrm>
          <a:prstGeom prst="rect">
            <a:avLst/>
          </a:prstGeom>
          <a:noFill/>
          <a:ln w="9525">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0995" y="1759585"/>
            <a:ext cx="4598670" cy="2975610"/>
          </a:xfrm>
        </p:spPr>
        <p:txBody>
          <a:bodyPr/>
          <a:lstStyle/>
          <a:p>
            <a:r>
              <a:rPr lang="zh-CN" altLang="en-US"/>
              <a:t>“现实世界有很多假象、骗术，需要你去思考别人对你的策略到底看穿了多少。这就是我提出的理论所涉及的博弈。”</a:t>
            </a:r>
          </a:p>
        </p:txBody>
      </p:sp>
      <p:pic>
        <p:nvPicPr>
          <p:cNvPr id="103" name="图片 102"/>
          <p:cNvPicPr/>
          <p:nvPr/>
        </p:nvPicPr>
        <p:blipFill>
          <a:blip r:embed="rId4"/>
          <a:stretch>
            <a:fillRect/>
          </a:stretch>
        </p:blipFill>
        <p:spPr>
          <a:xfrm>
            <a:off x="5371465" y="498475"/>
            <a:ext cx="3403600" cy="4432300"/>
          </a:xfrm>
          <a:prstGeom prst="rect">
            <a:avLst/>
          </a:prstGeom>
          <a:noFill/>
          <a:ln w="9525">
            <a:noFill/>
          </a:ln>
        </p:spPr>
      </p:pic>
      <p:sp>
        <p:nvSpPr>
          <p:cNvPr id="4" name="文本框 3"/>
          <p:cNvSpPr txBox="1"/>
          <p:nvPr/>
        </p:nvSpPr>
        <p:spPr>
          <a:xfrm>
            <a:off x="477520" y="5262880"/>
            <a:ext cx="8297545" cy="922020"/>
          </a:xfrm>
          <a:prstGeom prst="rect">
            <a:avLst/>
          </a:prstGeom>
          <a:noFill/>
        </p:spPr>
        <p:txBody>
          <a:bodyPr wrap="square" rtlCol="0" anchor="t">
            <a:spAutoFit/>
          </a:bodyPr>
          <a:lstStyle/>
          <a:p>
            <a:r>
              <a:rPr lang="zh-CN" altLang="en-US"/>
              <a:t>冯·诺依曼（John von Neumann，1903~1957），20世纪最重要的数学家之一，在现代计算机、博弈论、核武器和生化武器等诸多领域内有杰出建树的最伟大的科学全才之一，被后人称为“计算机之父”和“博弈论之父”。</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218" name="Rectangle 3"/>
          <p:cNvSpPr>
            <a:spLocks noGrp="1" noRot="1"/>
          </p:cNvSpPr>
          <p:nvPr>
            <p:ph idx="1"/>
            <p:custDataLst>
              <p:tags r:id="rId2"/>
            </p:custDataLst>
          </p:nvPr>
        </p:nvSpPr>
        <p:spPr>
          <a:xfrm>
            <a:off x="3312795" y="995045"/>
            <a:ext cx="5365750" cy="335915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Clr>
                <a:srgbClr val="0000FF"/>
              </a:buClr>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完全信息</a:t>
            </a:r>
            <a:r>
              <a:rPr lang="zh-CN" altLang="en-US" sz="2400" b="1"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博弈</a:t>
            </a:r>
          </a:p>
        </p:txBody>
      </p:sp>
      <p:sp>
        <p:nvSpPr>
          <p:cNvPr id="2" name="文本框 1"/>
          <p:cNvSpPr txBox="1"/>
          <p:nvPr/>
        </p:nvSpPr>
        <p:spPr>
          <a:xfrm>
            <a:off x="379095" y="285115"/>
            <a:ext cx="8385175" cy="398780"/>
          </a:xfrm>
          <a:prstGeom prst="rect">
            <a:avLst/>
          </a:prstGeom>
          <a:noFill/>
          <a:ln>
            <a:noFill/>
          </a:ln>
          <a:extLst>
            <a:ext uri="{909E8E84-426E-40DD-AFC4-6F175D3DCCD1}">
              <a14:hiddenFill xmlns:a14="http://schemas.microsoft.com/office/drawing/2010/main">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14:hiddenFill>
            </a:ext>
          </a:extLst>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zh-CN" altLang="en-US" sz="2000" b="1">
                <a:solidFill>
                  <a:srgbClr val="C00000"/>
                </a:solidFill>
              </a:rPr>
              <a:t>在有其他</a:t>
            </a:r>
            <a:r>
              <a:rPr lang="en-US" altLang="zh-CN" sz="2000" b="1">
                <a:solidFill>
                  <a:srgbClr val="C00000"/>
                </a:solidFill>
              </a:rPr>
              <a:t>Agent</a:t>
            </a:r>
            <a:r>
              <a:rPr lang="zh-CN" altLang="en-US" sz="2000" b="1">
                <a:solidFill>
                  <a:srgbClr val="C00000"/>
                </a:solidFill>
              </a:rPr>
              <a:t>计划与我们</a:t>
            </a:r>
            <a:r>
              <a:rPr lang="en-US" altLang="zh-CN" sz="2000" b="1">
                <a:solidFill>
                  <a:srgbClr val="C00000"/>
                </a:solidFill>
              </a:rPr>
              <a:t>“</a:t>
            </a:r>
            <a:r>
              <a:rPr lang="zh-CN" altLang="en-US" sz="2000" b="1">
                <a:solidFill>
                  <a:srgbClr val="C00000"/>
                </a:solidFill>
              </a:rPr>
              <a:t>对抗</a:t>
            </a:r>
            <a:r>
              <a:rPr lang="en-US" altLang="zh-CN" sz="2000" b="1">
                <a:solidFill>
                  <a:srgbClr val="C00000"/>
                </a:solidFill>
              </a:rPr>
              <a:t>”</a:t>
            </a:r>
            <a:r>
              <a:rPr lang="zh-CN" altLang="en-US" sz="2000" b="1">
                <a:solidFill>
                  <a:srgbClr val="C00000"/>
                </a:solidFill>
              </a:rPr>
              <a:t>时，该如何预先规划？</a:t>
            </a:r>
          </a:p>
        </p:txBody>
      </p:sp>
      <p:pic>
        <p:nvPicPr>
          <p:cNvPr id="5" name="图片 4"/>
          <p:cNvPicPr>
            <a:picLocks noChangeAspect="1"/>
          </p:cNvPicPr>
          <p:nvPr/>
        </p:nvPicPr>
        <p:blipFill>
          <a:blip r:embed="rId5"/>
          <a:stretch>
            <a:fillRect/>
          </a:stretch>
        </p:blipFill>
        <p:spPr>
          <a:xfrm>
            <a:off x="691515" y="1007110"/>
            <a:ext cx="2467610" cy="2467610"/>
          </a:xfrm>
          <a:prstGeom prst="rect">
            <a:avLst/>
          </a:prstGeom>
        </p:spPr>
      </p:pic>
      <p:pic>
        <p:nvPicPr>
          <p:cNvPr id="101" name="图片 100"/>
          <p:cNvPicPr/>
          <p:nvPr/>
        </p:nvPicPr>
        <p:blipFill>
          <a:blip r:embed="rId6"/>
          <a:stretch>
            <a:fillRect/>
          </a:stretch>
        </p:blipFill>
        <p:spPr>
          <a:xfrm>
            <a:off x="579755" y="3616960"/>
            <a:ext cx="3442335" cy="2379345"/>
          </a:xfrm>
          <a:prstGeom prst="rect">
            <a:avLst/>
          </a:prstGeom>
          <a:noFill/>
          <a:ln w="9525">
            <a:noFill/>
          </a:ln>
        </p:spPr>
      </p:pic>
      <p:pic>
        <p:nvPicPr>
          <p:cNvPr id="6" name="图片 5"/>
          <p:cNvPicPr>
            <a:picLocks noChangeAspect="1"/>
          </p:cNvPicPr>
          <p:nvPr/>
        </p:nvPicPr>
        <p:blipFill>
          <a:blip r:embed="rId7"/>
          <a:stretch>
            <a:fillRect/>
          </a:stretch>
        </p:blipFill>
        <p:spPr>
          <a:xfrm>
            <a:off x="4864100" y="3616325"/>
            <a:ext cx="3814445" cy="2379980"/>
          </a:xfrm>
          <a:prstGeom prst="rect">
            <a:avLst/>
          </a:prstGeom>
        </p:spPr>
      </p:pic>
      <p:sp>
        <p:nvSpPr>
          <p:cNvPr id="7" name="文本框 6"/>
          <p:cNvSpPr txBox="1"/>
          <p:nvPr/>
        </p:nvSpPr>
        <p:spPr>
          <a:xfrm>
            <a:off x="579755" y="6138545"/>
            <a:ext cx="4572000" cy="460375"/>
          </a:xfrm>
          <a:prstGeom prst="rect">
            <a:avLst/>
          </a:prstGeom>
          <a:noFill/>
        </p:spPr>
        <p:txBody>
          <a:bodyPr wrap="square" rtlCol="0" anchor="t">
            <a:spAutoFit/>
          </a:bodyPr>
          <a:lstStyle/>
          <a:p>
            <a:pPr defTabSz="914400">
              <a:buSzTx/>
            </a:pP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概率</a:t>
            </a:r>
            <a:r>
              <a:rPr lang="zh-CN" altLang="en-US" sz="2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博弈（随机博弈）</a:t>
            </a:r>
          </a:p>
        </p:txBody>
      </p:sp>
      <p:sp>
        <p:nvSpPr>
          <p:cNvPr id="8" name="文本框 7"/>
          <p:cNvSpPr txBox="1"/>
          <p:nvPr/>
        </p:nvSpPr>
        <p:spPr>
          <a:xfrm>
            <a:off x="5617845" y="6137275"/>
            <a:ext cx="2641600" cy="460375"/>
          </a:xfrm>
          <a:prstGeom prst="rect">
            <a:avLst/>
          </a:prstGeom>
          <a:noFill/>
        </p:spPr>
        <p:txBody>
          <a:bodyPr wrap="square" rtlCol="0" anchor="t">
            <a:spAutoFit/>
          </a:bodyPr>
          <a:lstStyle/>
          <a:p>
            <a:pPr defTabSz="914400">
              <a:buSzTx/>
            </a:pP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不完全信息</a:t>
            </a:r>
            <a:r>
              <a:rPr lang="zh-CN" altLang="en-US" sz="2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博弈</a:t>
            </a:r>
          </a:p>
        </p:txBody>
      </p:sp>
      <p:pic>
        <p:nvPicPr>
          <p:cNvPr id="102" name="图片 101"/>
          <p:cNvPicPr/>
          <p:nvPr/>
        </p:nvPicPr>
        <p:blipFill>
          <a:blip r:embed="rId8"/>
          <a:stretch>
            <a:fillRect/>
          </a:stretch>
        </p:blipFill>
        <p:spPr>
          <a:xfrm>
            <a:off x="6820853" y="1760855"/>
            <a:ext cx="1857375" cy="1714500"/>
          </a:xfrm>
          <a:prstGeom prst="rect">
            <a:avLst/>
          </a:prstGeom>
          <a:noFill/>
          <a:ln w="9525">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313" name="Rectangle 4"/>
          <p:cNvSpPr>
            <a:spLocks noGrp="1" noRot="1"/>
          </p:cNvSpPr>
          <p:nvPr>
            <p:ph type="title" idx="4294967295"/>
          </p:nvPr>
        </p:nvSpPr>
        <p:spPr>
          <a:xfrm>
            <a:off x="301625" y="120015"/>
            <a:ext cx="40703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sz="3200" kern="1200" dirty="0">
                <a:solidFill>
                  <a:srgbClr val="0000FF"/>
                </a:solidFill>
                <a:latin typeface="微软雅黑" panose="020B0503020204020204" pitchFamily="34" charset="-122"/>
                <a:ea typeface="微软雅黑" panose="020B0503020204020204" pitchFamily="34" charset="-122"/>
                <a:sym typeface="+mn-ea"/>
              </a:rPr>
              <a:t>博弈的类型</a:t>
            </a:r>
          </a:p>
        </p:txBody>
      </p:sp>
      <p:sp>
        <p:nvSpPr>
          <p:cNvPr id="1092" name="矩形 1091"/>
          <p:cNvSpPr/>
          <p:nvPr>
            <p:custDataLst>
              <p:tags r:id="rId2"/>
            </p:custDataLst>
          </p:nvPr>
        </p:nvSpPr>
        <p:spPr>
          <a:xfrm>
            <a:off x="216103" y="1501703"/>
            <a:ext cx="4156106" cy="146433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093" name="矩形 1092"/>
          <p:cNvSpPr/>
          <p:nvPr>
            <p:custDataLst>
              <p:tags r:id="rId3"/>
            </p:custDataLst>
          </p:nvPr>
        </p:nvSpPr>
        <p:spPr>
          <a:xfrm>
            <a:off x="766846" y="1264636"/>
            <a:ext cx="3054011" cy="5337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096" name="文本框 1095"/>
          <p:cNvSpPr txBox="1"/>
          <p:nvPr>
            <p:custDataLst>
              <p:tags r:id="rId4"/>
            </p:custDataLst>
          </p:nvPr>
        </p:nvSpPr>
        <p:spPr>
          <a:xfrm>
            <a:off x="826419" y="1262812"/>
            <a:ext cx="2913590" cy="536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rmAutofit/>
          </a:bodyPr>
          <a:lstStyle>
            <a:defPPr>
              <a:defRPr lang="zh-CN"/>
            </a:defPPr>
            <a:lvl1pPr algn="ctr" fontAlgn="base">
              <a:spcBef>
                <a:spcPct val="0"/>
              </a:spcBef>
              <a:spcAft>
                <a:spcPct val="0"/>
              </a:spcAft>
              <a:defRPr sz="2400">
                <a:solidFill>
                  <a:prstClr val="white"/>
                </a:solidFill>
                <a:latin typeface="+mj-lt"/>
                <a:ea typeface="微软雅黑" panose="020B0503020204020204" pitchFamily="34" charset="-122"/>
              </a:defRPr>
            </a:lvl1pPr>
            <a:lvl2pPr marL="742950" indent="-285750">
              <a:defRPr>
                <a:latin typeface="Calibri" panose="020F0502020204030204" charset="0"/>
                <a:ea typeface="微软雅黑" panose="020B0503020204020204" pitchFamily="34" charset="-122"/>
              </a:defRPr>
            </a:lvl2pPr>
            <a:lvl3pPr marL="1143000" indent="-228600">
              <a:defRPr>
                <a:latin typeface="Calibri" panose="020F0502020204030204" charset="0"/>
                <a:ea typeface="微软雅黑" panose="020B0503020204020204" pitchFamily="34" charset="-122"/>
              </a:defRPr>
            </a:lvl3pPr>
            <a:lvl4pPr marL="1600200" indent="-228600">
              <a:defRPr>
                <a:latin typeface="Calibri" panose="020F0502020204030204" charset="0"/>
                <a:ea typeface="微软雅黑" panose="020B0503020204020204" pitchFamily="34" charset="-122"/>
              </a:defRPr>
            </a:lvl4pPr>
            <a:lvl5pPr marL="2057400" indent="-228600">
              <a:defRPr>
                <a:latin typeface="Calibri" panose="020F0502020204030204" charset="0"/>
                <a:ea typeface="微软雅黑" panose="020B0503020204020204" pitchFamily="34" charset="-122"/>
              </a:defRPr>
            </a:lvl5pPr>
            <a:lvl6pPr marL="2514600" indent="-228600" fontAlgn="base">
              <a:spcBef>
                <a:spcPct val="0"/>
              </a:spcBef>
              <a:spcAft>
                <a:spcPct val="0"/>
              </a:spcAft>
              <a:defRPr>
                <a:latin typeface="Calibri" panose="020F0502020204030204" charset="0"/>
                <a:ea typeface="微软雅黑" panose="020B0503020204020204" pitchFamily="34" charset="-122"/>
              </a:defRPr>
            </a:lvl6pPr>
            <a:lvl7pPr marL="2971800" indent="-228600" fontAlgn="base">
              <a:spcBef>
                <a:spcPct val="0"/>
              </a:spcBef>
              <a:spcAft>
                <a:spcPct val="0"/>
              </a:spcAft>
              <a:defRPr>
                <a:latin typeface="Calibri" panose="020F0502020204030204" charset="0"/>
                <a:ea typeface="微软雅黑" panose="020B0503020204020204" pitchFamily="34" charset="-122"/>
              </a:defRPr>
            </a:lvl7pPr>
            <a:lvl8pPr marL="3429000" indent="-228600" fontAlgn="base">
              <a:spcBef>
                <a:spcPct val="0"/>
              </a:spcBef>
              <a:spcAft>
                <a:spcPct val="0"/>
              </a:spcAft>
              <a:defRPr>
                <a:latin typeface="Calibri" panose="020F0502020204030204" charset="0"/>
                <a:ea typeface="微软雅黑" panose="020B0503020204020204" pitchFamily="34" charset="-122"/>
              </a:defRPr>
            </a:lvl8pPr>
            <a:lvl9pPr marL="3886200" indent="-228600" fontAlgn="base">
              <a:spcBef>
                <a:spcPct val="0"/>
              </a:spcBef>
              <a:spcAft>
                <a:spcPct val="0"/>
              </a:spcAft>
              <a:defRPr>
                <a:latin typeface="Calibri" panose="020F0502020204030204" charset="0"/>
                <a:ea typeface="微软雅黑" panose="020B0503020204020204" pitchFamily="34" charset="-122"/>
              </a:defRPr>
            </a:lvl9pPr>
          </a:lstStyle>
          <a:p>
            <a:pPr marL="0" indent="0" algn="ctr">
              <a:lnSpc>
                <a:spcPct val="120000"/>
              </a:lnSpc>
              <a:spcBef>
                <a:spcPts val="0"/>
              </a:spcBef>
              <a:spcAft>
                <a:spcPts val="0"/>
              </a:spcAft>
              <a:buSzPct val="100000"/>
            </a:pPr>
            <a:r>
              <a:rPr lang="zh-CN" altLang="en-US" sz="1500" b="1" spc="300" baseline="0" dirty="0">
                <a:solidFill>
                  <a:schemeClr val="bg1"/>
                </a:solidFill>
                <a:latin typeface="Arial" panose="020B0604020202020204" pitchFamily="34" charset="0"/>
              </a:rPr>
              <a:t>完全信息博弈</a:t>
            </a:r>
          </a:p>
        </p:txBody>
      </p:sp>
      <p:sp>
        <p:nvSpPr>
          <p:cNvPr id="1097" name="文本框 1096"/>
          <p:cNvSpPr txBox="1"/>
          <p:nvPr>
            <p:custDataLst>
              <p:tags r:id="rId5"/>
            </p:custDataLst>
          </p:nvPr>
        </p:nvSpPr>
        <p:spPr>
          <a:xfrm>
            <a:off x="386918" y="1980089"/>
            <a:ext cx="3813868" cy="863164"/>
          </a:xfrm>
          <a:prstGeom prst="rect">
            <a:avLst/>
          </a:prstGeom>
        </p:spPr>
        <p:txBody>
          <a:bodyPr wrap="square" lIns="68580" tIns="34290" rIns="68580" bIns="34290">
            <a:noAutofit/>
          </a:bodyPr>
          <a:lstStyle>
            <a:defPPr>
              <a:defRPr lang="zh-CN"/>
            </a:defPPr>
            <a:lvl1pPr>
              <a:defRPr sz="1400">
                <a:solidFill>
                  <a:srgbClr val="474546"/>
                </a:solidFill>
                <a:latin typeface="Arial" panose="020B0604020202020204" pitchFamily="34" charset="0"/>
              </a:defRPr>
            </a:lvl1pPr>
          </a:lstStyle>
          <a:p>
            <a:pPr marL="0" lvl="0" indent="0" algn="ctr">
              <a:lnSpc>
                <a:spcPct val="130000"/>
              </a:lnSpc>
              <a:spcBef>
                <a:spcPts val="0"/>
              </a:spcBef>
              <a:spcAft>
                <a:spcPts val="0"/>
              </a:spcAft>
              <a:buSzPct val="100000"/>
            </a:pPr>
            <a:r>
              <a:rPr lang="zh-CN" altLang="en-US" sz="2000" b="1" spc="150" baseline="0" dirty="0">
                <a:solidFill>
                  <a:schemeClr val="tx1"/>
                </a:solidFill>
                <a:ea typeface="微软雅黑" panose="020B0503020204020204" pitchFamily="34" charset="-122"/>
              </a:rPr>
              <a:t>象棋，跳棋，围棋，黑白棋</a:t>
            </a:r>
          </a:p>
        </p:txBody>
      </p:sp>
      <p:grpSp>
        <p:nvGrpSpPr>
          <p:cNvPr id="4" name="组合 3"/>
          <p:cNvGrpSpPr/>
          <p:nvPr/>
        </p:nvGrpSpPr>
        <p:grpSpPr>
          <a:xfrm>
            <a:off x="215900" y="3022600"/>
            <a:ext cx="4155440" cy="1703070"/>
            <a:chOff x="7514" y="1989"/>
            <a:chExt cx="6544" cy="2682"/>
          </a:xfrm>
        </p:grpSpPr>
        <p:sp>
          <p:nvSpPr>
            <p:cNvPr id="1094" name="矩形 1093"/>
            <p:cNvSpPr/>
            <p:nvPr>
              <p:custDataLst>
                <p:tags r:id="rId10"/>
              </p:custDataLst>
            </p:nvPr>
          </p:nvSpPr>
          <p:spPr>
            <a:xfrm>
              <a:off x="7514" y="2365"/>
              <a:ext cx="6545" cy="230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095" name="矩形 1094"/>
            <p:cNvSpPr/>
            <p:nvPr>
              <p:custDataLst>
                <p:tags r:id="rId11"/>
              </p:custDataLst>
            </p:nvPr>
          </p:nvSpPr>
          <p:spPr>
            <a:xfrm>
              <a:off x="8382" y="1992"/>
              <a:ext cx="4809" cy="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098" name="文本框 1097"/>
            <p:cNvSpPr txBox="1"/>
            <p:nvPr>
              <p:custDataLst>
                <p:tags r:id="rId12"/>
              </p:custDataLst>
            </p:nvPr>
          </p:nvSpPr>
          <p:spPr>
            <a:xfrm>
              <a:off x="8494" y="1989"/>
              <a:ext cx="4588" cy="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rmAutofit/>
            </a:bodyPr>
            <a:lstStyle>
              <a:defPPr>
                <a:defRPr lang="zh-CN"/>
              </a:defPPr>
              <a:lvl1pPr algn="ctr" fontAlgn="base">
                <a:spcBef>
                  <a:spcPct val="0"/>
                </a:spcBef>
                <a:spcAft>
                  <a:spcPct val="0"/>
                </a:spcAft>
                <a:defRPr sz="2400">
                  <a:solidFill>
                    <a:prstClr val="white"/>
                  </a:solidFill>
                  <a:latin typeface="+mj-lt"/>
                  <a:ea typeface="微软雅黑" panose="020B0503020204020204" pitchFamily="34" charset="-122"/>
                </a:defRPr>
              </a:lvl1pPr>
              <a:lvl2pPr marL="742950" indent="-285750">
                <a:defRPr>
                  <a:latin typeface="Calibri" panose="020F0502020204030204" charset="0"/>
                  <a:ea typeface="微软雅黑" panose="020B0503020204020204" pitchFamily="34" charset="-122"/>
                </a:defRPr>
              </a:lvl2pPr>
              <a:lvl3pPr marL="1143000" indent="-228600">
                <a:defRPr>
                  <a:latin typeface="Calibri" panose="020F0502020204030204" charset="0"/>
                  <a:ea typeface="微软雅黑" panose="020B0503020204020204" pitchFamily="34" charset="-122"/>
                </a:defRPr>
              </a:lvl3pPr>
              <a:lvl4pPr marL="1600200" indent="-228600">
                <a:defRPr>
                  <a:latin typeface="Calibri" panose="020F0502020204030204" charset="0"/>
                  <a:ea typeface="微软雅黑" panose="020B0503020204020204" pitchFamily="34" charset="-122"/>
                </a:defRPr>
              </a:lvl4pPr>
              <a:lvl5pPr marL="2057400" indent="-228600">
                <a:defRPr>
                  <a:latin typeface="Calibri" panose="020F0502020204030204" charset="0"/>
                  <a:ea typeface="微软雅黑" panose="020B0503020204020204" pitchFamily="34" charset="-122"/>
                </a:defRPr>
              </a:lvl5pPr>
              <a:lvl6pPr marL="2514600" indent="-228600" fontAlgn="base">
                <a:spcBef>
                  <a:spcPct val="0"/>
                </a:spcBef>
                <a:spcAft>
                  <a:spcPct val="0"/>
                </a:spcAft>
                <a:defRPr>
                  <a:latin typeface="Calibri" panose="020F0502020204030204" charset="0"/>
                  <a:ea typeface="微软雅黑" panose="020B0503020204020204" pitchFamily="34" charset="-122"/>
                </a:defRPr>
              </a:lvl6pPr>
              <a:lvl7pPr marL="2971800" indent="-228600" fontAlgn="base">
                <a:spcBef>
                  <a:spcPct val="0"/>
                </a:spcBef>
                <a:spcAft>
                  <a:spcPct val="0"/>
                </a:spcAft>
                <a:defRPr>
                  <a:latin typeface="Calibri" panose="020F0502020204030204" charset="0"/>
                  <a:ea typeface="微软雅黑" panose="020B0503020204020204" pitchFamily="34" charset="-122"/>
                </a:defRPr>
              </a:lvl7pPr>
              <a:lvl8pPr marL="3429000" indent="-228600" fontAlgn="base">
                <a:spcBef>
                  <a:spcPct val="0"/>
                </a:spcBef>
                <a:spcAft>
                  <a:spcPct val="0"/>
                </a:spcAft>
                <a:defRPr>
                  <a:latin typeface="Calibri" panose="020F0502020204030204" charset="0"/>
                  <a:ea typeface="微软雅黑" panose="020B0503020204020204" pitchFamily="34" charset="-122"/>
                </a:defRPr>
              </a:lvl8pPr>
              <a:lvl9pPr marL="3886200" indent="-228600" fontAlgn="base">
                <a:spcBef>
                  <a:spcPct val="0"/>
                </a:spcBef>
                <a:spcAft>
                  <a:spcPct val="0"/>
                </a:spcAft>
                <a:defRPr>
                  <a:latin typeface="Calibri" panose="020F0502020204030204" charset="0"/>
                  <a:ea typeface="微软雅黑" panose="020B0503020204020204" pitchFamily="34" charset="-122"/>
                </a:defRPr>
              </a:lvl9pPr>
            </a:lstStyle>
            <a:p>
              <a:pPr marL="0" indent="0" algn="ctr">
                <a:lnSpc>
                  <a:spcPct val="120000"/>
                </a:lnSpc>
                <a:spcBef>
                  <a:spcPts val="0"/>
                </a:spcBef>
                <a:spcAft>
                  <a:spcPts val="0"/>
                </a:spcAft>
                <a:buSzPct val="100000"/>
              </a:pPr>
              <a:r>
                <a:rPr lang="zh-CN" altLang="en-US" sz="1500" b="1" spc="300" baseline="0" dirty="0">
                  <a:solidFill>
                    <a:schemeClr val="bg1"/>
                  </a:solidFill>
                  <a:latin typeface="Arial" panose="020B0604020202020204" pitchFamily="34" charset="0"/>
                </a:rPr>
                <a:t>概率博弈</a:t>
              </a:r>
            </a:p>
          </p:txBody>
        </p:sp>
        <p:sp>
          <p:nvSpPr>
            <p:cNvPr id="1099" name="文本框 1098"/>
            <p:cNvSpPr txBox="1"/>
            <p:nvPr>
              <p:custDataLst>
                <p:tags r:id="rId13"/>
              </p:custDataLst>
            </p:nvPr>
          </p:nvSpPr>
          <p:spPr>
            <a:xfrm>
              <a:off x="7802" y="3118"/>
              <a:ext cx="6006" cy="1359"/>
            </a:xfrm>
            <a:prstGeom prst="rect">
              <a:avLst/>
            </a:prstGeom>
          </p:spPr>
          <p:txBody>
            <a:bodyPr wrap="square" lIns="68580" tIns="34290" rIns="68580" bIns="34290">
              <a:normAutofit/>
            </a:bodyPr>
            <a:lstStyle>
              <a:defPPr>
                <a:defRPr lang="zh-CN"/>
              </a:defPPr>
              <a:lvl1pPr>
                <a:defRPr sz="1400">
                  <a:solidFill>
                    <a:srgbClr val="474546"/>
                  </a:solidFill>
                  <a:latin typeface="Arial" panose="020B0604020202020204" pitchFamily="34" charset="0"/>
                </a:defRPr>
              </a:lvl1pPr>
            </a:lstStyle>
            <a:p>
              <a:pPr marL="0" lvl="0" indent="0" algn="ctr">
                <a:lnSpc>
                  <a:spcPct val="130000"/>
                </a:lnSpc>
                <a:spcBef>
                  <a:spcPts val="0"/>
                </a:spcBef>
                <a:spcAft>
                  <a:spcPts val="0"/>
                </a:spcAft>
                <a:buSzPct val="100000"/>
              </a:pPr>
              <a:r>
                <a:rPr lang="zh-CN" altLang="en-US" sz="2000" b="1" spc="150" baseline="0" dirty="0">
                  <a:solidFill>
                    <a:schemeClr val="tx1"/>
                  </a:solidFill>
                  <a:ea typeface="微软雅黑" panose="020B0503020204020204" pitchFamily="34" charset="-122"/>
                </a:rPr>
                <a:t>西洋双陆棋</a:t>
              </a:r>
            </a:p>
          </p:txBody>
        </p:sp>
      </p:grpSp>
      <p:sp>
        <p:nvSpPr>
          <p:cNvPr id="1100" name="矩形 1099"/>
          <p:cNvSpPr/>
          <p:nvPr>
            <p:custDataLst>
              <p:tags r:id="rId6"/>
            </p:custDataLst>
          </p:nvPr>
        </p:nvSpPr>
        <p:spPr>
          <a:xfrm>
            <a:off x="177366" y="5156346"/>
            <a:ext cx="4156106" cy="146433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rgbClr val="474546"/>
              </a:solidFill>
              <a:latin typeface="Arial" panose="020B0604020202020204" pitchFamily="34" charset="0"/>
              <a:ea typeface="微软雅黑" panose="020B0503020204020204" pitchFamily="34" charset="-122"/>
              <a:sym typeface="Arial" panose="020B0604020202020204" pitchFamily="34" charset="0"/>
            </a:endParaRPr>
          </a:p>
        </p:txBody>
      </p:sp>
      <p:sp>
        <p:nvSpPr>
          <p:cNvPr id="1101" name="矩形 1100"/>
          <p:cNvSpPr/>
          <p:nvPr>
            <p:custDataLst>
              <p:tags r:id="rId7"/>
            </p:custDataLst>
          </p:nvPr>
        </p:nvSpPr>
        <p:spPr>
          <a:xfrm>
            <a:off x="728109" y="4918672"/>
            <a:ext cx="3054011" cy="5337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35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02" name="文本框 1101"/>
          <p:cNvSpPr txBox="1"/>
          <p:nvPr>
            <p:custDataLst>
              <p:tags r:id="rId8"/>
            </p:custDataLst>
          </p:nvPr>
        </p:nvSpPr>
        <p:spPr>
          <a:xfrm>
            <a:off x="787073" y="4927643"/>
            <a:ext cx="2913590" cy="536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rmAutofit/>
          </a:bodyPr>
          <a:lstStyle>
            <a:defPPr>
              <a:defRPr lang="zh-CN"/>
            </a:defPPr>
            <a:lvl1pPr algn="ctr" fontAlgn="base">
              <a:spcBef>
                <a:spcPct val="0"/>
              </a:spcBef>
              <a:spcAft>
                <a:spcPct val="0"/>
              </a:spcAft>
              <a:defRPr sz="2400">
                <a:solidFill>
                  <a:prstClr val="white"/>
                </a:solidFill>
                <a:latin typeface="+mj-lt"/>
                <a:ea typeface="微软雅黑" panose="020B0503020204020204" pitchFamily="34" charset="-122"/>
              </a:defRPr>
            </a:lvl1pPr>
            <a:lvl2pPr marL="742950" indent="-285750">
              <a:defRPr>
                <a:latin typeface="Calibri" panose="020F0502020204030204" charset="0"/>
                <a:ea typeface="微软雅黑" panose="020B0503020204020204" pitchFamily="34" charset="-122"/>
              </a:defRPr>
            </a:lvl2pPr>
            <a:lvl3pPr marL="1143000" indent="-228600">
              <a:defRPr>
                <a:latin typeface="Calibri" panose="020F0502020204030204" charset="0"/>
                <a:ea typeface="微软雅黑" panose="020B0503020204020204" pitchFamily="34" charset="-122"/>
              </a:defRPr>
            </a:lvl3pPr>
            <a:lvl4pPr marL="1600200" indent="-228600">
              <a:defRPr>
                <a:latin typeface="Calibri" panose="020F0502020204030204" charset="0"/>
                <a:ea typeface="微软雅黑" panose="020B0503020204020204" pitchFamily="34" charset="-122"/>
              </a:defRPr>
            </a:lvl4pPr>
            <a:lvl5pPr marL="2057400" indent="-228600">
              <a:defRPr>
                <a:latin typeface="Calibri" panose="020F0502020204030204" charset="0"/>
                <a:ea typeface="微软雅黑" panose="020B0503020204020204" pitchFamily="34" charset="-122"/>
              </a:defRPr>
            </a:lvl5pPr>
            <a:lvl6pPr marL="2514600" indent="-228600" fontAlgn="base">
              <a:spcBef>
                <a:spcPct val="0"/>
              </a:spcBef>
              <a:spcAft>
                <a:spcPct val="0"/>
              </a:spcAft>
              <a:defRPr>
                <a:latin typeface="Calibri" panose="020F0502020204030204" charset="0"/>
                <a:ea typeface="微软雅黑" panose="020B0503020204020204" pitchFamily="34" charset="-122"/>
              </a:defRPr>
            </a:lvl6pPr>
            <a:lvl7pPr marL="2971800" indent="-228600" fontAlgn="base">
              <a:spcBef>
                <a:spcPct val="0"/>
              </a:spcBef>
              <a:spcAft>
                <a:spcPct val="0"/>
              </a:spcAft>
              <a:defRPr>
                <a:latin typeface="Calibri" panose="020F0502020204030204" charset="0"/>
                <a:ea typeface="微软雅黑" panose="020B0503020204020204" pitchFamily="34" charset="-122"/>
              </a:defRPr>
            </a:lvl7pPr>
            <a:lvl8pPr marL="3429000" indent="-228600" fontAlgn="base">
              <a:spcBef>
                <a:spcPct val="0"/>
              </a:spcBef>
              <a:spcAft>
                <a:spcPct val="0"/>
              </a:spcAft>
              <a:defRPr>
                <a:latin typeface="Calibri" panose="020F0502020204030204" charset="0"/>
                <a:ea typeface="微软雅黑" panose="020B0503020204020204" pitchFamily="34" charset="-122"/>
              </a:defRPr>
            </a:lvl8pPr>
            <a:lvl9pPr marL="3886200" indent="-228600" fontAlgn="base">
              <a:spcBef>
                <a:spcPct val="0"/>
              </a:spcBef>
              <a:spcAft>
                <a:spcPct val="0"/>
              </a:spcAft>
              <a:defRPr>
                <a:latin typeface="Calibri" panose="020F0502020204030204" charset="0"/>
                <a:ea typeface="微软雅黑" panose="020B0503020204020204" pitchFamily="34" charset="-122"/>
              </a:defRPr>
            </a:lvl9pPr>
          </a:lstStyle>
          <a:p>
            <a:pPr marL="0" indent="0" algn="ctr">
              <a:lnSpc>
                <a:spcPct val="120000"/>
              </a:lnSpc>
              <a:spcBef>
                <a:spcPts val="0"/>
              </a:spcBef>
              <a:spcAft>
                <a:spcPts val="0"/>
              </a:spcAft>
              <a:buSzPct val="100000"/>
            </a:pPr>
            <a:r>
              <a:rPr lang="zh-CN" altLang="en-US" sz="1500" b="1" spc="300" baseline="0" dirty="0">
                <a:solidFill>
                  <a:schemeClr val="bg1"/>
                </a:solidFill>
                <a:latin typeface="Arial" panose="020B0604020202020204" pitchFamily="34" charset="0"/>
              </a:rPr>
              <a:t>不完全信息博弈</a:t>
            </a:r>
          </a:p>
        </p:txBody>
      </p:sp>
      <p:sp>
        <p:nvSpPr>
          <p:cNvPr id="1103" name="文本框 1102"/>
          <p:cNvSpPr txBox="1"/>
          <p:nvPr>
            <p:custDataLst>
              <p:tags r:id="rId9"/>
            </p:custDataLst>
          </p:nvPr>
        </p:nvSpPr>
        <p:spPr>
          <a:xfrm>
            <a:off x="348182" y="5644920"/>
            <a:ext cx="3813868" cy="863164"/>
          </a:xfrm>
          <a:prstGeom prst="rect">
            <a:avLst/>
          </a:prstGeom>
        </p:spPr>
        <p:txBody>
          <a:bodyPr wrap="square" lIns="68580" tIns="34290" rIns="68580" bIns="34290">
            <a:normAutofit/>
          </a:bodyPr>
          <a:lstStyle>
            <a:defPPr>
              <a:defRPr lang="zh-CN"/>
            </a:defPPr>
            <a:lvl1pPr>
              <a:defRPr sz="1400">
                <a:solidFill>
                  <a:srgbClr val="474546"/>
                </a:solidFill>
                <a:latin typeface="Arial" panose="020B0604020202020204" pitchFamily="34" charset="0"/>
              </a:defRPr>
            </a:lvl1pPr>
          </a:lstStyle>
          <a:p>
            <a:pPr marL="0" lvl="0" indent="0" algn="ctr">
              <a:lnSpc>
                <a:spcPct val="130000"/>
              </a:lnSpc>
              <a:spcBef>
                <a:spcPts val="0"/>
              </a:spcBef>
              <a:spcAft>
                <a:spcPts val="0"/>
              </a:spcAft>
              <a:buSzPct val="100000"/>
            </a:pPr>
            <a:r>
              <a:rPr lang="zh-CN" altLang="en-US" sz="2000" b="1" spc="150" baseline="0" dirty="0">
                <a:solidFill>
                  <a:schemeClr val="tx1"/>
                </a:solidFill>
                <a:ea typeface="微软雅黑" panose="020B0503020204020204" pitchFamily="34" charset="-122"/>
              </a:rPr>
              <a:t>桥牌、扑克、四国大战</a:t>
            </a:r>
          </a:p>
        </p:txBody>
      </p:sp>
      <p:sp>
        <p:nvSpPr>
          <p:cNvPr id="3" name="文本框 2"/>
          <p:cNvSpPr txBox="1"/>
          <p:nvPr/>
        </p:nvSpPr>
        <p:spPr>
          <a:xfrm>
            <a:off x="4632960" y="681990"/>
            <a:ext cx="3924935" cy="5494655"/>
          </a:xfrm>
          <a:prstGeom prst="rect">
            <a:avLst/>
          </a:prstGeom>
          <a:noFill/>
        </p:spPr>
        <p:txBody>
          <a:bodyPr wrap="square" rtlCol="0" anchor="t">
            <a:noAutofit/>
          </a:bodyPr>
          <a:lstStyle/>
          <a:p>
            <a:pPr algn="ctr">
              <a:lnSpc>
                <a:spcPct val="100000"/>
              </a:lnSpc>
              <a:spcBef>
                <a:spcPct val="30000"/>
              </a:spcBef>
              <a:buClrTx/>
              <a:buSzTx/>
              <a:buFontTx/>
            </a:pPr>
            <a:r>
              <a:rPr lang="zh-CN" altLang="en-US" sz="3200" b="1" spc="200" dirty="0">
                <a:solidFill>
                  <a:srgbClr val="0000FF"/>
                </a:solidFill>
                <a:uFillTx/>
                <a:latin typeface="微软雅黑" panose="020B0503020204020204" pitchFamily="34" charset="-122"/>
                <a:ea typeface="微软雅黑" panose="020B0503020204020204" pitchFamily="34" charset="-122"/>
                <a:cs typeface="+mj-cs"/>
                <a:sym typeface="宋体" panose="02010600030101010101" pitchFamily="2" charset="-122"/>
              </a:rPr>
              <a:t>本章内容</a:t>
            </a:r>
          </a:p>
          <a:p>
            <a:pPr algn="l" eaLnBrk="0" hangingPunct="0">
              <a:lnSpc>
                <a:spcPct val="160000"/>
              </a:lnSpc>
              <a:spcBef>
                <a:spcPct val="30000"/>
              </a:spcBef>
              <a:buFont typeface="Arial" panose="020B0604020202020204" pitchFamily="34" charset="0"/>
            </a:pPr>
            <a:r>
              <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讨论</a:t>
            </a:r>
            <a:endParaRPr lang="zh-CN" altLang="en-US" sz="32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eaLnBrk="0" hangingPunct="0">
              <a:lnSpc>
                <a:spcPct val="160000"/>
              </a:lnSpc>
              <a:spcBef>
                <a:spcPct val="30000"/>
              </a:spcBef>
              <a:buFont typeface="Arial" panose="020B0604020202020204" pitchFamily="34" charset="0"/>
              <a:buChar char="•"/>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最佳招数的定义</a:t>
            </a:r>
            <a:endParaRPr lang="zh-CN" altLang="en-US" sz="3200">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endParaRPr>
          </a:p>
          <a:p>
            <a:pPr marL="285750" indent="-285750" algn="l" eaLnBrk="0" hangingPunct="0">
              <a:lnSpc>
                <a:spcPct val="160000"/>
              </a:lnSpc>
              <a:spcBef>
                <a:spcPct val="30000"/>
              </a:spcBef>
              <a:buFont typeface="Arial" panose="020B0604020202020204" pitchFamily="34" charset="0"/>
              <a:buChar char="•"/>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寻找最佳招数的搜索算法</a:t>
            </a:r>
            <a:endParaRPr lang="zh-CN" altLang="en-US" sz="32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eaLnBrk="0" hangingPunct="0">
              <a:lnSpc>
                <a:spcPct val="160000"/>
              </a:lnSpc>
              <a:spcBef>
                <a:spcPct val="30000"/>
              </a:spcBef>
              <a:buFont typeface="Arial" panose="020B0604020202020204" pitchFamily="34" charset="0"/>
              <a:buChar char="•"/>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时间有限时如何寻找最佳招数</a:t>
            </a:r>
            <a:endParaRPr lang="zh-CN" altLang="en-US" sz="32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eaLnBrk="0" hangingPunct="0">
              <a:lnSpc>
                <a:spcPct val="160000"/>
              </a:lnSpc>
              <a:spcBef>
                <a:spcPct val="30000"/>
              </a:spcBef>
              <a:buFont typeface="Arial" panose="020B0604020202020204" pitchFamily="34" charset="0"/>
              <a:buChar char="•"/>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对搜索算法进行优化</a:t>
            </a:r>
            <a:endParaRPr lang="zh-CN" altLang="en-US" sz="320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endPar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60000"/>
              </a:lnSpc>
            </a:pPr>
            <a:r>
              <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介绍</a:t>
            </a:r>
            <a:endParaRPr lang="zh-CN" altLang="en-US" sz="32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eaLnBrk="0" hangingPunct="0">
              <a:lnSpc>
                <a:spcPct val="160000"/>
              </a:lnSpc>
              <a:spcBef>
                <a:spcPct val="30000"/>
              </a:spcBef>
              <a:buFont typeface="Arial" panose="020B0604020202020204" pitchFamily="34" charset="0"/>
              <a:buChar char="•"/>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概率博弈</a:t>
            </a:r>
            <a:endParaRPr lang="zh-CN" altLang="en-US" sz="320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eaLnBrk="0" hangingPunct="0">
              <a:lnSpc>
                <a:spcPct val="160000"/>
              </a:lnSpc>
              <a:spcBef>
                <a:spcPct val="30000"/>
              </a:spcBef>
              <a:buFont typeface="Arial" panose="020B0604020202020204" pitchFamily="34" charset="0"/>
              <a:buChar char="•"/>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不完全信息博弈</a:t>
            </a:r>
          </a:p>
        </p:txBody>
      </p:sp>
      <p:sp>
        <p:nvSpPr>
          <p:cNvPr id="5" name="文本框 4"/>
          <p:cNvSpPr txBox="1"/>
          <p:nvPr/>
        </p:nvSpPr>
        <p:spPr>
          <a:xfrm>
            <a:off x="5838825" y="1501775"/>
            <a:ext cx="2934970" cy="398780"/>
          </a:xfrm>
          <a:prstGeom prst="rect">
            <a:avLst/>
          </a:prstGeom>
          <a:noFill/>
        </p:spPr>
        <p:txBody>
          <a:bodyPr wrap="square" rtlCol="0" anchor="t">
            <a:spAutoFit/>
          </a:bodyPr>
          <a:lstStyle/>
          <a:p>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Optimal Move</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P spid="5"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2800"/>
              <a:t>最佳招数（</a:t>
            </a:r>
            <a:r>
              <a:rPr lang="en-US" altLang="zh-CN" sz="2800"/>
              <a:t>Optimal Move</a:t>
            </a:r>
            <a:r>
              <a:rPr sz="2800"/>
              <a:t>）</a:t>
            </a:r>
            <a:endParaRPr lang="en-US" altLang="zh-CN" sz="2800"/>
          </a:p>
        </p:txBody>
      </p:sp>
      <p:sp>
        <p:nvSpPr>
          <p:cNvPr id="3" name="内容占位符 2"/>
          <p:cNvSpPr>
            <a:spLocks noGrp="1"/>
          </p:cNvSpPr>
          <p:nvPr>
            <p:ph idx="1"/>
          </p:nvPr>
        </p:nvSpPr>
        <p:spPr>
          <a:xfrm>
            <a:off x="502285" y="1271270"/>
            <a:ext cx="8139430" cy="4396740"/>
          </a:xfrm>
        </p:spPr>
        <p:txBody>
          <a:bodyPr/>
          <a:lstStyle/>
          <a:p>
            <a:r>
              <a:rPr lang="zh-CN" altLang="en-US" sz="2000"/>
              <a:t>最佳策略</a:t>
            </a:r>
            <a:r>
              <a:rPr lang="en-US" altLang="zh-CN" sz="2000"/>
              <a:t> </a:t>
            </a:r>
          </a:p>
        </p:txBody>
      </p:sp>
      <p:pic>
        <p:nvPicPr>
          <p:cNvPr id="4" name="图片 3"/>
          <p:cNvPicPr>
            <a:picLocks noChangeAspect="1"/>
          </p:cNvPicPr>
          <p:nvPr>
            <p:custDataLst>
              <p:tags r:id="rId2"/>
            </p:custDataLst>
          </p:nvPr>
        </p:nvPicPr>
        <p:blipFill>
          <a:blip r:embed="rId4"/>
          <a:stretch>
            <a:fillRect/>
          </a:stretch>
        </p:blipFill>
        <p:spPr>
          <a:xfrm>
            <a:off x="380365" y="1976120"/>
            <a:ext cx="8383905" cy="1185545"/>
          </a:xfrm>
          <a:prstGeom prst="rect">
            <a:avLst/>
          </a:prstGeom>
        </p:spPr>
      </p:pic>
      <p:sp>
        <p:nvSpPr>
          <p:cNvPr id="5" name="文本框 4"/>
          <p:cNvSpPr txBox="1"/>
          <p:nvPr/>
        </p:nvSpPr>
        <p:spPr>
          <a:xfrm>
            <a:off x="380365" y="4075430"/>
            <a:ext cx="8399780" cy="2414905"/>
          </a:xfrm>
          <a:prstGeom prst="rect">
            <a:avLst/>
          </a:prstGeom>
          <a:noFill/>
        </p:spPr>
        <p:txBody>
          <a:bodyPr wrap="square" rtlCol="0" anchor="t">
            <a:spAutoFit/>
          </a:bodyPr>
          <a:lstStyle/>
          <a:p>
            <a:pPr>
              <a:lnSpc>
                <a:spcPct val="140000"/>
              </a:lnSpc>
            </a:pPr>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Game(游戏): </a:t>
            </a:r>
            <a:r>
              <a:rPr lang="zh-CN" altLang="en-US">
                <a:latin typeface="微软雅黑" panose="020B0503020204020204" pitchFamily="34" charset="-122"/>
                <a:ea typeface="微软雅黑" panose="020B0503020204020204" pitchFamily="34" charset="-122"/>
                <a:cs typeface="微软雅黑" panose="020B0503020204020204" pitchFamily="34" charset="-122"/>
              </a:rPr>
              <a:t>在泛化的场景中，游戏包含了一些参与者、行为和策略以及最终收益。例如拍卖、棋类、政治等。</a:t>
            </a:r>
          </a:p>
          <a:p>
            <a:pPr>
              <a:lnSpc>
                <a:spcPct val="140000"/>
              </a:lnSpc>
            </a:pPr>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Players(参与者)：</a:t>
            </a:r>
            <a:r>
              <a:rPr lang="zh-CN" altLang="en-US">
                <a:latin typeface="微软雅黑" panose="020B0503020204020204" pitchFamily="34" charset="-122"/>
                <a:ea typeface="微软雅黑" panose="020B0503020204020204" pitchFamily="34" charset="-122"/>
                <a:cs typeface="微软雅黑" panose="020B0503020204020204" pitchFamily="34" charset="-122"/>
              </a:rPr>
              <a:t>是指参与到游戏中的具有理智的实体。例如拍卖会上的竞价者、玩剪刀-石头-布的玩家、参加竞选的政客。</a:t>
            </a:r>
          </a:p>
          <a:p>
            <a:pPr>
              <a:lnSpc>
                <a:spcPct val="140000"/>
              </a:lnSpc>
            </a:pPr>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Payoff(收益)：</a:t>
            </a:r>
            <a:r>
              <a:rPr lang="zh-CN" altLang="en-US">
                <a:latin typeface="微软雅黑" panose="020B0503020204020204" pitchFamily="34" charset="-122"/>
                <a:ea typeface="微软雅黑" panose="020B0503020204020204" pitchFamily="34" charset="-122"/>
                <a:cs typeface="微软雅黑" panose="020B0503020204020204" pitchFamily="34" charset="-122"/>
              </a:rPr>
              <a:t>收益也可以称为奖励，是玩家在参与游戏中会得到的一个结果，可以为正也可以为负。</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atin typeface="微软雅黑" panose="020B0503020204020204" pitchFamily="34" charset="-122"/>
                <a:sym typeface="+mn-ea"/>
              </a:rPr>
              <a:t>形式化</a:t>
            </a:r>
          </a:p>
        </p:txBody>
      </p:sp>
      <p:sp>
        <p:nvSpPr>
          <p:cNvPr id="3" name="内容占位符 2"/>
          <p:cNvSpPr>
            <a:spLocks noGrp="1"/>
          </p:cNvSpPr>
          <p:nvPr>
            <p:ph idx="1"/>
          </p:nvPr>
        </p:nvSpPr>
        <p:spPr>
          <a:xfrm>
            <a:off x="355600" y="1469390"/>
            <a:ext cx="7975600" cy="438785"/>
          </a:xfrm>
        </p:spPr>
        <p:txBody>
          <a:bodyPr/>
          <a:lstStyle/>
          <a:p>
            <a:pPr>
              <a:lnSpc>
                <a:spcPct val="120000"/>
              </a:lnSpc>
            </a:pPr>
            <a:r>
              <a:rPr lang="zh-CN" altLang="en-US" sz="1800" b="1"/>
              <a:t>参与者轮流出招，可以将其写成类似于</a:t>
            </a:r>
            <a:r>
              <a:rPr lang="zh-CN" altLang="en-US" sz="1800" b="1">
                <a:solidFill>
                  <a:srgbClr val="C00000"/>
                </a:solidFill>
              </a:rPr>
              <a:t>路径寻找</a:t>
            </a:r>
            <a:r>
              <a:rPr lang="zh-CN" altLang="en-US" sz="1800" b="1"/>
              <a:t>的问题：</a:t>
            </a:r>
          </a:p>
          <a:p>
            <a:pPr lvl="1">
              <a:lnSpc>
                <a:spcPct val="120000"/>
              </a:lnSpc>
            </a:pPr>
            <a:endParaRPr lang="zh-CN" altLang="en-US" sz="1800" b="1"/>
          </a:p>
        </p:txBody>
      </p:sp>
      <p:pic>
        <p:nvPicPr>
          <p:cNvPr id="5" name="图片 4"/>
          <p:cNvPicPr>
            <a:picLocks noChangeAspect="1"/>
          </p:cNvPicPr>
          <p:nvPr>
            <p:custDataLst>
              <p:tags r:id="rId2"/>
            </p:custDataLst>
          </p:nvPr>
        </p:nvPicPr>
        <p:blipFill>
          <a:blip r:embed="rId5"/>
          <a:srcRect l="4680" t="30537" r="6059"/>
          <a:stretch>
            <a:fillRect/>
          </a:stretch>
        </p:blipFill>
        <p:spPr>
          <a:xfrm>
            <a:off x="4966335" y="2318385"/>
            <a:ext cx="3966845" cy="3262630"/>
          </a:xfrm>
          <a:prstGeom prst="rect">
            <a:avLst/>
          </a:prstGeom>
          <a:ln>
            <a:solidFill>
              <a:schemeClr val="accent1"/>
            </a:solidFill>
          </a:ln>
        </p:spPr>
      </p:pic>
      <p:sp>
        <p:nvSpPr>
          <p:cNvPr id="6" name="文本框 5"/>
          <p:cNvSpPr txBox="1"/>
          <p:nvPr/>
        </p:nvSpPr>
        <p:spPr>
          <a:xfrm>
            <a:off x="2904490" y="498475"/>
            <a:ext cx="5936615" cy="75565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marL="171450" indent="-171450" algn="l" fontAlgn="auto">
              <a:lnSpc>
                <a:spcPct val="120000"/>
              </a:lnSpc>
              <a:spcBef>
                <a:spcPts val="0"/>
              </a:spcBef>
              <a:spcAft>
                <a:spcPts val="1000"/>
              </a:spcAft>
              <a:buClr>
                <a:srgbClr val="213A71"/>
              </a:buClr>
              <a:buFont typeface="Arial" panose="020B0604020202020204" pitchFamily="34" charset="0"/>
              <a:buChar char="•"/>
            </a:pPr>
            <a:r>
              <a:rPr lang="zh-CN" altLang="en-US" sz="1800" b="1" spc="150" dirty="0">
                <a:solidFill>
                  <a:srgbClr val="0070C0"/>
                </a:solidFill>
                <a:uFillTx/>
                <a:ea typeface="微软雅黑" panose="020B0503020204020204" pitchFamily="34" charset="-122"/>
                <a:sym typeface="+mn-ea"/>
              </a:rPr>
              <a:t>博弈：</a:t>
            </a:r>
            <a:r>
              <a:rPr lang="zh-CN" altLang="en-US" sz="1800" b="1" spc="150" dirty="0">
                <a:solidFill>
                  <a:srgbClr val="FF0000"/>
                </a:solidFill>
                <a:uFillTx/>
                <a:ea typeface="微软雅黑" panose="020B0503020204020204" pitchFamily="34" charset="-122"/>
                <a:sym typeface="+mn-ea"/>
              </a:rPr>
              <a:t>双方</a:t>
            </a:r>
            <a:r>
              <a:rPr lang="zh-CN" altLang="en-US" sz="1800" spc="150" dirty="0">
                <a:solidFill>
                  <a:schemeClr val="tx1">
                    <a:lumMod val="75000"/>
                    <a:lumOff val="25000"/>
                  </a:schemeClr>
                </a:solidFill>
                <a:uFillTx/>
                <a:ea typeface="微软雅黑" panose="020B0503020204020204" pitchFamily="34" charset="-122"/>
                <a:sym typeface="+mn-ea"/>
              </a:rPr>
              <a:t>的智能活动，任何一方都不能单独控制博弈过程，而是由双方</a:t>
            </a:r>
            <a:r>
              <a:rPr lang="zh-CN" altLang="en-US" sz="1800" b="1" spc="150" dirty="0">
                <a:solidFill>
                  <a:srgbClr val="0070C0"/>
                </a:solidFill>
                <a:uFillTx/>
                <a:ea typeface="微软雅黑" panose="020B0503020204020204" pitchFamily="34" charset="-122"/>
                <a:sym typeface="+mn-ea"/>
              </a:rPr>
              <a:t>轮流</a:t>
            </a:r>
            <a:r>
              <a:rPr lang="zh-CN" altLang="en-US" sz="1800" spc="150" dirty="0">
                <a:solidFill>
                  <a:schemeClr val="tx1">
                    <a:lumMod val="75000"/>
                    <a:lumOff val="25000"/>
                  </a:schemeClr>
                </a:solidFill>
                <a:uFillTx/>
                <a:ea typeface="微软雅黑" panose="020B0503020204020204" pitchFamily="34" charset="-122"/>
                <a:sym typeface="+mn-ea"/>
              </a:rPr>
              <a:t>实施其控制对策的过程。</a:t>
            </a:r>
            <a:endParaRPr lang="zh-CN" altLang="en-US"/>
          </a:p>
        </p:txBody>
      </p:sp>
      <p:sp>
        <p:nvSpPr>
          <p:cNvPr id="7" name="文本框 6"/>
          <p:cNvSpPr txBox="1"/>
          <p:nvPr/>
        </p:nvSpPr>
        <p:spPr>
          <a:xfrm>
            <a:off x="254635" y="2021205"/>
            <a:ext cx="4631055" cy="4461510"/>
          </a:xfrm>
          <a:prstGeom prst="rect">
            <a:avLst/>
          </a:prstGeom>
          <a:noFill/>
        </p:spPr>
        <p:txBody>
          <a:bodyPr wrap="square" rtlCol="0" anchor="t">
            <a:spAutoFit/>
          </a:bodyPr>
          <a:lstStyle/>
          <a:p>
            <a:pPr marL="514350" lvl="1" indent="-171450" algn="l" defTabSz="914400" fontAlgn="auto">
              <a:lnSpc>
                <a:spcPct val="120000"/>
              </a:lnSpc>
              <a:spcBef>
                <a:spcPts val="0"/>
              </a:spcBef>
              <a:spcAft>
                <a:spcPts val="1000"/>
              </a:spcAft>
              <a:buClr>
                <a:srgbClr val="213A71"/>
              </a:buClr>
              <a:buFont typeface="Arial" panose="020B0604020202020204" pitchFamily="34" charset="0"/>
              <a:buChar char="•"/>
              <a:tabLst>
                <a:tab pos="1609725" algn="l"/>
              </a:tabLst>
            </a:pPr>
            <a:r>
              <a:rPr lang="zh-CN" altLang="en-US" sz="1800" b="1" spc="150" dirty="0">
                <a:solidFill>
                  <a:srgbClr val="0070C0"/>
                </a:solidFill>
                <a:uFillTx/>
                <a:ea typeface="微软雅黑" panose="020B0503020204020204" pitchFamily="34" charset="-122"/>
                <a:sym typeface="+mn-ea"/>
              </a:rPr>
              <a:t>初始状态：</a:t>
            </a:r>
            <a:r>
              <a:rPr lang="zh-CN" altLang="en-US" sz="1800" spc="150" dirty="0">
                <a:solidFill>
                  <a:schemeClr val="tx1">
                    <a:lumMod val="75000"/>
                    <a:lumOff val="25000"/>
                  </a:schemeClr>
                </a:solidFill>
                <a:uFillTx/>
                <a:ea typeface="微软雅黑" panose="020B0503020204020204" pitchFamily="34" charset="-122"/>
                <a:sym typeface="+mn-ea"/>
              </a:rPr>
              <a:t>包括棋盘局面和确定该哪个游戏者出招</a:t>
            </a:r>
            <a:endParaRPr lang="zh-CN" altLang="en-US" sz="1800"/>
          </a:p>
          <a:p>
            <a:pPr marL="514350" lvl="1" indent="-171450" algn="l" defTabSz="914400" fontAlgn="auto">
              <a:lnSpc>
                <a:spcPct val="120000"/>
              </a:lnSpc>
              <a:spcBef>
                <a:spcPts val="0"/>
              </a:spcBef>
              <a:spcAft>
                <a:spcPts val="1000"/>
              </a:spcAft>
              <a:buClr>
                <a:srgbClr val="213A71"/>
              </a:buClr>
              <a:buFont typeface="Arial" panose="020B0604020202020204" pitchFamily="34" charset="0"/>
              <a:buChar char="•"/>
              <a:tabLst>
                <a:tab pos="1609725" algn="l"/>
              </a:tabLst>
            </a:pPr>
            <a:r>
              <a:rPr lang="zh-CN" altLang="en-US" sz="1800" b="1" spc="150" dirty="0">
                <a:solidFill>
                  <a:srgbClr val="0070C0"/>
                </a:solidFill>
                <a:uFillTx/>
                <a:ea typeface="微软雅黑" panose="020B0503020204020204" pitchFamily="34" charset="-122"/>
                <a:sym typeface="+mn-ea"/>
              </a:rPr>
              <a:t>后继函数：</a:t>
            </a:r>
            <a:r>
              <a:rPr lang="zh-CN" altLang="en-US" sz="1800" spc="150" dirty="0">
                <a:solidFill>
                  <a:schemeClr val="tx1">
                    <a:lumMod val="75000"/>
                    <a:lumOff val="25000"/>
                  </a:schemeClr>
                </a:solidFill>
                <a:uFillTx/>
                <a:ea typeface="微软雅黑" panose="020B0503020204020204" pitchFamily="34" charset="-122"/>
                <a:sym typeface="+mn-ea"/>
              </a:rPr>
              <a:t>返回(move, state)列表，每一项表示一个合法招数和对应的结果状态。</a:t>
            </a:r>
            <a:endParaRPr lang="zh-CN" altLang="en-US" sz="1800"/>
          </a:p>
          <a:p>
            <a:pPr marL="514350" lvl="1" indent="-171450" algn="l" defTabSz="914400" fontAlgn="auto">
              <a:lnSpc>
                <a:spcPct val="120000"/>
              </a:lnSpc>
              <a:spcBef>
                <a:spcPts val="0"/>
              </a:spcBef>
              <a:spcAft>
                <a:spcPts val="1000"/>
              </a:spcAft>
              <a:buClr>
                <a:srgbClr val="213A71"/>
              </a:buClr>
              <a:buFont typeface="Arial" panose="020B0604020202020204" pitchFamily="34" charset="0"/>
              <a:buChar char="•"/>
              <a:tabLst>
                <a:tab pos="1609725" algn="l"/>
              </a:tabLst>
            </a:pPr>
            <a:r>
              <a:rPr lang="zh-CN" altLang="en-US" sz="1800" b="1" spc="150" dirty="0">
                <a:solidFill>
                  <a:srgbClr val="0070C0"/>
                </a:solidFill>
                <a:uFillTx/>
                <a:ea typeface="微软雅黑" panose="020B0503020204020204" pitchFamily="34" charset="-122"/>
                <a:sym typeface="+mn-ea"/>
              </a:rPr>
              <a:t>终止测试：</a:t>
            </a:r>
            <a:r>
              <a:rPr lang="zh-CN" altLang="en-US" sz="1800" spc="150" dirty="0">
                <a:solidFill>
                  <a:schemeClr val="tx1">
                    <a:lumMod val="75000"/>
                    <a:lumOff val="25000"/>
                  </a:schemeClr>
                </a:solidFill>
                <a:uFillTx/>
                <a:ea typeface="微软雅黑" panose="020B0503020204020204" pitchFamily="34" charset="-122"/>
                <a:sym typeface="+mn-ea"/>
              </a:rPr>
              <a:t>判断游戏是否结束。游戏结束的状态称为终止状态。</a:t>
            </a:r>
            <a:endParaRPr lang="zh-CN" altLang="en-US" sz="1800"/>
          </a:p>
          <a:p>
            <a:pPr marL="514350" lvl="1" indent="-171450" algn="l" defTabSz="914400" fontAlgn="auto">
              <a:lnSpc>
                <a:spcPct val="120000"/>
              </a:lnSpc>
              <a:spcBef>
                <a:spcPts val="0"/>
              </a:spcBef>
              <a:spcAft>
                <a:spcPts val="1000"/>
              </a:spcAft>
              <a:buClr>
                <a:srgbClr val="213A71"/>
              </a:buClr>
              <a:buFont typeface="Arial" panose="020B0604020202020204" pitchFamily="34" charset="0"/>
              <a:buChar char="•"/>
              <a:tabLst>
                <a:tab pos="1609725" algn="l"/>
              </a:tabLst>
            </a:pPr>
            <a:r>
              <a:rPr lang="zh-CN" altLang="en-US" sz="1800" b="1" spc="150" dirty="0">
                <a:solidFill>
                  <a:srgbClr val="0070C0"/>
                </a:solidFill>
                <a:uFillTx/>
                <a:ea typeface="微软雅黑" panose="020B0503020204020204" pitchFamily="34" charset="-122"/>
                <a:sym typeface="+mn-ea"/>
              </a:rPr>
              <a:t>效用函数：</a:t>
            </a:r>
            <a:r>
              <a:rPr lang="zh-CN" altLang="en-US" sz="1800" spc="150" dirty="0">
                <a:solidFill>
                  <a:schemeClr val="tx1">
                    <a:lumMod val="75000"/>
                    <a:lumOff val="25000"/>
                  </a:schemeClr>
                </a:solidFill>
                <a:uFillTx/>
                <a:ea typeface="微软雅黑" panose="020B0503020204020204" pitchFamily="34" charset="-122"/>
                <a:sym typeface="+mn-ea"/>
              </a:rPr>
              <a:t>也称目标函数或收益函数，是终止状态的得分。国际象棋中赢、输、平分别是1，-1和0分，而围棋、黑白棋等可以有更多的结果。</a:t>
            </a: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7" grpId="0" uiExpand="1" build="p"/>
      <p:bldP spid="7"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井字棋</a:t>
            </a:r>
            <a:r>
              <a:rPr lang="en-US" altLang="zh-CN"/>
              <a:t> </a:t>
            </a:r>
            <a:r>
              <a:rPr lang="zh-CN" altLang="en-US"/>
              <a:t>TicTacToe</a:t>
            </a:r>
          </a:p>
        </p:txBody>
      </p:sp>
      <p:sp>
        <p:nvSpPr>
          <p:cNvPr id="3" name="内容占位符 2"/>
          <p:cNvSpPr>
            <a:spLocks noGrp="1"/>
          </p:cNvSpPr>
          <p:nvPr>
            <p:ph idx="1"/>
          </p:nvPr>
        </p:nvSpPr>
        <p:spPr>
          <a:xfrm>
            <a:off x="322580" y="1407795"/>
            <a:ext cx="8319135" cy="4041775"/>
          </a:xfrm>
        </p:spPr>
        <p:txBody>
          <a:bodyPr/>
          <a:lstStyle/>
          <a:p>
            <a:r>
              <a:rPr lang="zh-CN" altLang="en-US" sz="1800"/>
              <a:t>现在有两个参与者MAX和MIN，在3×3的棋盘上，MAX划叉，MIN划圆圈。任何一种图案占据了一行或者一列或者一整条斜对角线（主副对角线），那么判定相应的游戏者获胜。如果双方都下得正确无误，将得和局。</a:t>
            </a:r>
          </a:p>
        </p:txBody>
      </p:sp>
      <p:pic>
        <p:nvPicPr>
          <p:cNvPr id="102" name="图片 101"/>
          <p:cNvPicPr/>
          <p:nvPr>
            <p:custDataLst>
              <p:tags r:id="rId2"/>
            </p:custDataLst>
          </p:nvPr>
        </p:nvPicPr>
        <p:blipFill>
          <a:blip r:embed="rId5"/>
          <a:stretch>
            <a:fillRect/>
          </a:stretch>
        </p:blipFill>
        <p:spPr>
          <a:xfrm>
            <a:off x="4284345" y="2695575"/>
            <a:ext cx="4230370" cy="3831590"/>
          </a:xfrm>
          <a:prstGeom prst="rect">
            <a:avLst/>
          </a:prstGeom>
          <a:noFill/>
          <a:ln w="9525">
            <a:noFill/>
          </a:ln>
        </p:spPr>
      </p:pic>
      <p:pic>
        <p:nvPicPr>
          <p:cNvPr id="10" name="图片 9" descr="井字棋"/>
          <p:cNvPicPr>
            <a:picLocks noChangeAspect="1"/>
          </p:cNvPicPr>
          <p:nvPr>
            <p:custDataLst>
              <p:tags r:id="rId3"/>
            </p:custDataLst>
          </p:nvPr>
        </p:nvPicPr>
        <p:blipFill>
          <a:blip r:embed="rId6"/>
          <a:stretch>
            <a:fillRect/>
          </a:stretch>
        </p:blipFill>
        <p:spPr>
          <a:xfrm>
            <a:off x="322580" y="2695575"/>
            <a:ext cx="3596640" cy="3596640"/>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井字棋游戏的形式化</a:t>
            </a:r>
          </a:p>
        </p:txBody>
      </p:sp>
      <p:sp>
        <p:nvSpPr>
          <p:cNvPr id="3" name="内容占位符 2"/>
          <p:cNvSpPr>
            <a:spLocks noGrp="1"/>
          </p:cNvSpPr>
          <p:nvPr>
            <p:ph idx="1"/>
          </p:nvPr>
        </p:nvSpPr>
        <p:spPr>
          <a:xfrm>
            <a:off x="0" y="1875155"/>
            <a:ext cx="4979035" cy="4693920"/>
          </a:xfrm>
        </p:spPr>
        <p:txBody>
          <a:bodyPr/>
          <a:lstStyle/>
          <a:p>
            <a:pPr marL="571500" lvl="1" indent="-285750" algn="l" fontAlgn="auto">
              <a:lnSpc>
                <a:spcPct val="140000"/>
              </a:lnSpc>
              <a:spcBef>
                <a:spcPts val="0"/>
              </a:spcBef>
              <a:spcAft>
                <a:spcPts val="1000"/>
              </a:spcAft>
              <a:buClr>
                <a:schemeClr val="hlink"/>
              </a:buClr>
              <a:buSzTx/>
              <a:buFont typeface="Arial" panose="020B0604020202020204" pitchFamily="34" charset="0"/>
              <a:buChar char="•"/>
            </a:pPr>
            <a:r>
              <a:rPr b="1">
                <a:solidFill>
                  <a:srgbClr val="0070C0"/>
                </a:solidFill>
                <a:latin typeface="微软雅黑" panose="020B0503020204020204" pitchFamily="34" charset="-122"/>
                <a:cs typeface="微软雅黑" panose="020B0503020204020204" pitchFamily="34" charset="-122"/>
                <a:sym typeface="+mn-ea"/>
              </a:rPr>
              <a:t>初始状态：</a:t>
            </a:r>
            <a:r>
              <a:rPr b="1">
                <a:solidFill>
                  <a:schemeClr val="dk1"/>
                </a:solidFill>
                <a:latin typeface="微软雅黑" panose="020B0503020204020204" pitchFamily="34" charset="-122"/>
                <a:cs typeface="微软雅黑" panose="020B0503020204020204" pitchFamily="34" charset="-122"/>
                <a:sym typeface="+mn-ea"/>
              </a:rPr>
              <a:t>棋盘局面</a:t>
            </a:r>
            <a:endParaRPr lang="zh-CN" altLang="en-US" b="1" kern="1200" dirty="0">
              <a:solidFill>
                <a:schemeClr val="dk1"/>
              </a:solidFill>
              <a:latin typeface="微软雅黑" panose="020B0503020204020204" pitchFamily="34" charset="-122"/>
              <a:cs typeface="微软雅黑" panose="020B0503020204020204" pitchFamily="34" charset="-122"/>
              <a:sym typeface="+mn-ea"/>
            </a:endParaRPr>
          </a:p>
          <a:p>
            <a:pPr marL="571500" lvl="1" indent="-285750" algn="l" fontAlgn="auto">
              <a:lnSpc>
                <a:spcPct val="140000"/>
              </a:lnSpc>
              <a:spcBef>
                <a:spcPts val="0"/>
              </a:spcBef>
              <a:spcAft>
                <a:spcPts val="1000"/>
              </a:spcAft>
              <a:buClr>
                <a:schemeClr val="hlink"/>
              </a:buClr>
              <a:buSzTx/>
              <a:buFont typeface="Arial" panose="020B0604020202020204" pitchFamily="34" charset="0"/>
              <a:buChar char="•"/>
            </a:pPr>
            <a:r>
              <a:rPr b="1">
                <a:solidFill>
                  <a:srgbClr val="0070C0"/>
                </a:solidFill>
                <a:latin typeface="微软雅黑" panose="020B0503020204020204" pitchFamily="34" charset="-122"/>
                <a:cs typeface="微软雅黑" panose="020B0503020204020204" pitchFamily="34" charset="-122"/>
                <a:sym typeface="+mn-ea"/>
              </a:rPr>
              <a:t>后继函数：</a:t>
            </a:r>
            <a:r>
              <a:rPr b="1">
                <a:solidFill>
                  <a:schemeClr val="dk1"/>
                </a:solidFill>
                <a:latin typeface="微软雅黑" panose="020B0503020204020204" pitchFamily="34" charset="-122"/>
                <a:cs typeface="微软雅黑" panose="020B0503020204020204" pitchFamily="34" charset="-122"/>
                <a:sym typeface="+mn-ea"/>
              </a:rPr>
              <a:t>(move,state)对的动作列表，每个动作对表示一个合法的走法与其结果状态。</a:t>
            </a:r>
            <a:endParaRPr lang="zh-CN" altLang="en-US" b="1" kern="1200" dirty="0">
              <a:solidFill>
                <a:schemeClr val="dk1"/>
              </a:solidFill>
              <a:latin typeface="微软雅黑" panose="020B0503020204020204" pitchFamily="34" charset="-122"/>
              <a:cs typeface="微软雅黑" panose="020B0503020204020204" pitchFamily="34" charset="-122"/>
              <a:sym typeface="+mn-ea"/>
            </a:endParaRPr>
          </a:p>
          <a:p>
            <a:pPr marL="571500" lvl="1" indent="-285750" algn="l" fontAlgn="auto">
              <a:lnSpc>
                <a:spcPct val="140000"/>
              </a:lnSpc>
              <a:spcBef>
                <a:spcPts val="0"/>
              </a:spcBef>
              <a:spcAft>
                <a:spcPts val="1000"/>
              </a:spcAft>
              <a:buClr>
                <a:schemeClr val="hlink"/>
              </a:buClr>
              <a:buSzTx/>
              <a:buFont typeface="Arial" panose="020B0604020202020204" pitchFamily="34" charset="0"/>
              <a:buChar char="•"/>
            </a:pPr>
            <a:r>
              <a:rPr b="1">
                <a:solidFill>
                  <a:srgbClr val="0070C0"/>
                </a:solidFill>
                <a:latin typeface="微软雅黑" panose="020B0503020204020204" pitchFamily="34" charset="-122"/>
                <a:cs typeface="微软雅黑" panose="020B0503020204020204" pitchFamily="34" charset="-122"/>
                <a:sym typeface="+mn-ea"/>
              </a:rPr>
              <a:t>终止测试：</a:t>
            </a:r>
            <a:r>
              <a:rPr b="1">
                <a:solidFill>
                  <a:schemeClr val="dk1"/>
                </a:solidFill>
                <a:latin typeface="微软雅黑" panose="020B0503020204020204" pitchFamily="34" charset="-122"/>
                <a:cs typeface="微软雅黑" panose="020B0503020204020204" pitchFamily="34" charset="-122"/>
                <a:sym typeface="+mn-ea"/>
              </a:rPr>
              <a:t>判断博弈是否结束。</a:t>
            </a:r>
            <a:endParaRPr lang="zh-CN" altLang="en-US" b="1" kern="1200" dirty="0">
              <a:solidFill>
                <a:schemeClr val="dk1"/>
              </a:solidFill>
              <a:latin typeface="微软雅黑" panose="020B0503020204020204" pitchFamily="34" charset="-122"/>
              <a:cs typeface="微软雅黑" panose="020B0503020204020204" pitchFamily="34" charset="-122"/>
              <a:sym typeface="+mn-ea"/>
            </a:endParaRPr>
          </a:p>
          <a:p>
            <a:pPr marL="571500" lvl="1" indent="-285750" algn="l" fontAlgn="auto">
              <a:lnSpc>
                <a:spcPct val="140000"/>
              </a:lnSpc>
              <a:spcBef>
                <a:spcPts val="0"/>
              </a:spcBef>
              <a:spcAft>
                <a:spcPts val="1000"/>
              </a:spcAft>
              <a:buClr>
                <a:schemeClr val="hlink"/>
              </a:buClr>
              <a:buSzTx/>
              <a:buFont typeface="Arial" panose="020B0604020202020204" pitchFamily="34" charset="0"/>
              <a:buChar char="•"/>
            </a:pPr>
            <a:r>
              <a:rPr b="1">
                <a:solidFill>
                  <a:srgbClr val="0070C0"/>
                </a:solidFill>
                <a:latin typeface="微软雅黑" panose="020B0503020204020204" pitchFamily="34" charset="-122"/>
                <a:cs typeface="微软雅黑" panose="020B0503020204020204" pitchFamily="34" charset="-122"/>
                <a:sym typeface="+mn-ea"/>
              </a:rPr>
              <a:t>效用函数：</a:t>
            </a:r>
            <a:r>
              <a:rPr b="1">
                <a:solidFill>
                  <a:schemeClr val="dk1"/>
                </a:solidFill>
                <a:latin typeface="微软雅黑" panose="020B0503020204020204" pitchFamily="34" charset="-122"/>
                <a:cs typeface="微软雅黑" panose="020B0503020204020204" pitchFamily="34" charset="-122"/>
                <a:sym typeface="+mn-ea"/>
              </a:rPr>
              <a:t>对终止状态给出一个数值。</a:t>
            </a:r>
            <a:endParaRPr lang="zh-CN" altLang="en-US"/>
          </a:p>
        </p:txBody>
      </p:sp>
      <p:sp>
        <p:nvSpPr>
          <p:cNvPr id="4" name="文本框 3"/>
          <p:cNvSpPr txBox="1"/>
          <p:nvPr/>
        </p:nvSpPr>
        <p:spPr>
          <a:xfrm>
            <a:off x="1071245" y="5367655"/>
            <a:ext cx="5386705" cy="368300"/>
          </a:xfrm>
          <a:prstGeom prst="rect">
            <a:avLst/>
          </a:prstGeom>
          <a:noFill/>
        </p:spPr>
        <p:txBody>
          <a:bodyPr wrap="square" rtlCol="0" anchor="t">
            <a:spAutoFit/>
          </a:bodyPr>
          <a:lstStyle/>
          <a:p>
            <a:r>
              <a:rPr lang="zh-CN" altLang="en-US"/>
              <a:t>如井字棋游戏中赢、输、平分别为+1、-1、和0。</a:t>
            </a:r>
          </a:p>
        </p:txBody>
      </p:sp>
      <p:pic>
        <p:nvPicPr>
          <p:cNvPr id="8" name="图片 7"/>
          <p:cNvPicPr>
            <a:picLocks noChangeAspect="1"/>
          </p:cNvPicPr>
          <p:nvPr/>
        </p:nvPicPr>
        <p:blipFill>
          <a:blip r:embed="rId4"/>
          <a:srcRect r="82759"/>
          <a:stretch>
            <a:fillRect/>
          </a:stretch>
        </p:blipFill>
        <p:spPr>
          <a:xfrm>
            <a:off x="5275580" y="1216660"/>
            <a:ext cx="1182370" cy="1514475"/>
          </a:xfrm>
          <a:prstGeom prst="rect">
            <a:avLst/>
          </a:prstGeom>
        </p:spPr>
      </p:pic>
      <p:pic>
        <p:nvPicPr>
          <p:cNvPr id="9" name="图片 8"/>
          <p:cNvPicPr>
            <a:picLocks noChangeAspect="1"/>
          </p:cNvPicPr>
          <p:nvPr/>
        </p:nvPicPr>
        <p:blipFill>
          <a:blip r:embed="rId5"/>
          <a:stretch>
            <a:fillRect/>
          </a:stretch>
        </p:blipFill>
        <p:spPr>
          <a:xfrm>
            <a:off x="5275580" y="2945765"/>
            <a:ext cx="3590925" cy="1581150"/>
          </a:xfrm>
          <a:prstGeom prst="rect">
            <a:avLst/>
          </a:prstGeom>
        </p:spPr>
      </p:pic>
      <p:pic>
        <p:nvPicPr>
          <p:cNvPr id="6" name="图片 5"/>
          <p:cNvPicPr>
            <a:picLocks noChangeAspect="1"/>
          </p:cNvPicPr>
          <p:nvPr/>
        </p:nvPicPr>
        <p:blipFill>
          <a:blip r:embed="rId6"/>
          <a:stretch>
            <a:fillRect/>
          </a:stretch>
        </p:blipFill>
        <p:spPr>
          <a:xfrm>
            <a:off x="7719060" y="4526915"/>
            <a:ext cx="1068705" cy="1010285"/>
          </a:xfrm>
          <a:prstGeom prst="rect">
            <a:avLst/>
          </a:prstGeom>
        </p:spPr>
      </p:pic>
      <p:pic>
        <p:nvPicPr>
          <p:cNvPr id="10" name="图片 9" descr="井字棋"/>
          <p:cNvPicPr>
            <a:picLocks noChangeAspect="1"/>
          </p:cNvPicPr>
          <p:nvPr>
            <p:custDataLst>
              <p:tags r:id="rId2"/>
            </p:custDataLst>
          </p:nvPr>
        </p:nvPicPr>
        <p:blipFill>
          <a:blip r:embed="rId7"/>
          <a:stretch>
            <a:fillRect/>
          </a:stretch>
        </p:blipFill>
        <p:spPr>
          <a:xfrm>
            <a:off x="6937375" y="170815"/>
            <a:ext cx="1704340" cy="170434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2285" y="172085"/>
            <a:ext cx="8139430" cy="857885"/>
          </a:xfrm>
        </p:spPr>
        <p:txBody>
          <a:bodyPr/>
          <a:lstStyle/>
          <a:p>
            <a:r>
              <a:rPr lang="zh-CN" altLang="en-US" sz="3200"/>
              <a:t>博弈问题的表示：</a:t>
            </a:r>
            <a:r>
              <a:rPr lang="zh-CN" altLang="en-US" sz="3200">
                <a:solidFill>
                  <a:srgbClr val="0000FF"/>
                </a:solidFill>
              </a:rPr>
              <a:t>博弈树</a:t>
            </a:r>
            <a:r>
              <a:rPr lang="en-US" altLang="zh-CN" sz="3200">
                <a:solidFill>
                  <a:srgbClr val="0000FF"/>
                </a:solidFill>
              </a:rPr>
              <a:t>Game Tree</a:t>
            </a:r>
          </a:p>
        </p:txBody>
      </p:sp>
      <p:sp>
        <p:nvSpPr>
          <p:cNvPr id="5" name="文本框 4"/>
          <p:cNvSpPr txBox="1"/>
          <p:nvPr/>
        </p:nvSpPr>
        <p:spPr>
          <a:xfrm>
            <a:off x="641985" y="883285"/>
            <a:ext cx="8000365" cy="337185"/>
          </a:xfrm>
          <a:prstGeom prst="rect">
            <a:avLst/>
          </a:prstGeom>
          <a:solidFill>
            <a:schemeClr val="accent4">
              <a:lumMod val="50000"/>
            </a:schemeClr>
          </a:solidFill>
        </p:spPr>
        <p:style>
          <a:lnRef idx="2">
            <a:schemeClr val="accent3">
              <a:shade val="50000"/>
            </a:schemeClr>
          </a:lnRef>
          <a:fillRef idx="1">
            <a:schemeClr val="accent3"/>
          </a:fillRef>
          <a:effectRef idx="0">
            <a:schemeClr val="accent3"/>
          </a:effectRef>
          <a:fontRef idx="minor">
            <a:schemeClr val="lt1"/>
          </a:fontRef>
        </p:style>
        <p:txBody>
          <a:bodyPr wrap="square" rtlCol="0" anchor="t">
            <a:spAutoFit/>
          </a:bodyPr>
          <a:lstStyle/>
          <a:p>
            <a:r>
              <a:rPr lang="zh-CN" altLang="en-US" sz="1600" b="1"/>
              <a:t>初始状态棋盘为空，然后依次由MAX、MIN方轮流走，形成了一棵类似搜索树的博弈树。</a:t>
            </a:r>
            <a:endParaRPr lang="zh-CN" altLang="en-US" sz="1600" b="1">
              <a:solidFill>
                <a:srgbClr val="0070C0"/>
              </a:solidFill>
            </a:endParaRPr>
          </a:p>
        </p:txBody>
      </p:sp>
      <p:sp>
        <p:nvSpPr>
          <p:cNvPr id="4" name="文本框 3"/>
          <p:cNvSpPr txBox="1"/>
          <p:nvPr/>
        </p:nvSpPr>
        <p:spPr>
          <a:xfrm>
            <a:off x="572135" y="1298575"/>
            <a:ext cx="8070215" cy="2155825"/>
          </a:xfrm>
          <a:prstGeom prst="rect">
            <a:avLst/>
          </a:prstGeom>
          <a:noFill/>
        </p:spPr>
        <p:txBody>
          <a:bodyPr wrap="square" rtlCol="0" anchor="t">
            <a:spAutoFit/>
          </a:bodyPr>
          <a:lstStyle/>
          <a:p>
            <a:pPr marL="285750" indent="-285750">
              <a:lnSpc>
                <a:spcPct val="120000"/>
              </a:lnSpc>
              <a:buFont typeface="Arial" panose="020B0604020202020204" pitchFamily="34" charset="0"/>
              <a:buChar char="•"/>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MAX</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行棋——</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MAX</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有9个选择。因此，根有9个子顶点，每个子顶点对应于在9个小方格之一内写下符号×。考虑根的一个子顶点v（棋盘上恰有一个符号×）。在v处，轮到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MIN</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行棋。</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MIN</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有8个选择，因此v将有8个子顶点。</a:t>
            </a:r>
          </a:p>
          <a:p>
            <a:pPr marL="285750" indent="-285750">
              <a:lnSpc>
                <a:spcPct val="120000"/>
              </a:lnSpc>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不断画下去可以看到这棵树</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至多有9层</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，其中偶数层（根所在的最高层记做0层）对应着轮到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MAX</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行棋，而奇数层对应着轮到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MIN</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行棋。</a:t>
            </a:r>
          </a:p>
          <a:p>
            <a:pPr marL="285750" indent="-285750">
              <a:lnSpc>
                <a:spcPct val="120000"/>
              </a:lnSpc>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有三个同类符号位于同一直线上的顶点对应于有一个游戏者获胜的情况，</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这样的顶点是该根树的叶子</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。类似的，所有九个小方格都被标记的节点也是叶子节点。</a:t>
            </a:r>
          </a:p>
        </p:txBody>
      </p:sp>
      <p:pic>
        <p:nvPicPr>
          <p:cNvPr id="9" name="内容占位符 8"/>
          <p:cNvPicPr>
            <a:picLocks noGrp="1" noChangeAspect="1"/>
          </p:cNvPicPr>
          <p:nvPr>
            <p:ph idx="1"/>
          </p:nvPr>
        </p:nvPicPr>
        <p:blipFill>
          <a:blip r:embed="rId4"/>
          <a:stretch>
            <a:fillRect/>
          </a:stretch>
        </p:blipFill>
        <p:spPr>
          <a:xfrm>
            <a:off x="340360" y="3723005"/>
            <a:ext cx="8604250" cy="2880360"/>
          </a:xfrm>
          <a:prstGeom prst="rect">
            <a:avLst/>
          </a:prstGeom>
        </p:spPr>
      </p:pic>
      <p:pic>
        <p:nvPicPr>
          <p:cNvPr id="6" name="图片 5"/>
          <p:cNvPicPr>
            <a:picLocks noChangeAspect="1"/>
          </p:cNvPicPr>
          <p:nvPr/>
        </p:nvPicPr>
        <p:blipFill>
          <a:blip r:embed="rId5"/>
          <a:stretch>
            <a:fillRect/>
          </a:stretch>
        </p:blipFill>
        <p:spPr>
          <a:xfrm>
            <a:off x="4957445" y="3831590"/>
            <a:ext cx="3857625" cy="19431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 descr="tictactoe"/>
          <p:cNvPicPr>
            <a:picLocks noGrp="1" noRot="1" noChangeAspect="1"/>
          </p:cNvPicPr>
          <p:nvPr/>
        </p:nvPicPr>
        <p:blipFill>
          <a:blip r:embed="rId3"/>
          <a:stretch>
            <a:fillRect/>
          </a:stretch>
        </p:blipFill>
        <p:spPr>
          <a:xfrm>
            <a:off x="291465" y="505460"/>
            <a:ext cx="8214360" cy="5847080"/>
          </a:xfrm>
          <a:prstGeom prst="rect">
            <a:avLst/>
          </a:prstGeom>
          <a:noFill/>
          <a:ln w="9525">
            <a:noFill/>
          </a:ln>
        </p:spPr>
      </p:pic>
      <p:sp>
        <p:nvSpPr>
          <p:cNvPr id="11" name="文本框 10"/>
          <p:cNvSpPr txBox="1"/>
          <p:nvPr/>
        </p:nvSpPr>
        <p:spPr>
          <a:xfrm>
            <a:off x="6438265" y="170815"/>
            <a:ext cx="2540000" cy="645160"/>
          </a:xfrm>
          <a:prstGeom prst="rect">
            <a:avLst/>
          </a:prstGeom>
        </p:spPr>
        <p:style>
          <a:lnRef idx="2">
            <a:schemeClr val="accent3"/>
          </a:lnRef>
          <a:fillRef idx="1">
            <a:schemeClr val="lt1"/>
          </a:fillRef>
          <a:effectRef idx="0">
            <a:schemeClr val="accent3"/>
          </a:effectRef>
          <a:fontRef idx="minor">
            <a:schemeClr val="dk1"/>
          </a:fontRef>
        </p:style>
        <p:txBody>
          <a:bodyPr wrap="square" rtlCol="0" anchor="t">
            <a:spAutoFit/>
          </a:bodyPr>
          <a:lstStyle/>
          <a:p>
            <a:r>
              <a:rPr lang="zh-CN" altLang="en-US" b="1">
                <a:solidFill>
                  <a:srgbClr val="0070C0"/>
                </a:solidFill>
              </a:rPr>
              <a:t>博弈树</a:t>
            </a:r>
            <a:r>
              <a:rPr lang="zh-CN" altLang="en-US"/>
              <a:t>，</a:t>
            </a:r>
          </a:p>
          <a:p>
            <a:r>
              <a:rPr lang="zh-CN" altLang="en-US"/>
              <a:t>也称作</a:t>
            </a:r>
            <a:r>
              <a:rPr lang="zh-CN" altLang="en-US" b="1">
                <a:solidFill>
                  <a:srgbClr val="0070C0"/>
                </a:solidFill>
              </a:rPr>
              <a:t>对策树</a:t>
            </a:r>
            <a:r>
              <a:rPr lang="zh-CN" altLang="en-US"/>
              <a:t>或</a:t>
            </a:r>
            <a:r>
              <a:rPr lang="zh-CN" altLang="en-US" b="1">
                <a:solidFill>
                  <a:srgbClr val="0070C0"/>
                </a:solidFill>
              </a:rPr>
              <a:t>游戏树</a:t>
            </a:r>
            <a:r>
              <a:rPr lang="zh-CN" altLang="en-US"/>
              <a:t>。</a:t>
            </a:r>
          </a:p>
        </p:txBody>
      </p:sp>
      <p:sp>
        <p:nvSpPr>
          <p:cNvPr id="12" name="内容占位符 2"/>
          <p:cNvSpPr>
            <a:spLocks noGrp="1"/>
          </p:cNvSpPr>
          <p:nvPr/>
        </p:nvSpPr>
        <p:spPr>
          <a:xfrm>
            <a:off x="4939665" y="2470785"/>
            <a:ext cx="3848735" cy="4004945"/>
          </a:xfrm>
          <a:prstGeom prst="rect">
            <a:avLst/>
          </a:prstGeom>
        </p:spPr>
        <p:style>
          <a:lnRef idx="2">
            <a:schemeClr val="accent3"/>
          </a:lnRef>
          <a:fillRef idx="1">
            <a:schemeClr val="lt1"/>
          </a:fillRef>
          <a:effectRef idx="0">
            <a:schemeClr val="accent3"/>
          </a:effectRef>
          <a:fontRef idx="minor">
            <a:schemeClr val="dk1"/>
          </a:fontRef>
        </p:style>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9pPr>
          </a:lstStyle>
          <a:p>
            <a:r>
              <a:rPr lang="zh-CN" altLang="en-US" sz="1600"/>
              <a:t>该游戏中</a:t>
            </a:r>
            <a:r>
              <a:rPr lang="zh-CN" altLang="en-US" sz="1600" b="1">
                <a:solidFill>
                  <a:srgbClr val="0070C0"/>
                </a:solidFill>
              </a:rPr>
              <a:t>所有策略的集合</a:t>
            </a:r>
            <a:r>
              <a:rPr lang="zh-CN" altLang="en-US" sz="1600"/>
              <a:t>可以由一棵巨大的</a:t>
            </a:r>
            <a:r>
              <a:rPr lang="zh-CN" altLang="en-US" sz="1600" b="1">
                <a:solidFill>
                  <a:srgbClr val="0070C0"/>
                </a:solidFill>
              </a:rPr>
              <a:t>根树</a:t>
            </a:r>
            <a:r>
              <a:rPr lang="zh-CN" altLang="en-US" sz="1600"/>
              <a:t>来表示，树中的每个</a:t>
            </a:r>
            <a:r>
              <a:rPr lang="zh-CN" altLang="en-US" sz="1600" b="1">
                <a:solidFill>
                  <a:srgbClr val="0070C0"/>
                </a:solidFill>
              </a:rPr>
              <a:t>顶点</a:t>
            </a:r>
            <a:r>
              <a:rPr lang="zh-CN" altLang="en-US" sz="1600"/>
              <a:t>都对应于棋盘的一个</a:t>
            </a:r>
            <a:r>
              <a:rPr lang="zh-CN" altLang="en-US" sz="1600" b="1">
                <a:solidFill>
                  <a:srgbClr val="0070C0"/>
                </a:solidFill>
              </a:rPr>
              <a:t>布局（configuration）</a:t>
            </a:r>
            <a:r>
              <a:rPr lang="zh-CN" altLang="en-US" sz="1600"/>
              <a:t>。所谓“棋盘的一个布局”，是在游戏过程中通过标记棋盘上的小方格得到的。</a:t>
            </a:r>
          </a:p>
          <a:p>
            <a:r>
              <a:rPr lang="zh-CN" altLang="en-US" sz="1600"/>
              <a:t>但要注意，棋盘上的</a:t>
            </a:r>
            <a:r>
              <a:rPr lang="zh-CN" altLang="en-US" sz="1600">
                <a:solidFill>
                  <a:srgbClr val="0000FF"/>
                </a:solidFill>
              </a:rPr>
              <a:t>某些标记方案不是布局</a:t>
            </a:r>
            <a:r>
              <a:rPr lang="zh-CN" altLang="en-US" sz="1600"/>
              <a:t>：</a:t>
            </a:r>
            <a:r>
              <a:rPr lang="zh-CN" altLang="en-US" sz="1600">
                <a:solidFill>
                  <a:srgbClr val="0000FF"/>
                </a:solidFill>
              </a:rPr>
              <a:t>4个小方格标记为×，1个小方格标记为</a:t>
            </a:r>
            <a:r>
              <a:rPr lang="en-US" altLang="zh-CN" sz="1600">
                <a:solidFill>
                  <a:srgbClr val="0000FF"/>
                </a:solidFill>
              </a:rPr>
              <a:t>O</a:t>
            </a:r>
            <a:r>
              <a:rPr lang="zh-CN" altLang="en-US" sz="1600"/>
              <a:t>的这种情况——由于游戏参与者是交替行棋的，所以永远无法达到这样的标记方案。</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2285" y="111125"/>
            <a:ext cx="8139430" cy="857885"/>
          </a:xfrm>
        </p:spPr>
        <p:txBody>
          <a:bodyPr/>
          <a:lstStyle/>
          <a:p>
            <a:r>
              <a:rPr lang="en-US" altLang="zh-CN" sz="3600"/>
              <a:t>5.2  </a:t>
            </a:r>
            <a:r>
              <a:rPr sz="3600"/>
              <a:t>博弈中的优化策略</a:t>
            </a:r>
            <a:br>
              <a:rPr sz="3600"/>
            </a:br>
            <a:r>
              <a:rPr lang="en-US" altLang="zh-CN" sz="2000"/>
              <a:t>Optimal Decisions in Games</a:t>
            </a:r>
          </a:p>
        </p:txBody>
      </p:sp>
      <p:sp>
        <p:nvSpPr>
          <p:cNvPr id="3" name="内容占位符 2"/>
          <p:cNvSpPr>
            <a:spLocks noGrp="1"/>
          </p:cNvSpPr>
          <p:nvPr>
            <p:ph idx="1"/>
          </p:nvPr>
        </p:nvSpPr>
        <p:spPr>
          <a:xfrm>
            <a:off x="251460" y="1207135"/>
            <a:ext cx="8793480" cy="1195070"/>
          </a:xfrm>
        </p:spPr>
        <p:style>
          <a:lnRef idx="2">
            <a:schemeClr val="accent1"/>
          </a:lnRef>
          <a:fillRef idx="1">
            <a:schemeClr val="lt1"/>
          </a:fillRef>
          <a:effectRef idx="0">
            <a:schemeClr val="accent1"/>
          </a:effectRef>
          <a:fontRef idx="minor">
            <a:schemeClr val="dk1"/>
          </a:fontRef>
        </p:style>
        <p:txBody>
          <a:bodyPr/>
          <a:lstStyle/>
          <a:p>
            <a:r>
              <a:rPr lang="zh-CN" altLang="en-US" sz="1600" b="1">
                <a:solidFill>
                  <a:srgbClr val="C00000"/>
                </a:solidFill>
              </a:rPr>
              <a:t>一般的搜索问题：</a:t>
            </a:r>
            <a:r>
              <a:rPr lang="zh-CN" altLang="en-US" sz="1600"/>
              <a:t>最优解是达到目标状态的行动序列（终止状态就是取胜）。</a:t>
            </a:r>
          </a:p>
          <a:p>
            <a:r>
              <a:rPr lang="zh-CN" altLang="en-US" sz="1600" b="1">
                <a:solidFill>
                  <a:srgbClr val="C00000"/>
                </a:solidFill>
              </a:rPr>
              <a:t>在对抗搜索中：</a:t>
            </a:r>
            <a:r>
              <a:rPr lang="zh-CN" altLang="en-US" sz="1600"/>
              <a:t>在</a:t>
            </a:r>
            <a:r>
              <a:rPr lang="zh-CN" altLang="en-US" sz="1600" b="1">
                <a:solidFill>
                  <a:srgbClr val="C00000"/>
                </a:solidFill>
              </a:rPr>
              <a:t>每一步</a:t>
            </a:r>
            <a:r>
              <a:rPr lang="zh-CN" altLang="en-US" sz="1600"/>
              <a:t>的时候，MAX/MIN如何来</a:t>
            </a:r>
            <a:r>
              <a:rPr lang="zh-CN" altLang="en-US" sz="1600" b="1">
                <a:solidFill>
                  <a:srgbClr val="C00000"/>
                </a:solidFill>
              </a:rPr>
              <a:t>设计评估函数</a:t>
            </a:r>
            <a:r>
              <a:rPr lang="zh-CN" altLang="en-US" sz="1600"/>
              <a:t>来选择</a:t>
            </a:r>
            <a:r>
              <a:rPr lang="zh-CN" altLang="en-US" sz="1600" b="1">
                <a:solidFill>
                  <a:srgbClr val="C00000"/>
                </a:solidFill>
              </a:rPr>
              <a:t>“最利于”</a:t>
            </a:r>
            <a:r>
              <a:rPr lang="zh-CN" altLang="en-US" sz="1600"/>
              <a:t>自己的下棋步骤？比如在第一步时，MAX到底该如何得知自己要选择9个选择中的哪一个。</a:t>
            </a:r>
          </a:p>
          <a:p>
            <a:endParaRPr lang="zh-CN" altLang="en-US" sz="1600"/>
          </a:p>
        </p:txBody>
      </p:sp>
      <p:pic>
        <p:nvPicPr>
          <p:cNvPr id="5" name="Picture 1" descr="tictactoe"/>
          <p:cNvPicPr>
            <a:picLocks noGrp="1" noRot="1" noChangeAspect="1"/>
          </p:cNvPicPr>
          <p:nvPr/>
        </p:nvPicPr>
        <p:blipFill>
          <a:blip r:embed="rId4"/>
          <a:stretch>
            <a:fillRect/>
          </a:stretch>
        </p:blipFill>
        <p:spPr>
          <a:xfrm>
            <a:off x="593090" y="2421890"/>
            <a:ext cx="5969635" cy="4250690"/>
          </a:xfrm>
          <a:prstGeom prst="rect">
            <a:avLst/>
          </a:prstGeom>
          <a:noFill/>
          <a:ln w="9525">
            <a:noFill/>
          </a:ln>
        </p:spPr>
      </p:pic>
      <p:sp>
        <p:nvSpPr>
          <p:cNvPr id="4" name="文本框 3"/>
          <p:cNvSpPr txBox="1"/>
          <p:nvPr/>
        </p:nvSpPr>
        <p:spPr>
          <a:xfrm>
            <a:off x="4163060" y="4196715"/>
            <a:ext cx="4799965" cy="1918335"/>
          </a:xfrm>
          <a:prstGeom prst="rect">
            <a:avLst/>
          </a:prstGeom>
          <a:noFill/>
        </p:spPr>
        <p:txBody>
          <a:bodyPr wrap="square" rtlCol="0" anchor="t">
            <a:spAutoFit/>
          </a:bodyPr>
          <a:lstStyle/>
          <a:p>
            <a:pPr>
              <a:lnSpc>
                <a:spcPct val="11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这个图列举了双方能接受的</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所有</a:t>
            </a:r>
            <a:r>
              <a:rPr lang="zh-CN" altLang="en-US">
                <a:latin typeface="微软雅黑" panose="020B0503020204020204" pitchFamily="34" charset="-122"/>
                <a:ea typeface="微软雅黑" panose="020B0503020204020204" pitchFamily="34" charset="-122"/>
                <a:cs typeface="微软雅黑" panose="020B0503020204020204" pitchFamily="34" charset="-122"/>
              </a:rPr>
              <a:t>选择。我们可以看到</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只有叶子节点才有评估函数</a:t>
            </a:r>
            <a:r>
              <a:rPr lang="zh-CN" altLang="en-US">
                <a:latin typeface="微软雅黑" panose="020B0503020204020204" pitchFamily="34" charset="-122"/>
                <a:ea typeface="微软雅黑" panose="020B0503020204020204" pitchFamily="34" charset="-122"/>
                <a:cs typeface="微软雅黑" panose="020B0503020204020204" pitchFamily="34" charset="-122"/>
              </a:rPr>
              <a:t>，可以看到从根节点到叶子节点是双方按照当前路径走下来的最终结果（赢、输、平局）。</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每条路径都对应一个结果</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双方不论在什么时候，肯定都要选择“最利于”自己获胜的步骤。</a:t>
            </a:r>
          </a:p>
        </p:txBody>
      </p:sp>
      <p:sp>
        <p:nvSpPr>
          <p:cNvPr id="6" name="文本框 5"/>
          <p:cNvSpPr txBox="1"/>
          <p:nvPr/>
        </p:nvSpPr>
        <p:spPr>
          <a:xfrm>
            <a:off x="4163060" y="6304280"/>
            <a:ext cx="3078480" cy="368300"/>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zh-CN" altLang="en-US"/>
              <a:t>评估函数、效用函数：</a:t>
            </a:r>
            <a:r>
              <a:rPr lang="en-US" altLang="zh-CN"/>
              <a:t>“</a:t>
            </a:r>
            <a:r>
              <a:rPr lang="zh-CN" altLang="en-US"/>
              <a:t>赢面</a:t>
            </a:r>
            <a:r>
              <a:rPr lang="en-US" altLang="zh-CN"/>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409" name="Rectangle 2"/>
          <p:cNvSpPr>
            <a:spLocks noGrp="1" noRot="1"/>
          </p:cNvSpPr>
          <p:nvPr>
            <p:ph type="title" idx="4294967295"/>
          </p:nvPr>
        </p:nvSpPr>
        <p:spPr>
          <a:xfrm>
            <a:off x="301625" y="235585"/>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最优策略的确定</a:t>
            </a:r>
          </a:p>
        </p:txBody>
      </p:sp>
      <p:sp>
        <p:nvSpPr>
          <p:cNvPr id="17410" name="Rectangle 3"/>
          <p:cNvSpPr>
            <a:spLocks noGrp="1" noRot="1"/>
          </p:cNvSpPr>
          <p:nvPr>
            <p:ph type="body" sz="half" idx="4294967295"/>
            <p:custDataLst>
              <p:tags r:id="rId3"/>
            </p:custDataLst>
          </p:nvPr>
        </p:nvSpPr>
        <p:spPr>
          <a:xfrm>
            <a:off x="301625" y="1254760"/>
            <a:ext cx="8434070" cy="176530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18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对MAX方来说，评估函数越大越好，而对MIN方来说，评估函数越小越好。</a:t>
            </a:r>
            <a:r>
              <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也就是在每一步中，MAX方选择所有节点中评估函数最大的节点，作为自己当前的落棋选择，而MIN则相反。</a:t>
            </a:r>
          </a:p>
          <a:p>
            <a:pPr lvl="0" algn="l" defTabSz="914400">
              <a:buSzTx/>
            </a:pPr>
            <a:r>
              <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通过检查每个节点的</a:t>
            </a:r>
            <a:r>
              <a:rPr lang="zh-CN" altLang="en-US" sz="1800" b="1"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极小极大值</a:t>
            </a:r>
            <a:r>
              <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来决定，记为MINMAX-VALUE(n)。</a:t>
            </a:r>
          </a:p>
        </p:txBody>
      </p:sp>
      <p:graphicFrame>
        <p:nvGraphicFramePr>
          <p:cNvPr id="17411" name="Object 2"/>
          <p:cNvGraphicFramePr>
            <a:graphicFrameLocks noGrp="1" noChangeAspect="1"/>
          </p:cNvGraphicFramePr>
          <p:nvPr>
            <p:ph sz="half" idx="4294967295"/>
          </p:nvPr>
        </p:nvGraphicFramePr>
        <p:xfrm>
          <a:off x="685800" y="3985895"/>
          <a:ext cx="7773035" cy="2108200"/>
        </p:xfrm>
        <a:graphic>
          <a:graphicData uri="http://schemas.openxmlformats.org/presentationml/2006/ole">
            <mc:AlternateContent xmlns:mc="http://schemas.openxmlformats.org/markup-compatibility/2006">
              <mc:Choice xmlns:v="urn:schemas-microsoft-com:vml" Requires="v">
                <p:oleObj spid="_x0000_s3085" r:id="rId6" imgW="4025900" imgH="1092200" progId="Equation.DSMT4">
                  <p:embed/>
                </p:oleObj>
              </mc:Choice>
              <mc:Fallback>
                <p:oleObj r:id="rId6" imgW="4025900" imgH="1092200" progId="Equation.DSMT4">
                  <p:embed/>
                  <p:pic>
                    <p:nvPicPr>
                      <p:cNvPr id="0" name="图片 3075"/>
                      <p:cNvPicPr/>
                      <p:nvPr/>
                    </p:nvPicPr>
                    <p:blipFill>
                      <a:blip r:embed="rId7"/>
                      <a:stretch>
                        <a:fillRect/>
                      </a:stretch>
                    </p:blipFill>
                    <p:spPr>
                      <a:xfrm>
                        <a:off x="685800" y="3985895"/>
                        <a:ext cx="7773035" cy="2108200"/>
                      </a:xfrm>
                      <a:prstGeom prst="rect">
                        <a:avLst/>
                      </a:prstGeom>
                      <a:noFill/>
                      <a:ln w="38100">
                        <a:miter/>
                      </a:ln>
                    </p:spPr>
                  </p:pic>
                </p:oleObj>
              </mc:Fallback>
            </mc:AlternateContent>
          </a:graphicData>
        </a:graphic>
      </p:graphicFrame>
      <p:sp>
        <p:nvSpPr>
          <p:cNvPr id="2" name="文本框 1"/>
          <p:cNvSpPr txBox="1"/>
          <p:nvPr/>
        </p:nvSpPr>
        <p:spPr>
          <a:xfrm>
            <a:off x="628015" y="2908935"/>
            <a:ext cx="8107680" cy="89154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nchor="t">
            <a:spAutoFit/>
          </a:bodyPr>
          <a:lstStyle/>
          <a:p>
            <a:pPr>
              <a:lnSpc>
                <a:spcPct val="130000"/>
              </a:lnSpc>
            </a:pPr>
            <a:r>
              <a:rPr lang="zh-CN" altLang="en-US" sz="2000">
                <a:solidFill>
                  <a:srgbClr val="000000"/>
                </a:solidFill>
                <a:latin typeface="Times New Roman" panose="02020603050405020304" pitchFamily="18" charset="0"/>
                <a:cs typeface="+mn-ea"/>
                <a:sym typeface="+mn-ea"/>
              </a:rPr>
              <a:t>已知一个选择，MAX将优先选择移动到一个有极大值的状态，而MIN选择移动到有极小值的状态。</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41020" y="4432935"/>
            <a:ext cx="8417560" cy="1419860"/>
          </a:xfrm>
          <a:prstGeom prst="rect">
            <a:avLst/>
          </a:prstGeom>
          <a:noFill/>
        </p:spPr>
        <p:txBody>
          <a:bodyPr wrap="square">
            <a:spAutoFit/>
          </a:bodyPr>
          <a:lstStyle/>
          <a:p>
            <a:pPr marR="0" defTabSz="914400">
              <a:lnSpc>
                <a:spcPct val="120000"/>
              </a:lnSpc>
              <a:buClrTx/>
              <a:buSzTx/>
              <a:buFont typeface="Wingdings" panose="05000000000000000000" pitchFamily="2" charset="2"/>
              <a:defRPr/>
            </a:pPr>
            <a:r>
              <a:rPr lang="zh-CN" altLang="en-US" b="1" noProof="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给定一棵博弈树，最优策略可以通过检查每个节点的</a:t>
            </a:r>
            <a:r>
              <a:rPr lang="zh-CN" altLang="en-US" b="1" noProof="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极小极大值</a:t>
            </a:r>
            <a:r>
              <a:rPr lang="zh-CN" altLang="en-US" b="1" noProof="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来决定</a:t>
            </a:r>
          </a:p>
          <a:p>
            <a:pPr marR="0" defTabSz="914400">
              <a:lnSpc>
                <a:spcPct val="120000"/>
              </a:lnSpc>
              <a:buClrTx/>
              <a:buSzTx/>
              <a:buFont typeface="Wingdings" panose="05000000000000000000" pitchFamily="2" charset="2"/>
              <a:defRPr/>
            </a:pPr>
            <a:endParaRPr kumimoji="0" lang="en-US" altLang="zh-CN"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63855" marR="0" indent="-363855" defTabSz="914400">
              <a:lnSpc>
                <a:spcPct val="120000"/>
              </a:lnSpc>
              <a:buClrTx/>
              <a:buSzTx/>
              <a:buFont typeface="Wingdings" panose="05000000000000000000" pitchFamily="2" charset="2"/>
              <a:buChar char="p"/>
              <a:defRPr/>
            </a:pPr>
            <a:r>
              <a:rPr kumimoji="0" lang="en-US" altLang="zh-CN"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MAX</a:t>
            </a:r>
            <a:r>
              <a:rPr kumimoji="0" lang="zh-CN" altLang="en-US"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将优先选择移动到一个具有</a:t>
            </a:r>
            <a:r>
              <a:rPr kumimoji="0" lang="zh-CN" altLang="en-US" b="1" kern="1200" cap="none" spc="0" normalizeH="0" baseline="0" noProof="0" dirty="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极大值</a:t>
            </a:r>
            <a:r>
              <a:rPr kumimoji="0" lang="zh-CN" altLang="en-US"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的状态</a:t>
            </a:r>
            <a:endParaRPr kumimoji="0" lang="en-US" altLang="zh-CN"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63855" marR="0" indent="-363855" defTabSz="914400">
              <a:lnSpc>
                <a:spcPct val="120000"/>
              </a:lnSpc>
              <a:buClrTx/>
              <a:buSzTx/>
              <a:buFont typeface="Wingdings" panose="05000000000000000000" pitchFamily="2" charset="2"/>
              <a:buChar char="p"/>
              <a:defRPr/>
            </a:pPr>
            <a:r>
              <a:rPr kumimoji="0" lang="en-US" altLang="zh-CN"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MIN</a:t>
            </a:r>
            <a:r>
              <a:rPr kumimoji="0" lang="zh-CN" altLang="en-US"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则选择移动到具有</a:t>
            </a:r>
            <a:r>
              <a:rPr kumimoji="0" lang="zh-CN" altLang="en-US" b="1" kern="1200" cap="none" spc="0" normalizeH="0" baseline="0" noProof="0" dirty="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极小值</a:t>
            </a:r>
            <a:r>
              <a:rPr kumimoji="0" lang="zh-CN" altLang="en-US"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的状态</a:t>
            </a:r>
            <a:endParaRPr kumimoji="0" lang="zh-CN" altLang="en-US" b="1" kern="1200" cap="none" spc="0" normalizeH="0" baseline="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6309995" y="5679440"/>
            <a:ext cx="2278380" cy="368300"/>
          </a:xfrm>
          <a:prstGeom prst="rect">
            <a:avLst/>
          </a:prstGeom>
          <a:noFill/>
        </p:spPr>
        <p:txBody>
          <a:bodyPr wrap="none" rtlCol="0">
            <a:spAutoFit/>
          </a:bodyPr>
          <a:lstStyle/>
          <a:p>
            <a:r>
              <a:rPr lang="zh-CN" altLang="en-US">
                <a:highlight>
                  <a:srgbClr val="FFFF00"/>
                </a:highlight>
              </a:rPr>
              <a:t>都是相对</a:t>
            </a:r>
            <a:r>
              <a:rPr lang="en-US" altLang="zh-CN">
                <a:highlight>
                  <a:srgbClr val="FFFF00"/>
                </a:highlight>
              </a:rPr>
              <a:t>MAX</a:t>
            </a:r>
            <a:r>
              <a:rPr lang="zh-CN" altLang="en-US">
                <a:highlight>
                  <a:srgbClr val="FFFF00"/>
                </a:highlight>
              </a:rPr>
              <a:t>而言的</a:t>
            </a:r>
          </a:p>
        </p:txBody>
      </p:sp>
      <p:pic>
        <p:nvPicPr>
          <p:cNvPr id="9" name="图片 8"/>
          <p:cNvPicPr>
            <a:picLocks noChangeAspect="1"/>
          </p:cNvPicPr>
          <p:nvPr/>
        </p:nvPicPr>
        <p:blipFill>
          <a:blip r:embed="rId4"/>
          <a:srcRect l="2889" b="4016"/>
          <a:stretch>
            <a:fillRect/>
          </a:stretch>
        </p:blipFill>
        <p:spPr>
          <a:xfrm>
            <a:off x="0" y="96520"/>
            <a:ext cx="9206230" cy="406590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433" name="Rectangle 2"/>
          <p:cNvSpPr>
            <a:spLocks noGrp="1" noRot="1"/>
          </p:cNvSpPr>
          <p:nvPr>
            <p:ph type="title" idx="4294967295"/>
          </p:nvPr>
        </p:nvSpPr>
        <p:spPr>
          <a:xfrm>
            <a:off x="301625" y="1397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极小极大决策</a:t>
            </a:r>
          </a:p>
        </p:txBody>
      </p:sp>
      <p:sp>
        <p:nvSpPr>
          <p:cNvPr id="2" name="文本框 1"/>
          <p:cNvSpPr txBox="1"/>
          <p:nvPr/>
        </p:nvSpPr>
        <p:spPr>
          <a:xfrm>
            <a:off x="703580" y="1122680"/>
            <a:ext cx="7493000" cy="755650"/>
          </a:xfrm>
          <a:prstGeom prst="rect">
            <a:avLst/>
          </a:prstGeom>
          <a:noFill/>
        </p:spPr>
        <p:txBody>
          <a:bodyPr wrap="square" rtlCol="0" anchor="t">
            <a:spAutoFit/>
          </a:bodyPr>
          <a:lstStyle/>
          <a:p>
            <a:pPr marL="363855" marR="0" indent="-363855" defTabSz="914400">
              <a:lnSpc>
                <a:spcPct val="120000"/>
              </a:lnSpc>
              <a:buClrTx/>
              <a:buSzTx/>
              <a:buFont typeface="Wingdings" panose="05000000000000000000" pitchFamily="2" charset="2"/>
              <a:buChar char="p"/>
              <a:defRPr/>
            </a:pPr>
            <a:r>
              <a:rPr lang="en-US" altLang="zh-CN" noProof="0" dirty="0">
                <a:latin typeface="微软雅黑" panose="020B0503020204020204" pitchFamily="34" charset="-122"/>
                <a:ea typeface="微软雅黑" panose="020B0503020204020204" pitchFamily="34" charset="-122"/>
                <a:cs typeface="微软雅黑" panose="020B0503020204020204" pitchFamily="34" charset="-122"/>
                <a:sym typeface="+mn-ea"/>
              </a:rPr>
              <a:t>MAX</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将优先选择移动到一个具有</a:t>
            </a:r>
            <a:r>
              <a:rPr lang="zh-CN" altLang="en-US" b="1" noProof="0" dirty="0">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rPr>
              <a:t>极大值</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的状态</a:t>
            </a:r>
            <a:endParaRPr kumimoji="0" lang="en-US" altLang="zh-CN"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63855" marR="0" indent="-363855" defTabSz="914400">
              <a:lnSpc>
                <a:spcPct val="120000"/>
              </a:lnSpc>
              <a:buClrTx/>
              <a:buSzTx/>
              <a:buFont typeface="Wingdings" panose="05000000000000000000" pitchFamily="2" charset="2"/>
              <a:buChar char="p"/>
              <a:defRPr/>
            </a:pPr>
            <a:r>
              <a:rPr lang="en-US" altLang="zh-CN" noProof="0" dirty="0">
                <a:latin typeface="微软雅黑" panose="020B0503020204020204" pitchFamily="34" charset="-122"/>
                <a:ea typeface="微软雅黑" panose="020B0503020204020204" pitchFamily="34" charset="-122"/>
                <a:cs typeface="微软雅黑" panose="020B0503020204020204" pitchFamily="34" charset="-122"/>
                <a:sym typeface="+mn-ea"/>
              </a:rPr>
              <a:t>MIN</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则选择移动到具有</a:t>
            </a:r>
            <a:r>
              <a:rPr lang="zh-CN" altLang="en-US" b="1" noProof="0" dirty="0">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rPr>
              <a:t>极小值</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的状态</a:t>
            </a:r>
            <a:endParaRPr lang="zh-CN" altLang="en-US"/>
          </a:p>
        </p:txBody>
      </p:sp>
      <p:pic>
        <p:nvPicPr>
          <p:cNvPr id="3" name="图片 2"/>
          <p:cNvPicPr>
            <a:picLocks noChangeAspect="1"/>
          </p:cNvPicPr>
          <p:nvPr/>
        </p:nvPicPr>
        <p:blipFill>
          <a:blip r:embed="rId3">
            <a:clrChange>
              <a:clrFrom>
                <a:srgbClr val="FFFFFF">
                  <a:alpha val="100000"/>
                </a:srgbClr>
              </a:clrFrom>
              <a:clrTo>
                <a:srgbClr val="FFFFFF">
                  <a:alpha val="100000"/>
                  <a:alpha val="0"/>
                </a:srgbClr>
              </a:clrTo>
            </a:clrChange>
          </a:blip>
          <a:srcRect l="2528" t="10145"/>
          <a:stretch>
            <a:fillRect/>
          </a:stretch>
        </p:blipFill>
        <p:spPr>
          <a:xfrm>
            <a:off x="151130" y="1878330"/>
            <a:ext cx="8841740" cy="4897755"/>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图片 101"/>
          <p:cNvPicPr/>
          <p:nvPr/>
        </p:nvPicPr>
        <p:blipFill>
          <a:blip r:embed="rId3"/>
          <a:stretch>
            <a:fillRect/>
          </a:stretch>
        </p:blipFill>
        <p:spPr>
          <a:xfrm>
            <a:off x="-635" y="1277620"/>
            <a:ext cx="9144000" cy="4606925"/>
          </a:xfrm>
          <a:prstGeom prst="rect">
            <a:avLst/>
          </a:prstGeom>
          <a:noFill/>
          <a:ln w="9525">
            <a:noFill/>
          </a:ln>
        </p:spPr>
      </p:pic>
      <p:sp>
        <p:nvSpPr>
          <p:cNvPr id="2" name="文本框 1"/>
          <p:cNvSpPr txBox="1"/>
          <p:nvPr/>
        </p:nvSpPr>
        <p:spPr>
          <a:xfrm>
            <a:off x="419100" y="153035"/>
            <a:ext cx="8190865" cy="922020"/>
          </a:xfrm>
          <a:prstGeom prst="rect">
            <a:avLst/>
          </a:prstGeom>
          <a:noFill/>
        </p:spPr>
        <p:txBody>
          <a:bodyPr wrap="square" rtlCol="0" anchor="t">
            <a:spAutoFit/>
          </a:bodyPr>
          <a:lstStyle/>
          <a:p>
            <a:r>
              <a:rPr lang="zh-CN" altLang="en-US"/>
              <a:t>极小极大值算法从当前状态计算极小极大决策。它使用了简单的递归算法，计算每个后继的极小极大值，直接实现定义公式。递归算法自上而下一直前进到树的叶节点，然后随着递归回溯，通过树把极小极大值回传。</a:t>
            </a:r>
          </a:p>
        </p:txBody>
      </p:sp>
      <p:sp>
        <p:nvSpPr>
          <p:cNvPr id="3" name="文本框 2"/>
          <p:cNvSpPr txBox="1"/>
          <p:nvPr/>
        </p:nvSpPr>
        <p:spPr>
          <a:xfrm>
            <a:off x="533400" y="5782945"/>
            <a:ext cx="8076565" cy="922020"/>
          </a:xfrm>
          <a:prstGeom prst="rect">
            <a:avLst/>
          </a:prstGeom>
          <a:noFill/>
        </p:spPr>
        <p:txBody>
          <a:bodyPr wrap="square" rtlCol="0" anchor="t">
            <a:spAutoFit/>
          </a:bodyPr>
          <a:lstStyle/>
          <a:p>
            <a:r>
              <a:rPr lang="zh-CN" altLang="en-US"/>
              <a:t>算法先递归到三个底层的叶节点，对它们调用UTILITY函数发现它们的值分别是3、12和8。然后它取三个值中的最小值3作为回传值返回给父亲节点</a:t>
            </a:r>
          </a:p>
          <a:p>
            <a:r>
              <a:rPr lang="zh-CN" altLang="en-US"/>
              <a:t>类似的，其他两个</a:t>
            </a:r>
            <a:r>
              <a:rPr lang="en-US" altLang="zh-CN"/>
              <a:t>MIN</a:t>
            </a:r>
            <a:r>
              <a:rPr lang="zh-CN" altLang="en-US"/>
              <a:t>节点的极小极大值都是</a:t>
            </a:r>
            <a:r>
              <a:rPr lang="en-US" altLang="zh-CN"/>
              <a:t>2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图片 102"/>
          <p:cNvPicPr/>
          <p:nvPr/>
        </p:nvPicPr>
        <p:blipFill>
          <a:blip r:embed="rId4"/>
          <a:stretch>
            <a:fillRect/>
          </a:stretch>
        </p:blipFill>
        <p:spPr>
          <a:xfrm>
            <a:off x="0" y="945174"/>
            <a:ext cx="9144000" cy="4967653"/>
          </a:xfrm>
          <a:prstGeom prst="rect">
            <a:avLst/>
          </a:prstGeom>
          <a:noFill/>
          <a:ln w="9525">
            <a:noFill/>
          </a:ln>
        </p:spPr>
      </p:pic>
      <p:sp>
        <p:nvSpPr>
          <p:cNvPr id="2" name="文本框 1"/>
          <p:cNvSpPr txBox="1"/>
          <p:nvPr/>
        </p:nvSpPr>
        <p:spPr>
          <a:xfrm>
            <a:off x="476250" y="258445"/>
            <a:ext cx="8190865" cy="922020"/>
          </a:xfrm>
          <a:prstGeom prst="rect">
            <a:avLst/>
          </a:prstGeom>
          <a:noFill/>
        </p:spPr>
        <p:txBody>
          <a:bodyPr wrap="square" rtlCol="0" anchor="t">
            <a:spAutoFit/>
          </a:bodyPr>
          <a:lstStyle/>
          <a:p>
            <a:r>
              <a:rPr lang="zh-CN" altLang="en-US"/>
              <a:t>极小极大值算法从当前状态计算极小极大决策。它使用了简单的递归算法，计算每个后继的极小极大值，直接实现定义公式。递归算法自上而下一直前进到树的叶节点，然后随着递归回溯，通过树把极小极大值回传。</a:t>
            </a:r>
          </a:p>
        </p:txBody>
      </p:sp>
      <p:sp>
        <p:nvSpPr>
          <p:cNvPr id="3" name="文本框 2"/>
          <p:cNvSpPr txBox="1"/>
          <p:nvPr/>
        </p:nvSpPr>
        <p:spPr>
          <a:xfrm>
            <a:off x="626110" y="5913120"/>
            <a:ext cx="7244080" cy="645160"/>
          </a:xfrm>
          <a:prstGeom prst="rect">
            <a:avLst/>
          </a:prstGeom>
          <a:noFill/>
        </p:spPr>
        <p:txBody>
          <a:bodyPr wrap="square" rtlCol="0" anchor="t">
            <a:spAutoFit/>
          </a:bodyPr>
          <a:lstStyle/>
          <a:p>
            <a:r>
              <a:rPr lang="zh-CN" altLang="en-US">
                <a:sym typeface="+mn-ea"/>
              </a:rPr>
              <a:t>根是</a:t>
            </a:r>
            <a:r>
              <a:rPr lang="en-US" altLang="zh-CN">
                <a:sym typeface="+mn-ea"/>
              </a:rPr>
              <a:t>MAX</a:t>
            </a:r>
            <a:r>
              <a:rPr lang="zh-CN" altLang="en-US">
                <a:sym typeface="+mn-ea"/>
              </a:rPr>
              <a:t>节点，其后继节点的极小极大值分别为</a:t>
            </a:r>
            <a:r>
              <a:rPr lang="en-US" altLang="zh-CN">
                <a:sym typeface="+mn-ea"/>
              </a:rPr>
              <a:t>3</a:t>
            </a:r>
            <a:r>
              <a:rPr lang="zh-CN" altLang="en-US">
                <a:sym typeface="+mn-ea"/>
              </a:rPr>
              <a:t>、</a:t>
            </a:r>
            <a:r>
              <a:rPr lang="en-US" altLang="zh-CN">
                <a:sym typeface="+mn-ea"/>
              </a:rPr>
              <a:t>2</a:t>
            </a:r>
            <a:r>
              <a:rPr lang="zh-CN" altLang="en-US">
                <a:sym typeface="+mn-ea"/>
              </a:rPr>
              <a:t>、</a:t>
            </a:r>
            <a:r>
              <a:rPr lang="en-US" altLang="zh-CN">
                <a:sym typeface="+mn-ea"/>
              </a:rPr>
              <a:t>2</a:t>
            </a:r>
            <a:r>
              <a:rPr lang="zh-CN" altLang="en-US">
                <a:sym typeface="+mn-ea"/>
              </a:rPr>
              <a:t>，调用UTILITY函数，最大值3作为回传值返回给父亲节点</a:t>
            </a: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481"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极小极大决策</a:t>
            </a:r>
          </a:p>
        </p:txBody>
      </p:sp>
      <p:pic>
        <p:nvPicPr>
          <p:cNvPr id="20483" name="Picture 4"/>
          <p:cNvPicPr>
            <a:picLocks noChangeAspect="1"/>
          </p:cNvPicPr>
          <p:nvPr/>
        </p:nvPicPr>
        <p:blipFill>
          <a:blip r:embed="rId8"/>
          <a:stretch>
            <a:fillRect/>
          </a:stretch>
        </p:blipFill>
        <p:spPr>
          <a:xfrm>
            <a:off x="595313" y="3071813"/>
            <a:ext cx="7620000" cy="3022600"/>
          </a:xfrm>
          <a:prstGeom prst="rect">
            <a:avLst/>
          </a:prstGeom>
          <a:noFill/>
          <a:ln w="12700">
            <a:noFill/>
          </a:ln>
        </p:spPr>
      </p:pic>
      <p:pic>
        <p:nvPicPr>
          <p:cNvPr id="20484" name="Picture 29"/>
          <p:cNvPicPr>
            <a:picLocks noChangeAspect="1"/>
          </p:cNvPicPr>
          <p:nvPr/>
        </p:nvPicPr>
        <p:blipFill>
          <a:blip r:embed="rId9"/>
          <a:stretch>
            <a:fillRect/>
          </a:stretch>
        </p:blipFill>
        <p:spPr>
          <a:xfrm>
            <a:off x="4862513" y="3071813"/>
            <a:ext cx="381000" cy="400050"/>
          </a:xfrm>
          <a:prstGeom prst="rect">
            <a:avLst/>
          </a:prstGeom>
          <a:noFill/>
          <a:ln w="12700">
            <a:noFill/>
          </a:ln>
        </p:spPr>
      </p:pic>
      <p:sp>
        <p:nvSpPr>
          <p:cNvPr id="20485" name="Oval 30"/>
          <p:cNvSpPr/>
          <p:nvPr>
            <p:custDataLst>
              <p:tags r:id="rId2"/>
            </p:custDataLst>
          </p:nvPr>
        </p:nvSpPr>
        <p:spPr>
          <a:xfrm>
            <a:off x="1585913" y="5662613"/>
            <a:ext cx="304800" cy="304800"/>
          </a:xfrm>
          <a:prstGeom prst="ellipse">
            <a:avLst/>
          </a:prstGeom>
          <a:noFill/>
          <a:ln w="12700" cap="flat" cmpd="sng">
            <a:solidFill>
              <a:srgbClr val="FF0000"/>
            </a:solidFill>
            <a:prstDash val="solid"/>
            <a:round/>
            <a:headEnd type="none" w="sm" len="sm"/>
            <a:tailEnd type="none" w="sm" len="sm"/>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cxnSp>
        <p:nvCxnSpPr>
          <p:cNvPr id="20486" name="AutoShape 32"/>
          <p:cNvCxnSpPr>
            <a:stCxn id="20485" idx="2"/>
          </p:cNvCxnSpPr>
          <p:nvPr/>
        </p:nvCxnSpPr>
        <p:spPr>
          <a:xfrm rot="-10800000" flipH="1">
            <a:off x="1585913" y="4367213"/>
            <a:ext cx="914400" cy="1447800"/>
          </a:xfrm>
          <a:prstGeom prst="curvedConnector4">
            <a:avLst>
              <a:gd name="adj1" fmla="val -25000"/>
              <a:gd name="adj2" fmla="val 78398"/>
            </a:avLst>
          </a:prstGeom>
          <a:ln w="12700" cap="flat" cmpd="sng">
            <a:solidFill>
              <a:srgbClr val="FF0000"/>
            </a:solidFill>
            <a:prstDash val="solid"/>
            <a:round/>
            <a:headEnd type="none" w="sm" len="sm"/>
            <a:tailEnd type="triangle" w="sm" len="sm"/>
          </a:ln>
        </p:spPr>
      </p:cxnSp>
      <p:sp>
        <p:nvSpPr>
          <p:cNvPr id="20487" name="Oval 33"/>
          <p:cNvSpPr/>
          <p:nvPr>
            <p:custDataLst>
              <p:tags r:id="rId3"/>
            </p:custDataLst>
          </p:nvPr>
        </p:nvSpPr>
        <p:spPr>
          <a:xfrm>
            <a:off x="7529513" y="5662613"/>
            <a:ext cx="304800" cy="304800"/>
          </a:xfrm>
          <a:prstGeom prst="ellipse">
            <a:avLst/>
          </a:prstGeom>
          <a:noFill/>
          <a:ln w="12700" cap="flat" cmpd="sng">
            <a:solidFill>
              <a:srgbClr val="FF0000"/>
            </a:solidFill>
            <a:prstDash val="solid"/>
            <a:round/>
            <a:headEnd type="none" w="sm" len="sm"/>
            <a:tailEnd type="none" w="sm" len="sm"/>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0488" name="Oval 34"/>
          <p:cNvSpPr/>
          <p:nvPr>
            <p:custDataLst>
              <p:tags r:id="rId4"/>
            </p:custDataLst>
          </p:nvPr>
        </p:nvSpPr>
        <p:spPr>
          <a:xfrm>
            <a:off x="3795713" y="5662613"/>
            <a:ext cx="304800" cy="304800"/>
          </a:xfrm>
          <a:prstGeom prst="ellipse">
            <a:avLst/>
          </a:prstGeom>
          <a:noFill/>
          <a:ln w="12700" cap="flat" cmpd="sng">
            <a:solidFill>
              <a:srgbClr val="FF0000"/>
            </a:solidFill>
            <a:prstDash val="solid"/>
            <a:round/>
            <a:headEnd type="none" w="sm" len="sm"/>
            <a:tailEnd type="none" w="sm" len="sm"/>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0489" name="Rectangle 37"/>
          <p:cNvSpPr/>
          <p:nvPr>
            <p:custDataLst>
              <p:tags r:id="rId5"/>
            </p:custDataLst>
          </p:nvPr>
        </p:nvSpPr>
        <p:spPr>
          <a:xfrm flipH="1">
            <a:off x="4405313" y="4367213"/>
            <a:ext cx="76200" cy="152400"/>
          </a:xfrm>
          <a:prstGeom prst="rect">
            <a:avLst/>
          </a:prstGeom>
          <a:no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cxnSp>
        <p:nvCxnSpPr>
          <p:cNvPr id="20490" name="AutoShape 38"/>
          <p:cNvCxnSpPr>
            <a:stCxn id="20488" idx="2"/>
            <a:endCxn id="20489" idx="0"/>
          </p:cNvCxnSpPr>
          <p:nvPr/>
        </p:nvCxnSpPr>
        <p:spPr>
          <a:xfrm rot="-10800000" flipH="1">
            <a:off x="3795713" y="4367213"/>
            <a:ext cx="647700" cy="1447800"/>
          </a:xfrm>
          <a:prstGeom prst="curvedConnector4">
            <a:avLst>
              <a:gd name="adj1" fmla="val -35296"/>
              <a:gd name="adj2" fmla="val 95833"/>
            </a:avLst>
          </a:prstGeom>
          <a:ln w="12700" cap="flat" cmpd="sng">
            <a:solidFill>
              <a:srgbClr val="FF0000"/>
            </a:solidFill>
            <a:prstDash val="solid"/>
            <a:round/>
            <a:headEnd type="none" w="sm" len="sm"/>
            <a:tailEnd type="triangle" w="sm" len="sm"/>
          </a:ln>
        </p:spPr>
      </p:cxnSp>
      <p:cxnSp>
        <p:nvCxnSpPr>
          <p:cNvPr id="20491" name="AutoShape 39"/>
          <p:cNvCxnSpPr>
            <a:stCxn id="20487" idx="6"/>
            <a:endCxn id="20489" idx="0"/>
          </p:cNvCxnSpPr>
          <p:nvPr/>
        </p:nvCxnSpPr>
        <p:spPr>
          <a:xfrm flipH="1" flipV="1">
            <a:off x="6843713" y="4278313"/>
            <a:ext cx="990600" cy="1536700"/>
          </a:xfrm>
          <a:prstGeom prst="curvedConnector4">
            <a:avLst>
              <a:gd name="adj1" fmla="val -23079"/>
              <a:gd name="adj2" fmla="val 98343"/>
            </a:avLst>
          </a:prstGeom>
          <a:ln w="12700" cap="flat" cmpd="sng">
            <a:solidFill>
              <a:srgbClr val="FF0000"/>
            </a:solidFill>
            <a:prstDash val="solid"/>
            <a:round/>
            <a:headEnd type="none" w="sm" len="sm"/>
            <a:tailEnd type="triangle" w="sm" len="sm"/>
          </a:ln>
        </p:spPr>
      </p:cxnSp>
      <p:sp>
        <p:nvSpPr>
          <p:cNvPr id="2" name="文本框 1"/>
          <p:cNvSpPr txBox="1"/>
          <p:nvPr/>
        </p:nvSpPr>
        <p:spPr>
          <a:xfrm>
            <a:off x="703580" y="1376680"/>
            <a:ext cx="7493000" cy="755650"/>
          </a:xfrm>
          <a:prstGeom prst="rect">
            <a:avLst/>
          </a:prstGeom>
          <a:noFill/>
        </p:spPr>
        <p:txBody>
          <a:bodyPr wrap="square" rtlCol="0" anchor="t">
            <a:spAutoFit/>
          </a:bodyPr>
          <a:lstStyle/>
          <a:p>
            <a:pPr marL="363855" marR="0" indent="-363855" defTabSz="914400">
              <a:lnSpc>
                <a:spcPct val="120000"/>
              </a:lnSpc>
              <a:buClrTx/>
              <a:buSzTx/>
              <a:buFont typeface="Wingdings" panose="05000000000000000000" pitchFamily="2" charset="2"/>
              <a:buChar char="p"/>
              <a:defRPr/>
            </a:pPr>
            <a:r>
              <a:rPr lang="en-US" altLang="zh-CN" noProof="0" dirty="0">
                <a:latin typeface="微软雅黑" panose="020B0503020204020204" pitchFamily="34" charset="-122"/>
                <a:ea typeface="微软雅黑" panose="020B0503020204020204" pitchFamily="34" charset="-122"/>
                <a:cs typeface="微软雅黑" panose="020B0503020204020204" pitchFamily="34" charset="-122"/>
                <a:sym typeface="+mn-ea"/>
              </a:rPr>
              <a:t>MAX</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将优先选择移动到一个具有</a:t>
            </a:r>
            <a:r>
              <a:rPr lang="zh-CN" altLang="en-US" b="1" noProof="0" dirty="0">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rPr>
              <a:t>极大值</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的状态</a:t>
            </a:r>
            <a:endParaRPr kumimoji="0" lang="en-US" altLang="zh-CN"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63855" marR="0" indent="-363855" defTabSz="914400">
              <a:lnSpc>
                <a:spcPct val="120000"/>
              </a:lnSpc>
              <a:buClrTx/>
              <a:buSzTx/>
              <a:buFont typeface="Wingdings" panose="05000000000000000000" pitchFamily="2" charset="2"/>
              <a:buChar char="p"/>
              <a:defRPr/>
            </a:pPr>
            <a:r>
              <a:rPr lang="en-US" altLang="zh-CN" noProof="0" dirty="0">
                <a:latin typeface="微软雅黑" panose="020B0503020204020204" pitchFamily="34" charset="-122"/>
                <a:ea typeface="微软雅黑" panose="020B0503020204020204" pitchFamily="34" charset="-122"/>
                <a:cs typeface="微软雅黑" panose="020B0503020204020204" pitchFamily="34" charset="-122"/>
                <a:sym typeface="+mn-ea"/>
              </a:rPr>
              <a:t>MIN</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则选择移动到具有</a:t>
            </a:r>
            <a:r>
              <a:rPr lang="zh-CN" altLang="en-US" b="1" noProof="0" dirty="0">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rPr>
              <a:t>极小值</a:t>
            </a:r>
            <a:r>
              <a:rPr lang="zh-CN" altLang="en-US" noProof="0" dirty="0">
                <a:latin typeface="微软雅黑" panose="020B0503020204020204" pitchFamily="34" charset="-122"/>
                <a:ea typeface="微软雅黑" panose="020B0503020204020204" pitchFamily="34" charset="-122"/>
                <a:cs typeface="微软雅黑" panose="020B0503020204020204" pitchFamily="34" charset="-122"/>
                <a:sym typeface="+mn-ea"/>
              </a:rPr>
              <a:t>的状态</a:t>
            </a:r>
            <a:endParaRPr lang="zh-CN" alt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1507" name="Picture 4"/>
          <p:cNvPicPr>
            <a:picLocks noChangeAspect="1"/>
          </p:cNvPicPr>
          <p:nvPr/>
        </p:nvPicPr>
        <p:blipFill>
          <a:blip r:embed="rId5"/>
          <a:stretch>
            <a:fillRect/>
          </a:stretch>
        </p:blipFill>
        <p:spPr>
          <a:xfrm>
            <a:off x="809625" y="2511425"/>
            <a:ext cx="7620000" cy="3022600"/>
          </a:xfrm>
          <a:prstGeom prst="rect">
            <a:avLst/>
          </a:prstGeom>
          <a:noFill/>
          <a:ln w="12700">
            <a:noFill/>
          </a:ln>
        </p:spPr>
      </p:pic>
      <p:sp>
        <p:nvSpPr>
          <p:cNvPr id="21508" name="Oval 30"/>
          <p:cNvSpPr/>
          <p:nvPr>
            <p:custDataLst>
              <p:tags r:id="rId2"/>
            </p:custDataLst>
          </p:nvPr>
        </p:nvSpPr>
        <p:spPr>
          <a:xfrm>
            <a:off x="2943225" y="3578225"/>
            <a:ext cx="304800" cy="304800"/>
          </a:xfrm>
          <a:prstGeom prst="ellipse">
            <a:avLst/>
          </a:prstGeom>
          <a:noFill/>
          <a:ln w="12700" cap="flat" cmpd="sng">
            <a:solidFill>
              <a:srgbClr val="FF0000"/>
            </a:solidFill>
            <a:prstDash val="solid"/>
            <a:round/>
            <a:headEnd type="none" w="sm" len="sm"/>
            <a:tailEnd type="none" w="sm" len="sm"/>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cxnSp>
        <p:nvCxnSpPr>
          <p:cNvPr id="21509" name="AutoShape 31"/>
          <p:cNvCxnSpPr>
            <a:stCxn id="21508" idx="2"/>
          </p:cNvCxnSpPr>
          <p:nvPr/>
        </p:nvCxnSpPr>
        <p:spPr>
          <a:xfrm rot="-10800000" flipH="1">
            <a:off x="2943225" y="2663825"/>
            <a:ext cx="1752600" cy="1066800"/>
          </a:xfrm>
          <a:prstGeom prst="curvedConnector3">
            <a:avLst>
              <a:gd name="adj1" fmla="val -13042"/>
            </a:avLst>
          </a:prstGeom>
          <a:ln w="12700" cap="flat" cmpd="sng">
            <a:solidFill>
              <a:srgbClr val="FF0000"/>
            </a:solidFill>
            <a:prstDash val="solid"/>
            <a:round/>
            <a:headEnd type="none" w="sm" len="sm"/>
            <a:tailEnd type="triangle" w="sm" len="sm"/>
          </a:ln>
        </p:spPr>
      </p:cxnSp>
      <p:sp>
        <p:nvSpPr>
          <p:cNvPr id="21510" name="Text Box 32"/>
          <p:cNvSpPr txBox="1"/>
          <p:nvPr/>
        </p:nvSpPr>
        <p:spPr>
          <a:xfrm>
            <a:off x="2584450" y="2359025"/>
            <a:ext cx="1402080" cy="337185"/>
          </a:xfrm>
          <a:prstGeom prst="rect">
            <a:avLst/>
          </a:prstGeom>
          <a:noFill/>
          <a:ln w="12700">
            <a:noFill/>
          </a:ln>
        </p:spPr>
        <p:txBody>
          <a:bodyPr wrap="none" anchor="t" anchorCtr="0">
            <a:spAutoFit/>
          </a:bodyPr>
          <a:lstStyle/>
          <a:p>
            <a:pPr>
              <a:buClrTx/>
            </a:pPr>
            <a:r>
              <a:rPr lang="zh-CN" altLang="en-US" sz="1600" i="1" dirty="0">
                <a:solidFill>
                  <a:srgbClr val="FF0000"/>
                </a:solidFill>
                <a:latin typeface="微软雅黑" panose="020B0503020204020204" pitchFamily="34" charset="-122"/>
                <a:ea typeface="微软雅黑" panose="020B0503020204020204" pitchFamily="34" charset="-122"/>
              </a:rPr>
              <a:t>极小极大决策</a:t>
            </a:r>
          </a:p>
        </p:txBody>
      </p:sp>
      <p:sp>
        <p:nvSpPr>
          <p:cNvPr id="3" name="文本框 2"/>
          <p:cNvSpPr txBox="1"/>
          <p:nvPr/>
        </p:nvSpPr>
        <p:spPr>
          <a:xfrm>
            <a:off x="953770" y="850900"/>
            <a:ext cx="7586980" cy="645160"/>
          </a:xfrm>
          <a:prstGeom prst="rect">
            <a:avLst/>
          </a:prstGeom>
          <a:noFill/>
        </p:spPr>
        <p:txBody>
          <a:bodyPr wrap="none" rtlCol="0">
            <a:spAutoFit/>
          </a:bodyPr>
          <a:lstStyle/>
          <a:p>
            <a:r>
              <a:rPr lang="zh-CN" altLang="en-US"/>
              <a:t>可以确定在根节点的极小极大决策：</a:t>
            </a:r>
          </a:p>
          <a:p>
            <a:r>
              <a:rPr lang="zh-CN" altLang="en-US"/>
              <a:t>对</a:t>
            </a:r>
            <a:r>
              <a:rPr lang="en-US" altLang="zh-CN"/>
              <a:t>MAX</a:t>
            </a:r>
            <a:r>
              <a:rPr lang="zh-CN" altLang="en-US"/>
              <a:t>来说</a:t>
            </a:r>
            <a:r>
              <a:rPr lang="en-US" altLang="zh-CN"/>
              <a:t>A1</a:t>
            </a:r>
            <a:r>
              <a:rPr lang="zh-CN" altLang="en-US"/>
              <a:t>是最优决策，因为它指向有最高的极小极大值的终止状态。</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p:cNvSpPr>
          <p:nvPr/>
        </p:nvSpPr>
        <p:spPr>
          <a:xfrm>
            <a:off x="165100" y="83820"/>
            <a:ext cx="8540750" cy="734695"/>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r>
              <a:rPr lang="en-US" altLang="zh-CN" sz="3200" b="1" kern="1200" dirty="0">
                <a:solidFill>
                  <a:schemeClr val="accent1"/>
                </a:solidFill>
                <a:latin typeface="微软雅黑" panose="020B0503020204020204" pitchFamily="34" charset="-122"/>
                <a:ea typeface="微软雅黑" panose="020B0503020204020204" pitchFamily="34" charset="-122"/>
                <a:sym typeface="+mn-ea"/>
              </a:rPr>
              <a:t>5.2.1 </a:t>
            </a:r>
            <a:r>
              <a:rPr lang="zh-CN" altLang="en-US" sz="3200" b="1" kern="1200" dirty="0">
                <a:solidFill>
                  <a:schemeClr val="accent1"/>
                </a:solidFill>
                <a:latin typeface="微软雅黑" panose="020B0503020204020204" pitchFamily="34" charset="-122"/>
                <a:ea typeface="微软雅黑" panose="020B0503020204020204" pitchFamily="34" charset="-122"/>
                <a:sym typeface="+mn-ea"/>
              </a:rPr>
              <a:t>极小极大算法</a:t>
            </a:r>
          </a:p>
        </p:txBody>
      </p:sp>
      <p:pic>
        <p:nvPicPr>
          <p:cNvPr id="22530" name="Picture 4"/>
          <p:cNvPicPr>
            <a:picLocks noGrp="1" noRot="1" noChangeAspect="1"/>
          </p:cNvPicPr>
          <p:nvPr/>
        </p:nvPicPr>
        <p:blipFill>
          <a:blip r:embed="rId4"/>
          <a:stretch>
            <a:fillRect/>
          </a:stretch>
        </p:blipFill>
        <p:spPr>
          <a:xfrm>
            <a:off x="580390" y="1932940"/>
            <a:ext cx="7982585" cy="4226560"/>
          </a:xfrm>
          <a:prstGeom prst="rect">
            <a:avLst/>
          </a:prstGeom>
          <a:noFill/>
          <a:ln w="9525">
            <a:noFill/>
          </a:ln>
        </p:spPr>
      </p:pic>
      <p:sp>
        <p:nvSpPr>
          <p:cNvPr id="2" name="文本框 1"/>
          <p:cNvSpPr txBox="1"/>
          <p:nvPr/>
        </p:nvSpPr>
        <p:spPr>
          <a:xfrm>
            <a:off x="340360" y="818515"/>
            <a:ext cx="8190865" cy="922020"/>
          </a:xfrm>
          <a:prstGeom prst="rect">
            <a:avLst/>
          </a:prstGeom>
          <a:noFill/>
        </p:spPr>
        <p:txBody>
          <a:bodyPr wrap="square" rtlCol="0" anchor="t">
            <a:spAutoFit/>
          </a:bodyPr>
          <a:lstStyle/>
          <a:p>
            <a:r>
              <a:rPr lang="zh-CN" altLang="en-US" dirty="0"/>
              <a:t>极小极大值算法从当前状态计算极小极大决策。它使用了简单的递归算法，计算每个后继的极小极大值，直接实现定义公式。递归算法</a:t>
            </a:r>
            <a:r>
              <a:rPr lang="zh-CN" altLang="en-US" dirty="0">
                <a:highlight>
                  <a:srgbClr val="FFFF00"/>
                </a:highlight>
              </a:rPr>
              <a:t>自上而下一直前进到树的叶节点，然后随着递归回溯</a:t>
            </a:r>
            <a:r>
              <a:rPr lang="zh-CN" altLang="en-US" dirty="0"/>
              <a:t>，通过树把极小极大值回传。</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577"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极小极大算法的性质</a:t>
            </a:r>
          </a:p>
        </p:txBody>
      </p:sp>
      <p:sp>
        <p:nvSpPr>
          <p:cNvPr id="24578" name="Text Box 3"/>
          <p:cNvSpPr txBox="1"/>
          <p:nvPr/>
        </p:nvSpPr>
        <p:spPr>
          <a:xfrm>
            <a:off x="1121728" y="1706563"/>
            <a:ext cx="1636712" cy="521970"/>
          </a:xfrm>
          <a:prstGeom prst="rect">
            <a:avLst/>
          </a:prstGeom>
          <a:noFill/>
          <a:ln w="9525">
            <a:noFill/>
          </a:ln>
        </p:spPr>
        <p:txBody>
          <a:bodyPr anchor="t" anchorCtr="0">
            <a:spAutoFit/>
          </a:bodyPr>
          <a:lstStyle/>
          <a:p>
            <a:pPr>
              <a:buClrTx/>
            </a:pPr>
            <a:r>
              <a:rPr lang="zh-CN" altLang="en-US" sz="2800" u="sng"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完备性</a:t>
            </a:r>
            <a:r>
              <a:rPr lang="en-US" altLang="zh-CN" sz="2800"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0692" name="Text Box 4"/>
          <p:cNvSpPr txBox="1"/>
          <p:nvPr>
            <p:custDataLst>
              <p:tags r:id="rId2"/>
            </p:custDataLst>
          </p:nvPr>
        </p:nvSpPr>
        <p:spPr>
          <a:xfrm>
            <a:off x="3137853" y="1773238"/>
            <a:ext cx="5400675" cy="360362"/>
          </a:xfrm>
          <a:prstGeom prst="rect">
            <a:avLst/>
          </a:prstGeom>
          <a:noFill/>
          <a:ln w="9525">
            <a:noFill/>
          </a:ln>
        </p:spPr>
        <p:txBody>
          <a:bodyPr lIns="0" tIns="0" rIns="0" bIns="0" anchor="t" anchorCtr="0"/>
          <a:lstStyle/>
          <a:p>
            <a:pPr>
              <a:buClrTx/>
            </a:pP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Yes</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，如果树是有限的</a:t>
            </a:r>
          </a:p>
        </p:txBody>
      </p:sp>
      <p:sp>
        <p:nvSpPr>
          <p:cNvPr id="370693" name="Text Box 5"/>
          <p:cNvSpPr txBox="1"/>
          <p:nvPr/>
        </p:nvSpPr>
        <p:spPr>
          <a:xfrm>
            <a:off x="1121728" y="2420938"/>
            <a:ext cx="1236980" cy="521970"/>
          </a:xfrm>
          <a:prstGeom prst="rect">
            <a:avLst/>
          </a:prstGeom>
          <a:noFill/>
          <a:ln w="9525">
            <a:noFill/>
          </a:ln>
        </p:spPr>
        <p:txBody>
          <a:bodyPr wrap="none" anchor="t" anchorCtr="0">
            <a:spAutoFit/>
          </a:bodyPr>
          <a:lstStyle/>
          <a:p>
            <a:pPr>
              <a:buClrTx/>
            </a:pPr>
            <a:r>
              <a:rPr lang="zh-CN" altLang="en-US" sz="2800" u="sng"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时间</a:t>
            </a:r>
            <a:r>
              <a:rPr lang="en-US" altLang="zh-CN" sz="2800"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0694" name="Text Box 6"/>
          <p:cNvSpPr txBox="1"/>
          <p:nvPr>
            <p:custDataLst>
              <p:tags r:id="rId3"/>
            </p:custDataLst>
          </p:nvPr>
        </p:nvSpPr>
        <p:spPr>
          <a:xfrm>
            <a:off x="2993390" y="2405063"/>
            <a:ext cx="4968875" cy="521970"/>
          </a:xfrm>
          <a:prstGeom prst="rect">
            <a:avLst/>
          </a:prstGeom>
          <a:noFill/>
          <a:ln w="9525">
            <a:noFill/>
          </a:ln>
        </p:spPr>
        <p:txBody>
          <a:bodyPr anchor="t" anchorCtr="0">
            <a:spAutoFit/>
          </a:bodyPr>
          <a:lstStyle/>
          <a:p>
            <a:pPr>
              <a:buClrTx/>
            </a:pPr>
            <a:r>
              <a:rPr lang="en-US" altLang="zh-CN" sz="2800" i="1" dirty="0">
                <a:solidFill>
                  <a:schemeClr val="dk1"/>
                </a:solidFill>
                <a:latin typeface="微软雅黑" panose="020B0503020204020204" pitchFamily="34" charset="-122"/>
                <a:ea typeface="微软雅黑" panose="020B0503020204020204" pitchFamily="34" charset="-122"/>
              </a:rPr>
              <a:t>O</a:t>
            </a:r>
            <a:r>
              <a:rPr lang="en-US" altLang="zh-CN" sz="2800" dirty="0">
                <a:solidFill>
                  <a:schemeClr val="dk1"/>
                </a:solidFill>
                <a:latin typeface="微软雅黑" panose="020B0503020204020204" pitchFamily="34" charset="-122"/>
                <a:ea typeface="微软雅黑" panose="020B0503020204020204" pitchFamily="34" charset="-122"/>
              </a:rPr>
              <a:t>(</a:t>
            </a:r>
            <a:r>
              <a:rPr lang="en-US" altLang="zh-CN" sz="2800" i="1" dirty="0">
                <a:solidFill>
                  <a:schemeClr val="dk1"/>
                </a:solidFill>
                <a:latin typeface="微软雅黑" panose="020B0503020204020204" pitchFamily="34" charset="-122"/>
                <a:ea typeface="微软雅黑" panose="020B0503020204020204" pitchFamily="34" charset="-122"/>
              </a:rPr>
              <a:t>b</a:t>
            </a:r>
            <a:r>
              <a:rPr lang="en-US" altLang="zh-CN" sz="2800" i="1" baseline="30000" dirty="0">
                <a:solidFill>
                  <a:schemeClr val="dk1"/>
                </a:solidFill>
                <a:latin typeface="微软雅黑" panose="020B0503020204020204" pitchFamily="34" charset="-122"/>
                <a:ea typeface="微软雅黑" panose="020B0503020204020204" pitchFamily="34" charset="-122"/>
              </a:rPr>
              <a:t>m</a:t>
            </a:r>
            <a:r>
              <a:rPr lang="en-US" altLang="zh-CN" sz="2800" dirty="0">
                <a:solidFill>
                  <a:schemeClr val="dk1"/>
                </a:solidFill>
                <a:latin typeface="微软雅黑" panose="020B0503020204020204" pitchFamily="34" charset="-122"/>
                <a:ea typeface="微软雅黑" panose="020B0503020204020204" pitchFamily="34" charset="-122"/>
              </a:rPr>
              <a:t>)</a:t>
            </a:r>
          </a:p>
        </p:txBody>
      </p:sp>
      <p:sp>
        <p:nvSpPr>
          <p:cNvPr id="370695" name="Text Box 7"/>
          <p:cNvSpPr txBox="1"/>
          <p:nvPr/>
        </p:nvSpPr>
        <p:spPr>
          <a:xfrm>
            <a:off x="1136015" y="3054350"/>
            <a:ext cx="1236980" cy="521970"/>
          </a:xfrm>
          <a:prstGeom prst="rect">
            <a:avLst/>
          </a:prstGeom>
          <a:noFill/>
          <a:ln w="9525">
            <a:noFill/>
          </a:ln>
        </p:spPr>
        <p:txBody>
          <a:bodyPr wrap="none" anchor="t" anchorCtr="0">
            <a:spAutoFit/>
          </a:bodyPr>
          <a:lstStyle/>
          <a:p>
            <a:pPr>
              <a:buClrTx/>
            </a:pPr>
            <a:r>
              <a:rPr lang="zh-CN" altLang="en-US" sz="2800" u="sng"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空间</a:t>
            </a:r>
            <a:r>
              <a:rPr lang="en-US" altLang="zh-CN" sz="2800"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0696" name="Text Box 8"/>
          <p:cNvSpPr txBox="1"/>
          <p:nvPr>
            <p:custDataLst>
              <p:tags r:id="rId4"/>
            </p:custDataLst>
          </p:nvPr>
        </p:nvSpPr>
        <p:spPr>
          <a:xfrm>
            <a:off x="2994978" y="3068638"/>
            <a:ext cx="1270635" cy="521970"/>
          </a:xfrm>
          <a:prstGeom prst="rect">
            <a:avLst/>
          </a:prstGeom>
          <a:noFill/>
          <a:ln w="9525">
            <a:noFill/>
          </a:ln>
        </p:spPr>
        <p:txBody>
          <a:bodyPr wrap="none" anchor="t" anchorCtr="0">
            <a:spAutoFit/>
          </a:bodyPr>
          <a:lstStyle/>
          <a:p>
            <a:pPr>
              <a:buClrTx/>
            </a:pPr>
            <a:r>
              <a:rPr lang="en-US" altLang="zh-CN" sz="2800" i="1" dirty="0">
                <a:solidFill>
                  <a:schemeClr val="dk1"/>
                </a:solidFill>
                <a:latin typeface="微软雅黑" panose="020B0503020204020204" pitchFamily="34" charset="-122"/>
                <a:ea typeface="微软雅黑" panose="020B0503020204020204" pitchFamily="34" charset="-122"/>
              </a:rPr>
              <a:t>O</a:t>
            </a:r>
            <a:r>
              <a:rPr lang="en-US" altLang="zh-CN" sz="2800" dirty="0">
                <a:solidFill>
                  <a:schemeClr val="dk1"/>
                </a:solidFill>
                <a:latin typeface="微软雅黑" panose="020B0503020204020204" pitchFamily="34" charset="-122"/>
                <a:ea typeface="微软雅黑" panose="020B0503020204020204" pitchFamily="34" charset="-122"/>
              </a:rPr>
              <a:t>(</a:t>
            </a:r>
            <a:r>
              <a:rPr lang="en-US" altLang="zh-CN" sz="2800" i="1" dirty="0">
                <a:solidFill>
                  <a:schemeClr val="dk1"/>
                </a:solidFill>
                <a:latin typeface="微软雅黑" panose="020B0503020204020204" pitchFamily="34" charset="-122"/>
                <a:ea typeface="微软雅黑" panose="020B0503020204020204" pitchFamily="34" charset="-122"/>
              </a:rPr>
              <a:t>bm</a:t>
            </a:r>
            <a:r>
              <a:rPr lang="en-US" altLang="zh-CN" sz="2800" dirty="0">
                <a:solidFill>
                  <a:schemeClr val="dk1"/>
                </a:solidFill>
                <a:latin typeface="微软雅黑" panose="020B0503020204020204" pitchFamily="34" charset="-122"/>
                <a:ea typeface="微软雅黑" panose="020B0503020204020204" pitchFamily="34" charset="-122"/>
              </a:rPr>
              <a:t>)</a:t>
            </a:r>
          </a:p>
        </p:txBody>
      </p:sp>
      <p:sp>
        <p:nvSpPr>
          <p:cNvPr id="370697" name="Text Box 9"/>
          <p:cNvSpPr txBox="1"/>
          <p:nvPr/>
        </p:nvSpPr>
        <p:spPr>
          <a:xfrm>
            <a:off x="1121728" y="3702050"/>
            <a:ext cx="1592580" cy="521970"/>
          </a:xfrm>
          <a:prstGeom prst="rect">
            <a:avLst/>
          </a:prstGeom>
          <a:noFill/>
          <a:ln w="9525">
            <a:noFill/>
          </a:ln>
        </p:spPr>
        <p:txBody>
          <a:bodyPr wrap="none" anchor="t" anchorCtr="0">
            <a:spAutoFit/>
          </a:bodyPr>
          <a:lstStyle/>
          <a:p>
            <a:pPr>
              <a:buClrTx/>
            </a:pPr>
            <a:r>
              <a:rPr lang="zh-CN" altLang="en-US" sz="2800" u="sng"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最优性</a:t>
            </a:r>
            <a:r>
              <a:rPr lang="en-US" altLang="zh-CN" sz="2800" dirty="0">
                <a:solidFill>
                  <a:srgbClr val="FF33CC"/>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0698" name="Text Box 10"/>
          <p:cNvSpPr txBox="1"/>
          <p:nvPr>
            <p:custDataLst>
              <p:tags r:id="rId5"/>
            </p:custDataLst>
          </p:nvPr>
        </p:nvSpPr>
        <p:spPr>
          <a:xfrm>
            <a:off x="3009265" y="3702050"/>
            <a:ext cx="4285615" cy="521970"/>
          </a:xfrm>
          <a:prstGeom prst="rect">
            <a:avLst/>
          </a:prstGeom>
          <a:noFill/>
          <a:ln w="9525">
            <a:noFill/>
          </a:ln>
        </p:spPr>
        <p:txBody>
          <a:bodyPr wrap="none" anchor="t" anchorCtr="0">
            <a:spAutoFit/>
          </a:bodyPr>
          <a:lstStyle/>
          <a:p>
            <a:pPr>
              <a:buClrTx/>
            </a:pP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Yes</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，当对手总是最优时。</a:t>
            </a:r>
          </a:p>
        </p:txBody>
      </p:sp>
      <p:sp>
        <p:nvSpPr>
          <p:cNvPr id="370700" name="Text Box 12"/>
          <p:cNvSpPr txBox="1"/>
          <p:nvPr>
            <p:custDataLst>
              <p:tags r:id="rId6"/>
            </p:custDataLst>
          </p:nvPr>
        </p:nvSpPr>
        <p:spPr>
          <a:xfrm>
            <a:off x="1136015" y="4681855"/>
            <a:ext cx="7332345" cy="922020"/>
          </a:xfrm>
          <a:prstGeom prst="rect">
            <a:avLst/>
          </a:prstGeom>
          <a:noFill/>
          <a:ln w="9525">
            <a:noFill/>
          </a:ln>
        </p:spPr>
        <p:txBody>
          <a:bodyPr wrap="square" anchor="t" anchorCtr="0">
            <a:spAutoFit/>
          </a:bodyPr>
          <a:lstStyle/>
          <a:p>
            <a:pPr>
              <a:lnSpc>
                <a:spcPct val="150000"/>
              </a:lnSpc>
              <a:buClrTx/>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以国际象棋为例，完整的博弈图约有</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10</a:t>
            </a:r>
            <a:r>
              <a:rPr lang="en-US" altLang="zh-CN" sz="18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40</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个节点，</a:t>
            </a:r>
          </a:p>
          <a:p>
            <a:pPr>
              <a:lnSpc>
                <a:spcPct val="150000"/>
              </a:lnSpc>
              <a:buClrTx/>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以生成一个节点需要</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0.1 ms</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计，需要</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10</a:t>
            </a:r>
            <a:r>
              <a:rPr lang="en-US" altLang="zh-CN" sz="18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28</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年</a:t>
            </a:r>
          </a:p>
        </p:txBody>
      </p:sp>
      <p:pic>
        <p:nvPicPr>
          <p:cNvPr id="2" name="图片 1" descr="31393935333437373b31393934363530363bcff2d3d2bcfdcdb7"/>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009265" y="5525135"/>
            <a:ext cx="914400" cy="914400"/>
          </a:xfrm>
          <a:prstGeom prst="rect">
            <a:avLst/>
          </a:prstGeom>
        </p:spPr>
      </p:pic>
      <p:sp>
        <p:nvSpPr>
          <p:cNvPr id="3" name="文本框 2"/>
          <p:cNvSpPr txBox="1"/>
          <p:nvPr/>
        </p:nvSpPr>
        <p:spPr>
          <a:xfrm>
            <a:off x="4772660" y="2405380"/>
            <a:ext cx="3696335" cy="1198880"/>
          </a:xfrm>
          <a:prstGeom prst="rect">
            <a:avLst/>
          </a:prstGeom>
          <a:noFill/>
        </p:spPr>
        <p:txBody>
          <a:bodyPr wrap="square" rtlCol="0" anchor="t">
            <a:spAutoFit/>
          </a:bodyPr>
          <a:lstStyle/>
          <a:p>
            <a:r>
              <a:rPr lang="zh-CN" altLang="en-US"/>
              <a:t>博弈树中，分支因子</a:t>
            </a:r>
            <a:r>
              <a:rPr lang="en-US" altLang="zh-CN"/>
              <a:t>b</a:t>
            </a:r>
            <a:r>
              <a:rPr lang="zh-CN" altLang="en-US"/>
              <a:t>（branching factor）是每个节点下的子节点数。</a:t>
            </a:r>
          </a:p>
          <a:p>
            <a:r>
              <a:rPr lang="zh-CN" altLang="en-US"/>
              <a:t>如果各个节点分支因子不同，则可以计算平均分支因子。</a:t>
            </a:r>
          </a:p>
        </p:txBody>
      </p:sp>
      <p:sp>
        <p:nvSpPr>
          <p:cNvPr id="4" name="文本框 3"/>
          <p:cNvSpPr txBox="1"/>
          <p:nvPr/>
        </p:nvSpPr>
        <p:spPr>
          <a:xfrm>
            <a:off x="4124325" y="5728970"/>
            <a:ext cx="3627755" cy="506730"/>
          </a:xfrm>
          <a:prstGeom prst="rect">
            <a:avLst/>
          </a:prstGeom>
          <a:noFill/>
        </p:spPr>
        <p:txBody>
          <a:bodyPr wrap="square" rtlCol="0" anchor="t">
            <a:spAutoFit/>
          </a:bodyPr>
          <a:lstStyle/>
          <a:p>
            <a:pPr algn="l">
              <a:lnSpc>
                <a:spcPct val="150000"/>
              </a:lnSpc>
              <a:buClrTx/>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完全精确的解是不可实现的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0692"/>
                                        </p:tgtEl>
                                        <p:attrNameLst>
                                          <p:attrName>style.visibility</p:attrName>
                                        </p:attrNameLst>
                                      </p:cBhvr>
                                      <p:to>
                                        <p:strVal val="visible"/>
                                      </p:to>
                                    </p:set>
                                    <p:anim calcmode="lin" valueType="num">
                                      <p:cBhvr>
                                        <p:cTn id="7" dur="500" fill="hold"/>
                                        <p:tgtEl>
                                          <p:spTgt spid="370692"/>
                                        </p:tgtEl>
                                        <p:attrNameLst>
                                          <p:attrName>ppt_x</p:attrName>
                                        </p:attrNameLst>
                                      </p:cBhvr>
                                      <p:tavLst>
                                        <p:tav tm="0">
                                          <p:val>
                                            <p:strVal val="#ppt_x"/>
                                          </p:val>
                                        </p:tav>
                                        <p:tav tm="100000">
                                          <p:val>
                                            <p:strVal val="#ppt_x"/>
                                          </p:val>
                                        </p:tav>
                                      </p:tavLst>
                                    </p:anim>
                                    <p:anim calcmode="lin" valueType="num">
                                      <p:cBhvr>
                                        <p:cTn id="8" dur="500" fill="hold"/>
                                        <p:tgtEl>
                                          <p:spTgt spid="3706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70693"/>
                                        </p:tgtEl>
                                        <p:attrNameLst>
                                          <p:attrName>style.visibility</p:attrName>
                                        </p:attrNameLst>
                                      </p:cBhvr>
                                      <p:to>
                                        <p:strVal val="visible"/>
                                      </p:to>
                                    </p:set>
                                    <p:animEffect transition="in" filter="blinds(horizontal)">
                                      <p:cBhvr>
                                        <p:cTn id="13" dur="500"/>
                                        <p:tgtEl>
                                          <p:spTgt spid="37069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0694"/>
                                        </p:tgtEl>
                                        <p:attrNameLst>
                                          <p:attrName>style.visibility</p:attrName>
                                        </p:attrNameLst>
                                      </p:cBhvr>
                                      <p:to>
                                        <p:strVal val="visible"/>
                                      </p:to>
                                    </p:set>
                                    <p:anim calcmode="lin" valueType="num">
                                      <p:cBhvr>
                                        <p:cTn id="18" dur="500" fill="hold"/>
                                        <p:tgtEl>
                                          <p:spTgt spid="370694"/>
                                        </p:tgtEl>
                                        <p:attrNameLst>
                                          <p:attrName>ppt_x</p:attrName>
                                        </p:attrNameLst>
                                      </p:cBhvr>
                                      <p:tavLst>
                                        <p:tav tm="0">
                                          <p:val>
                                            <p:strVal val="#ppt_x"/>
                                          </p:val>
                                        </p:tav>
                                        <p:tav tm="100000">
                                          <p:val>
                                            <p:strVal val="#ppt_x"/>
                                          </p:val>
                                        </p:tav>
                                      </p:tavLst>
                                    </p:anim>
                                    <p:anim calcmode="lin" valueType="num">
                                      <p:cBhvr>
                                        <p:cTn id="19" dur="500" fill="hold"/>
                                        <p:tgtEl>
                                          <p:spTgt spid="37069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70695"/>
                                        </p:tgtEl>
                                        <p:attrNameLst>
                                          <p:attrName>style.visibility</p:attrName>
                                        </p:attrNameLst>
                                      </p:cBhvr>
                                      <p:to>
                                        <p:strVal val="visible"/>
                                      </p:to>
                                    </p:set>
                                    <p:animEffect transition="in" filter="blinds(horizontal)">
                                      <p:cBhvr>
                                        <p:cTn id="28" dur="500"/>
                                        <p:tgtEl>
                                          <p:spTgt spid="370695"/>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70696"/>
                                        </p:tgtEl>
                                        <p:attrNameLst>
                                          <p:attrName>style.visibility</p:attrName>
                                        </p:attrNameLst>
                                      </p:cBhvr>
                                      <p:to>
                                        <p:strVal val="visible"/>
                                      </p:to>
                                    </p:set>
                                    <p:anim calcmode="lin" valueType="num">
                                      <p:cBhvr>
                                        <p:cTn id="33" dur="500" fill="hold"/>
                                        <p:tgtEl>
                                          <p:spTgt spid="370696"/>
                                        </p:tgtEl>
                                        <p:attrNameLst>
                                          <p:attrName>ppt_x</p:attrName>
                                        </p:attrNameLst>
                                      </p:cBhvr>
                                      <p:tavLst>
                                        <p:tav tm="0">
                                          <p:val>
                                            <p:strVal val="#ppt_x"/>
                                          </p:val>
                                        </p:tav>
                                        <p:tav tm="100000">
                                          <p:val>
                                            <p:strVal val="#ppt_x"/>
                                          </p:val>
                                        </p:tav>
                                      </p:tavLst>
                                    </p:anim>
                                    <p:anim calcmode="lin" valueType="num">
                                      <p:cBhvr>
                                        <p:cTn id="34" dur="500" fill="hold"/>
                                        <p:tgtEl>
                                          <p:spTgt spid="37069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70697"/>
                                        </p:tgtEl>
                                        <p:attrNameLst>
                                          <p:attrName>style.visibility</p:attrName>
                                        </p:attrNameLst>
                                      </p:cBhvr>
                                      <p:to>
                                        <p:strVal val="visible"/>
                                      </p:to>
                                    </p:set>
                                    <p:animEffect transition="in" filter="blinds(horizontal)">
                                      <p:cBhvr>
                                        <p:cTn id="39" dur="500"/>
                                        <p:tgtEl>
                                          <p:spTgt spid="370697"/>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70698"/>
                                        </p:tgtEl>
                                        <p:attrNameLst>
                                          <p:attrName>style.visibility</p:attrName>
                                        </p:attrNameLst>
                                      </p:cBhvr>
                                      <p:to>
                                        <p:strVal val="visible"/>
                                      </p:to>
                                    </p:set>
                                    <p:anim calcmode="lin" valueType="num">
                                      <p:cBhvr>
                                        <p:cTn id="44" dur="500" fill="hold"/>
                                        <p:tgtEl>
                                          <p:spTgt spid="370698"/>
                                        </p:tgtEl>
                                        <p:attrNameLst>
                                          <p:attrName>ppt_x</p:attrName>
                                        </p:attrNameLst>
                                      </p:cBhvr>
                                      <p:tavLst>
                                        <p:tav tm="0">
                                          <p:val>
                                            <p:strVal val="#ppt_x"/>
                                          </p:val>
                                        </p:tav>
                                        <p:tav tm="100000">
                                          <p:val>
                                            <p:strVal val="#ppt_x"/>
                                          </p:val>
                                        </p:tav>
                                      </p:tavLst>
                                    </p:anim>
                                    <p:anim calcmode="lin" valueType="num">
                                      <p:cBhvr>
                                        <p:cTn id="45" dur="500" fill="hold"/>
                                        <p:tgtEl>
                                          <p:spTgt spid="370698"/>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70700"/>
                                        </p:tgtEl>
                                        <p:attrNameLst>
                                          <p:attrName>style.visibility</p:attrName>
                                        </p:attrNameLst>
                                      </p:cBhvr>
                                      <p:to>
                                        <p:strVal val="visible"/>
                                      </p:to>
                                    </p:set>
                                    <p:animEffect transition="in" filter="blinds(horizontal)">
                                      <p:cBhvr>
                                        <p:cTn id="50" dur="500"/>
                                        <p:tgtEl>
                                          <p:spTgt spid="370700"/>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2" grpId="0"/>
      <p:bldP spid="370693" grpId="0"/>
      <p:bldP spid="370694" grpId="0"/>
      <p:bldP spid="370695" grpId="0"/>
      <p:bldP spid="370696" grpId="0"/>
      <p:bldP spid="370697" grpId="0"/>
      <p:bldP spid="370698" grpId="0"/>
      <p:bldP spid="370700" grpId="0"/>
      <p:bldP spid="3" grpId="0"/>
      <p:bldP spid="3" grpId="1"/>
      <p:bldP spid="4" grpId="0"/>
      <p:bldP spid="4"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 name="图片 123"/>
          <p:cNvPicPr/>
          <p:nvPr/>
        </p:nvPicPr>
        <p:blipFill>
          <a:blip r:embed="rId4"/>
          <a:stretch>
            <a:fillRect/>
          </a:stretch>
        </p:blipFill>
        <p:spPr>
          <a:xfrm>
            <a:off x="1041400" y="2943225"/>
            <a:ext cx="6883400" cy="3308350"/>
          </a:xfrm>
          <a:prstGeom prst="rect">
            <a:avLst/>
          </a:prstGeom>
          <a:noFill/>
          <a:ln w="9525">
            <a:noFill/>
          </a:ln>
        </p:spPr>
      </p:pic>
      <p:pic>
        <p:nvPicPr>
          <p:cNvPr id="2" name="图片 1"/>
          <p:cNvPicPr>
            <a:picLocks noChangeAspect="1"/>
          </p:cNvPicPr>
          <p:nvPr/>
        </p:nvPicPr>
        <p:blipFill>
          <a:blip r:embed="rId5"/>
          <a:stretch>
            <a:fillRect/>
          </a:stretch>
        </p:blipFill>
        <p:spPr>
          <a:xfrm>
            <a:off x="1903095" y="874395"/>
            <a:ext cx="4562475" cy="998855"/>
          </a:xfrm>
          <a:prstGeom prst="rect">
            <a:avLst/>
          </a:prstGeom>
        </p:spPr>
      </p:pic>
      <p:sp>
        <p:nvSpPr>
          <p:cNvPr id="3" name="文本框 2"/>
          <p:cNvSpPr txBox="1"/>
          <p:nvPr/>
        </p:nvSpPr>
        <p:spPr>
          <a:xfrm>
            <a:off x="340995" y="1914525"/>
            <a:ext cx="8648700" cy="368300"/>
          </a:xfrm>
          <a:prstGeom prst="rect">
            <a:avLst/>
          </a:prstGeom>
          <a:noFill/>
        </p:spPr>
        <p:txBody>
          <a:bodyPr wrap="square" rtlCol="0" anchor="t">
            <a:spAutoFit/>
          </a:bodyPr>
          <a:lstStyle/>
          <a:p>
            <a:r>
              <a:rPr lang="zh-CN" altLang="en-US"/>
              <a:t>对于如下的局势，假设从左往右搜索，根节点的数值为我方赢面（倒推值</a:t>
            </a:r>
            <a:r>
              <a:rPr lang="en-US" altLang="zh-CN"/>
              <a:t>/</a:t>
            </a:r>
            <a:r>
              <a:rPr lang="zh-CN" altLang="en-US"/>
              <a:t>回传值）：</a:t>
            </a:r>
          </a:p>
        </p:txBody>
      </p:sp>
      <p:sp>
        <p:nvSpPr>
          <p:cNvPr id="8" name="文本框 7"/>
          <p:cNvSpPr txBox="1"/>
          <p:nvPr/>
        </p:nvSpPr>
        <p:spPr>
          <a:xfrm>
            <a:off x="1294130" y="4413250"/>
            <a:ext cx="309880" cy="368300"/>
          </a:xfrm>
          <a:prstGeom prst="rect">
            <a:avLst/>
          </a:prstGeom>
          <a:noFill/>
        </p:spPr>
        <p:txBody>
          <a:bodyPr wrap="none" rtlCol="0">
            <a:spAutoFit/>
          </a:bodyPr>
          <a:lstStyle/>
          <a:p>
            <a:r>
              <a:rPr lang="en-US" altLang="zh-CN"/>
              <a:t>3</a:t>
            </a:r>
          </a:p>
        </p:txBody>
      </p:sp>
      <p:sp>
        <p:nvSpPr>
          <p:cNvPr id="10" name="文本框 9"/>
          <p:cNvSpPr txBox="1"/>
          <p:nvPr/>
        </p:nvSpPr>
        <p:spPr>
          <a:xfrm>
            <a:off x="5027930" y="4413250"/>
            <a:ext cx="309880" cy="368300"/>
          </a:xfrm>
          <a:prstGeom prst="rect">
            <a:avLst/>
          </a:prstGeom>
          <a:noFill/>
        </p:spPr>
        <p:txBody>
          <a:bodyPr wrap="none" rtlCol="0">
            <a:spAutoFit/>
          </a:bodyPr>
          <a:lstStyle/>
          <a:p>
            <a:r>
              <a:rPr lang="en-US" altLang="zh-CN"/>
              <a:t>1</a:t>
            </a:r>
          </a:p>
        </p:txBody>
      </p:sp>
      <p:sp>
        <p:nvSpPr>
          <p:cNvPr id="11" name="文本框 10"/>
          <p:cNvSpPr txBox="1"/>
          <p:nvPr/>
        </p:nvSpPr>
        <p:spPr>
          <a:xfrm>
            <a:off x="2894330" y="4413250"/>
            <a:ext cx="436880" cy="368300"/>
          </a:xfrm>
          <a:prstGeom prst="rect">
            <a:avLst/>
          </a:prstGeom>
          <a:noFill/>
        </p:spPr>
        <p:txBody>
          <a:bodyPr wrap="none" rtlCol="0">
            <a:spAutoFit/>
          </a:bodyPr>
          <a:lstStyle/>
          <a:p>
            <a:r>
              <a:rPr lang="en-US" altLang="zh-CN"/>
              <a:t>15</a:t>
            </a:r>
          </a:p>
        </p:txBody>
      </p:sp>
      <p:sp>
        <p:nvSpPr>
          <p:cNvPr id="12" name="文本框 11"/>
          <p:cNvSpPr txBox="1"/>
          <p:nvPr/>
        </p:nvSpPr>
        <p:spPr>
          <a:xfrm>
            <a:off x="3148330" y="3143250"/>
            <a:ext cx="436880" cy="368300"/>
          </a:xfrm>
          <a:prstGeom prst="rect">
            <a:avLst/>
          </a:prstGeom>
          <a:noFill/>
        </p:spPr>
        <p:txBody>
          <a:bodyPr wrap="none" rtlCol="0">
            <a:spAutoFit/>
          </a:bodyPr>
          <a:lstStyle/>
          <a:p>
            <a:r>
              <a:rPr lang="en-US" altLang="zh-CN">
                <a:solidFill>
                  <a:srgbClr val="FF0000"/>
                </a:solidFill>
              </a:rPr>
              <a:t>15</a:t>
            </a:r>
          </a:p>
        </p:txBody>
      </p:sp>
      <p:sp>
        <p:nvSpPr>
          <p:cNvPr id="17" name="下箭头 16"/>
          <p:cNvSpPr/>
          <p:nvPr/>
        </p:nvSpPr>
        <p:spPr>
          <a:xfrm rot="1680000">
            <a:off x="3743989" y="3617196"/>
            <a:ext cx="180000" cy="720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下箭头 17"/>
          <p:cNvSpPr/>
          <p:nvPr/>
        </p:nvSpPr>
        <p:spPr>
          <a:xfrm rot="600000">
            <a:off x="3501419" y="4791946"/>
            <a:ext cx="180000" cy="720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328930" y="312420"/>
            <a:ext cx="2926080" cy="4603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2400"/>
              <a:t>极小极大算法：例子</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0" grpId="0"/>
      <p:bldP spid="10" grpId="1"/>
      <p:bldP spid="11" grpId="0"/>
      <p:bldP spid="11" grpId="1"/>
      <p:bldP spid="12" grpId="0"/>
      <p:bldP spid="17" grpId="0" bldLvl="0" animBg="1"/>
      <p:bldP spid="17" grpId="1" animBg="1"/>
      <p:bldP spid="18" grpId="0" bldLvl="0" animBg="1"/>
      <p:bldP spid="18"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61035" y="748030"/>
            <a:ext cx="7821930" cy="645160"/>
          </a:xfrm>
          <a:prstGeom prst="rect">
            <a:avLst/>
          </a:prstGeom>
          <a:noFill/>
          <a:ln>
            <a:solidFill>
              <a:schemeClr val="accent6">
                <a:lumMod val="20000"/>
                <a:lumOff val="80000"/>
              </a:schemeClr>
            </a:solidFill>
          </a:ln>
        </p:spPr>
        <p:txBody>
          <a:bodyPr wrap="square" rtlCol="0" anchor="t">
            <a:spAutoFit/>
          </a:bodyPr>
          <a:lstStyle/>
          <a:p>
            <a:r>
              <a:rPr lang="zh-CN" altLang="en-US"/>
              <a:t>设想有两个选手，</a:t>
            </a:r>
            <a:r>
              <a:rPr lang="zh-CN" altLang="en-US" b="1"/>
              <a:t>橙色节点是MAX，蓝色节点是MIN，</a:t>
            </a:r>
            <a:r>
              <a:rPr lang="zh-CN" altLang="en-US"/>
              <a:t>每人轮流移动一步，MAX先开始：</a:t>
            </a:r>
          </a:p>
        </p:txBody>
      </p:sp>
      <p:sp>
        <p:nvSpPr>
          <p:cNvPr id="3" name="文本框 2"/>
          <p:cNvSpPr txBox="1"/>
          <p:nvPr/>
        </p:nvSpPr>
        <p:spPr>
          <a:xfrm>
            <a:off x="661035" y="1572895"/>
            <a:ext cx="8063865" cy="645160"/>
          </a:xfrm>
          <a:prstGeom prst="rect">
            <a:avLst/>
          </a:prstGeom>
          <a:noFill/>
        </p:spPr>
        <p:txBody>
          <a:bodyPr wrap="square" rtlCol="0" anchor="t">
            <a:spAutoFit/>
          </a:bodyPr>
          <a:lstStyle/>
          <a:p>
            <a:r>
              <a:rPr lang="zh-CN" altLang="en-US" dirty="0"/>
              <a:t>第一步：MAX选手根据DFS深度优先，</a:t>
            </a:r>
            <a:r>
              <a:rPr lang="zh-CN" altLang="en-US" dirty="0">
                <a:highlight>
                  <a:srgbClr val="FFFF00"/>
                </a:highlight>
              </a:rPr>
              <a:t>生成整个博弈树</a:t>
            </a:r>
            <a:r>
              <a:rPr lang="zh-CN" altLang="en-US" dirty="0"/>
              <a:t>，根据效用函数UTILITY得到所有叶子节点值，如下图，A是初始节点。</a:t>
            </a:r>
          </a:p>
        </p:txBody>
      </p:sp>
      <p:pic>
        <p:nvPicPr>
          <p:cNvPr id="105" name="图片 104"/>
          <p:cNvPicPr/>
          <p:nvPr/>
        </p:nvPicPr>
        <p:blipFill>
          <a:blip r:embed="rId3"/>
          <a:stretch>
            <a:fillRect/>
          </a:stretch>
        </p:blipFill>
        <p:spPr>
          <a:xfrm>
            <a:off x="1878965" y="2218055"/>
            <a:ext cx="5195570" cy="4294505"/>
          </a:xfrm>
          <a:prstGeom prst="rect">
            <a:avLst/>
          </a:prstGeom>
          <a:noFill/>
          <a:ln w="9525">
            <a:noFill/>
          </a:ln>
        </p:spPr>
      </p:pic>
      <p:sp>
        <p:nvSpPr>
          <p:cNvPr id="4" name="文本框 3"/>
          <p:cNvSpPr txBox="1"/>
          <p:nvPr/>
        </p:nvSpPr>
        <p:spPr>
          <a:xfrm>
            <a:off x="416560" y="200660"/>
            <a:ext cx="2240280" cy="368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t">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mn-ea"/>
              </a:rPr>
              <a:t>极小极大算法：例子</a:t>
            </a: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87730" y="477520"/>
            <a:ext cx="6934835" cy="645160"/>
          </a:xfrm>
          <a:prstGeom prst="rect">
            <a:avLst/>
          </a:prstGeom>
          <a:noFill/>
        </p:spPr>
        <p:txBody>
          <a:bodyPr wrap="square" rtlCol="0" anchor="t">
            <a:spAutoFit/>
          </a:bodyPr>
          <a:lstStyle/>
          <a:p>
            <a:r>
              <a:rPr lang="zh-CN" altLang="en-US"/>
              <a:t>第二步：从叶子节点向上回溯，D节点是MAX节点，选择最大值4，同理得到同一层节点的值。</a:t>
            </a:r>
          </a:p>
        </p:txBody>
      </p:sp>
      <p:pic>
        <p:nvPicPr>
          <p:cNvPr id="106" name="图片 105"/>
          <p:cNvPicPr/>
          <p:nvPr/>
        </p:nvPicPr>
        <p:blipFill>
          <a:blip r:embed="rId3"/>
          <a:stretch>
            <a:fillRect/>
          </a:stretch>
        </p:blipFill>
        <p:spPr>
          <a:xfrm>
            <a:off x="1844040" y="1361440"/>
            <a:ext cx="5889625" cy="5012055"/>
          </a:xfrm>
          <a:prstGeom prst="rect">
            <a:avLst/>
          </a:prstGeom>
          <a:noFill/>
          <a:ln w="9525">
            <a:noFill/>
          </a:ln>
        </p:spPr>
      </p:pic>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2185" y="606425"/>
            <a:ext cx="7199630" cy="645160"/>
          </a:xfrm>
          <a:prstGeom prst="rect">
            <a:avLst/>
          </a:prstGeom>
          <a:noFill/>
        </p:spPr>
        <p:txBody>
          <a:bodyPr wrap="square" rtlCol="0" anchor="t">
            <a:spAutoFit/>
          </a:bodyPr>
          <a:lstStyle/>
          <a:p>
            <a:r>
              <a:rPr lang="zh-CN" altLang="en-US"/>
              <a:t>第三步：递归上一层，该层为MIN节点，选择孩子节点的最小值，B节点为4，C节点为-3。</a:t>
            </a:r>
          </a:p>
        </p:txBody>
      </p:sp>
      <p:pic>
        <p:nvPicPr>
          <p:cNvPr id="107" name="图片 106"/>
          <p:cNvPicPr/>
          <p:nvPr/>
        </p:nvPicPr>
        <p:blipFill>
          <a:blip r:embed="rId3"/>
          <a:stretch>
            <a:fillRect/>
          </a:stretch>
        </p:blipFill>
        <p:spPr>
          <a:xfrm>
            <a:off x="1769745" y="1480185"/>
            <a:ext cx="6024880" cy="4900295"/>
          </a:xfrm>
          <a:prstGeom prst="rect">
            <a:avLst/>
          </a:prstGeom>
          <a:noFill/>
          <a:ln w="9525">
            <a:noFill/>
          </a:ln>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51535" y="608330"/>
            <a:ext cx="7797165" cy="645160"/>
          </a:xfrm>
          <a:prstGeom prst="rect">
            <a:avLst/>
          </a:prstGeom>
          <a:noFill/>
        </p:spPr>
        <p:txBody>
          <a:bodyPr wrap="square" rtlCol="0" anchor="t">
            <a:spAutoFit/>
          </a:bodyPr>
          <a:lstStyle/>
          <a:p>
            <a:r>
              <a:rPr lang="zh-CN" altLang="en-US"/>
              <a:t>第四步：再递归到上一层，是根节点A，选择孩子节点最大值4。因此对于MAX选手而言，最优路径为绿色路径，取得最大值为4。</a:t>
            </a:r>
          </a:p>
        </p:txBody>
      </p:sp>
      <p:pic>
        <p:nvPicPr>
          <p:cNvPr id="108" name="图片 107"/>
          <p:cNvPicPr/>
          <p:nvPr/>
        </p:nvPicPr>
        <p:blipFill>
          <a:blip r:embed="rId3"/>
          <a:stretch>
            <a:fillRect/>
          </a:stretch>
        </p:blipFill>
        <p:spPr>
          <a:xfrm>
            <a:off x="1491615" y="1253490"/>
            <a:ext cx="6160770" cy="5038090"/>
          </a:xfrm>
          <a:prstGeom prst="rect">
            <a:avLst/>
          </a:prstGeom>
          <a:noFill/>
          <a:ln w="9525">
            <a:noFill/>
          </a:ln>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01" name="Rectangle 2"/>
          <p:cNvSpPr>
            <a:spLocks noGrp="1" noRot="1"/>
          </p:cNvSpPr>
          <p:nvPr>
            <p:ph type="title" idx="4294967295"/>
          </p:nvPr>
        </p:nvSpPr>
        <p:spPr>
          <a:xfrm>
            <a:off x="300990" y="66675"/>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sym typeface="+mn-ea"/>
              </a:rPr>
              <a:t>5.2.2 </a:t>
            </a:r>
            <a:r>
              <a:rPr lang="zh-CN" altLang="en-US" kern="1200" dirty="0">
                <a:solidFill>
                  <a:schemeClr val="accent1"/>
                </a:solidFill>
                <a:latin typeface="微软雅黑" panose="020B0503020204020204" pitchFamily="34" charset="-122"/>
                <a:ea typeface="微软雅黑" panose="020B0503020204020204" pitchFamily="34" charset="-122"/>
                <a:sym typeface="+mn-ea"/>
              </a:rPr>
              <a:t>多人博弈时的最优决策</a:t>
            </a:r>
          </a:p>
        </p:txBody>
      </p:sp>
      <p:pic>
        <p:nvPicPr>
          <p:cNvPr id="25602" name="Picture 5" descr="minimax3"/>
          <p:cNvPicPr>
            <a:picLocks noGrp="1" noRot="1" noChangeAspect="1"/>
          </p:cNvPicPr>
          <p:nvPr>
            <p:ph idx="4294967295"/>
          </p:nvPr>
        </p:nvPicPr>
        <p:blipFill>
          <a:blip r:embed="rId4"/>
          <a:stretch>
            <a:fillRect/>
          </a:stretch>
        </p:blipFill>
        <p:spPr>
          <a:xfrm>
            <a:off x="394653" y="1892300"/>
            <a:ext cx="8351520" cy="3070225"/>
          </a:xfrm>
          <a:prstGeom prst="rect">
            <a:avLst/>
          </a:prstGeom>
          <a:noFill/>
          <a:ln w="9525">
            <a:noFill/>
          </a:ln>
        </p:spPr>
      </p:pic>
      <p:sp>
        <p:nvSpPr>
          <p:cNvPr id="4" name="TextBox 3"/>
          <p:cNvSpPr txBox="1"/>
          <p:nvPr/>
        </p:nvSpPr>
        <p:spPr>
          <a:xfrm>
            <a:off x="1231265" y="6396673"/>
            <a:ext cx="6879590" cy="368300"/>
          </a:xfrm>
          <a:prstGeom prst="rect">
            <a:avLst/>
          </a:prstGeom>
          <a:noFill/>
          <a:ln w="9525">
            <a:noFill/>
          </a:ln>
        </p:spPr>
        <p:txBody>
          <a:bodyPr wrap="none" anchor="t" anchorCtr="0">
            <a:spAutoFit/>
          </a:bodyPr>
          <a:lstStyle/>
          <a:p>
            <a:pPr>
              <a:buClrTx/>
            </a:pP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节点</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的回传值是该节点游戏者在节点</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选择的后继者的效用值向量</a:t>
            </a:r>
          </a:p>
        </p:txBody>
      </p:sp>
      <p:sp>
        <p:nvSpPr>
          <p:cNvPr id="2" name="文本框 1"/>
          <p:cNvSpPr txBox="1"/>
          <p:nvPr/>
        </p:nvSpPr>
        <p:spPr>
          <a:xfrm>
            <a:off x="7659370" y="1663700"/>
            <a:ext cx="640080" cy="922020"/>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zh-CN" altLang="en-US"/>
              <a:t>联盟</a:t>
            </a:r>
          </a:p>
          <a:p>
            <a:endParaRPr lang="zh-CN" altLang="en-US"/>
          </a:p>
          <a:p>
            <a:r>
              <a:rPr lang="zh-CN" altLang="en-US"/>
              <a:t>合作</a:t>
            </a:r>
          </a:p>
        </p:txBody>
      </p:sp>
      <p:sp>
        <p:nvSpPr>
          <p:cNvPr id="3" name="文本框 2"/>
          <p:cNvSpPr txBox="1"/>
          <p:nvPr/>
        </p:nvSpPr>
        <p:spPr>
          <a:xfrm>
            <a:off x="2115820" y="1025525"/>
            <a:ext cx="3840480" cy="36830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b="1">
                <a:solidFill>
                  <a:srgbClr val="C00000"/>
                </a:solidFill>
              </a:rPr>
              <a:t>把极小极大思想推广到多人博弈中。</a:t>
            </a:r>
          </a:p>
        </p:txBody>
      </p:sp>
      <p:sp>
        <p:nvSpPr>
          <p:cNvPr id="5" name="文本框 4"/>
          <p:cNvSpPr txBox="1"/>
          <p:nvPr/>
        </p:nvSpPr>
        <p:spPr>
          <a:xfrm>
            <a:off x="1412875" y="2160905"/>
            <a:ext cx="2339975" cy="64516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800">
                <a:solidFill>
                  <a:schemeClr val="tx1"/>
                </a:solidFill>
              </a:rPr>
              <a:t>用</a:t>
            </a:r>
            <a:r>
              <a:rPr lang="zh-CN" altLang="en-US" sz="1800" b="1">
                <a:solidFill>
                  <a:srgbClr val="FF0000"/>
                </a:solidFill>
              </a:rPr>
              <a:t>向量值</a:t>
            </a:r>
            <a:r>
              <a:rPr lang="zh-CN" altLang="en-US" sz="1800">
                <a:solidFill>
                  <a:schemeClr val="tx1"/>
                </a:solidFill>
              </a:rPr>
              <a:t>替换每个节点上的单一效用值</a:t>
            </a:r>
          </a:p>
        </p:txBody>
      </p:sp>
      <p:sp>
        <p:nvSpPr>
          <p:cNvPr id="6" name="文本框 5"/>
          <p:cNvSpPr txBox="1"/>
          <p:nvPr/>
        </p:nvSpPr>
        <p:spPr>
          <a:xfrm>
            <a:off x="1662430" y="5015230"/>
            <a:ext cx="5817235" cy="30670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400" b="1">
                <a:solidFill>
                  <a:srgbClr val="0000FF"/>
                </a:solidFill>
              </a:rPr>
              <a:t>对于终止状态，这个向量代表着从每个人角度出发得到的状态效用值。</a:t>
            </a:r>
          </a:p>
        </p:txBody>
      </p:sp>
      <p:sp>
        <p:nvSpPr>
          <p:cNvPr id="7" name="矩形 6"/>
          <p:cNvSpPr/>
          <p:nvPr/>
        </p:nvSpPr>
        <p:spPr>
          <a:xfrm>
            <a:off x="2115820" y="3757295"/>
            <a:ext cx="266700" cy="276225"/>
          </a:xfrm>
          <a:prstGeom prst="rect">
            <a:avLst/>
          </a:prstGeom>
          <a:solidFill>
            <a:srgbClr val="CC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360" y="5398770"/>
            <a:ext cx="7701280" cy="922020"/>
          </a:xfrm>
          <a:prstGeom prst="rect">
            <a:avLst/>
          </a:prstGeom>
          <a:noFill/>
        </p:spPr>
        <p:txBody>
          <a:bodyPr wrap="none" rtlCol="0">
            <a:spAutoFit/>
          </a:bodyPr>
          <a:lstStyle/>
          <a:p>
            <a:r>
              <a:rPr lang="zh-CN" altLang="en-US"/>
              <a:t>标着</a:t>
            </a:r>
            <a:r>
              <a:rPr lang="en-US" altLang="zh-CN"/>
              <a:t>X</a:t>
            </a:r>
            <a:r>
              <a:rPr lang="zh-CN" altLang="en-US"/>
              <a:t>的节点，这时</a:t>
            </a:r>
            <a:r>
              <a:rPr lang="en-US" altLang="zh-CN"/>
              <a:t>C</a:t>
            </a:r>
            <a:r>
              <a:rPr lang="zh-CN" altLang="en-US"/>
              <a:t>有</a:t>
            </a:r>
            <a:r>
              <a:rPr lang="en-US" altLang="zh-CN"/>
              <a:t>2</a:t>
            </a:r>
            <a:r>
              <a:rPr lang="zh-CN" altLang="en-US"/>
              <a:t>种选择，但</a:t>
            </a:r>
            <a:r>
              <a:rPr lang="en-US" altLang="zh-CN"/>
              <a:t>vc=6&gt;3,</a:t>
            </a:r>
            <a:r>
              <a:rPr lang="zh-CN" altLang="en-US"/>
              <a:t>所以</a:t>
            </a:r>
            <a:r>
              <a:rPr lang="en-US" altLang="zh-CN"/>
              <a:t>C</a:t>
            </a:r>
            <a:r>
              <a:rPr lang="zh-CN" altLang="en-US"/>
              <a:t>选择左边第一种走法</a:t>
            </a:r>
          </a:p>
          <a:p>
            <a:r>
              <a:rPr lang="zh-CN" altLang="en-US"/>
              <a:t>这意味着在状态</a:t>
            </a:r>
            <a:r>
              <a:rPr lang="en-US" altLang="zh-CN"/>
              <a:t>X</a:t>
            </a:r>
            <a:r>
              <a:rPr lang="zh-CN" altLang="en-US"/>
              <a:t>，后继的招数会走到效用值向量为（</a:t>
            </a:r>
            <a:r>
              <a:rPr lang="en-US" altLang="zh-CN"/>
              <a:t>1,2,6</a:t>
            </a:r>
            <a:r>
              <a:rPr lang="zh-CN" altLang="en-US"/>
              <a:t>）的终止状态。</a:t>
            </a:r>
          </a:p>
          <a:p>
            <a:r>
              <a:rPr lang="zh-CN" altLang="en-US"/>
              <a:t>所以，</a:t>
            </a:r>
            <a:r>
              <a:rPr lang="en-US" altLang="zh-CN"/>
              <a:t>X</a:t>
            </a:r>
            <a:r>
              <a:rPr lang="zh-CN" altLang="en-US"/>
              <a:t>的回传值就是这个向量（</a:t>
            </a:r>
            <a:r>
              <a:rPr lang="en-US" altLang="zh-CN"/>
              <a:t>1,2,6</a:t>
            </a:r>
            <a:r>
              <a:rPr lang="zh-CN" altLang="en-US"/>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ox(i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3" grpId="1" animBg="1"/>
      <p:bldP spid="5" grpId="0" bldLvl="0" animBg="1"/>
      <p:bldP spid="5" grpId="1" animBg="1"/>
      <p:bldP spid="6" grpId="0" bldLvl="0" animBg="1"/>
      <p:bldP spid="6" grpId="1" animBg="1"/>
      <p:bldP spid="8" grpId="0"/>
      <p:bldP spid="8"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Rot="1"/>
          </p:cNvSpPr>
          <p:nvPr/>
        </p:nvSpPr>
        <p:spPr>
          <a:xfrm>
            <a:off x="151448" y="231775"/>
            <a:ext cx="8540750" cy="696913"/>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en-US" altLang="zh-CN" b="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剪枝</a:t>
            </a:r>
          </a:p>
        </p:txBody>
      </p:sp>
      <p:pic>
        <p:nvPicPr>
          <p:cNvPr id="100" name="图片 99"/>
          <p:cNvPicPr/>
          <p:nvPr/>
        </p:nvPicPr>
        <p:blipFill>
          <a:blip r:embed="rId4"/>
          <a:stretch>
            <a:fillRect/>
          </a:stretch>
        </p:blipFill>
        <p:spPr>
          <a:xfrm>
            <a:off x="3556000" y="3145790"/>
            <a:ext cx="2032000" cy="1993900"/>
          </a:xfrm>
          <a:prstGeom prst="rect">
            <a:avLst/>
          </a:prstGeom>
          <a:noFill/>
          <a:ln w="9525">
            <a:noFill/>
          </a:ln>
        </p:spPr>
      </p:pic>
      <p:sp>
        <p:nvSpPr>
          <p:cNvPr id="3" name="文本框 2"/>
          <p:cNvSpPr txBox="1"/>
          <p:nvPr/>
        </p:nvSpPr>
        <p:spPr>
          <a:xfrm>
            <a:off x="1295400" y="1068705"/>
            <a:ext cx="6552565" cy="112458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gn="l">
              <a:lnSpc>
                <a:spcPct val="120000"/>
              </a:lnSpc>
            </a:pPr>
            <a:r>
              <a:rPr lang="zh-CN" altLang="en-US" sz="2800"/>
              <a:t>极小极大算法将所有的子树全部扫描，会很浪费时间和空间。</a:t>
            </a:r>
          </a:p>
        </p:txBody>
      </p:sp>
      <p:sp>
        <p:nvSpPr>
          <p:cNvPr id="4" name="文本框 3"/>
          <p:cNvSpPr txBox="1"/>
          <p:nvPr/>
        </p:nvSpPr>
        <p:spPr>
          <a:xfrm>
            <a:off x="3359150" y="2459355"/>
            <a:ext cx="2425700" cy="583565"/>
          </a:xfrm>
          <a:prstGeom prst="rect">
            <a:avLst/>
          </a:prstGeom>
        </p:spPr>
        <p:style>
          <a:lnRef idx="3">
            <a:schemeClr val="lt1"/>
          </a:lnRef>
          <a:fillRef idx="1">
            <a:schemeClr val="accent1"/>
          </a:fillRef>
          <a:effectRef idx="1">
            <a:schemeClr val="accent1"/>
          </a:effectRef>
          <a:fontRef idx="minor">
            <a:schemeClr val="lt1"/>
          </a:fontRef>
        </p:style>
        <p:txBody>
          <a:bodyPr vertOverflow="overflow" horzOverflow="overflow" vert="horz" wrap="square" numCol="1" spcCol="0" rtlCol="0" fromWordArt="0" anchor="t" anchorCtr="0" forceAA="0" compatLnSpc="1">
            <a:spAutoFit/>
          </a:bodyPr>
          <a:lstStyle/>
          <a:p>
            <a:pPr lvl="0" algn="ctr">
              <a:buClrTx/>
              <a:buSzTx/>
              <a:buFontTx/>
            </a:pPr>
            <a:r>
              <a:rPr lang="zh-CN" altLang="en-US" sz="3200">
                <a:sym typeface="+mn-ea"/>
              </a:rPr>
              <a:t>如何优化？</a:t>
            </a:r>
          </a:p>
        </p:txBody>
      </p:sp>
      <p:sp>
        <p:nvSpPr>
          <p:cNvPr id="6" name="文本框 5"/>
          <p:cNvSpPr txBox="1"/>
          <p:nvPr/>
        </p:nvSpPr>
        <p:spPr>
          <a:xfrm>
            <a:off x="1549400" y="5242560"/>
            <a:ext cx="5744845" cy="52197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nchor="t">
            <a:spAutoFit/>
          </a:bodyPr>
          <a:lstStyle/>
          <a:p>
            <a:r>
              <a:rPr lang="zh-CN" altLang="en-US"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剪裁掉</a:t>
            </a:r>
            <a:r>
              <a:rPr lang="zh-CN" altLang="en-US" sz="2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那些</a:t>
            </a:r>
            <a:r>
              <a:rPr lang="zh-CN" altLang="en-US"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不影响最后决策的分支</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wipe(down)">
                                      <p:cBhvr>
                                        <p:cTn id="11" dur="500"/>
                                        <p:tgtEl>
                                          <p:spTgt spid="100"/>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9" grpId="0"/>
      <p:bldP spid="27649" grpId="1"/>
      <p:bldP spid="4" grpId="0" animBg="1"/>
      <p:bldP spid="4" grpId="1" animBg="1"/>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28674" name="Picture 29"/>
          <p:cNvPicPr>
            <a:picLocks noChangeAspect="1"/>
          </p:cNvPicPr>
          <p:nvPr/>
        </p:nvPicPr>
        <p:blipFill>
          <a:blip r:embed="rId6"/>
          <a:stretch>
            <a:fillRect/>
          </a:stretch>
        </p:blipFill>
        <p:spPr>
          <a:xfrm>
            <a:off x="1290638" y="1905000"/>
            <a:ext cx="7010400" cy="4259263"/>
          </a:xfrm>
          <a:prstGeom prst="rect">
            <a:avLst/>
          </a:prstGeom>
          <a:noFill/>
          <a:ln w="12700">
            <a:noFill/>
          </a:ln>
        </p:spPr>
      </p:pic>
      <p:sp>
        <p:nvSpPr>
          <p:cNvPr id="28675" name="Rectangle 33"/>
          <p:cNvSpPr/>
          <p:nvPr>
            <p:custDataLst>
              <p:tags r:id="rId2"/>
            </p:custDataLst>
          </p:nvPr>
        </p:nvSpPr>
        <p:spPr>
          <a:xfrm>
            <a:off x="2967038" y="5589588"/>
            <a:ext cx="2362200" cy="381000"/>
          </a:xfrm>
          <a:prstGeom prst="rect">
            <a:avLst/>
          </a:prstGeom>
          <a:solidFill>
            <a:srgbClr val="FFFFFF"/>
          </a:solid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8676" name="Rectangle 37"/>
          <p:cNvSpPr/>
          <p:nvPr>
            <p:custDataLst>
              <p:tags r:id="rId3"/>
            </p:custDataLst>
          </p:nvPr>
        </p:nvSpPr>
        <p:spPr>
          <a:xfrm>
            <a:off x="4491038" y="3810000"/>
            <a:ext cx="2362200" cy="381000"/>
          </a:xfrm>
          <a:prstGeom prst="rect">
            <a:avLst/>
          </a:prstGeom>
          <a:solidFill>
            <a:srgbClr val="FFFFFF"/>
          </a:solid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8677" name="Rectangle 38"/>
          <p:cNvSpPr/>
          <p:nvPr>
            <p:custDataLst>
              <p:tags r:id="rId4"/>
            </p:custDataLst>
          </p:nvPr>
        </p:nvSpPr>
        <p:spPr>
          <a:xfrm>
            <a:off x="6853238" y="2471738"/>
            <a:ext cx="533400" cy="381000"/>
          </a:xfrm>
          <a:prstGeom prst="rect">
            <a:avLst/>
          </a:prstGeom>
          <a:solidFill>
            <a:srgbClr val="FFFFFF"/>
          </a:solid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857220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3"/>
          <p:cNvPicPr>
            <a:picLocks noChangeAspect="1"/>
          </p:cNvPicPr>
          <p:nvPr/>
        </p:nvPicPr>
        <p:blipFill>
          <a:blip r:embed="rId5"/>
          <a:stretch>
            <a:fillRect/>
          </a:stretch>
        </p:blipFill>
        <p:spPr>
          <a:xfrm>
            <a:off x="1143000" y="1812925"/>
            <a:ext cx="7010400" cy="4259263"/>
          </a:xfrm>
          <a:prstGeom prst="rect">
            <a:avLst/>
          </a:prstGeom>
          <a:noFill/>
          <a:ln w="12700">
            <a:noFill/>
          </a:ln>
        </p:spPr>
      </p:pic>
      <p:sp>
        <p:nvSpPr>
          <p:cNvPr id="29698"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sp>
        <p:nvSpPr>
          <p:cNvPr id="29699" name="Rectangle 4"/>
          <p:cNvSpPr/>
          <p:nvPr>
            <p:custDataLst>
              <p:tags r:id="rId2"/>
            </p:custDataLst>
          </p:nvPr>
        </p:nvSpPr>
        <p:spPr>
          <a:xfrm>
            <a:off x="3886200" y="5516563"/>
            <a:ext cx="1295400" cy="381000"/>
          </a:xfrm>
          <a:prstGeom prst="rect">
            <a:avLst/>
          </a:prstGeom>
          <a:solidFill>
            <a:srgbClr val="FFFFFF"/>
          </a:solid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grpSp>
        <p:nvGrpSpPr>
          <p:cNvPr id="29700" name="Group 9"/>
          <p:cNvGrpSpPr/>
          <p:nvPr/>
        </p:nvGrpSpPr>
        <p:grpSpPr>
          <a:xfrm>
            <a:off x="4356100" y="3703638"/>
            <a:ext cx="444500" cy="319087"/>
            <a:chOff x="3128" y="2583"/>
            <a:chExt cx="280" cy="201"/>
          </a:xfrm>
        </p:grpSpPr>
        <p:pic>
          <p:nvPicPr>
            <p:cNvPr id="29701" name="Picture 7"/>
            <p:cNvPicPr>
              <a:picLocks noChangeAspect="1"/>
            </p:cNvPicPr>
            <p:nvPr/>
          </p:nvPicPr>
          <p:blipFill>
            <a:blip r:embed="rId6"/>
            <a:stretch>
              <a:fillRect/>
            </a:stretch>
          </p:blipFill>
          <p:spPr>
            <a:xfrm>
              <a:off x="3128" y="2592"/>
              <a:ext cx="164" cy="192"/>
            </a:xfrm>
            <a:prstGeom prst="rect">
              <a:avLst/>
            </a:prstGeom>
            <a:noFill/>
            <a:ln w="12700">
              <a:noFill/>
            </a:ln>
          </p:spPr>
        </p:pic>
        <p:pic>
          <p:nvPicPr>
            <p:cNvPr id="29702" name="Picture 8"/>
            <p:cNvPicPr>
              <a:picLocks noChangeAspect="1"/>
            </p:cNvPicPr>
            <p:nvPr/>
          </p:nvPicPr>
          <p:blipFill>
            <a:blip r:embed="rId7"/>
            <a:stretch>
              <a:fillRect/>
            </a:stretch>
          </p:blipFill>
          <p:spPr>
            <a:xfrm>
              <a:off x="3260" y="2583"/>
              <a:ext cx="148" cy="201"/>
            </a:xfrm>
            <a:prstGeom prst="rect">
              <a:avLst/>
            </a:prstGeom>
            <a:noFill/>
            <a:ln w="12700">
              <a:noFill/>
            </a:ln>
          </p:spPr>
        </p:pic>
      </p:grpSp>
      <p:sp>
        <p:nvSpPr>
          <p:cNvPr id="29703" name="Rectangle 38"/>
          <p:cNvSpPr/>
          <p:nvPr>
            <p:custDataLst>
              <p:tags r:id="rId3"/>
            </p:custDataLst>
          </p:nvPr>
        </p:nvSpPr>
        <p:spPr>
          <a:xfrm>
            <a:off x="6732588" y="2400300"/>
            <a:ext cx="533400" cy="381000"/>
          </a:xfrm>
          <a:prstGeom prst="rect">
            <a:avLst/>
          </a:prstGeom>
          <a:solidFill>
            <a:srgbClr val="FFFFFF"/>
          </a:solid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366987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30722" name="Picture 3"/>
          <p:cNvPicPr>
            <a:picLocks noChangeAspect="1"/>
          </p:cNvPicPr>
          <p:nvPr/>
        </p:nvPicPr>
        <p:blipFill>
          <a:blip r:embed="rId5"/>
          <a:stretch>
            <a:fillRect/>
          </a:stretch>
        </p:blipFill>
        <p:spPr>
          <a:xfrm>
            <a:off x="1071563" y="1828800"/>
            <a:ext cx="7010400" cy="4259263"/>
          </a:xfrm>
          <a:prstGeom prst="rect">
            <a:avLst/>
          </a:prstGeom>
          <a:noFill/>
          <a:ln w="12700">
            <a:noFill/>
          </a:ln>
        </p:spPr>
      </p:pic>
      <p:sp>
        <p:nvSpPr>
          <p:cNvPr id="30723" name="Rectangle 6"/>
          <p:cNvSpPr/>
          <p:nvPr>
            <p:custDataLst>
              <p:tags r:id="rId2"/>
            </p:custDataLst>
          </p:nvPr>
        </p:nvSpPr>
        <p:spPr>
          <a:xfrm>
            <a:off x="4729163" y="5516563"/>
            <a:ext cx="457200" cy="381000"/>
          </a:xfrm>
          <a:prstGeom prst="rect">
            <a:avLst/>
          </a:prstGeom>
          <a:solidFill>
            <a:srgbClr val="FFFFFF"/>
          </a:solid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grpSp>
        <p:nvGrpSpPr>
          <p:cNvPr id="30724" name="Group 7"/>
          <p:cNvGrpSpPr/>
          <p:nvPr/>
        </p:nvGrpSpPr>
        <p:grpSpPr>
          <a:xfrm>
            <a:off x="4284663" y="3719513"/>
            <a:ext cx="444500" cy="319087"/>
            <a:chOff x="3128" y="2583"/>
            <a:chExt cx="280" cy="201"/>
          </a:xfrm>
        </p:grpSpPr>
        <p:pic>
          <p:nvPicPr>
            <p:cNvPr id="30725" name="Picture 8"/>
            <p:cNvPicPr>
              <a:picLocks noChangeAspect="1"/>
            </p:cNvPicPr>
            <p:nvPr/>
          </p:nvPicPr>
          <p:blipFill>
            <a:blip r:embed="rId6"/>
            <a:stretch>
              <a:fillRect/>
            </a:stretch>
          </p:blipFill>
          <p:spPr>
            <a:xfrm>
              <a:off x="3128" y="2592"/>
              <a:ext cx="164" cy="192"/>
            </a:xfrm>
            <a:prstGeom prst="rect">
              <a:avLst/>
            </a:prstGeom>
            <a:noFill/>
            <a:ln w="12700">
              <a:noFill/>
            </a:ln>
          </p:spPr>
        </p:pic>
        <p:pic>
          <p:nvPicPr>
            <p:cNvPr id="30726" name="Picture 9"/>
            <p:cNvPicPr>
              <a:picLocks noChangeAspect="1"/>
            </p:cNvPicPr>
            <p:nvPr/>
          </p:nvPicPr>
          <p:blipFill>
            <a:blip r:embed="rId7"/>
            <a:stretch>
              <a:fillRect/>
            </a:stretch>
          </p:blipFill>
          <p:spPr>
            <a:xfrm>
              <a:off x="3260" y="2583"/>
              <a:ext cx="148" cy="201"/>
            </a:xfrm>
            <a:prstGeom prst="rect">
              <a:avLst/>
            </a:prstGeom>
            <a:noFill/>
            <a:ln w="12700">
              <a:noFill/>
            </a:ln>
          </p:spPr>
        </p:pic>
      </p:grpSp>
      <p:sp>
        <p:nvSpPr>
          <p:cNvPr id="30727" name="Rectangle 38"/>
          <p:cNvSpPr/>
          <p:nvPr>
            <p:custDataLst>
              <p:tags r:id="rId3"/>
            </p:custDataLst>
          </p:nvPr>
        </p:nvSpPr>
        <p:spPr>
          <a:xfrm>
            <a:off x="6659563" y="2420938"/>
            <a:ext cx="533400" cy="381000"/>
          </a:xfrm>
          <a:prstGeom prst="rect">
            <a:avLst/>
          </a:prstGeom>
          <a:solidFill>
            <a:srgbClr val="FFFFFF"/>
          </a:solidFill>
          <a:ln w="12700">
            <a:noFill/>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727740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31746" name="Picture 3"/>
          <p:cNvPicPr>
            <a:picLocks noChangeAspect="1"/>
          </p:cNvPicPr>
          <p:nvPr/>
        </p:nvPicPr>
        <p:blipFill>
          <a:blip r:embed="rId3"/>
          <a:stretch>
            <a:fillRect/>
          </a:stretch>
        </p:blipFill>
        <p:spPr>
          <a:xfrm>
            <a:off x="1071563" y="1670050"/>
            <a:ext cx="7010400" cy="4259263"/>
          </a:xfrm>
          <a:prstGeom prst="rect">
            <a:avLst/>
          </a:prstGeom>
          <a:noFill/>
          <a:ln w="12700">
            <a:noFill/>
          </a:ln>
        </p:spPr>
      </p:pic>
    </p:spTree>
    <p:custDataLst>
      <p:tags r:id="rId1"/>
    </p:custDataLst>
    <p:extLst>
      <p:ext uri="{BB962C8B-B14F-4D97-AF65-F5344CB8AC3E}">
        <p14:creationId xmlns:p14="http://schemas.microsoft.com/office/powerpoint/2010/main" val="11733844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32770" name="Picture 3"/>
          <p:cNvPicPr>
            <a:picLocks noChangeAspect="1"/>
          </p:cNvPicPr>
          <p:nvPr/>
        </p:nvPicPr>
        <p:blipFill>
          <a:blip r:embed="rId3"/>
          <a:stretch>
            <a:fillRect/>
          </a:stretch>
        </p:blipFill>
        <p:spPr>
          <a:xfrm>
            <a:off x="1143000" y="1704975"/>
            <a:ext cx="6819900" cy="4367213"/>
          </a:xfrm>
          <a:prstGeom prst="rect">
            <a:avLst/>
          </a:prstGeom>
          <a:noFill/>
          <a:ln w="12700">
            <a:noFill/>
          </a:ln>
        </p:spPr>
      </p:pic>
      <p:sp>
        <p:nvSpPr>
          <p:cNvPr id="32771" name="Text Box 8"/>
          <p:cNvSpPr txBox="1"/>
          <p:nvPr/>
        </p:nvSpPr>
        <p:spPr>
          <a:xfrm>
            <a:off x="6151563" y="2786063"/>
            <a:ext cx="2085975" cy="645160"/>
          </a:xfrm>
          <a:prstGeom prst="rect">
            <a:avLst/>
          </a:prstGeom>
          <a:noFill/>
          <a:ln w="12700">
            <a:noFill/>
          </a:ln>
        </p:spPr>
        <p:txBody>
          <a:bodyPr wrap="none" anchor="t" anchorCtr="0">
            <a:spAutoFit/>
          </a:bodyPr>
          <a:lstStyle/>
          <a:p>
            <a:pPr>
              <a:buClrTx/>
            </a:pPr>
            <a:r>
              <a:rPr lang="zh-CN" altLang="en-US" sz="1800" i="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1800" i="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MAX</a:t>
            </a:r>
            <a:r>
              <a:rPr lang="zh-CN" altLang="en-US" sz="1800" i="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来说这个</a:t>
            </a:r>
            <a:endParaRPr lang="en-US" altLang="zh-CN" sz="1800" i="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buClrTx/>
            </a:pPr>
            <a:r>
              <a:rPr lang="zh-CN" altLang="en-US" sz="1800" i="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节点不好</a:t>
            </a:r>
          </a:p>
        </p:txBody>
      </p:sp>
    </p:spTree>
    <p:custDataLst>
      <p:tags r:id="rId1"/>
    </p:custDataLst>
    <p:extLst>
      <p:ext uri="{BB962C8B-B14F-4D97-AF65-F5344CB8AC3E}">
        <p14:creationId xmlns:p14="http://schemas.microsoft.com/office/powerpoint/2010/main" val="10452271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33794" name="Picture 5"/>
          <p:cNvPicPr>
            <a:picLocks noChangeAspect="1"/>
          </p:cNvPicPr>
          <p:nvPr/>
        </p:nvPicPr>
        <p:blipFill>
          <a:blip r:embed="rId4"/>
          <a:stretch>
            <a:fillRect/>
          </a:stretch>
        </p:blipFill>
        <p:spPr>
          <a:xfrm>
            <a:off x="857250" y="2362200"/>
            <a:ext cx="7391400" cy="3246438"/>
          </a:xfrm>
          <a:prstGeom prst="rect">
            <a:avLst/>
          </a:prstGeom>
          <a:noFill/>
          <a:ln w="12700">
            <a:noFill/>
          </a:ln>
        </p:spPr>
      </p:pic>
      <p:pic>
        <p:nvPicPr>
          <p:cNvPr id="33795" name="Picture 11"/>
          <p:cNvPicPr>
            <a:picLocks noChangeAspect="1"/>
          </p:cNvPicPr>
          <p:nvPr/>
        </p:nvPicPr>
        <p:blipFill>
          <a:blip r:embed="rId5"/>
          <a:stretch>
            <a:fillRect/>
          </a:stretch>
        </p:blipFill>
        <p:spPr>
          <a:xfrm>
            <a:off x="5657850" y="2509838"/>
            <a:ext cx="685800" cy="385762"/>
          </a:xfrm>
          <a:prstGeom prst="rect">
            <a:avLst/>
          </a:prstGeom>
          <a:noFill/>
          <a:ln w="12700">
            <a:noFill/>
          </a:ln>
        </p:spPr>
      </p:pic>
      <p:sp>
        <p:nvSpPr>
          <p:cNvPr id="33796" name="Text Box 12"/>
          <p:cNvSpPr txBox="1"/>
          <p:nvPr>
            <p:custDataLst>
              <p:tags r:id="rId2"/>
            </p:custDataLst>
          </p:nvPr>
        </p:nvSpPr>
        <p:spPr>
          <a:xfrm>
            <a:off x="5489575" y="2438400"/>
            <a:ext cx="320675" cy="460375"/>
          </a:xfrm>
          <a:prstGeom prst="rect">
            <a:avLst/>
          </a:prstGeom>
          <a:noFill/>
          <a:ln w="12700">
            <a:noFill/>
          </a:ln>
        </p:spPr>
        <p:txBody>
          <a:bodyPr anchor="t" anchorCtr="0">
            <a:spAutoFit/>
          </a:bodyPr>
          <a:lstStyle/>
          <a:p>
            <a:pPr>
              <a:buClrTx/>
            </a:pPr>
            <a:r>
              <a:rPr lang="en-US" altLang="zh-CN" sz="2400" dirty="0">
                <a:solidFill>
                  <a:schemeClr val="dk1"/>
                </a:solidFill>
                <a:latin typeface="微软雅黑" panose="020B0503020204020204" pitchFamily="34" charset="-122"/>
                <a:ea typeface="微软雅黑" panose="020B0503020204020204" pitchFamily="34" charset="-122"/>
              </a:rPr>
              <a:t>,</a:t>
            </a:r>
          </a:p>
        </p:txBody>
      </p:sp>
    </p:spTree>
    <p:custDataLst>
      <p:tags r:id="rId1"/>
    </p:custDataLst>
    <p:extLst>
      <p:ext uri="{BB962C8B-B14F-4D97-AF65-F5344CB8AC3E}">
        <p14:creationId xmlns:p14="http://schemas.microsoft.com/office/powerpoint/2010/main" val="1721339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34818" name="Picture 5"/>
          <p:cNvPicPr>
            <a:picLocks noChangeAspect="1"/>
          </p:cNvPicPr>
          <p:nvPr/>
        </p:nvPicPr>
        <p:blipFill>
          <a:blip r:embed="rId4"/>
          <a:stretch>
            <a:fillRect/>
          </a:stretch>
        </p:blipFill>
        <p:spPr>
          <a:xfrm>
            <a:off x="747713" y="2214563"/>
            <a:ext cx="7539037" cy="3171825"/>
          </a:xfrm>
          <a:prstGeom prst="rect">
            <a:avLst/>
          </a:prstGeom>
          <a:noFill/>
          <a:ln w="12700">
            <a:noFill/>
          </a:ln>
        </p:spPr>
      </p:pic>
      <p:pic>
        <p:nvPicPr>
          <p:cNvPr id="34819" name="Picture 11"/>
          <p:cNvPicPr>
            <a:picLocks noChangeAspect="1"/>
          </p:cNvPicPr>
          <p:nvPr/>
        </p:nvPicPr>
        <p:blipFill>
          <a:blip r:embed="rId5"/>
          <a:stretch>
            <a:fillRect/>
          </a:stretch>
        </p:blipFill>
        <p:spPr>
          <a:xfrm>
            <a:off x="5635625" y="2228850"/>
            <a:ext cx="522288" cy="476250"/>
          </a:xfrm>
          <a:prstGeom prst="rect">
            <a:avLst/>
          </a:prstGeom>
          <a:noFill/>
          <a:ln w="12700">
            <a:noFill/>
          </a:ln>
        </p:spPr>
      </p:pic>
      <p:sp>
        <p:nvSpPr>
          <p:cNvPr id="34820" name="Rectangle 12"/>
          <p:cNvSpPr/>
          <p:nvPr>
            <p:custDataLst>
              <p:tags r:id="rId2"/>
            </p:custDataLst>
          </p:nvPr>
        </p:nvSpPr>
        <p:spPr>
          <a:xfrm>
            <a:off x="5440363" y="2247900"/>
            <a:ext cx="256540" cy="460375"/>
          </a:xfrm>
          <a:prstGeom prst="rect">
            <a:avLst/>
          </a:prstGeom>
          <a:noFill/>
          <a:ln w="12700">
            <a:noFill/>
          </a:ln>
        </p:spPr>
        <p:txBody>
          <a:bodyPr wrap="none" anchor="t" anchorCtr="0">
            <a:spAutoFit/>
          </a:bodyPr>
          <a:lstStyle/>
          <a:p>
            <a:pPr>
              <a:buClrTx/>
            </a:pPr>
            <a:r>
              <a:rPr lang="en-US" altLang="zh-CN" sz="2400" dirty="0">
                <a:solidFill>
                  <a:schemeClr val="dk1"/>
                </a:solidFill>
                <a:latin typeface="微软雅黑" panose="020B0503020204020204" pitchFamily="34" charset="-122"/>
                <a:ea typeface="微软雅黑" panose="020B0503020204020204" pitchFamily="34" charset="-122"/>
              </a:rPr>
              <a:t>,</a:t>
            </a:r>
          </a:p>
        </p:txBody>
      </p:sp>
    </p:spTree>
    <p:custDataLst>
      <p:tags r:id="rId1"/>
    </p:custDataLst>
    <p:extLst>
      <p:ext uri="{BB962C8B-B14F-4D97-AF65-F5344CB8AC3E}">
        <p14:creationId xmlns:p14="http://schemas.microsoft.com/office/powerpoint/2010/main" val="541435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35842" name="Picture 4"/>
          <p:cNvPicPr>
            <a:picLocks noChangeAspect="1"/>
          </p:cNvPicPr>
          <p:nvPr/>
        </p:nvPicPr>
        <p:blipFill>
          <a:blip r:embed="rId3"/>
          <a:stretch>
            <a:fillRect/>
          </a:stretch>
        </p:blipFill>
        <p:spPr>
          <a:xfrm>
            <a:off x="890588" y="2286000"/>
            <a:ext cx="7467600" cy="2987675"/>
          </a:xfrm>
          <a:prstGeom prst="rect">
            <a:avLst/>
          </a:prstGeom>
          <a:noFill/>
          <a:ln w="12700">
            <a:noFill/>
          </a:ln>
        </p:spPr>
      </p:pic>
      <p:pic>
        <p:nvPicPr>
          <p:cNvPr id="35843" name="Picture 11"/>
          <p:cNvPicPr>
            <a:picLocks noChangeAspect="1"/>
          </p:cNvPicPr>
          <p:nvPr/>
        </p:nvPicPr>
        <p:blipFill>
          <a:blip r:embed="rId4"/>
          <a:stretch>
            <a:fillRect/>
          </a:stretch>
        </p:blipFill>
        <p:spPr>
          <a:xfrm>
            <a:off x="4700588" y="2338388"/>
            <a:ext cx="685800" cy="315912"/>
          </a:xfrm>
          <a:prstGeom prst="rect">
            <a:avLst/>
          </a:prstGeom>
          <a:noFill/>
          <a:ln w="12700">
            <a:noFill/>
          </a:ln>
        </p:spPr>
      </p:pic>
    </p:spTree>
    <p:custDataLst>
      <p:tags r:id="rId1"/>
    </p:custDataLst>
    <p:extLst>
      <p:ext uri="{BB962C8B-B14F-4D97-AF65-F5344CB8AC3E}">
        <p14:creationId xmlns:p14="http://schemas.microsoft.com/office/powerpoint/2010/main" val="1800374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pic>
        <p:nvPicPr>
          <p:cNvPr id="36866" name="Picture 3"/>
          <p:cNvPicPr>
            <a:picLocks noChangeAspect="1"/>
          </p:cNvPicPr>
          <p:nvPr/>
        </p:nvPicPr>
        <p:blipFill>
          <a:blip r:embed="rId4"/>
          <a:stretch>
            <a:fillRect/>
          </a:stretch>
        </p:blipFill>
        <p:spPr>
          <a:xfrm>
            <a:off x="1000125" y="1708150"/>
            <a:ext cx="7467600" cy="2987675"/>
          </a:xfrm>
          <a:prstGeom prst="rect">
            <a:avLst/>
          </a:prstGeom>
          <a:noFill/>
          <a:ln w="12700">
            <a:noFill/>
          </a:ln>
        </p:spPr>
      </p:pic>
      <p:pic>
        <p:nvPicPr>
          <p:cNvPr id="36867" name="Picture 8"/>
          <p:cNvPicPr>
            <a:picLocks noChangeAspect="1"/>
          </p:cNvPicPr>
          <p:nvPr/>
        </p:nvPicPr>
        <p:blipFill>
          <a:blip r:embed="rId5"/>
          <a:stretch>
            <a:fillRect/>
          </a:stretch>
        </p:blipFill>
        <p:spPr>
          <a:xfrm>
            <a:off x="4810125" y="1687513"/>
            <a:ext cx="685800" cy="315912"/>
          </a:xfrm>
          <a:prstGeom prst="rect">
            <a:avLst/>
          </a:prstGeom>
          <a:noFill/>
          <a:ln w="12700">
            <a:noFill/>
          </a:ln>
        </p:spPr>
      </p:pic>
      <p:pic>
        <p:nvPicPr>
          <p:cNvPr id="36868" name="Picture 9"/>
          <p:cNvPicPr>
            <a:picLocks noChangeAspect="1"/>
          </p:cNvPicPr>
          <p:nvPr/>
        </p:nvPicPr>
        <p:blipFill>
          <a:blip r:embed="rId6"/>
          <a:stretch>
            <a:fillRect/>
          </a:stretch>
        </p:blipFill>
        <p:spPr>
          <a:xfrm>
            <a:off x="4891088" y="1787525"/>
            <a:ext cx="257175" cy="244475"/>
          </a:xfrm>
          <a:prstGeom prst="rect">
            <a:avLst/>
          </a:prstGeom>
          <a:noFill/>
          <a:ln w="12700">
            <a:noFill/>
          </a:ln>
        </p:spPr>
      </p:pic>
      <p:sp>
        <p:nvSpPr>
          <p:cNvPr id="36869" name="Oval 10"/>
          <p:cNvSpPr/>
          <p:nvPr>
            <p:custDataLst>
              <p:tags r:id="rId2"/>
            </p:custDataLst>
          </p:nvPr>
        </p:nvSpPr>
        <p:spPr>
          <a:xfrm>
            <a:off x="4810125" y="1727200"/>
            <a:ext cx="381000" cy="381000"/>
          </a:xfrm>
          <a:prstGeom prst="ellipse">
            <a:avLst/>
          </a:prstGeom>
          <a:noFill/>
          <a:ln w="31750" cap="flat" cmpd="sng">
            <a:solidFill>
              <a:srgbClr val="FF0000"/>
            </a:solidFill>
            <a:prstDash val="solid"/>
            <a:round/>
            <a:headEnd type="none" w="sm" len="sm"/>
            <a:tailEnd type="none" w="sm" len="sm"/>
          </a:ln>
        </p:spPr>
        <p:txBody>
          <a:bodyPr wrap="none" anchor="ctr" anchorCtr="0"/>
          <a:lstStyle/>
          <a:p>
            <a:pPr>
              <a:buClrTx/>
            </a:pPr>
            <a:endParaRPr lang="zh-CN" altLang="en-US" sz="1800" dirty="0">
              <a:solidFill>
                <a:schemeClr val="dk1"/>
              </a:solidFill>
              <a:latin typeface="微软雅黑" panose="020B0503020204020204" pitchFamily="34" charset="-122"/>
              <a:ea typeface="微软雅黑" panose="020B0503020204020204" pitchFamily="34" charset="-122"/>
            </a:endParaRPr>
          </a:p>
        </p:txBody>
      </p:sp>
      <p:pic>
        <p:nvPicPr>
          <p:cNvPr id="34823" name="Picture 7"/>
          <p:cNvPicPr>
            <a:picLocks noChangeAspect="1"/>
          </p:cNvPicPr>
          <p:nvPr/>
        </p:nvPicPr>
        <p:blipFill>
          <a:blip r:embed="rId7"/>
          <a:stretch>
            <a:fillRect/>
          </a:stretch>
        </p:blipFill>
        <p:spPr>
          <a:xfrm>
            <a:off x="1552575" y="4886325"/>
            <a:ext cx="6038850" cy="1295400"/>
          </a:xfrm>
          <a:prstGeom prst="rect">
            <a:avLst/>
          </a:prstGeom>
          <a:noFill/>
          <a:ln w="9525">
            <a:noFill/>
          </a:ln>
        </p:spPr>
      </p:pic>
    </p:spTree>
    <p:custDataLst>
      <p:tags r:id="rId1"/>
    </p:custDataLst>
    <p:extLst>
      <p:ext uri="{BB962C8B-B14F-4D97-AF65-F5344CB8AC3E}">
        <p14:creationId xmlns:p14="http://schemas.microsoft.com/office/powerpoint/2010/main" val="156228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4823"/>
                                        </p:tgtEl>
                                        <p:attrNameLst>
                                          <p:attrName>style.visibility</p:attrName>
                                        </p:attrNameLst>
                                      </p:cBhvr>
                                      <p:to>
                                        <p:strVal val="visible"/>
                                      </p:to>
                                    </p:set>
                                    <p:animEffect transition="in" filter="box(in)">
                                      <p:cBhvr>
                                        <p:cTn id="7" dur="500"/>
                                        <p:tgtEl>
                                          <p:spTgt spid="34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708150" y="1167765"/>
            <a:ext cx="5772785" cy="645160"/>
          </a:xfrm>
          <a:prstGeom prst="rect">
            <a:avLst/>
          </a:prstGeom>
          <a:noFill/>
        </p:spPr>
        <p:txBody>
          <a:bodyPr wrap="square" rtlCol="0" anchor="t">
            <a:spAutoFit/>
          </a:bodyPr>
          <a:lstStyle/>
          <a:p>
            <a:pPr algn="ctr"/>
            <a:r>
              <a:rPr lang="zh-CN" altLang="en-US" b="1">
                <a:latin typeface="微软雅黑" panose="020B0503020204020204" pitchFamily="34" charset="-122"/>
                <a:ea typeface="微软雅黑" panose="020B0503020204020204" pitchFamily="34" charset="-122"/>
                <a:cs typeface="微软雅黑" panose="020B0503020204020204" pitchFamily="34" charset="-122"/>
              </a:rPr>
              <a:t>AlphaBeta剪枝方法是对Minimax方法的优化</a:t>
            </a:r>
          </a:p>
          <a:p>
            <a:pPr algn="ctr"/>
            <a:r>
              <a:rPr lang="zh-CN" altLang="en-US" b="1">
                <a:latin typeface="微软雅黑" panose="020B0503020204020204" pitchFamily="34" charset="-122"/>
                <a:ea typeface="微软雅黑" panose="020B0503020204020204" pitchFamily="34" charset="-122"/>
                <a:cs typeface="微软雅黑" panose="020B0503020204020204" pitchFamily="34" charset="-122"/>
              </a:rPr>
              <a:t>它们产生的结果是完全相同的，只不过运行效率不一样</a:t>
            </a:r>
          </a:p>
        </p:txBody>
      </p:sp>
      <p:sp>
        <p:nvSpPr>
          <p:cNvPr id="4" name="文本框 3"/>
          <p:cNvSpPr txBox="1"/>
          <p:nvPr/>
        </p:nvSpPr>
        <p:spPr>
          <a:xfrm>
            <a:off x="520065" y="268605"/>
            <a:ext cx="3506470" cy="768350"/>
          </a:xfrm>
          <a:prstGeom prst="rect">
            <a:avLst/>
          </a:prstGeom>
          <a:noFill/>
        </p:spPr>
        <p:txBody>
          <a:bodyPr wrap="none" rtlCol="0" anchor="t">
            <a:spAutoFit/>
          </a:bodyPr>
          <a:lstStyle/>
          <a:p>
            <a:pPr algn="l" eaLnBrk="0" hangingPunct="0">
              <a:buClrTx/>
              <a:buSzTx/>
              <a:buFontTx/>
            </a:pPr>
            <a:r>
              <a:rPr lang="en-US" altLang="zh-CN" sz="4400" b="1" spc="20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5.3 –剪枝</a:t>
            </a:r>
            <a:endParaRPr lang="zh-CN" altLang="en-US"/>
          </a:p>
        </p:txBody>
      </p:sp>
      <p:sp>
        <p:nvSpPr>
          <p:cNvPr id="6" name="文本框 5"/>
          <p:cNvSpPr txBox="1"/>
          <p:nvPr/>
        </p:nvSpPr>
        <p:spPr>
          <a:xfrm>
            <a:off x="807085" y="3477895"/>
            <a:ext cx="7529830" cy="2654935"/>
          </a:xfrm>
          <a:prstGeom prst="rect">
            <a:avLst/>
          </a:prstGeom>
          <a:noFill/>
        </p:spPr>
        <p:txBody>
          <a:bodyPr wrap="square" rtlCol="0" anchor="t">
            <a:spAutoFit/>
          </a:bodyPr>
          <a:lstStyle/>
          <a:p>
            <a:r>
              <a:rPr lang="en-US" altLang="zh-CN" sz="1800" b="1" spc="150" dirty="0">
                <a:solidFill>
                  <a:srgbClr val="C00000"/>
                </a:solidFill>
                <a:uFillTx/>
                <a:ea typeface="微软雅黑" panose="020B0503020204020204" pitchFamily="34" charset="-122"/>
                <a:sym typeface="+mn-ea"/>
              </a:rPr>
              <a:t>2</a:t>
            </a:r>
            <a:r>
              <a:rPr lang="zh-CN" altLang="en-US" sz="1800" b="1" spc="150" dirty="0">
                <a:solidFill>
                  <a:srgbClr val="C00000"/>
                </a:solidFill>
                <a:uFillTx/>
                <a:ea typeface="微软雅黑" panose="020B0503020204020204" pitchFamily="34" charset="-122"/>
                <a:sym typeface="+mn-ea"/>
              </a:rPr>
              <a:t>个假设：</a:t>
            </a:r>
            <a:endParaRPr sz="1800" b="1">
              <a:solidFill>
                <a:srgbClr val="C00000"/>
              </a:solidFill>
              <a:sym typeface="+mn-ea"/>
            </a:endParaRPr>
          </a:p>
          <a:p>
            <a:pPr marL="514350" lvl="1" indent="-171450" algn="l" defTabSz="914400" fontAlgn="auto">
              <a:lnSpc>
                <a:spcPct val="130000"/>
              </a:lnSpc>
              <a:spcBef>
                <a:spcPts val="0"/>
              </a:spcBef>
              <a:spcAft>
                <a:spcPts val="1000"/>
              </a:spcAft>
              <a:buFont typeface="Arial" panose="020B0604020202020204" pitchFamily="34" charset="0"/>
              <a:buChar char="•"/>
              <a:tabLst>
                <a:tab pos="1609725" algn="l"/>
              </a:tabLst>
            </a:pPr>
            <a:r>
              <a:rPr lang="zh-CN" altLang="en-US" sz="1800" spc="150" dirty="0">
                <a:solidFill>
                  <a:schemeClr val="tx1">
                    <a:lumMod val="75000"/>
                    <a:lumOff val="25000"/>
                  </a:schemeClr>
                </a:solidFill>
                <a:uFillTx/>
                <a:ea typeface="微软雅黑" panose="020B0503020204020204" pitchFamily="34" charset="-122"/>
                <a:sym typeface="+mn-ea"/>
              </a:rPr>
              <a:t>整个博弈过程属于</a:t>
            </a:r>
            <a:r>
              <a:rPr lang="zh-CN" altLang="en-US" sz="1800" b="1" spc="150" dirty="0">
                <a:solidFill>
                  <a:srgbClr val="C00000"/>
                </a:solidFill>
                <a:uFillTx/>
                <a:ea typeface="微软雅黑" panose="020B0503020204020204" pitchFamily="34" charset="-122"/>
                <a:sym typeface="+mn-ea"/>
              </a:rPr>
              <a:t>零和博弈</a:t>
            </a:r>
            <a:r>
              <a:rPr lang="zh-CN" altLang="en-US" sz="1800" spc="150" dirty="0">
                <a:solidFill>
                  <a:schemeClr val="tx1">
                    <a:lumMod val="75000"/>
                    <a:lumOff val="25000"/>
                  </a:schemeClr>
                </a:solidFill>
                <a:uFillTx/>
                <a:ea typeface="微软雅黑" panose="020B0503020204020204" pitchFamily="34" charset="-122"/>
                <a:sym typeface="+mn-ea"/>
              </a:rPr>
              <a:t>，即一方的收益必然意味着另一方的损失，博弈双方的收益和损失相加总和永远是零，双方不存在任何合作的可能。粗俗理解就是你赚了我就亏了。</a:t>
            </a:r>
            <a:endParaRPr lang="zh-CN" altLang="en-US" sz="1800"/>
          </a:p>
          <a:p>
            <a:pPr marL="514350" lvl="1" indent="-171450" algn="l" defTabSz="914400" fontAlgn="auto">
              <a:lnSpc>
                <a:spcPct val="130000"/>
              </a:lnSpc>
              <a:spcBef>
                <a:spcPts val="0"/>
              </a:spcBef>
              <a:spcAft>
                <a:spcPts val="1000"/>
              </a:spcAft>
              <a:buFont typeface="Arial" panose="020B0604020202020204" pitchFamily="34" charset="0"/>
              <a:buChar char="•"/>
              <a:tabLst>
                <a:tab pos="1609725" algn="l"/>
              </a:tabLst>
            </a:pPr>
            <a:r>
              <a:rPr lang="zh-CN" altLang="en-US" sz="1800" spc="150" dirty="0">
                <a:solidFill>
                  <a:schemeClr val="tx1">
                    <a:lumMod val="75000"/>
                    <a:lumOff val="25000"/>
                  </a:schemeClr>
                </a:solidFill>
                <a:uFillTx/>
                <a:ea typeface="微软雅黑" panose="020B0503020204020204" pitchFamily="34" charset="-122"/>
                <a:sym typeface="+mn-ea"/>
              </a:rPr>
              <a:t>博弈双方</a:t>
            </a:r>
            <a:r>
              <a:rPr lang="zh-CN" altLang="en-US" sz="1800" b="1" spc="150" dirty="0">
                <a:solidFill>
                  <a:srgbClr val="C00000"/>
                </a:solidFill>
                <a:uFillTx/>
                <a:ea typeface="微软雅黑" panose="020B0503020204020204" pitchFamily="34" charset="-122"/>
                <a:sym typeface="+mn-ea"/>
              </a:rPr>
              <a:t>足够聪明</a:t>
            </a:r>
            <a:r>
              <a:rPr lang="zh-CN" altLang="en-US" sz="1800" spc="150" dirty="0">
                <a:solidFill>
                  <a:schemeClr val="tx1">
                    <a:lumMod val="75000"/>
                    <a:lumOff val="25000"/>
                  </a:schemeClr>
                </a:solidFill>
                <a:uFillTx/>
                <a:ea typeface="微软雅黑" panose="020B0503020204020204" pitchFamily="34" charset="-122"/>
                <a:sym typeface="+mn-ea"/>
              </a:rPr>
              <a:t>，即每一方在决策时总会选择使自己利益最大化的决策。粗俗理解就是，假设是在下棋，那么大家下棋时大家走的都是固定的且是对自己最好的，下多少局也是这样。</a:t>
            </a:r>
            <a:endParaRPr lang="zh-CN" altLang="en-US"/>
          </a:p>
        </p:txBody>
      </p:sp>
      <p:grpSp>
        <p:nvGrpSpPr>
          <p:cNvPr id="3" name="组合 2"/>
          <p:cNvGrpSpPr/>
          <p:nvPr/>
        </p:nvGrpSpPr>
        <p:grpSpPr>
          <a:xfrm>
            <a:off x="885825" y="1943735"/>
            <a:ext cx="7416800" cy="1381760"/>
            <a:chOff x="1395" y="3061"/>
            <a:chExt cx="11680" cy="2176"/>
          </a:xfrm>
        </p:grpSpPr>
        <p:sp>
          <p:nvSpPr>
            <p:cNvPr id="2" name="文本框 1"/>
            <p:cNvSpPr txBox="1"/>
            <p:nvPr/>
          </p:nvSpPr>
          <p:spPr>
            <a:xfrm>
              <a:off x="1395" y="3641"/>
              <a:ext cx="11680" cy="580"/>
            </a:xfrm>
            <a:prstGeom prst="rect">
              <a:avLst/>
            </a:prstGeom>
            <a:solidFill>
              <a:srgbClr val="C00000"/>
            </a:solidFill>
          </p:spPr>
          <p:txBody>
            <a:bodyPr wrap="square" rtlCol="0" anchor="t">
              <a:spAutoFit/>
            </a:bodyPr>
            <a:lstStyle/>
            <a:p>
              <a:r>
                <a:rPr lang="zh-CN" altLang="en-US" b="1">
                  <a:solidFill>
                    <a:schemeClr val="bg1"/>
                  </a:solidFill>
                  <a:latin typeface="微软雅黑" panose="020B0503020204020204" pitchFamily="34" charset="-122"/>
                  <a:ea typeface="微软雅黑" panose="020B0503020204020204" pitchFamily="34" charset="-122"/>
                </a:rPr>
                <a:t>根据上一层已经得到的当前最优结果，决定目前的搜索是否要继续下去。</a:t>
              </a:r>
            </a:p>
          </p:txBody>
        </p:sp>
        <p:sp>
          <p:nvSpPr>
            <p:cNvPr id="8" name="文本框 7"/>
            <p:cNvSpPr txBox="1"/>
            <p:nvPr/>
          </p:nvSpPr>
          <p:spPr>
            <a:xfrm>
              <a:off x="1395" y="3061"/>
              <a:ext cx="1728" cy="580"/>
            </a:xfrm>
            <a:prstGeom prst="rect">
              <a:avLst/>
            </a:prstGeom>
            <a:noFill/>
            <a:ln>
              <a:solidFill>
                <a:srgbClr val="C00000"/>
              </a:solidFill>
            </a:ln>
          </p:spPr>
          <p:txBody>
            <a:bodyPr wrap="none" rtlCol="0" anchor="t">
              <a:spAutoFit/>
            </a:bodyPr>
            <a:lstStyle/>
            <a:p>
              <a:pPr algn="ctr"/>
              <a:r>
                <a:rPr lang="zh-CN" altLang="en-US">
                  <a:solidFill>
                    <a:srgbClr val="C00000"/>
                  </a:solidFill>
                  <a:latin typeface="微软雅黑" panose="020B0503020204020204" pitchFamily="34" charset="-122"/>
                  <a:ea typeface="微软雅黑" panose="020B0503020204020204" pitchFamily="34" charset="-122"/>
                  <a:sym typeface="+mn-ea"/>
                </a:rPr>
                <a:t>基本思想</a:t>
              </a:r>
            </a:p>
          </p:txBody>
        </p:sp>
        <p:sp>
          <p:nvSpPr>
            <p:cNvPr id="9" name="文本框 8"/>
            <p:cNvSpPr txBox="1"/>
            <p:nvPr/>
          </p:nvSpPr>
          <p:spPr>
            <a:xfrm>
              <a:off x="1396" y="4221"/>
              <a:ext cx="11679" cy="1016"/>
            </a:xfrm>
            <a:prstGeom prst="rect">
              <a:avLst/>
            </a:prstGeom>
            <a:noFill/>
            <a:ln>
              <a:solidFill>
                <a:srgbClr val="C00000"/>
              </a:solidFill>
            </a:ln>
          </p:spPr>
          <p:txBody>
            <a:bodyPr wrap="square" rtlCol="0" anchor="t">
              <a:spAutoFit/>
            </a:bodyPr>
            <a:lstStyle/>
            <a:p>
              <a:r>
                <a:rPr lang="zh-CN" altLang="en-US" sz="1800" spc="150" dirty="0">
                  <a:solidFill>
                    <a:srgbClr val="0070C0"/>
                  </a:solidFill>
                  <a:uFillTx/>
                  <a:ea typeface="微软雅黑" panose="020B0503020204020204" pitchFamily="34" charset="-122"/>
                  <a:sym typeface="+mn-ea"/>
                </a:rPr>
                <a:t>当你知道你有一个选择A时，此时你知道了B选择不如A选择好，那么你就不需要知道B选择有多坏。</a:t>
              </a:r>
              <a:endParaRPr lang="zh-CN" altLang="en-US"/>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6" grpId="0"/>
      <p:bldP spid="6"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4911" y="168914"/>
            <a:ext cx="8139178" cy="331473"/>
          </a:xfrm>
        </p:spPr>
        <p:txBody>
          <a:bodyPr/>
          <a:lstStyle/>
          <a:p>
            <a:r>
              <a:rPr sz="3200">
                <a:sym typeface="+mn-ea"/>
              </a:rPr>
              <a:t>基本概念</a:t>
            </a:r>
            <a:endParaRPr lang="zh-CN" altLang="en-US" sz="3200">
              <a:sym typeface="+mn-ea"/>
            </a:endParaRPr>
          </a:p>
        </p:txBody>
      </p:sp>
      <p:sp>
        <p:nvSpPr>
          <p:cNvPr id="3" name="内容占位符 2"/>
          <p:cNvSpPr>
            <a:spLocks noGrp="1"/>
          </p:cNvSpPr>
          <p:nvPr>
            <p:ph idx="1"/>
          </p:nvPr>
        </p:nvSpPr>
        <p:spPr>
          <a:xfrm>
            <a:off x="5518150" y="1734820"/>
            <a:ext cx="3212465" cy="4254500"/>
          </a:xfrm>
        </p:spPr>
        <p:style>
          <a:lnRef idx="2">
            <a:schemeClr val="accent1"/>
          </a:lnRef>
          <a:fillRef idx="1">
            <a:schemeClr val="lt1"/>
          </a:fillRef>
          <a:effectRef idx="0">
            <a:schemeClr val="accent1"/>
          </a:effectRef>
          <a:fontRef idx="minor">
            <a:schemeClr val="dk1"/>
          </a:fontRef>
        </p:style>
        <p:txBody>
          <a:bodyPr/>
          <a:lstStyle/>
          <a:p>
            <a:r>
              <a:rPr lang="zh-CN" altLang="en-US" sz="1800" b="1">
                <a:solidFill>
                  <a:srgbClr val="0070C0"/>
                </a:solidFill>
              </a:rPr>
              <a:t>定义：</a:t>
            </a:r>
          </a:p>
          <a:p>
            <a:r>
              <a:rPr lang="zh-CN" altLang="en-US" sz="1800" b="1"/>
              <a:t>α值：</a:t>
            </a:r>
            <a:r>
              <a:rPr lang="zh-CN" altLang="en-US" sz="1800"/>
              <a:t>有</a:t>
            </a:r>
            <a:r>
              <a:rPr lang="zh-CN" altLang="en-US" sz="1800" b="1">
                <a:solidFill>
                  <a:srgbClr val="C00000"/>
                </a:solidFill>
              </a:rPr>
              <a:t>或后继</a:t>
            </a:r>
            <a:r>
              <a:rPr lang="zh-CN" altLang="en-US" sz="1800"/>
              <a:t>的节点（</a:t>
            </a:r>
            <a:r>
              <a:rPr lang="zh-CN" altLang="en-US" sz="1800" b="1">
                <a:solidFill>
                  <a:srgbClr val="0070C0"/>
                </a:solidFill>
              </a:rPr>
              <a:t>或节点</a:t>
            </a:r>
            <a:r>
              <a:rPr lang="zh-CN" altLang="en-US" sz="1800"/>
              <a:t>），取当前子节点中的最大倒推值为其下界，称为α值。节点倒推值&gt;=α；</a:t>
            </a:r>
          </a:p>
          <a:p>
            <a:r>
              <a:rPr lang="zh-CN" altLang="en-US" sz="1800" b="1"/>
              <a:t>β值：</a:t>
            </a:r>
            <a:r>
              <a:rPr lang="zh-CN" altLang="en-US" sz="1800"/>
              <a:t>有</a:t>
            </a:r>
            <a:r>
              <a:rPr lang="zh-CN" altLang="en-US" sz="1800" b="1">
                <a:solidFill>
                  <a:srgbClr val="C00000"/>
                </a:solidFill>
              </a:rPr>
              <a:t>与后继</a:t>
            </a:r>
            <a:r>
              <a:rPr lang="zh-CN" altLang="en-US" sz="1800"/>
              <a:t>的节点（</a:t>
            </a:r>
            <a:r>
              <a:rPr lang="zh-CN" altLang="en-US" sz="1800" b="1">
                <a:solidFill>
                  <a:srgbClr val="0070C0"/>
                </a:solidFill>
              </a:rPr>
              <a:t>与节点</a:t>
            </a:r>
            <a:r>
              <a:rPr lang="zh-CN" altLang="en-US" sz="1800"/>
              <a:t>），取当前子节点中的最小倒推值为其上界，称为β值。节点倒推值&lt;=β；</a:t>
            </a:r>
          </a:p>
        </p:txBody>
      </p:sp>
      <p:sp>
        <p:nvSpPr>
          <p:cNvPr id="4" name="内容占位符 2"/>
          <p:cNvSpPr>
            <a:spLocks noGrp="1"/>
          </p:cNvSpPr>
          <p:nvPr/>
        </p:nvSpPr>
        <p:spPr>
          <a:xfrm>
            <a:off x="184785" y="919480"/>
            <a:ext cx="3337560" cy="5483860"/>
          </a:xfrm>
          <a:prstGeom prst="rect">
            <a:avLst/>
          </a:prstGeo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Clr>
                <a:srgbClr val="213A71"/>
              </a:buClr>
              <a:buFont typeface="Arial" panose="020B0604020202020204" pitchFamily="34" charset="0"/>
              <a:buChar char="•"/>
              <a:defRPr kumimoji="0" lang="zh-CN" altLang="en-US" sz="20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sz="1800" b="1">
                <a:solidFill>
                  <a:srgbClr val="C00000"/>
                </a:solidFill>
                <a:sym typeface="+mn-ea"/>
              </a:rPr>
              <a:t>从MAX方的角度来看：</a:t>
            </a:r>
          </a:p>
          <a:p>
            <a:pPr marL="0" lvl="1"/>
            <a:r>
              <a:rPr sz="1800" b="1">
                <a:solidFill>
                  <a:srgbClr val="0070C0"/>
                </a:solidFill>
                <a:sym typeface="+mn-ea"/>
              </a:rPr>
              <a:t>所有MAX方的节点都是</a:t>
            </a:r>
            <a:r>
              <a:rPr lang="en-US" altLang="zh-CN" sz="1800" b="1">
                <a:solidFill>
                  <a:srgbClr val="0070C0"/>
                </a:solidFill>
                <a:sym typeface="+mn-ea"/>
              </a:rPr>
              <a:t>“</a:t>
            </a:r>
            <a:r>
              <a:rPr sz="1800" b="1">
                <a:solidFill>
                  <a:srgbClr val="0070C0"/>
                </a:solidFill>
                <a:sym typeface="+mn-ea"/>
              </a:rPr>
              <a:t>或节点</a:t>
            </a:r>
            <a:r>
              <a:rPr lang="en-US" altLang="zh-CN" sz="1800" b="1">
                <a:solidFill>
                  <a:srgbClr val="0070C0"/>
                </a:solidFill>
                <a:sym typeface="+mn-ea"/>
              </a:rPr>
              <a:t>”</a:t>
            </a:r>
            <a:r>
              <a:rPr sz="1800">
                <a:sym typeface="+mn-ea"/>
              </a:rPr>
              <a:t>（ 因为扩展MAX方节点时，MAX方可选择扩展最有利于自己的节点，只要可扩展的子节点中有一个对已有利， 则该节点就对已有利。）</a:t>
            </a:r>
          </a:p>
          <a:p>
            <a:pPr marL="0" lvl="1"/>
            <a:r>
              <a:rPr sz="1800" b="1">
                <a:solidFill>
                  <a:srgbClr val="0070C0"/>
                </a:solidFill>
                <a:sym typeface="+mn-ea"/>
              </a:rPr>
              <a:t>所有MIN方节点都是</a:t>
            </a:r>
            <a:r>
              <a:rPr lang="en-US" altLang="zh-CN" sz="1800" b="1">
                <a:solidFill>
                  <a:srgbClr val="0070C0"/>
                </a:solidFill>
                <a:sym typeface="+mn-ea"/>
              </a:rPr>
              <a:t>“</a:t>
            </a:r>
            <a:r>
              <a:rPr sz="1800" b="1">
                <a:solidFill>
                  <a:srgbClr val="0070C0"/>
                </a:solidFill>
                <a:sym typeface="+mn-ea"/>
              </a:rPr>
              <a:t>与节点</a:t>
            </a:r>
            <a:r>
              <a:rPr lang="en-US" altLang="zh-CN" sz="1800" b="1">
                <a:solidFill>
                  <a:srgbClr val="0070C0"/>
                </a:solidFill>
                <a:sym typeface="+mn-ea"/>
              </a:rPr>
              <a:t>”</a:t>
            </a:r>
            <a:r>
              <a:rPr sz="1800">
                <a:sym typeface="+mn-ea"/>
              </a:rPr>
              <a:t>（因为MIN方必定选择最不利于MAX方的方式来扩展节点，只要MIN方节点的子节点中有一个对MAX方不利，则该节点就对MAX方不利，故为“与节点”。）</a:t>
            </a:r>
          </a:p>
          <a:p>
            <a:endParaRPr lang="zh-CN" altLang="en-US" sz="1800"/>
          </a:p>
        </p:txBody>
      </p:sp>
      <p:pic>
        <p:nvPicPr>
          <p:cNvPr id="105" name="图片 104"/>
          <p:cNvPicPr/>
          <p:nvPr/>
        </p:nvPicPr>
        <p:blipFill>
          <a:blip r:embed="rId4"/>
          <a:stretch>
            <a:fillRect/>
          </a:stretch>
        </p:blipFill>
        <p:spPr>
          <a:xfrm>
            <a:off x="3601720" y="2077720"/>
            <a:ext cx="1305560" cy="1064895"/>
          </a:xfrm>
          <a:prstGeom prst="rect">
            <a:avLst/>
          </a:prstGeom>
          <a:noFill/>
          <a:ln w="9525">
            <a:noFill/>
          </a:ln>
        </p:spPr>
      </p:pic>
      <p:grpSp>
        <p:nvGrpSpPr>
          <p:cNvPr id="11" name="组合 10"/>
          <p:cNvGrpSpPr/>
          <p:nvPr/>
        </p:nvGrpSpPr>
        <p:grpSpPr>
          <a:xfrm>
            <a:off x="3594735" y="4565015"/>
            <a:ext cx="1311910" cy="1222375"/>
            <a:chOff x="9874" y="4218"/>
            <a:chExt cx="3708" cy="3284"/>
          </a:xfrm>
        </p:grpSpPr>
        <p:pic>
          <p:nvPicPr>
            <p:cNvPr id="104" name="图片 103"/>
            <p:cNvPicPr/>
            <p:nvPr/>
          </p:nvPicPr>
          <p:blipFill>
            <a:blip r:embed="rId5"/>
            <a:stretch>
              <a:fillRect/>
            </a:stretch>
          </p:blipFill>
          <p:spPr>
            <a:xfrm>
              <a:off x="9874" y="4218"/>
              <a:ext cx="3709" cy="3284"/>
            </a:xfrm>
            <a:prstGeom prst="rect">
              <a:avLst/>
            </a:prstGeom>
            <a:noFill/>
            <a:ln w="9525">
              <a:noFill/>
            </a:ln>
          </p:spPr>
        </p:pic>
        <p:sp>
          <p:nvSpPr>
            <p:cNvPr id="10" name="任意多边形 9"/>
            <p:cNvSpPr/>
            <p:nvPr/>
          </p:nvSpPr>
          <p:spPr>
            <a:xfrm>
              <a:off x="11365" y="5223"/>
              <a:ext cx="973" cy="120"/>
            </a:xfrm>
            <a:custGeom>
              <a:avLst/>
              <a:gdLst>
                <a:gd name="connisteX0" fmla="*/ 0 w 655997"/>
                <a:gd name="connsiteY0" fmla="*/ 98660 h 214491"/>
                <a:gd name="connisteX1" fmla="*/ 368300 w 655997"/>
                <a:gd name="connsiteY1" fmla="*/ 212960 h 214491"/>
                <a:gd name="connisteX2" fmla="*/ 622300 w 655997"/>
                <a:gd name="connsiteY2" fmla="*/ 22460 h 214491"/>
                <a:gd name="connisteX3" fmla="*/ 647700 w 655997"/>
                <a:gd name="connsiteY3" fmla="*/ 9760 h 214491"/>
              </a:gdLst>
              <a:ahLst/>
              <a:cxnLst>
                <a:cxn ang="0">
                  <a:pos x="connisteX0" y="connsiteY0"/>
                </a:cxn>
                <a:cxn ang="0">
                  <a:pos x="connisteX1" y="connsiteY1"/>
                </a:cxn>
                <a:cxn ang="0">
                  <a:pos x="connisteX2" y="connsiteY2"/>
                </a:cxn>
                <a:cxn ang="0">
                  <a:pos x="connisteX3" y="connsiteY3"/>
                </a:cxn>
              </a:cxnLst>
              <a:rect l="l" t="t" r="r" b="b"/>
              <a:pathLst>
                <a:path w="655997" h="214492">
                  <a:moveTo>
                    <a:pt x="0" y="98660"/>
                  </a:moveTo>
                  <a:cubicBezTo>
                    <a:pt x="68580" y="125330"/>
                    <a:pt x="243840" y="228200"/>
                    <a:pt x="368300" y="212960"/>
                  </a:cubicBezTo>
                  <a:cubicBezTo>
                    <a:pt x="492760" y="197720"/>
                    <a:pt x="566420" y="63100"/>
                    <a:pt x="622300" y="22460"/>
                  </a:cubicBezTo>
                  <a:cubicBezTo>
                    <a:pt x="678180" y="-18180"/>
                    <a:pt x="647700" y="8490"/>
                    <a:pt x="647700" y="9760"/>
                  </a:cubicBez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 name="图片 4"/>
          <p:cNvPicPr>
            <a:picLocks noChangeAspect="1"/>
          </p:cNvPicPr>
          <p:nvPr/>
        </p:nvPicPr>
        <p:blipFill>
          <a:blip r:embed="rId6"/>
          <a:srcRect r="46483"/>
          <a:stretch>
            <a:fillRect/>
          </a:stretch>
        </p:blipFill>
        <p:spPr>
          <a:xfrm>
            <a:off x="5165090" y="168910"/>
            <a:ext cx="1607185" cy="1388110"/>
          </a:xfrm>
          <a:prstGeom prst="rect">
            <a:avLst/>
          </a:prstGeom>
        </p:spPr>
      </p:pic>
      <p:pic>
        <p:nvPicPr>
          <p:cNvPr id="6" name="图片 5"/>
          <p:cNvPicPr>
            <a:picLocks noChangeAspect="1"/>
          </p:cNvPicPr>
          <p:nvPr/>
        </p:nvPicPr>
        <p:blipFill>
          <a:blip r:embed="rId6"/>
          <a:srcRect l="52586" r="-1533"/>
          <a:stretch>
            <a:fillRect/>
          </a:stretch>
        </p:blipFill>
        <p:spPr>
          <a:xfrm>
            <a:off x="3444240" y="168910"/>
            <a:ext cx="1470025" cy="1388110"/>
          </a:xfrm>
          <a:prstGeom prst="rect">
            <a:avLst/>
          </a:prstGeom>
        </p:spPr>
      </p:pic>
      <p:sp>
        <p:nvSpPr>
          <p:cNvPr id="7" name="标题 1"/>
          <p:cNvSpPr>
            <a:spLocks noGrp="1"/>
          </p:cNvSpPr>
          <p:nvPr/>
        </p:nvSpPr>
        <p:spPr>
          <a:xfrm>
            <a:off x="3003550" y="6167120"/>
            <a:ext cx="3971290" cy="408940"/>
          </a:xfrm>
          <a:prstGeom prst="rect">
            <a:avLst/>
          </a:prstGeom>
        </p:spPr>
        <p:txBody>
          <a:bodyPr vert="horz" lIns="101600" tIns="38100" rIns="76200" bIns="38100" rtlCol="0" anchor="t" anchorCtr="0">
            <a:noAutofit/>
          </a:bodyPr>
          <a:lstStyle>
            <a:lvl1pPr marL="0" marR="0" algn="l" defTabSz="914400" rtl="0" eaLnBrk="1" fontAlgn="auto" latinLnBrk="0" hangingPunct="1">
              <a:lnSpc>
                <a:spcPct val="100000"/>
              </a:lnSpc>
              <a:spcBef>
                <a:spcPct val="0"/>
              </a:spcBef>
              <a:buNone/>
              <a:defRPr kumimoji="0" lang="zh-CN" altLang="en-US" sz="40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r>
              <a:rPr lang="zh-CN" altLang="en-US" sz="1800"/>
              <a:t>与节点、或节点</a:t>
            </a:r>
            <a:r>
              <a:rPr lang="en-US" altLang="zh-CN" sz="1800"/>
              <a:t> </a:t>
            </a:r>
            <a:r>
              <a:rPr lang="zh-CN" altLang="en-US" sz="1800"/>
              <a:t>隔层交替出现</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3" grpId="1" build="p" animBg="1"/>
      <p:bldP spid="7" grpId="0"/>
      <p:bldP spid="7"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035175" y="376555"/>
            <a:ext cx="7251700" cy="3969385"/>
          </a:xfrm>
          <a:prstGeom prst="rect">
            <a:avLst/>
          </a:prstGeom>
          <a:noFill/>
        </p:spPr>
        <p:txBody>
          <a:bodyPr wrap="square" rtlCol="0" anchor="t">
            <a:spAutoFit/>
          </a:bodyPr>
          <a:lstStyle/>
          <a:p>
            <a:r>
              <a:rPr lang="zh-CN" altLang="en-US" b="1" dirty="0"/>
              <a:t>每一个节点的效用值，都会由</a:t>
            </a:r>
            <a:r>
              <a:rPr lang="en-US" altLang="zh-CN" b="1" dirty="0"/>
              <a:t>α</a:t>
            </a:r>
            <a:r>
              <a:rPr lang="zh-CN" altLang="en-US" b="1" dirty="0"/>
              <a:t>和 </a:t>
            </a:r>
            <a:r>
              <a:rPr lang="en-US" altLang="zh-CN" b="1" dirty="0"/>
              <a:t>β</a:t>
            </a:r>
            <a:r>
              <a:rPr lang="zh-CN" altLang="en-US" b="1" dirty="0"/>
              <a:t> 两个值来确定一个范围 [</a:t>
            </a:r>
            <a:r>
              <a:rPr lang="en-US" altLang="zh-CN" b="1" dirty="0">
                <a:sym typeface="+mn-ea"/>
              </a:rPr>
              <a:t>α</a:t>
            </a:r>
            <a:r>
              <a:rPr lang="zh-CN" altLang="en-US" b="1" dirty="0">
                <a:sym typeface="+mn-ea"/>
              </a:rPr>
              <a:t>，</a:t>
            </a:r>
            <a:r>
              <a:rPr lang="en-US" altLang="zh-CN" b="1" dirty="0">
                <a:sym typeface="+mn-ea"/>
              </a:rPr>
              <a:t>β</a:t>
            </a:r>
            <a:r>
              <a:rPr lang="zh-CN" altLang="en-US" b="1" dirty="0"/>
              <a:t>]</a:t>
            </a:r>
          </a:p>
          <a:p>
            <a:r>
              <a:rPr lang="en-US" altLang="zh-CN" dirty="0">
                <a:sym typeface="+mn-ea"/>
              </a:rPr>
              <a:t>α</a:t>
            </a:r>
            <a:r>
              <a:rPr lang="zh-CN" altLang="en-US" dirty="0"/>
              <a:t>值</a:t>
            </a:r>
            <a:r>
              <a:rPr lang="en-US" altLang="zh-CN" dirty="0"/>
              <a:t>=</a:t>
            </a:r>
            <a:r>
              <a:rPr lang="zh-CN" altLang="en-US" dirty="0"/>
              <a:t>到目前为止路径上发现的</a:t>
            </a:r>
            <a:r>
              <a:rPr lang="en-US" altLang="zh-CN" dirty="0"/>
              <a:t>MAX</a:t>
            </a:r>
            <a:r>
              <a:rPr lang="zh-CN" altLang="en-US" dirty="0"/>
              <a:t>的最佳（即极大值）</a:t>
            </a:r>
            <a:r>
              <a:rPr lang="zh-CN" altLang="en-US" dirty="0">
                <a:sym typeface="+mn-ea"/>
              </a:rPr>
              <a:t>选择</a:t>
            </a:r>
            <a:endParaRPr lang="zh-CN" altLang="en-US" dirty="0"/>
          </a:p>
          <a:p>
            <a:r>
              <a:rPr lang="en-US" altLang="zh-CN" dirty="0">
                <a:sym typeface="+mn-ea"/>
              </a:rPr>
              <a:t>β</a:t>
            </a:r>
            <a:r>
              <a:rPr lang="zh-CN" altLang="en-US" dirty="0">
                <a:sym typeface="+mn-ea"/>
              </a:rPr>
              <a:t>值</a:t>
            </a:r>
            <a:r>
              <a:rPr lang="en-US" altLang="zh-CN" dirty="0">
                <a:sym typeface="+mn-ea"/>
              </a:rPr>
              <a:t>=</a:t>
            </a:r>
            <a:r>
              <a:rPr lang="zh-CN" altLang="en-US" dirty="0">
                <a:sym typeface="+mn-ea"/>
              </a:rPr>
              <a:t>到目前为止路径上发现的</a:t>
            </a:r>
            <a:r>
              <a:rPr lang="en-US" altLang="zh-CN" dirty="0">
                <a:sym typeface="+mn-ea"/>
              </a:rPr>
              <a:t>MIN</a:t>
            </a:r>
            <a:r>
              <a:rPr lang="zh-CN" altLang="en-US" dirty="0">
                <a:sym typeface="+mn-ea"/>
              </a:rPr>
              <a:t>的最佳（即极小值）</a:t>
            </a:r>
            <a:r>
              <a:rPr lang="zh-CN" altLang="en-US" dirty="0"/>
              <a:t>选择</a:t>
            </a:r>
          </a:p>
          <a:p>
            <a:endParaRPr lang="zh-CN" altLang="en-US" dirty="0"/>
          </a:p>
          <a:p>
            <a:endParaRPr lang="zh-CN" altLang="en-US" dirty="0"/>
          </a:p>
          <a:p>
            <a:endParaRPr lang="zh-CN" altLang="en-US" dirty="0"/>
          </a:p>
          <a:p>
            <a:endParaRPr lang="zh-CN" altLang="en-US" dirty="0"/>
          </a:p>
          <a:p>
            <a:endParaRPr lang="zh-CN" altLang="en-US" dirty="0"/>
          </a:p>
          <a:p>
            <a:r>
              <a:rPr lang="zh-CN" altLang="en-US" dirty="0"/>
              <a:t>每搜索一个子节点，都会按规则对范围进行修正。</a:t>
            </a:r>
          </a:p>
          <a:p>
            <a:r>
              <a:rPr lang="zh-CN" altLang="en-US" dirty="0">
                <a:highlight>
                  <a:srgbClr val="FFFF00"/>
                </a:highlight>
              </a:rPr>
              <a:t>M</a:t>
            </a:r>
            <a:r>
              <a:rPr lang="en-US" altLang="zh-CN" dirty="0">
                <a:highlight>
                  <a:srgbClr val="FFFF00"/>
                </a:highlight>
              </a:rPr>
              <a:t>AX</a:t>
            </a:r>
            <a:r>
              <a:rPr lang="zh-CN" altLang="en-US" dirty="0">
                <a:highlight>
                  <a:srgbClr val="FFFF00"/>
                </a:highlight>
              </a:rPr>
              <a:t> 节点可以修改 </a:t>
            </a:r>
            <a:r>
              <a:rPr lang="en-US" altLang="zh-CN" dirty="0">
                <a:highlight>
                  <a:srgbClr val="FFFF00"/>
                </a:highlight>
                <a:sym typeface="+mn-ea"/>
              </a:rPr>
              <a:t>α</a:t>
            </a:r>
            <a:r>
              <a:rPr lang="zh-CN" altLang="en-US" dirty="0">
                <a:highlight>
                  <a:srgbClr val="FFFF00"/>
                </a:highlight>
              </a:rPr>
              <a:t> 值，</a:t>
            </a:r>
            <a:r>
              <a:rPr lang="en-US" altLang="zh-CN" dirty="0">
                <a:highlight>
                  <a:srgbClr val="FFFF00"/>
                </a:highlight>
              </a:rPr>
              <a:t>MIN</a:t>
            </a:r>
            <a:r>
              <a:rPr lang="zh-CN" altLang="en-US" dirty="0">
                <a:highlight>
                  <a:srgbClr val="FFFF00"/>
                </a:highlight>
              </a:rPr>
              <a:t> 节点修改 </a:t>
            </a:r>
            <a:r>
              <a:rPr lang="en-US" altLang="zh-CN" dirty="0">
                <a:highlight>
                  <a:srgbClr val="FFFF00"/>
                </a:highlight>
                <a:sym typeface="+mn-ea"/>
              </a:rPr>
              <a:t>β</a:t>
            </a:r>
            <a:r>
              <a:rPr lang="zh-CN" altLang="en-US" dirty="0">
                <a:highlight>
                  <a:srgbClr val="FFFF00"/>
                </a:highlight>
              </a:rPr>
              <a:t>值</a:t>
            </a:r>
            <a:r>
              <a:rPr lang="zh-CN" altLang="en-US" dirty="0"/>
              <a:t>。</a:t>
            </a:r>
          </a:p>
          <a:p>
            <a:endParaRPr lang="zh-CN" altLang="en-US" dirty="0"/>
          </a:p>
          <a:p>
            <a:r>
              <a:rPr lang="zh-CN" altLang="en-US" dirty="0">
                <a:sym typeface="+mn-ea"/>
              </a:rPr>
              <a:t>如果出现了 </a:t>
            </a:r>
            <a:r>
              <a:rPr lang="en-US" altLang="zh-CN" dirty="0">
                <a:sym typeface="+mn-ea"/>
              </a:rPr>
              <a:t>β</a:t>
            </a:r>
            <a:r>
              <a:rPr lang="zh-CN" altLang="en-US" dirty="0">
                <a:sym typeface="+mn-ea"/>
              </a:rPr>
              <a:t> </a:t>
            </a:r>
            <a:r>
              <a:rPr lang="en-US" altLang="zh-CN" dirty="0">
                <a:sym typeface="+mn-ea"/>
              </a:rPr>
              <a:t>≤ α</a:t>
            </a:r>
            <a:r>
              <a:rPr lang="zh-CN" altLang="en-US" dirty="0">
                <a:sym typeface="+mn-ea"/>
              </a:rPr>
              <a:t> 的情况，则不用搜索更多的子树了，</a:t>
            </a:r>
          </a:p>
          <a:p>
            <a:r>
              <a:rPr lang="zh-CN" altLang="en-US" dirty="0">
                <a:sym typeface="+mn-ea"/>
              </a:rPr>
              <a:t>未搜索的这部分子树将被忽略，这个操作就被称作剪枝（pruning）。</a:t>
            </a:r>
            <a:endParaRPr lang="zh-CN" altLang="en-US" dirty="0"/>
          </a:p>
          <a:p>
            <a:endParaRPr lang="zh-CN" altLang="en-US" dirty="0"/>
          </a:p>
        </p:txBody>
      </p:sp>
      <p:grpSp>
        <p:nvGrpSpPr>
          <p:cNvPr id="5" name="组合 4"/>
          <p:cNvGrpSpPr/>
          <p:nvPr/>
        </p:nvGrpSpPr>
        <p:grpSpPr>
          <a:xfrm>
            <a:off x="2661920" y="1420495"/>
            <a:ext cx="5753100" cy="1013460"/>
            <a:chOff x="5359" y="4380"/>
            <a:chExt cx="9060" cy="1596"/>
          </a:xfrm>
        </p:grpSpPr>
        <p:sp>
          <p:nvSpPr>
            <p:cNvPr id="6" name="矩形 5"/>
            <p:cNvSpPr/>
            <p:nvPr/>
          </p:nvSpPr>
          <p:spPr>
            <a:xfrm>
              <a:off x="5359" y="4380"/>
              <a:ext cx="9061" cy="15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4" name="图片 133"/>
            <p:cNvPicPr/>
            <p:nvPr/>
          </p:nvPicPr>
          <p:blipFill>
            <a:blip r:embed="rId4"/>
            <a:stretch>
              <a:fillRect/>
            </a:stretch>
          </p:blipFill>
          <p:spPr>
            <a:xfrm>
              <a:off x="6140" y="4601"/>
              <a:ext cx="7500" cy="1155"/>
            </a:xfrm>
            <a:prstGeom prst="rect">
              <a:avLst/>
            </a:prstGeom>
            <a:noFill/>
            <a:ln w="9525">
              <a:noFill/>
            </a:ln>
          </p:spPr>
        </p:pic>
      </p:grpSp>
      <p:sp>
        <p:nvSpPr>
          <p:cNvPr id="7" name="文本框 6"/>
          <p:cNvSpPr txBox="1"/>
          <p:nvPr/>
        </p:nvSpPr>
        <p:spPr>
          <a:xfrm>
            <a:off x="2540000" y="6296025"/>
            <a:ext cx="5998210" cy="368300"/>
          </a:xfrm>
          <a:prstGeom prst="rect">
            <a:avLst/>
          </a:prstGeom>
          <a:noFill/>
        </p:spPr>
        <p:txBody>
          <a:bodyPr wrap="square" rtlCol="0" anchor="t">
            <a:spAutoFit/>
          </a:bodyPr>
          <a:lstStyle/>
          <a:p>
            <a:r>
              <a:rPr lang="zh-CN" altLang="en-US"/>
              <a:t>http://web.cs.ucla.edu/~rosen/161/notes/alphabeta.html</a:t>
            </a:r>
          </a:p>
        </p:txBody>
      </p:sp>
      <p:grpSp>
        <p:nvGrpSpPr>
          <p:cNvPr id="8" name="组合 7"/>
          <p:cNvGrpSpPr/>
          <p:nvPr/>
        </p:nvGrpSpPr>
        <p:grpSpPr>
          <a:xfrm>
            <a:off x="3279775" y="4267200"/>
            <a:ext cx="4972685" cy="1713865"/>
            <a:chOff x="4879" y="3599"/>
            <a:chExt cx="7831" cy="2699"/>
          </a:xfrm>
        </p:grpSpPr>
        <p:sp>
          <p:nvSpPr>
            <p:cNvPr id="9" name="矩形 8"/>
            <p:cNvSpPr/>
            <p:nvPr/>
          </p:nvSpPr>
          <p:spPr>
            <a:xfrm>
              <a:off x="4879" y="3599"/>
              <a:ext cx="7831" cy="26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5" name="图片 134"/>
            <p:cNvPicPr/>
            <p:nvPr/>
          </p:nvPicPr>
          <p:blipFill>
            <a:blip r:embed="rId5"/>
            <a:stretch>
              <a:fillRect/>
            </a:stretch>
          </p:blipFill>
          <p:spPr>
            <a:xfrm>
              <a:off x="5210" y="3723"/>
              <a:ext cx="7500" cy="1155"/>
            </a:xfrm>
            <a:prstGeom prst="rect">
              <a:avLst/>
            </a:prstGeom>
            <a:noFill/>
            <a:ln w="9525">
              <a:noFill/>
            </a:ln>
          </p:spPr>
        </p:pic>
        <p:pic>
          <p:nvPicPr>
            <p:cNvPr id="136" name="图片 135"/>
            <p:cNvPicPr/>
            <p:nvPr/>
          </p:nvPicPr>
          <p:blipFill>
            <a:blip r:embed="rId6"/>
            <a:stretch>
              <a:fillRect/>
            </a:stretch>
          </p:blipFill>
          <p:spPr>
            <a:xfrm>
              <a:off x="4879" y="5023"/>
              <a:ext cx="7500" cy="1155"/>
            </a:xfrm>
            <a:prstGeom prst="rect">
              <a:avLst/>
            </a:prstGeom>
            <a:noFill/>
            <a:ln w="9525">
              <a:noFill/>
            </a:ln>
          </p:spPr>
        </p:pic>
      </p:grpSp>
      <p:sp>
        <p:nvSpPr>
          <p:cNvPr id="2" name="内容占位符 2"/>
          <p:cNvSpPr>
            <a:spLocks noGrp="1"/>
          </p:cNvSpPr>
          <p:nvPr/>
        </p:nvSpPr>
        <p:spPr>
          <a:xfrm>
            <a:off x="153035" y="194310"/>
            <a:ext cx="1882140" cy="6470015"/>
          </a:xfrm>
          <a:prstGeom prst="rect">
            <a:avLst/>
          </a:prstGeom>
        </p:spPr>
        <p:style>
          <a:lnRef idx="2">
            <a:schemeClr val="accent1"/>
          </a:lnRef>
          <a:fillRef idx="1">
            <a:schemeClr val="lt1"/>
          </a:fillRef>
          <a:effectRef idx="0">
            <a:schemeClr val="accent1"/>
          </a:effectRef>
          <a:fontRef idx="minor">
            <a:schemeClr val="dk1"/>
          </a:fontRef>
        </p:style>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dk1"/>
                </a:solidFill>
                <a:uFillTx/>
                <a:latin typeface="Arial" panose="020B0604020202020204" pitchFamily="34" charset="0"/>
                <a:ea typeface="微软雅黑" panose="020B0503020204020204" pitchFamily="3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dk1"/>
                </a:solidFill>
                <a:latin typeface="+mn-lt"/>
                <a:ea typeface="+mn-ea"/>
                <a:cs typeface="+mn-cs"/>
              </a:defRPr>
            </a:lvl9pPr>
          </a:lstStyle>
          <a:p>
            <a:r>
              <a:rPr lang="zh-CN" altLang="en-US" sz="1800" b="1">
                <a:solidFill>
                  <a:srgbClr val="0070C0"/>
                </a:solidFill>
              </a:rPr>
              <a:t>定义：</a:t>
            </a:r>
          </a:p>
          <a:p>
            <a:r>
              <a:rPr lang="zh-CN" altLang="en-US" sz="1800" b="1"/>
              <a:t>α值：</a:t>
            </a:r>
            <a:r>
              <a:rPr lang="zh-CN" altLang="en-US" sz="1800"/>
              <a:t>有</a:t>
            </a:r>
            <a:r>
              <a:rPr lang="zh-CN" altLang="en-US" sz="1800" b="1">
                <a:solidFill>
                  <a:srgbClr val="C00000"/>
                </a:solidFill>
              </a:rPr>
              <a:t>或后继</a:t>
            </a:r>
            <a:r>
              <a:rPr lang="zh-CN" altLang="en-US" sz="1800"/>
              <a:t>的节点（</a:t>
            </a:r>
            <a:r>
              <a:rPr lang="zh-CN" altLang="en-US" sz="1800" b="1">
                <a:solidFill>
                  <a:srgbClr val="0070C0"/>
                </a:solidFill>
              </a:rPr>
              <a:t>或节点</a:t>
            </a:r>
            <a:r>
              <a:rPr lang="zh-CN" altLang="en-US" sz="1800"/>
              <a:t>），取当前子节点中的最大倒推值为其下界，称为α值。节点倒推值&gt;=α；</a:t>
            </a:r>
          </a:p>
          <a:p>
            <a:r>
              <a:rPr lang="zh-CN" altLang="en-US" sz="1800" b="1"/>
              <a:t>β值：</a:t>
            </a:r>
            <a:r>
              <a:rPr lang="zh-CN" altLang="en-US" sz="1800"/>
              <a:t>有</a:t>
            </a:r>
            <a:r>
              <a:rPr lang="zh-CN" altLang="en-US" sz="1800" b="1">
                <a:solidFill>
                  <a:srgbClr val="C00000"/>
                </a:solidFill>
              </a:rPr>
              <a:t>与后继</a:t>
            </a:r>
            <a:r>
              <a:rPr lang="zh-CN" altLang="en-US" sz="1800"/>
              <a:t>的节点（</a:t>
            </a:r>
            <a:r>
              <a:rPr lang="zh-CN" altLang="en-US" sz="1800" b="1">
                <a:solidFill>
                  <a:srgbClr val="0070C0"/>
                </a:solidFill>
              </a:rPr>
              <a:t>与节点</a:t>
            </a:r>
            <a:r>
              <a:rPr lang="zh-CN" altLang="en-US" sz="1800"/>
              <a:t>），取当前子节点中的最小倒推值为其上界，称为β值。节点倒推值&lt;=β；</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4"/>
          <a:stretch>
            <a:fillRect/>
          </a:stretch>
        </p:blipFill>
        <p:spPr>
          <a:xfrm>
            <a:off x="151130" y="140970"/>
            <a:ext cx="3432810" cy="751840"/>
          </a:xfrm>
          <a:prstGeom prst="rect">
            <a:avLst/>
          </a:prstGeom>
        </p:spPr>
      </p:pic>
      <p:grpSp>
        <p:nvGrpSpPr>
          <p:cNvPr id="4" name="组合 3"/>
          <p:cNvGrpSpPr/>
          <p:nvPr/>
        </p:nvGrpSpPr>
        <p:grpSpPr>
          <a:xfrm>
            <a:off x="343535" y="1162050"/>
            <a:ext cx="3048000" cy="3941445"/>
            <a:chOff x="9264" y="4123"/>
            <a:chExt cx="4800" cy="6207"/>
          </a:xfrm>
        </p:grpSpPr>
        <p:sp>
          <p:nvSpPr>
            <p:cNvPr id="6" name="矩形 5"/>
            <p:cNvSpPr/>
            <p:nvPr/>
          </p:nvSpPr>
          <p:spPr>
            <a:xfrm>
              <a:off x="11430" y="4123"/>
              <a:ext cx="880" cy="840"/>
            </a:xfrm>
            <a:prstGeom prst="rect">
              <a:avLst/>
            </a:prstGeom>
            <a:gradFill>
              <a:gsLst>
                <a:gs pos="19000">
                  <a:srgbClr val="FFB9B9"/>
                </a:gs>
                <a:gs pos="64000">
                  <a:srgbClr val="FF8F8E"/>
                </a:gs>
                <a:gs pos="44000">
                  <a:srgbClr val="FE9E9F"/>
                </a:gs>
                <a:gs pos="84000">
                  <a:srgbClr val="FF7373"/>
                </a:gs>
              </a:gsLst>
              <a:lin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P</a:t>
              </a:r>
            </a:p>
          </p:txBody>
        </p:sp>
        <p:sp>
          <p:nvSpPr>
            <p:cNvPr id="8" name="椭圆 7"/>
            <p:cNvSpPr/>
            <p:nvPr/>
          </p:nvSpPr>
          <p:spPr>
            <a:xfrm>
              <a:off x="13184" y="6110"/>
              <a:ext cx="880" cy="840"/>
            </a:xfrm>
            <a:prstGeom prst="ellipse">
              <a:avLst/>
            </a:prstGeom>
            <a:gradFill>
              <a:gsLst>
                <a:gs pos="0">
                  <a:srgbClr val="9EE256"/>
                </a:gs>
                <a:gs pos="100000">
                  <a:srgbClr val="52762D"/>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1804" y="7200"/>
              <a:ext cx="880" cy="840"/>
            </a:xfrm>
            <a:prstGeom prst="ellipse">
              <a:avLst/>
            </a:prstGeom>
            <a:gradFill>
              <a:gsLst>
                <a:gs pos="0">
                  <a:srgbClr val="9EE256"/>
                </a:gs>
                <a:gs pos="100000">
                  <a:srgbClr val="52762D"/>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X</a:t>
              </a:r>
            </a:p>
          </p:txBody>
        </p:sp>
        <p:sp>
          <p:nvSpPr>
            <p:cNvPr id="10" name="椭圆 9"/>
            <p:cNvSpPr/>
            <p:nvPr/>
          </p:nvSpPr>
          <p:spPr>
            <a:xfrm>
              <a:off x="9544" y="6110"/>
              <a:ext cx="880" cy="840"/>
            </a:xfrm>
            <a:prstGeom prst="ellipse">
              <a:avLst/>
            </a:prstGeom>
            <a:gradFill>
              <a:gsLst>
                <a:gs pos="0">
                  <a:srgbClr val="9EE256"/>
                </a:gs>
                <a:gs pos="100000">
                  <a:srgbClr val="52762D"/>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a:stCxn id="6" idx="1"/>
              <a:endCxn id="10" idx="7"/>
            </p:cNvCxnSpPr>
            <p:nvPr/>
          </p:nvCxnSpPr>
          <p:spPr>
            <a:xfrm flipH="1">
              <a:off x="10295" y="4543"/>
              <a:ext cx="1135" cy="1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6" idx="2"/>
              <a:endCxn id="9" idx="0"/>
            </p:cNvCxnSpPr>
            <p:nvPr/>
          </p:nvCxnSpPr>
          <p:spPr>
            <a:xfrm>
              <a:off x="11870" y="4963"/>
              <a:ext cx="374" cy="2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6" idx="3"/>
              <a:endCxn id="8" idx="1"/>
            </p:cNvCxnSpPr>
            <p:nvPr/>
          </p:nvCxnSpPr>
          <p:spPr>
            <a:xfrm>
              <a:off x="12310" y="4543"/>
              <a:ext cx="1003" cy="1690"/>
            </a:xfrm>
            <a:prstGeom prst="line">
              <a:avLst/>
            </a:prstGeom>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3024" y="8910"/>
              <a:ext cx="880" cy="840"/>
            </a:xfrm>
            <a:prstGeom prst="rect">
              <a:avLst/>
            </a:prstGeom>
            <a:gradFill>
              <a:gsLst>
                <a:gs pos="19000">
                  <a:srgbClr val="FFB9B9"/>
                </a:gs>
                <a:gs pos="64000">
                  <a:srgbClr val="FF8F8E"/>
                </a:gs>
                <a:gs pos="44000">
                  <a:srgbClr val="FE9E9F"/>
                </a:gs>
                <a:gs pos="84000">
                  <a:srgbClr val="FF7373"/>
                </a:gs>
              </a:gsLst>
              <a:lin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557" y="8910"/>
              <a:ext cx="880" cy="840"/>
            </a:xfrm>
            <a:prstGeom prst="rect">
              <a:avLst/>
            </a:prstGeom>
            <a:gradFill>
              <a:gsLst>
                <a:gs pos="19000">
                  <a:srgbClr val="FFB9B9"/>
                </a:gs>
                <a:gs pos="64000">
                  <a:srgbClr val="FF8F8E"/>
                </a:gs>
                <a:gs pos="44000">
                  <a:srgbClr val="FE9E9F"/>
                </a:gs>
                <a:gs pos="84000">
                  <a:srgbClr val="FF7373"/>
                </a:gs>
              </a:gsLst>
              <a:lin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264" y="8910"/>
              <a:ext cx="880" cy="840"/>
            </a:xfrm>
            <a:prstGeom prst="rect">
              <a:avLst/>
            </a:prstGeom>
            <a:gradFill>
              <a:gsLst>
                <a:gs pos="19000">
                  <a:srgbClr val="FFB9B9"/>
                </a:gs>
                <a:gs pos="64000">
                  <a:srgbClr val="FF8F8E"/>
                </a:gs>
                <a:gs pos="44000">
                  <a:srgbClr val="FE9E9F"/>
                </a:gs>
                <a:gs pos="84000">
                  <a:srgbClr val="FF7373"/>
                </a:gs>
              </a:gsLst>
              <a:lin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9" idx="2"/>
              <a:endCxn id="17" idx="3"/>
            </p:cNvCxnSpPr>
            <p:nvPr/>
          </p:nvCxnSpPr>
          <p:spPr>
            <a:xfrm flipH="1">
              <a:off x="10144" y="7620"/>
              <a:ext cx="1660" cy="1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6" idx="0"/>
              <a:endCxn id="9" idx="4"/>
            </p:cNvCxnSpPr>
            <p:nvPr/>
          </p:nvCxnSpPr>
          <p:spPr>
            <a:xfrm flipV="1">
              <a:off x="11997" y="8040"/>
              <a:ext cx="247" cy="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5" idx="0"/>
              <a:endCxn id="9" idx="6"/>
            </p:cNvCxnSpPr>
            <p:nvPr/>
          </p:nvCxnSpPr>
          <p:spPr>
            <a:xfrm flipH="1" flipV="1">
              <a:off x="12684" y="7620"/>
              <a:ext cx="780" cy="1290"/>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9330" y="9750"/>
              <a:ext cx="688" cy="580"/>
            </a:xfrm>
            <a:prstGeom prst="rect">
              <a:avLst/>
            </a:prstGeom>
            <a:noFill/>
          </p:spPr>
          <p:txBody>
            <a:bodyPr wrap="none" rtlCol="0">
              <a:spAutoFit/>
            </a:bodyPr>
            <a:lstStyle/>
            <a:p>
              <a:r>
                <a:rPr lang="en-US" altLang="zh-CN"/>
                <a:t>u1</a:t>
              </a:r>
            </a:p>
          </p:txBody>
        </p:sp>
        <p:sp>
          <p:nvSpPr>
            <p:cNvPr id="25" name="文本框 24"/>
            <p:cNvSpPr txBox="1"/>
            <p:nvPr/>
          </p:nvSpPr>
          <p:spPr>
            <a:xfrm>
              <a:off x="11557" y="9750"/>
              <a:ext cx="688" cy="580"/>
            </a:xfrm>
            <a:prstGeom prst="rect">
              <a:avLst/>
            </a:prstGeom>
            <a:noFill/>
          </p:spPr>
          <p:txBody>
            <a:bodyPr wrap="none" rtlCol="0">
              <a:spAutoFit/>
            </a:bodyPr>
            <a:lstStyle/>
            <a:p>
              <a:r>
                <a:rPr lang="en-US" altLang="zh-CN"/>
                <a:t>u2</a:t>
              </a:r>
            </a:p>
          </p:txBody>
        </p:sp>
        <p:sp>
          <p:nvSpPr>
            <p:cNvPr id="27" name="文本框 26"/>
            <p:cNvSpPr txBox="1"/>
            <p:nvPr/>
          </p:nvSpPr>
          <p:spPr>
            <a:xfrm>
              <a:off x="13120" y="9750"/>
              <a:ext cx="688" cy="580"/>
            </a:xfrm>
            <a:prstGeom prst="rect">
              <a:avLst/>
            </a:prstGeom>
            <a:noFill/>
          </p:spPr>
          <p:txBody>
            <a:bodyPr wrap="none" rtlCol="0">
              <a:spAutoFit/>
            </a:bodyPr>
            <a:lstStyle/>
            <a:p>
              <a:r>
                <a:rPr lang="en-US" altLang="zh-CN"/>
                <a:t>u2</a:t>
              </a:r>
            </a:p>
          </p:txBody>
        </p:sp>
      </p:grpSp>
      <p:sp>
        <p:nvSpPr>
          <p:cNvPr id="5" name="文本框 4"/>
          <p:cNvSpPr txBox="1"/>
          <p:nvPr/>
        </p:nvSpPr>
        <p:spPr>
          <a:xfrm>
            <a:off x="4767580" y="332740"/>
            <a:ext cx="2250440" cy="368300"/>
          </a:xfrm>
          <a:prstGeom prst="rect">
            <a:avLst/>
          </a:prstGeom>
        </p:spPr>
        <p:style>
          <a:lnRef idx="2">
            <a:schemeClr val="accent1"/>
          </a:lnRef>
          <a:fillRef idx="1">
            <a:schemeClr val="lt1"/>
          </a:fillRef>
          <a:effectRef idx="0">
            <a:schemeClr val="accent1"/>
          </a:effectRef>
          <a:fontRef idx="minor">
            <a:schemeClr val="dk1"/>
          </a:fontRef>
        </p:style>
        <p:txBody>
          <a:bodyPr wrap="none" rtlCol="0" anchor="t">
            <a:spAutoFit/>
          </a:bodyPr>
          <a:lstStyle/>
          <a:p>
            <a:r>
              <a:rPr lang="zh-CN" altLang="en-US" b="1">
                <a:solidFill>
                  <a:srgbClr val="C00000"/>
                </a:solidFill>
                <a:highlight>
                  <a:srgbClr val="FFFF00"/>
                </a:highlight>
                <a:sym typeface="+mn-ea"/>
              </a:rPr>
              <a:t>或</a:t>
            </a:r>
            <a:r>
              <a:rPr lang="zh-CN" altLang="en-US" b="1">
                <a:solidFill>
                  <a:srgbClr val="C00000"/>
                </a:solidFill>
                <a:sym typeface="+mn-ea"/>
              </a:rPr>
              <a:t>中取</a:t>
            </a:r>
            <a:r>
              <a:rPr lang="zh-CN" altLang="en-US" b="1">
                <a:solidFill>
                  <a:srgbClr val="C00000"/>
                </a:solidFill>
                <a:highlight>
                  <a:srgbClr val="FFFF00"/>
                </a:highlight>
                <a:sym typeface="+mn-ea"/>
              </a:rPr>
              <a:t>大</a:t>
            </a:r>
            <a:r>
              <a:rPr lang="zh-CN" altLang="en-US">
                <a:sym typeface="+mn-ea"/>
              </a:rPr>
              <a:t>，</a:t>
            </a:r>
            <a:r>
              <a:rPr lang="zh-CN" altLang="en-US" b="1">
                <a:solidFill>
                  <a:srgbClr val="C00000"/>
                </a:solidFill>
                <a:highlight>
                  <a:srgbClr val="FFFF00"/>
                </a:highlight>
                <a:sym typeface="+mn-ea"/>
              </a:rPr>
              <a:t>与</a:t>
            </a:r>
            <a:r>
              <a:rPr lang="zh-CN" altLang="en-US" b="1">
                <a:solidFill>
                  <a:srgbClr val="C00000"/>
                </a:solidFill>
                <a:sym typeface="+mn-ea"/>
              </a:rPr>
              <a:t>中取</a:t>
            </a:r>
            <a:r>
              <a:rPr lang="zh-CN" altLang="en-US" b="1">
                <a:solidFill>
                  <a:srgbClr val="C00000"/>
                </a:solidFill>
                <a:highlight>
                  <a:srgbClr val="FFFF00"/>
                </a:highlight>
                <a:sym typeface="+mn-ea"/>
              </a:rPr>
              <a:t>小</a:t>
            </a:r>
            <a:endParaRPr lang="zh-CN" altLang="en-US"/>
          </a:p>
        </p:txBody>
      </p:sp>
      <p:sp>
        <p:nvSpPr>
          <p:cNvPr id="7" name="文本框 6"/>
          <p:cNvSpPr txBox="1"/>
          <p:nvPr/>
        </p:nvSpPr>
        <p:spPr>
          <a:xfrm>
            <a:off x="683895" y="976630"/>
            <a:ext cx="967105" cy="368300"/>
          </a:xfrm>
          <a:prstGeom prst="rect">
            <a:avLst/>
          </a:prstGeom>
          <a:noFill/>
        </p:spPr>
        <p:txBody>
          <a:bodyPr wrap="none" rtlCol="0">
            <a:spAutoFit/>
          </a:bodyPr>
          <a:lstStyle/>
          <a:p>
            <a:r>
              <a:rPr lang="en-US" altLang="zh-CN"/>
              <a:t>[α</a:t>
            </a:r>
            <a:r>
              <a:rPr lang="en-US" altLang="zh-CN" baseline="-25000"/>
              <a:t>p</a:t>
            </a:r>
            <a:r>
              <a:rPr lang="zh-CN" altLang="en-US"/>
              <a:t>，</a:t>
            </a:r>
            <a:r>
              <a:rPr lang="en-US" altLang="zh-CN"/>
              <a:t>β</a:t>
            </a:r>
            <a:r>
              <a:rPr lang="en-US" altLang="zh-CN" baseline="-25000"/>
              <a:t>p</a:t>
            </a:r>
            <a:r>
              <a:rPr lang="en-US" altLang="zh-CN"/>
              <a:t>]</a:t>
            </a:r>
          </a:p>
        </p:txBody>
      </p:sp>
      <p:sp>
        <p:nvSpPr>
          <p:cNvPr id="21" name="文本框 20"/>
          <p:cNvSpPr txBox="1"/>
          <p:nvPr/>
        </p:nvSpPr>
        <p:spPr>
          <a:xfrm>
            <a:off x="1532255" y="3030855"/>
            <a:ext cx="384175" cy="368300"/>
          </a:xfrm>
          <a:prstGeom prst="rect">
            <a:avLst/>
          </a:prstGeom>
          <a:noFill/>
        </p:spPr>
        <p:txBody>
          <a:bodyPr wrap="none" rtlCol="0">
            <a:spAutoFit/>
          </a:bodyPr>
          <a:lstStyle/>
          <a:p>
            <a:r>
              <a:rPr lang="en-US" altLang="zh-CN"/>
              <a:t>u</a:t>
            </a:r>
            <a:r>
              <a:rPr lang="en-US" altLang="zh-CN" baseline="-25000"/>
              <a:t>x</a:t>
            </a:r>
          </a:p>
        </p:txBody>
      </p:sp>
      <p:sp>
        <p:nvSpPr>
          <p:cNvPr id="23" name="文本框 22"/>
          <p:cNvSpPr txBox="1"/>
          <p:nvPr/>
        </p:nvSpPr>
        <p:spPr>
          <a:xfrm>
            <a:off x="4229735" y="1926590"/>
            <a:ext cx="4393565" cy="363601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marL="303530" lvl="1" indent="-285750">
              <a:lnSpc>
                <a:spcPct val="160000"/>
              </a:lnSpc>
              <a:buFont typeface="Arial" panose="020B0604020202020204" pitchFamily="34" charset="0"/>
              <a:buChar char="•"/>
            </a:pP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β剪枝：</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节点</a:t>
            </a:r>
            <a:r>
              <a:rPr lang="en-US" altLang="zh-CN">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的α值不能降低其父节点的</a:t>
            </a:r>
            <a:r>
              <a:rPr lang="zh-CN" altLang="en-US" i="1">
                <a:latin typeface="Times New Roman" panose="02020603050405020304" pitchFamily="18" charset="0"/>
                <a:ea typeface="微软雅黑" panose="020B0503020204020204" pitchFamily="34" charset="-122"/>
                <a:cs typeface="Times New Roman" panose="02020603050405020304" pitchFamily="18" charset="0"/>
                <a:sym typeface="+mn-ea"/>
              </a:rPr>
              <a:t>β</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值（</a:t>
            </a:r>
            <a:r>
              <a:rPr lang="en-US" altLang="zh-CN"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b="1" i="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en-US" altLang="zh-CN" b="1" i="1" baseline="-250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x </a:t>
            </a:r>
            <a:r>
              <a:rPr lang="zh-CN" altLang="en-US" b="1" i="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b="1" i="1" baseline="-250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b="1" i="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β</a:t>
            </a:r>
            <a:r>
              <a:rPr lang="en-US" altLang="zh-CN" b="1" i="1" baseline="-250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p</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以下的分支可停止搜索，且</a:t>
            </a:r>
            <a:r>
              <a:rPr lang="en-US" altLang="zh-CN">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的倒推值为</a:t>
            </a:r>
            <a:r>
              <a:rPr lang="zh-CN" altLang="en-US" i="1">
                <a:latin typeface="Times New Roman" panose="02020603050405020304" pitchFamily="18" charset="0"/>
                <a:ea typeface="微软雅黑" panose="020B0503020204020204" pitchFamily="34" charset="-122"/>
                <a:cs typeface="Times New Roman" panose="02020603050405020304" pitchFamily="18" charset="0"/>
                <a:sym typeface="+mn-ea"/>
              </a:rPr>
              <a:t>α</a:t>
            </a:r>
            <a:endPar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303530" lvl="1" indent="-285750">
              <a:lnSpc>
                <a:spcPct val="160000"/>
              </a:lnSpc>
              <a:buFont typeface="Arial" panose="020B0604020202020204" pitchFamily="34" charset="0"/>
              <a:buChar char="•"/>
            </a:pPr>
            <a:r>
              <a:rPr lang="zh-CN" altLang="en-US"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α 剪枝：</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节点x的β值不能升高其父节点的</a:t>
            </a:r>
            <a:r>
              <a:rPr lang="zh-CN" altLang="en-US" i="1">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值（</a:t>
            </a:r>
            <a:r>
              <a:rPr lang="en-US" altLang="zh-CN" b="1" i="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β</a:t>
            </a:r>
            <a:r>
              <a:rPr lang="en-US" altLang="zh-CN" b="1" i="1" baseline="-250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en-US" altLang="zh-CN" b="1" i="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b="1" i="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b="1" i="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α</a:t>
            </a:r>
            <a:r>
              <a:rPr lang="en-US" altLang="zh-CN" b="1" i="1" baseline="-250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p</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以下的分支可停止搜索，且</a:t>
            </a:r>
            <a:r>
              <a:rPr lang="en-US" altLang="zh-CN">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的倒推值为</a:t>
            </a:r>
            <a:r>
              <a:rPr lang="zh-CN" altLang="en-US" i="1">
                <a:latin typeface="Times New Roman" panose="02020603050405020304" pitchFamily="18" charset="0"/>
                <a:ea typeface="微软雅黑" panose="020B0503020204020204" pitchFamily="34" charset="-122"/>
                <a:cs typeface="Times New Roman" panose="02020603050405020304" pitchFamily="18" charset="0"/>
                <a:sym typeface="+mn-ea"/>
              </a:rPr>
              <a:t>β</a:t>
            </a: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 </a:t>
            </a:r>
          </a:p>
          <a:p>
            <a:pPr marL="303530" lvl="1" indent="-285750">
              <a:lnSpc>
                <a:spcPct val="160000"/>
              </a:lnSpc>
              <a:buFont typeface="Arial" panose="020B0604020202020204" pitchFamily="34" charset="0"/>
              <a:buChar char="•"/>
            </a:pP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α-β</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剪枝：</a:t>
            </a:r>
            <a:r>
              <a:rPr lang="zh-CN" altLang="en-US">
                <a:latin typeface="Times New Roman" panose="02020603050405020304" pitchFamily="18" charset="0"/>
                <a:ea typeface="微软雅黑" panose="020B0503020204020204" pitchFamily="34" charset="-122"/>
                <a:cs typeface="Times New Roman" panose="02020603050405020304" pitchFamily="18" charset="0"/>
              </a:rPr>
              <a:t>保存</a:t>
            </a:r>
            <a:r>
              <a:rPr lang="en-US" altLang="zh-CN">
                <a:latin typeface="Times New Roman" panose="02020603050405020304" pitchFamily="18" charset="0"/>
                <a:ea typeface="微软雅黑" panose="020B0503020204020204" pitchFamily="34" charset="-122"/>
                <a:cs typeface="Times New Roman" panose="02020603050405020304" pitchFamily="18" charset="0"/>
              </a:rPr>
              <a:t>α</a:t>
            </a:r>
            <a:r>
              <a:rPr lang="zh-CN" altLang="en-US">
                <a:latin typeface="Times New Roman" panose="02020603050405020304" pitchFamily="18" charset="0"/>
                <a:ea typeface="微软雅黑" panose="020B0503020204020204" pitchFamily="34" charset="-122"/>
                <a:cs typeface="Times New Roman" panose="02020603050405020304" pitchFamily="18" charset="0"/>
              </a:rPr>
              <a:t>、</a:t>
            </a:r>
            <a:r>
              <a:rPr lang="en-US" altLang="zh-CN">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a:latin typeface="Times New Roman" panose="02020603050405020304" pitchFamily="18" charset="0"/>
                <a:ea typeface="微软雅黑" panose="020B0503020204020204" pitchFamily="34" charset="-122"/>
                <a:cs typeface="Times New Roman" panose="02020603050405020304" pitchFamily="18" charset="0"/>
              </a:rPr>
              <a:t>值，并且当可能时进行剪枝的整个过程</a:t>
            </a:r>
          </a:p>
        </p:txBody>
      </p:sp>
      <p:sp>
        <p:nvSpPr>
          <p:cNvPr id="29" name="文本框 28"/>
          <p:cNvSpPr txBox="1"/>
          <p:nvPr/>
        </p:nvSpPr>
        <p:spPr>
          <a:xfrm>
            <a:off x="2440940" y="3167380"/>
            <a:ext cx="950595" cy="368300"/>
          </a:xfrm>
          <a:prstGeom prst="rect">
            <a:avLst/>
          </a:prstGeom>
          <a:noFill/>
        </p:spPr>
        <p:txBody>
          <a:bodyPr wrap="none" rtlCol="0">
            <a:spAutoFit/>
          </a:bodyPr>
          <a:lstStyle/>
          <a:p>
            <a:r>
              <a:rPr lang="en-US" altLang="zh-CN"/>
              <a:t>[α</a:t>
            </a:r>
            <a:r>
              <a:rPr lang="en-US" altLang="zh-CN" baseline="-25000"/>
              <a:t>x</a:t>
            </a:r>
            <a:r>
              <a:rPr lang="zh-CN" altLang="en-US"/>
              <a:t>，</a:t>
            </a:r>
            <a:r>
              <a:rPr lang="en-US" altLang="zh-CN"/>
              <a:t>β</a:t>
            </a:r>
            <a:r>
              <a:rPr lang="en-US" altLang="zh-CN" baseline="-25000"/>
              <a:t>x</a:t>
            </a:r>
            <a:r>
              <a:rPr lang="en-US" altLang="zh-CN"/>
              <a:t>]</a:t>
            </a:r>
          </a:p>
        </p:txBody>
      </p:sp>
      <p:sp>
        <p:nvSpPr>
          <p:cNvPr id="30" name="文本框 29"/>
          <p:cNvSpPr txBox="1"/>
          <p:nvPr/>
        </p:nvSpPr>
        <p:spPr>
          <a:xfrm>
            <a:off x="2663825" y="892810"/>
            <a:ext cx="6254750" cy="645160"/>
          </a:xfrm>
          <a:prstGeom prst="rect">
            <a:avLst/>
          </a:prstGeom>
          <a:noFill/>
          <a:ln>
            <a:solidFill>
              <a:srgbClr val="C00000"/>
            </a:solidFill>
          </a:ln>
        </p:spPr>
        <p:txBody>
          <a:bodyPr wrap="square" rtlCol="0" anchor="t">
            <a:spAutoFit/>
          </a:bodyPr>
          <a:lstStyle/>
          <a:p>
            <a:r>
              <a:rPr lang="en-US" altLang="zh-CN">
                <a:sym typeface="+mn-ea"/>
              </a:rPr>
              <a:t>α</a:t>
            </a:r>
            <a:r>
              <a:rPr>
                <a:sym typeface="+mn-ea"/>
              </a:rPr>
              <a:t>值</a:t>
            </a:r>
            <a:r>
              <a:rPr lang="en-US" altLang="zh-CN">
                <a:sym typeface="+mn-ea"/>
              </a:rPr>
              <a:t>=</a:t>
            </a:r>
            <a:r>
              <a:rPr>
                <a:sym typeface="+mn-ea"/>
              </a:rPr>
              <a:t>到目前为止路径上发现的</a:t>
            </a:r>
            <a:r>
              <a:rPr lang="en-US" altLang="zh-CN">
                <a:sym typeface="+mn-ea"/>
              </a:rPr>
              <a:t>MAX</a:t>
            </a:r>
            <a:r>
              <a:rPr>
                <a:sym typeface="+mn-ea"/>
              </a:rPr>
              <a:t>的最佳（即极大值）选择</a:t>
            </a:r>
            <a:endParaRPr lang="zh-CN" altLang="en-US"/>
          </a:p>
          <a:p>
            <a:r>
              <a:rPr lang="en-US" altLang="zh-CN">
                <a:sym typeface="+mn-ea"/>
              </a:rPr>
              <a:t>β</a:t>
            </a:r>
            <a:r>
              <a:rPr>
                <a:sym typeface="+mn-ea"/>
              </a:rPr>
              <a:t>值</a:t>
            </a:r>
            <a:r>
              <a:rPr lang="en-US" altLang="zh-CN">
                <a:sym typeface="+mn-ea"/>
              </a:rPr>
              <a:t>=</a:t>
            </a:r>
            <a:r>
              <a:rPr>
                <a:sym typeface="+mn-ea"/>
              </a:rPr>
              <a:t>到目前为止路径上发现的</a:t>
            </a:r>
            <a:r>
              <a:rPr lang="en-US" altLang="zh-CN">
                <a:sym typeface="+mn-ea"/>
              </a:rPr>
              <a:t>MIN</a:t>
            </a:r>
            <a:r>
              <a:rPr>
                <a:sym typeface="+mn-ea"/>
              </a:rPr>
              <a:t>的最佳（即极小值）选择</a:t>
            </a:r>
            <a:endParaRPr lang="zh-CN" altLang="en-US"/>
          </a:p>
        </p:txBody>
      </p:sp>
      <p:sp>
        <p:nvSpPr>
          <p:cNvPr id="32" name="文本框 31"/>
          <p:cNvSpPr txBox="1"/>
          <p:nvPr/>
        </p:nvSpPr>
        <p:spPr>
          <a:xfrm>
            <a:off x="267970" y="5401310"/>
            <a:ext cx="3778250" cy="1198880"/>
          </a:xfrm>
          <a:prstGeom prst="rect">
            <a:avLst/>
          </a:prstGeom>
          <a:noFill/>
        </p:spPr>
        <p:txBody>
          <a:bodyPr wrap="square" rtlCol="0">
            <a:spAutoFit/>
          </a:bodyPr>
          <a:lstStyle/>
          <a:p>
            <a:r>
              <a:rPr lang="zh-CN" altLang="en-US"/>
              <a:t>对</a:t>
            </a:r>
            <a:r>
              <a:rPr lang="en-US" altLang="zh-CN"/>
              <a:t>MIN</a:t>
            </a:r>
            <a:r>
              <a:rPr lang="zh-CN" altLang="en-US"/>
              <a:t>节点</a:t>
            </a:r>
            <a:r>
              <a:rPr lang="en-US" altLang="zh-CN"/>
              <a:t>X</a:t>
            </a:r>
            <a:r>
              <a:rPr lang="zh-CN" altLang="en-US"/>
              <a:t>，其效用值</a:t>
            </a:r>
            <a:r>
              <a:rPr lang="en-US" altLang="zh-CN"/>
              <a:t>u</a:t>
            </a:r>
            <a:r>
              <a:rPr lang="en-US" altLang="zh-CN" baseline="-25000"/>
              <a:t>x</a:t>
            </a:r>
            <a:r>
              <a:rPr lang="en-US" altLang="zh-CN"/>
              <a:t>=min(u1,u2,u3)</a:t>
            </a:r>
            <a:r>
              <a:rPr lang="zh-CN" altLang="en-US"/>
              <a:t>，</a:t>
            </a:r>
            <a:r>
              <a:rPr lang="en-US" altLang="zh-CN" b="1">
                <a:solidFill>
                  <a:srgbClr val="0070C0"/>
                </a:solidFill>
              </a:rPr>
              <a:t>α</a:t>
            </a:r>
            <a:r>
              <a:rPr lang="en-US" altLang="zh-CN" b="1" baseline="-25000">
                <a:solidFill>
                  <a:srgbClr val="0070C0"/>
                </a:solidFill>
              </a:rPr>
              <a:t>x</a:t>
            </a:r>
            <a:r>
              <a:rPr lang="en-US" altLang="zh-CN" b="1">
                <a:solidFill>
                  <a:srgbClr val="0070C0"/>
                </a:solidFill>
              </a:rPr>
              <a:t>=u</a:t>
            </a:r>
            <a:r>
              <a:rPr lang="en-US" altLang="zh-CN" b="1" baseline="-25000">
                <a:solidFill>
                  <a:srgbClr val="0070C0"/>
                </a:solidFill>
              </a:rPr>
              <a:t>x</a:t>
            </a:r>
            <a:r>
              <a:rPr lang="en-US" altLang="zh-CN"/>
              <a:t>≤β</a:t>
            </a:r>
            <a:r>
              <a:rPr lang="en-US" altLang="zh-CN" baseline="-25000"/>
              <a:t>x</a:t>
            </a:r>
          </a:p>
          <a:p>
            <a:r>
              <a:rPr lang="zh-CN" altLang="en-US"/>
              <a:t>对</a:t>
            </a:r>
            <a:r>
              <a:rPr lang="en-US" altLang="zh-CN"/>
              <a:t>MAX</a:t>
            </a:r>
            <a:r>
              <a:rPr lang="zh-CN" altLang="en-US"/>
              <a:t>节点</a:t>
            </a:r>
            <a:r>
              <a:rPr lang="en-US" altLang="zh-CN"/>
              <a:t>P</a:t>
            </a:r>
            <a:r>
              <a:rPr lang="zh-CN" altLang="en-US"/>
              <a:t>，其效用值</a:t>
            </a:r>
            <a:r>
              <a:rPr lang="en-US" altLang="zh-CN"/>
              <a:t>u</a:t>
            </a:r>
            <a:r>
              <a:rPr lang="en-US" altLang="zh-CN" baseline="-25000"/>
              <a:t>p</a:t>
            </a:r>
            <a:r>
              <a:rPr lang="en-US" altLang="zh-CN"/>
              <a:t>=max{u</a:t>
            </a:r>
            <a:r>
              <a:rPr lang="en-US" altLang="zh-CN" baseline="-25000"/>
              <a:t>x</a:t>
            </a:r>
            <a:r>
              <a:rPr lang="en-US" altLang="zh-CN"/>
              <a:t>},    </a:t>
            </a:r>
            <a:r>
              <a:rPr lang="en-US" altLang="zh-CN">
                <a:sym typeface="+mn-ea"/>
              </a:rPr>
              <a:t>α</a:t>
            </a:r>
            <a:r>
              <a:rPr lang="en-US" altLang="zh-CN" baseline="-25000">
                <a:sym typeface="+mn-ea"/>
              </a:rPr>
              <a:t>p</a:t>
            </a:r>
            <a:r>
              <a:rPr lang="en-US" altLang="zh-CN">
                <a:sym typeface="+mn-ea"/>
              </a:rPr>
              <a:t>≤</a:t>
            </a:r>
            <a:r>
              <a:rPr lang="en-US" altLang="zh-CN" b="1">
                <a:solidFill>
                  <a:srgbClr val="0070C0"/>
                </a:solidFill>
                <a:sym typeface="+mn-ea"/>
              </a:rPr>
              <a:t>u</a:t>
            </a:r>
            <a:r>
              <a:rPr lang="en-US" altLang="zh-CN" b="1" baseline="-25000">
                <a:solidFill>
                  <a:srgbClr val="0070C0"/>
                </a:solidFill>
                <a:sym typeface="+mn-ea"/>
              </a:rPr>
              <a:t>p</a:t>
            </a:r>
            <a:r>
              <a:rPr lang="en-US" altLang="zh-CN" b="1">
                <a:solidFill>
                  <a:srgbClr val="0070C0"/>
                </a:solidFill>
                <a:sym typeface="+mn-ea"/>
              </a:rPr>
              <a:t>=β</a:t>
            </a:r>
            <a:r>
              <a:rPr lang="en-US" altLang="zh-CN" b="1" baseline="-25000">
                <a:solidFill>
                  <a:srgbClr val="0070C0"/>
                </a:solidFill>
                <a:sym typeface="+mn-ea"/>
              </a:rPr>
              <a:t>p</a:t>
            </a:r>
            <a:endParaRPr lang="zh-CN" altLang="en-US" b="1">
              <a:solidFill>
                <a:srgbClr val="0070C0"/>
              </a:solidFill>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图片 108"/>
          <p:cNvPicPr/>
          <p:nvPr/>
        </p:nvPicPr>
        <p:blipFill>
          <a:blip r:embed="rId4"/>
          <a:stretch>
            <a:fillRect/>
          </a:stretch>
        </p:blipFill>
        <p:spPr>
          <a:xfrm>
            <a:off x="2109788" y="1738313"/>
            <a:ext cx="4924425" cy="3381375"/>
          </a:xfrm>
          <a:prstGeom prst="rect">
            <a:avLst/>
          </a:prstGeom>
          <a:noFill/>
          <a:ln w="9525">
            <a:noFill/>
          </a:ln>
        </p:spPr>
      </p:pic>
      <p:sp>
        <p:nvSpPr>
          <p:cNvPr id="2" name="文本框 1"/>
          <p:cNvSpPr txBox="1"/>
          <p:nvPr/>
        </p:nvSpPr>
        <p:spPr>
          <a:xfrm>
            <a:off x="749935" y="1002030"/>
            <a:ext cx="7645400" cy="922020"/>
          </a:xfrm>
          <a:prstGeom prst="rect">
            <a:avLst/>
          </a:prstGeom>
          <a:noFill/>
        </p:spPr>
        <p:txBody>
          <a:bodyPr wrap="square" rtlCol="0" anchor="t">
            <a:spAutoFit/>
          </a:bodyPr>
          <a:lstStyle/>
          <a:p>
            <a:r>
              <a:rPr lang="zh-CN" altLang="en-US"/>
              <a:t>重新考虑两层博弈树。让我们再次全面观察最优决策的计算过程，</a:t>
            </a:r>
          </a:p>
          <a:p>
            <a:r>
              <a:rPr lang="zh-CN" altLang="en-US"/>
              <a:t>这一次仔细注意过程中在每个节点我们所知道的信息。</a:t>
            </a:r>
          </a:p>
          <a:p>
            <a:r>
              <a:rPr lang="zh-CN" altLang="en-US"/>
              <a:t>下图显示了每一步的解释。</a:t>
            </a:r>
          </a:p>
        </p:txBody>
      </p:sp>
      <p:sp>
        <p:nvSpPr>
          <p:cNvPr id="3" name="文本框 2"/>
          <p:cNvSpPr txBox="1"/>
          <p:nvPr/>
        </p:nvSpPr>
        <p:spPr>
          <a:xfrm>
            <a:off x="8382000" y="6146800"/>
            <a:ext cx="309880" cy="368300"/>
          </a:xfrm>
          <a:prstGeom prst="rect">
            <a:avLst/>
          </a:prstGeom>
          <a:noFill/>
        </p:spPr>
        <p:txBody>
          <a:bodyPr wrap="none" rtlCol="0">
            <a:spAutoFit/>
          </a:bodyPr>
          <a:lstStyle/>
          <a:p>
            <a:r>
              <a:rPr lang="en-US" altLang="zh-CN"/>
              <a:t>1</a:t>
            </a:r>
          </a:p>
        </p:txBody>
      </p:sp>
      <p:sp>
        <p:nvSpPr>
          <p:cNvPr id="4" name="文本框 3"/>
          <p:cNvSpPr txBox="1"/>
          <p:nvPr/>
        </p:nvSpPr>
        <p:spPr>
          <a:xfrm>
            <a:off x="219075" y="168275"/>
            <a:ext cx="7233285" cy="645160"/>
          </a:xfrm>
          <a:prstGeom prst="rect">
            <a:avLst/>
          </a:prstGeom>
          <a:noFill/>
        </p:spPr>
        <p:txBody>
          <a:bodyPr wrap="square" rtlCol="0" anchor="t">
            <a:spAutoFit/>
          </a:bodyPr>
          <a:lstStyle/>
          <a:p>
            <a:pPr algn="ct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AlphaBeta剪枝方法是对Minimax方法的优化</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它们产生的结果是完全相同的，只不过运行效率不一样</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图片 109"/>
          <p:cNvPicPr/>
          <p:nvPr/>
        </p:nvPicPr>
        <p:blipFill>
          <a:blip r:embed="rId3"/>
          <a:stretch>
            <a:fillRect/>
          </a:stretch>
        </p:blipFill>
        <p:spPr>
          <a:xfrm>
            <a:off x="914400" y="1143000"/>
            <a:ext cx="7315200" cy="4572000"/>
          </a:xfrm>
          <a:prstGeom prst="rect">
            <a:avLst/>
          </a:prstGeom>
          <a:noFill/>
          <a:ln w="9525">
            <a:noFill/>
          </a:ln>
        </p:spPr>
      </p:pic>
      <p:sp>
        <p:nvSpPr>
          <p:cNvPr id="2" name="文本框 1"/>
          <p:cNvSpPr txBox="1"/>
          <p:nvPr/>
        </p:nvSpPr>
        <p:spPr>
          <a:xfrm>
            <a:off x="8331200" y="6337300"/>
            <a:ext cx="309880" cy="368300"/>
          </a:xfrm>
          <a:prstGeom prst="rect">
            <a:avLst/>
          </a:prstGeom>
          <a:noFill/>
        </p:spPr>
        <p:txBody>
          <a:bodyPr wrap="none" rtlCol="0">
            <a:spAutoFit/>
          </a:bodyPr>
          <a:lstStyle/>
          <a:p>
            <a:r>
              <a:rPr lang="en-US" altLang="zh-CN"/>
              <a:t>2</a:t>
            </a: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 name="图片 110"/>
          <p:cNvPicPr/>
          <p:nvPr/>
        </p:nvPicPr>
        <p:blipFill>
          <a:blip r:embed="rId3"/>
          <a:stretch>
            <a:fillRect/>
          </a:stretch>
        </p:blipFill>
        <p:spPr>
          <a:xfrm>
            <a:off x="1385888" y="652463"/>
            <a:ext cx="6372225" cy="5553075"/>
          </a:xfrm>
          <a:prstGeom prst="rect">
            <a:avLst/>
          </a:prstGeom>
          <a:noFill/>
          <a:ln w="9525">
            <a:noFill/>
          </a:ln>
        </p:spPr>
      </p:pic>
      <p:sp>
        <p:nvSpPr>
          <p:cNvPr id="2" name="文本框 1"/>
          <p:cNvSpPr txBox="1"/>
          <p:nvPr/>
        </p:nvSpPr>
        <p:spPr>
          <a:xfrm>
            <a:off x="8293100" y="6172200"/>
            <a:ext cx="309880" cy="368300"/>
          </a:xfrm>
          <a:prstGeom prst="rect">
            <a:avLst/>
          </a:prstGeom>
          <a:noFill/>
        </p:spPr>
        <p:txBody>
          <a:bodyPr wrap="none" rtlCol="0">
            <a:spAutoFit/>
          </a:bodyPr>
          <a:lstStyle/>
          <a:p>
            <a:r>
              <a:rPr lang="en-US" altLang="zh-CN"/>
              <a:t>3</a:t>
            </a: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图片 111"/>
          <p:cNvPicPr/>
          <p:nvPr/>
        </p:nvPicPr>
        <p:blipFill>
          <a:blip r:embed="rId3"/>
          <a:stretch>
            <a:fillRect/>
          </a:stretch>
        </p:blipFill>
        <p:spPr>
          <a:xfrm>
            <a:off x="1328738" y="762000"/>
            <a:ext cx="6486525" cy="5334000"/>
          </a:xfrm>
          <a:prstGeom prst="rect">
            <a:avLst/>
          </a:prstGeom>
          <a:noFill/>
          <a:ln w="9525">
            <a:noFill/>
          </a:ln>
        </p:spPr>
      </p:pic>
      <p:sp>
        <p:nvSpPr>
          <p:cNvPr id="2" name="文本框 1"/>
          <p:cNvSpPr txBox="1"/>
          <p:nvPr/>
        </p:nvSpPr>
        <p:spPr>
          <a:xfrm>
            <a:off x="8394700" y="6273800"/>
            <a:ext cx="309880" cy="368300"/>
          </a:xfrm>
          <a:prstGeom prst="rect">
            <a:avLst/>
          </a:prstGeom>
          <a:noFill/>
        </p:spPr>
        <p:txBody>
          <a:bodyPr wrap="none" rtlCol="0">
            <a:spAutoFit/>
          </a:bodyPr>
          <a:lstStyle/>
          <a:p>
            <a:r>
              <a:rPr lang="en-US" altLang="zh-CN"/>
              <a:t>4</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图片 112"/>
          <p:cNvPicPr/>
          <p:nvPr/>
        </p:nvPicPr>
        <p:blipFill>
          <a:blip r:embed="rId3"/>
          <a:stretch>
            <a:fillRect/>
          </a:stretch>
        </p:blipFill>
        <p:spPr>
          <a:xfrm>
            <a:off x="1195388" y="681038"/>
            <a:ext cx="6753225" cy="5495925"/>
          </a:xfrm>
          <a:prstGeom prst="rect">
            <a:avLst/>
          </a:prstGeom>
          <a:noFill/>
          <a:ln w="9525">
            <a:noFill/>
          </a:ln>
        </p:spPr>
      </p:pic>
      <p:sp>
        <p:nvSpPr>
          <p:cNvPr id="2" name="文本框 1"/>
          <p:cNvSpPr txBox="1"/>
          <p:nvPr/>
        </p:nvSpPr>
        <p:spPr>
          <a:xfrm>
            <a:off x="8509000" y="6273800"/>
            <a:ext cx="309880" cy="368300"/>
          </a:xfrm>
          <a:prstGeom prst="rect">
            <a:avLst/>
          </a:prstGeom>
          <a:noFill/>
        </p:spPr>
        <p:txBody>
          <a:bodyPr wrap="none" rtlCol="0">
            <a:spAutoFit/>
          </a:bodyPr>
          <a:lstStyle/>
          <a:p>
            <a:r>
              <a:rPr lang="en-US" altLang="zh-CN"/>
              <a:t>5</a:t>
            </a: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图片 113"/>
          <p:cNvPicPr/>
          <p:nvPr/>
        </p:nvPicPr>
        <p:blipFill>
          <a:blip r:embed="rId3"/>
          <a:stretch>
            <a:fillRect/>
          </a:stretch>
        </p:blipFill>
        <p:spPr>
          <a:xfrm>
            <a:off x="800100" y="466725"/>
            <a:ext cx="7543800" cy="5924550"/>
          </a:xfrm>
          <a:prstGeom prst="rect">
            <a:avLst/>
          </a:prstGeom>
          <a:noFill/>
          <a:ln w="9525">
            <a:noFill/>
          </a:ln>
        </p:spPr>
      </p:pic>
      <p:sp>
        <p:nvSpPr>
          <p:cNvPr id="2" name="文本框 1"/>
          <p:cNvSpPr txBox="1"/>
          <p:nvPr/>
        </p:nvSpPr>
        <p:spPr>
          <a:xfrm>
            <a:off x="8153400" y="5753100"/>
            <a:ext cx="309880" cy="368300"/>
          </a:xfrm>
          <a:prstGeom prst="rect">
            <a:avLst/>
          </a:prstGeom>
          <a:noFill/>
        </p:spPr>
        <p:txBody>
          <a:bodyPr wrap="none" rtlCol="0">
            <a:spAutoFit/>
          </a:bodyPr>
          <a:lstStyle/>
          <a:p>
            <a:r>
              <a:rPr lang="en-US" altLang="zh-CN"/>
              <a:t>6</a:t>
            </a: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图片 114"/>
          <p:cNvPicPr/>
          <p:nvPr/>
        </p:nvPicPr>
        <p:blipFill>
          <a:blip r:embed="rId3"/>
          <a:stretch>
            <a:fillRect/>
          </a:stretch>
        </p:blipFill>
        <p:spPr>
          <a:xfrm>
            <a:off x="1447800" y="1090613"/>
            <a:ext cx="6248400" cy="4676775"/>
          </a:xfrm>
          <a:prstGeom prst="rect">
            <a:avLst/>
          </a:prstGeom>
          <a:noFill/>
          <a:ln w="9525">
            <a:noFill/>
          </a:ln>
        </p:spPr>
      </p:pic>
      <p:sp>
        <p:nvSpPr>
          <p:cNvPr id="2" name="文本框 1"/>
          <p:cNvSpPr txBox="1"/>
          <p:nvPr/>
        </p:nvSpPr>
        <p:spPr>
          <a:xfrm>
            <a:off x="8255000" y="5880100"/>
            <a:ext cx="309880" cy="368300"/>
          </a:xfrm>
          <a:prstGeom prst="rect">
            <a:avLst/>
          </a:prstGeom>
          <a:noFill/>
        </p:spPr>
        <p:txBody>
          <a:bodyPr wrap="none" rtlCol="0">
            <a:spAutoFit/>
          </a:bodyPr>
          <a:lstStyle/>
          <a:p>
            <a:r>
              <a:rPr lang="en-US" altLang="zh-CN"/>
              <a:t>7</a:t>
            </a:r>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图片 119"/>
          <p:cNvPicPr/>
          <p:nvPr/>
        </p:nvPicPr>
        <p:blipFill>
          <a:blip r:embed="rId3"/>
          <a:stretch>
            <a:fillRect/>
          </a:stretch>
        </p:blipFill>
        <p:spPr>
          <a:xfrm>
            <a:off x="1152525" y="1047750"/>
            <a:ext cx="6838950" cy="4762500"/>
          </a:xfrm>
          <a:prstGeom prst="rect">
            <a:avLst/>
          </a:prstGeom>
          <a:noFill/>
          <a:ln w="9525">
            <a:noFill/>
          </a:ln>
        </p:spPr>
      </p:pic>
      <p:sp>
        <p:nvSpPr>
          <p:cNvPr id="2" name="文本框 1"/>
          <p:cNvSpPr txBox="1"/>
          <p:nvPr/>
        </p:nvSpPr>
        <p:spPr>
          <a:xfrm>
            <a:off x="7962900" y="6286500"/>
            <a:ext cx="309880" cy="368300"/>
          </a:xfrm>
          <a:prstGeom prst="rect">
            <a:avLst/>
          </a:prstGeom>
          <a:noFill/>
        </p:spPr>
        <p:txBody>
          <a:bodyPr wrap="none" rtlCol="0">
            <a:spAutoFit/>
          </a:bodyPr>
          <a:lstStyle/>
          <a:p>
            <a:r>
              <a:rPr lang="en-US" altLang="zh-CN"/>
              <a:t>8</a:t>
            </a:r>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图片 116"/>
          <p:cNvPicPr/>
          <p:nvPr/>
        </p:nvPicPr>
        <p:blipFill>
          <a:blip r:embed="rId3"/>
          <a:stretch>
            <a:fillRect/>
          </a:stretch>
        </p:blipFill>
        <p:spPr>
          <a:xfrm>
            <a:off x="190500" y="661988"/>
            <a:ext cx="8763000" cy="5534025"/>
          </a:xfrm>
          <a:prstGeom prst="rect">
            <a:avLst/>
          </a:prstGeom>
          <a:noFill/>
          <a:ln w="9525">
            <a:noFill/>
          </a:ln>
        </p:spPr>
      </p:pic>
      <p:sp>
        <p:nvSpPr>
          <p:cNvPr id="2" name="文本框 1"/>
          <p:cNvSpPr txBox="1"/>
          <p:nvPr/>
        </p:nvSpPr>
        <p:spPr>
          <a:xfrm>
            <a:off x="8337550" y="6134100"/>
            <a:ext cx="309880" cy="368300"/>
          </a:xfrm>
          <a:prstGeom prst="rect">
            <a:avLst/>
          </a:prstGeom>
          <a:noFill/>
        </p:spPr>
        <p:txBody>
          <a:bodyPr wrap="none" rtlCol="0">
            <a:spAutoFit/>
          </a:bodyPr>
          <a:lstStyle/>
          <a:p>
            <a:r>
              <a:rPr lang="en-US" altLang="zh-CN"/>
              <a:t>9</a:t>
            </a: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图片 120"/>
          <p:cNvPicPr/>
          <p:nvPr/>
        </p:nvPicPr>
        <p:blipFill>
          <a:blip r:embed="rId3"/>
          <a:stretch>
            <a:fillRect/>
          </a:stretch>
        </p:blipFill>
        <p:spPr>
          <a:xfrm>
            <a:off x="142875" y="738188"/>
            <a:ext cx="8858250" cy="5381625"/>
          </a:xfrm>
          <a:prstGeom prst="rect">
            <a:avLst/>
          </a:prstGeom>
          <a:noFill/>
          <a:ln w="9525">
            <a:noFill/>
          </a:ln>
        </p:spPr>
      </p:pic>
      <p:sp>
        <p:nvSpPr>
          <p:cNvPr id="2" name="文本框 1"/>
          <p:cNvSpPr txBox="1"/>
          <p:nvPr/>
        </p:nvSpPr>
        <p:spPr>
          <a:xfrm>
            <a:off x="8297545" y="6108700"/>
            <a:ext cx="436880" cy="368300"/>
          </a:xfrm>
          <a:prstGeom prst="rect">
            <a:avLst/>
          </a:prstGeom>
          <a:noFill/>
        </p:spPr>
        <p:txBody>
          <a:bodyPr wrap="none" rtlCol="0">
            <a:spAutoFit/>
          </a:bodyPr>
          <a:lstStyle/>
          <a:p>
            <a:r>
              <a:rPr lang="en-US" altLang="zh-CN"/>
              <a:t>10</a:t>
            </a:r>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图片 121"/>
          <p:cNvPicPr/>
          <p:nvPr/>
        </p:nvPicPr>
        <p:blipFill>
          <a:blip r:embed="rId4"/>
          <a:stretch>
            <a:fillRect/>
          </a:stretch>
        </p:blipFill>
        <p:spPr>
          <a:xfrm>
            <a:off x="0" y="645013"/>
            <a:ext cx="9144000" cy="5567975"/>
          </a:xfrm>
          <a:prstGeom prst="rect">
            <a:avLst/>
          </a:prstGeom>
          <a:noFill/>
          <a:ln w="9525">
            <a:noFill/>
          </a:ln>
        </p:spPr>
      </p:pic>
      <p:sp>
        <p:nvSpPr>
          <p:cNvPr id="2" name="文本框 1"/>
          <p:cNvSpPr txBox="1"/>
          <p:nvPr/>
        </p:nvSpPr>
        <p:spPr>
          <a:xfrm>
            <a:off x="8051800" y="6121400"/>
            <a:ext cx="419735" cy="368300"/>
          </a:xfrm>
          <a:prstGeom prst="rect">
            <a:avLst/>
          </a:prstGeom>
          <a:noFill/>
        </p:spPr>
        <p:txBody>
          <a:bodyPr wrap="none" rtlCol="0">
            <a:spAutoFit/>
          </a:bodyPr>
          <a:lstStyle/>
          <a:p>
            <a:r>
              <a:rPr lang="en-US" altLang="zh-CN"/>
              <a:t>11</a:t>
            </a:r>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stretch>
            <a:fillRect/>
          </a:stretch>
        </p:blipFill>
        <p:spPr>
          <a:xfrm>
            <a:off x="133350" y="861695"/>
            <a:ext cx="8877300" cy="5133975"/>
          </a:xfrm>
          <a:prstGeom prst="rect">
            <a:avLst/>
          </a:prstGeom>
        </p:spPr>
      </p:pic>
      <p:sp>
        <p:nvSpPr>
          <p:cNvPr id="3" name="文本框 2"/>
          <p:cNvSpPr txBox="1"/>
          <p:nvPr/>
        </p:nvSpPr>
        <p:spPr>
          <a:xfrm>
            <a:off x="7947025" y="6299200"/>
            <a:ext cx="648335" cy="368300"/>
          </a:xfrm>
          <a:prstGeom prst="rect">
            <a:avLst/>
          </a:prstGeom>
          <a:noFill/>
        </p:spPr>
        <p:txBody>
          <a:bodyPr wrap="square" rtlCol="0">
            <a:spAutoFit/>
          </a:bodyPr>
          <a:lstStyle/>
          <a:p>
            <a:r>
              <a:rPr lang="en-US" altLang="zh-CN"/>
              <a:t>12</a:t>
            </a:r>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 name="图片 122"/>
          <p:cNvPicPr/>
          <p:nvPr/>
        </p:nvPicPr>
        <p:blipFill>
          <a:blip r:embed="rId3"/>
          <a:stretch>
            <a:fillRect/>
          </a:stretch>
        </p:blipFill>
        <p:spPr>
          <a:xfrm>
            <a:off x="0" y="1335796"/>
            <a:ext cx="9144000" cy="4186409"/>
          </a:xfrm>
          <a:prstGeom prst="rect">
            <a:avLst/>
          </a:prstGeom>
          <a:noFill/>
          <a:ln w="9525">
            <a:noFill/>
          </a:ln>
        </p:spPr>
      </p:pic>
      <p:sp>
        <p:nvSpPr>
          <p:cNvPr id="3" name="文本框 2"/>
          <p:cNvSpPr txBox="1"/>
          <p:nvPr/>
        </p:nvSpPr>
        <p:spPr>
          <a:xfrm>
            <a:off x="8216900" y="6083300"/>
            <a:ext cx="436880" cy="368300"/>
          </a:xfrm>
          <a:prstGeom prst="rect">
            <a:avLst/>
          </a:prstGeom>
          <a:noFill/>
        </p:spPr>
        <p:txBody>
          <a:bodyPr wrap="none" rtlCol="0">
            <a:spAutoFit/>
          </a:bodyPr>
          <a:lstStyle/>
          <a:p>
            <a:r>
              <a:rPr lang="en-US" altLang="zh-CN"/>
              <a:t>13</a:t>
            </a:r>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 name="图片 124"/>
          <p:cNvPicPr/>
          <p:nvPr/>
        </p:nvPicPr>
        <p:blipFill>
          <a:blip r:embed="rId3"/>
          <a:stretch>
            <a:fillRect/>
          </a:stretch>
        </p:blipFill>
        <p:spPr>
          <a:xfrm>
            <a:off x="228600" y="2493010"/>
            <a:ext cx="8738235" cy="4251325"/>
          </a:xfrm>
          <a:prstGeom prst="rect">
            <a:avLst/>
          </a:prstGeom>
          <a:noFill/>
          <a:ln w="9525">
            <a:noFill/>
          </a:ln>
        </p:spPr>
      </p:pic>
      <p:sp>
        <p:nvSpPr>
          <p:cNvPr id="3" name="文本框 2"/>
          <p:cNvSpPr txBox="1"/>
          <p:nvPr/>
        </p:nvSpPr>
        <p:spPr>
          <a:xfrm>
            <a:off x="228600" y="212090"/>
            <a:ext cx="8596630" cy="922020"/>
          </a:xfrm>
          <a:prstGeom prst="rect">
            <a:avLst/>
          </a:prstGeom>
          <a:noFill/>
        </p:spPr>
        <p:txBody>
          <a:bodyPr wrap="square" rtlCol="0" anchor="t">
            <a:spAutoFit/>
          </a:bodyPr>
          <a:lstStyle/>
          <a:p>
            <a:r>
              <a:rPr lang="zh-CN" altLang="en-US"/>
              <a:t>例如，对于如下的局势，假设从左往右搜索：</a:t>
            </a:r>
          </a:p>
          <a:p>
            <a:r>
              <a:rPr lang="zh-CN" altLang="en-US"/>
              <a:t>若已知某节点的所有子节点的倒推值，则可以算出该节点的倒推值：</a:t>
            </a:r>
          </a:p>
          <a:p>
            <a:r>
              <a:rPr lang="zh-CN" altLang="en-US"/>
              <a:t>对于MAX节点，取最大倒推值；对于MIN节点，取最小倒推值。</a:t>
            </a:r>
          </a:p>
        </p:txBody>
      </p:sp>
      <p:sp>
        <p:nvSpPr>
          <p:cNvPr id="4" name="文本框 3"/>
          <p:cNvSpPr txBox="1"/>
          <p:nvPr/>
        </p:nvSpPr>
        <p:spPr>
          <a:xfrm>
            <a:off x="228600" y="1466850"/>
            <a:ext cx="8737600" cy="922020"/>
          </a:xfrm>
          <a:prstGeom prst="rect">
            <a:avLst/>
          </a:prstGeom>
          <a:noFill/>
        </p:spPr>
        <p:txBody>
          <a:bodyPr wrap="square" rtlCol="0" anchor="t">
            <a:spAutoFit/>
          </a:bodyPr>
          <a:lstStyle/>
          <a:p>
            <a:r>
              <a:rPr lang="zh-CN" altLang="en-US"/>
              <a:t>若已知某节点的部分子节点的倒推值，虽然不能算出该节点的倒推值，但可以算出该节点的倒推值的</a:t>
            </a:r>
            <a:r>
              <a:rPr lang="zh-CN" altLang="en-US" b="1">
                <a:solidFill>
                  <a:srgbClr val="0070C0"/>
                </a:solidFill>
              </a:rPr>
              <a:t>取值范围</a:t>
            </a:r>
            <a:r>
              <a:rPr lang="zh-CN" altLang="en-US"/>
              <a:t>。同时，利用该节点的倒推值的取值范围，在搜素其子节点时，</a:t>
            </a:r>
            <a:r>
              <a:rPr lang="zh-CN" altLang="en-US" b="1">
                <a:solidFill>
                  <a:srgbClr val="0070C0"/>
                </a:solidFill>
              </a:rPr>
              <a:t>如果已经确定没有更好的走法，就不必再搜索剩余的子节点了</a:t>
            </a:r>
            <a:r>
              <a:rPr lang="zh-CN" altLang="en-US"/>
              <a:t>。</a:t>
            </a:r>
          </a:p>
        </p:txBody>
      </p:sp>
      <p:sp>
        <p:nvSpPr>
          <p:cNvPr id="5" name="文本框 4"/>
          <p:cNvSpPr txBox="1"/>
          <p:nvPr/>
        </p:nvSpPr>
        <p:spPr>
          <a:xfrm>
            <a:off x="7727950" y="488950"/>
            <a:ext cx="1097280" cy="645160"/>
          </a:xfrm>
          <a:prstGeom prst="rect">
            <a:avLst/>
          </a:prstGeom>
        </p:spPr>
        <p:style>
          <a:lnRef idx="2">
            <a:schemeClr val="accent1"/>
          </a:lnRef>
          <a:fillRef idx="1">
            <a:schemeClr val="lt1"/>
          </a:fillRef>
          <a:effectRef idx="0">
            <a:schemeClr val="accent1"/>
          </a:effectRef>
          <a:fontRef idx="minor">
            <a:schemeClr val="dk1"/>
          </a:fontRef>
        </p:style>
        <p:txBody>
          <a:bodyPr wrap="none" rtlCol="0" anchor="t">
            <a:spAutoFit/>
          </a:bodyPr>
          <a:lstStyle/>
          <a:p>
            <a:r>
              <a:rPr lang="zh-CN" altLang="en-US" b="1">
                <a:solidFill>
                  <a:srgbClr val="C00000"/>
                </a:solidFill>
                <a:highlight>
                  <a:srgbClr val="FFFF00"/>
                </a:highlight>
                <a:sym typeface="+mn-ea"/>
              </a:rPr>
              <a:t>或</a:t>
            </a:r>
            <a:r>
              <a:rPr lang="zh-CN" altLang="en-US" b="1">
                <a:solidFill>
                  <a:srgbClr val="C00000"/>
                </a:solidFill>
                <a:sym typeface="+mn-ea"/>
              </a:rPr>
              <a:t>中取</a:t>
            </a:r>
            <a:r>
              <a:rPr lang="zh-CN" altLang="en-US" b="1">
                <a:solidFill>
                  <a:srgbClr val="C00000"/>
                </a:solidFill>
                <a:highlight>
                  <a:srgbClr val="FFFF00"/>
                </a:highlight>
                <a:sym typeface="+mn-ea"/>
              </a:rPr>
              <a:t>大</a:t>
            </a:r>
          </a:p>
          <a:p>
            <a:r>
              <a:rPr lang="zh-CN" altLang="en-US" b="1">
                <a:solidFill>
                  <a:srgbClr val="C00000"/>
                </a:solidFill>
                <a:highlight>
                  <a:srgbClr val="FFFF00"/>
                </a:highlight>
                <a:sym typeface="+mn-ea"/>
              </a:rPr>
              <a:t>与</a:t>
            </a:r>
            <a:r>
              <a:rPr lang="zh-CN" altLang="en-US" b="1">
                <a:solidFill>
                  <a:srgbClr val="C00000"/>
                </a:solidFill>
                <a:sym typeface="+mn-ea"/>
              </a:rPr>
              <a:t>中取</a:t>
            </a:r>
            <a:r>
              <a:rPr lang="zh-CN" altLang="en-US" b="1">
                <a:solidFill>
                  <a:srgbClr val="C00000"/>
                </a:solidFill>
                <a:highlight>
                  <a:srgbClr val="FFFF00"/>
                </a:highlight>
                <a:sym typeface="+mn-ea"/>
              </a:rPr>
              <a:t>小</a:t>
            </a:r>
            <a:endParaRPr lang="zh-CN" altLang="en-US"/>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图片 125"/>
          <p:cNvPicPr/>
          <p:nvPr/>
        </p:nvPicPr>
        <p:blipFill>
          <a:blip r:embed="rId3"/>
          <a:stretch>
            <a:fillRect/>
          </a:stretch>
        </p:blipFill>
        <p:spPr>
          <a:xfrm>
            <a:off x="0" y="2289810"/>
            <a:ext cx="7975600" cy="4348480"/>
          </a:xfrm>
          <a:prstGeom prst="rect">
            <a:avLst/>
          </a:prstGeom>
          <a:noFill/>
          <a:ln w="9525">
            <a:noFill/>
          </a:ln>
        </p:spPr>
      </p:pic>
      <p:pic>
        <p:nvPicPr>
          <p:cNvPr id="4" name="图片 3"/>
          <p:cNvPicPr>
            <a:picLocks noChangeAspect="1"/>
          </p:cNvPicPr>
          <p:nvPr/>
        </p:nvPicPr>
        <p:blipFill>
          <a:blip r:embed="rId4"/>
          <a:stretch>
            <a:fillRect/>
          </a:stretch>
        </p:blipFill>
        <p:spPr>
          <a:xfrm>
            <a:off x="97155" y="318770"/>
            <a:ext cx="9046845" cy="708660"/>
          </a:xfrm>
          <a:prstGeom prst="rect">
            <a:avLst/>
          </a:prstGeom>
        </p:spPr>
      </p:pic>
      <p:pic>
        <p:nvPicPr>
          <p:cNvPr id="5" name="图片 4"/>
          <p:cNvPicPr>
            <a:picLocks noChangeAspect="1"/>
          </p:cNvPicPr>
          <p:nvPr/>
        </p:nvPicPr>
        <p:blipFill>
          <a:blip r:embed="rId5"/>
          <a:stretch>
            <a:fillRect/>
          </a:stretch>
        </p:blipFill>
        <p:spPr>
          <a:xfrm>
            <a:off x="129540" y="1027430"/>
            <a:ext cx="9014460" cy="908050"/>
          </a:xfrm>
          <a:prstGeom prst="rect">
            <a:avLst/>
          </a:prstGeom>
        </p:spPr>
      </p:pic>
      <p:pic>
        <p:nvPicPr>
          <p:cNvPr id="6" name="图片 5"/>
          <p:cNvPicPr>
            <a:picLocks noChangeAspect="1"/>
          </p:cNvPicPr>
          <p:nvPr/>
        </p:nvPicPr>
        <p:blipFill>
          <a:blip r:embed="rId6"/>
          <a:stretch>
            <a:fillRect/>
          </a:stretch>
        </p:blipFill>
        <p:spPr>
          <a:xfrm>
            <a:off x="5376545" y="2060575"/>
            <a:ext cx="3585210" cy="762635"/>
          </a:xfrm>
          <a:prstGeom prst="rect">
            <a:avLst/>
          </a:prstGeom>
        </p:spPr>
      </p:pic>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图片 126"/>
          <p:cNvPicPr/>
          <p:nvPr/>
        </p:nvPicPr>
        <p:blipFill>
          <a:blip r:embed="rId3"/>
          <a:stretch>
            <a:fillRect/>
          </a:stretch>
        </p:blipFill>
        <p:spPr>
          <a:xfrm>
            <a:off x="889000" y="2461260"/>
            <a:ext cx="6922135" cy="4017645"/>
          </a:xfrm>
          <a:prstGeom prst="rect">
            <a:avLst/>
          </a:prstGeom>
          <a:noFill/>
          <a:ln w="9525">
            <a:noFill/>
          </a:ln>
        </p:spPr>
      </p:pic>
      <p:pic>
        <p:nvPicPr>
          <p:cNvPr id="2" name="图片 1"/>
          <p:cNvPicPr>
            <a:picLocks noChangeAspect="1"/>
          </p:cNvPicPr>
          <p:nvPr/>
        </p:nvPicPr>
        <p:blipFill>
          <a:blip r:embed="rId4"/>
          <a:stretch>
            <a:fillRect/>
          </a:stretch>
        </p:blipFill>
        <p:spPr>
          <a:xfrm>
            <a:off x="186055" y="266700"/>
            <a:ext cx="8772525" cy="930275"/>
          </a:xfrm>
          <a:prstGeom prst="rect">
            <a:avLst/>
          </a:prstGeom>
        </p:spPr>
      </p:pic>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图片 127"/>
          <p:cNvPicPr/>
          <p:nvPr/>
        </p:nvPicPr>
        <p:blipFill>
          <a:blip r:embed="rId3"/>
          <a:stretch>
            <a:fillRect/>
          </a:stretch>
        </p:blipFill>
        <p:spPr>
          <a:xfrm>
            <a:off x="0" y="1454239"/>
            <a:ext cx="9144000" cy="5403672"/>
          </a:xfrm>
          <a:prstGeom prst="rect">
            <a:avLst/>
          </a:prstGeom>
          <a:noFill/>
          <a:ln w="9525">
            <a:noFill/>
          </a:ln>
        </p:spPr>
      </p:pic>
      <p:pic>
        <p:nvPicPr>
          <p:cNvPr id="2" name="图片 1"/>
          <p:cNvPicPr>
            <a:picLocks noChangeAspect="1"/>
          </p:cNvPicPr>
          <p:nvPr/>
        </p:nvPicPr>
        <p:blipFill>
          <a:blip r:embed="rId4"/>
          <a:stretch>
            <a:fillRect/>
          </a:stretch>
        </p:blipFill>
        <p:spPr>
          <a:xfrm>
            <a:off x="40005" y="231775"/>
            <a:ext cx="9064625" cy="983615"/>
          </a:xfrm>
          <a:prstGeom prst="rect">
            <a:avLst/>
          </a:prstGeom>
        </p:spPr>
      </p:pic>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79425" y="1854835"/>
            <a:ext cx="7931150" cy="4758690"/>
          </a:xfrm>
          <a:prstGeom prst="rect">
            <a:avLst/>
          </a:prstGeom>
        </p:spPr>
      </p:pic>
      <p:pic>
        <p:nvPicPr>
          <p:cNvPr id="3" name="图片 2"/>
          <p:cNvPicPr>
            <a:picLocks noChangeAspect="1"/>
          </p:cNvPicPr>
          <p:nvPr/>
        </p:nvPicPr>
        <p:blipFill>
          <a:blip r:embed="rId4"/>
          <a:stretch>
            <a:fillRect/>
          </a:stretch>
        </p:blipFill>
        <p:spPr>
          <a:xfrm>
            <a:off x="48895" y="422275"/>
            <a:ext cx="9045575" cy="1053465"/>
          </a:xfrm>
          <a:prstGeom prst="rect">
            <a:avLst/>
          </a:prstGeom>
        </p:spPr>
      </p:pic>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01600" y="1475740"/>
            <a:ext cx="8686800" cy="5371465"/>
          </a:xfrm>
          <a:prstGeom prst="rect">
            <a:avLst/>
          </a:prstGeom>
        </p:spPr>
      </p:pic>
      <p:pic>
        <p:nvPicPr>
          <p:cNvPr id="2" name="图片 1"/>
          <p:cNvPicPr>
            <a:picLocks noChangeAspect="1"/>
          </p:cNvPicPr>
          <p:nvPr/>
        </p:nvPicPr>
        <p:blipFill>
          <a:blip r:embed="rId4"/>
          <a:stretch>
            <a:fillRect/>
          </a:stretch>
        </p:blipFill>
        <p:spPr>
          <a:xfrm>
            <a:off x="279400" y="868045"/>
            <a:ext cx="8864600" cy="793750"/>
          </a:xfrm>
          <a:prstGeom prst="rect">
            <a:avLst/>
          </a:prstGeom>
        </p:spPr>
      </p:pic>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 name="图片 128"/>
          <p:cNvPicPr/>
          <p:nvPr/>
        </p:nvPicPr>
        <p:blipFill>
          <a:blip r:embed="rId3"/>
          <a:stretch>
            <a:fillRect/>
          </a:stretch>
        </p:blipFill>
        <p:spPr>
          <a:xfrm>
            <a:off x="0" y="1359707"/>
            <a:ext cx="9144000" cy="5498756"/>
          </a:xfrm>
          <a:prstGeom prst="rect">
            <a:avLst/>
          </a:prstGeom>
          <a:noFill/>
          <a:ln w="9525">
            <a:noFill/>
          </a:ln>
        </p:spPr>
      </p:pic>
      <p:pic>
        <p:nvPicPr>
          <p:cNvPr id="2" name="图片 1"/>
          <p:cNvPicPr>
            <a:picLocks noChangeAspect="1"/>
          </p:cNvPicPr>
          <p:nvPr/>
        </p:nvPicPr>
        <p:blipFill>
          <a:blip r:embed="rId4"/>
          <a:stretch>
            <a:fillRect/>
          </a:stretch>
        </p:blipFill>
        <p:spPr>
          <a:xfrm>
            <a:off x="154305" y="378460"/>
            <a:ext cx="8990330" cy="833755"/>
          </a:xfrm>
          <a:prstGeom prst="rect">
            <a:avLst/>
          </a:prstGeom>
        </p:spPr>
      </p:pic>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图片 129"/>
          <p:cNvPicPr/>
          <p:nvPr/>
        </p:nvPicPr>
        <p:blipFill>
          <a:blip r:embed="rId3"/>
          <a:stretch>
            <a:fillRect/>
          </a:stretch>
        </p:blipFill>
        <p:spPr>
          <a:xfrm>
            <a:off x="0" y="1404768"/>
            <a:ext cx="9144000" cy="5453085"/>
          </a:xfrm>
          <a:prstGeom prst="rect">
            <a:avLst/>
          </a:prstGeom>
          <a:noFill/>
          <a:ln w="9525">
            <a:noFill/>
          </a:ln>
        </p:spPr>
      </p:pic>
      <p:pic>
        <p:nvPicPr>
          <p:cNvPr id="2" name="图片 1"/>
          <p:cNvPicPr>
            <a:picLocks noChangeAspect="1"/>
          </p:cNvPicPr>
          <p:nvPr/>
        </p:nvPicPr>
        <p:blipFill>
          <a:blip r:embed="rId4"/>
          <a:stretch>
            <a:fillRect/>
          </a:stretch>
        </p:blipFill>
        <p:spPr>
          <a:xfrm>
            <a:off x="250825" y="315595"/>
            <a:ext cx="8642985" cy="800735"/>
          </a:xfrm>
          <a:prstGeom prst="rect">
            <a:avLst/>
          </a:prstGeom>
        </p:spPr>
      </p:pic>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 name="图片 130"/>
          <p:cNvPicPr/>
          <p:nvPr/>
        </p:nvPicPr>
        <p:blipFill>
          <a:blip r:embed="rId3"/>
          <a:stretch>
            <a:fillRect/>
          </a:stretch>
        </p:blipFill>
        <p:spPr>
          <a:xfrm>
            <a:off x="0" y="1417387"/>
            <a:ext cx="9144000" cy="5440547"/>
          </a:xfrm>
          <a:prstGeom prst="rect">
            <a:avLst/>
          </a:prstGeom>
          <a:noFill/>
          <a:ln w="9525">
            <a:noFill/>
          </a:ln>
        </p:spPr>
      </p:pic>
      <p:pic>
        <p:nvPicPr>
          <p:cNvPr id="2" name="图片 1"/>
          <p:cNvPicPr>
            <a:picLocks noChangeAspect="1"/>
          </p:cNvPicPr>
          <p:nvPr/>
        </p:nvPicPr>
        <p:blipFill>
          <a:blip r:embed="rId4"/>
          <a:stretch>
            <a:fillRect/>
          </a:stretch>
        </p:blipFill>
        <p:spPr>
          <a:xfrm>
            <a:off x="103505" y="740410"/>
            <a:ext cx="8937625" cy="676910"/>
          </a:xfrm>
          <a:prstGeom prst="rect">
            <a:avLst/>
          </a:prstGeom>
        </p:spPr>
      </p:pic>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nvPicPr>
        <p:blipFill>
          <a:blip r:embed="rId3"/>
          <a:stretch>
            <a:fillRect/>
          </a:stretch>
        </p:blipFill>
        <p:spPr>
          <a:xfrm>
            <a:off x="914400" y="1366838"/>
            <a:ext cx="7315200" cy="4124325"/>
          </a:xfrm>
          <a:prstGeom prst="rect">
            <a:avLst/>
          </a:prstGeom>
          <a:noFill/>
          <a:ln w="9525">
            <a:noFill/>
          </a:ln>
        </p:spPr>
      </p:pic>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图片 100"/>
          <p:cNvPicPr/>
          <p:nvPr/>
        </p:nvPicPr>
        <p:blipFill>
          <a:blip r:embed="rId3"/>
          <a:stretch>
            <a:fillRect/>
          </a:stretch>
        </p:blipFill>
        <p:spPr>
          <a:xfrm>
            <a:off x="500063" y="1209675"/>
            <a:ext cx="8143875" cy="4438650"/>
          </a:xfrm>
          <a:prstGeom prst="rect">
            <a:avLst/>
          </a:prstGeom>
          <a:noFill/>
          <a:ln w="9525">
            <a:noFill/>
          </a:ln>
        </p:spPr>
      </p:pic>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图片 101"/>
          <p:cNvPicPr/>
          <p:nvPr/>
        </p:nvPicPr>
        <p:blipFill>
          <a:blip r:embed="rId3"/>
          <a:stretch>
            <a:fillRect/>
          </a:stretch>
        </p:blipFill>
        <p:spPr>
          <a:xfrm>
            <a:off x="500063" y="1209675"/>
            <a:ext cx="8143875" cy="4438650"/>
          </a:xfrm>
          <a:prstGeom prst="rect">
            <a:avLst/>
          </a:prstGeom>
          <a:noFill/>
          <a:ln w="9525">
            <a:noFill/>
          </a:ln>
        </p:spPr>
      </p:pic>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图片 102"/>
          <p:cNvPicPr/>
          <p:nvPr/>
        </p:nvPicPr>
        <p:blipFill>
          <a:blip r:embed="rId3"/>
          <a:stretch>
            <a:fillRect/>
          </a:stretch>
        </p:blipFill>
        <p:spPr>
          <a:xfrm>
            <a:off x="0" y="867834"/>
            <a:ext cx="9144000" cy="5122333"/>
          </a:xfrm>
          <a:prstGeom prst="rect">
            <a:avLst/>
          </a:prstGeom>
          <a:noFill/>
          <a:ln w="9525">
            <a:noFill/>
          </a:ln>
        </p:spPr>
      </p:pic>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9937" name="Rectangle 5"/>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l-GR" altLang="zh-CN" i="1"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α-β 剪枝</a:t>
            </a:r>
          </a:p>
        </p:txBody>
      </p:sp>
      <p:sp>
        <p:nvSpPr>
          <p:cNvPr id="39938" name="Rectangle 6"/>
          <p:cNvSpPr>
            <a:spLocks noGrp="1" noRot="1"/>
          </p:cNvSpPr>
          <p:nvPr>
            <p:ph type="body" sz="half" idx="4294967295"/>
            <p:custDataLst>
              <p:tags r:id="rId2"/>
            </p:custDataLst>
          </p:nvPr>
        </p:nvSpPr>
        <p:spPr>
          <a:xfrm>
            <a:off x="301625" y="1752600"/>
            <a:ext cx="4194175"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SzTx/>
            </a:pPr>
            <a:r>
              <a:rPr lang="el-GR" altLang="zh-CN" sz="2400" b="1" i="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α-β </a:t>
            </a:r>
            <a:r>
              <a:rPr lang="el-GR" altLang="zh-CN" sz="24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剪枝可以用于树的任何深度，很多情况下可以剪裁整个子树，</a:t>
            </a:r>
          </a:p>
          <a:p>
            <a:pPr lvl="0" algn="l" defTabSz="914400" eaLnBrk="1" hangingPunct="1">
              <a:buSzTx/>
            </a:pPr>
            <a:r>
              <a:rPr lang="el-GR" altLang="zh-CN" sz="24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一般原则：</a:t>
            </a:r>
            <a:r>
              <a:rPr lang="el-GR" altLang="zh-CN"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考虑树中某处节点n，如果在n的父节点或更上层有一个更好的选择m，那么实际中就不会到达节点n。</a:t>
            </a:r>
          </a:p>
        </p:txBody>
      </p:sp>
      <p:pic>
        <p:nvPicPr>
          <p:cNvPr id="39939" name="Picture 8" descr="alpha-beta-general"/>
          <p:cNvPicPr>
            <a:picLocks noGrp="1" noRot="1" noChangeAspect="1"/>
          </p:cNvPicPr>
          <p:nvPr>
            <p:ph sz="half" idx="4294967295"/>
          </p:nvPr>
        </p:nvPicPr>
        <p:blipFill>
          <a:blip r:embed="rId5"/>
          <a:stretch>
            <a:fillRect/>
          </a:stretch>
        </p:blipFill>
        <p:spPr>
          <a:xfrm>
            <a:off x="4687888" y="1543050"/>
            <a:ext cx="3857625" cy="4191000"/>
          </a:xfrm>
          <a:prstGeom prst="rect">
            <a:avLst/>
          </a:prstGeom>
          <a:noFill/>
          <a:ln w="9525">
            <a:noFill/>
          </a:ln>
        </p:spPr>
      </p:pic>
      <p:sp>
        <p:nvSpPr>
          <p:cNvPr id="2" name="文本框 1"/>
          <p:cNvSpPr txBox="1"/>
          <p:nvPr/>
        </p:nvSpPr>
        <p:spPr>
          <a:xfrm>
            <a:off x="1035685" y="6177280"/>
            <a:ext cx="7609205" cy="521970"/>
          </a:xfrm>
          <a:prstGeom prst="rect">
            <a:avLst/>
          </a:prstGeom>
          <a:noFill/>
        </p:spPr>
        <p:txBody>
          <a:bodyPr wrap="square" rtlCol="0" anchor="t">
            <a:spAutoFit/>
          </a:bodyPr>
          <a:lstStyle/>
          <a:p>
            <a:pPr lvl="0"/>
            <a:r>
              <a:rPr lang="en-US" altLang="zh-CN" sz="2800" b="1" dirty="0">
                <a:solidFill>
                  <a:srgbClr val="0000FF"/>
                </a:solidFill>
                <a:sym typeface="+mn-ea"/>
              </a:rPr>
              <a:t>α</a:t>
            </a:r>
            <a:r>
              <a:rPr lang="zh-CN" altLang="en-US" sz="2800" b="1" dirty="0">
                <a:solidFill>
                  <a:srgbClr val="0000FF"/>
                </a:solidFill>
                <a:sym typeface="+mn-ea"/>
              </a:rPr>
              <a:t>只会增加不会减小，</a:t>
            </a:r>
            <a:r>
              <a:rPr lang="en-US" altLang="zh-CN" sz="2800" b="1" dirty="0">
                <a:solidFill>
                  <a:srgbClr val="0000FF"/>
                </a:solidFill>
                <a:sym typeface="+mn-ea"/>
              </a:rPr>
              <a:t>β</a:t>
            </a:r>
            <a:r>
              <a:rPr lang="zh-CN" altLang="en-US" sz="2800" b="1" dirty="0">
                <a:solidFill>
                  <a:srgbClr val="0000FF"/>
                </a:solidFill>
                <a:sym typeface="+mn-ea"/>
              </a:rPr>
              <a:t>只会减小不会增加</a:t>
            </a:r>
          </a:p>
        </p:txBody>
      </p:sp>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1985" name="Picture 2"/>
          <p:cNvPicPr>
            <a:picLocks noChangeAspect="1"/>
          </p:cNvPicPr>
          <p:nvPr/>
        </p:nvPicPr>
        <p:blipFill>
          <a:blip r:embed="rId3"/>
          <a:stretch>
            <a:fillRect/>
          </a:stretch>
        </p:blipFill>
        <p:spPr>
          <a:xfrm>
            <a:off x="1042988" y="1628775"/>
            <a:ext cx="7115175" cy="4752975"/>
          </a:xfrm>
          <a:prstGeom prst="rect">
            <a:avLst/>
          </a:prstGeom>
          <a:noFill/>
          <a:ln w="9525">
            <a:noFill/>
          </a:ln>
        </p:spPr>
      </p:pic>
      <p:sp>
        <p:nvSpPr>
          <p:cNvPr id="41986" name="Rectangle 3"/>
          <p:cNvSpPr>
            <a:spLocks noGrp="1" noRot="1"/>
          </p:cNvSpPr>
          <p:nvPr>
            <p:ph type="title" idx="4294967295"/>
          </p:nvPr>
        </p:nvSpPr>
        <p:spPr>
          <a:xfrm>
            <a:off x="852488" y="274638"/>
            <a:ext cx="8291512" cy="8509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br>
              <a:rPr lang="en-US" altLang="zh-CN" sz="40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br>
            <a:r>
              <a:rPr lang="en-US" altLang="zh-CN" sz="40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–剪枝算法</a:t>
            </a:r>
          </a:p>
        </p:txBody>
      </p:sp>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84003" name="Rectangle 3"/>
          <p:cNvSpPr>
            <a:spLocks noGrp="1" noChangeArrowheads="1"/>
          </p:cNvSpPr>
          <p:nvPr>
            <p:ph idx="4294967295"/>
            <p:custDataLst>
              <p:tags r:id="rId2"/>
            </p:custDataLst>
          </p:nvPr>
        </p:nvSpPr>
        <p:spPr>
          <a:xfrm>
            <a:off x="558165" y="1384300"/>
            <a:ext cx="8002588" cy="4757738"/>
          </a:xfrm>
          <a:noFill/>
          <a:ln w="9525">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Clr>
                <a:srgbClr val="2E5040"/>
              </a:buClr>
              <a:buSzTx/>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剪枝不会影响最终的结果</a:t>
            </a:r>
          </a:p>
          <a:p>
            <a:pPr lvl="0" algn="l" defTabSz="914400" eaLnBrk="1" hangingPunct="1">
              <a:buClr>
                <a:srgbClr val="2E5040"/>
              </a:buClr>
              <a:buSzTx/>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–剪枝的效率很大程度上取决于</a:t>
            </a: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检查后继的顺序</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好的移动排放次序能够提高剪枝的效率</a:t>
            </a:r>
          </a:p>
          <a:p>
            <a:pPr lvl="0" algn="l" defTabSz="914400" eaLnBrk="1" hangingPunct="1">
              <a:buClr>
                <a:srgbClr val="2E5040"/>
              </a:buClr>
              <a:buSzTx/>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“理想排序”下：</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先检查那些可能最好的后继</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，时间复杂度从</a:t>
            </a:r>
            <a:r>
              <a:rPr lang="zh-CN" altLang="en-US" sz="2400" noProof="0" dirty="0">
                <a:ln>
                  <a:noFill/>
                </a:ln>
                <a:solidFill>
                  <a:schemeClr val="dk1"/>
                </a:solidFill>
                <a:effectLst/>
                <a:uLnTx/>
                <a:latin typeface="微软雅黑" panose="020B0503020204020204" pitchFamily="34" charset="-122"/>
                <a:ea typeface="微软雅黑" panose="020B0503020204020204" pitchFamily="34" charset="-122"/>
                <a:cs typeface="微软雅黑" panose="020B0503020204020204" pitchFamily="34" charset="-122"/>
                <a:sym typeface="+mn-ea"/>
              </a:rPr>
              <a:t> O(b</a:t>
            </a:r>
            <a:r>
              <a:rPr lang="zh-CN" altLang="en-US" sz="2400" baseline="30000" noProof="0" dirty="0">
                <a:ln>
                  <a:noFill/>
                </a:ln>
                <a:solidFill>
                  <a:schemeClr val="dk1"/>
                </a:solidFill>
                <a:effectLst/>
                <a:uLnTx/>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400" noProof="0" dirty="0">
                <a:ln>
                  <a:noFill/>
                </a:ln>
                <a:solidFill>
                  <a:schemeClr val="dk1"/>
                </a:solidFill>
                <a:effectLst/>
                <a:uLnTx/>
                <a:latin typeface="微软雅黑" panose="020B0503020204020204" pitchFamily="34" charset="-122"/>
                <a:ea typeface="微软雅黑" panose="020B0503020204020204" pitchFamily="34" charset="-122"/>
                <a:cs typeface="微软雅黑" panose="020B0503020204020204" pitchFamily="34" charset="-122"/>
                <a:sym typeface="+mn-ea"/>
              </a:rPr>
              <a:t>)减小到</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O(b</a:t>
            </a:r>
            <a:r>
              <a:rPr lang="zh-CN" altLang="en-US" sz="2400" baseline="300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m/2</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p>
          <a:p>
            <a:pPr lvl="0" algn="l" defTabSz="914400" eaLnBrk="1" hangingPunct="1">
              <a:buClr>
                <a:srgbClr val="2E5040"/>
              </a:buClr>
              <a:buSzTx/>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最佳节点排序：不可实现</a:t>
            </a:r>
          </a:p>
          <a:p>
            <a:pPr lvl="1" algn="l" defTabSz="914400" eaLnBrk="1" hangingPunct="1">
              <a:buClr>
                <a:srgbClr val="2E5040"/>
              </a:buClr>
              <a:buSzTx/>
              <a:defRPr/>
            </a:pPr>
            <a:r>
              <a:rPr lang="zh-CN" altLang="en-US" sz="1835"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静态评估函数法</a:t>
            </a:r>
          </a:p>
          <a:p>
            <a:pPr lvl="1" algn="l" defTabSz="914400" eaLnBrk="1" hangingPunct="1">
              <a:buClr>
                <a:srgbClr val="2E5040"/>
              </a:buClr>
              <a:buSzTx/>
              <a:defRPr/>
            </a:pPr>
            <a:r>
              <a:rPr lang="zh-CN" altLang="en-US" sz="1835"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迭代加深</a:t>
            </a: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Clr>
                <a:srgbClr val="2E5040"/>
              </a:buClr>
              <a:buSzTx/>
              <a:defRPr/>
            </a:pP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558165" y="301625"/>
            <a:ext cx="4191635" cy="768350"/>
          </a:xfrm>
          <a:prstGeom prst="rect">
            <a:avLst/>
          </a:prstGeom>
          <a:noFill/>
        </p:spPr>
        <p:txBody>
          <a:bodyPr wrap="none" rtlCol="0" anchor="t">
            <a:spAutoFit/>
          </a:bodyPr>
          <a:lstStyle/>
          <a:p>
            <a:pPr algn="l" eaLnBrk="0" hangingPunct="0">
              <a:buClrTx/>
              <a:buSzTx/>
              <a:buFontTx/>
            </a:pPr>
            <a:r>
              <a:rPr lang="en-US" altLang="zh-CN" sz="4400" b="1" spc="20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5.3.1 </a:t>
            </a:r>
            <a:r>
              <a:rPr lang="zh-CN" altLang="en-US" sz="4400" b="1" spc="20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行棋排序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40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40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40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400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400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40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P spid="384003" grpId="1"/>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4033"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处理搜索树中的重复状态</a:t>
            </a:r>
          </a:p>
        </p:txBody>
      </p:sp>
      <p:sp>
        <p:nvSpPr>
          <p:cNvPr id="44034" name="Rectangle 3"/>
          <p:cNvSpPr>
            <a:spLocks noGrp="1" noRot="1"/>
          </p:cNvSpPr>
          <p:nvPr>
            <p:ph idx="4294967295"/>
            <p:custDataLst>
              <p:tags r:id="rId2"/>
            </p:custDataLst>
          </p:nvPr>
        </p:nvSpPr>
        <p:spPr>
          <a:xfrm>
            <a:off x="301625" y="1752600"/>
            <a:ext cx="8540750"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160000"/>
              </a:lnSpc>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在游戏中重复状态的频繁出现：往往是因为</a:t>
            </a:r>
            <a:r>
              <a:rPr lang="zh-CN" altLang="en-US" sz="2400" b="1"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调换</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—导致同样棋局的不同行棋序列的排列</a:t>
            </a:r>
          </a:p>
          <a:p>
            <a:pPr lvl="1" algn="l" defTabSz="914400">
              <a:lnSpc>
                <a:spcPct val="16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例如，[a1, b1, a2, b2]和[a1, b2, a2, b1]都结束于同样的棋局，其中[b1, b2]是[b2,b1]的调换</a:t>
            </a:r>
          </a:p>
          <a:p>
            <a:pPr lvl="0" algn="l" defTabSz="914400">
              <a:lnSpc>
                <a:spcPct val="160000"/>
              </a:lnSpc>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解决办法：第一次遇见某棋局时将对它的评估值存储在哈希表中（该哈希表称为调换表【换位表】）</a:t>
            </a:r>
          </a:p>
        </p:txBody>
      </p:sp>
      <p:sp>
        <p:nvSpPr>
          <p:cNvPr id="2" name="文本框 1"/>
          <p:cNvSpPr txBox="1"/>
          <p:nvPr/>
        </p:nvSpPr>
        <p:spPr>
          <a:xfrm>
            <a:off x="3796030" y="5367020"/>
            <a:ext cx="4572000" cy="368300"/>
          </a:xfrm>
          <a:prstGeom prst="rect">
            <a:avLst/>
          </a:prstGeom>
          <a:noFill/>
        </p:spPr>
        <p:txBody>
          <a:bodyPr wrap="square" rtlCol="0" anchor="t">
            <a:spAutoFit/>
          </a:bodyPr>
          <a:lstStyle/>
          <a:p>
            <a:r>
              <a:rPr lang="zh-CN" altLang="en-US"/>
              <a:t>Transposition Table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03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5057"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资源有限</a:t>
            </a:r>
          </a:p>
        </p:txBody>
      </p:sp>
      <p:sp>
        <p:nvSpPr>
          <p:cNvPr id="371715" name="Rectangle 3"/>
          <p:cNvSpPr>
            <a:spLocks noGrp="1" noChangeArrowheads="1"/>
          </p:cNvSpPr>
          <p:nvPr>
            <p:ph idx="4294967295"/>
            <p:custDataLst>
              <p:tags r:id="rId2"/>
            </p:custDataLst>
          </p:nvPr>
        </p:nvSpPr>
        <p:spPr>
          <a:xfrm>
            <a:off x="457200" y="1524000"/>
            <a:ext cx="8229600" cy="4338638"/>
          </a:xfrm>
          <a:noFill/>
          <a:ln w="9525">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lnSpc>
                <a:spcPct val="12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假设我们每移动一步有100秒的思考时间，每秒可以搜索10</a:t>
            </a:r>
            <a:r>
              <a:rPr lang="zh-CN" altLang="en-US" sz="2400" baseline="300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个节点 </a:t>
            </a:r>
          </a:p>
          <a:p>
            <a:pPr lvl="0" algn="l" defTabSz="914400" eaLnBrk="1" hangingPunct="1">
              <a:lnSpc>
                <a:spcPct val="12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每移动一步可以搜索10</a:t>
            </a:r>
            <a:r>
              <a:rPr lang="zh-CN" altLang="en-US" sz="2400" baseline="300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个节点</a:t>
            </a:r>
          </a:p>
          <a:p>
            <a:pPr lvl="0" algn="l" defTabSz="914400" eaLnBrk="1" hangingPunct="1">
              <a:lnSpc>
                <a:spcPct val="120000"/>
              </a:lnSpc>
              <a:buSzTx/>
              <a:buFontTx/>
              <a:buNone/>
              <a:defRPr/>
            </a:pP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20000"/>
              </a:lnSpc>
              <a:buSzTx/>
              <a:buFontTx/>
              <a:buNone/>
              <a:defRPr/>
            </a:pPr>
            <a:r>
              <a:rPr lang="zh-CN" altLang="en-US" sz="2400" b="1"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标准方法：</a:t>
            </a:r>
          </a:p>
          <a:p>
            <a:pPr lvl="0" indent="0" algn="l" defTabSz="914400" eaLnBrk="1" hangingPunct="1">
              <a:lnSpc>
                <a:spcPct val="120000"/>
              </a:lnSpc>
              <a:buSzTx/>
              <a:buFontTx/>
              <a:buNone/>
              <a:defRPr/>
            </a:pPr>
            <a:r>
              <a:rPr lang="zh-CN" altLang="en-US" sz="2400" b="1"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截断搜索</a:t>
            </a: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2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例如有限深度搜索</a:t>
            </a:r>
          </a:p>
          <a:p>
            <a:pPr marL="800100" lvl="1" indent="457200" algn="l" defTabSz="914400" eaLnBrk="1" hangingPunct="1">
              <a:lnSpc>
                <a:spcPct val="12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评估函数 = 估计棋局的期望效用值</a:t>
            </a:r>
          </a:p>
        </p:txBody>
      </p:sp>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6081" name="Rectangle 2"/>
          <p:cNvSpPr>
            <a:spLocks noGrp="1" noRot="1"/>
          </p:cNvSpPr>
          <p:nvPr>
            <p:ph type="title" idx="4294967295"/>
          </p:nvPr>
        </p:nvSpPr>
        <p:spPr>
          <a:xfrm>
            <a:off x="301625" y="381000"/>
            <a:ext cx="4349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r>
              <a:rPr lang="en-US" altLang="zh-CN" sz="28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5.4 </a:t>
            </a:r>
            <a:r>
              <a:rPr lang="zh-CN" altLang="en-US" sz="28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a:t>
            </a:r>
            <a:r>
              <a:rPr lang="zh-CN" altLang="en-US" sz="28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完整</a:t>
            </a:r>
            <a:r>
              <a:rPr lang="zh-CN" altLang="en-US" sz="28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的实时决策</a:t>
            </a:r>
            <a:r>
              <a:rPr lang="zh-CN" altLang="en-US" sz="20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(Imperfect, real-time decisions)</a:t>
            </a:r>
            <a:endParaRPr lang="zh-CN" altLang="en-US" sz="28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46082" name="Rectangle 3"/>
          <p:cNvSpPr>
            <a:spLocks noGrp="1" noRot="1"/>
          </p:cNvSpPr>
          <p:nvPr>
            <p:ph idx="4294967295"/>
            <p:custDataLst>
              <p:tags r:id="rId2"/>
            </p:custDataLst>
          </p:nvPr>
        </p:nvSpPr>
        <p:spPr>
          <a:xfrm>
            <a:off x="301625" y="1943100"/>
            <a:ext cx="4147820"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–算法依然要搜索至少一部分空间直到终止状态，这样的搜索不现实。</a:t>
            </a:r>
          </a:p>
          <a:p>
            <a:pPr lvl="0" algn="l" defTabSz="914400">
              <a:buSzTx/>
            </a:pPr>
            <a:r>
              <a:rPr lang="en-US" altLang="zh-CN" sz="2000" b="1" kern="12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Shannon</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提出：</a:t>
            </a:r>
            <a:endPar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defTabSz="914400">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用可以估计棋局效用的</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启发式评估函数EVAL</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代替</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效用函数</a:t>
            </a: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defTabSz="914400">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用可以决策什么时候运用EVAL的</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截断测试</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取代</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终止测试</a:t>
            </a:r>
          </a:p>
        </p:txBody>
      </p:sp>
      <p:pic>
        <p:nvPicPr>
          <p:cNvPr id="104" name="图片 103"/>
          <p:cNvPicPr/>
          <p:nvPr/>
        </p:nvPicPr>
        <p:blipFill>
          <a:blip r:embed="rId5"/>
          <a:srcRect l="9686" t="7222" r="11780" b="7593"/>
          <a:stretch>
            <a:fillRect/>
          </a:stretch>
        </p:blipFill>
        <p:spPr>
          <a:xfrm>
            <a:off x="4651375" y="355600"/>
            <a:ext cx="4317365" cy="6146165"/>
          </a:xfrm>
          <a:prstGeom prst="rect">
            <a:avLst/>
          </a:prstGeom>
          <a:noFill/>
          <a:ln w="9525">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08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08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7105" name="Rectangle 2"/>
          <p:cNvSpPr>
            <a:spLocks noGrp="1" noRot="1"/>
          </p:cNvSpPr>
          <p:nvPr>
            <p:ph type="title" idx="4294967295"/>
          </p:nvPr>
        </p:nvSpPr>
        <p:spPr>
          <a:xfrm>
            <a:off x="301625" y="15113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如何设计启发式评估函数？</a:t>
            </a:r>
          </a:p>
        </p:txBody>
      </p:sp>
      <p:sp>
        <p:nvSpPr>
          <p:cNvPr id="44035" name="Rectangle 3"/>
          <p:cNvSpPr>
            <a:spLocks noGrp="1" noRot="1"/>
          </p:cNvSpPr>
          <p:nvPr>
            <p:ph idx="4294967295"/>
            <p:custDataLst>
              <p:tags r:id="rId3"/>
            </p:custDataLst>
          </p:nvPr>
        </p:nvSpPr>
        <p:spPr>
          <a:xfrm>
            <a:off x="301625" y="1294130"/>
            <a:ext cx="8540750" cy="324231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Clr>
                <a:srgbClr val="0000FF"/>
              </a:buClr>
              <a:buSzTx/>
            </a:pPr>
            <a:r>
              <a:rPr lang="zh-CN" altLang="en-US" sz="2000" kern="1200" dirty="0">
                <a:solidFill>
                  <a:schemeClr val="dk1"/>
                </a:solidFill>
                <a:latin typeface="微软雅黑" panose="020B0503020204020204" pitchFamily="34" charset="-122"/>
                <a:ea typeface="微软雅黑" panose="020B0503020204020204" pitchFamily="34" charset="-122"/>
                <a:sym typeface="+mn-ea"/>
              </a:rPr>
              <a:t>应该以和真正的效用函数同样的方式对终止状态进行排序。</a:t>
            </a:r>
          </a:p>
          <a:p>
            <a:pPr lvl="0" algn="l" defTabSz="914400">
              <a:buClr>
                <a:srgbClr val="0000FF"/>
              </a:buClr>
              <a:buSzTx/>
            </a:pPr>
            <a:r>
              <a:rPr lang="zh-CN" altLang="en-US" sz="2000" kern="1200" dirty="0">
                <a:solidFill>
                  <a:schemeClr val="dk1"/>
                </a:solidFill>
                <a:latin typeface="微软雅黑" panose="020B0503020204020204" pitchFamily="34" charset="-122"/>
                <a:ea typeface="微软雅黑" panose="020B0503020204020204" pitchFamily="34" charset="-122"/>
                <a:sym typeface="+mn-ea"/>
              </a:rPr>
              <a:t>评估函数的计算不能花费太多的时间。</a:t>
            </a:r>
          </a:p>
          <a:p>
            <a:pPr lvl="0" algn="l" defTabSz="914400">
              <a:buClr>
                <a:srgbClr val="0000FF"/>
              </a:buClr>
              <a:buSzTx/>
            </a:pPr>
            <a:r>
              <a:rPr lang="zh-CN" altLang="en-US" sz="2000" kern="1200" dirty="0">
                <a:solidFill>
                  <a:schemeClr val="dk1"/>
                </a:solidFill>
                <a:latin typeface="微软雅黑" panose="020B0503020204020204" pitchFamily="34" charset="-122"/>
                <a:ea typeface="微软雅黑" panose="020B0503020204020204" pitchFamily="34" charset="-122"/>
                <a:sym typeface="+mn-ea"/>
              </a:rPr>
              <a:t>对于非终止状态，评估函数应该和取胜的实际机会（几率）密切相关。</a:t>
            </a:r>
          </a:p>
          <a:p>
            <a:pPr lvl="0" algn="l" defTabSz="914400">
              <a:buClr>
                <a:srgbClr val="0000FF"/>
              </a:buClr>
              <a:buSzTx/>
            </a:pPr>
            <a:r>
              <a:rPr lang="zh-CN" altLang="en-US" sz="2000" kern="1200" dirty="0">
                <a:solidFill>
                  <a:schemeClr val="dk1"/>
                </a:solidFill>
                <a:latin typeface="微软雅黑" panose="020B0503020204020204" pitchFamily="34" charset="-122"/>
                <a:ea typeface="微软雅黑" panose="020B0503020204020204" pitchFamily="34" charset="-122"/>
                <a:sym typeface="+mn-ea"/>
              </a:rPr>
              <a:t>在计算能力有限情况下，评估函数能做到最好的就是猜测最后的结果</a:t>
            </a:r>
          </a:p>
          <a:p>
            <a:pPr lvl="0" algn="l" defTabSz="914400">
              <a:buClr>
                <a:srgbClr val="0000FF"/>
              </a:buClr>
              <a:buSzTx/>
            </a:pPr>
            <a:r>
              <a:rPr lang="zh-CN" altLang="en-US" sz="2000" kern="1200" dirty="0">
                <a:solidFill>
                  <a:schemeClr val="dk1"/>
                </a:solidFill>
                <a:latin typeface="微软雅黑" panose="020B0503020204020204" pitchFamily="34" charset="-122"/>
                <a:ea typeface="微软雅黑" panose="020B0503020204020204" pitchFamily="34" charset="-122"/>
                <a:sym typeface="+mn-ea"/>
              </a:rPr>
              <a:t>大多数评估函数的工作方式是计算状态的不同特征，那么对状态的一个合理评价是加权平均值</a:t>
            </a:r>
          </a:p>
        </p:txBody>
      </p:sp>
      <p:sp>
        <p:nvSpPr>
          <p:cNvPr id="2" name="文本框 1"/>
          <p:cNvSpPr txBox="1"/>
          <p:nvPr/>
        </p:nvSpPr>
        <p:spPr>
          <a:xfrm>
            <a:off x="-254000" y="5080635"/>
            <a:ext cx="9219565" cy="368300"/>
          </a:xfrm>
          <a:prstGeom prst="rect">
            <a:avLst/>
          </a:prstGeom>
          <a:noFill/>
        </p:spPr>
        <p:txBody>
          <a:bodyPr wrap="none" rtlCol="0" anchor="t">
            <a:spAutoFit/>
          </a:bodyPr>
          <a:lstStyle/>
          <a:p>
            <a:pPr lvl="1" algn="l" defTabSz="914400">
              <a:buSzTx/>
              <a:buFontTx/>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国际象棋中EVAL通常取为加权线性函数（假设每个特征的贡献独立于其它特征的值）</a:t>
            </a:r>
          </a:p>
        </p:txBody>
      </p:sp>
      <p:graphicFrame>
        <p:nvGraphicFramePr>
          <p:cNvPr id="48131" name="Object 2"/>
          <p:cNvGraphicFramePr>
            <a:graphicFrameLocks noGrp="1" noChangeAspect="1"/>
          </p:cNvGraphicFramePr>
          <p:nvPr/>
        </p:nvGraphicFramePr>
        <p:xfrm>
          <a:off x="3563620" y="5448935"/>
          <a:ext cx="2016125" cy="1317625"/>
        </p:xfrm>
        <a:graphic>
          <a:graphicData uri="http://schemas.openxmlformats.org/presentationml/2006/ole">
            <mc:AlternateContent xmlns:mc="http://schemas.openxmlformats.org/markup-compatibility/2006">
              <mc:Choice xmlns:v="urn:schemas-microsoft-com:vml" Requires="v">
                <p:oleObj spid="_x0000_s4104" r:id="rId6" imgW="660400" imgH="431800" progId="Equation.3">
                  <p:embed/>
                </p:oleObj>
              </mc:Choice>
              <mc:Fallback>
                <p:oleObj r:id="rId6" imgW="660400" imgH="431800" progId="Equation.3">
                  <p:embed/>
                  <p:pic>
                    <p:nvPicPr>
                      <p:cNvPr id="0" name="图片 3076"/>
                      <p:cNvPicPr/>
                      <p:nvPr/>
                    </p:nvPicPr>
                    <p:blipFill>
                      <a:blip r:embed="rId7"/>
                      <a:stretch>
                        <a:fillRect/>
                      </a:stretch>
                    </p:blipFill>
                    <p:spPr>
                      <a:xfrm>
                        <a:off x="3563620" y="5448935"/>
                        <a:ext cx="2016125" cy="1317625"/>
                      </a:xfrm>
                      <a:prstGeom prst="rect">
                        <a:avLst/>
                      </a:prstGeom>
                      <a:noFill/>
                      <a:ln w="38100">
                        <a:miter/>
                      </a:ln>
                    </p:spPr>
                  </p:pic>
                </p:oleObj>
              </mc:Fallback>
            </mc:AlternateContent>
          </a:graphicData>
        </a:graphic>
      </p:graphicFrame>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P spid="44035" grpId="1"/>
      <p:bldP spid="2" grpId="0"/>
      <p:bldP spid="2" grpId="1"/>
    </p:bld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0177"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评估函数</a:t>
            </a:r>
          </a:p>
        </p:txBody>
      </p:sp>
      <p:pic>
        <p:nvPicPr>
          <p:cNvPr id="50178" name="Picture 1" descr="chess-evaluation3"/>
          <p:cNvPicPr>
            <a:picLocks noGrp="1" noRot="1" noChangeAspect="1"/>
          </p:cNvPicPr>
          <p:nvPr>
            <p:ph idx="4294967295"/>
          </p:nvPr>
        </p:nvPicPr>
        <p:blipFill>
          <a:blip r:embed="rId4"/>
          <a:stretch>
            <a:fillRect/>
          </a:stretch>
        </p:blipFill>
        <p:spPr>
          <a:xfrm>
            <a:off x="2119630" y="1524000"/>
            <a:ext cx="5695315" cy="2485390"/>
          </a:xfrm>
          <a:prstGeom prst="rect">
            <a:avLst/>
          </a:prstGeom>
          <a:noFill/>
          <a:ln w="9525">
            <a:noFill/>
          </a:ln>
        </p:spPr>
      </p:pic>
      <p:grpSp>
        <p:nvGrpSpPr>
          <p:cNvPr id="5" name="组合 4"/>
          <p:cNvGrpSpPr/>
          <p:nvPr/>
        </p:nvGrpSpPr>
        <p:grpSpPr>
          <a:xfrm>
            <a:off x="595630" y="3898900"/>
            <a:ext cx="8135620" cy="970915"/>
            <a:chOff x="738" y="7100"/>
            <a:chExt cx="12812" cy="1529"/>
          </a:xfrm>
        </p:grpSpPr>
        <p:sp>
          <p:nvSpPr>
            <p:cNvPr id="50179" name="Text Box 7"/>
            <p:cNvSpPr txBox="1"/>
            <p:nvPr/>
          </p:nvSpPr>
          <p:spPr>
            <a:xfrm>
              <a:off x="738" y="7100"/>
              <a:ext cx="12812" cy="1307"/>
            </a:xfrm>
            <a:prstGeom prst="rect">
              <a:avLst/>
            </a:prstGeom>
            <a:noFill/>
            <a:ln w="9525">
              <a:noFill/>
            </a:ln>
          </p:spPr>
          <p:txBody>
            <a:bodyPr anchor="t" anchorCtr="0">
              <a:spAutoFit/>
            </a:bodyPr>
            <a:lstStyle/>
            <a:p>
              <a:pPr>
                <a:buClrTx/>
              </a:pPr>
              <a:endPar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buClrTx/>
              </a:pPr>
              <a:r>
                <a:rPr lang="en-US" altLang="zh-CN" sz="24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Eval (s) = w</a:t>
              </a:r>
              <a:r>
                <a:rPr lang="en-US" altLang="zh-CN" sz="2400" i="1" baseline="-25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4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i="1" baseline="-25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(s) + w</a:t>
              </a:r>
              <a:r>
                <a:rPr lang="en-US" altLang="zh-CN" sz="2400" i="1" baseline="-25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4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i="1" baseline="-25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(s) + … + w</a:t>
              </a:r>
              <a:r>
                <a:rPr lang="en-US" altLang="zh-CN" sz="2400" i="1" baseline="-25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f</a:t>
              </a:r>
              <a:r>
                <a:rPr lang="en-US" altLang="zh-CN" sz="2400" i="1" baseline="-25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(s)=</a:t>
              </a:r>
              <a:endParaRPr lang="zh-CN" altLang="en-US" sz="24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8131" name="Object 2"/>
            <p:cNvGraphicFramePr>
              <a:graphicFrameLocks noGrp="1" noChangeAspect="1"/>
            </p:cNvGraphicFramePr>
            <p:nvPr/>
          </p:nvGraphicFramePr>
          <p:xfrm>
            <a:off x="10038" y="7394"/>
            <a:ext cx="1889" cy="1235"/>
          </p:xfrm>
          <a:graphic>
            <a:graphicData uri="http://schemas.openxmlformats.org/presentationml/2006/ole">
              <mc:AlternateContent xmlns:mc="http://schemas.openxmlformats.org/markup-compatibility/2006">
                <mc:Choice xmlns:v="urn:schemas-microsoft-com:vml" Requires="v">
                  <p:oleObj spid="_x0000_s5128" r:id="rId5" imgW="660400" imgH="431800" progId="Equation.3">
                    <p:embed/>
                  </p:oleObj>
                </mc:Choice>
                <mc:Fallback>
                  <p:oleObj r:id="rId5" imgW="660400" imgH="431800" progId="Equation.3">
                    <p:embed/>
                    <p:pic>
                      <p:nvPicPr>
                        <p:cNvPr id="0" name="图片 3076"/>
                        <p:cNvPicPr/>
                        <p:nvPr/>
                      </p:nvPicPr>
                      <p:blipFill>
                        <a:blip r:embed="rId6"/>
                        <a:stretch>
                          <a:fillRect/>
                        </a:stretch>
                      </p:blipFill>
                      <p:spPr>
                        <a:xfrm>
                          <a:off x="10038" y="7394"/>
                          <a:ext cx="1889" cy="1235"/>
                        </a:xfrm>
                        <a:prstGeom prst="rect">
                          <a:avLst/>
                        </a:prstGeom>
                        <a:noFill/>
                        <a:ln w="38100">
                          <a:miter/>
                        </a:ln>
                      </p:spPr>
                    </p:pic>
                  </p:oleObj>
                </mc:Fallback>
              </mc:AlternateContent>
            </a:graphicData>
          </a:graphic>
        </p:graphicFrame>
      </p:grpSp>
      <p:sp>
        <p:nvSpPr>
          <p:cNvPr id="2" name="文本框 1"/>
          <p:cNvSpPr txBox="1"/>
          <p:nvPr/>
        </p:nvSpPr>
        <p:spPr>
          <a:xfrm>
            <a:off x="595630" y="1431925"/>
            <a:ext cx="1402080" cy="460375"/>
          </a:xfrm>
          <a:prstGeom prst="rect">
            <a:avLst/>
          </a:prstGeom>
          <a:noFill/>
        </p:spPr>
        <p:txBody>
          <a:bodyPr wrap="none" rtlCol="0" anchor="t">
            <a:spAutoFit/>
          </a:bodyPr>
          <a:lstStyle/>
          <a:p>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国际象棋</a:t>
            </a:r>
            <a:endParaRPr lang="zh-CN" altLang="en-US"/>
          </a:p>
        </p:txBody>
      </p:sp>
      <p:sp>
        <p:nvSpPr>
          <p:cNvPr id="8" name="文本框 7"/>
          <p:cNvSpPr txBox="1"/>
          <p:nvPr/>
        </p:nvSpPr>
        <p:spPr>
          <a:xfrm>
            <a:off x="1856105" y="5353050"/>
            <a:ext cx="5431155" cy="922020"/>
          </a:xfrm>
          <a:prstGeom prst="rect">
            <a:avLst/>
          </a:prstGeom>
          <a:noFill/>
        </p:spPr>
        <p:txBody>
          <a:bodyPr wrap="none" rtlCol="0">
            <a:spAutoFit/>
          </a:bodyPr>
          <a:lstStyle/>
          <a:p>
            <a:pPr algn="l"/>
            <a:r>
              <a:rPr lang="zh-CN" altLang="en-US"/>
              <a:t>对于国际象棋来说，</a:t>
            </a:r>
          </a:p>
          <a:p>
            <a:pPr algn="l"/>
            <a:r>
              <a:rPr lang="zh-CN" altLang="en-US" i="1">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zh-CN" altLang="en-US" i="1" baseline="-2500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en-US" altLang="zh-CN" i="1" baseline="-2500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a:t>可能是棋盘上每种棋子的数目，</a:t>
            </a:r>
          </a:p>
          <a:p>
            <a:pPr algn="l"/>
            <a:r>
              <a:rPr lang="zh-CN" altLang="en-US" i="1">
                <a:latin typeface="Times New Roman" panose="02020603050405020304" pitchFamily="18" charset="0"/>
                <a:ea typeface="微软雅黑" panose="020B0503020204020204" pitchFamily="34" charset="-122"/>
                <a:cs typeface="Times New Roman" panose="02020603050405020304" pitchFamily="18" charset="0"/>
                <a:sym typeface="+mn-ea"/>
              </a:rPr>
              <a:t>w</a:t>
            </a:r>
            <a:r>
              <a:rPr lang="zh-CN" altLang="en-US" i="1" baseline="-2500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a:t>可能是每种棋子的价值（如兵为</a:t>
            </a:r>
            <a:r>
              <a:rPr lang="en-US" altLang="zh-CN"/>
              <a:t>1</a:t>
            </a:r>
            <a:r>
              <a:rPr lang="zh-CN" altLang="en-US"/>
              <a:t>，象为</a:t>
            </a:r>
            <a:r>
              <a:rPr lang="en-US" altLang="zh-CN"/>
              <a:t>3</a:t>
            </a:r>
            <a:r>
              <a:rPr lang="zh-CN" altLang="en-US"/>
              <a:t>，等等）</a:t>
            </a:r>
          </a:p>
        </p:txBody>
      </p:sp>
      <p:sp>
        <p:nvSpPr>
          <p:cNvPr id="9" name="文本框 8"/>
          <p:cNvSpPr txBox="1"/>
          <p:nvPr/>
        </p:nvSpPr>
        <p:spPr>
          <a:xfrm>
            <a:off x="595630" y="4728845"/>
            <a:ext cx="5074920" cy="460375"/>
          </a:xfrm>
          <a:prstGeom prst="rect">
            <a:avLst/>
          </a:prstGeom>
          <a:noFill/>
        </p:spPr>
        <p:txBody>
          <a:bodyPr wrap="square" rtlCol="0" anchor="t">
            <a:spAutoFit/>
          </a:bodyPr>
          <a:lstStyle/>
          <a:p>
            <a:r>
              <a:rPr lang="zh-CN" altLang="en-US" sz="2400" i="1">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400" i="1" baseline="-2500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是权值，</a:t>
            </a:r>
            <a:r>
              <a:rPr lang="zh-CN" altLang="en-US" sz="2400" i="1">
                <a:latin typeface="Times New Roman" panose="02020603050405020304" pitchFamily="18" charset="0"/>
                <a:ea typeface="微软雅黑" panose="020B0503020204020204" pitchFamily="34" charset="-122"/>
                <a:cs typeface="Times New Roman" panose="02020603050405020304" pitchFamily="18" charset="0"/>
              </a:rPr>
              <a:t>f</a:t>
            </a:r>
            <a:r>
              <a:rPr lang="zh-CN" altLang="en-US" sz="2400" i="1" baseline="-2500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是棋局的某个特征</a:t>
            </a:r>
          </a:p>
        </p:txBody>
      </p:sp>
    </p:spTree>
    <p:custDataLst>
      <p:tags r:id="rId2"/>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201"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sz="4000" kern="1200" dirty="0">
                <a:solidFill>
                  <a:schemeClr val="accent1"/>
                </a:solidFill>
                <a:latin typeface="微软雅黑" panose="020B0503020204020204" pitchFamily="34" charset="-122"/>
                <a:ea typeface="微软雅黑" panose="020B0503020204020204" pitchFamily="34" charset="-122"/>
                <a:sym typeface="+mn-ea"/>
              </a:rPr>
              <a:t>评估函数（续）</a:t>
            </a:r>
          </a:p>
        </p:txBody>
      </p:sp>
      <p:pic>
        <p:nvPicPr>
          <p:cNvPr id="51202" name="Picture 5"/>
          <p:cNvPicPr>
            <a:picLocks noGrp="1" noRot="1" noChangeAspect="1"/>
          </p:cNvPicPr>
          <p:nvPr>
            <p:ph idx="4294967295"/>
          </p:nvPr>
        </p:nvPicPr>
        <p:blipFill>
          <a:blip r:embed="rId3"/>
          <a:stretch>
            <a:fillRect/>
          </a:stretch>
        </p:blipFill>
        <p:spPr>
          <a:xfrm>
            <a:off x="827088" y="1616075"/>
            <a:ext cx="7489825" cy="2163763"/>
          </a:xfrm>
          <a:prstGeom prst="rect">
            <a:avLst/>
          </a:prstGeom>
          <a:noFill/>
          <a:ln w="9525">
            <a:noFill/>
          </a:ln>
        </p:spPr>
      </p:pic>
      <p:sp>
        <p:nvSpPr>
          <p:cNvPr id="51203" name="Text Box 7"/>
          <p:cNvSpPr txBox="1"/>
          <p:nvPr/>
        </p:nvSpPr>
        <p:spPr>
          <a:xfrm>
            <a:off x="781050" y="4275138"/>
            <a:ext cx="7536180" cy="1529715"/>
          </a:xfrm>
          <a:prstGeom prst="rect">
            <a:avLst/>
          </a:prstGeom>
          <a:noFill/>
          <a:ln w="9525">
            <a:noFill/>
          </a:ln>
        </p:spPr>
        <p:txBody>
          <a:bodyPr wrap="none" anchor="t" anchorCtr="0">
            <a:spAutoFit/>
          </a:bodyPr>
          <a:lstStyle/>
          <a:p>
            <a:pPr marL="342900" indent="-342900">
              <a:lnSpc>
                <a:spcPct val="130000"/>
              </a:lnSpc>
              <a:buClrTx/>
              <a:buFontTx/>
              <a:buAutoNum type="arabicPeriod"/>
            </a:pPr>
            <a:r>
              <a:rPr lang="zh-CN" altLang="en-US" sz="2400" dirty="0">
                <a:solidFill>
                  <a:schemeClr val="dk1"/>
                </a:solidFill>
                <a:latin typeface="微软雅黑" panose="020B0503020204020204" pitchFamily="34" charset="-122"/>
                <a:ea typeface="微软雅黑" panose="020B0503020204020204" pitchFamily="34" charset="-122"/>
              </a:rPr>
              <a:t>评估函数对终止状态的</a:t>
            </a:r>
            <a:r>
              <a:rPr lang="zh-CN" altLang="en-US" sz="2400" b="1" i="1" dirty="0">
                <a:solidFill>
                  <a:srgbClr val="0070C0"/>
                </a:solidFill>
                <a:latin typeface="微软雅黑" panose="020B0503020204020204" pitchFamily="34" charset="-122"/>
                <a:ea typeface="微软雅黑" panose="020B0503020204020204" pitchFamily="34" charset="-122"/>
              </a:rPr>
              <a:t>排序</a:t>
            </a:r>
            <a:r>
              <a:rPr lang="zh-CN" altLang="en-US" sz="2400" dirty="0">
                <a:solidFill>
                  <a:schemeClr val="dk1"/>
                </a:solidFill>
                <a:latin typeface="微软雅黑" panose="020B0503020204020204" pitchFamily="34" charset="-122"/>
                <a:ea typeface="微软雅黑" panose="020B0503020204020204" pitchFamily="34" charset="-122"/>
              </a:rPr>
              <a:t>与实际的效用函数相同</a:t>
            </a:r>
          </a:p>
          <a:p>
            <a:pPr marL="342900" indent="-342900">
              <a:lnSpc>
                <a:spcPct val="130000"/>
              </a:lnSpc>
              <a:buClrTx/>
              <a:buFontTx/>
              <a:buAutoNum type="arabicPeriod"/>
            </a:pPr>
            <a:r>
              <a:rPr lang="zh-CN" altLang="en-US" sz="2400" dirty="0">
                <a:solidFill>
                  <a:schemeClr val="dk1"/>
                </a:solidFill>
                <a:latin typeface="微软雅黑" panose="020B0503020204020204" pitchFamily="34" charset="-122"/>
                <a:ea typeface="微软雅黑" panose="020B0503020204020204" pitchFamily="34" charset="-122"/>
              </a:rPr>
              <a:t>评估函数的计算简单</a:t>
            </a:r>
          </a:p>
          <a:p>
            <a:pPr marL="342900" indent="-342900">
              <a:lnSpc>
                <a:spcPct val="130000"/>
              </a:lnSpc>
              <a:buClrTx/>
              <a:buFontTx/>
              <a:buAutoNum type="arabicPeriod"/>
            </a:pPr>
            <a:r>
              <a:rPr lang="zh-CN" altLang="en-US" sz="2400" dirty="0">
                <a:solidFill>
                  <a:schemeClr val="dk1"/>
                </a:solidFill>
                <a:latin typeface="微软雅黑" panose="020B0503020204020204" pitchFamily="34" charset="-122"/>
                <a:ea typeface="微软雅黑" panose="020B0503020204020204" pitchFamily="34" charset="-122"/>
              </a:rPr>
              <a:t>对于非终止状态，评估值与实际取胜的几率密切相关</a:t>
            </a:r>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2225" name="Text Box 3"/>
          <p:cNvSpPr txBox="1"/>
          <p:nvPr>
            <p:custDataLst>
              <p:tags r:id="rId2"/>
            </p:custDataLst>
          </p:nvPr>
        </p:nvSpPr>
        <p:spPr>
          <a:xfrm>
            <a:off x="1489710" y="5148898"/>
            <a:ext cx="6499225" cy="829945"/>
          </a:xfrm>
          <a:prstGeom prst="rect">
            <a:avLst/>
          </a:prstGeom>
          <a:noFill/>
          <a:ln w="9525">
            <a:noFill/>
          </a:ln>
        </p:spPr>
        <p:txBody>
          <a:bodyPr wrap="none" anchor="t" anchorCtr="0">
            <a:spAutoFit/>
          </a:bodyPr>
          <a:lstStyle/>
          <a:p>
            <a:pPr marL="285750" indent="-285750">
              <a:buClrTx/>
            </a:pP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）黑棋有</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个马、</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个兵的优势，能够取胜。</a:t>
            </a:r>
          </a:p>
          <a:p>
            <a:pPr marL="285750" indent="-285750">
              <a:buClrTx/>
            </a:pP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）黑棋会被白棋吃掉皇后，从而失败。</a:t>
            </a:r>
          </a:p>
        </p:txBody>
      </p:sp>
      <p:pic>
        <p:nvPicPr>
          <p:cNvPr id="52226" name="Picture 1" descr="chess-evaluation3"/>
          <p:cNvPicPr>
            <a:picLocks noChangeAspect="1"/>
          </p:cNvPicPr>
          <p:nvPr/>
        </p:nvPicPr>
        <p:blipFill>
          <a:blip r:embed="rId7">
            <a:lum bright="10001" contrast="40000"/>
          </a:blip>
          <a:stretch>
            <a:fillRect/>
          </a:stretch>
        </p:blipFill>
        <p:spPr>
          <a:xfrm>
            <a:off x="492125" y="769938"/>
            <a:ext cx="8321675" cy="3630612"/>
          </a:xfrm>
          <a:prstGeom prst="rect">
            <a:avLst/>
          </a:prstGeom>
          <a:noFill/>
          <a:ln w="9525">
            <a:noFill/>
          </a:ln>
        </p:spPr>
      </p:pic>
      <p:sp>
        <p:nvSpPr>
          <p:cNvPr id="4" name="矩形 3"/>
          <p:cNvSpPr/>
          <p:nvPr>
            <p:custDataLst>
              <p:tags r:id="rId3"/>
            </p:custDataLst>
          </p:nvPr>
        </p:nvSpPr>
        <p:spPr>
          <a:xfrm>
            <a:off x="2974975" y="3584575"/>
            <a:ext cx="769938" cy="436563"/>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custDataLst>
              <p:tags r:id="rId4"/>
            </p:custDataLst>
          </p:nvPr>
        </p:nvSpPr>
        <p:spPr>
          <a:xfrm>
            <a:off x="7540625" y="3578225"/>
            <a:ext cx="768350" cy="4349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3249"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截断搜索</a:t>
            </a:r>
          </a:p>
        </p:txBody>
      </p:sp>
      <p:sp>
        <p:nvSpPr>
          <p:cNvPr id="53250" name="Rectangle 5"/>
          <p:cNvSpPr>
            <a:spLocks noGrp="1" noRot="1"/>
          </p:cNvSpPr>
          <p:nvPr>
            <p:ph idx="4294967295"/>
            <p:custDataLst>
              <p:tags r:id="rId2"/>
            </p:custDataLst>
          </p:nvPr>
        </p:nvSpPr>
        <p:spPr>
          <a:xfrm>
            <a:off x="457200" y="1329055"/>
            <a:ext cx="8229600" cy="512000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lnSpc>
                <a:spcPct val="100000"/>
              </a:lnSpc>
              <a:buSzTx/>
              <a:buFont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截断搜索和极小极大搜索相同，除了</a:t>
            </a:r>
          </a:p>
          <a:p>
            <a:pPr lvl="1" algn="l" defTabSz="914400" eaLnBrk="1" hangingPunct="1">
              <a:lnSpc>
                <a:spcPct val="10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用</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是否到达截断处？</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替代</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是否到达终盘？ </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defTabSz="914400" eaLnBrk="1" hangingPunct="1">
              <a:lnSpc>
                <a:spcPct val="10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用</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评估值</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替代</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效用值</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00000"/>
              </a:lnSpc>
              <a:buSzTx/>
              <a:buFontTx/>
              <a:buNone/>
            </a:pPr>
            <a:endPar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00000"/>
              </a:lnSpc>
              <a:buSzTx/>
              <a:buFont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在实际应用中的情况？</a:t>
            </a:r>
          </a:p>
          <a:p>
            <a:pPr lvl="0" algn="l" defTabSz="914400" eaLnBrk="1" hangingPunct="1">
              <a:lnSpc>
                <a:spcPct val="100000"/>
              </a:lnSpc>
              <a:buSzTx/>
              <a:buFont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b</a:t>
            </a:r>
            <a:r>
              <a:rPr lang="zh-CN" altLang="en-US" sz="2400" kern="12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10</a:t>
            </a:r>
            <a:r>
              <a:rPr lang="zh-CN" altLang="en-US" sz="2400" kern="12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b = 35  =&gt;  m = 4</a:t>
            </a:r>
          </a:p>
          <a:p>
            <a:pPr lvl="0" algn="l" defTabSz="914400" eaLnBrk="1" hangingPunct="1">
              <a:lnSpc>
                <a:spcPct val="100000"/>
              </a:lnSpc>
              <a:buSzTx/>
              <a:buFont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只能考虑到后面4步的棋手是很差劲的棋手！</a:t>
            </a:r>
          </a:p>
          <a:p>
            <a:pPr lvl="0" algn="l" defTabSz="914400" eaLnBrk="1" hangingPunct="1">
              <a:lnSpc>
                <a:spcPct val="100000"/>
              </a:lnSpc>
              <a:buSzTx/>
              <a:buFont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4-ply ≈ 人类中的初学者</a:t>
            </a:r>
          </a:p>
          <a:p>
            <a:pPr lvl="0" algn="l" defTabSz="914400" eaLnBrk="1" hangingPunct="1">
              <a:lnSpc>
                <a:spcPct val="100000"/>
              </a:lnSpc>
              <a:buSzTx/>
              <a:buFont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8-ply ≈ 一般的PC机，人类中的高明棋手</a:t>
            </a:r>
          </a:p>
          <a:p>
            <a:pPr lvl="0" algn="l" defTabSz="914400" eaLnBrk="1" hangingPunct="1">
              <a:lnSpc>
                <a:spcPct val="100000"/>
              </a:lnSpc>
              <a:buSzTx/>
              <a:buFont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12-ply ≈ Deep Blue，Kasparov</a:t>
            </a:r>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5297" name="Rectangle 2"/>
          <p:cNvSpPr>
            <a:spLocks noGrp="1" noRot="1"/>
          </p:cNvSpPr>
          <p:nvPr>
            <p:ph type="title" idx="4294967295"/>
          </p:nvPr>
        </p:nvSpPr>
        <p:spPr>
          <a:xfrm>
            <a:off x="301625" y="147955"/>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截断搜索（续）</a:t>
            </a:r>
          </a:p>
        </p:txBody>
      </p:sp>
      <p:sp>
        <p:nvSpPr>
          <p:cNvPr id="49155" name="Rectangle 3"/>
          <p:cNvSpPr>
            <a:spLocks noGrp="1" noRot="1"/>
          </p:cNvSpPr>
          <p:nvPr>
            <p:ph idx="4294967295"/>
            <p:custDataLst>
              <p:tags r:id="rId2"/>
            </p:custDataLst>
          </p:nvPr>
        </p:nvSpPr>
        <p:spPr>
          <a:xfrm>
            <a:off x="403860" y="1052195"/>
            <a:ext cx="8540750" cy="54006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用</a:t>
            </a:r>
            <a:r>
              <a:rPr lang="zh-CN" altLang="en-US" sz="2400" b="1" kern="12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ea"/>
              </a:rPr>
              <a:t>if CUTOFF-TEST(state, depth) then return EVAL(state)</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代替</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–算法中</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TERMINAL-TEST所在的两行，或</a:t>
            </a:r>
          </a:p>
          <a:p>
            <a:pPr lvl="0"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使用迭代搜索（ch3）：当时间用完时，程序就返回目前完成最深的搜索所选择的招数。</a:t>
            </a:r>
          </a:p>
          <a:p>
            <a:pPr lvl="1" algn="l" defTabSz="914400">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由于评估函数的近似性，上述方法可能导致错误。</a:t>
            </a:r>
          </a:p>
        </p:txBody>
      </p:sp>
      <p:sp>
        <p:nvSpPr>
          <p:cNvPr id="56322" name="Rectangle 3"/>
          <p:cNvSpPr>
            <a:spLocks noGrp="1" noRot="1"/>
          </p:cNvSpPr>
          <p:nvPr>
            <p:custDataLst>
              <p:tags r:id="rId3"/>
            </p:custDataLst>
          </p:nvPr>
        </p:nvSpPr>
        <p:spPr>
          <a:xfrm>
            <a:off x="403860" y="4203700"/>
            <a:ext cx="8540750" cy="1585595"/>
          </a:xfrm>
          <a:prstGeom prst="rect">
            <a:avLst/>
          </a:prstGeom>
          <a:noFill/>
          <a:ln w="9525">
            <a:noFill/>
          </a:ln>
        </p:spPr>
        <p:txBody>
          <a:bodyPr vert="horz" wrap="square" lIns="91440" tIns="45720" rIns="91440" bIns="45720" rtlCol="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140000"/>
              </a:lnSpc>
              <a:buSzTx/>
            </a:pPr>
            <a:r>
              <a:rPr lang="zh-CN" altLang="en-US" sz="2400" kern="1200" dirty="0">
                <a:solidFill>
                  <a:schemeClr val="dk1"/>
                </a:solidFill>
                <a:latin typeface="微软雅黑" panose="020B0503020204020204" pitchFamily="34" charset="-122"/>
                <a:ea typeface="微软雅黑" panose="020B0503020204020204" pitchFamily="34" charset="-122"/>
                <a:sym typeface="+mn-ea"/>
              </a:rPr>
              <a:t>需要更为复杂的截断测试</a:t>
            </a:r>
          </a:p>
          <a:p>
            <a:pPr lvl="1" algn="l" defTabSz="914400">
              <a:lnSpc>
                <a:spcPct val="14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mn-cs"/>
                <a:sym typeface="+mn-ea"/>
              </a:rPr>
              <a:t>评估函数应该只用于那些静止的棋局（不会出现拐点），非静止的棋局可以进一步扩展直到静止的棋局，这种额外的搜索称为</a:t>
            </a:r>
            <a:r>
              <a:rPr lang="zh-CN" altLang="en-US" sz="2000" b="1" kern="1200" dirty="0">
                <a:solidFill>
                  <a:srgbClr val="CC0000"/>
                </a:solidFill>
                <a:latin typeface="微软雅黑" panose="020B0503020204020204" pitchFamily="34" charset="-122"/>
                <a:ea typeface="微软雅黑" panose="020B0503020204020204" pitchFamily="34" charset="-122"/>
                <a:cs typeface="+mn-cs"/>
                <a:sym typeface="+mn-ea"/>
              </a:rPr>
              <a:t>静止搜索。</a:t>
            </a:r>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7346" name="Rectangle 3"/>
          <p:cNvSpPr>
            <a:spLocks noGrp="1" noRot="1"/>
          </p:cNvSpPr>
          <p:nvPr>
            <p:ph idx="4294967295"/>
            <p:custDataLst>
              <p:tags r:id="rId2"/>
            </p:custDataLst>
          </p:nvPr>
        </p:nvSpPr>
        <p:spPr>
          <a:xfrm>
            <a:off x="301625" y="414655"/>
            <a:ext cx="8540750" cy="569595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110000"/>
              </a:lnSpc>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假设已经实现：</a:t>
            </a:r>
          </a:p>
          <a:p>
            <a:pPr lvl="1" algn="l" defTabSz="914400">
              <a:lnSpc>
                <a:spcPct val="11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国际象棋的评估函数</a:t>
            </a:r>
          </a:p>
          <a:p>
            <a:pPr lvl="1" algn="l" defTabSz="914400">
              <a:lnSpc>
                <a:spcPct val="11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使用静止搜索的合理截断测试</a:t>
            </a:r>
          </a:p>
          <a:p>
            <a:pPr lvl="1" algn="l" defTabSz="914400">
              <a:lnSpc>
                <a:spcPct val="11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一个很大的调换表（换位表）</a:t>
            </a:r>
          </a:p>
          <a:p>
            <a:pPr lvl="0" algn="l" defTabSz="914400">
              <a:lnSpc>
                <a:spcPct val="110000"/>
              </a:lnSpc>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那么在“最新的PC”上可每秒生成和评价约一百万个节点，允许我们在标准时间控制下（每步棋3分钟）对每步棋可搜索约2亿个节点。</a:t>
            </a:r>
          </a:p>
          <a:p>
            <a:pPr lvl="0" algn="l" defTabSz="914400">
              <a:lnSpc>
                <a:spcPct val="110000"/>
              </a:lnSpc>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国际象棋的分支因子平均为35，35</a:t>
            </a:r>
            <a:r>
              <a:rPr lang="zh-CN" altLang="en-US" sz="2400" kern="12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约为5亿。</a:t>
            </a:r>
          </a:p>
          <a:p>
            <a:pPr lvl="0" algn="l" defTabSz="914400">
              <a:lnSpc>
                <a:spcPct val="110000"/>
              </a:lnSpc>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所以如果采用MINIMAX搜索，只能向前预测5层，采用</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–剪枝后大约可预测10层。</a:t>
            </a:r>
          </a:p>
          <a:p>
            <a:pPr lvl="0" algn="l" defTabSz="914400">
              <a:lnSpc>
                <a:spcPct val="110000"/>
              </a:lnSpc>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改进方法</a:t>
            </a:r>
          </a:p>
          <a:p>
            <a:pPr lvl="1" algn="l" defTabSz="914400">
              <a:lnSpc>
                <a:spcPct val="11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向前剪枝技术</a:t>
            </a:r>
          </a:p>
          <a:p>
            <a:pPr lvl="1" algn="l" defTabSz="914400">
              <a:lnSpc>
                <a:spcPct val="11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调整评估函数</a:t>
            </a:r>
          </a:p>
          <a:p>
            <a:pPr lvl="1" algn="l" defTabSz="914400">
              <a:lnSpc>
                <a:spcPct val="11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大型数据库</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6">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6">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346">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34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8369" name="Rectangle 2"/>
          <p:cNvSpPr>
            <a:spLocks noGrp="1" noRot="1"/>
          </p:cNvSpPr>
          <p:nvPr>
            <p:ph type="title" idx="4294967295"/>
          </p:nvPr>
        </p:nvSpPr>
        <p:spPr>
          <a:xfrm>
            <a:off x="466725" y="1915160"/>
            <a:ext cx="4260850" cy="494665"/>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r>
              <a:rPr lang="zh-CN" altLang="en-US" sz="2800" kern="1200" dirty="0">
                <a:solidFill>
                  <a:srgbClr val="0000FF"/>
                </a:solidFill>
                <a:latin typeface="微软雅黑" panose="020B0503020204020204" pitchFamily="34" charset="-122"/>
                <a:ea typeface="微软雅黑" panose="020B0503020204020204" pitchFamily="34" charset="-122"/>
                <a:sym typeface="+mn-ea"/>
              </a:rPr>
              <a:t>例子：西洋双陆棋</a:t>
            </a:r>
          </a:p>
        </p:txBody>
      </p:sp>
      <p:sp>
        <p:nvSpPr>
          <p:cNvPr id="58370" name="Rectangle 6"/>
          <p:cNvSpPr>
            <a:spLocks noGrp="1" noRot="1"/>
          </p:cNvSpPr>
          <p:nvPr>
            <p:ph type="body" sz="half" idx="4294967295"/>
            <p:custDataLst>
              <p:tags r:id="rId2"/>
            </p:custDataLst>
          </p:nvPr>
        </p:nvSpPr>
        <p:spPr>
          <a:xfrm>
            <a:off x="301625" y="2672080"/>
            <a:ext cx="8388350" cy="323342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目标：将自己的棋子全部移出棋盘</a:t>
            </a: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白棋</a:t>
            </a:r>
            <a:r>
              <a:rPr lang="zh-CN" altLang="en-US" sz="2000" b="1"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顺时针</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向25移动</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黑棋</a:t>
            </a:r>
            <a:r>
              <a:rPr lang="zh-CN" altLang="en-US" sz="2000" b="1"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逆时针</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向0移动</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每个棋子按照掷出的骰子数移动到任意位置除非那里有多个对方棋子；如果那里对方棋子只有一个，这个棋子就被吃了，要从起点重新开始。</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如图，白棋掷出</a:t>
            </a:r>
            <a:r>
              <a:rPr 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6-5</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，有4种合法移动，</a:t>
            </a:r>
          </a:p>
          <a:p>
            <a:pPr lvl="1" algn="l" defTabSz="914400">
              <a:buSzTx/>
            </a:pPr>
            <a:r>
              <a:rPr lang="zh-CN" altLang="en-US" sz="175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（5-10,5-11）（5-11,19-24）（5-10,10-16）（5-11,11-16）</a:t>
            </a:r>
          </a:p>
          <a:p>
            <a:pPr lvl="1" algn="l" defTabSz="914400">
              <a:buSzTx/>
            </a:pPr>
            <a:endParaRPr lang="zh-CN" altLang="en-US" sz="175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8371" name="Picture 4" descr="backgammon-position"/>
          <p:cNvPicPr>
            <a:picLocks noGrp="1" noRot="1" noChangeAspect="1"/>
          </p:cNvPicPr>
          <p:nvPr>
            <p:ph sz="half" idx="4294967295"/>
          </p:nvPr>
        </p:nvPicPr>
        <p:blipFill>
          <a:blip r:embed="rId5"/>
          <a:stretch>
            <a:fillRect/>
          </a:stretch>
        </p:blipFill>
        <p:spPr>
          <a:xfrm>
            <a:off x="5245100" y="161925"/>
            <a:ext cx="3444875" cy="3338830"/>
          </a:xfrm>
          <a:prstGeom prst="rect">
            <a:avLst/>
          </a:prstGeom>
          <a:noFill/>
          <a:ln w="9525">
            <a:noFill/>
          </a:ln>
        </p:spPr>
      </p:pic>
      <p:sp>
        <p:nvSpPr>
          <p:cNvPr id="66561" name="Rectangle 2"/>
          <p:cNvSpPr>
            <a:spLocks noGrp="1" noRot="1"/>
          </p:cNvSpPr>
          <p:nvPr/>
        </p:nvSpPr>
        <p:spPr>
          <a:xfrm>
            <a:off x="301625" y="161925"/>
            <a:ext cx="8540750"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b="1" kern="1200" dirty="0">
                <a:solidFill>
                  <a:schemeClr val="accent1"/>
                </a:solidFill>
                <a:latin typeface="微软雅黑" panose="020B0503020204020204" pitchFamily="34" charset="-122"/>
                <a:ea typeface="微软雅黑" panose="020B0503020204020204" pitchFamily="34" charset="-122"/>
                <a:sym typeface="+mn-ea"/>
              </a:rPr>
              <a:t>5.5 </a:t>
            </a:r>
            <a:r>
              <a:rPr lang="zh-CN" altLang="en-US" b="1" kern="1200" dirty="0">
                <a:solidFill>
                  <a:schemeClr val="accent1"/>
                </a:solidFill>
                <a:latin typeface="微软雅黑" panose="020B0503020204020204" pitchFamily="34" charset="-122"/>
                <a:ea typeface="微软雅黑" panose="020B0503020204020204" pitchFamily="34" charset="-122"/>
                <a:sym typeface="+mn-ea"/>
              </a:rPr>
              <a:t>随机博弈</a:t>
            </a:r>
          </a:p>
        </p:txBody>
      </p:sp>
      <p:sp>
        <p:nvSpPr>
          <p:cNvPr id="2" name="文本框 1"/>
          <p:cNvSpPr txBox="1"/>
          <p:nvPr/>
        </p:nvSpPr>
        <p:spPr>
          <a:xfrm>
            <a:off x="4014470" y="1978025"/>
            <a:ext cx="1230630" cy="36830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a:t>运气</a:t>
            </a:r>
            <a:r>
              <a:rPr lang="en-US" altLang="zh-CN"/>
              <a:t>+</a:t>
            </a:r>
            <a:r>
              <a:rPr lang="zh-CN" altLang="en-US"/>
              <a:t>技巧</a:t>
            </a:r>
          </a:p>
        </p:txBody>
      </p:sp>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圆角矩形 3"/>
          <p:cNvSpPr/>
          <p:nvPr/>
        </p:nvSpPr>
        <p:spPr>
          <a:xfrm>
            <a:off x="302260" y="4429125"/>
            <a:ext cx="5052695" cy="495300"/>
          </a:xfrm>
          <a:prstGeom prst="roundRect">
            <a:avLst/>
          </a:prstGeom>
          <a:solidFill>
            <a:schemeClr val="accent6">
              <a:lumMod val="20000"/>
              <a:lumOff val="80000"/>
            </a:schemeClr>
          </a:solidFill>
          <a:ln>
            <a:solidFill>
              <a:schemeClr val="accent6">
                <a:lumMod val="20000"/>
                <a:lumOff val="80000"/>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303530" y="2978150"/>
            <a:ext cx="5051425" cy="495300"/>
          </a:xfrm>
          <a:prstGeom prst="roundRect">
            <a:avLst/>
          </a:prstGeom>
          <a:solidFill>
            <a:schemeClr val="accent6">
              <a:lumMod val="20000"/>
              <a:lumOff val="80000"/>
            </a:schemeClr>
          </a:solidFill>
          <a:ln>
            <a:solidFill>
              <a:schemeClr val="accent6">
                <a:lumMod val="20000"/>
                <a:lumOff val="80000"/>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417" name="Rectangle 4"/>
          <p:cNvSpPr>
            <a:spLocks noGrp="1" noRot="1"/>
          </p:cNvSpPr>
          <p:nvPr>
            <p:ph type="title" idx="4294967295"/>
          </p:nvPr>
        </p:nvSpPr>
        <p:spPr>
          <a:xfrm>
            <a:off x="301625" y="381000"/>
            <a:ext cx="45148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r>
              <a:rPr lang="zh-CN" altLang="en-US" sz="4000" kern="1200" dirty="0">
                <a:solidFill>
                  <a:schemeClr val="accent1"/>
                </a:solidFill>
                <a:latin typeface="微软雅黑" panose="020B0503020204020204" pitchFamily="34" charset="-122"/>
                <a:ea typeface="微软雅黑" panose="020B0503020204020204" pitchFamily="34" charset="-122"/>
                <a:sym typeface="+mn-ea"/>
              </a:rPr>
              <a:t>双陆棋的博弈树</a:t>
            </a:r>
          </a:p>
        </p:txBody>
      </p:sp>
      <p:sp>
        <p:nvSpPr>
          <p:cNvPr id="60418" name="Rectangle 7"/>
          <p:cNvSpPr>
            <a:spLocks noGrp="1" noRot="1"/>
          </p:cNvSpPr>
          <p:nvPr>
            <p:ph type="body" sz="half" idx="4294967295"/>
            <p:custDataLst>
              <p:tags r:id="rId2"/>
            </p:custDataLst>
          </p:nvPr>
        </p:nvSpPr>
        <p:spPr>
          <a:xfrm>
            <a:off x="5576570" y="2406650"/>
            <a:ext cx="3281045" cy="302133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两个骰子总共有21种骰法，其中：</a:t>
            </a:r>
          </a:p>
          <a:p>
            <a:pPr lvl="1" algn="l" defTabSz="914400">
              <a:buSzTx/>
              <a:buFontTx/>
            </a:pP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6个有相同骰子数的组合（1/36概率）</a:t>
            </a:r>
          </a:p>
          <a:p>
            <a:pPr lvl="1" algn="l" defTabSz="914400">
              <a:buSzTx/>
              <a:buFontTx/>
            </a:pP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15个不同骰子数的组合（1/18概率）</a:t>
            </a:r>
          </a:p>
          <a:p>
            <a:pPr lvl="1" algn="l" defTabSz="914400">
              <a:buSzTx/>
              <a:buFontTx/>
            </a:pPr>
            <a:endPar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0419" name="Picture 6" descr="backgammon-tree"/>
          <p:cNvPicPr>
            <a:picLocks noGrp="1" noRot="1" noChangeAspect="1"/>
          </p:cNvPicPr>
          <p:nvPr>
            <p:ph sz="half" idx="4294967295"/>
            <p:custDataLst>
              <p:tags r:id="rId3"/>
            </p:custDataLst>
          </p:nvPr>
        </p:nvPicPr>
        <p:blipFill>
          <a:blip r:embed="rId6">
            <a:clrChange>
              <a:clrFrom>
                <a:srgbClr val="FFFFFF">
                  <a:alpha val="100000"/>
                </a:srgbClr>
              </a:clrFrom>
              <a:clrTo>
                <a:srgbClr val="FFFFFF">
                  <a:alpha val="100000"/>
                  <a:alpha val="0"/>
                </a:srgbClr>
              </a:clrTo>
            </a:clrChange>
          </a:blip>
          <a:stretch>
            <a:fillRect/>
          </a:stretch>
        </p:blipFill>
        <p:spPr>
          <a:xfrm>
            <a:off x="529908" y="2406650"/>
            <a:ext cx="4823696" cy="3833813"/>
          </a:xfrm>
          <a:prstGeom prst="rect">
            <a:avLst/>
          </a:prstGeom>
          <a:noFill/>
          <a:ln w="9525">
            <a:noFill/>
          </a:ln>
        </p:spPr>
      </p:pic>
      <p:sp>
        <p:nvSpPr>
          <p:cNvPr id="2" name="文本框 1"/>
          <p:cNvSpPr txBox="1"/>
          <p:nvPr/>
        </p:nvSpPr>
        <p:spPr>
          <a:xfrm>
            <a:off x="302260" y="1524000"/>
            <a:ext cx="3788410" cy="70675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000"/>
              <a:t>除了</a:t>
            </a:r>
            <a:r>
              <a:rPr lang="en-US" altLang="zh-CN" sz="2000"/>
              <a:t>MAX</a:t>
            </a:r>
            <a:r>
              <a:rPr lang="zh-CN" altLang="en-US" sz="2000"/>
              <a:t>和</a:t>
            </a:r>
            <a:r>
              <a:rPr lang="en-US" altLang="zh-CN" sz="2000"/>
              <a:t>MIN</a:t>
            </a:r>
            <a:r>
              <a:rPr lang="zh-CN" altLang="en-US" sz="2000"/>
              <a:t>节点</a:t>
            </a:r>
          </a:p>
          <a:p>
            <a:r>
              <a:rPr lang="zh-CN" altLang="en-US" sz="2000"/>
              <a:t>还有</a:t>
            </a:r>
            <a:r>
              <a:rPr lang="en-US" altLang="zh-CN" sz="2000" b="1">
                <a:solidFill>
                  <a:srgbClr val="C00000"/>
                </a:solidFill>
              </a:rPr>
              <a:t>CHANCE</a:t>
            </a:r>
            <a:r>
              <a:rPr lang="zh-CN" altLang="en-US" sz="2000" b="1">
                <a:solidFill>
                  <a:srgbClr val="C00000"/>
                </a:solidFill>
              </a:rPr>
              <a:t>节点（机会节点）</a:t>
            </a:r>
          </a:p>
        </p:txBody>
      </p:sp>
      <p:sp>
        <p:nvSpPr>
          <p:cNvPr id="5" name="文本框 4"/>
          <p:cNvSpPr txBox="1"/>
          <p:nvPr/>
        </p:nvSpPr>
        <p:spPr>
          <a:xfrm>
            <a:off x="4090670" y="1555115"/>
            <a:ext cx="5053330" cy="645160"/>
          </a:xfrm>
          <a:prstGeom prst="rect">
            <a:avLst/>
          </a:prstGeom>
          <a:noFill/>
        </p:spPr>
        <p:txBody>
          <a:bodyPr wrap="square" rtlCol="0">
            <a:spAutoFit/>
          </a:bodyPr>
          <a:lstStyle/>
          <a:p>
            <a:r>
              <a:rPr lang="zh-CN" altLang="en-US" b="1">
                <a:solidFill>
                  <a:schemeClr val="tx1"/>
                </a:solidFill>
              </a:rPr>
              <a:t>每个机会节点的子节点</a:t>
            </a:r>
            <a:r>
              <a:rPr lang="zh-CN" altLang="en-US" b="1">
                <a:solidFill>
                  <a:srgbClr val="0000FF"/>
                </a:solidFill>
              </a:rPr>
              <a:t>代表</a:t>
            </a:r>
            <a:r>
              <a:rPr lang="zh-CN" altLang="en-US" b="1">
                <a:solidFill>
                  <a:srgbClr val="C00000"/>
                </a:solidFill>
              </a:rPr>
              <a:t>可能的掷骰子结果</a:t>
            </a:r>
          </a:p>
          <a:p>
            <a:r>
              <a:rPr lang="zh-CN" altLang="en-US" b="1">
                <a:solidFill>
                  <a:schemeClr val="tx1"/>
                </a:solidFill>
              </a:rPr>
              <a:t>每个分支上</a:t>
            </a:r>
            <a:r>
              <a:rPr lang="zh-CN" altLang="en-US" b="1">
                <a:solidFill>
                  <a:srgbClr val="0000FF"/>
                </a:solidFill>
              </a:rPr>
              <a:t>标记着</a:t>
            </a:r>
            <a:r>
              <a:rPr lang="zh-CN" altLang="en-US" b="1">
                <a:solidFill>
                  <a:srgbClr val="C00000"/>
                </a:solidFill>
              </a:rPr>
              <a:t>骰子数及其出现的概率</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4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4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uild="p"/>
      <p:bldP spid="60418" grpId="1" build="p"/>
      <p:bldP spid="2" grpId="0" animBg="1"/>
      <p:bldP spid="2" grpId="1" animBg="1"/>
      <p:bldP spid="5" grpId="0"/>
      <p:bldP spid="5" grpId="1"/>
    </p:bld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1441"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极小极大值</a:t>
            </a: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期望</a:t>
            </a: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极小极大值</a:t>
            </a:r>
          </a:p>
        </p:txBody>
      </p:sp>
      <p:graphicFrame>
        <p:nvGraphicFramePr>
          <p:cNvPr id="61442" name="Object 2"/>
          <p:cNvGraphicFramePr>
            <a:graphicFrameLocks noGrp="1" noChangeAspect="1"/>
          </p:cNvGraphicFramePr>
          <p:nvPr>
            <p:ph idx="4294967295"/>
          </p:nvPr>
        </p:nvGraphicFramePr>
        <p:xfrm>
          <a:off x="671195" y="2244725"/>
          <a:ext cx="8064500" cy="2368550"/>
        </p:xfrm>
        <a:graphic>
          <a:graphicData uri="http://schemas.openxmlformats.org/presentationml/2006/ole">
            <mc:AlternateContent xmlns:mc="http://schemas.openxmlformats.org/markup-compatibility/2006">
              <mc:Choice xmlns:v="urn:schemas-microsoft-com:vml" Requires="v">
                <p:oleObj spid="_x0000_s6152" r:id="rId4" imgW="4064000" imgH="1193800" progId="Equation.3">
                  <p:embed/>
                </p:oleObj>
              </mc:Choice>
              <mc:Fallback>
                <p:oleObj r:id="rId4" imgW="4064000" imgH="1193800" progId="Equation.3">
                  <p:embed/>
                  <p:pic>
                    <p:nvPicPr>
                      <p:cNvPr id="0" name="图片 3075"/>
                      <p:cNvPicPr/>
                      <p:nvPr/>
                    </p:nvPicPr>
                    <p:blipFill>
                      <a:blip r:embed="rId5"/>
                      <a:stretch>
                        <a:fillRect/>
                      </a:stretch>
                    </p:blipFill>
                    <p:spPr>
                      <a:xfrm>
                        <a:off x="671195" y="2244725"/>
                        <a:ext cx="8064500" cy="2368550"/>
                      </a:xfrm>
                      <a:prstGeom prst="rect">
                        <a:avLst/>
                      </a:prstGeom>
                      <a:noFill/>
                      <a:ln w="38100">
                        <a:miter/>
                      </a:ln>
                    </p:spPr>
                  </p:pic>
                </p:oleObj>
              </mc:Fallback>
            </mc:AlternateContent>
          </a:graphicData>
        </a:graphic>
      </p:graphicFrame>
    </p:spTree>
    <p:custDataLst>
      <p:tags r:id="rId2"/>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2465" name="Rectangle 4"/>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一般的概率博弈</a:t>
            </a:r>
          </a:p>
        </p:txBody>
      </p:sp>
      <p:pic>
        <p:nvPicPr>
          <p:cNvPr id="62466" name="Picture 6"/>
          <p:cNvPicPr>
            <a:picLocks noGrp="1" noRot="1" noChangeAspect="1"/>
          </p:cNvPicPr>
          <p:nvPr>
            <p:ph idx="4294967295"/>
          </p:nvPr>
        </p:nvPicPr>
        <p:blipFill>
          <a:blip r:embed="rId5"/>
          <a:stretch>
            <a:fillRect/>
          </a:stretch>
        </p:blipFill>
        <p:spPr>
          <a:xfrm>
            <a:off x="2247583" y="2559050"/>
            <a:ext cx="4648200" cy="3311525"/>
          </a:xfrm>
          <a:prstGeom prst="rect">
            <a:avLst/>
          </a:prstGeom>
          <a:noFill/>
          <a:ln w="9525">
            <a:noFill/>
          </a:ln>
        </p:spPr>
      </p:pic>
      <p:sp>
        <p:nvSpPr>
          <p:cNvPr id="62467" name="Text Box 5"/>
          <p:cNvSpPr txBox="1"/>
          <p:nvPr>
            <p:custDataLst>
              <p:tags r:id="rId2"/>
            </p:custDataLst>
          </p:nvPr>
        </p:nvSpPr>
        <p:spPr>
          <a:xfrm>
            <a:off x="668655" y="1294765"/>
            <a:ext cx="7498080" cy="1124585"/>
          </a:xfrm>
          <a:prstGeom prst="rect">
            <a:avLst/>
          </a:prstGeom>
          <a:noFill/>
          <a:ln w="9525">
            <a:noFill/>
          </a:ln>
        </p:spPr>
        <p:txBody>
          <a:bodyPr wrap="none" anchor="t" anchorCtr="0">
            <a:spAutoFit/>
          </a:bodyPr>
          <a:lstStyle/>
          <a:p>
            <a:pPr>
              <a:lnSpc>
                <a:spcPct val="140000"/>
              </a:lnSpc>
              <a:buClrTx/>
            </a:pPr>
            <a:r>
              <a:rPr lang="zh-CN" altLang="en-US" sz="2400" dirty="0">
                <a:solidFill>
                  <a:schemeClr val="dk1"/>
                </a:solidFill>
                <a:latin typeface="微软雅黑" panose="020B0503020204020204" pitchFamily="34" charset="-122"/>
                <a:ea typeface="微软雅黑" panose="020B0503020204020204" pitchFamily="34" charset="-122"/>
              </a:rPr>
              <a:t>在概率博弈中，通过掷骰子等</a:t>
            </a:r>
            <a:r>
              <a:rPr lang="zh-CN" altLang="en-US" sz="2400" b="1" dirty="0">
                <a:solidFill>
                  <a:srgbClr val="C00000"/>
                </a:solidFill>
                <a:latin typeface="微软雅黑" panose="020B0503020204020204" pitchFamily="34" charset="-122"/>
                <a:ea typeface="微软雅黑" panose="020B0503020204020204" pitchFamily="34" charset="-122"/>
              </a:rPr>
              <a:t>随机过程</a:t>
            </a:r>
            <a:r>
              <a:rPr lang="zh-CN" altLang="en-US" sz="2400" dirty="0">
                <a:solidFill>
                  <a:schemeClr val="dk1"/>
                </a:solidFill>
                <a:latin typeface="微软雅黑" panose="020B0503020204020204" pitchFamily="34" charset="-122"/>
                <a:ea typeface="微软雅黑" panose="020B0503020204020204" pitchFamily="34" charset="-122"/>
              </a:rPr>
              <a:t>产生不确定情况</a:t>
            </a:r>
            <a:endParaRPr lang="en-US" altLang="zh-CN" sz="2400" dirty="0">
              <a:solidFill>
                <a:schemeClr val="dk1"/>
              </a:solidFill>
              <a:latin typeface="微软雅黑" panose="020B0503020204020204" pitchFamily="34" charset="-122"/>
              <a:ea typeface="微软雅黑" panose="020B0503020204020204" pitchFamily="34" charset="-122"/>
            </a:endParaRPr>
          </a:p>
          <a:p>
            <a:pPr>
              <a:lnSpc>
                <a:spcPct val="140000"/>
              </a:lnSpc>
              <a:buClrTx/>
            </a:pPr>
            <a:r>
              <a:rPr lang="zh-CN" altLang="en-US" sz="2400" dirty="0">
                <a:solidFill>
                  <a:schemeClr val="dk1"/>
                </a:solidFill>
                <a:latin typeface="微软雅黑" panose="020B0503020204020204" pitchFamily="34" charset="-122"/>
                <a:ea typeface="微软雅黑" panose="020B0503020204020204" pitchFamily="34" charset="-122"/>
              </a:rPr>
              <a:t>简化的例子是抛硬币：</a:t>
            </a:r>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3489" name="Rectangle 4"/>
          <p:cNvSpPr>
            <a:spLocks noGrp="1" noRot="1"/>
          </p:cNvSpPr>
          <p:nvPr>
            <p:ph type="title" idx="4294967295"/>
          </p:nvPr>
        </p:nvSpPr>
        <p:spPr>
          <a:xfrm>
            <a:off x="301625" y="18288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准确的评估值很重要</a:t>
            </a:r>
          </a:p>
        </p:txBody>
      </p:sp>
      <p:pic>
        <p:nvPicPr>
          <p:cNvPr id="63490" name="Picture 1" descr="chance-evaluation"/>
          <p:cNvPicPr>
            <a:picLocks noGrp="1" noRot="1" noChangeAspect="1"/>
          </p:cNvPicPr>
          <p:nvPr>
            <p:ph idx="4294967295"/>
          </p:nvPr>
        </p:nvPicPr>
        <p:blipFill>
          <a:blip r:embed="rId4"/>
          <a:stretch>
            <a:fillRect/>
          </a:stretch>
        </p:blipFill>
        <p:spPr>
          <a:xfrm>
            <a:off x="850583" y="1399540"/>
            <a:ext cx="7272337" cy="2917825"/>
          </a:xfrm>
          <a:prstGeom prst="rect">
            <a:avLst/>
          </a:prstGeom>
          <a:noFill/>
          <a:ln w="9525">
            <a:noFill/>
          </a:ln>
        </p:spPr>
      </p:pic>
      <p:sp>
        <p:nvSpPr>
          <p:cNvPr id="63491" name="Text Box 7"/>
          <p:cNvSpPr txBox="1"/>
          <p:nvPr/>
        </p:nvSpPr>
        <p:spPr>
          <a:xfrm>
            <a:off x="765175" y="4688205"/>
            <a:ext cx="7193280" cy="829945"/>
          </a:xfrm>
          <a:prstGeom prst="rect">
            <a:avLst/>
          </a:prstGeom>
          <a:noFill/>
          <a:ln w="9525">
            <a:noFill/>
          </a:ln>
        </p:spPr>
        <p:txBody>
          <a:bodyPr wrap="none" anchor="t" anchorCtr="0">
            <a:spAutoFit/>
          </a:bodyPr>
          <a:lstStyle/>
          <a:p>
            <a:pPr>
              <a:buClrTx/>
            </a:pPr>
            <a:r>
              <a:rPr lang="zh-CN" altLang="en-US" sz="2400" dirty="0">
                <a:solidFill>
                  <a:schemeClr val="dk1"/>
                </a:solidFill>
                <a:latin typeface="微软雅黑" panose="020B0503020204020204" pitchFamily="34" charset="-122"/>
                <a:ea typeface="微软雅黑" panose="020B0503020204020204" pitchFamily="34" charset="-122"/>
              </a:rPr>
              <a:t>评估值只有进行</a:t>
            </a:r>
            <a:r>
              <a:rPr lang="zh-CN" altLang="en-US" sz="2400" b="1" i="1" dirty="0">
                <a:solidFill>
                  <a:srgbClr val="0070C0"/>
                </a:solidFill>
                <a:latin typeface="微软雅黑" panose="020B0503020204020204" pitchFamily="34" charset="-122"/>
                <a:ea typeface="微软雅黑" panose="020B0503020204020204" pitchFamily="34" charset="-122"/>
              </a:rPr>
              <a:t>正线性</a:t>
            </a:r>
            <a:r>
              <a:rPr lang="zh-CN" altLang="en-US" sz="2400" dirty="0">
                <a:solidFill>
                  <a:schemeClr val="dk1"/>
                </a:solidFill>
                <a:latin typeface="微软雅黑" panose="020B0503020204020204" pitchFamily="34" charset="-122"/>
                <a:ea typeface="微软雅黑" panose="020B0503020204020204" pitchFamily="34" charset="-122"/>
              </a:rPr>
              <a:t>变换时才能保证移动选择不变</a:t>
            </a:r>
            <a:endParaRPr lang="en-US" altLang="zh-CN" sz="2400" dirty="0">
              <a:solidFill>
                <a:schemeClr val="dk1"/>
              </a:solidFill>
              <a:latin typeface="微软雅黑" panose="020B0503020204020204" pitchFamily="34" charset="-122"/>
              <a:ea typeface="微软雅黑" panose="020B0503020204020204" pitchFamily="34" charset="-122"/>
            </a:endParaRPr>
          </a:p>
          <a:p>
            <a:pPr>
              <a:buClrTx/>
            </a:pPr>
            <a:r>
              <a:rPr lang="zh-CN" altLang="en-US" sz="2400" dirty="0">
                <a:solidFill>
                  <a:schemeClr val="dk1"/>
                </a:solidFill>
                <a:latin typeface="微软雅黑" panose="020B0503020204020204" pitchFamily="34" charset="-122"/>
                <a:ea typeface="微软雅黑" panose="020B0503020204020204" pitchFamily="34" charset="-122"/>
              </a:rPr>
              <a:t>因此评估值应该与效用值成比例</a:t>
            </a:r>
          </a:p>
        </p:txBody>
      </p:sp>
      <p:sp>
        <p:nvSpPr>
          <p:cNvPr id="63492" name="Text Box 11"/>
          <p:cNvSpPr txBox="1"/>
          <p:nvPr>
            <p:custDataLst>
              <p:tags r:id="rId2"/>
            </p:custDataLst>
          </p:nvPr>
        </p:nvSpPr>
        <p:spPr>
          <a:xfrm>
            <a:off x="388620" y="5631815"/>
            <a:ext cx="7946390" cy="829945"/>
          </a:xfrm>
          <a:prstGeom prst="rect">
            <a:avLst/>
          </a:prstGeom>
          <a:noFill/>
          <a:ln w="9525">
            <a:noFill/>
          </a:ln>
        </p:spPr>
        <p:txBody>
          <a:bodyPr wrap="square" anchor="t" anchorCtr="0">
            <a:spAutoFit/>
          </a:bodyPr>
          <a:lstStyle/>
          <a:p>
            <a:pPr marL="285750" indent="-285750">
              <a:buClrTx/>
            </a:pP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在保持顺序不变的情况下，叶节点赋值的变化会导致最佳招数的改变。</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349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4513" name="Rectangle 2"/>
          <p:cNvSpPr>
            <a:spLocks noGrp="1" noRot="1"/>
          </p:cNvSpPr>
          <p:nvPr>
            <p:ph type="title" idx="4294967295"/>
          </p:nvPr>
        </p:nvSpPr>
        <p:spPr>
          <a:xfrm>
            <a:off x="301625" y="381000"/>
            <a:ext cx="8540750" cy="80899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期望极小极大值的复杂度</a:t>
            </a:r>
          </a:p>
        </p:txBody>
      </p:sp>
      <p:sp>
        <p:nvSpPr>
          <p:cNvPr id="75779" name="Rectangle 3"/>
          <p:cNvSpPr>
            <a:spLocks noGrp="1" noRot="1"/>
          </p:cNvSpPr>
          <p:nvPr>
            <p:ph idx="4294967295"/>
            <p:custDataLst>
              <p:tags r:id="rId2"/>
            </p:custDataLst>
          </p:nvPr>
        </p:nvSpPr>
        <p:spPr>
          <a:xfrm>
            <a:off x="301625" y="1504950"/>
            <a:ext cx="8540750" cy="464121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算法的时间复杂度为O(b</a:t>
            </a:r>
            <a:r>
              <a:rPr lang="zh-CN" altLang="en-US" sz="2800" kern="12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2800" kern="12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)，其中n为不同的掷骰子结果的数目。</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可以对</a:t>
            </a:r>
            <a:r>
              <a:rPr lang="zh-CN" altLang="en-US" sz="28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机会博弈树</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使用类似</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剪枝的技术吗？</a:t>
            </a:r>
          </a:p>
          <a:p>
            <a:pPr lvl="1" algn="l" defTabSz="914400">
              <a:buSzTx/>
            </a:pPr>
            <a:r>
              <a:rPr lang="zh-CN" altLang="en-US" sz="24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确实可以！</a:t>
            </a:r>
          </a:p>
          <a:p>
            <a:pPr lvl="1" algn="l" defTabSz="914400">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限制效用函数的取值范围不用看机会节点的子节点就可以设置机会节点的值的上界</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7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5537" name="Rectangle 2"/>
          <p:cNvSpPr>
            <a:spLocks noGrp="1" noRot="1"/>
          </p:cNvSpPr>
          <p:nvPr>
            <p:ph type="title" idx="4294967295"/>
          </p:nvPr>
        </p:nvSpPr>
        <p:spPr>
          <a:xfrm>
            <a:off x="301625" y="255905"/>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实际中的概率博弈</a:t>
            </a:r>
          </a:p>
        </p:txBody>
      </p:sp>
      <p:sp>
        <p:nvSpPr>
          <p:cNvPr id="65538" name="Rectangle 3"/>
          <p:cNvSpPr>
            <a:spLocks noGrp="1" noRot="1"/>
          </p:cNvSpPr>
          <p:nvPr>
            <p:ph idx="4294967295"/>
            <p:custDataLst>
              <p:tags r:id="rId2"/>
            </p:custDataLst>
          </p:nvPr>
        </p:nvSpPr>
        <p:spPr>
          <a:xfrm>
            <a:off x="612775" y="1398905"/>
            <a:ext cx="8229600" cy="406082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掷骰子将增加b</a:t>
            </a:r>
            <a:r>
              <a:rPr lang="en-US" altLang="zh-CN"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分支因子）： 2个骰子有21种组合方式</a:t>
            </a:r>
          </a:p>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西洋双陆棋 ≈ 20种移动方式</a:t>
            </a:r>
          </a:p>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depth 4 = 20 × (21 × 20)</a:t>
            </a:r>
            <a:r>
              <a:rPr lang="zh-CN" altLang="en-US" sz="2000" kern="12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1.2 × 10</a:t>
            </a:r>
            <a:r>
              <a:rPr lang="zh-CN" altLang="en-US" sz="2000" kern="12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9</a:t>
            </a: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10000"/>
              </a:lnSpc>
              <a:buSzTx/>
              <a:buFontTx/>
              <a:buNone/>
            </a:pP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随着深度增加，到达某个特定节点的概率变小 </a:t>
            </a:r>
          </a:p>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=&gt; 预先考虑的价值也就降低</a:t>
            </a:r>
          </a:p>
          <a:p>
            <a:pPr lvl="0" algn="l" defTabSz="914400" eaLnBrk="1" hangingPunct="1">
              <a:lnSpc>
                <a:spcPct val="110000"/>
              </a:lnSpc>
              <a:buSzTx/>
              <a:buFontTx/>
              <a:buNone/>
            </a:pP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α-β剪枝的效果不好</a:t>
            </a:r>
          </a:p>
          <a:p>
            <a:pPr lvl="0" algn="l" defTabSz="914400" eaLnBrk="1" hangingPunct="1">
              <a:lnSpc>
                <a:spcPct val="110000"/>
              </a:lnSpc>
              <a:buSzTx/>
              <a:buFontTx/>
              <a:buNone/>
            </a:pP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TD-GAMMON采用深度为2的搜索 </a:t>
            </a:r>
            <a:r>
              <a:rPr lang="zh-CN" altLang="en-US" sz="2000" b="1"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非常好的评估函数 </a:t>
            </a:r>
          </a:p>
          <a:p>
            <a:pPr lvl="0" algn="l" defTabSz="914400" eaLnBrk="1" hangingPunct="1">
              <a:lnSpc>
                <a:spcPct val="11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世界冠军的水平 </a:t>
            </a:r>
          </a:p>
        </p:txBody>
      </p:sp>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6561"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sym typeface="+mn-ea"/>
              </a:rPr>
              <a:t>5.6 </a:t>
            </a:r>
            <a:r>
              <a:rPr lang="zh-CN" altLang="en-US" kern="1200" dirty="0">
                <a:solidFill>
                  <a:schemeClr val="accent1"/>
                </a:solidFill>
                <a:latin typeface="微软雅黑" panose="020B0503020204020204" pitchFamily="34" charset="-122"/>
                <a:ea typeface="微软雅黑" panose="020B0503020204020204" pitchFamily="34" charset="-122"/>
                <a:sym typeface="+mn-ea"/>
              </a:rPr>
              <a:t>不完全信息的博弈</a:t>
            </a:r>
          </a:p>
        </p:txBody>
      </p:sp>
      <p:sp>
        <p:nvSpPr>
          <p:cNvPr id="66562" name="Rectangle 3"/>
          <p:cNvSpPr>
            <a:spLocks noGrp="1" noRot="1"/>
          </p:cNvSpPr>
          <p:nvPr>
            <p:ph idx="4294967295"/>
            <p:custDataLst>
              <p:tags r:id="rId2"/>
            </p:custDataLst>
          </p:nvPr>
        </p:nvSpPr>
        <p:spPr>
          <a:xfrm>
            <a:off x="457200" y="2705100"/>
            <a:ext cx="8229600" cy="31654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11430" lvl="0" indent="1270" algn="l" defTabSz="914400" eaLnBrk="1" hangingPunct="1">
              <a:lnSpc>
                <a:spcPct val="120000"/>
              </a:lnSpc>
              <a:buSzTx/>
              <a:buFontTx/>
              <a:buNone/>
            </a:pPr>
            <a:r>
              <a:rPr lang="zh-CN" altLang="en-US" sz="2000" b="1"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思想：</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对每种牌局计算每个行为的最小最大值，然后选择对所有牌局期望值最高的行为</a:t>
            </a:r>
          </a:p>
          <a:p>
            <a:pPr marL="11430" lvl="0" indent="1270" algn="l" defTabSz="914400" eaLnBrk="1" hangingPunct="1">
              <a:lnSpc>
                <a:spcPct val="12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如果某个行为对所有的牌局都是最优的，则它是最优的。</a:t>
            </a:r>
          </a:p>
          <a:p>
            <a:pPr lvl="0" algn="l" defTabSz="914400" eaLnBrk="1" hangingPunct="1">
              <a:lnSpc>
                <a:spcPct val="120000"/>
              </a:lnSpc>
              <a:buSzTx/>
              <a:buFontTx/>
              <a:buNone/>
            </a:pP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2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桥牌程序GIB采用如下的方法来近似上面的思想 </a:t>
            </a:r>
          </a:p>
          <a:p>
            <a:pPr lvl="0" algn="l" defTabSz="914400" eaLnBrk="1" hangingPunct="1">
              <a:lnSpc>
                <a:spcPct val="12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1. 生成与叫牌信息一致的100种牌局</a:t>
            </a:r>
          </a:p>
          <a:p>
            <a:pPr lvl="0" algn="l" defTabSz="914400" eaLnBrk="1" hangingPunct="1">
              <a:lnSpc>
                <a:spcPct val="120000"/>
              </a:lnSpc>
              <a:buSzTx/>
              <a:buFontTx/>
              <a:buNone/>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2. 选择平均情况下最有可能赢的行为</a:t>
            </a:r>
          </a:p>
        </p:txBody>
      </p:sp>
      <p:sp>
        <p:nvSpPr>
          <p:cNvPr id="2" name="文本框 1"/>
          <p:cNvSpPr txBox="1"/>
          <p:nvPr/>
        </p:nvSpPr>
        <p:spPr>
          <a:xfrm>
            <a:off x="457200" y="1429385"/>
            <a:ext cx="8229600" cy="1198880"/>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t">
            <a:spAutoFit/>
          </a:bodyPr>
          <a:lstStyle/>
          <a:p>
            <a:r>
              <a:rPr lang="zh-CN" altLang="en-US">
                <a:latin typeface="微软雅黑" panose="020B0503020204020204" pitchFamily="34" charset="-122"/>
                <a:ea typeface="微软雅黑" panose="020B0503020204020204" pitchFamily="34" charset="-122"/>
              </a:rPr>
              <a:t>在不完全信息博弈里，参与人并不完全清楚有关博弈的一些信息。</a:t>
            </a:r>
            <a:r>
              <a:rPr lang="zh-CN" altLang="en-US" b="1">
                <a:solidFill>
                  <a:srgbClr val="0070C0"/>
                </a:solidFill>
                <a:latin typeface="微软雅黑" panose="020B0503020204020204" pitchFamily="34" charset="-122"/>
                <a:ea typeface="微软雅黑" panose="020B0503020204020204" pitchFamily="34" charset="-122"/>
              </a:rPr>
              <a:t>大多数纸牌游戏是不完全信息博弈。</a:t>
            </a:r>
            <a:r>
              <a:rPr lang="zh-CN" altLang="en-US">
                <a:latin typeface="微软雅黑" panose="020B0503020204020204" pitchFamily="34" charset="-122"/>
                <a:ea typeface="微软雅黑" panose="020B0503020204020204" pitchFamily="34" charset="-122"/>
              </a:rPr>
              <a:t>在桥牌里，你并不知道你对面伙伴手中的牌，也并不知道坐在左右两位对手手里的牌。你在作决策时，必须对其他三位手中的牌做一个估计，而没有确切的信息。</a:t>
            </a:r>
          </a:p>
        </p:txBody>
      </p:sp>
      <p:pic>
        <p:nvPicPr>
          <p:cNvPr id="105" name="图片 104"/>
          <p:cNvPicPr/>
          <p:nvPr/>
        </p:nvPicPr>
        <p:blipFill>
          <a:blip r:embed="rId4"/>
          <a:stretch>
            <a:fillRect/>
          </a:stretch>
        </p:blipFill>
        <p:spPr>
          <a:xfrm>
            <a:off x="6680200" y="4178300"/>
            <a:ext cx="1811020" cy="2272665"/>
          </a:xfrm>
          <a:prstGeom prst="rect">
            <a:avLst/>
          </a:prstGeom>
          <a:noFill/>
          <a:ln w="9525">
            <a:noFill/>
          </a:ln>
        </p:spPr>
      </p:pic>
      <p:sp>
        <p:nvSpPr>
          <p:cNvPr id="4" name="文本框 3"/>
          <p:cNvSpPr txBox="1"/>
          <p:nvPr/>
        </p:nvSpPr>
        <p:spPr>
          <a:xfrm>
            <a:off x="1988185" y="5947410"/>
            <a:ext cx="4080510" cy="645160"/>
          </a:xfrm>
          <a:prstGeom prst="rect">
            <a:avLst/>
          </a:prstGeom>
          <a:noFill/>
        </p:spPr>
        <p:txBody>
          <a:bodyPr wrap="square" rtlCol="0">
            <a:spAutoFit/>
          </a:bodyPr>
          <a:lstStyle/>
          <a:p>
            <a:r>
              <a:rPr lang="zh-CN" altLang="en-US"/>
              <a:t>平均观察力</a:t>
            </a:r>
          </a:p>
          <a:p>
            <a:r>
              <a:rPr lang="en-US" altLang="zh-CN"/>
              <a:t>——</a:t>
            </a:r>
            <a:r>
              <a:rPr lang="zh-CN" altLang="en-US"/>
              <a:t>第一步走完后游戏变成可观察的了</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56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656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56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56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3085" y="760730"/>
            <a:ext cx="7746365" cy="3138170"/>
          </a:xfrm>
          <a:prstGeom prst="rect">
            <a:avLst/>
          </a:prstGeom>
          <a:noFill/>
        </p:spPr>
        <p:txBody>
          <a:bodyPr wrap="square" rtlCol="0" anchor="t">
            <a:spAutoFit/>
          </a:bodyPr>
          <a:lstStyle/>
          <a:p>
            <a:r>
              <a:rPr lang="zh-CN" altLang="en-US"/>
              <a:t>Day 1: </a:t>
            </a:r>
            <a:r>
              <a:rPr lang="zh-CN" altLang="en-US">
                <a:solidFill>
                  <a:srgbClr val="C00000"/>
                </a:solidFill>
              </a:rPr>
              <a:t>Road A </a:t>
            </a:r>
            <a:r>
              <a:rPr lang="zh-CN" altLang="en-US"/>
              <a:t>leads to a heap of gold; </a:t>
            </a:r>
            <a:r>
              <a:rPr lang="zh-CN" altLang="en-US">
                <a:solidFill>
                  <a:srgbClr val="0000FF"/>
                </a:solidFill>
              </a:rPr>
              <a:t>Road B </a:t>
            </a:r>
            <a:r>
              <a:rPr lang="zh-CN" altLang="en-US"/>
              <a:t>leads to a fork. Take the left fork and you'll find a bigger heap of gold, but take the right fork and you'll be run over by a bus. </a:t>
            </a:r>
          </a:p>
          <a:p>
            <a:endParaRPr lang="zh-CN" altLang="en-US"/>
          </a:p>
          <a:p>
            <a:r>
              <a:rPr lang="zh-CN" altLang="en-US"/>
              <a:t>Day 2: </a:t>
            </a:r>
            <a:r>
              <a:rPr lang="zh-CN" altLang="en-US">
                <a:solidFill>
                  <a:srgbClr val="C00000"/>
                </a:solidFill>
              </a:rPr>
              <a:t>Road A</a:t>
            </a:r>
            <a:r>
              <a:rPr lang="zh-CN" altLang="en-US"/>
              <a:t> leads to a heap of gold; </a:t>
            </a:r>
            <a:r>
              <a:rPr lang="zh-CN" altLang="en-US">
                <a:solidFill>
                  <a:srgbClr val="0000FF"/>
                </a:solidFill>
              </a:rPr>
              <a:t>Road B</a:t>
            </a:r>
            <a:r>
              <a:rPr lang="zh-CN" altLang="en-US"/>
              <a:t> leads to a fork. Take the right fork and you'll find a bigger heap of gold, but take the left fork and you'll be run over by a bus. </a:t>
            </a:r>
          </a:p>
          <a:p>
            <a:endParaRPr lang="zh-CN" altLang="en-US"/>
          </a:p>
          <a:p>
            <a:r>
              <a:rPr lang="zh-CN" altLang="en-US"/>
              <a:t>Day 3: </a:t>
            </a:r>
            <a:r>
              <a:rPr lang="zh-CN" altLang="en-US">
                <a:solidFill>
                  <a:srgbClr val="C00000"/>
                </a:solidFill>
              </a:rPr>
              <a:t>Road A</a:t>
            </a:r>
            <a:r>
              <a:rPr lang="zh-CN" altLang="en-US"/>
              <a:t> leads to a heap of gold; </a:t>
            </a:r>
            <a:r>
              <a:rPr lang="zh-CN" altLang="en-US">
                <a:solidFill>
                  <a:srgbClr val="0000FF"/>
                </a:solidFill>
              </a:rPr>
              <a:t>Road B</a:t>
            </a:r>
            <a:r>
              <a:rPr lang="zh-CN" altLang="en-US"/>
              <a:t> leads to a fork. One branch of the fork leads to a bigger heap of gold, but take the wrong fork and you'll be hit by a bus. </a:t>
            </a:r>
            <a:r>
              <a:rPr lang="en-US" altLang="zh-CN"/>
              <a:t>Unfortunately </a:t>
            </a:r>
            <a:r>
              <a:rPr lang="zh-CN" altLang="en-US"/>
              <a:t>you don't know which fork is which.</a:t>
            </a:r>
          </a:p>
        </p:txBody>
      </p:sp>
      <p:sp>
        <p:nvSpPr>
          <p:cNvPr id="3" name="文本框 2"/>
          <p:cNvSpPr txBox="1"/>
          <p:nvPr/>
        </p:nvSpPr>
        <p:spPr>
          <a:xfrm>
            <a:off x="650240" y="4319905"/>
            <a:ext cx="8114030" cy="1476375"/>
          </a:xfrm>
          <a:prstGeom prst="rect">
            <a:avLst/>
          </a:prstGeom>
          <a:noFill/>
        </p:spPr>
        <p:txBody>
          <a:bodyPr wrap="square" rtlCol="0" anchor="t">
            <a:spAutoFit/>
          </a:bodyPr>
          <a:lstStyle/>
          <a:p>
            <a:r>
              <a:rPr lang="zh-CN" altLang="en-US"/>
              <a:t>Averaging over clairvoyance leads to the following reasoning: </a:t>
            </a:r>
          </a:p>
          <a:p>
            <a:r>
              <a:rPr lang="zh-CN" altLang="en-US"/>
              <a:t>on Day 1, B is the right choice; </a:t>
            </a:r>
          </a:p>
          <a:p>
            <a:r>
              <a:rPr lang="zh-CN" altLang="en-US"/>
              <a:t>on Day 2, B is the right choice; </a:t>
            </a:r>
          </a:p>
          <a:p>
            <a:r>
              <a:rPr lang="zh-CN" altLang="en-US"/>
              <a:t>on Day 3, the situation is the same as either Day 1 or Day 2. so B must still be the right choice.</a:t>
            </a:r>
          </a:p>
        </p:txBody>
      </p:sp>
      <p:sp>
        <p:nvSpPr>
          <p:cNvPr id="4" name="文本框 3"/>
          <p:cNvSpPr txBox="1"/>
          <p:nvPr/>
        </p:nvSpPr>
        <p:spPr>
          <a:xfrm>
            <a:off x="650240" y="288290"/>
            <a:ext cx="4288155" cy="368300"/>
          </a:xfrm>
          <a:prstGeom prst="rect">
            <a:avLst/>
          </a:prstGeom>
          <a:noFill/>
        </p:spPr>
        <p:txBody>
          <a:bodyPr wrap="square" rtlCol="0">
            <a:spAutoFit/>
          </a:bodyPr>
          <a:lstStyle/>
          <a:p>
            <a:r>
              <a:rPr lang="zh-CN" altLang="en-US" b="1"/>
              <a:t>平均观察力策略有时会导致迷路</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7585"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四张牌的桥牌练习</a:t>
            </a:r>
          </a:p>
        </p:txBody>
      </p:sp>
      <p:pic>
        <p:nvPicPr>
          <p:cNvPr id="67586" name="Picture 4" descr="bridge01"/>
          <p:cNvPicPr>
            <a:picLocks noGrp="1" noRot="1" noChangeAspect="1"/>
          </p:cNvPicPr>
          <p:nvPr>
            <p:ph sz="half" idx="4294967295"/>
          </p:nvPr>
        </p:nvPicPr>
        <p:blipFill>
          <a:blip r:embed="rId4"/>
          <a:stretch>
            <a:fillRect/>
          </a:stretch>
        </p:blipFill>
        <p:spPr>
          <a:xfrm>
            <a:off x="250825" y="1677988"/>
            <a:ext cx="8497888" cy="839787"/>
          </a:xfrm>
          <a:prstGeom prst="rect">
            <a:avLst/>
          </a:prstGeom>
          <a:noFill/>
          <a:ln w="9525">
            <a:noFill/>
          </a:ln>
        </p:spPr>
      </p:pic>
      <p:pic>
        <p:nvPicPr>
          <p:cNvPr id="430086" name="Picture 6" descr="bridge02"/>
          <p:cNvPicPr>
            <a:picLocks noGrp="1" noRot="1" noChangeAspect="1"/>
          </p:cNvPicPr>
          <p:nvPr>
            <p:ph sz="quarter" idx="4294967295"/>
          </p:nvPr>
        </p:nvPicPr>
        <p:blipFill>
          <a:blip r:embed="rId5"/>
          <a:stretch>
            <a:fillRect/>
          </a:stretch>
        </p:blipFill>
        <p:spPr>
          <a:xfrm>
            <a:off x="323850" y="2852738"/>
            <a:ext cx="8424863" cy="835025"/>
          </a:xfrm>
          <a:prstGeom prst="rect">
            <a:avLst/>
          </a:prstGeom>
          <a:noFill/>
          <a:ln w="9525">
            <a:noFill/>
          </a:ln>
        </p:spPr>
      </p:pic>
      <p:pic>
        <p:nvPicPr>
          <p:cNvPr id="430088" name="Picture 8" descr="bridge03"/>
          <p:cNvPicPr>
            <a:picLocks noGrp="1" noRot="1" noChangeAspect="1"/>
          </p:cNvPicPr>
          <p:nvPr>
            <p:ph sz="quarter" idx="4294967295"/>
          </p:nvPr>
        </p:nvPicPr>
        <p:blipFill>
          <a:blip r:embed="rId6"/>
          <a:stretch>
            <a:fillRect/>
          </a:stretch>
        </p:blipFill>
        <p:spPr>
          <a:xfrm>
            <a:off x="323850" y="3933825"/>
            <a:ext cx="8569325" cy="1782763"/>
          </a:xfrm>
          <a:prstGeom prst="rect">
            <a:avLst/>
          </a:prstGeom>
          <a:noFill/>
          <a:ln w="9525">
            <a:noFill/>
          </a:ln>
        </p:spPr>
      </p:pic>
      <p:sp>
        <p:nvSpPr>
          <p:cNvPr id="4" name="文本框 3"/>
          <p:cNvSpPr txBox="1"/>
          <p:nvPr/>
        </p:nvSpPr>
        <p:spPr>
          <a:xfrm>
            <a:off x="323850" y="170180"/>
            <a:ext cx="4288155" cy="368300"/>
          </a:xfrm>
          <a:prstGeom prst="rect">
            <a:avLst/>
          </a:prstGeom>
          <a:noFill/>
        </p:spPr>
        <p:txBody>
          <a:bodyPr wrap="square" rtlCol="0">
            <a:spAutoFit/>
          </a:bodyPr>
          <a:lstStyle/>
          <a:p>
            <a:r>
              <a:rPr lang="zh-CN" altLang="en-US"/>
              <a:t>平均观察力策略有时会导致迷路</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086"/>
                                        </p:tgtEl>
                                        <p:attrNameLst>
                                          <p:attrName>style.visibility</p:attrName>
                                        </p:attrNameLst>
                                      </p:cBhvr>
                                      <p:to>
                                        <p:strVal val="visible"/>
                                      </p:to>
                                    </p:set>
                                    <p:animEffect transition="in" filter="blinds(horizontal)">
                                      <p:cBhvr>
                                        <p:cTn id="7" dur="500"/>
                                        <p:tgtEl>
                                          <p:spTgt spid="4300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088"/>
                                        </p:tgtEl>
                                        <p:attrNameLst>
                                          <p:attrName>style.visibility</p:attrName>
                                        </p:attrNameLst>
                                      </p:cBhvr>
                                      <p:to>
                                        <p:strVal val="visible"/>
                                      </p:to>
                                    </p:set>
                                    <p:animEffect transition="in" filter="blinds(horizontal)">
                                      <p:cBhvr>
                                        <p:cTn id="12" dur="500"/>
                                        <p:tgtEl>
                                          <p:spTgt spid="430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8609" name="Rectangle 2"/>
          <p:cNvSpPr>
            <a:spLocks noGrp="1" noRot="1"/>
          </p:cNvSpPr>
          <p:nvPr>
            <p:ph type="title" idx="4294967295"/>
          </p:nvPr>
        </p:nvSpPr>
        <p:spPr>
          <a:xfrm>
            <a:off x="301625" y="38100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正确的分析</a:t>
            </a:r>
          </a:p>
        </p:txBody>
      </p:sp>
      <p:sp>
        <p:nvSpPr>
          <p:cNvPr id="68610" name="Rectangle 3"/>
          <p:cNvSpPr>
            <a:spLocks noGrp="1" noRot="1"/>
          </p:cNvSpPr>
          <p:nvPr>
            <p:ph idx="4294967295"/>
            <p:custDataLst>
              <p:tags r:id="rId2"/>
            </p:custDataLst>
          </p:nvPr>
        </p:nvSpPr>
        <p:spPr>
          <a:xfrm>
            <a:off x="433070" y="1293495"/>
            <a:ext cx="8540750"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显然，利用明手情况下动作取值的平均值来选择行为的方法是存在问题的</a:t>
            </a:r>
          </a:p>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在部分可观的情况下，行为的估计值与</a:t>
            </a:r>
            <a:r>
              <a:rPr lang="zh-CN" altLang="en-US" sz="2800" kern="1200" dirty="0">
                <a:solidFill>
                  <a:srgbClr val="C00000"/>
                </a:solidFill>
                <a:latin typeface="微软雅黑" panose="020B0503020204020204" pitchFamily="34" charset="-122"/>
                <a:ea typeface="微软雅黑" panose="020B0503020204020204" pitchFamily="34" charset="-122"/>
                <a:sym typeface="+mn-ea"/>
              </a:rPr>
              <a:t>信息</a:t>
            </a:r>
            <a:r>
              <a:rPr lang="zh-CN" altLang="en-US" sz="2800" kern="1200" dirty="0">
                <a:solidFill>
                  <a:schemeClr val="dk1"/>
                </a:solidFill>
                <a:latin typeface="微软雅黑" panose="020B0503020204020204" pitchFamily="34" charset="-122"/>
                <a:ea typeface="微软雅黑" panose="020B0503020204020204" pitchFamily="34" charset="-122"/>
                <a:sym typeface="+mn-ea"/>
              </a:rPr>
              <a:t>以及</a:t>
            </a:r>
            <a:r>
              <a:rPr lang="zh-CN" altLang="en-US" sz="2800" kern="1200" dirty="0">
                <a:solidFill>
                  <a:srgbClr val="C00000"/>
                </a:solidFill>
                <a:latin typeface="微软雅黑" panose="020B0503020204020204" pitchFamily="34" charset="-122"/>
                <a:ea typeface="微软雅黑" panose="020B0503020204020204" pitchFamily="34" charset="-122"/>
                <a:sym typeface="+mn-ea"/>
              </a:rPr>
              <a:t>置信度</a:t>
            </a:r>
            <a:r>
              <a:rPr lang="zh-CN" altLang="en-US" sz="2800" kern="1200" dirty="0">
                <a:solidFill>
                  <a:schemeClr val="dk1"/>
                </a:solidFill>
                <a:latin typeface="微软雅黑" panose="020B0503020204020204" pitchFamily="34" charset="-122"/>
                <a:ea typeface="微软雅黑" panose="020B0503020204020204" pitchFamily="34" charset="-122"/>
                <a:sym typeface="+mn-ea"/>
              </a:rPr>
              <a:t>有关</a:t>
            </a:r>
          </a:p>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可采取的理性行为包括：</a:t>
            </a:r>
          </a:p>
          <a:p>
            <a:pPr lvl="1" algn="l" defTabSz="914400" eaLnBrk="1" hangingPunct="1">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mn-cs"/>
                <a:sym typeface="+mn-ea"/>
              </a:rPr>
              <a:t>获取信息的行为</a:t>
            </a:r>
          </a:p>
          <a:p>
            <a:pPr lvl="1" algn="l" defTabSz="914400" eaLnBrk="1" hangingPunct="1">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mn-cs"/>
                <a:sym typeface="+mn-ea"/>
              </a:rPr>
              <a:t>向对家传递信息的行为</a:t>
            </a:r>
          </a:p>
          <a:p>
            <a:pPr lvl="1" algn="l" defTabSz="914400" eaLnBrk="1" hangingPunct="1">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mn-cs"/>
                <a:sym typeface="+mn-ea"/>
              </a:rPr>
              <a:t>尽量不给对手信息的行为</a:t>
            </a:r>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9633" name="Rectangle 4"/>
          <p:cNvSpPr>
            <a:spLocks noGrp="1" noRot="1"/>
          </p:cNvSpPr>
          <p:nvPr>
            <p:ph type="title" idx="4294967295"/>
          </p:nvPr>
        </p:nvSpPr>
        <p:spPr>
          <a:xfrm>
            <a:off x="301625" y="138430"/>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实际的博弈程序</a:t>
            </a:r>
          </a:p>
        </p:txBody>
      </p:sp>
      <p:sp>
        <p:nvSpPr>
          <p:cNvPr id="69634" name="Rectangle 5"/>
          <p:cNvSpPr>
            <a:spLocks noGrp="1" noRot="1"/>
          </p:cNvSpPr>
          <p:nvPr>
            <p:ph idx="4294967295"/>
            <p:custDataLst>
              <p:tags r:id="rId2"/>
            </p:custDataLst>
          </p:nvPr>
        </p:nvSpPr>
        <p:spPr>
          <a:xfrm>
            <a:off x="335280" y="1195070"/>
            <a:ext cx="8507095" cy="504063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lnSpc>
                <a:spcPct val="130000"/>
              </a:lnSpc>
              <a:buClr>
                <a:srgbClr val="0070C0"/>
              </a:buClr>
              <a:buSzTx/>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西洋跳棋：</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Chinook采用alpha-beta搜索，战胜了具有40年人类冠军史的M. Tinsley。其采用的终局数据库包含了39万亿个局面。</a:t>
            </a:r>
          </a:p>
          <a:p>
            <a:pPr lvl="0" algn="l" defTabSz="914400" eaLnBrk="1" hangingPunct="1">
              <a:lnSpc>
                <a:spcPct val="130000"/>
              </a:lnSpc>
              <a:buClr>
                <a:srgbClr val="0070C0"/>
              </a:buClr>
              <a:buSzTx/>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国际象棋：</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1997年Deep Blue在六局的比赛中击败了G. Kasparov。Deep Blue每秒搜索3亿个位置，它采用非常复杂的评估函数，以及某些没有透露的方法来搜索深达40步的走法。</a:t>
            </a:r>
          </a:p>
          <a:p>
            <a:pPr lvl="0" algn="l" defTabSz="914400" eaLnBrk="1" hangingPunct="1">
              <a:lnSpc>
                <a:spcPct val="130000"/>
              </a:lnSpc>
              <a:buClr>
                <a:srgbClr val="0070C0"/>
              </a:buClr>
              <a:buSzTx/>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黑白棋：</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人类冠军拒绝与计算机对抗，因为它太厉害了。</a:t>
            </a:r>
          </a:p>
          <a:p>
            <a:pPr lvl="0" algn="l" defTabSz="914400" eaLnBrk="1" hangingPunct="1">
              <a:lnSpc>
                <a:spcPct val="130000"/>
              </a:lnSpc>
              <a:buClr>
                <a:srgbClr val="0070C0"/>
              </a:buClr>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西洋双陆棋：TD-GAMMON采用增强学习和神经网络来学习评估函数，可与人类顶级棋手竞争。</a:t>
            </a:r>
          </a:p>
          <a:p>
            <a:pPr lvl="0" algn="l" defTabSz="914400" eaLnBrk="1" hangingPunct="1">
              <a:lnSpc>
                <a:spcPct val="130000"/>
              </a:lnSpc>
              <a:buClr>
                <a:srgbClr val="0070C0"/>
              </a:buClr>
              <a:buSzTx/>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围棋：</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围棋中b &gt; 300，且评估函数很难得到，因此大多数程序利用模式知识库来给出的似是而非的走棋建议。目前的围棋程序AlphaGo已达到超一流棋手的水平。</a:t>
            </a:r>
          </a:p>
          <a:p>
            <a:pPr lvl="0" algn="l" defTabSz="914400" eaLnBrk="1" hangingPunct="1">
              <a:lnSpc>
                <a:spcPct val="130000"/>
              </a:lnSpc>
              <a:buClr>
                <a:srgbClr val="0070C0"/>
              </a:buClr>
              <a:buSzTx/>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桥牌：</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GIB采用蒙特卡罗方法，目前达到人类专家水平</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6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96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963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uild="p"/>
      <p:bldP spid="69634" grpId="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9905" y="553085"/>
            <a:ext cx="7058025" cy="460375"/>
          </a:xfrm>
          <a:prstGeom prst="rect">
            <a:avLst/>
          </a:prstGeom>
          <a:noFill/>
        </p:spPr>
        <p:txBody>
          <a:bodyPr wrap="square" rtlCol="0" anchor="t">
            <a:spAutoFit/>
          </a:bodyPr>
          <a:lstStyle/>
          <a:p>
            <a:r>
              <a:rPr lang="zh-CN" altLang="en-US" sz="2400">
                <a:latin typeface="微软雅黑" panose="020B0503020204020204" pitchFamily="34" charset="-122"/>
                <a:ea typeface="微软雅黑" panose="020B0503020204020204" pitchFamily="34" charset="-122"/>
              </a:rPr>
              <a:t>博弈论的最核心的实践是在不完美信息博弈。</a:t>
            </a:r>
          </a:p>
        </p:txBody>
      </p:sp>
      <p:sp>
        <p:nvSpPr>
          <p:cNvPr id="3" name="文本框 2"/>
          <p:cNvSpPr txBox="1"/>
          <p:nvPr/>
        </p:nvSpPr>
        <p:spPr>
          <a:xfrm>
            <a:off x="606425" y="1183640"/>
            <a:ext cx="7887970" cy="1198880"/>
          </a:xfrm>
          <a:prstGeom prst="rect">
            <a:avLst/>
          </a:prstGeom>
          <a:noFill/>
        </p:spPr>
        <p:txBody>
          <a:bodyPr wrap="square" rtlCol="0" anchor="t">
            <a:spAutoFit/>
          </a:bodyPr>
          <a:lstStyle/>
          <a:p>
            <a:r>
              <a:rPr lang="zh-CN" altLang="en-US"/>
              <a:t>扑克游戏的AI应用经常会作为解决不完美信息博弈问题的一个基准。</a:t>
            </a:r>
          </a:p>
          <a:p>
            <a:r>
              <a:rPr lang="zh-CN" altLang="en-US"/>
              <a:t>在真实世界中，不完美信息博弈非常重要。</a:t>
            </a:r>
          </a:p>
          <a:p>
            <a:r>
              <a:rPr lang="zh-CN" altLang="en-US"/>
              <a:t>在人工智能的发展史上，机器学习和深度学习在解决不完美信息博弈问题的表现还不够成功。</a:t>
            </a:r>
          </a:p>
        </p:txBody>
      </p:sp>
      <p:sp>
        <p:nvSpPr>
          <p:cNvPr id="4" name="文本框 3"/>
          <p:cNvSpPr txBox="1"/>
          <p:nvPr/>
        </p:nvSpPr>
        <p:spPr>
          <a:xfrm>
            <a:off x="606425" y="2477135"/>
            <a:ext cx="8199755" cy="1198880"/>
          </a:xfrm>
          <a:prstGeom prst="rect">
            <a:avLst/>
          </a:prstGeom>
          <a:noFill/>
        </p:spPr>
        <p:txBody>
          <a:bodyPr wrap="square" rtlCol="0" anchor="t">
            <a:spAutoFit/>
          </a:bodyPr>
          <a:lstStyle/>
          <a:p>
            <a:r>
              <a:rPr lang="zh-CN" altLang="en-US"/>
              <a:t> 德州扑克就是不完美信息博弈的一个例子，因为对手手中的牌你是看不到的。这是一个非常有挑战的问题，其可能的状态大概有10的161次方之多。(目前，宇宙中可观察到的原子总数为10的82次方)。有不少人曾尝试使用深度学习和深度强化学习来解决这个问题，但是效果差强人意。</a:t>
            </a:r>
          </a:p>
        </p:txBody>
      </p:sp>
      <p:sp>
        <p:nvSpPr>
          <p:cNvPr id="5" name="文本框 4"/>
          <p:cNvSpPr txBox="1"/>
          <p:nvPr/>
        </p:nvSpPr>
        <p:spPr>
          <a:xfrm>
            <a:off x="606425" y="3921760"/>
            <a:ext cx="7770495" cy="922020"/>
          </a:xfrm>
          <a:prstGeom prst="rect">
            <a:avLst/>
          </a:prstGeom>
          <a:noFill/>
        </p:spPr>
        <p:txBody>
          <a:bodyPr wrap="square" rtlCol="0" anchor="t">
            <a:spAutoFit/>
          </a:bodyPr>
          <a:lstStyle/>
          <a:p>
            <a:r>
              <a:rPr lang="zh-CN" altLang="en-US"/>
              <a:t>但是一个名为Libratus的AI程序的表现超过了任何其他方法，它在20000人的大赛中赢得了冠军。该程序是由卡内基梅隆大学开发，并没有采用任何机器学习和深度学习方法。它的设计核心理念就是博弈论。</a:t>
            </a:r>
          </a:p>
        </p:txBody>
      </p:sp>
      <p:pic>
        <p:nvPicPr>
          <p:cNvPr id="7" name="图片 6"/>
          <p:cNvPicPr>
            <a:picLocks noChangeAspect="1"/>
          </p:cNvPicPr>
          <p:nvPr/>
        </p:nvPicPr>
        <p:blipFill>
          <a:blip r:embed="rId4"/>
          <a:stretch>
            <a:fillRect/>
          </a:stretch>
        </p:blipFill>
        <p:spPr>
          <a:xfrm>
            <a:off x="340995" y="1013460"/>
            <a:ext cx="8301355" cy="518223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5760" y="361315"/>
            <a:ext cx="7219315" cy="368300"/>
          </a:xfrm>
          <a:prstGeom prst="rect">
            <a:avLst/>
          </a:prstGeom>
          <a:noFill/>
        </p:spPr>
        <p:txBody>
          <a:bodyPr wrap="square" rtlCol="0" anchor="t">
            <a:spAutoFit/>
          </a:bodyPr>
          <a:lstStyle/>
          <a:p>
            <a:r>
              <a:rPr lang="zh-CN" altLang="en-US" b="1"/>
              <a:t>微软超级麻将AI Suphx，破解非完美信息游戏</a:t>
            </a:r>
            <a:r>
              <a:rPr lang="en-US" altLang="zh-CN" b="1"/>
              <a:t>(2019)</a:t>
            </a:r>
          </a:p>
        </p:txBody>
      </p:sp>
      <p:pic>
        <p:nvPicPr>
          <p:cNvPr id="104" name="图片 103"/>
          <p:cNvPicPr/>
          <p:nvPr/>
        </p:nvPicPr>
        <p:blipFill>
          <a:blip r:embed="rId4"/>
          <a:stretch>
            <a:fillRect/>
          </a:stretch>
        </p:blipFill>
        <p:spPr>
          <a:xfrm>
            <a:off x="505460" y="1092835"/>
            <a:ext cx="8413115" cy="3385185"/>
          </a:xfrm>
          <a:prstGeom prst="rect">
            <a:avLst/>
          </a:prstGeom>
          <a:noFill/>
          <a:ln w="9525">
            <a:noFill/>
          </a:ln>
        </p:spPr>
      </p:pic>
      <p:sp>
        <p:nvSpPr>
          <p:cNvPr id="3" name="文本框 2"/>
          <p:cNvSpPr txBox="1"/>
          <p:nvPr/>
        </p:nvSpPr>
        <p:spPr>
          <a:xfrm>
            <a:off x="2157095" y="4665345"/>
            <a:ext cx="4572000" cy="368300"/>
          </a:xfrm>
          <a:prstGeom prst="rect">
            <a:avLst/>
          </a:prstGeom>
          <a:noFill/>
        </p:spPr>
        <p:txBody>
          <a:bodyPr wrap="square" rtlCol="0" anchor="t">
            <a:spAutoFit/>
          </a:bodyPr>
          <a:lstStyle/>
          <a:p>
            <a:r>
              <a:rPr lang="zh-CN" altLang="en-US"/>
              <a:t>麻将游戏的挑战以及 Suphx 的核心技术</a:t>
            </a:r>
          </a:p>
        </p:txBody>
      </p:sp>
      <p:sp>
        <p:nvSpPr>
          <p:cNvPr id="4" name="文本框 3"/>
          <p:cNvSpPr txBox="1"/>
          <p:nvPr/>
        </p:nvSpPr>
        <p:spPr>
          <a:xfrm>
            <a:off x="283210" y="5220970"/>
            <a:ext cx="8383270" cy="1198880"/>
          </a:xfrm>
          <a:prstGeom prst="rect">
            <a:avLst/>
          </a:prstGeom>
          <a:noFill/>
        </p:spPr>
        <p:txBody>
          <a:bodyPr wrap="square" rtlCol="0" anchor="t">
            <a:spAutoFit/>
          </a:bodyPr>
          <a:lstStyle/>
          <a:p>
            <a:r>
              <a:rPr lang="zh-CN" altLang="en-US"/>
              <a:t>而麻将游戏中复杂的推理策略和带有随机性的博弈过程，比完美信息游戏更加贴近人类复杂的真实生活。AI 在不完美信息游戏中的突破，将有助于协助人类应对更多高度复杂的现实问题，尤其是在智能交通、金融投资等容易受到随机突发状况影响的场景中。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0657" name="标题 1"/>
          <p:cNvSpPr>
            <a:spLocks noGrp="1" noRot="1"/>
          </p:cNvSpPr>
          <p:nvPr>
            <p:ph type="title" idx="4294967295"/>
          </p:nvPr>
        </p:nvSpPr>
        <p:spPr>
          <a:xfrm>
            <a:off x="259080" y="165735"/>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小结</a:t>
            </a:r>
          </a:p>
        </p:txBody>
      </p:sp>
      <p:sp>
        <p:nvSpPr>
          <p:cNvPr id="70658" name="内容占位符 2"/>
          <p:cNvSpPr>
            <a:spLocks noGrp="1" noRot="1"/>
          </p:cNvSpPr>
          <p:nvPr>
            <p:ph idx="4294967295"/>
            <p:custDataLst>
              <p:tags r:id="rId2"/>
            </p:custDataLst>
          </p:nvPr>
        </p:nvSpPr>
        <p:spPr>
          <a:xfrm>
            <a:off x="258763" y="1173163"/>
            <a:ext cx="8540750" cy="5024437"/>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000" b="1"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博弈</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en-US" sz="2000"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初始状态</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每个状态的合法行动</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终止测试</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2000"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可用在终止状态的效用函数</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定义</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zh-CN" altLang="en-US" sz="2000"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有完整信息的两人零和博弈</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中，极小极大值算法可通过对博弈树的</a:t>
            </a:r>
            <a:r>
              <a:rPr lang="zh-CN" altLang="en-US" sz="2000"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深度优先枚举</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获得最优值</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–剪枝搜索算法可获得</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极小极大值算法相同的最优性，但效率大大提高</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截断搜索可有效减少状态搜索空间，需应用评估函数</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有几率因素的博弈可通过扩展极小极大值算法来处理，扩展后的算法计算其全部节点的平均效用来评价一个机会节点，平均效用值是每个节点的概率加权平均值</a:t>
            </a:r>
          </a:p>
        </p:txBody>
      </p:sp>
      <p:sp>
        <p:nvSpPr>
          <p:cNvPr id="3" name="文本框 2"/>
          <p:cNvSpPr txBox="1"/>
          <p:nvPr/>
        </p:nvSpPr>
        <p:spPr>
          <a:xfrm>
            <a:off x="676275" y="5619115"/>
            <a:ext cx="7791450" cy="922020"/>
          </a:xfrm>
          <a:prstGeom prst="rect">
            <a:avLst/>
          </a:prstGeom>
          <a:noFill/>
        </p:spPr>
        <p:txBody>
          <a:bodyPr wrap="square" rtlCol="0" anchor="t">
            <a:spAutoFit/>
          </a:bodyPr>
          <a:lstStyle/>
          <a:p>
            <a:r>
              <a:rPr lang="zh-CN" altLang="en-US"/>
              <a:t>在博弈树和策略价值函数的选择上，“完全信息类”棋类AI算法经历了从“AlphaBeta剪枝算法”、“蒙特卡洛树搜索”到“深层神经网络”的迭代更新，功能也不断“进化”。</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06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6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6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build="p"/>
      <p:bldP spid="70658" grpId="1"/>
      <p:bldP spid="3" grpId="0"/>
      <p:bldP spid="3" grpId="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033145" y="847725"/>
            <a:ext cx="7077075" cy="5162550"/>
          </a:xfrm>
          <a:prstGeom prst="rect">
            <a:avLst/>
          </a:prstGeom>
        </p:spPr>
      </p:pic>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795020" y="876300"/>
            <a:ext cx="7553325" cy="5105400"/>
          </a:xfrm>
          <a:prstGeom prst="rect">
            <a:avLst/>
          </a:prstGeom>
        </p:spPr>
      </p:pic>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56945" y="933450"/>
            <a:ext cx="7229475" cy="4991100"/>
          </a:xfrm>
          <a:prstGeom prst="rect">
            <a:avLst/>
          </a:prstGeom>
        </p:spPr>
      </p:pic>
    </p:spTree>
    <p:custDataLst>
      <p:tags r:id="rId1"/>
    </p:custData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1640" y="807085"/>
            <a:ext cx="4285615" cy="5513070"/>
          </a:xfrm>
          <a:prstGeom prst="rect">
            <a:avLst/>
          </a:prstGeom>
          <a:noFill/>
        </p:spPr>
        <p:txBody>
          <a:bodyPr wrap="square" rtlCol="0" anchor="t">
            <a:spAutoFit/>
          </a:bodyPr>
          <a:lstStyle/>
          <a:p>
            <a:pPr>
              <a:lnSpc>
                <a:spcPct val="140000"/>
              </a:lnSpc>
            </a:pPr>
            <a:r>
              <a:rPr lang="zh-CN" altLang="en-US" b="1"/>
              <a:t>纳什平衡（Nash equilibrium）</a:t>
            </a:r>
            <a:r>
              <a:rPr lang="zh-CN" altLang="en-US"/>
              <a:t>，又称为非合作博弈均衡，是博弈论的一个重要术语，以约翰·纳什命名。</a:t>
            </a:r>
          </a:p>
          <a:p>
            <a:pPr>
              <a:lnSpc>
                <a:spcPct val="140000"/>
              </a:lnSpc>
            </a:pPr>
            <a:r>
              <a:rPr lang="zh-CN" altLang="en-US"/>
              <a:t>在一个博弈过程中，无论对方的策略选择如何，当事人一方都会选择某个确定的策略，则该策略被称作支配性策略。如果任意一位参与者在其他所有参与者的策略确定的情况下，其选择的策略是最优的，那么这个组合就被定义为纳什平衡。</a:t>
            </a:r>
          </a:p>
          <a:p>
            <a:pPr>
              <a:lnSpc>
                <a:spcPct val="140000"/>
              </a:lnSpc>
            </a:pPr>
            <a:r>
              <a:rPr lang="zh-CN" altLang="en-US"/>
              <a:t>一个策略组合被称为纳什平衡，当每个博弈者的平衡策略都是为了达到自己期望收益的最大值，与此同时，其他所有博弈者也遵循这样的策略。</a:t>
            </a:r>
          </a:p>
        </p:txBody>
      </p:sp>
      <p:pic>
        <p:nvPicPr>
          <p:cNvPr id="101" name="图片 100"/>
          <p:cNvPicPr/>
          <p:nvPr/>
        </p:nvPicPr>
        <p:blipFill>
          <a:blip r:embed="rId3"/>
          <a:stretch>
            <a:fillRect/>
          </a:stretch>
        </p:blipFill>
        <p:spPr>
          <a:xfrm>
            <a:off x="5010150" y="610870"/>
            <a:ext cx="2857500" cy="4362450"/>
          </a:xfrm>
          <a:prstGeom prst="rect">
            <a:avLst/>
          </a:prstGeom>
          <a:noFill/>
          <a:ln w="9525">
            <a:noFill/>
          </a:ln>
        </p:spPr>
      </p:pic>
      <p:sp>
        <p:nvSpPr>
          <p:cNvPr id="5" name="文本框 4"/>
          <p:cNvSpPr txBox="1"/>
          <p:nvPr/>
        </p:nvSpPr>
        <p:spPr>
          <a:xfrm>
            <a:off x="5010150" y="5065395"/>
            <a:ext cx="3390900" cy="922020"/>
          </a:xfrm>
          <a:prstGeom prst="rect">
            <a:avLst/>
          </a:prstGeom>
          <a:noFill/>
        </p:spPr>
        <p:txBody>
          <a:bodyPr wrap="square" rtlCol="0" anchor="t">
            <a:spAutoFit/>
          </a:bodyPr>
          <a:lstStyle/>
          <a:p>
            <a:r>
              <a:rPr lang="zh-CN" altLang="en-US"/>
              <a:t>"纳什均衡”是他21岁博士毕业的论文，也奠定了数十年后他获得诺贝尔经济学奖的基础。</a:t>
            </a: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8930" y="4906645"/>
            <a:ext cx="5156200" cy="368300"/>
          </a:xfrm>
          <a:prstGeom prst="rect">
            <a:avLst/>
          </a:prstGeom>
          <a:noFill/>
        </p:spPr>
        <p:txBody>
          <a:bodyPr wrap="square" rtlCol="0" anchor="t">
            <a:spAutoFit/>
          </a:bodyPr>
          <a:lstStyle/>
          <a:p>
            <a:r>
              <a:rPr lang="zh-CN" altLang="en-US"/>
              <a:t>https://www.sohu.com/a/247435318_741733</a:t>
            </a:r>
          </a:p>
        </p:txBody>
      </p:sp>
      <p:pic>
        <p:nvPicPr>
          <p:cNvPr id="5" name="图片 4"/>
          <p:cNvPicPr>
            <a:picLocks noChangeAspect="1"/>
          </p:cNvPicPr>
          <p:nvPr/>
        </p:nvPicPr>
        <p:blipFill>
          <a:blip r:embed="rId3"/>
          <a:stretch>
            <a:fillRect/>
          </a:stretch>
        </p:blipFill>
        <p:spPr>
          <a:xfrm>
            <a:off x="167640" y="262255"/>
            <a:ext cx="5317490" cy="3823970"/>
          </a:xfrm>
          <a:prstGeom prst="rect">
            <a:avLst/>
          </a:prstGeom>
        </p:spPr>
      </p:pic>
      <p:pic>
        <p:nvPicPr>
          <p:cNvPr id="2" name="图片 1" descr="石头剪刀布"/>
          <p:cNvPicPr>
            <a:picLocks noChangeAspect="1"/>
          </p:cNvPicPr>
          <p:nvPr/>
        </p:nvPicPr>
        <p:blipFill>
          <a:blip r:embed="rId4"/>
          <a:stretch>
            <a:fillRect/>
          </a:stretch>
        </p:blipFill>
        <p:spPr>
          <a:xfrm>
            <a:off x="5105400" y="3830955"/>
            <a:ext cx="3359150" cy="2519680"/>
          </a:xfrm>
          <a:prstGeom prst="rect">
            <a:avLst/>
          </a:prstGeom>
        </p:spPr>
      </p:pic>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625" name="Rectangle 2"/>
          <p:cNvSpPr>
            <a:spLocks noGrp="1" noRot="1"/>
          </p:cNvSpPr>
          <p:nvPr>
            <p:ph type="title" idx="4294967295"/>
          </p:nvPr>
        </p:nvSpPr>
        <p:spPr>
          <a:xfrm>
            <a:off x="301625" y="104775"/>
            <a:ext cx="854075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a:buClrTx/>
              <a:buSzTx/>
              <a:buFontTx/>
            </a:pPr>
            <a:r>
              <a:rPr lang="en-US" altLang="zh-CN" sz="36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“博弈论”延伸阅读</a:t>
            </a:r>
          </a:p>
        </p:txBody>
      </p:sp>
      <p:sp>
        <p:nvSpPr>
          <p:cNvPr id="26626" name="Rectangle 3"/>
          <p:cNvSpPr>
            <a:spLocks noGrp="1" noRot="1"/>
          </p:cNvSpPr>
          <p:nvPr>
            <p:ph idx="4294967295"/>
            <p:custDataLst>
              <p:tags r:id="rId2"/>
            </p:custDataLst>
          </p:nvPr>
        </p:nvSpPr>
        <p:spPr>
          <a:xfrm>
            <a:off x="301625" y="1168400"/>
            <a:ext cx="8540750"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行为博弈：对策略互动的行为研究，凯莫勒著</a:t>
            </a:r>
          </a:p>
          <a:p>
            <a:pPr lvl="0"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冲突的战略，托马斯•谢林著</a:t>
            </a:r>
          </a:p>
        </p:txBody>
      </p:sp>
      <p:pic>
        <p:nvPicPr>
          <p:cNvPr id="106" name="图片 105"/>
          <p:cNvPicPr/>
          <p:nvPr/>
        </p:nvPicPr>
        <p:blipFill>
          <a:blip r:embed="rId4"/>
          <a:stretch>
            <a:fillRect/>
          </a:stretch>
        </p:blipFill>
        <p:spPr>
          <a:xfrm>
            <a:off x="4401820" y="2568575"/>
            <a:ext cx="3159125" cy="4110355"/>
          </a:xfrm>
          <a:prstGeom prst="rect">
            <a:avLst/>
          </a:prstGeom>
          <a:noFill/>
          <a:ln w="9525">
            <a:solidFill>
              <a:schemeClr val="bg1">
                <a:lumMod val="50000"/>
              </a:schemeClr>
            </a:solidFill>
          </a:ln>
        </p:spPr>
      </p:pic>
      <p:pic>
        <p:nvPicPr>
          <p:cNvPr id="107" name="图片 106"/>
          <p:cNvPicPr/>
          <p:nvPr/>
        </p:nvPicPr>
        <p:blipFill>
          <a:blip r:embed="rId5"/>
          <a:stretch>
            <a:fillRect/>
          </a:stretch>
        </p:blipFill>
        <p:spPr>
          <a:xfrm>
            <a:off x="826135" y="2568575"/>
            <a:ext cx="3059430" cy="4109720"/>
          </a:xfrm>
          <a:prstGeom prst="rect">
            <a:avLst/>
          </a:prstGeom>
          <a:noFill/>
          <a:ln w="9525">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649844ee-d7f3-4d33-8af8-8b4c9a8d99c0"/>
  <p:tag name="COMMONDATA" val="eyJoZGlkIjoiYmNlMDliOTMzY2JmZThiMzlkZmQwZjVlNzJmOThjNm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2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2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3.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34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4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35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5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36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3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91.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3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3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4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4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47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7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48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8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49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4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5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5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5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5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9.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5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5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5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5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5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5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5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5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5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6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6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60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61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1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62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6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6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6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6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6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6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6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6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6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6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6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6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73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3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73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4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74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7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7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70.xml><?xml version="1.0" encoding="utf-8"?>
<p:tagLst xmlns:a="http://schemas.openxmlformats.org/drawingml/2006/main" xmlns:r="http://schemas.openxmlformats.org/officeDocument/2006/relationships"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 name="KSO_WM_SPECIAL_SOURCE" val="bdnull"/>
</p:tagLst>
</file>

<file path=ppt/tags/tag7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Lst>
</file>

<file path=ppt/tags/tag772.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77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7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7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5"/>
  <p:tag name="KSO_WM_SPECIAL_SOURCE" val="bdnull"/>
</p:tagLst>
</file>

<file path=ppt/tags/tag77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5"/>
  <p:tag name="KSO_WM_SPECIAL_SOURCE" val="bdnull"/>
</p:tagLst>
</file>

<file path=ppt/tags/tag77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8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8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8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5"/>
  <p:tag name="KSO_WM_SPECIAL_SOURCE" val="bdnull"/>
</p:tagLst>
</file>

<file path=ppt/tags/tag78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8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64,&quot;width&quot;:5664}"/>
</p:tagLst>
</file>

<file path=ppt/tags/tag78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8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78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7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LIDE_ITEM_CNT" val="3"/>
  <p:tag name="KSO_WM_SPECIAL_SOURCE" val="bdnull"/>
</p:tagLst>
</file>

<file path=ppt/tags/tag7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70857_3*l_h_i*1_1_1"/>
  <p:tag name="KSO_WM_TEMPLATE_CATEGORY" val="diagram"/>
  <p:tag name="KSO_WM_TEMPLATE_INDEX" val="20170857"/>
  <p:tag name="KSO_WM_UNIT_LAYERLEVEL" val="1_1_1"/>
  <p:tag name="KSO_WM_TAG_VERSION" val="1.0"/>
  <p:tag name="KSO_WM_BEAUTIFY_FLAG" val="#wm#"/>
  <p:tag name="KSO_WM_UNIT_LINE_FORE_SCHEMECOLOR_INDEX" val="14"/>
  <p:tag name="KSO_WM_UNIT_LINE_FILL_TYPE" val="2"/>
  <p:tag name="KSO_WM_UNIT_USESOURCEFORMAT_APPLY" val="0"/>
</p:tagLst>
</file>

<file path=ppt/tags/tag7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70857_3*l_h_i*1_1_2"/>
  <p:tag name="KSO_WM_TEMPLATE_CATEGORY" val="diagram"/>
  <p:tag name="KSO_WM_TEMPLATE_INDEX" val="20170857"/>
  <p:tag name="KSO_WM_UNIT_LAYERLEVEL" val="1_1_1"/>
  <p:tag name="KSO_WM_TAG_VERSION" val="1.0"/>
  <p:tag name="KSO_WM_BEAUTIFY_FLAG" val="#wm#"/>
  <p:tag name="KSO_WM_UNIT_FILL_FORE_SCHEMECOLOR_INDEX" val="5"/>
  <p:tag name="KSO_WM_UNIT_FILL_TYPE" val="1"/>
  <p:tag name="KSO_WM_UNIT_USESOURCEFORMAT_APPLY" val="0"/>
</p:tagLst>
</file>

<file path=ppt/tags/tag7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70857_3*l_h_a*1_1_1"/>
  <p:tag name="KSO_WM_TEMPLATE_CATEGORY" val="diagram"/>
  <p:tag name="KSO_WM_TEMPLATE_INDEX" val="20170857"/>
  <p:tag name="KSO_WM_UNIT_LAYERLEVEL" val="1_1_1"/>
  <p:tag name="KSO_WM_TAG_VERSION" val="1.0"/>
  <p:tag name="KSO_WM_BEAUTIFY_FLAG" val="#wm#"/>
  <p:tag name="KSO_WM_UNIT_PRESET_TEXT" val="单击此处添加标题"/>
  <p:tag name="KSO_WM_UNIT_TEXT_FILL_FORE_SCHEMECOLOR_INDEX" val="14"/>
  <p:tag name="KSO_WM_UNIT_TEXT_FILL_TYPE" val="1"/>
  <p:tag name="KSO_WM_UNIT_USESOURCEFORMAT_APPLY" val="0"/>
</p:tagLst>
</file>

<file path=ppt/tags/tag79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70857_3*l_h_f*1_1_1"/>
  <p:tag name="KSO_WM_TEMPLATE_CATEGORY" val="diagram"/>
  <p:tag name="KSO_WM_TEMPLATE_INDEX" val="20170857"/>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0"/>
</p:tagLst>
</file>

<file path=ppt/tags/tag7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70857_3*l_h_i*1_3_1"/>
  <p:tag name="KSO_WM_TEMPLATE_CATEGORY" val="diagram"/>
  <p:tag name="KSO_WM_TEMPLATE_INDEX" val="20170857"/>
  <p:tag name="KSO_WM_UNIT_LAYERLEVEL" val="1_1_1"/>
  <p:tag name="KSO_WM_TAG_VERSION" val="1.0"/>
  <p:tag name="KSO_WM_BEAUTIFY_FLAG" val="#wm#"/>
  <p:tag name="KSO_WM_UNIT_LINE_FORE_SCHEMECOLOR_INDEX" val="14"/>
  <p:tag name="KSO_WM_UNIT_LINE_FILL_TYPE" val="2"/>
  <p:tag name="KSO_WM_UNIT_USESOURCEFORMAT_APPLY" val="0"/>
</p:tagLst>
</file>

<file path=ppt/tags/tag7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70857_3*l_h_i*1_3_2"/>
  <p:tag name="KSO_WM_TEMPLATE_CATEGORY" val="diagram"/>
  <p:tag name="KSO_WM_TEMPLATE_INDEX" val="20170857"/>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 name="KSO_WM_UNIT_USESOURCEFORMAT_APPLY" val="0"/>
</p:tagLst>
</file>

<file path=ppt/tags/tag79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170857_3*l_h_a*1_3_1"/>
  <p:tag name="KSO_WM_TEMPLATE_CATEGORY" val="diagram"/>
  <p:tag name="KSO_WM_TEMPLATE_INDEX" val="20170857"/>
  <p:tag name="KSO_WM_UNIT_LAYERLEVEL" val="1_1_1"/>
  <p:tag name="KSO_WM_TAG_VERSION" val="1.0"/>
  <p:tag name="KSO_WM_BEAUTIFY_FLAG" val="#wm#"/>
  <p:tag name="KSO_WM_UNIT_PRESET_TEXT" val="单击此处添加标题"/>
  <p:tag name="KSO_WM_UNIT_TEXT_FILL_FORE_SCHEMECOLOR_INDEX" val="14"/>
  <p:tag name="KSO_WM_UNIT_TEXT_FILL_TYPE" val="1"/>
  <p:tag name="KSO_WM_UNIT_USESOURCEFORMAT_APPLY" val="0"/>
</p:tagLst>
</file>

<file path=ppt/tags/tag79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70857_3*l_h_f*1_3_1"/>
  <p:tag name="KSO_WM_TEMPLATE_CATEGORY" val="diagram"/>
  <p:tag name="KSO_WM_TEMPLATE_INDEX" val="20170857"/>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0"/>
</p:tagLst>
</file>

<file path=ppt/tags/tag7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70857_3*l_h_i*1_2_1"/>
  <p:tag name="KSO_WM_TEMPLATE_CATEGORY" val="diagram"/>
  <p:tag name="KSO_WM_TEMPLATE_INDEX" val="20170857"/>
  <p:tag name="KSO_WM_UNIT_LAYERLEVEL" val="1_1_1"/>
  <p:tag name="KSO_WM_TAG_VERSION" val="1.0"/>
  <p:tag name="KSO_WM_BEAUTIFY_FLAG" val="#wm#"/>
  <p:tag name="KSO_WM_UNIT_LINE_FORE_SCHEMECOLOR_INDEX" val="14"/>
  <p:tag name="KSO_WM_UNIT_LINE_FILL_TYPE" val="2"/>
  <p:tag name="KSO_WM_UNIT_USESOURCEFORMAT_APPLY" val="0"/>
</p:tagLst>
</file>

<file path=ppt/tags/tag8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70857_3*l_h_i*1_2_2"/>
  <p:tag name="KSO_WM_TEMPLATE_CATEGORY" val="diagram"/>
  <p:tag name="KSO_WM_TEMPLATE_INDEX" val="20170857"/>
  <p:tag name="KSO_WM_UNIT_LAYERLEVEL" val="1_1_1"/>
  <p:tag name="KSO_WM_TAG_VERSION" val="1.0"/>
  <p:tag name="KSO_WM_BEAUTIFY_FLAG" val="#wm#"/>
  <p:tag name="KSO_WM_UNIT_FILL_FORE_SCHEMECOLOR_INDEX" val="6"/>
  <p:tag name="KSO_WM_UNIT_FILL_TYPE" val="1"/>
  <p:tag name="KSO_WM_UNIT_USESOURCEFORMAT_APPLY" val="0"/>
</p:tagLst>
</file>

<file path=ppt/tags/tag8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70857_3*l_h_a*1_2_1"/>
  <p:tag name="KSO_WM_TEMPLATE_CATEGORY" val="diagram"/>
  <p:tag name="KSO_WM_TEMPLATE_INDEX" val="20170857"/>
  <p:tag name="KSO_WM_UNIT_LAYERLEVEL" val="1_1_1"/>
  <p:tag name="KSO_WM_TAG_VERSION" val="1.0"/>
  <p:tag name="KSO_WM_BEAUTIFY_FLAG" val="#wm#"/>
  <p:tag name="KSO_WM_UNIT_PRESET_TEXT" val="单击此处添加标题"/>
  <p:tag name="KSO_WM_UNIT_TEXT_FILL_FORE_SCHEMECOLOR_INDEX" val="14"/>
  <p:tag name="KSO_WM_UNIT_TEXT_FILL_TYPE" val="1"/>
  <p:tag name="KSO_WM_UNIT_USESOURCEFORMAT_APPLY" val="0"/>
</p:tagLst>
</file>

<file path=ppt/tags/tag80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70857_3*l_h_f*1_2_1"/>
  <p:tag name="KSO_WM_TEMPLATE_CATEGORY" val="diagram"/>
  <p:tag name="KSO_WM_TEMPLATE_INDEX" val="20170857"/>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0"/>
</p:tagLst>
</file>

<file path=ppt/tags/tag80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0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310,&quot;width&quot;:16335}"/>
</p:tagLst>
</file>

<file path=ppt/tags/tag80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0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935,&quot;width&quot;:5715}"/>
</p:tagLst>
</file>

<file path=ppt/tags/tag80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0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034,&quot;width&quot;:6662}"/>
</p:tagLst>
</file>

<file path=ppt/tags/tag80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64,&quot;width&quot;:5664}"/>
</p:tagLst>
</file>

<file path=ppt/tags/tag81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64,&quot;width&quot;:5664}"/>
</p:tagLst>
</file>

<file path=ppt/tags/tag81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1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1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1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1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1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2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2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2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2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2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3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3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3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3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3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4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4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4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4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4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5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5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5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6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7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8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9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89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9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9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9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9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8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0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0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0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0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0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9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91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1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1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1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1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037.500787401575,&quot;width&quot;:7596.371653543307}"/>
</p:tagLst>
</file>

<file path=ppt/tags/tag92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2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3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3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4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4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4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4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4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4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94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9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CDESIGNA</Template>
  <TotalTime>63</TotalTime>
  <Words>8257</Words>
  <Application>Microsoft Office PowerPoint</Application>
  <PresentationFormat>全屏显示(4:3)</PresentationFormat>
  <Paragraphs>559</Paragraphs>
  <Slides>112</Slides>
  <Notes>46</Notes>
  <HiddenSlides>0</HiddenSlides>
  <MMClips>0</MMClips>
  <ScaleCrop>false</ScaleCrop>
  <HeadingPairs>
    <vt:vector size="8" baseType="variant">
      <vt:variant>
        <vt:lpstr>已用的字体</vt:lpstr>
      </vt:variant>
      <vt:variant>
        <vt:i4>4</vt:i4>
      </vt:variant>
      <vt:variant>
        <vt:lpstr>主题</vt:lpstr>
      </vt:variant>
      <vt:variant>
        <vt:i4>7</vt:i4>
      </vt:variant>
      <vt:variant>
        <vt:lpstr>嵌入 OLE 服务器</vt:lpstr>
      </vt:variant>
      <vt:variant>
        <vt:i4>2</vt:i4>
      </vt:variant>
      <vt:variant>
        <vt:lpstr>幻灯片标题</vt:lpstr>
      </vt:variant>
      <vt:variant>
        <vt:i4>112</vt:i4>
      </vt:variant>
    </vt:vector>
  </HeadingPairs>
  <TitlesOfParts>
    <vt:vector size="125" baseType="lpstr">
      <vt:lpstr>微软雅黑</vt:lpstr>
      <vt:lpstr>Arial</vt:lpstr>
      <vt:lpstr>Times New Roman</vt:lpstr>
      <vt:lpstr>Wingdings</vt:lpstr>
      <vt:lpstr>万里长城</vt:lpstr>
      <vt:lpstr>2_Office 主题​​</vt:lpstr>
      <vt:lpstr>1_Office 主题​​</vt:lpstr>
      <vt:lpstr>3_Office 主题​​</vt:lpstr>
      <vt:lpstr>4_Office 主题​​</vt:lpstr>
      <vt:lpstr>5_Office 主题​​</vt:lpstr>
      <vt:lpstr>6_Office 主题​​</vt:lpstr>
      <vt:lpstr>MathType 7.0 Equation</vt:lpstr>
      <vt:lpstr>Equation.3</vt:lpstr>
      <vt:lpstr>人工智能与机器学习 博弈</vt:lpstr>
      <vt:lpstr>回顾：启发函数 (Heuristic Function)</vt:lpstr>
      <vt:lpstr>PowerPoint 演示文稿</vt:lpstr>
      <vt:lpstr>美丽心灵</vt:lpstr>
      <vt:lpstr>PowerPoint 演示文稿</vt:lpstr>
      <vt:lpstr>什么是博弈论  Game Theory</vt:lpstr>
      <vt:lpstr>PowerPoint 演示文稿</vt:lpstr>
      <vt:lpstr>5.1 博弈 Games</vt:lpstr>
      <vt:lpstr>PowerPoint 演示文稿</vt:lpstr>
      <vt:lpstr>博弈的例子：钱包拿钱</vt:lpstr>
      <vt:lpstr>博弈的类型</vt:lpstr>
      <vt:lpstr>完美信息博弈</vt:lpstr>
      <vt:lpstr>不完美（不完整、不完全）信息博弈</vt:lpstr>
      <vt:lpstr>PowerPoint 演示文稿</vt:lpstr>
      <vt:lpstr>PowerPoint 演示文稿</vt:lpstr>
      <vt:lpstr>博弈的类型</vt:lpstr>
      <vt:lpstr>最佳招数（Optimal Move）</vt:lpstr>
      <vt:lpstr>形式化</vt:lpstr>
      <vt:lpstr>井字棋 TicTacToe</vt:lpstr>
      <vt:lpstr>井字棋游戏的形式化</vt:lpstr>
      <vt:lpstr>博弈问题的表示：博弈树Game Tree</vt:lpstr>
      <vt:lpstr>PowerPoint 演示文稿</vt:lpstr>
      <vt:lpstr>5.2  博弈中的优化策略 Optimal Decisions in Games</vt:lpstr>
      <vt:lpstr>最优策略的确定</vt:lpstr>
      <vt:lpstr>PowerPoint 演示文稿</vt:lpstr>
      <vt:lpstr>极小极大决策</vt:lpstr>
      <vt:lpstr>PowerPoint 演示文稿</vt:lpstr>
      <vt:lpstr>PowerPoint 演示文稿</vt:lpstr>
      <vt:lpstr>极小极大决策</vt:lpstr>
      <vt:lpstr>PowerPoint 演示文稿</vt:lpstr>
      <vt:lpstr>PowerPoint 演示文稿</vt:lpstr>
      <vt:lpstr>极小极大算法的性质</vt:lpstr>
      <vt:lpstr>PowerPoint 演示文稿</vt:lpstr>
      <vt:lpstr>PowerPoint 演示文稿</vt:lpstr>
      <vt:lpstr>PowerPoint 演示文稿</vt:lpstr>
      <vt:lpstr>PowerPoint 演示文稿</vt:lpstr>
      <vt:lpstr>PowerPoint 演示文稿</vt:lpstr>
      <vt:lpstr>5.2.2 多人博弈时的最优决策</vt:lpstr>
      <vt:lpstr>PowerPoint 演示文稿</vt:lpstr>
      <vt:lpstr>α-β 剪枝</vt:lpstr>
      <vt:lpstr>α-β 剪枝</vt:lpstr>
      <vt:lpstr>α-β 剪枝</vt:lpstr>
      <vt:lpstr>α-β 剪枝</vt:lpstr>
      <vt:lpstr>α-β 剪枝</vt:lpstr>
      <vt:lpstr>α-β 剪枝</vt:lpstr>
      <vt:lpstr>α-β 剪枝</vt:lpstr>
      <vt:lpstr>α-β 剪枝</vt:lpstr>
      <vt:lpstr>α-β 剪枝</vt:lpstr>
      <vt:lpstr>PowerPoint 演示文稿</vt:lpstr>
      <vt:lpstr>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α-β 剪枝</vt:lpstr>
      <vt:lpstr> –剪枝算法</vt:lpstr>
      <vt:lpstr>PowerPoint 演示文稿</vt:lpstr>
      <vt:lpstr>处理搜索树中的重复状态</vt:lpstr>
      <vt:lpstr>资源有限</vt:lpstr>
      <vt:lpstr>5.4 不完整的实时决策(Imperfect, real-time decisions)</vt:lpstr>
      <vt:lpstr>如何设计启发式评估函数？</vt:lpstr>
      <vt:lpstr>评估函数</vt:lpstr>
      <vt:lpstr>评估函数（续）</vt:lpstr>
      <vt:lpstr>PowerPoint 演示文稿</vt:lpstr>
      <vt:lpstr>截断搜索</vt:lpstr>
      <vt:lpstr>截断搜索（续）</vt:lpstr>
      <vt:lpstr>PowerPoint 演示文稿</vt:lpstr>
      <vt:lpstr>例子：西洋双陆棋</vt:lpstr>
      <vt:lpstr>双陆棋的博弈树</vt:lpstr>
      <vt:lpstr>极小极大值期望极小极大值</vt:lpstr>
      <vt:lpstr>一般的概率博弈</vt:lpstr>
      <vt:lpstr>准确的评估值很重要</vt:lpstr>
      <vt:lpstr>期望极小极大值的复杂度</vt:lpstr>
      <vt:lpstr>实际中的概率博弈</vt:lpstr>
      <vt:lpstr>5.6 不完全信息的博弈</vt:lpstr>
      <vt:lpstr>PowerPoint 演示文稿</vt:lpstr>
      <vt:lpstr>四张牌的桥牌练习</vt:lpstr>
      <vt:lpstr>正确的分析</vt:lpstr>
      <vt:lpstr>实际的博弈程序</vt:lpstr>
      <vt:lpstr>PowerPoint 演示文稿</vt:lpstr>
      <vt:lpstr>PowerPoint 演示文稿</vt:lpstr>
      <vt:lpstr>小结</vt:lpstr>
      <vt:lpstr>PowerPoint 演示文稿</vt:lpstr>
      <vt:lpstr>PowerPoint 演示文稿</vt:lpstr>
      <vt:lpstr>PowerPoint 演示文稿</vt:lpstr>
      <vt:lpstr>PowerPoint 演示文稿</vt:lpstr>
      <vt:lpstr>PowerPoint 演示文稿</vt:lpstr>
      <vt:lpstr>“博弈论”延伸阅读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jianming zhang</dc:creator>
  <cp:lastModifiedBy>Xie Lei</cp:lastModifiedBy>
  <cp:revision>404</cp:revision>
  <dcterms:created xsi:type="dcterms:W3CDTF">2020-09-18T06:18:00Z</dcterms:created>
  <dcterms:modified xsi:type="dcterms:W3CDTF">2022-10-31T00:35:32Z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0A5005B9116244DE98712F3A09E3BB59</vt:lpwstr>
  </property>
</Properties>
</file>