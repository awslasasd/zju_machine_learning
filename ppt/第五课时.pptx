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818" r:id="rId3"/>
    <p:sldId id="768" r:id="rId4"/>
    <p:sldId id="769" r:id="rId5"/>
    <p:sldId id="625" r:id="rId6"/>
    <p:sldId id="665" r:id="rId7"/>
    <p:sldId id="667" r:id="rId8"/>
    <p:sldId id="684" r:id="rId9"/>
    <p:sldId id="776" r:id="rId10"/>
    <p:sldId id="668" r:id="rId11"/>
    <p:sldId id="669" r:id="rId12"/>
    <p:sldId id="670" r:id="rId13"/>
    <p:sldId id="672" r:id="rId14"/>
    <p:sldId id="673" r:id="rId15"/>
    <p:sldId id="682" r:id="rId16"/>
    <p:sldId id="675" r:id="rId17"/>
    <p:sldId id="676" r:id="rId18"/>
    <p:sldId id="677" r:id="rId19"/>
    <p:sldId id="678" r:id="rId20"/>
    <p:sldId id="679" r:id="rId21"/>
    <p:sldId id="680" r:id="rId22"/>
    <p:sldId id="681" r:id="rId23"/>
    <p:sldId id="683" r:id="rId24"/>
    <p:sldId id="777" r:id="rId25"/>
    <p:sldId id="694" r:id="rId26"/>
    <p:sldId id="724" r:id="rId27"/>
    <p:sldId id="697" r:id="rId28"/>
    <p:sldId id="698" r:id="rId29"/>
    <p:sldId id="778" r:id="rId30"/>
    <p:sldId id="689" r:id="rId31"/>
    <p:sldId id="690" r:id="rId32"/>
    <p:sldId id="691" r:id="rId33"/>
    <p:sldId id="692" r:id="rId34"/>
    <p:sldId id="779" r:id="rId35"/>
    <p:sldId id="701" r:id="rId36"/>
    <p:sldId id="757" r:id="rId37"/>
    <p:sldId id="721" r:id="rId38"/>
    <p:sldId id="756" r:id="rId39"/>
    <p:sldId id="780" r:id="rId40"/>
    <p:sldId id="781" r:id="rId41"/>
    <p:sldId id="784" r:id="rId42"/>
    <p:sldId id="785" r:id="rId43"/>
    <p:sldId id="782" r:id="rId44"/>
    <p:sldId id="719" r:id="rId45"/>
    <p:sldId id="720" r:id="rId46"/>
    <p:sldId id="783" r:id="rId47"/>
    <p:sldId id="706" r:id="rId48"/>
    <p:sldId id="707" r:id="rId49"/>
    <p:sldId id="726" r:id="rId50"/>
    <p:sldId id="817" r:id="rId51"/>
  </p:sldIdLst>
  <p:sldSz cx="12192000" cy="6858000"/>
  <p:notesSz cx="6858000" cy="9144000"/>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5" d="100"/>
          <a:sy n="85" d="100"/>
        </p:scale>
        <p:origin x="54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gs" Target="tags/tag138.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notesMaster" Target="notesMasters/notesMaster1.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image" Target="../media/image16.png"/><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image" Target="../media/image16.pn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6.png"/><Relationship Id="rId11" Type="http://schemas.openxmlformats.org/officeDocument/2006/relationships/slideLayout" Target="../slideLayouts/slideLayout2.xml"/><Relationship Id="rId10" Type="http://schemas.openxmlformats.org/officeDocument/2006/relationships/tags" Target="../tags/tag32.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16.png"/><Relationship Id="rId2" Type="http://schemas.openxmlformats.org/officeDocument/2006/relationships/image" Target="../media/image24.png"/><Relationship Id="rId12" Type="http://schemas.openxmlformats.org/officeDocument/2006/relationships/slideLayout" Target="../slideLayouts/slideLayout2.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image" Target="../media/image31.png"/><Relationship Id="rId4" Type="http://schemas.openxmlformats.org/officeDocument/2006/relationships/image" Target="../media/image29.png"/><Relationship Id="rId3" Type="http://schemas.openxmlformats.org/officeDocument/2006/relationships/image" Target="../media/image27.png"/><Relationship Id="rId2" Type="http://schemas.openxmlformats.org/officeDocument/2006/relationships/image" Target="../media/image30.png"/><Relationship Id="rId1" Type="http://schemas.openxmlformats.org/officeDocument/2006/relationships/image" Target="../media/image26.png"/></Relationships>
</file>

<file path=ppt/slides/_rels/slide15.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image" Target="../media/image39.png"/><Relationship Id="rId7" Type="http://schemas.openxmlformats.org/officeDocument/2006/relationships/image" Target="../media/image38.png"/><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2" Type="http://schemas.openxmlformats.org/officeDocument/2006/relationships/slideLayout" Target="../slideLayouts/slideLayout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image" Target="../media/image32.png"/></Relationships>
</file>

<file path=ppt/slides/_rels/slide16.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image" Target="../media/image42.png"/><Relationship Id="rId5" Type="http://schemas.openxmlformats.org/officeDocument/2006/relationships/image" Target="../media/image39.png"/><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image" Target="../media/image41.png"/><Relationship Id="rId10" Type="http://schemas.openxmlformats.org/officeDocument/2006/relationships/slideLayout" Target="../slideLayouts/slideLayout2.xml"/><Relationship Id="rId1" Type="http://schemas.openxmlformats.org/officeDocument/2006/relationships/image" Target="../media/image40.png"/></Relationships>
</file>

<file path=ppt/slides/_rels/slide17.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27.png"/><Relationship Id="rId2" Type="http://schemas.openxmlformats.org/officeDocument/2006/relationships/image" Target="../media/image29.png"/><Relationship Id="rId10" Type="http://schemas.openxmlformats.org/officeDocument/2006/relationships/slideLayout" Target="../slideLayouts/slideLayout2.xml"/><Relationship Id="rId1" Type="http://schemas.openxmlformats.org/officeDocument/2006/relationships/image" Target="../media/image43.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47.jpeg"/><Relationship Id="rId1" Type="http://schemas.openxmlformats.org/officeDocument/2006/relationships/tags" Target="../tags/tag48.xml"/></Relationships>
</file>

<file path=ppt/slides/_rels/slide19.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image" Target="../media/image53.png"/><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29.png"/><Relationship Id="rId11" Type="http://schemas.openxmlformats.org/officeDocument/2006/relationships/slideLayout" Target="../slideLayouts/slideLayout2.xml"/><Relationship Id="rId10" Type="http://schemas.openxmlformats.org/officeDocument/2006/relationships/tags" Target="../tags/tag54.xml"/><Relationship Id="rId1" Type="http://schemas.openxmlformats.org/officeDocument/2006/relationships/image" Target="../media/image48.png"/></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21.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png"/><Relationship Id="rId7" Type="http://schemas.openxmlformats.org/officeDocument/2006/relationships/image" Target="../media/image62.png"/><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3" Type="http://schemas.openxmlformats.org/officeDocument/2006/relationships/image" Target="../media/image50.png"/><Relationship Id="rId2" Type="http://schemas.openxmlformats.org/officeDocument/2006/relationships/image" Target="../media/image58.png"/><Relationship Id="rId13" Type="http://schemas.openxmlformats.org/officeDocument/2006/relationships/slideLayout" Target="../slideLayouts/slideLayout2.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image" Target="../media/image57.png"/></Relationships>
</file>

<file path=ppt/slides/_rels/slide22.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0" Type="http://schemas.openxmlformats.org/officeDocument/2006/relationships/slideLayout" Target="../slideLayouts/slideLayout2.xml"/><Relationship Id="rId1" Type="http://schemas.openxmlformats.org/officeDocument/2006/relationships/image" Target="../media/image6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image" Target="../media/image69.png"/></Relationships>
</file>

<file path=ppt/slides/_rels/slide25.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image" Target="../media/image16.png"/><Relationship Id="rId5" Type="http://schemas.openxmlformats.org/officeDocument/2006/relationships/image" Target="../media/image74.png"/><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1.png"/><Relationship Id="rId10" Type="http://schemas.openxmlformats.org/officeDocument/2006/relationships/slideLayout" Target="../slideLayouts/slideLayout2.xml"/><Relationship Id="rId1" Type="http://schemas.openxmlformats.org/officeDocument/2006/relationships/image" Target="../media/image70.png"/></Relationships>
</file>

<file path=ppt/slides/_rels/slide26.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png"/><Relationship Id="rId10" Type="http://schemas.openxmlformats.org/officeDocument/2006/relationships/slideLayout" Target="../slideLayouts/slideLayout2.xml"/><Relationship Id="rId1" Type="http://schemas.openxmlformats.org/officeDocument/2006/relationships/image" Target="../media/image75.png"/></Relationships>
</file>

<file path=ppt/slides/_rels/slide27.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image" Target="../media/image84.png"/><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83.png"/><Relationship Id="rId3" Type="http://schemas.openxmlformats.org/officeDocument/2006/relationships/image" Target="../media/image29.png"/><Relationship Id="rId2" Type="http://schemas.openxmlformats.org/officeDocument/2006/relationships/image" Target="../media/image82.png"/><Relationship Id="rId11" Type="http://schemas.openxmlformats.org/officeDocument/2006/relationships/slideLayout" Target="../slideLayouts/slideLayout2.xml"/><Relationship Id="rId10" Type="http://schemas.openxmlformats.org/officeDocument/2006/relationships/tags" Target="../tags/tag76.xml"/><Relationship Id="rId1" Type="http://schemas.openxmlformats.org/officeDocument/2006/relationships/image" Target="../media/image8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image" Target="../media/image86.png"/><Relationship Id="rId1" Type="http://schemas.openxmlformats.org/officeDocument/2006/relationships/image" Target="../media/image85.png"/></Relationships>
</file>

<file path=ppt/slides/_rels/slide30.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image" Target="../media/image91.png"/><Relationship Id="rId6" Type="http://schemas.openxmlformats.org/officeDocument/2006/relationships/image" Target="../media/image90.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89.png"/><Relationship Id="rId2" Type="http://schemas.openxmlformats.org/officeDocument/2006/relationships/image" Target="../media/image88.png"/><Relationship Id="rId11" Type="http://schemas.openxmlformats.org/officeDocument/2006/relationships/slideLayout" Target="../slideLayouts/slideLayout2.xml"/><Relationship Id="rId10" Type="http://schemas.openxmlformats.org/officeDocument/2006/relationships/tags" Target="../tags/tag83.xml"/><Relationship Id="rId1" Type="http://schemas.openxmlformats.org/officeDocument/2006/relationships/image" Target="../media/image87.png"/></Relationships>
</file>

<file path=ppt/slides/_rels/slide31.xml.rels><?xml version="1.0" encoding="UTF-8" standalone="yes"?>
<Relationships xmlns="http://schemas.openxmlformats.org/package/2006/relationships"><Relationship Id="rId9" Type="http://schemas.openxmlformats.org/officeDocument/2006/relationships/tags" Target="../tags/tag85.xml"/><Relationship Id="rId8" Type="http://schemas.openxmlformats.org/officeDocument/2006/relationships/tags" Target="../tags/tag84.xml"/><Relationship Id="rId7" Type="http://schemas.openxmlformats.org/officeDocument/2006/relationships/image" Target="../media/image95.png"/><Relationship Id="rId6" Type="http://schemas.openxmlformats.org/officeDocument/2006/relationships/image" Target="../media/image94.png"/><Relationship Id="rId5" Type="http://schemas.openxmlformats.org/officeDocument/2006/relationships/image" Target="../media/image88.png"/><Relationship Id="rId4" Type="http://schemas.openxmlformats.org/officeDocument/2006/relationships/image" Target="../media/image93.png"/><Relationship Id="rId3" Type="http://schemas.openxmlformats.org/officeDocument/2006/relationships/image" Target="../media/image91.png"/><Relationship Id="rId2" Type="http://schemas.openxmlformats.org/officeDocument/2006/relationships/image" Target="../media/image89.png"/><Relationship Id="rId11" Type="http://schemas.openxmlformats.org/officeDocument/2006/relationships/slideLayout" Target="../slideLayouts/slideLayout2.xml"/><Relationship Id="rId10" Type="http://schemas.openxmlformats.org/officeDocument/2006/relationships/tags" Target="../tags/tag86.xml"/><Relationship Id="rId1" Type="http://schemas.openxmlformats.org/officeDocument/2006/relationships/image" Target="../media/image92.png"/></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image" Target="../media/image97.png"/><Relationship Id="rId1" Type="http://schemas.openxmlformats.org/officeDocument/2006/relationships/image" Target="../media/image9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99.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image" Target="../media/image100.png"/><Relationship Id="rId3" Type="http://schemas.openxmlformats.org/officeDocument/2006/relationships/image" Target="../media/image99.png"/><Relationship Id="rId2" Type="http://schemas.openxmlformats.org/officeDocument/2006/relationships/image" Target="../media/image16.png"/><Relationship Id="rId1" Type="http://schemas.openxmlformats.org/officeDocument/2006/relationships/image" Target="../media/image98.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image" Target="../media/image10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03.png"/><Relationship Id="rId6" Type="http://schemas.openxmlformats.org/officeDocument/2006/relationships/tags" Target="../tags/tag108.xml"/><Relationship Id="rId5" Type="http://schemas.openxmlformats.org/officeDocument/2006/relationships/image" Target="../media/image102.png"/><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image" Target="../media/image105.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47.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16.png"/><Relationship Id="rId2" Type="http://schemas.openxmlformats.org/officeDocument/2006/relationships/image" Target="../media/image24.png"/><Relationship Id="rId12" Type="http://schemas.openxmlformats.org/officeDocument/2006/relationships/slideLayout" Target="../slideLayouts/slideLayout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image" Target="../media/image18.png"/></Relationships>
</file>

<file path=ppt/slides/_rels/slide48.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image" Target="../media/image27.png"/><Relationship Id="rId7" Type="http://schemas.openxmlformats.org/officeDocument/2006/relationships/image" Target="../media/image29.png"/><Relationship Id="rId6" Type="http://schemas.openxmlformats.org/officeDocument/2006/relationships/image" Target="../media/image43.png"/><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107.png"/><Relationship Id="rId12" Type="http://schemas.openxmlformats.org/officeDocument/2006/relationships/slideLayout" Target="../slideLayouts/slideLayout2.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image" Target="../media/image106.png"/></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8.png"/><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封面背景"/>
          <p:cNvPicPr>
            <a:picLocks noChangeAspect="1"/>
          </p:cNvPicPr>
          <p:nvPr/>
        </p:nvPicPr>
        <p:blipFill>
          <a:blip r:embed="rId1"/>
          <a:stretch>
            <a:fillRect/>
          </a:stretch>
        </p:blipFill>
        <p:spPr>
          <a:xfrm>
            <a:off x="9041450" y="3777941"/>
            <a:ext cx="3083698" cy="2840509"/>
          </a:xfrm>
          <a:prstGeom prst="rect">
            <a:avLst/>
          </a:prstGeom>
        </p:spPr>
      </p:pic>
      <p:pic>
        <p:nvPicPr>
          <p:cNvPr id="6" name="图片 5" descr="AI"/>
          <p:cNvPicPr>
            <a:picLocks noChangeAspect="1"/>
          </p:cNvPicPr>
          <p:nvPr/>
        </p:nvPicPr>
        <p:blipFill>
          <a:blip r:embed="rId2"/>
          <a:stretch>
            <a:fillRect/>
          </a:stretch>
        </p:blipFill>
        <p:spPr>
          <a:xfrm>
            <a:off x="0" y="658027"/>
            <a:ext cx="4818380" cy="3021330"/>
          </a:xfrm>
          <a:prstGeom prst="rect">
            <a:avLst/>
          </a:prstGeom>
        </p:spPr>
      </p:pic>
      <p:sp>
        <p:nvSpPr>
          <p:cNvPr id="7" name="矩形 6"/>
          <p:cNvSpPr/>
          <p:nvPr/>
        </p:nvSpPr>
        <p:spPr>
          <a:xfrm>
            <a:off x="4991201" y="4172834"/>
            <a:ext cx="6096000" cy="2214880"/>
          </a:xfrm>
          <a:prstGeom prst="rect">
            <a:avLst/>
          </a:prstGeom>
        </p:spPr>
        <p:txBody>
          <a:bodyPr>
            <a:spAutoFit/>
          </a:bodyPr>
          <a:lstStyle/>
          <a:p>
            <a:pPr lvl="1">
              <a:lnSpc>
                <a:spcPct val="150000"/>
              </a:lnSpc>
            </a:pPr>
            <a:r>
              <a:rPr lang="zh-CN" altLang="en-US" sz="3600" b="1" dirty="0">
                <a:latin typeface="黑体" panose="02010609060101010101" charset="-122"/>
                <a:ea typeface="黑体" panose="02010609060101010101" charset="-122"/>
                <a:cs typeface="Times New Roman" panose="02020603050405020304" charset="0"/>
              </a:rPr>
              <a:t>周建光</a:t>
            </a:r>
            <a:endParaRPr lang="en-US" altLang="zh-CN" sz="3600" b="1" dirty="0">
              <a:latin typeface="黑体" panose="02010609060101010101" charset="-122"/>
              <a:ea typeface="黑体" panose="02010609060101010101" charset="-122"/>
              <a:cs typeface="Times New Roman" panose="02020603050405020304" charset="0"/>
            </a:endParaRPr>
          </a:p>
          <a:p>
            <a:pPr lvl="1">
              <a:lnSpc>
                <a:spcPct val="150000"/>
              </a:lnSpc>
            </a:pPr>
            <a:r>
              <a:rPr lang="en-US" altLang="zh-CN" sz="2800" b="1" dirty="0" err="1">
                <a:latin typeface="Times New Roman" panose="02020603050405020304" charset="0"/>
                <a:cs typeface="Times New Roman" panose="02020603050405020304" charset="0"/>
              </a:rPr>
              <a:t>jgzhou</a:t>
            </a:r>
            <a:r>
              <a:rPr lang="zh-CN" altLang="en-US" sz="2800" b="1" dirty="0">
                <a:latin typeface="Times New Roman" panose="02020603050405020304" charset="0"/>
                <a:cs typeface="Times New Roman" panose="02020603050405020304" charset="0"/>
              </a:rPr>
              <a:t>@zju.edu.cn 		</a:t>
            </a:r>
            <a:endParaRPr lang="zh-CN" altLang="en-US" sz="2800" b="1" dirty="0">
              <a:latin typeface="Times New Roman" panose="02020603050405020304" charset="0"/>
              <a:cs typeface="Times New Roman" panose="02020603050405020304" charset="0"/>
            </a:endParaRPr>
          </a:p>
          <a:p>
            <a:pPr lvl="1">
              <a:lnSpc>
                <a:spcPct val="150000"/>
              </a:lnSpc>
            </a:pPr>
            <a:r>
              <a:rPr lang="en-US" altLang="zh-CN" sz="2800" b="1" dirty="0">
                <a:latin typeface="Times New Roman" panose="02020603050405020304" charset="0"/>
                <a:cs typeface="Times New Roman" panose="02020603050405020304" charset="0"/>
              </a:rPr>
              <a:t>15988109537</a:t>
            </a:r>
            <a:endParaRPr lang="zh-CN" altLang="en-US" sz="2800" b="1" kern="0" dirty="0">
              <a:solidFill>
                <a:srgbClr val="0000FF"/>
              </a:solidFill>
              <a:latin typeface="微软雅黑" panose="020B0503020204020204" charset="-122"/>
              <a:ea typeface="微软雅黑" panose="020B0503020204020204" charset="-122"/>
            </a:endParaRPr>
          </a:p>
        </p:txBody>
      </p:sp>
      <p:sp>
        <p:nvSpPr>
          <p:cNvPr id="8" name="文本框 7"/>
          <p:cNvSpPr txBox="1"/>
          <p:nvPr/>
        </p:nvSpPr>
        <p:spPr>
          <a:xfrm>
            <a:off x="4818380" y="2000543"/>
            <a:ext cx="7200900" cy="1015663"/>
          </a:xfrm>
          <a:prstGeom prst="rect">
            <a:avLst/>
          </a:prstGeom>
          <a:noFill/>
        </p:spPr>
        <p:txBody>
          <a:bodyPr wrap="square" rtlCol="0">
            <a:spAutoFit/>
          </a:bodyPr>
          <a:lstStyle/>
          <a:p>
            <a:pPr algn="ctr"/>
            <a:r>
              <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rPr>
              <a:t>人工智能与机器学习</a:t>
            </a:r>
            <a:endParaRPr lang="zh-CN" altLang="en-US" sz="6000" dirty="0">
              <a:solidFill>
                <a:srgbClr val="FF0000"/>
              </a:solidFill>
              <a:latin typeface="华文琥珀" panose="02010800040101010101" pitchFamily="2" charset="-122"/>
              <a:ea typeface="华文琥珀" panose="02010800040101010101" pitchFamily="2" charset="-122"/>
              <a:cs typeface="Times New Roman" panose="02020603050405020304" charset="0"/>
            </a:endParaRPr>
          </a:p>
        </p:txBody>
      </p:sp>
      <p:pic>
        <p:nvPicPr>
          <p:cNvPr id="9"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43211"/>
            <a:ext cx="4777356" cy="2675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p:cNvPicPr>
            <a:picLocks noChangeAspect="1"/>
          </p:cNvPicPr>
          <p:nvPr/>
        </p:nvPicPr>
        <p:blipFill>
          <a:blip r:embed="rId4" cstate="print"/>
          <a:stretch>
            <a:fillRect/>
          </a:stretch>
        </p:blipFill>
        <p:spPr>
          <a:xfrm>
            <a:off x="8475860" y="0"/>
            <a:ext cx="3710248" cy="1046480"/>
          </a:xfrm>
          <a:prstGeom prst="rect">
            <a:avLst/>
          </a:prstGeom>
        </p:spPr>
      </p:pic>
    </p:spTree>
  </p:cSld>
  <p:clrMapOvr>
    <a:masterClrMapping/>
  </p:clrMapOvr>
  <p:transition advTm="30417"/>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流程图: 可选过程 9"/>
          <p:cNvSpPr/>
          <p:nvPr/>
        </p:nvSpPr>
        <p:spPr>
          <a:xfrm>
            <a:off x="1407160" y="2283460"/>
            <a:ext cx="4488180" cy="2249170"/>
          </a:xfrm>
          <a:prstGeom prst="flowChartAlternateProcess">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6000" b="1"/>
              <a:t>本课程内容</a:t>
            </a:r>
            <a:endParaRPr lang="zh-CN" altLang="en-US" sz="6000" b="1"/>
          </a:p>
        </p:txBody>
      </p:sp>
      <p:sp>
        <p:nvSpPr>
          <p:cNvPr id="12" name="燕尾形 11"/>
          <p:cNvSpPr/>
          <p:nvPr/>
        </p:nvSpPr>
        <p:spPr>
          <a:xfrm>
            <a:off x="7414895" y="9124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b="1">
                <a:sym typeface="+mn-ea"/>
              </a:rPr>
              <a:t>绪论</a:t>
            </a:r>
            <a:endParaRPr lang="zh-CN" altLang="en-US" b="1">
              <a:sym typeface="+mn-ea"/>
            </a:endParaRPr>
          </a:p>
        </p:txBody>
      </p:sp>
      <p:sp>
        <p:nvSpPr>
          <p:cNvPr id="13" name="燕尾形 12"/>
          <p:cNvSpPr/>
          <p:nvPr>
            <p:custDataLst>
              <p:tags r:id="rId1"/>
            </p:custDataLst>
          </p:nvPr>
        </p:nvSpPr>
        <p:spPr>
          <a:xfrm>
            <a:off x="7414895" y="16681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t>概念学习</a:t>
            </a:r>
            <a:endParaRPr lang="zh-CN" altLang="en-US" b="1"/>
          </a:p>
        </p:txBody>
      </p:sp>
      <p:sp>
        <p:nvSpPr>
          <p:cNvPr id="14" name="燕尾形 13"/>
          <p:cNvSpPr/>
          <p:nvPr>
            <p:custDataLst>
              <p:tags r:id="rId2"/>
            </p:custDataLst>
          </p:nvPr>
        </p:nvSpPr>
        <p:spPr>
          <a:xfrm>
            <a:off x="7384415" y="24237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b="1">
                <a:sym typeface="+mn-ea"/>
              </a:rPr>
              <a:t>决策树</a:t>
            </a:r>
            <a:endParaRPr lang="zh-CN" altLang="en-US" b="1">
              <a:sym typeface="+mn-ea"/>
            </a:endParaRPr>
          </a:p>
        </p:txBody>
      </p:sp>
      <p:sp>
        <p:nvSpPr>
          <p:cNvPr id="15" name="燕尾形 14"/>
          <p:cNvSpPr/>
          <p:nvPr>
            <p:custDataLst>
              <p:tags r:id="rId3"/>
            </p:custDataLst>
          </p:nvPr>
        </p:nvSpPr>
        <p:spPr>
          <a:xfrm>
            <a:off x="7414895" y="31794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b="1">
                <a:sym typeface="+mn-ea"/>
              </a:rPr>
              <a:t>神经网络</a:t>
            </a:r>
            <a:endParaRPr lang="zh-CN" altLang="en-US" b="1">
              <a:sym typeface="+mn-ea"/>
            </a:endParaRPr>
          </a:p>
        </p:txBody>
      </p:sp>
      <p:sp>
        <p:nvSpPr>
          <p:cNvPr id="16" name="燕尾形 15"/>
          <p:cNvSpPr/>
          <p:nvPr>
            <p:custDataLst>
              <p:tags r:id="rId4"/>
            </p:custDataLst>
          </p:nvPr>
        </p:nvSpPr>
        <p:spPr>
          <a:xfrm>
            <a:off x="7414895" y="3935095"/>
            <a:ext cx="2352040" cy="457200"/>
          </a:xfrm>
          <a:prstGeom prst="chevron">
            <a:avLst/>
          </a:prstGeom>
          <a:solidFill>
            <a:schemeClr val="accent2">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b="1">
                <a:sym typeface="+mn-ea"/>
              </a:rPr>
              <a:t>支持向量机</a:t>
            </a:r>
            <a:endParaRPr lang="zh-CN" altLang="en-US" b="1">
              <a:sym typeface="+mn-ea"/>
            </a:endParaRPr>
          </a:p>
        </p:txBody>
      </p:sp>
      <p:sp>
        <p:nvSpPr>
          <p:cNvPr id="17" name="燕尾形 16"/>
          <p:cNvSpPr/>
          <p:nvPr>
            <p:custDataLst>
              <p:tags r:id="rId5"/>
            </p:custDataLst>
          </p:nvPr>
        </p:nvSpPr>
        <p:spPr>
          <a:xfrm>
            <a:off x="7384415" y="469074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t>贝叶斯分类器</a:t>
            </a:r>
            <a:endParaRPr lang="zh-CN" altLang="en-US" b="1"/>
          </a:p>
        </p:txBody>
      </p:sp>
      <p:sp>
        <p:nvSpPr>
          <p:cNvPr id="18" name="燕尾形 17"/>
          <p:cNvSpPr/>
          <p:nvPr>
            <p:custDataLst>
              <p:tags r:id="rId6"/>
            </p:custDataLst>
          </p:nvPr>
        </p:nvSpPr>
        <p:spPr>
          <a:xfrm>
            <a:off x="7384415" y="5446395"/>
            <a:ext cx="2352040" cy="457200"/>
          </a:xfrm>
          <a:prstGeom prst="chevron">
            <a:avLst/>
          </a:prstGeom>
          <a:solidFill>
            <a:schemeClr val="accent5">
              <a:lumMod val="60000"/>
              <a:lumOff val="40000"/>
            </a:schemeClr>
          </a:solidFill>
          <a:ln>
            <a:noFill/>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b="1"/>
              <a:t>强化学习</a:t>
            </a:r>
            <a:endParaRPr lang="zh-CN"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custDataLst>
              <p:tags r:id="rId1"/>
            </p:custDataLst>
          </p:nvPr>
        </p:nvSpPr>
        <p:spPr>
          <a:xfrm>
            <a:off x="4879975" y="854710"/>
            <a:ext cx="6861175" cy="5236845"/>
          </a:xfrm>
          <a:prstGeom prst="rect">
            <a:avLst/>
          </a:prstGeom>
          <a:noFill/>
        </p:spPr>
        <p:txBody>
          <a:bodyPr wrap="square" rtlCol="0">
            <a:noAutofit/>
            <a:scene3d>
              <a:camera prst="orthographicFront"/>
              <a:lightRig rig="threePt" dir="t"/>
            </a:scene3d>
          </a:bodyPr>
          <a:lstStyle/>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什么是支持向量机？</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如何得到最优划分超平面？</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软间隔</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核函数</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支持向量机解决多分类问题和回归问题</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实现支持向量机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知识点总结</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85750" y="1097915"/>
            <a:ext cx="11414125" cy="2777490"/>
          </a:xfrm>
          <a:prstGeom prst="rect">
            <a:avLst/>
          </a:prstGeom>
          <a:noFill/>
        </p:spPr>
        <p:txBody>
          <a:bodyPr wrap="square" rtlCol="0" anchor="t">
            <a:spAutoFit/>
          </a:bodyPr>
          <a:lstStyle/>
          <a:p>
            <a:r>
              <a:rPr lang="zh-CN" altLang="en-US" b="1">
                <a:solidFill>
                  <a:srgbClr val="0070C0"/>
                </a:solidFill>
              </a:rPr>
              <a:t>支持向量机</a:t>
            </a:r>
            <a:r>
              <a:rPr lang="zh-CN" altLang="en-US"/>
              <a:t>（Support Vector Machine, SVM）是一类按监督学习方式对数据进行二元分类的广义线性分类器，其</a:t>
            </a:r>
            <a:endParaRPr lang="zh-CN" altLang="en-US"/>
          </a:p>
          <a:p>
            <a:pPr>
              <a:lnSpc>
                <a:spcPct val="20000"/>
              </a:lnSpc>
            </a:pPr>
            <a:endParaRPr lang="zh-CN" altLang="en-US"/>
          </a:p>
          <a:p>
            <a:r>
              <a:rPr lang="zh-CN" altLang="en-US"/>
              <a:t>决策边界是对学习样本求解的最大边距超平面</a:t>
            </a:r>
            <a:endParaRPr lang="zh-CN" altLang="en-US"/>
          </a:p>
          <a:p>
            <a:pPr>
              <a:lnSpc>
                <a:spcPct val="60000"/>
              </a:lnSpc>
            </a:pPr>
            <a:endParaRPr lang="zh-CN" altLang="en-US"/>
          </a:p>
          <a:p>
            <a:r>
              <a:rPr lang="zh-CN" altLang="en-US" b="1">
                <a:solidFill>
                  <a:srgbClr val="0070C0"/>
                </a:solidFill>
              </a:rPr>
              <a:t>线性分类器</a:t>
            </a:r>
            <a:r>
              <a:rPr lang="zh-CN" altLang="en-US"/>
              <a:t>：通过特征的线性组合来做出分类决定</a:t>
            </a:r>
            <a:endParaRPr lang="zh-CN" altLang="en-US"/>
          </a:p>
          <a:p>
            <a:pPr>
              <a:lnSpc>
                <a:spcPct val="90000"/>
              </a:lnSpc>
            </a:pPr>
            <a:endParaRPr lang="zh-CN" altLang="en-US"/>
          </a:p>
          <a:p>
            <a:r>
              <a:rPr lang="zh-CN" altLang="en-US" b="1">
                <a:solidFill>
                  <a:srgbClr val="0070C0"/>
                </a:solidFill>
              </a:rPr>
              <a:t>决策边界</a:t>
            </a:r>
            <a:r>
              <a:rPr lang="zh-CN" altLang="en-US"/>
              <a:t>：在具有两个类的统计分类问题中，决策边界或决策表面是超曲面，其将基础向量空间划分为两个集合，分类器将决策边界一侧的所有点分类为一个类，而将另一侧的所有点分类另一个类</a:t>
            </a:r>
            <a:endParaRPr lang="zh-CN" altLang="en-US"/>
          </a:p>
          <a:p>
            <a:endParaRPr lang="zh-CN" altLang="en-US"/>
          </a:p>
          <a:p>
            <a:r>
              <a:rPr lang="zh-CN" altLang="en-US" b="1">
                <a:solidFill>
                  <a:srgbClr val="0070C0"/>
                </a:solidFill>
              </a:rPr>
              <a:t>超平面</a:t>
            </a:r>
            <a:r>
              <a:rPr lang="zh-CN" altLang="en-US"/>
              <a:t>：超平面是指n维线性空间中维度为n-1的子空间。它可以把线性空间分割成不相交的两部分。比如二维空间中，一条直线是一维的，它把平面分成了两部分；三维空间中，一个平面是二维的，它把空间分成了两部分</a:t>
            </a:r>
            <a:endParaRPr lang="zh-CN" altLang="en-US"/>
          </a:p>
        </p:txBody>
      </p:sp>
      <p:pic>
        <p:nvPicPr>
          <p:cNvPr id="20" name="图片 19" descr="支持向量机"/>
          <p:cNvPicPr>
            <a:picLocks noChangeAspect="1"/>
          </p:cNvPicPr>
          <p:nvPr/>
        </p:nvPicPr>
        <p:blipFill>
          <a:blip r:embed="rId1"/>
          <a:stretch>
            <a:fillRect/>
          </a:stretch>
        </p:blipFill>
        <p:spPr>
          <a:xfrm>
            <a:off x="4387215" y="3999865"/>
            <a:ext cx="3417570" cy="2563495"/>
          </a:xfrm>
          <a:prstGeom prst="rect">
            <a:avLst/>
          </a:prstGeom>
        </p:spPr>
      </p:pic>
      <p:sp>
        <p:nvSpPr>
          <p:cNvPr id="9" name="矩形 8"/>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5" name="文本框 4"/>
          <p:cNvSpPr txBox="1"/>
          <p:nvPr>
            <p:custDataLst>
              <p:tags r:id="rId4"/>
            </p:custDataLst>
          </p:nvPr>
        </p:nvSpPr>
        <p:spPr>
          <a:xfrm>
            <a:off x="420370" y="323215"/>
            <a:ext cx="355282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什么是支持向量机？</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285750" y="1097915"/>
                <a:ext cx="11414125" cy="933450"/>
              </a:xfrm>
              <a:prstGeom prst="rect">
                <a:avLst/>
              </a:prstGeom>
              <a:noFill/>
            </p:spPr>
            <p:txBody>
              <a:bodyPr wrap="square" rtlCol="0" anchor="t">
                <a:spAutoFit/>
              </a:bodyPr>
              <a:lstStyle/>
              <a:p>
                <a:r>
                  <a:rPr lang="zh-CN" altLang="en-US"/>
                  <a:t>思考以下问题：给定训练样本集</a:t>
                </a:r>
                <a14:m>
                  <m:oMath xmlns:m="http://schemas.openxmlformats.org/officeDocument/2006/math">
                    <m:r>
                      <a:rPr lang="en-US" altLang="zh-CN" i="1">
                        <a:latin typeface="Cambria Math" panose="02040503050406030204" pitchFamily="18" charset="0"/>
                        <a:cs typeface="Cambria Math" panose="02040503050406030204" pitchFamily="18" charset="0"/>
                      </a:rPr>
                      <m:t>𝐷</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𝟏</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𝟐</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𝒎</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𝑚</m:t>
                        </m:r>
                      </m:sub>
                    </m:sSub>
                    <m:r>
                      <a:rPr lang="en-US" altLang="zh-CN" i="1">
                        <a:latin typeface="Cambria Math" panose="02040503050406030204" pitchFamily="18" charset="0"/>
                        <a:cs typeface="Cambria Math" panose="02040503050406030204" pitchFamily="18" charset="0"/>
                      </a:rPr>
                      <m:t>)}, </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𝑅</m:t>
                        </m:r>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，将训练样本集</a:t>
                </a:r>
                <a:r>
                  <a:rPr lang="en-US" altLang="zh-CN">
                    <a:latin typeface="Cambria Math" panose="02040503050406030204" pitchFamily="18" charset="0"/>
                    <a:cs typeface="Cambria Math" panose="02040503050406030204" pitchFamily="18" charset="0"/>
                  </a:rPr>
                  <a:t>D</a:t>
                </a:r>
                <a:r>
                  <a:rPr lang="zh-CN" altLang="en-US">
                    <a:latin typeface="Cambria Math" panose="02040503050406030204" pitchFamily="18" charset="0"/>
                    <a:cs typeface="Cambria Math" panose="02040503050406030204" pitchFamily="18" charset="0"/>
                  </a:rPr>
                  <a:t>按照每个样本在特征空间中的位置展示在下图中，其中</a:t>
                </a:r>
                <a:r>
                  <a:rPr lang="en-US" altLang="zh-CN">
                    <a:sym typeface="+mn-ea"/>
                  </a:rPr>
                  <a:t>+</a:t>
                </a:r>
                <a:r>
                  <a:rPr lang="zh-CN" altLang="en-US">
                    <a:sym typeface="+mn-ea"/>
                  </a:rPr>
                  <a:t>代表</a:t>
                </a:r>
                <a:r>
                  <a:rPr lang="zh-CN">
                    <a:sym typeface="+mn-ea"/>
                  </a:rPr>
                  <a:t>正样本</a:t>
                </a:r>
                <a:r>
                  <a:rPr lang="en-US" altLang="zh-CN">
                    <a:sym typeface="+mn-ea"/>
                  </a:rPr>
                  <a:t>(</a:t>
                </a:r>
                <a:r>
                  <a:rPr lang="zh-CN" altLang="en-US">
                    <a:sym typeface="+mn-ea"/>
                  </a:rPr>
                  <a:t>即</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r>
                  <a:rPr lang="en-US" altLang="zh-CN">
                    <a:sym typeface="+mn-ea"/>
                  </a:rPr>
                  <a:t>)</a:t>
                </a:r>
                <a:r>
                  <a:rPr lang="zh-CN" altLang="en-US">
                    <a:sym typeface="+mn-ea"/>
                  </a:rPr>
                  <a:t>，</a:t>
                </a:r>
                <a14:m>
                  <m:oMath xmlns:m="http://schemas.openxmlformats.org/officeDocument/2006/math">
                    <m:r>
                      <a:rPr lang="en-US" altLang="zh-CN" i="1">
                        <a:latin typeface="Cambria Math" panose="02040503050406030204" pitchFamily="18" charset="0"/>
                        <a:cs typeface="Cambria Math" panose="02040503050406030204" pitchFamily="18" charset="0"/>
                      </a:rPr>
                      <m:t>−</m:t>
                    </m:r>
                  </m:oMath>
                </a14:m>
                <a:r>
                  <a:rPr lang="zh-CN" altLang="en-US">
                    <a:sym typeface="+mn-ea"/>
                  </a:rPr>
                  <a:t>代表</a:t>
                </a:r>
                <a:r>
                  <a:rPr lang="zh-CN">
                    <a:sym typeface="+mn-ea"/>
                  </a:rPr>
                  <a:t>负样本</a:t>
                </a:r>
                <a:r>
                  <a:rPr lang="en-US" altLang="zh-CN">
                    <a:sym typeface="+mn-ea"/>
                  </a:rPr>
                  <a:t>(</a:t>
                </a:r>
                <a:r>
                  <a:rPr lang="zh-CN" altLang="en-US">
                    <a:sym typeface="+mn-ea"/>
                  </a:rPr>
                  <a:t>即</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r>
                  <a:rPr lang="en-US" altLang="zh-CN">
                    <a:sym typeface="+mn-ea"/>
                  </a:rPr>
                  <a:t>)</a:t>
                </a:r>
                <a:r>
                  <a:rPr lang="zh-CN" altLang="en-US">
                    <a:sym typeface="+mn-ea"/>
                  </a:rPr>
                  <a:t>，下图中哪条直线是最优的划分超平面？</a:t>
                </a:r>
                <a:endParaRPr lang="zh-CN" altLang="en-US"/>
              </a:p>
            </p:txBody>
          </p:sp>
        </mc:Choice>
        <mc:Fallback>
          <p:sp>
            <p:nvSpPr>
              <p:cNvPr id="8" name="文本框 7"/>
              <p:cNvSpPr txBox="1">
                <a:spLocks noRot="1" noChangeAspect="1" noMove="1" noResize="1" noEditPoints="1" noAdjustHandles="1" noChangeArrowheads="1" noChangeShapeType="1" noTextEdit="1"/>
              </p:cNvSpPr>
              <p:nvPr/>
            </p:nvSpPr>
            <p:spPr>
              <a:xfrm>
                <a:off x="285750" y="1097915"/>
                <a:ext cx="11414125" cy="933450"/>
              </a:xfrm>
              <a:prstGeom prst="rect">
                <a:avLst/>
              </a:prstGeom>
              <a:blipFill rotWithShape="1">
                <a:blip r:embed="rId1"/>
                <a:stretch>
                  <a:fillRect/>
                </a:stretch>
              </a:blipFill>
            </p:spPr>
            <p:txBody>
              <a:bodyPr/>
              <a:lstStyle/>
              <a:p>
                <a:r>
                  <a:rPr lang="zh-CN" altLang="en-US">
                    <a:noFill/>
                  </a:rPr>
                  <a:t> </a:t>
                </a:r>
              </a:p>
            </p:txBody>
          </p:sp>
        </mc:Fallback>
      </mc:AlternateContent>
      <p:pic>
        <p:nvPicPr>
          <p:cNvPr id="17" name="图片 16" descr="选择超平面"/>
          <p:cNvPicPr>
            <a:picLocks noChangeAspect="1"/>
          </p:cNvPicPr>
          <p:nvPr/>
        </p:nvPicPr>
        <p:blipFill>
          <a:blip r:embed="rId2"/>
          <a:stretch>
            <a:fillRect/>
          </a:stretch>
        </p:blipFill>
        <p:spPr>
          <a:xfrm>
            <a:off x="3442335" y="2514600"/>
            <a:ext cx="4610735" cy="3724910"/>
          </a:xfrm>
          <a:prstGeom prst="rect">
            <a:avLst/>
          </a:prstGeom>
        </p:spPr>
      </p:pic>
      <p:sp>
        <p:nvSpPr>
          <p:cNvPr id="18" name="文本框 17"/>
          <p:cNvSpPr txBox="1"/>
          <p:nvPr/>
        </p:nvSpPr>
        <p:spPr>
          <a:xfrm>
            <a:off x="7530465" y="5902325"/>
            <a:ext cx="153035" cy="337185"/>
          </a:xfrm>
          <a:prstGeom prst="rect">
            <a:avLst/>
          </a:prstGeom>
          <a:noFill/>
        </p:spPr>
        <p:txBody>
          <a:bodyPr wrap="square" rtlCol="0">
            <a:spAutoFit/>
          </a:bodyPr>
          <a:lstStyle/>
          <a:p>
            <a:r>
              <a:rPr lang="en-US" altLang="zh-CN" sz="1600"/>
              <a:t>1</a:t>
            </a:r>
            <a:endParaRPr lang="en-US" altLang="zh-CN" sz="1600"/>
          </a:p>
        </p:txBody>
      </p:sp>
      <p:sp>
        <p:nvSpPr>
          <p:cNvPr id="9" name="矩形 8"/>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5" name="文本框 4"/>
          <p:cNvSpPr txBox="1"/>
          <p:nvPr>
            <p:custDataLst>
              <p:tags r:id="rId5"/>
            </p:custDataLst>
          </p:nvPr>
        </p:nvSpPr>
        <p:spPr>
          <a:xfrm>
            <a:off x="420370" y="323215"/>
            <a:ext cx="355282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什么是支持向量机？</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85750" y="1097915"/>
            <a:ext cx="5934075" cy="368300"/>
          </a:xfrm>
          <a:prstGeom prst="rect">
            <a:avLst/>
          </a:prstGeom>
          <a:noFill/>
        </p:spPr>
        <p:txBody>
          <a:bodyPr wrap="square" rtlCol="0" anchor="t">
            <a:spAutoFit/>
          </a:bodyPr>
          <a:lstStyle/>
          <a:p>
            <a:r>
              <a:rPr lang="zh-CN" altLang="en-US" sz="1800" b="1">
                <a:solidFill>
                  <a:srgbClr val="0070C0"/>
                </a:solidFill>
              </a:rPr>
              <a:t>若想找到最优的划分超平面，首先要定义何为最优？</a:t>
            </a:r>
            <a:endParaRPr lang="zh-CN" altLang="en-US"/>
          </a:p>
        </p:txBody>
      </p:sp>
      <p:pic>
        <p:nvPicPr>
          <p:cNvPr id="5" name="图片 4" descr="选择超平面"/>
          <p:cNvPicPr>
            <a:picLocks noChangeAspect="1"/>
          </p:cNvPicPr>
          <p:nvPr/>
        </p:nvPicPr>
        <p:blipFill>
          <a:blip r:embed="rId1"/>
          <a:stretch>
            <a:fillRect/>
          </a:stretch>
        </p:blipFill>
        <p:spPr>
          <a:xfrm>
            <a:off x="749935" y="2343785"/>
            <a:ext cx="4610735" cy="3724910"/>
          </a:xfrm>
          <a:prstGeom prst="rect">
            <a:avLst/>
          </a:prstGeom>
        </p:spPr>
      </p:pic>
      <p:sp>
        <p:nvSpPr>
          <p:cNvPr id="6" name="文本框 5"/>
          <p:cNvSpPr txBox="1"/>
          <p:nvPr/>
        </p:nvSpPr>
        <p:spPr>
          <a:xfrm>
            <a:off x="4838065" y="5731510"/>
            <a:ext cx="153035" cy="337185"/>
          </a:xfrm>
          <a:prstGeom prst="rect">
            <a:avLst/>
          </a:prstGeom>
          <a:noFill/>
        </p:spPr>
        <p:txBody>
          <a:bodyPr wrap="square" rtlCol="0">
            <a:spAutoFit/>
          </a:bodyPr>
          <a:lstStyle/>
          <a:p>
            <a:r>
              <a:rPr lang="en-US" altLang="zh-CN" sz="1600"/>
              <a:t>1</a:t>
            </a:r>
            <a:endParaRPr lang="en-US" altLang="zh-CN" sz="1600"/>
          </a:p>
        </p:txBody>
      </p:sp>
      <p:sp>
        <p:nvSpPr>
          <p:cNvPr id="7" name="文本框 6"/>
          <p:cNvSpPr txBox="1"/>
          <p:nvPr/>
        </p:nvSpPr>
        <p:spPr>
          <a:xfrm>
            <a:off x="6078220" y="2705100"/>
            <a:ext cx="5454015" cy="2291715"/>
          </a:xfrm>
          <a:prstGeom prst="rect">
            <a:avLst/>
          </a:prstGeom>
          <a:noFill/>
        </p:spPr>
        <p:txBody>
          <a:bodyPr wrap="square" rtlCol="0">
            <a:spAutoFit/>
          </a:bodyPr>
          <a:lstStyle/>
          <a:p>
            <a:r>
              <a:rPr lang="zh-CN" altLang="en-US"/>
              <a:t>直观上看，位于两类训练样本</a:t>
            </a:r>
            <a:r>
              <a:rPr lang="en-US" altLang="zh-CN"/>
              <a:t>“</a:t>
            </a:r>
            <a:r>
              <a:rPr lang="zh-CN" altLang="en-US"/>
              <a:t>正中间</a:t>
            </a:r>
            <a:r>
              <a:rPr lang="en-US" altLang="zh-CN"/>
              <a:t>”</a:t>
            </a:r>
            <a:r>
              <a:rPr lang="zh-CN" altLang="en-US"/>
              <a:t>的划分超平面，即图中红色的直线应为最优划分超平面，因为该划分超平面对样本的</a:t>
            </a:r>
            <a:r>
              <a:rPr lang="en-US" altLang="zh-CN"/>
              <a:t>“</a:t>
            </a:r>
            <a:r>
              <a:rPr lang="zh-CN" altLang="en-US"/>
              <a:t>鲁棒性</a:t>
            </a:r>
            <a:r>
              <a:rPr lang="en-US" altLang="zh-CN"/>
              <a:t>”</a:t>
            </a:r>
            <a:r>
              <a:rPr lang="zh-CN" altLang="en-US"/>
              <a:t>最好</a:t>
            </a:r>
            <a:endParaRPr lang="zh-CN" altLang="en-US"/>
          </a:p>
          <a:p>
            <a:pPr>
              <a:lnSpc>
                <a:spcPct val="50000"/>
              </a:lnSpc>
            </a:pPr>
            <a:endParaRPr lang="zh-CN" altLang="en-US"/>
          </a:p>
          <a:p>
            <a:pPr indent="457200"/>
            <a:r>
              <a:rPr lang="zh-CN" altLang="en-US" sz="1600"/>
              <a:t>例如，若训练集以外的新样本在特征空间中的位置更接近于两个类别的分割界</a:t>
            </a:r>
            <a:r>
              <a:rPr lang="en-US" altLang="zh-CN" sz="1600"/>
              <a:t>(</a:t>
            </a:r>
            <a:r>
              <a:rPr lang="zh-CN" altLang="en-US" sz="1600"/>
              <a:t>即图中蓝色的正负样本</a:t>
            </a:r>
            <a:r>
              <a:rPr lang="en-US" altLang="zh-CN" sz="1600"/>
              <a:t>)</a:t>
            </a:r>
            <a:r>
              <a:rPr lang="zh-CN" altLang="en-US" sz="1600"/>
              <a:t>，这将使许多划分超平面出现判断错误，而红色的划分超平面受影响最小。也就是说该划分超平面所产生的的分类结果是最鲁棒的，对未见示例的泛化能力最强</a:t>
            </a:r>
            <a:endParaRPr lang="zh-CN" altLang="en-US" sz="1600"/>
          </a:p>
        </p:txBody>
      </p:sp>
      <p:sp>
        <p:nvSpPr>
          <p:cNvPr id="9" name="文本框 8"/>
          <p:cNvSpPr txBox="1"/>
          <p:nvPr/>
        </p:nvSpPr>
        <p:spPr>
          <a:xfrm>
            <a:off x="3006090" y="3794760"/>
            <a:ext cx="523240" cy="521970"/>
          </a:xfrm>
          <a:prstGeom prst="rect">
            <a:avLst/>
          </a:prstGeom>
          <a:noFill/>
        </p:spPr>
        <p:txBody>
          <a:bodyPr wrap="square" rtlCol="0">
            <a:spAutoFit/>
          </a:bodyPr>
          <a:lstStyle/>
          <a:p>
            <a:r>
              <a:rPr lang="en-US" altLang="zh-CN" sz="2800">
                <a:solidFill>
                  <a:schemeClr val="accent5"/>
                </a:solidFill>
              </a:rPr>
              <a:t>+</a:t>
            </a:r>
            <a:endParaRPr lang="en-US" altLang="zh-CN" sz="2800">
              <a:solidFill>
                <a:schemeClr val="accent5"/>
              </a:solidFill>
            </a:endParaRPr>
          </a:p>
        </p:txBody>
      </p:sp>
      <mc:AlternateContent xmlns:mc="http://schemas.openxmlformats.org/markup-compatibility/2006">
        <mc:Choice xmlns:a14="http://schemas.microsoft.com/office/drawing/2010/main" Requires="a14">
          <p:sp>
            <p:nvSpPr>
              <p:cNvPr id="10" name="文本框 9"/>
              <p:cNvSpPr txBox="1"/>
              <p:nvPr/>
            </p:nvSpPr>
            <p:spPr>
              <a:xfrm>
                <a:off x="3400425" y="3641725"/>
                <a:ext cx="523240" cy="61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800">
                          <a:solidFill>
                            <a:schemeClr val="accent5"/>
                          </a:solidFill>
                          <a:latin typeface="Cambria Math" panose="02040503050406030204" pitchFamily="18" charset="0"/>
                        </a:rPr>
                        <m:t>−</m:t>
                      </m:r>
                    </m:oMath>
                  </m:oMathPara>
                </a14:m>
                <a:endParaRPr lang="en-US" altLang="zh-CN" sz="2800">
                  <a:solidFill>
                    <a:schemeClr val="accent5"/>
                  </a:solidFill>
                </a:endParaRPr>
              </a:p>
            </p:txBody>
          </p:sp>
        </mc:Choice>
        <mc:Fallback>
          <p:sp>
            <p:nvSpPr>
              <p:cNvPr id="10" name="文本框 9"/>
              <p:cNvSpPr txBox="1">
                <a:spLocks noRot="1" noChangeAspect="1" noMove="1" noResize="1" noEditPoints="1" noAdjustHandles="1" noChangeArrowheads="1" noChangeShapeType="1" noTextEdit="1"/>
              </p:cNvSpPr>
              <p:nvPr/>
            </p:nvSpPr>
            <p:spPr>
              <a:xfrm>
                <a:off x="3400425" y="3641725"/>
                <a:ext cx="523240" cy="616585"/>
              </a:xfrm>
              <a:prstGeom prst="rect">
                <a:avLst/>
              </a:prstGeom>
              <a:blipFill rotWithShape="1">
                <a:blip r:embed="rId2"/>
                <a:stretch>
                  <a:fillRect/>
                </a:stretch>
              </a:blipFill>
            </p:spPr>
            <p:txBody>
              <a:bodyPr/>
              <a:lstStyle/>
              <a:p>
                <a:r>
                  <a:rPr lang="zh-CN" altLang="en-US">
                    <a:noFill/>
                  </a:rPr>
                  <a:t> </a:t>
                </a:r>
              </a:p>
            </p:txBody>
          </p:sp>
        </mc:Fallback>
      </mc:AlternateContent>
      <p:sp>
        <p:nvSpPr>
          <p:cNvPr id="11" name="矩形 10"/>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2" name="矩形 11"/>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3" name="文本框 12"/>
          <p:cNvSpPr txBox="1"/>
          <p:nvPr>
            <p:custDataLst>
              <p:tags r:id="rId5"/>
            </p:custDataLst>
          </p:nvPr>
        </p:nvSpPr>
        <p:spPr>
          <a:xfrm>
            <a:off x="420370" y="323215"/>
            <a:ext cx="355282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什么是支持向量机？</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024380" y="1136015"/>
            <a:ext cx="8142605" cy="645160"/>
          </a:xfrm>
          <a:prstGeom prst="rect">
            <a:avLst/>
          </a:prstGeom>
          <a:noFill/>
        </p:spPr>
        <p:txBody>
          <a:bodyPr wrap="square" rtlCol="0" anchor="t">
            <a:spAutoFit/>
          </a:bodyPr>
          <a:lstStyle/>
          <a:p>
            <a:r>
              <a:rPr lang="zh-CN" altLang="en-US"/>
              <a:t>就如同经过一条满是陷阱的路，一定是要寻找一条路径，保证该路径所经过之处最近的陷阱的距离在所有路径中所经过之处最近的陷阱的距离中最远</a:t>
            </a:r>
            <a:endParaRPr lang="zh-CN" altLang="en-US"/>
          </a:p>
        </p:txBody>
      </p:sp>
      <p:pic>
        <p:nvPicPr>
          <p:cNvPr id="11" name="图片 10"/>
          <p:cNvPicPr>
            <a:picLocks noChangeAspect="1"/>
          </p:cNvPicPr>
          <p:nvPr/>
        </p:nvPicPr>
        <p:blipFill>
          <a:blip r:embed="rId1"/>
          <a:stretch>
            <a:fillRect/>
          </a:stretch>
        </p:blipFill>
        <p:spPr>
          <a:xfrm>
            <a:off x="2783840" y="2042160"/>
            <a:ext cx="6623685" cy="4377690"/>
          </a:xfrm>
          <a:prstGeom prst="rect">
            <a:avLst/>
          </a:prstGeom>
        </p:spPr>
      </p:pic>
      <p:sp>
        <p:nvSpPr>
          <p:cNvPr id="9" name="矩形 8"/>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5" name="文本框 4"/>
          <p:cNvSpPr txBox="1"/>
          <p:nvPr>
            <p:custDataLst>
              <p:tags r:id="rId4"/>
            </p:custDataLst>
          </p:nvPr>
        </p:nvSpPr>
        <p:spPr>
          <a:xfrm>
            <a:off x="420370" y="323215"/>
            <a:ext cx="355282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什么是支持向量机？</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custDataLst>
              <p:tags r:id="rId1"/>
            </p:custDataLst>
          </p:nvPr>
        </p:nvSpPr>
        <p:spPr>
          <a:xfrm>
            <a:off x="4879975" y="854710"/>
            <a:ext cx="6861175" cy="5236845"/>
          </a:xfrm>
          <a:prstGeom prst="rect">
            <a:avLst/>
          </a:prstGeom>
          <a:noFill/>
        </p:spPr>
        <p:txBody>
          <a:bodyPr wrap="square" rtlCol="0">
            <a:noAutofit/>
            <a:scene3d>
              <a:camera prst="orthographicFront"/>
              <a:lightRig rig="threePt" dir="t"/>
            </a:scene3d>
          </a:bodyPr>
          <a:lstStyle/>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如何得到最优划分超平面？</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软间隔</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核函数</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支持向量机解决多分类问题和回归问题</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实现支持向量机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知识点总结</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285750" y="1097915"/>
                <a:ext cx="11414125" cy="2571750"/>
              </a:xfrm>
              <a:prstGeom prst="rect">
                <a:avLst/>
              </a:prstGeom>
              <a:noFill/>
            </p:spPr>
            <p:txBody>
              <a:bodyPr wrap="square" rtlCol="0" anchor="t">
                <a:spAutoFit/>
              </a:bodyPr>
              <a:lstStyle/>
              <a:p>
                <a:r>
                  <a:rPr lang="zh-CN" altLang="en-US"/>
                  <a:t>在样本空间中，划分超平面可通过如下线性方程来描述：</a:t>
                </a:r>
                <a:endParaRPr lang="zh-CN" altLang="en-US"/>
              </a:p>
              <a:p>
                <a:pPr>
                  <a:lnSpc>
                    <a:spcPct val="60000"/>
                  </a:lnSpc>
                </a:pPr>
                <a:endParaRPr lang="zh-CN" altLang="en-US"/>
              </a:p>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r>
                        <a:rPr lang="en-US" altLang="zh-CN" b="1" i="1">
                          <a:latin typeface="Cambria Math" panose="02040503050406030204" pitchFamily="18" charset="0"/>
                          <a:cs typeface="Cambria Math" panose="02040503050406030204" pitchFamily="18" charset="0"/>
                        </a:rPr>
                        <m:t>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a:p>
                <a:pPr>
                  <a:lnSpc>
                    <a:spcPct val="70000"/>
                  </a:lnSpc>
                </a:pPr>
                <a:endParaRPr lang="zh-CN" altLang="en-US"/>
              </a:p>
              <a:p>
                <a:r>
                  <a:rPr lang="zh-CN" altLang="en-US"/>
                  <a:t>其中</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𝑤</m:t>
                        </m:r>
                      </m:e>
                      <m:sub>
                        <m:r>
                          <a:rPr lang="en-US" altLang="zh-CN" i="1">
                            <a:latin typeface="Cambria Math" panose="02040503050406030204" pitchFamily="18" charset="0"/>
                            <a:cs typeface="Cambria Math" panose="02040503050406030204" pitchFamily="18" charset="0"/>
                          </a:rPr>
                          <m:t>𝑑</m:t>
                        </m:r>
                      </m:sub>
                    </m:sSub>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为法向量，决定了超平面的方向；</a:t>
                </a:r>
                <a14:m>
                  <m:oMath xmlns:m="http://schemas.openxmlformats.org/officeDocument/2006/math">
                    <m:r>
                      <a:rPr lang="zh-CN" altLang="en-US">
                        <a:latin typeface="Cambria Math" panose="02040503050406030204" pitchFamily="18" charset="0"/>
                        <a:cs typeface="Cambria Math" panose="02040503050406030204" pitchFamily="18" charset="0"/>
                      </a:rPr>
                      <m:t>𝑏</m:t>
                    </m:r>
                  </m:oMath>
                </a14:m>
                <a:r>
                  <a:rPr lang="zh-CN" altLang="en-US">
                    <a:latin typeface="Cambria Math" panose="02040503050406030204" pitchFamily="18" charset="0"/>
                    <a:cs typeface="Cambria Math" panose="02040503050406030204" pitchFamily="18" charset="0"/>
                  </a:rPr>
                  <a:t>为位移项，决定了超平面与原点之间的距离；任意一个超平面都可以由法向量</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oMath>
                </a14:m>
                <a:r>
                  <a:rPr lang="zh-CN" altLang="en-US">
                    <a:latin typeface="Cambria Math" panose="02040503050406030204" pitchFamily="18" charset="0"/>
                    <a:cs typeface="Cambria Math" panose="02040503050406030204" pitchFamily="18" charset="0"/>
                  </a:rPr>
                  <a:t>和位移</a:t>
                </a:r>
                <a14:m>
                  <m:oMath xmlns:m="http://schemas.openxmlformats.org/officeDocument/2006/math">
                    <m:r>
                      <a:rPr lang="en-US" altLang="zh-CN" i="1">
                        <a:latin typeface="Cambria Math" panose="02040503050406030204" pitchFamily="18" charset="0"/>
                        <a:cs typeface="Cambria Math" panose="02040503050406030204" pitchFamily="18" charset="0"/>
                      </a:rPr>
                      <m:t>𝑏</m:t>
                    </m:r>
                  </m:oMath>
                </a14:m>
                <a:r>
                  <a:rPr lang="zh-CN" altLang="en-US">
                    <a:latin typeface="Cambria Math" panose="02040503050406030204" pitchFamily="18" charset="0"/>
                    <a:cs typeface="Cambria Math" panose="02040503050406030204" pitchFamily="18" charset="0"/>
                  </a:rPr>
                  <a:t>决定，因此将其记为</a:t>
                </a:r>
                <a:r>
                  <a:rPr lang="en-US" altLang="zh-CN">
                    <a:latin typeface="Cambria Math" panose="02040503050406030204" pitchFamily="18" charset="0"/>
                    <a:cs typeface="Cambria Math" panose="02040503050406030204" pitchFamily="18" charset="0"/>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，样本空间中任意点</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到超平面</a:t>
                </a:r>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的距离可表示为：</a:t>
                </a: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𝑟</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d>
                            <m:dPr>
                              <m:begChr m:val="|"/>
                              <m:endChr m:val="|"/>
                              <m:ctrlPr>
                                <a:rPr lang="en-US" altLang="zh-CN" i="1">
                                  <a:latin typeface="Cambria Math" panose="02040503050406030204" pitchFamily="18" charset="0"/>
                                  <a:cs typeface="Cambria Math" panose="02040503050406030204" pitchFamily="18" charset="0"/>
                                  <a:sym typeface="+mn-ea"/>
                                </a:rPr>
                              </m:ctrlPr>
                            </m:dPr>
                            <m:e>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e>
                          </m:d>
                        </m:num>
                        <m:den>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den>
                      </m:f>
                    </m:oMath>
                  </m:oMathPara>
                </a14:m>
                <a:endParaRPr lang="zh-CN" altLang="en-US">
                  <a:latin typeface="Cambria Math" panose="02040503050406030204" pitchFamily="18" charset="0"/>
                  <a:cs typeface="Cambria Math" panose="02040503050406030204" pitchFamily="18" charset="0"/>
                  <a:sym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285750" y="1097915"/>
                <a:ext cx="11414125" cy="257175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平行四边形 11"/>
              <p:cNvSpPr/>
              <p:nvPr/>
            </p:nvSpPr>
            <p:spPr>
              <a:xfrm>
                <a:off x="1346835" y="4505960"/>
                <a:ext cx="2144395" cy="1470025"/>
              </a:xfrm>
              <a:prstGeom prst="parallelogram">
                <a:avLst>
                  <a:gd name="adj" fmla="val 5269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p>
            </p:txBody>
          </p:sp>
        </mc:Choice>
        <mc:Fallback>
          <p:sp>
            <p:nvSpPr>
              <p:cNvPr id="12" name="平行四边形 11"/>
              <p:cNvSpPr>
                <a:spLocks noRot="1" noChangeAspect="1" noMove="1" noResize="1" noEditPoints="1" noAdjustHandles="1" noChangeArrowheads="1" noChangeShapeType="1" noTextEdit="1"/>
              </p:cNvSpPr>
              <p:nvPr/>
            </p:nvSpPr>
            <p:spPr>
              <a:xfrm>
                <a:off x="1346835" y="4505960"/>
                <a:ext cx="2144395" cy="1470025"/>
              </a:xfrm>
              <a:prstGeom prst="parallelogram">
                <a:avLst>
                  <a:gd name="adj" fmla="val 52699"/>
                </a:avLst>
              </a:prstGeom>
              <a:blipFill rotWithShape="1">
                <a:blip r:embed="rId2"/>
                <a:stretch>
                  <a:fillRect l="-503" t="-432" r="-474" b="-432"/>
                </a:stretch>
              </a:blipFill>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sp>
        <p:nvSpPr>
          <p:cNvPr id="13" name="椭圆 12"/>
          <p:cNvSpPr/>
          <p:nvPr/>
        </p:nvSpPr>
        <p:spPr>
          <a:xfrm>
            <a:off x="1710690" y="4469130"/>
            <a:ext cx="170815" cy="17081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4" name="文本框 13"/>
              <p:cNvSpPr txBox="1"/>
              <p:nvPr/>
            </p:nvSpPr>
            <p:spPr>
              <a:xfrm>
                <a:off x="1303655" y="4370070"/>
                <a:ext cx="451485" cy="36830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m:oMathPara>
                </a14:m>
                <a:endParaRPr lang="zh-CN" altLang="en-US"/>
              </a:p>
            </p:txBody>
          </p:sp>
        </mc:Choice>
        <mc:Fallback>
          <p:sp>
            <p:nvSpPr>
              <p:cNvPr id="14" name="文本框 13"/>
              <p:cNvSpPr txBox="1">
                <a:spLocks noRot="1" noChangeAspect="1" noMove="1" noResize="1" noEditPoints="1" noAdjustHandles="1" noChangeArrowheads="1" noChangeShapeType="1" noTextEdit="1"/>
              </p:cNvSpPr>
              <p:nvPr/>
            </p:nvSpPr>
            <p:spPr>
              <a:xfrm>
                <a:off x="1303655" y="4370070"/>
                <a:ext cx="451485" cy="368300"/>
              </a:xfrm>
              <a:prstGeom prst="rect">
                <a:avLst/>
              </a:prstGeom>
              <a:blipFill rotWithShape="1">
                <a:blip r:embed="rId3"/>
                <a:stretch>
                  <a:fillRect/>
                </a:stretch>
              </a:blipFill>
            </p:spPr>
            <p:txBody>
              <a:bodyPr/>
              <a:lstStyle/>
              <a:p>
                <a:r>
                  <a:rPr lang="zh-CN" altLang="en-US">
                    <a:noFill/>
                  </a:rPr>
                  <a:t> </a:t>
                </a:r>
              </a:p>
            </p:txBody>
          </p:sp>
        </mc:Fallback>
      </mc:AlternateContent>
      <p:cxnSp>
        <p:nvCxnSpPr>
          <p:cNvPr id="15" name="直接连接符 14"/>
          <p:cNvCxnSpPr>
            <a:stCxn id="13" idx="5"/>
          </p:cNvCxnSpPr>
          <p:nvPr/>
        </p:nvCxnSpPr>
        <p:spPr>
          <a:xfrm>
            <a:off x="1856740" y="4615180"/>
            <a:ext cx="481330" cy="321310"/>
          </a:xfrm>
          <a:prstGeom prst="line">
            <a:avLst/>
          </a:prstGeom>
          <a:ln w="28575">
            <a:prstDash val="dash"/>
          </a:ln>
        </p:spPr>
        <p:style>
          <a:lnRef idx="1">
            <a:schemeClr val="accent2"/>
          </a:lnRef>
          <a:fillRef idx="0">
            <a:schemeClr val="accent2"/>
          </a:fillRef>
          <a:effectRef idx="0">
            <a:schemeClr val="accent2"/>
          </a:effectRef>
          <a:fontRef idx="minor">
            <a:schemeClr val="tx1"/>
          </a:fontRef>
        </p:style>
      </p:cxnSp>
      <p:sp>
        <p:nvSpPr>
          <p:cNvPr id="16" name="椭圆 15"/>
          <p:cNvSpPr/>
          <p:nvPr/>
        </p:nvSpPr>
        <p:spPr>
          <a:xfrm>
            <a:off x="2223135" y="4836795"/>
            <a:ext cx="170815" cy="170815"/>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文本框 16"/>
              <p:cNvSpPr txBox="1"/>
              <p:nvPr/>
            </p:nvSpPr>
            <p:spPr>
              <a:xfrm>
                <a:off x="2338070" y="4639310"/>
                <a:ext cx="451485" cy="36830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0</m:t>
                          </m:r>
                        </m:sub>
                      </m:sSub>
                    </m:oMath>
                  </m:oMathPara>
                </a14:m>
                <a:endParaRPr lang="zh-CN" altLang="en-US"/>
              </a:p>
            </p:txBody>
          </p:sp>
        </mc:Choice>
        <mc:Fallback>
          <p:sp>
            <p:nvSpPr>
              <p:cNvPr id="17" name="文本框 16"/>
              <p:cNvSpPr txBox="1">
                <a:spLocks noRot="1" noChangeAspect="1" noMove="1" noResize="1" noEditPoints="1" noAdjustHandles="1" noChangeArrowheads="1" noChangeShapeType="1" noTextEdit="1"/>
              </p:cNvSpPr>
              <p:nvPr/>
            </p:nvSpPr>
            <p:spPr>
              <a:xfrm>
                <a:off x="2338070" y="4639310"/>
                <a:ext cx="451485" cy="3683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4527550" y="3966845"/>
                <a:ext cx="6645910" cy="2461260"/>
              </a:xfrm>
              <a:prstGeom prst="rect">
                <a:avLst/>
              </a:prstGeom>
              <a:noFill/>
            </p:spPr>
            <p:txBody>
              <a:bodyPr wrap="square" rtlCol="0">
                <a:spAutoFit/>
              </a:bodyPr>
              <a:lstStyle/>
              <a:p>
                <a14:m>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oMath>
                </a14:m>
                <a:r>
                  <a:rPr lang="zh-CN" altLang="en-US">
                    <a:latin typeface="Cambria Math" panose="02040503050406030204" pitchFamily="18" charset="0"/>
                    <a:cs typeface="Cambria Math" panose="02040503050406030204" pitchFamily="18" charset="0"/>
                  </a:rPr>
                  <a:t>为超平面</a:t>
                </a:r>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外一点，</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𝟎</m:t>
                        </m:r>
                      </m:sub>
                    </m:sSub>
                  </m:oMath>
                </a14:m>
                <a:r>
                  <a:rPr lang="zh-CN" altLang="en-US">
                    <a:latin typeface="Cambria Math" panose="02040503050406030204" pitchFamily="18" charset="0"/>
                    <a:cs typeface="Cambria Math" panose="02040503050406030204" pitchFamily="18" charset="0"/>
                  </a:rPr>
                  <a:t>为</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oMath>
                </a14:m>
                <a:r>
                  <a:rPr lang="zh-CN" altLang="en-US">
                    <a:latin typeface="Cambria Math" panose="02040503050406030204" pitchFamily="18" charset="0"/>
                    <a:cs typeface="Cambria Math" panose="02040503050406030204" pitchFamily="18" charset="0"/>
                  </a:rPr>
                  <a:t>在超平面</a:t>
                </a:r>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上的投影，则：</a:t>
                </a:r>
                <a:endParaRPr lang="zh-CN" altLang="en-US">
                  <a:latin typeface="Cambria Math" panose="02040503050406030204" pitchFamily="18" charset="0"/>
                  <a:cs typeface="Cambria Math" panose="02040503050406030204" pitchFamily="18" charset="0"/>
                  <a:sym typeface="+mn-ea"/>
                </a:endParaRPr>
              </a:p>
              <a:p>
                <a:pPr>
                  <a:lnSpc>
                    <a:spcPct val="50000"/>
                  </a:lnSpc>
                </a:pPr>
                <a:endParaRPr lang="zh-CN" altLang="en-US">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sym typeface="+mn-ea"/>
                            </a:rPr>
                            <m:t>𝒘</m:t>
                          </m:r>
                          <m:r>
                            <a:rPr lang="en-US" altLang="zh-CN" i="1">
                              <a:latin typeface="Cambria Math" panose="02040503050406030204" pitchFamily="18" charset="0"/>
                              <a:cs typeface="Cambria Math" panose="02040503050406030204" pitchFamily="18" charset="0"/>
                              <a:sym typeface="+mn-ea"/>
                            </a:rPr>
                            <m:t>∙</m:t>
                          </m:r>
                          <m:acc>
                            <m:accPr>
                              <m:chr m:val="⃗"/>
                              <m:ctrlPr>
                                <a:rPr lang="en-US" altLang="zh-CN" i="1">
                                  <a:latin typeface="Cambria Math" panose="02040503050406030204" pitchFamily="18" charset="0"/>
                                  <a:cs typeface="Cambria Math" panose="02040503050406030204" pitchFamily="18" charset="0"/>
                                  <a:sym typeface="+mn-ea"/>
                                </a:rPr>
                              </m:ctrlPr>
                            </m:accPr>
                            <m:e>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𝟎</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acc>
                        </m:e>
                      </m:d>
                      <m:r>
                        <a:rPr lang="en-US" altLang="zh-CN" i="1">
                          <a:latin typeface="Cambria Math" panose="02040503050406030204" pitchFamily="18" charset="0"/>
                          <a:cs typeface="Cambria Math" panose="02040503050406030204" pitchFamily="18" charset="0"/>
                          <a:sym typeface="+mn-ea"/>
                        </a:rPr>
                        <m:t>=</m:t>
                      </m:r>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sym typeface="+mn-ea"/>
                            </a:rPr>
                            <m:t>𝒘</m:t>
                          </m:r>
                        </m:e>
                      </m:d>
                      <m:r>
                        <a:rPr lang="en-US" altLang="zh-CN" i="1">
                          <a:latin typeface="Cambria Math" panose="02040503050406030204" pitchFamily="18" charset="0"/>
                          <a:cs typeface="Cambria Math" panose="02040503050406030204" pitchFamily="18" charset="0"/>
                          <a:sym typeface="+mn-ea"/>
                        </a:rPr>
                        <m:t>∙</m:t>
                      </m:r>
                      <m:d>
                        <m:dPr>
                          <m:begChr m:val="‖"/>
                          <m:endChr m:val="‖"/>
                          <m:ctrlPr>
                            <a:rPr lang="en-US" altLang="zh-CN" i="1">
                              <a:latin typeface="Cambria Math" panose="02040503050406030204" pitchFamily="18" charset="0"/>
                              <a:cs typeface="Cambria Math" panose="02040503050406030204" pitchFamily="18" charset="0"/>
                              <a:sym typeface="+mn-ea"/>
                            </a:rPr>
                          </m:ctrlPr>
                        </m:dPr>
                        <m:e>
                          <m:acc>
                            <m:accPr>
                              <m:chr m:val="⃗"/>
                              <m:ctrlPr>
                                <a:rPr lang="en-US" altLang="zh-CN" i="1">
                                  <a:latin typeface="Cambria Math" panose="02040503050406030204" pitchFamily="18" charset="0"/>
                                  <a:cs typeface="Cambria Math" panose="02040503050406030204" pitchFamily="18" charset="0"/>
                                  <a:sym typeface="+mn-ea"/>
                                </a:rPr>
                              </m:ctrlPr>
                            </m:accPr>
                            <m:e>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𝟎</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acc>
                        </m:e>
                      </m:d>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𝑐𝑜𝑠</m:t>
                      </m:r>
                      <m:r>
                        <a:rPr lang="en-US" altLang="zh-CN" i="1">
                          <a:latin typeface="Cambria Math" panose="02040503050406030204" pitchFamily="18" charset="0"/>
                          <a:cs typeface="Cambria Math" panose="02040503050406030204" pitchFamily="18" charset="0"/>
                          <a:sym typeface="+mn-ea"/>
                        </a:rPr>
                        <m:t>0</m:t>
                      </m:r>
                      <m:r>
                        <a:rPr lang="en-US" altLang="zh-CN" i="1">
                          <a:latin typeface="Cambria Math" panose="02040503050406030204" pitchFamily="18" charset="0"/>
                          <a:cs typeface="Cambria Math" panose="02040503050406030204" pitchFamily="18" charset="0"/>
                          <a:sym typeface="+mn-ea"/>
                        </a:rPr>
                        <m:t>=</m:t>
                      </m:r>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sym typeface="+mn-ea"/>
                            </a:rPr>
                            <m:t>𝒘</m:t>
                          </m:r>
                        </m:e>
                      </m:d>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𝑟</m:t>
                          </m:r>
                        </m:e>
                        <m:sub>
                          <m:r>
                            <a:rPr lang="en-US" altLang="zh-CN" i="1">
                              <a:latin typeface="Cambria Math" panose="02040503050406030204" pitchFamily="18" charset="0"/>
                              <a:cs typeface="Cambria Math" panose="02040503050406030204" pitchFamily="18" charset="0"/>
                              <a:sym typeface="+mn-ea"/>
                            </a:rPr>
                            <m:t>𝑖</m:t>
                          </m:r>
                        </m:sub>
                      </m:sSub>
                    </m:oMath>
                  </m:oMathPara>
                </a14:m>
                <a:endParaRPr lang="en-US" altLang="zh-CN" i="1">
                  <a:latin typeface="Cambria Math" panose="02040503050406030204" pitchFamily="18" charset="0"/>
                  <a:cs typeface="Cambria Math" panose="02040503050406030204" pitchFamily="18" charset="0"/>
                  <a:sym typeface="+mn-ea"/>
                </a:endParaRPr>
              </a:p>
              <a:p>
                <a:pPr>
                  <a:lnSpc>
                    <a:spcPct val="30000"/>
                  </a:lnSpc>
                </a:pPr>
                <a:endParaRPr lang="en-US" altLang="zh-CN"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𝟎</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a:p>
                <a:pPr>
                  <a:lnSpc>
                    <a:spcPct val="20000"/>
                  </a:lnSpc>
                </a:pPr>
                <a:endParaRPr lang="zh-CN" altLang="en-US">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d>
                        <m:dPr>
                          <m:begChr m:val="|"/>
                          <m:endChr m:val="|"/>
                          <m:ctrlPr>
                            <a:rPr lang="zh-CN" altLang="en-US"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sym typeface="+mn-ea"/>
                            </a:rPr>
                            <m:t>𝒘</m:t>
                          </m:r>
                          <m:r>
                            <a:rPr lang="en-US" altLang="zh-CN" i="1">
                              <a:latin typeface="Cambria Math" panose="02040503050406030204" pitchFamily="18" charset="0"/>
                              <a:cs typeface="Cambria Math" panose="02040503050406030204" pitchFamily="18" charset="0"/>
                              <a:sym typeface="+mn-ea"/>
                            </a:rPr>
                            <m:t>∙</m:t>
                          </m:r>
                          <m:acc>
                            <m:accPr>
                              <m:chr m:val="⃗"/>
                              <m:ctrlPr>
                                <a:rPr lang="en-US" altLang="zh-CN" i="1">
                                  <a:latin typeface="Cambria Math" panose="02040503050406030204" pitchFamily="18" charset="0"/>
                                  <a:cs typeface="Cambria Math" panose="02040503050406030204" pitchFamily="18" charset="0"/>
                                  <a:sym typeface="+mn-ea"/>
                                </a:rPr>
                              </m:ctrlPr>
                            </m:accPr>
                            <m:e>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𝟎</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acc>
                        </m:e>
                      </m:d>
                      <m:r>
                        <a:rPr lang="en-US" altLang="zh-CN" b="1" i="1">
                          <a:latin typeface="Cambria Math" panose="02040503050406030204" pitchFamily="18" charset="0"/>
                          <a:cs typeface="Cambria Math" panose="02040503050406030204" pitchFamily="18" charset="0"/>
                        </a:rPr>
                        <m:t>=</m:t>
                      </m:r>
                      <m:d>
                        <m:dPr>
                          <m:begChr m:val="|"/>
                          <m:endChr m:val="|"/>
                          <m:ctrlPr>
                            <a:rPr lang="en-US" altLang="zh-CN" b="1" i="1">
                              <a:latin typeface="Cambria Math" panose="02040503050406030204" pitchFamily="18" charset="0"/>
                              <a:cs typeface="Cambria Math" panose="02040503050406030204" pitchFamily="18" charset="0"/>
                            </a:rPr>
                          </m:ctrlPr>
                        </m:dPr>
                        <m:e>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𝟎</m:t>
                              </m:r>
                            </m:sub>
                          </m:sSub>
                        </m:e>
                      </m:d>
                      <m:r>
                        <a:rPr lang="en-US" altLang="zh-CN" i="1">
                          <a:latin typeface="Cambria Math" panose="02040503050406030204" pitchFamily="18" charset="0"/>
                          <a:cs typeface="Cambria Math" panose="02040503050406030204" pitchFamily="18" charset="0"/>
                          <a:sym typeface="+mn-ea"/>
                        </a:rPr>
                        <m:t>=</m:t>
                      </m:r>
                      <m:d>
                        <m:dPr>
                          <m:begChr m:val="|"/>
                          <m:endChr m:val="|"/>
                          <m:ctrlPr>
                            <a:rPr lang="en-US" altLang="zh-CN" i="1">
                              <a:latin typeface="Cambria Math" panose="02040503050406030204" pitchFamily="18" charset="0"/>
                              <a:cs typeface="Cambria Math" panose="02040503050406030204" pitchFamily="18" charset="0"/>
                              <a:sym typeface="+mn-ea"/>
                            </a:rPr>
                          </m:ctrlPr>
                        </m:dPr>
                        <m:e>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e>
                      </m:d>
                    </m:oMath>
                  </m:oMathPara>
                </a14:m>
                <a:endParaRPr lang="en-US" altLang="zh-CN" i="1">
                  <a:latin typeface="Cambria Math" panose="02040503050406030204" pitchFamily="18" charset="0"/>
                  <a:cs typeface="Cambria Math" panose="02040503050406030204" pitchFamily="18" charset="0"/>
                  <a:sym typeface="+mn-ea"/>
                </a:endParaRPr>
              </a:p>
              <a:p>
                <a:pPr>
                  <a:lnSpc>
                    <a:spcPct val="30000"/>
                  </a:lnSpc>
                </a:pPr>
                <a:endParaRPr lang="zh-CN" altLang="en-US"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sym typeface="+mn-ea"/>
                            </a:rPr>
                          </m:ctrlPr>
                        </m:dPr>
                        <m:e>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e>
                      </m:d>
                      <m:r>
                        <a:rPr lang="en-US" altLang="zh-CN" i="1">
                          <a:latin typeface="Cambria Math" panose="02040503050406030204" pitchFamily="18" charset="0"/>
                          <a:cs typeface="Cambria Math" panose="02040503050406030204" pitchFamily="18" charset="0"/>
                          <a:sym typeface="+mn-ea"/>
                        </a:rPr>
                        <m:t>=</m:t>
                      </m:r>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sym typeface="+mn-ea"/>
                            </a:rPr>
                            <m:t>𝒘</m:t>
                          </m:r>
                        </m:e>
                      </m:d>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𝑟</m:t>
                          </m:r>
                        </m:e>
                        <m:sub>
                          <m:r>
                            <a:rPr lang="en-US" altLang="zh-CN" i="1">
                              <a:latin typeface="Cambria Math" panose="02040503050406030204" pitchFamily="18" charset="0"/>
                              <a:cs typeface="Cambria Math" panose="02040503050406030204" pitchFamily="18" charset="0"/>
                              <a:sym typeface="+mn-ea"/>
                            </a:rPr>
                            <m:t>𝑖</m:t>
                          </m:r>
                        </m:sub>
                      </m:sSub>
                    </m:oMath>
                  </m:oMathPara>
                </a14:m>
                <a:endParaRPr lang="en-US" altLang="zh-CN" i="1">
                  <a:latin typeface="Cambria Math" panose="02040503050406030204" pitchFamily="18" charset="0"/>
                  <a:cs typeface="Cambria Math" panose="02040503050406030204" pitchFamily="18" charset="0"/>
                  <a:sym typeface="+mn-ea"/>
                </a:endParaRPr>
              </a:p>
              <a:p>
                <a:pPr>
                  <a:lnSpc>
                    <a:spcPct val="30000"/>
                  </a:lnSpc>
                </a:pPr>
                <a:endParaRPr lang="en-US" altLang="zh-CN"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𝑟</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d>
                            <m:dPr>
                              <m:begChr m:val="|"/>
                              <m:endChr m:val="|"/>
                              <m:ctrlPr>
                                <a:rPr lang="en-US" altLang="zh-CN" i="1">
                                  <a:latin typeface="Cambria Math" panose="02040503050406030204" pitchFamily="18" charset="0"/>
                                  <a:cs typeface="Cambria Math" panose="02040503050406030204" pitchFamily="18" charset="0"/>
                                  <a:sym typeface="+mn-ea"/>
                                </a:rPr>
                              </m:ctrlPr>
                            </m:dPr>
                            <m:e>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e>
                          </m:d>
                        </m:num>
                        <m:den>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den>
                      </m:f>
                    </m:oMath>
                  </m:oMathPara>
                </a14:m>
                <a:endParaRPr lang="zh-CN" altLang="en-US">
                  <a:latin typeface="Cambria Math" panose="02040503050406030204" pitchFamily="18" charset="0"/>
                  <a:cs typeface="Cambria Math" panose="02040503050406030204" pitchFamily="18" charset="0"/>
                  <a:sym typeface="+mn-ea"/>
                </a:endParaRPr>
              </a:p>
            </p:txBody>
          </p:sp>
        </mc:Choice>
        <mc:Fallback>
          <p:sp>
            <p:nvSpPr>
              <p:cNvPr id="19" name="文本框 18"/>
              <p:cNvSpPr txBox="1">
                <a:spLocks noRot="1" noChangeAspect="1" noMove="1" noResize="1" noEditPoints="1" noAdjustHandles="1" noChangeArrowheads="1" noChangeShapeType="1" noTextEdit="1"/>
              </p:cNvSpPr>
              <p:nvPr/>
            </p:nvSpPr>
            <p:spPr>
              <a:xfrm>
                <a:off x="4527550" y="3966845"/>
                <a:ext cx="6645910" cy="2461260"/>
              </a:xfrm>
              <a:prstGeom prst="rect">
                <a:avLst/>
              </a:prstGeom>
              <a:blipFill rotWithShape="1">
                <a:blip r:embed="rId5"/>
                <a:stretch>
                  <a:fillRect/>
                </a:stretch>
              </a:blipFill>
            </p:spPr>
            <p:txBody>
              <a:bodyPr/>
              <a:lstStyle/>
              <a:p>
                <a:r>
                  <a:rPr lang="zh-CN" altLang="en-US">
                    <a:noFill/>
                  </a:rPr>
                  <a:t> </a:t>
                </a:r>
              </a:p>
            </p:txBody>
          </p:sp>
        </mc:Fallback>
      </mc:AlternateContent>
      <p:sp>
        <p:nvSpPr>
          <p:cNvPr id="9" name="矩形 8"/>
          <p:cNvSpPr/>
          <p:nvPr>
            <p:custDataLst>
              <p:tags r:id="rId6"/>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7"/>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5" name="文本框 4"/>
          <p:cNvSpPr txBox="1"/>
          <p:nvPr>
            <p:custDataLst>
              <p:tags r:id="rId8"/>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01625" y="1136650"/>
                <a:ext cx="11322050" cy="4886325"/>
              </a:xfrm>
              <a:prstGeom prst="rect">
                <a:avLst/>
              </a:prstGeom>
              <a:noFill/>
            </p:spPr>
            <p:txBody>
              <a:bodyPr wrap="square" rtlCol="0" anchor="t">
                <a:spAutoFit/>
              </a:bodyPr>
              <a:lstStyle/>
              <a:p>
                <a:pPr algn="ctr"/>
                <a:r>
                  <a:rPr lang="zh-CN" altLang="en-US">
                    <a:latin typeface="Cambria Math" panose="02040503050406030204" pitchFamily="18" charset="0"/>
                    <a:cs typeface="Cambria Math" panose="02040503050406030204" pitchFamily="18" charset="0"/>
                    <a:sym typeface="+mn-ea"/>
                  </a:rPr>
                  <a:t>若超平面</a:t>
                </a:r>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能将训练样本正确分类，即</a:t>
                </a:r>
                <a:endParaRPr lang="zh-CN" altLang="en-US">
                  <a:latin typeface="Cambria Math" panose="02040503050406030204" pitchFamily="18" charset="0"/>
                  <a:cs typeface="Cambria Math" panose="02040503050406030204" pitchFamily="18" charset="0"/>
                  <a:sym typeface="+mn-ea"/>
                </a:endParaRPr>
              </a:p>
              <a:p>
                <a:pPr>
                  <a:lnSpc>
                    <a:spcPct val="40000"/>
                  </a:lnSpc>
                </a:pPr>
                <a:endParaRPr lang="zh-CN" altLang="en-US"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sym typeface="+mn-ea"/>
                            </a:rPr>
                          </m:ctrlPr>
                        </m:dPr>
                        <m:e>
                          <m:eqArr>
                            <m:eqArrPr>
                              <m:ctrlPr>
                                <a:rPr lang="en-US" altLang="zh-CN" i="1">
                                  <a:latin typeface="Cambria Math" panose="02040503050406030204" pitchFamily="18" charset="0"/>
                                  <a:cs typeface="Cambria Math" panose="02040503050406030204" pitchFamily="18" charset="0"/>
                                  <a:sym typeface="+mn-ea"/>
                                </a:rPr>
                              </m:ctrlPr>
                            </m:eqArrPr>
                            <m:e>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&gt;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e>
                            <m:e>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&lt;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e>
                          </m:eqArr>
                        </m:e>
                      </m:d>
                    </m:oMath>
                  </m:oMathPara>
                </a14:m>
                <a:endParaRPr lang="en-US" altLang="zh-CN" i="1">
                  <a:latin typeface="Cambria Math" panose="02040503050406030204" pitchFamily="18" charset="0"/>
                  <a:cs typeface="Cambria Math" panose="02040503050406030204" pitchFamily="18" charset="0"/>
                  <a:sym typeface="+mn-ea"/>
                </a:endParaRPr>
              </a:p>
              <a:p>
                <a:pPr>
                  <a:lnSpc>
                    <a:spcPct val="70000"/>
                  </a:lnSpc>
                </a:pPr>
                <a:endParaRPr lang="zh-CN" altLang="en-US">
                  <a:latin typeface="Cambria Math" panose="02040503050406030204" pitchFamily="18" charset="0"/>
                  <a:cs typeface="Cambria Math" panose="02040503050406030204" pitchFamily="18" charset="0"/>
                </a:endParaRPr>
              </a:p>
              <a:p>
                <a:pPr algn="ctr"/>
                <a:r>
                  <a:rPr lang="zh-CN" altLang="en-US">
                    <a:latin typeface="Cambria Math" panose="02040503050406030204" pitchFamily="18" charset="0"/>
                    <a:cs typeface="Cambria Math" panose="02040503050406030204" pitchFamily="18" charset="0"/>
                  </a:rPr>
                  <a:t>因此点到直线的距离可化简为：</a:t>
                </a:r>
                <a:endParaRPr lang="zh-CN" altLang="en-US">
                  <a:latin typeface="Cambria Math" panose="02040503050406030204" pitchFamily="18" charset="0"/>
                  <a:cs typeface="Cambria Math" panose="02040503050406030204" pitchFamily="18" charset="0"/>
                </a:endParaRPr>
              </a:p>
              <a:p>
                <a:pPr algn="ctr">
                  <a:lnSpc>
                    <a:spcPct val="20000"/>
                  </a:lnSpc>
                </a:pPr>
                <a:endParaRPr lang="en-US" altLang="zh-CN" b="1" i="1">
                  <a:latin typeface="Cambria Math" panose="02040503050406030204" pitchFamily="18" charset="0"/>
                  <a:cs typeface="Cambria Math" panose="02040503050406030204" pitchFamily="18" charset="0"/>
                </a:endParaRPr>
              </a:p>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𝑟</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d>
                            <m:dPr>
                              <m:begChr m:val="|"/>
                              <m:endChr m:val="|"/>
                              <m:ctrlPr>
                                <a:rPr lang="en-US" altLang="zh-CN" i="1">
                                  <a:latin typeface="Cambria Math" panose="02040503050406030204" pitchFamily="18" charset="0"/>
                                  <a:cs typeface="Cambria Math" panose="02040503050406030204" pitchFamily="18" charset="0"/>
                                  <a:sym typeface="+mn-ea"/>
                                </a:rPr>
                              </m:ctrlPr>
                            </m:dPr>
                            <m:e>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e>
                          </m:d>
                        </m:num>
                        <m:den>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den>
                      </m:f>
                      <m:r>
                        <a:rPr lang="en-US" altLang="zh-CN" b="1"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sym typeface="+mn-ea"/>
                            </a:rPr>
                          </m:ctrlPr>
                        </m:fPr>
                        <m:num>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num>
                        <m:den>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den>
                      </m:f>
                    </m:oMath>
                  </m:oMathPara>
                </a14:m>
                <a:endParaRPr lang="en-US" altLang="zh-CN" b="1" i="1">
                  <a:latin typeface="Cambria Math" panose="02040503050406030204" pitchFamily="18" charset="0"/>
                  <a:cs typeface="Cambria Math" panose="02040503050406030204" pitchFamily="18" charset="0"/>
                </a:endParaRPr>
              </a:p>
              <a:p>
                <a:pPr>
                  <a:lnSpc>
                    <a:spcPct val="60000"/>
                  </a:lnSpc>
                </a:pPr>
                <a:endParaRPr lang="zh-CN" altLang="en-US">
                  <a:latin typeface="Cambria Math" panose="02040503050406030204" pitchFamily="18" charset="0"/>
                  <a:cs typeface="Cambria Math" panose="02040503050406030204" pitchFamily="18" charset="0"/>
                </a:endParaRPr>
              </a:p>
              <a:p>
                <a:pPr algn="ctr"/>
                <a:r>
                  <a:rPr lang="zh-CN" altLang="en-US">
                    <a:latin typeface="Cambria Math" panose="02040503050406030204" pitchFamily="18" charset="0"/>
                    <a:cs typeface="Cambria Math" panose="02040503050406030204" pitchFamily="18" charset="0"/>
                  </a:rPr>
                  <a:t>这里我们对</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oMath>
                </a14:m>
                <a:r>
                  <a:rPr lang="zh-CN" altLang="en-US">
                    <a:latin typeface="Cambria Math" panose="02040503050406030204" pitchFamily="18" charset="0"/>
                    <a:cs typeface="Cambria Math" panose="02040503050406030204" pitchFamily="18" charset="0"/>
                  </a:rPr>
                  <a:t>和</a:t>
                </a:r>
                <a14:m>
                  <m:oMath xmlns:m="http://schemas.openxmlformats.org/officeDocument/2006/math">
                    <m:r>
                      <a:rPr lang="zh-CN" altLang="en-US">
                        <a:latin typeface="Cambria Math" panose="02040503050406030204" pitchFamily="18" charset="0"/>
                        <a:cs typeface="Cambria Math" panose="02040503050406030204" pitchFamily="18" charset="0"/>
                      </a:rPr>
                      <m:t>𝑏</m:t>
                    </m:r>
                  </m:oMath>
                </a14:m>
                <a:r>
                  <a:rPr lang="zh-CN" altLang="en-US">
                    <a:latin typeface="Cambria Math" panose="02040503050406030204" pitchFamily="18" charset="0"/>
                    <a:cs typeface="Cambria Math" panose="02040503050406030204" pitchFamily="18" charset="0"/>
                  </a:rPr>
                  <a:t>进行一个缩放变换，则一定会存在新的超平面</a:t>
                </a:r>
                <a14:m>
                  <m:oMath xmlns:m="http://schemas.openxmlformats.org/officeDocument/2006/math">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使得：</a:t>
                </a:r>
                <a:endParaRPr lang="zh-CN" altLang="en-US">
                  <a:latin typeface="Cambria Math" panose="02040503050406030204" pitchFamily="18" charset="0"/>
                  <a:cs typeface="Cambria Math" panose="02040503050406030204" pitchFamily="18" charset="0"/>
                </a:endParaRPr>
              </a:p>
              <a:p>
                <a:pPr>
                  <a:lnSpc>
                    <a:spcPct val="40000"/>
                  </a:lnSpc>
                </a:pPr>
                <a:endParaRPr lang="zh-CN" altLang="en-US">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sym typeface="+mn-ea"/>
                            </a:rPr>
                          </m:ctrlPr>
                        </m:dPr>
                        <m:e>
                          <m:eqArr>
                            <m:eqArrPr>
                              <m:ctrlPr>
                                <a:rPr lang="en-US" altLang="zh-CN" i="1">
                                  <a:latin typeface="Cambria Math" panose="02040503050406030204" pitchFamily="18" charset="0"/>
                                  <a:cs typeface="Cambria Math" panose="02040503050406030204" pitchFamily="18" charset="0"/>
                                  <a:sym typeface="+mn-ea"/>
                                </a:rPr>
                              </m:ctrlPr>
                            </m:eqArrPr>
                            <m:e>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e>
                            <m:e>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e>
                          </m:eqArr>
                        </m:e>
                      </m:d>
                    </m:oMath>
                  </m:oMathPara>
                </a14:m>
                <a:endParaRPr lang="en-US" altLang="zh-CN" i="1">
                  <a:latin typeface="Cambria Math" panose="02040503050406030204" pitchFamily="18" charset="0"/>
                  <a:cs typeface="Cambria Math" panose="02040503050406030204" pitchFamily="18" charset="0"/>
                </a:endParaRPr>
              </a:p>
              <a:p>
                <a:pPr>
                  <a:lnSpc>
                    <a:spcPct val="70000"/>
                  </a:lnSpc>
                </a:pP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这里进行缩放变换后的条件相较于之前更为严苛，缩放变换的目的是为了后续公式的化简，最优超平面</a:t>
                </a:r>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应满足在所有超平面中距离该超平面</a:t>
                </a:r>
                <a:r>
                  <a:rPr lang="zh-CN" altLang="en-US">
                    <a:solidFill>
                      <a:srgbClr val="FF0000"/>
                    </a:solidFill>
                    <a:latin typeface="Cambria Math" panose="02040503050406030204" pitchFamily="18" charset="0"/>
                    <a:cs typeface="Cambria Math" panose="02040503050406030204" pitchFamily="18" charset="0"/>
                    <a:sym typeface="+mn-ea"/>
                  </a:rPr>
                  <a:t>最近</a:t>
                </a:r>
                <a:r>
                  <a:rPr lang="zh-CN" altLang="en-US">
                    <a:latin typeface="Cambria Math" panose="02040503050406030204" pitchFamily="18" charset="0"/>
                    <a:cs typeface="Cambria Math" panose="02040503050406030204" pitchFamily="18" charset="0"/>
                    <a:sym typeface="+mn-ea"/>
                  </a:rPr>
                  <a:t>的两个正负样本到超平面的距离之和</a:t>
                </a:r>
                <a:r>
                  <a:rPr lang="zh-CN" altLang="en-US">
                    <a:solidFill>
                      <a:schemeClr val="accent6"/>
                    </a:solidFill>
                    <a:latin typeface="Cambria Math" panose="02040503050406030204" pitchFamily="18" charset="0"/>
                    <a:cs typeface="Cambria Math" panose="02040503050406030204" pitchFamily="18" charset="0"/>
                    <a:sym typeface="+mn-ea"/>
                  </a:rPr>
                  <a:t>最大</a:t>
                </a:r>
                <a:r>
                  <a:rPr lang="zh-CN" altLang="en-US">
                    <a:latin typeface="Cambria Math" panose="02040503050406030204" pitchFamily="18" charset="0"/>
                    <a:cs typeface="Cambria Math" panose="02040503050406030204" pitchFamily="18" charset="0"/>
                    <a:sym typeface="+mn-ea"/>
                  </a:rPr>
                  <a:t>：</a:t>
                </a:r>
                <a:endParaRPr lang="zh-CN" altLang="en-US">
                  <a:latin typeface="Cambria Math" panose="02040503050406030204" pitchFamily="18" charset="0"/>
                  <a:cs typeface="Cambria Math" panose="02040503050406030204" pitchFamily="18" charset="0"/>
                  <a:sym typeface="+mn-ea"/>
                </a:endParaRPr>
              </a:p>
              <a:p>
                <a:pPr>
                  <a:lnSpc>
                    <a:spcPct val="20000"/>
                  </a:lnSpc>
                </a:pPr>
                <a:endParaRPr lang="zh-CN" altLang="en-US">
                  <a:latin typeface="Cambria Math" panose="02040503050406030204" pitchFamily="18" charset="0"/>
                  <a:cs typeface="Cambria Math" panose="02040503050406030204" pitchFamily="18" charset="0"/>
                  <a:sym typeface="+mn-ea"/>
                </a:endParaRPr>
              </a:p>
              <a:p>
                <a:pPr>
                  <a:lnSpc>
                    <a:spcPct val="0"/>
                  </a:lnSpc>
                </a:pPr>
                <a:endParaRPr lang="zh-CN" altLang="en-US">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i="1">
                          <a:solidFill>
                            <a:schemeClr val="accent6"/>
                          </a:solidFill>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m:t>
                      </m:r>
                      <m:r>
                        <a:rPr lang="en-US" altLang="zh-CN" i="1">
                          <a:solidFill>
                            <a:srgbClr val="FF0000"/>
                          </a:solidFill>
                          <a:latin typeface="Cambria Math" panose="02040503050406030204" pitchFamily="18" charset="0"/>
                          <a:cs typeface="Cambria Math" panose="02040503050406030204" pitchFamily="18" charset="0"/>
                          <a:sym typeface="+mn-ea"/>
                        </a:rPr>
                        <m:t>𝑚𝑖𝑛</m:t>
                      </m:r>
                      <m:nary>
                        <m:naryPr>
                          <m:chr m:val="∑"/>
                          <m:limLoc m:val="undOvr"/>
                          <m:ctrlPr>
                            <a:rPr lang="en-US" altLang="zh-CN" i="1">
                              <a:latin typeface="Cambria Math" panose="02040503050406030204" pitchFamily="18" charset="0"/>
                              <a:cs typeface="Cambria Math" panose="02040503050406030204" pitchFamily="18" charset="0"/>
                              <a:sym typeface="+mn-ea"/>
                            </a:rPr>
                          </m:ctrlPr>
                        </m:naryPr>
                        <m:sub>
                          <m:r>
                            <a:rPr lang="en-US" altLang="zh-CN" i="1">
                              <a:latin typeface="Cambria Math" panose="02040503050406030204" pitchFamily="18" charset="0"/>
                              <a:cs typeface="Cambria Math" panose="02040503050406030204" pitchFamily="18" charset="0"/>
                              <a:sym typeface="+mn-ea"/>
                            </a:rPr>
                            <m:t>𝑖</m:t>
                          </m:r>
                        </m:sub>
                        <m:sup>
                          <m:r>
                            <a:rPr lang="en-US" altLang="zh-CN" i="1">
                              <a:latin typeface="Cambria Math" panose="02040503050406030204" pitchFamily="18" charset="0"/>
                              <a:cs typeface="Cambria Math" panose="02040503050406030204" pitchFamily="18" charset="0"/>
                              <a:sym typeface="+mn-ea"/>
                            </a:rPr>
                            <m:t>2</m:t>
                          </m:r>
                        </m:sup>
                        <m:e>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𝑟</m:t>
                              </m:r>
                            </m:e>
                            <m:sub>
                              <m:r>
                                <a:rPr lang="en-US" altLang="zh-CN" i="1">
                                  <a:latin typeface="Cambria Math" panose="02040503050406030204" pitchFamily="18" charset="0"/>
                                  <a:cs typeface="Cambria Math" panose="02040503050406030204" pitchFamily="18" charset="0"/>
                                  <a:sym typeface="+mn-ea"/>
                                </a:rPr>
                                <m:t>𝑖</m:t>
                              </m:r>
                            </m:sub>
                          </m:sSub>
                        </m:e>
                      </m:nary>
                      <m:r>
                        <a:rPr lang="en-US" altLang="zh-CN" i="1">
                          <a:latin typeface="Cambria Math" panose="02040503050406030204" pitchFamily="18" charset="0"/>
                          <a:cs typeface="Cambria Math" panose="02040503050406030204" pitchFamily="18" charset="0"/>
                          <a:sym typeface="+mn-ea"/>
                        </a:rPr>
                        <m:t>)=</m:t>
                      </m:r>
                      <m:r>
                        <a:rPr lang="en-US" altLang="zh-CN" i="1">
                          <a:solidFill>
                            <a:schemeClr val="accent6"/>
                          </a:solidFill>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m:t>
                      </m:r>
                      <m:r>
                        <a:rPr lang="en-US" altLang="zh-CN" i="1">
                          <a:solidFill>
                            <a:srgbClr val="FF0000"/>
                          </a:solidFill>
                          <a:latin typeface="Cambria Math" panose="02040503050406030204" pitchFamily="18" charset="0"/>
                          <a:cs typeface="Cambria Math" panose="02040503050406030204" pitchFamily="18" charset="0"/>
                          <a:sym typeface="+mn-ea"/>
                        </a:rPr>
                        <m:t>𝑚𝑖𝑛</m:t>
                      </m:r>
                      <m:nary>
                        <m:naryPr>
                          <m:chr m:val="∑"/>
                          <m:limLoc m:val="undOvr"/>
                          <m:ctrlPr>
                            <a:rPr lang="en-US" altLang="zh-CN" i="1">
                              <a:latin typeface="Cambria Math" panose="02040503050406030204" pitchFamily="18" charset="0"/>
                              <a:cs typeface="Cambria Math" panose="02040503050406030204" pitchFamily="18" charset="0"/>
                              <a:sym typeface="+mn-ea"/>
                            </a:rPr>
                          </m:ctrlPr>
                        </m:naryPr>
                        <m:sub>
                          <m:r>
                            <a:rPr lang="en-US" altLang="zh-CN" i="1">
                              <a:latin typeface="Cambria Math" panose="02040503050406030204" pitchFamily="18" charset="0"/>
                              <a:cs typeface="Cambria Math" panose="02040503050406030204" pitchFamily="18" charset="0"/>
                              <a:sym typeface="+mn-ea"/>
                            </a:rPr>
                            <m:t>𝑖</m:t>
                          </m:r>
                        </m:sub>
                        <m:sup>
                          <m:r>
                            <a:rPr lang="en-US" altLang="zh-CN" i="1">
                              <a:latin typeface="Cambria Math" panose="02040503050406030204" pitchFamily="18" charset="0"/>
                              <a:cs typeface="Cambria Math" panose="02040503050406030204" pitchFamily="18" charset="0"/>
                              <a:sym typeface="+mn-ea"/>
                            </a:rPr>
                            <m:t>2</m:t>
                          </m:r>
                        </m:sup>
                        <m:e>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num>
                            <m:den>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den>
                          </m:f>
                          <m:r>
                            <a:rPr lang="en-US" altLang="zh-CN" i="1">
                              <a:latin typeface="Cambria Math" panose="02040503050406030204" pitchFamily="18" charset="0"/>
                              <a:cs typeface="Cambria Math" panose="02040503050406030204" pitchFamily="18" charset="0"/>
                              <a:sym typeface="+mn-ea"/>
                            </a:rPr>
                            <m:t>]</m:t>
                          </m:r>
                        </m:e>
                      </m:nary>
                      <m:r>
                        <a:rPr lang="en-US" altLang="zh-CN" i="1">
                          <a:latin typeface="Cambria Math" panose="02040503050406030204" pitchFamily="18" charset="0"/>
                          <a:cs typeface="Cambria Math" panose="02040503050406030204" pitchFamily="18" charset="0"/>
                          <a:sym typeface="+mn-ea"/>
                        </a:rPr>
                        <m:t>}</m:t>
                      </m:r>
                    </m:oMath>
                  </m:oMathPara>
                </a14:m>
                <a:endParaRPr lang="zh-CN" altLang="en-US">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1136650"/>
                <a:ext cx="11322050" cy="488632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404235" y="565467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3404235" y="5654675"/>
                <a:ext cx="80899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5288280" y="565467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5288280" y="5654675"/>
                <a:ext cx="808990" cy="368300"/>
              </a:xfrm>
              <a:prstGeom prst="rect">
                <a:avLst/>
              </a:prstGeom>
              <a:blipFill rotWithShape="1">
                <a:blip r:embed="rId2"/>
                <a:stretch>
                  <a:fillRect/>
                </a:stretch>
              </a:blipFill>
            </p:spPr>
            <p:txBody>
              <a:bodyPr/>
              <a:lstStyle/>
              <a:p>
                <a:r>
                  <a:rPr lang="zh-CN" altLang="en-US">
                    <a:noFill/>
                  </a:rPr>
                  <a:t> </a:t>
                </a:r>
              </a:p>
            </p:txBody>
          </p:sp>
        </mc:Fallback>
      </mc:AlternateContent>
      <p:sp>
        <p:nvSpPr>
          <p:cNvPr id="9" name="矩形 8"/>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8" name="文本框 7"/>
          <p:cNvSpPr txBox="1"/>
          <p:nvPr>
            <p:custDataLst>
              <p:tags r:id="rId5"/>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01625" y="1136650"/>
                <a:ext cx="11322050" cy="5708015"/>
              </a:xfrm>
              <a:prstGeom prst="rect">
                <a:avLst/>
              </a:prstGeom>
              <a:noFill/>
            </p:spPr>
            <p:txBody>
              <a:bodyPr wrap="square" rtlCol="0" anchor="t">
                <a:spAutoFit/>
              </a:bodyPr>
              <a:lstStyle/>
              <a:p>
                <a:r>
                  <a:rPr lang="zh-CN" altLang="en-US">
                    <a:latin typeface="Cambria Math" panose="02040503050406030204" pitchFamily="18" charset="0"/>
                    <a:cs typeface="Cambria Math" panose="02040503050406030204" pitchFamily="18" charset="0"/>
                    <a:sym typeface="+mn-ea"/>
                  </a:rPr>
                  <a:t>由于缩放变换后的超平面，</a:t>
                </a:r>
                <a14:m>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sym typeface="+mn-ea"/>
                          </a:rPr>
                        </m:ctrlPr>
                      </m:dPr>
                      <m:e>
                        <m:eqArr>
                          <m:eqArrPr>
                            <m:ctrlPr>
                              <a:rPr lang="en-US" altLang="zh-CN" i="1">
                                <a:latin typeface="Cambria Math" panose="02040503050406030204" pitchFamily="18" charset="0"/>
                                <a:cs typeface="Cambria Math" panose="02040503050406030204" pitchFamily="18" charset="0"/>
                                <a:sym typeface="+mn-ea"/>
                              </a:rPr>
                            </m:ctrlPr>
                          </m:eqArrPr>
                          <m:e>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e>
                          <m:e>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e>
                        </m:eqArr>
                      </m:e>
                    </m:d>
                  </m:oMath>
                </a14:m>
                <a:r>
                  <a:rPr lang="zh-CN" altLang="en-US">
                    <a:latin typeface="Cambria Math" panose="02040503050406030204" pitchFamily="18" charset="0"/>
                    <a:cs typeface="Cambria Math" panose="02040503050406030204" pitchFamily="18" charset="0"/>
                  </a:rPr>
                  <a:t>，因此对于任意样本</a:t>
                </a:r>
                <a:r>
                  <a:rPr lang="en-US" altLang="zh-CN">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，均有</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oMath>
                </a14:m>
                <a:endParaRPr lang="en-US" altLang="zh-CN" i="1">
                  <a:latin typeface="Cambria Math" panose="02040503050406030204" pitchFamily="18" charset="0"/>
                  <a:cs typeface="Cambria Math" panose="02040503050406030204" pitchFamily="18" charset="0"/>
                  <a:sym typeface="+mn-ea"/>
                </a:endParaRPr>
              </a:p>
              <a:p>
                <a:pPr>
                  <a:lnSpc>
                    <a:spcPct val="20000"/>
                  </a:lnSpc>
                </a:pPr>
                <a:endParaRPr lang="en-US" altLang="zh-CN"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𝑚𝑖𝑛</m:t>
                      </m:r>
                      <m:nary>
                        <m:naryPr>
                          <m:chr m:val="∑"/>
                          <m:limLoc m:val="undOvr"/>
                          <m:ctrlPr>
                            <a:rPr lang="en-US" altLang="zh-CN" i="1">
                              <a:latin typeface="Cambria Math" panose="02040503050406030204" pitchFamily="18" charset="0"/>
                              <a:cs typeface="Cambria Math" panose="02040503050406030204" pitchFamily="18" charset="0"/>
                              <a:sym typeface="+mn-ea"/>
                            </a:rPr>
                          </m:ctrlPr>
                        </m:naryPr>
                        <m:sub>
                          <m:r>
                            <a:rPr lang="en-US" altLang="zh-CN" i="1">
                              <a:latin typeface="Cambria Math" panose="02040503050406030204" pitchFamily="18" charset="0"/>
                              <a:cs typeface="Cambria Math" panose="02040503050406030204" pitchFamily="18" charset="0"/>
                              <a:sym typeface="+mn-ea"/>
                            </a:rPr>
                            <m:t>𝑖</m:t>
                          </m:r>
                        </m:sub>
                        <m:sup>
                          <m:r>
                            <a:rPr lang="en-US" altLang="zh-CN" i="1">
                              <a:latin typeface="Cambria Math" panose="02040503050406030204" pitchFamily="18" charset="0"/>
                              <a:cs typeface="Cambria Math" panose="02040503050406030204" pitchFamily="18" charset="0"/>
                              <a:sym typeface="+mn-ea"/>
                            </a:rPr>
                            <m:t>2</m:t>
                          </m:r>
                        </m:sup>
                        <m:e>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𝑟</m:t>
                              </m:r>
                            </m:e>
                            <m:sub>
                              <m:r>
                                <a:rPr lang="en-US" altLang="zh-CN" i="1">
                                  <a:latin typeface="Cambria Math" panose="02040503050406030204" pitchFamily="18" charset="0"/>
                                  <a:cs typeface="Cambria Math" panose="02040503050406030204" pitchFamily="18" charset="0"/>
                                  <a:sym typeface="+mn-ea"/>
                                </a:rPr>
                                <m:t>𝑖</m:t>
                              </m:r>
                            </m:sub>
                          </m:sSub>
                        </m:e>
                      </m:nary>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𝑚𝑖𝑛</m:t>
                      </m:r>
                      <m:nary>
                        <m:naryPr>
                          <m:chr m:val="∑"/>
                          <m:limLoc m:val="undOvr"/>
                          <m:ctrlPr>
                            <a:rPr lang="en-US" altLang="zh-CN" i="1">
                              <a:latin typeface="Cambria Math" panose="02040503050406030204" pitchFamily="18" charset="0"/>
                              <a:cs typeface="Cambria Math" panose="02040503050406030204" pitchFamily="18" charset="0"/>
                              <a:sym typeface="+mn-ea"/>
                            </a:rPr>
                          </m:ctrlPr>
                        </m:naryPr>
                        <m:sub>
                          <m:r>
                            <a:rPr lang="en-US" altLang="zh-CN" i="1">
                              <a:latin typeface="Cambria Math" panose="02040503050406030204" pitchFamily="18" charset="0"/>
                              <a:cs typeface="Cambria Math" panose="02040503050406030204" pitchFamily="18" charset="0"/>
                              <a:sym typeface="+mn-ea"/>
                            </a:rPr>
                            <m:t>𝑖</m:t>
                          </m:r>
                        </m:sub>
                        <m:sup>
                          <m:r>
                            <a:rPr lang="en-US" altLang="zh-CN" i="1">
                              <a:latin typeface="Cambria Math" panose="02040503050406030204" pitchFamily="18" charset="0"/>
                              <a:cs typeface="Cambria Math" panose="02040503050406030204" pitchFamily="18" charset="0"/>
                              <a:sym typeface="+mn-ea"/>
                            </a:rPr>
                            <m:t>2</m:t>
                          </m:r>
                        </m:sup>
                        <m:e>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num>
                            <m:den>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den>
                          </m:f>
                          <m:r>
                            <a:rPr lang="en-US" altLang="zh-CN" i="1">
                              <a:latin typeface="Cambria Math" panose="02040503050406030204" pitchFamily="18" charset="0"/>
                              <a:cs typeface="Cambria Math" panose="02040503050406030204" pitchFamily="18" charset="0"/>
                              <a:sym typeface="+mn-ea"/>
                            </a:rPr>
                            <m:t>]</m:t>
                          </m:r>
                        </m:e>
                      </m:nary>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𝑚𝑎𝑥</m:t>
                      </m:r>
                      <m:f>
                        <m:fPr>
                          <m:ctrlPr>
                            <a:rPr lang="en-US" altLang="zh-CN" i="1">
                              <a:latin typeface="Cambria Math" panose="02040503050406030204" pitchFamily="18" charset="0"/>
                              <a:cs typeface="Cambria Math" panose="02040503050406030204" pitchFamily="18" charset="0"/>
                              <a:sym typeface="+mn-ea"/>
                            </a:rPr>
                          </m:ctrlPr>
                        </m:fPr>
                        <m:num>
                          <m:r>
                            <a:rPr lang="en-US" altLang="zh-CN" i="1">
                              <a:latin typeface="Cambria Math" panose="02040503050406030204" pitchFamily="18" charset="0"/>
                              <a:cs typeface="Cambria Math" panose="02040503050406030204" pitchFamily="18" charset="0"/>
                              <a:sym typeface="+mn-ea"/>
                            </a:rPr>
                            <m:t>2</m:t>
                          </m:r>
                        </m:num>
                        <m:den>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den>
                      </m:f>
                    </m:oMath>
                  </m:oMathPara>
                </a14:m>
                <a:endParaRPr lang="en-US" altLang="zh-CN" i="1">
                  <a:latin typeface="Cambria Math" panose="02040503050406030204" pitchFamily="18" charset="0"/>
                  <a:cs typeface="Cambria Math" panose="02040503050406030204" pitchFamily="18" charset="0"/>
                  <a:sym typeface="+mn-ea"/>
                </a:endParaRPr>
              </a:p>
              <a:p>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此时不要忘记该超平面</a:t>
                </a:r>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应当满足约束条件</a:t>
                </a:r>
                <a14:m>
                  <m:oMath xmlns:m="http://schemas.openxmlformats.org/officeDocument/2006/math">
                    <m:sSub>
                      <m:sSubPr>
                        <m:ctrlPr>
                          <a:rPr lang="zh-CN" altLang="en-US" i="1">
                            <a:latin typeface="Cambria Math" panose="02040503050406030204" pitchFamily="18" charset="0"/>
                            <a:cs typeface="Cambria Math" panose="02040503050406030204" pitchFamily="18" charset="0"/>
                            <a:sym typeface="+mn-ea"/>
                          </a:rPr>
                        </m:ctrlPr>
                      </m:sSubPr>
                      <m:e>
                        <m:r>
                          <a:rPr lang="zh-CN" altLang="en-US">
                            <a:latin typeface="Cambria Math" panose="02040503050406030204" pitchFamily="18" charset="0"/>
                            <a:cs typeface="Cambria Math" panose="02040503050406030204" pitchFamily="18" charset="0"/>
                            <a:sym typeface="+mn-ea"/>
                          </a:rPr>
                          <m:t>𝑦</m:t>
                        </m:r>
                      </m:e>
                      <m:sub>
                        <m:r>
                          <a:rPr lang="zh-CN" altLang="en-US">
                            <a:latin typeface="Cambria Math" panose="02040503050406030204" pitchFamily="18" charset="0"/>
                            <a:cs typeface="Cambria Math" panose="02040503050406030204" pitchFamily="18" charset="0"/>
                            <a:sym typeface="+mn-ea"/>
                          </a:rPr>
                          <m:t>𝑖</m:t>
                        </m:r>
                      </m:sub>
                    </m:sSub>
                    <m:r>
                      <a:rPr lang="zh-CN" altLang="en-US">
                        <a:latin typeface="Cambria Math" panose="02040503050406030204" pitchFamily="18" charset="0"/>
                        <a:cs typeface="Cambria Math" panose="02040503050406030204" pitchFamily="18" charset="0"/>
                        <a:sym typeface="+mn-ea"/>
                      </a:rPr>
                      <m:t>(</m:t>
                    </m:r>
                    <m:sSup>
                      <m:sSupPr>
                        <m:ctrlPr>
                          <a:rPr lang="zh-CN" altLang="en-US" i="1">
                            <a:latin typeface="Cambria Math" panose="02040503050406030204" pitchFamily="18" charset="0"/>
                            <a:cs typeface="Cambria Math" panose="02040503050406030204" pitchFamily="18" charset="0"/>
                            <a:sym typeface="+mn-ea"/>
                          </a:rPr>
                        </m:ctrlPr>
                      </m:sSupPr>
                      <m:e>
                        <m:r>
                          <a:rPr lang="zh-CN" altLang="en-US">
                            <a:latin typeface="Cambria Math" panose="02040503050406030204" pitchFamily="18" charset="0"/>
                            <a:cs typeface="Cambria Math" panose="02040503050406030204" pitchFamily="18" charset="0"/>
                            <a:sym typeface="+mn-ea"/>
                          </a:rPr>
                          <m:t>𝒘</m:t>
                        </m:r>
                      </m:e>
                      <m:sup>
                        <m:r>
                          <a:rPr lang="zh-CN" altLang="en-US">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oMath>
                </a14:m>
                <a:r>
                  <a:rPr lang="zh-CN" altLang="en-US">
                    <a:latin typeface="Cambria Math" panose="02040503050406030204" pitchFamily="18" charset="0"/>
                    <a:cs typeface="Cambria Math" panose="02040503050406030204" pitchFamily="18" charset="0"/>
                    <a:sym typeface="+mn-ea"/>
                  </a:rPr>
                  <a:t>，因此最终我们求解的最优超平面可表示为：</a:t>
                </a:r>
                <a:endParaRPr lang="zh-CN" altLang="en-US">
                  <a:latin typeface="Cambria Math" panose="02040503050406030204" pitchFamily="18" charset="0"/>
                  <a:cs typeface="Cambria Math" panose="02040503050406030204" pitchFamily="18" charset="0"/>
                  <a:sym typeface="+mn-ea"/>
                </a:endParaRPr>
              </a:p>
              <a:p>
                <a:pPr>
                  <a:lnSpc>
                    <a:spcPct val="30000"/>
                  </a:lnSpc>
                </a:pPr>
                <a:endParaRPr lang="zh-CN" altLang="en-US">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𝑚𝑎𝑥</m:t>
                      </m:r>
                      <m:f>
                        <m:fPr>
                          <m:ctrlPr>
                            <a:rPr lang="en-US" altLang="zh-CN" i="1">
                              <a:latin typeface="Cambria Math" panose="02040503050406030204" pitchFamily="18" charset="0"/>
                              <a:cs typeface="Cambria Math" panose="02040503050406030204" pitchFamily="18" charset="0"/>
                              <a:sym typeface="+mn-ea"/>
                            </a:rPr>
                          </m:ctrlPr>
                        </m:fPr>
                        <m:num>
                          <m:r>
                            <a:rPr lang="en-US" altLang="zh-CN" i="1">
                              <a:latin typeface="Cambria Math" panose="02040503050406030204" pitchFamily="18" charset="0"/>
                              <a:cs typeface="Cambria Math" panose="02040503050406030204" pitchFamily="18" charset="0"/>
                              <a:sym typeface="+mn-ea"/>
                            </a:rPr>
                            <m:t>2</m:t>
                          </m:r>
                        </m:num>
                        <m:den>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den>
                      </m:f>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b="1">
                  <a:latin typeface="Cambria Math" panose="02040503050406030204" pitchFamily="18" charset="0"/>
                  <a:cs typeface="Cambria Math" panose="02040503050406030204" pitchFamily="18" charset="0"/>
                  <a:sym typeface="+mn-ea"/>
                </a:endParaRPr>
              </a:p>
              <a:p>
                <a:endParaRPr lang="zh-CN" altLang="en-US" b="1">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为了得到最优超平面，最大化</a:t>
                </a:r>
                <a14:m>
                  <m:oMath xmlns:m="http://schemas.openxmlformats.org/officeDocument/2006/math">
                    <m:f>
                      <m:fPr>
                        <m:ctrlPr>
                          <a:rPr lang="en-US" altLang="zh-CN" sz="2400" i="1">
                            <a:latin typeface="Cambria Math" panose="02040503050406030204" pitchFamily="18" charset="0"/>
                            <a:cs typeface="Cambria Math" panose="02040503050406030204" pitchFamily="18" charset="0"/>
                            <a:sym typeface="+mn-ea"/>
                          </a:rPr>
                        </m:ctrlPr>
                      </m:fPr>
                      <m:num>
                        <m:r>
                          <a:rPr lang="en-US" altLang="zh-CN" sz="2400" i="1">
                            <a:latin typeface="Cambria Math" panose="02040503050406030204" pitchFamily="18" charset="0"/>
                            <a:cs typeface="Cambria Math" panose="02040503050406030204" pitchFamily="18" charset="0"/>
                            <a:sym typeface="+mn-ea"/>
                          </a:rPr>
                          <m:t>2</m:t>
                        </m:r>
                      </m:num>
                      <m:den>
                        <m:d>
                          <m:dPr>
                            <m:begChr m:val="‖"/>
                            <m:endChr m:val="‖"/>
                            <m:ctrlPr>
                              <a:rPr lang="en-US" altLang="zh-CN" sz="2400" i="1">
                                <a:latin typeface="Cambria Math" panose="02040503050406030204" pitchFamily="18" charset="0"/>
                                <a:cs typeface="Cambria Math" panose="02040503050406030204" pitchFamily="18" charset="0"/>
                                <a:sym typeface="+mn-ea"/>
                              </a:rPr>
                            </m:ctrlPr>
                          </m:dPr>
                          <m:e>
                            <m:r>
                              <a:rPr lang="en-US" altLang="zh-CN" sz="2400" b="1" i="1">
                                <a:latin typeface="Cambria Math" panose="02040503050406030204" pitchFamily="18" charset="0"/>
                                <a:cs typeface="Cambria Math" panose="02040503050406030204" pitchFamily="18" charset="0"/>
                              </a:rPr>
                              <m:t>𝒘</m:t>
                            </m:r>
                          </m:e>
                        </m:d>
                      </m:den>
                    </m:f>
                  </m:oMath>
                </a14:m>
                <a:r>
                  <a:rPr lang="zh-CN" altLang="en-US">
                    <a:latin typeface="Cambria Math" panose="02040503050406030204" pitchFamily="18" charset="0"/>
                    <a:cs typeface="Cambria Math" panose="02040503050406030204" pitchFamily="18" charset="0"/>
                  </a:rPr>
                  <a:t>等同于最小化</a:t>
                </a:r>
                <a14:m>
                  <m:oMath xmlns:m="http://schemas.openxmlformats.org/officeDocument/2006/math">
                    <m:f>
                      <m:fPr>
                        <m:ctrlPr>
                          <a:rPr lang="en-US" altLang="zh-CN" sz="2400" i="1">
                            <a:latin typeface="Cambria Math" panose="02040503050406030204" pitchFamily="18" charset="0"/>
                            <a:cs typeface="Cambria Math" panose="02040503050406030204" pitchFamily="18" charset="0"/>
                          </a:rPr>
                        </m:ctrlPr>
                      </m:fPr>
                      <m:num>
                        <m:r>
                          <a:rPr lang="en-US" altLang="zh-CN" sz="2400" i="1">
                            <a:latin typeface="Cambria Math" panose="02040503050406030204" pitchFamily="18" charset="0"/>
                            <a:cs typeface="Cambria Math" panose="02040503050406030204" pitchFamily="18" charset="0"/>
                          </a:rPr>
                          <m:t>1</m:t>
                        </m:r>
                      </m:num>
                      <m:den>
                        <m:r>
                          <a:rPr lang="en-US" altLang="zh-CN" sz="2400" i="1">
                            <a:latin typeface="Cambria Math" panose="02040503050406030204" pitchFamily="18" charset="0"/>
                            <a:cs typeface="Cambria Math" panose="02040503050406030204" pitchFamily="18" charset="0"/>
                          </a:rPr>
                          <m:t>2</m:t>
                        </m:r>
                      </m:den>
                    </m:f>
                    <m:sSup>
                      <m:sSupPr>
                        <m:ctrlPr>
                          <a:rPr lang="en-US" altLang="zh-CN" sz="2400" i="1">
                            <a:latin typeface="Cambria Math" panose="02040503050406030204" pitchFamily="18" charset="0"/>
                            <a:cs typeface="Cambria Math" panose="02040503050406030204" pitchFamily="18" charset="0"/>
                          </a:rPr>
                        </m:ctrlPr>
                      </m:sSupPr>
                      <m:e>
                        <m:d>
                          <m:dPr>
                            <m:begChr m:val="‖"/>
                            <m:endChr m:val="‖"/>
                            <m:ctrlPr>
                              <a:rPr lang="en-US" altLang="zh-CN" sz="2400" i="1">
                                <a:latin typeface="Cambria Math" panose="02040503050406030204" pitchFamily="18" charset="0"/>
                                <a:cs typeface="Cambria Math" panose="02040503050406030204" pitchFamily="18" charset="0"/>
                                <a:sym typeface="+mn-ea"/>
                              </a:rPr>
                            </m:ctrlPr>
                          </m:dPr>
                          <m:e>
                            <m:r>
                              <a:rPr lang="en-US" altLang="zh-CN" sz="2400" b="1" i="1">
                                <a:latin typeface="Cambria Math" panose="02040503050406030204" pitchFamily="18" charset="0"/>
                                <a:cs typeface="Cambria Math" panose="02040503050406030204" pitchFamily="18" charset="0"/>
                              </a:rPr>
                              <m:t>𝒘</m:t>
                            </m:r>
                          </m:e>
                        </m:d>
                      </m:e>
                      <m:sup>
                        <m:r>
                          <a:rPr lang="en-US" altLang="zh-CN" sz="2400" i="1">
                            <a:latin typeface="Cambria Math" panose="02040503050406030204" pitchFamily="18" charset="0"/>
                            <a:cs typeface="Cambria Math" panose="02040503050406030204" pitchFamily="18" charset="0"/>
                          </a:rPr>
                          <m:t>2</m:t>
                        </m:r>
                      </m:sup>
                    </m:sSup>
                  </m:oMath>
                </a14:m>
                <a:r>
                  <a:rPr lang="en-US" altLang="zh-CN" sz="1800">
                    <a:latin typeface="Cambria Math" panose="02040503050406030204" pitchFamily="18" charset="0"/>
                    <a:cs typeface="Cambria Math" panose="02040503050406030204" pitchFamily="18" charset="0"/>
                  </a:rPr>
                  <a:t>(</a:t>
                </a:r>
                <a:r>
                  <a:rPr lang="zh-CN" altLang="en-US" sz="1800">
                    <a:latin typeface="Cambria Math" panose="02040503050406030204" pitchFamily="18" charset="0"/>
                    <a:cs typeface="Cambria Math" panose="02040503050406030204" pitchFamily="18" charset="0"/>
                  </a:rPr>
                  <a:t>系数设置为</a:t>
                </a:r>
                <a14:m>
                  <m:oMath xmlns:m="http://schemas.openxmlformats.org/officeDocument/2006/math">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oMath>
                </a14:m>
                <a:r>
                  <a:rPr lang="zh-CN" altLang="en-US">
                    <a:latin typeface="Cambria Math" panose="02040503050406030204" pitchFamily="18" charset="0"/>
                    <a:cs typeface="Cambria Math" panose="02040503050406030204" pitchFamily="18" charset="0"/>
                  </a:rPr>
                  <a:t>也是为了后续公式的简化</a:t>
                </a:r>
                <a:r>
                  <a:rPr lang="en-US" altLang="zh-CN" sz="1800">
                    <a:latin typeface="Cambria Math" panose="02040503050406030204" pitchFamily="18" charset="0"/>
                    <a:cs typeface="Cambria Math" panose="02040503050406030204" pitchFamily="18" charset="0"/>
                  </a:rPr>
                  <a:t>)</a:t>
                </a:r>
                <a:r>
                  <a:rPr lang="zh-CN" altLang="en-US" sz="1800">
                    <a:latin typeface="Cambria Math" panose="02040503050406030204" pitchFamily="18" charset="0"/>
                    <a:cs typeface="Cambria Math" panose="02040503050406030204" pitchFamily="18" charset="0"/>
                  </a:rPr>
                  <a:t>，最终我们得到支持向量机</a:t>
                </a:r>
                <a:r>
                  <a:rPr lang="en-US" altLang="zh-CN" sz="1800">
                    <a:latin typeface="Cambria Math" panose="02040503050406030204" pitchFamily="18" charset="0"/>
                    <a:cs typeface="Cambria Math" panose="02040503050406030204" pitchFamily="18" charset="0"/>
                  </a:rPr>
                  <a:t>SVM</a:t>
                </a:r>
                <a:r>
                  <a:rPr lang="zh-CN" altLang="en-US" sz="1800">
                    <a:latin typeface="Cambria Math" panose="02040503050406030204" pitchFamily="18" charset="0"/>
                    <a:cs typeface="Cambria Math" panose="02040503050406030204" pitchFamily="18" charset="0"/>
                  </a:rPr>
                  <a:t>的</a:t>
                </a:r>
                <a:r>
                  <a:rPr lang="zh-CN" altLang="en-US" sz="1800" b="1">
                    <a:solidFill>
                      <a:srgbClr val="0070C0"/>
                    </a:solidFill>
                  </a:rPr>
                  <a:t>基本型</a:t>
                </a:r>
                <a:r>
                  <a:rPr lang="zh-CN" altLang="en-US" sz="1800">
                    <a:latin typeface="Cambria Math" panose="02040503050406030204" pitchFamily="18" charset="0"/>
                    <a:cs typeface="Cambria Math" panose="02040503050406030204" pitchFamily="18" charset="0"/>
                  </a:rPr>
                  <a:t>：</a:t>
                </a:r>
                <a:endParaRPr lang="zh-CN" altLang="en-US" sz="1800">
                  <a:latin typeface="Cambria Math" panose="02040503050406030204" pitchFamily="18" charset="0"/>
                  <a:cs typeface="Cambria Math" panose="02040503050406030204" pitchFamily="18" charset="0"/>
                </a:endParaRPr>
              </a:p>
              <a:p>
                <a:pPr>
                  <a:lnSpc>
                    <a:spcPct val="0"/>
                  </a:lnSpc>
                </a:pPr>
                <a:endParaRPr lang="zh-CN" altLang="en-US" sz="1800">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b="1">
                  <a:latin typeface="Cambria Math" panose="02040503050406030204" pitchFamily="18" charset="0"/>
                  <a:cs typeface="Cambria Math" panose="02040503050406030204" pitchFamily="18" charset="0"/>
                  <a:sym typeface="+mn-ea"/>
                </a:endParaRPr>
              </a:p>
              <a:p>
                <a:endParaRPr lang="zh-CN" altLang="en-US" sz="1800">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1136650"/>
                <a:ext cx="11322050" cy="570801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2807335" y="2344420"/>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2807335" y="2344420"/>
                <a:ext cx="80899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731385" y="2344420"/>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4731385" y="2344420"/>
                <a:ext cx="80899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7924165" y="2344420"/>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7924165" y="2344420"/>
                <a:ext cx="80899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5295900" y="3605530"/>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9" name="文本框 8"/>
              <p:cNvSpPr txBox="1">
                <a:spLocks noRot="1" noChangeAspect="1" noMove="1" noResize="1" noEditPoints="1" noAdjustHandles="1" noChangeArrowheads="1" noChangeShapeType="1" noTextEdit="1"/>
              </p:cNvSpPr>
              <p:nvPr/>
            </p:nvSpPr>
            <p:spPr>
              <a:xfrm>
                <a:off x="5295900" y="3605530"/>
                <a:ext cx="80899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5186045" y="5788660"/>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5186045" y="5788660"/>
                <a:ext cx="808990" cy="368300"/>
              </a:xfrm>
              <a:prstGeom prst="rect">
                <a:avLst/>
              </a:prstGeom>
              <a:blipFill rotWithShape="1">
                <a:blip r:embed="rId2"/>
                <a:stretch>
                  <a:fillRect/>
                </a:stretch>
              </a:blipFill>
            </p:spPr>
            <p:txBody>
              <a:bodyPr/>
              <a:lstStyle/>
              <a:p>
                <a:r>
                  <a:rPr lang="zh-CN" altLang="en-US">
                    <a:noFill/>
                  </a:rPr>
                  <a:t> </a:t>
                </a:r>
              </a:p>
            </p:txBody>
          </p:sp>
        </mc:Fallback>
      </mc:AlternateContent>
      <p:sp>
        <p:nvSpPr>
          <p:cNvPr id="11" name="矩形 10"/>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2" name="矩形 11"/>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3" name="文本框 12"/>
          <p:cNvSpPr txBox="1"/>
          <p:nvPr>
            <p:custDataLst>
              <p:tags r:id="rId5"/>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nvSpPr>
            <p:spPr>
              <a:xfrm>
                <a:off x="334010" y="1390015"/>
                <a:ext cx="4028440" cy="115125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1" name="文本框 10"/>
              <p:cNvSpPr txBox="1">
                <a:spLocks noRot="1" noChangeAspect="1" noMove="1" noResize="1" noEditPoints="1" noAdjustHandles="1" noChangeArrowheads="1" noChangeShapeType="1" noTextEdit="1"/>
              </p:cNvSpPr>
              <p:nvPr/>
            </p:nvSpPr>
            <p:spPr>
              <a:xfrm>
                <a:off x="334010" y="1390015"/>
                <a:ext cx="4028440" cy="115125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618615" y="187134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1618615" y="1871345"/>
                <a:ext cx="808990" cy="368300"/>
              </a:xfrm>
              <a:prstGeom prst="rect">
                <a:avLst/>
              </a:prstGeom>
              <a:blipFill rotWithShape="1">
                <a:blip r:embed="rId2"/>
                <a:stretch>
                  <a:fillRect/>
                </a:stretch>
              </a:blipFill>
            </p:spPr>
            <p:txBody>
              <a:bodyPr/>
              <a:lstStyle/>
              <a:p>
                <a:r>
                  <a:rPr lang="zh-CN" altLang="en-US">
                    <a:noFill/>
                  </a:rPr>
                  <a:t> </a:t>
                </a:r>
              </a:p>
            </p:txBody>
          </p:sp>
        </mc:Fallback>
      </mc:AlternateContent>
      <p:sp>
        <p:nvSpPr>
          <p:cNvPr id="13" name="文本框 12"/>
          <p:cNvSpPr txBox="1"/>
          <p:nvPr/>
        </p:nvSpPr>
        <p:spPr>
          <a:xfrm>
            <a:off x="301625" y="2747645"/>
            <a:ext cx="11355070" cy="1198880"/>
          </a:xfrm>
          <a:prstGeom prst="rect">
            <a:avLst/>
          </a:prstGeom>
          <a:noFill/>
        </p:spPr>
        <p:txBody>
          <a:bodyPr wrap="square" rtlCol="0">
            <a:spAutoFit/>
          </a:bodyPr>
          <a:lstStyle/>
          <a:p>
            <a:r>
              <a:rPr lang="zh-CN" altLang="en-US"/>
              <a:t>该式的求解是条件限制下的求极值问题，采用</a:t>
            </a:r>
            <a:r>
              <a:rPr lang="zh-CN" altLang="en-US" b="1">
                <a:solidFill>
                  <a:srgbClr val="0070C0"/>
                </a:solidFill>
              </a:rPr>
              <a:t>拉格朗日乘子法</a:t>
            </a:r>
            <a:r>
              <a:rPr lang="zh-CN" altLang="en-US"/>
              <a:t>进行求解</a:t>
            </a:r>
            <a:endParaRPr lang="zh-CN" altLang="en-US"/>
          </a:p>
          <a:p>
            <a:endParaRPr lang="zh-CN" altLang="en-US" sz="1800" b="1">
              <a:solidFill>
                <a:srgbClr val="0070C0"/>
              </a:solidFill>
            </a:endParaRPr>
          </a:p>
          <a:p>
            <a:r>
              <a:rPr lang="zh-CN" altLang="en-US" sz="1800" b="1">
                <a:solidFill>
                  <a:srgbClr val="0070C0"/>
                </a:solidFill>
              </a:rPr>
              <a:t>拉格朗日乘子法：</a:t>
            </a:r>
            <a:r>
              <a:rPr lang="zh-CN" altLang="en-US" sz="1800"/>
              <a:t>拉格朗日乘子法 (Lagrange multipliers) 是一种寻找多元函数在一组约束下的极值的方法，通过引入拉格朗日乘子，可将有d个变量与k个约束条件的最优化问题转化为具有d+k个变量的无约束优化问题求解</a:t>
            </a:r>
            <a:endParaRPr lang="zh-CN" altLang="en-US" sz="1800"/>
          </a:p>
        </p:txBody>
      </p:sp>
      <mc:AlternateContent xmlns:mc="http://schemas.openxmlformats.org/markup-compatibility/2006">
        <mc:Choice xmlns:a14="http://schemas.microsoft.com/office/drawing/2010/main" Requires="a14">
          <p:sp>
            <p:nvSpPr>
              <p:cNvPr id="14" name="文本框 13"/>
              <p:cNvSpPr txBox="1"/>
              <p:nvPr/>
            </p:nvSpPr>
            <p:spPr>
              <a:xfrm>
                <a:off x="1258570" y="4282440"/>
                <a:ext cx="3963035" cy="1060450"/>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𝑓</m:t>
                          </m:r>
                        </m:e>
                        <m:sub>
                          <m:r>
                            <a:rPr lang="en-US" altLang="zh-CN" i="1">
                              <a:latin typeface="Cambria Math" panose="02040503050406030204" pitchFamily="18" charset="0"/>
                              <a:cs typeface="Cambria Math" panose="02040503050406030204" pitchFamily="18" charset="0"/>
                            </a:rPr>
                            <m:t>0</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a:p>
                <a:pPr>
                  <a:lnSpc>
                    <a:spcPct val="50000"/>
                  </a:lnSpc>
                </a:pPr>
                <a:endParaRPr lang="zh-CN" altLang="en-US"/>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𝑠𝑢𝑏𝑗𝑒𝑐𝑡</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𝑡𝑜</m:t>
                      </m:r>
                      <m:r>
                        <a:rPr lang="en-US" altLang="zh-CN"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𝑓</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 , </m:t>
                      </m:r>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𝑚</m:t>
                      </m:r>
                    </m:oMath>
                  </m:oMathPara>
                </a14:m>
                <a:endParaRPr lang="en-US" altLang="zh-CN" i="1">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ℎ</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 , </m:t>
                    </m:r>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𝑞</m:t>
                    </m:r>
                  </m:oMath>
                </a14:m>
                <a:endParaRPr lang="zh-CN" altLang="en-US"/>
              </a:p>
            </p:txBody>
          </p:sp>
        </mc:Choice>
        <mc:Fallback>
          <p:sp>
            <p:nvSpPr>
              <p:cNvPr id="14" name="文本框 13"/>
              <p:cNvSpPr txBox="1">
                <a:spLocks noRot="1" noChangeAspect="1" noMove="1" noResize="1" noEditPoints="1" noAdjustHandles="1" noChangeArrowheads="1" noChangeShapeType="1" noTextEdit="1"/>
              </p:cNvSpPr>
              <p:nvPr/>
            </p:nvSpPr>
            <p:spPr>
              <a:xfrm>
                <a:off x="1258570" y="4282440"/>
                <a:ext cx="3963035" cy="106045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1349375" y="4462780"/>
                <a:ext cx="473075"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𝑥</m:t>
                      </m:r>
                    </m:oMath>
                  </m:oMathPara>
                </a14:m>
                <a:endParaRPr lang="zh-CN" altLang="en-US"/>
              </a:p>
            </p:txBody>
          </p:sp>
        </mc:Choice>
        <mc:Fallback>
          <p:sp>
            <p:nvSpPr>
              <p:cNvPr id="15" name="文本框 14"/>
              <p:cNvSpPr txBox="1">
                <a:spLocks noRot="1" noChangeAspect="1" noMove="1" noResize="1" noEditPoints="1" noAdjustHandles="1" noChangeArrowheads="1" noChangeShapeType="1" noTextEdit="1"/>
              </p:cNvSpPr>
              <p:nvPr/>
            </p:nvSpPr>
            <p:spPr>
              <a:xfrm>
                <a:off x="1349375" y="4462780"/>
                <a:ext cx="473075" cy="3683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6622415" y="4326255"/>
                <a:ext cx="4869180" cy="1155700"/>
              </a:xfrm>
              <a:prstGeom prst="rect">
                <a:avLst/>
              </a:prstGeom>
              <a:noFill/>
            </p:spPr>
            <p:txBody>
              <a:bodyPr wrap="square" rtlCol="0" anchor="t">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𝑚𝑎𝑥</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𝝀</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𝝂</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𝑚𝑎𝑥</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𝑓</m:t>
                          </m:r>
                        </m:e>
                        <m:sub>
                          <m:r>
                            <a:rPr lang="en-US" altLang="zh-CN" i="1">
                              <a:latin typeface="Cambria Math" panose="02040503050406030204" pitchFamily="18" charset="0"/>
                              <a:cs typeface="Cambria Math" panose="02040503050406030204" pitchFamily="18" charset="0"/>
                            </a:rPr>
                            <m:t>0</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𝜆</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𝑓</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𝑞</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𝜈</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ℎ</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e>
                      </m:nary>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16" name="文本框 15"/>
              <p:cNvSpPr txBox="1">
                <a:spLocks noRot="1" noChangeAspect="1" noMove="1" noResize="1" noEditPoints="1" noAdjustHandles="1" noChangeArrowheads="1" noChangeShapeType="1" noTextEdit="1"/>
              </p:cNvSpPr>
              <p:nvPr/>
            </p:nvSpPr>
            <p:spPr>
              <a:xfrm>
                <a:off x="6622415" y="4326255"/>
                <a:ext cx="4869180" cy="1155700"/>
              </a:xfrm>
              <a:prstGeom prst="rect">
                <a:avLst/>
              </a:prstGeom>
              <a:blipFill rotWithShape="1">
                <a:blip r:embed="rId5"/>
                <a:stretch>
                  <a:fillRect/>
                </a:stretch>
              </a:blipFill>
            </p:spPr>
            <p:txBody>
              <a:bodyPr/>
              <a:lstStyle/>
              <a:p>
                <a:r>
                  <a:rPr lang="zh-CN" altLang="en-US">
                    <a:noFill/>
                  </a:rPr>
                  <a:t> </a:t>
                </a:r>
              </a:p>
            </p:txBody>
          </p:sp>
        </mc:Fallback>
      </mc:AlternateContent>
      <p:sp>
        <p:nvSpPr>
          <p:cNvPr id="17" name="左右箭头 16"/>
          <p:cNvSpPr/>
          <p:nvPr/>
        </p:nvSpPr>
        <p:spPr>
          <a:xfrm>
            <a:off x="5276215" y="4643120"/>
            <a:ext cx="1057910" cy="33845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9" name="文本框 18"/>
              <p:cNvSpPr txBox="1"/>
              <p:nvPr/>
            </p:nvSpPr>
            <p:spPr>
              <a:xfrm>
                <a:off x="6688455" y="4540885"/>
                <a:ext cx="377825"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𝑥</m:t>
                      </m:r>
                    </m:oMath>
                  </m:oMathPara>
                </a14:m>
                <a:endParaRPr lang="zh-CN" altLang="en-US"/>
              </a:p>
            </p:txBody>
          </p:sp>
        </mc:Choice>
        <mc:Fallback>
          <p:sp>
            <p:nvSpPr>
              <p:cNvPr id="19" name="文本框 18"/>
              <p:cNvSpPr txBox="1">
                <a:spLocks noRot="1" noChangeAspect="1" noMove="1" noResize="1" noEditPoints="1" noAdjustHandles="1" noChangeArrowheads="1" noChangeShapeType="1" noTextEdit="1"/>
              </p:cNvSpPr>
              <p:nvPr/>
            </p:nvSpPr>
            <p:spPr>
              <a:xfrm>
                <a:off x="6688455" y="4540885"/>
                <a:ext cx="377825" cy="36830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7090410" y="4540885"/>
                <a:ext cx="48006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𝝀</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𝝂</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20" name="文本框 19"/>
              <p:cNvSpPr txBox="1">
                <a:spLocks noRot="1" noChangeAspect="1" noMove="1" noResize="1" noEditPoints="1" noAdjustHandles="1" noChangeArrowheads="1" noChangeShapeType="1" noTextEdit="1"/>
              </p:cNvSpPr>
              <p:nvPr/>
            </p:nvSpPr>
            <p:spPr>
              <a:xfrm>
                <a:off x="7090410" y="4540885"/>
                <a:ext cx="480060" cy="36830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6946265" y="5151120"/>
                <a:ext cx="377825"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𝑥</m:t>
                      </m:r>
                    </m:oMath>
                  </m:oMathPara>
                </a14:m>
                <a:endParaRPr lang="zh-CN" altLang="en-US"/>
              </a:p>
            </p:txBody>
          </p:sp>
        </mc:Choice>
        <mc:Fallback>
          <p:sp>
            <p:nvSpPr>
              <p:cNvPr id="21" name="文本框 20"/>
              <p:cNvSpPr txBox="1">
                <a:spLocks noRot="1" noChangeAspect="1" noMove="1" noResize="1" noEditPoints="1" noAdjustHandles="1" noChangeArrowheads="1" noChangeShapeType="1" noTextEdit="1"/>
              </p:cNvSpPr>
              <p:nvPr/>
            </p:nvSpPr>
            <p:spPr>
              <a:xfrm>
                <a:off x="6946265" y="5151120"/>
                <a:ext cx="377825" cy="36830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7348220" y="5151120"/>
                <a:ext cx="48006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𝝀</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𝝂</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7348220" y="5151120"/>
                <a:ext cx="480060" cy="368300"/>
              </a:xfrm>
              <a:prstGeom prst="rect">
                <a:avLst/>
              </a:prstGeom>
              <a:blipFill rotWithShape="1">
                <a:blip r:embed="rId7"/>
                <a:stretch>
                  <a:fillRect/>
                </a:stretch>
              </a:blipFill>
            </p:spPr>
            <p:txBody>
              <a:bodyPr/>
              <a:lstStyle/>
              <a:p>
                <a:r>
                  <a:rPr lang="zh-CN" altLang="en-US">
                    <a:noFill/>
                  </a:rPr>
                  <a:t> </a:t>
                </a:r>
              </a:p>
            </p:txBody>
          </p:sp>
        </mc:Fallback>
      </mc:AlternateContent>
      <p:sp>
        <p:nvSpPr>
          <p:cNvPr id="9" name="矩形 8"/>
          <p:cNvSpPr/>
          <p:nvPr>
            <p:custDataLst>
              <p:tags r:id="rId8"/>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9"/>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5" name="文本框 4"/>
          <p:cNvSpPr txBox="1"/>
          <p:nvPr>
            <p:custDataLst>
              <p:tags r:id="rId10"/>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324485" y="1278255"/>
            <a:ext cx="11303000" cy="3138170"/>
          </a:xfrm>
          <a:prstGeom prst="rect">
            <a:avLst/>
          </a:prstGeom>
          <a:noFill/>
        </p:spPr>
        <p:txBody>
          <a:bodyPr wrap="square" rtlCol="0">
            <a:spAutoFit/>
          </a:bodyPr>
          <a:lstStyle/>
          <a:p>
            <a:r>
              <a:rPr lang="zh-CN" altLang="en-US"/>
              <a:t>将拉格朗日乘子法应用于</a:t>
            </a:r>
            <a:r>
              <a:rPr lang="zh-CN" altLang="en-US">
                <a:sym typeface="+mn-ea"/>
              </a:rPr>
              <a:t>支持向量机SVM的基本型的化简</a:t>
            </a:r>
            <a:r>
              <a:rPr lang="zh-CN" altLang="en-US">
                <a:latin typeface="Cambria Math" panose="02040503050406030204" pitchFamily="18" charset="0"/>
                <a:cs typeface="Cambria Math" panose="02040503050406030204" pitchFamily="18" charset="0"/>
                <a:sym typeface="+mn-ea"/>
              </a:rPr>
              <a:t>：</a:t>
            </a:r>
            <a:endParaRPr lang="zh-CN" altLang="en-US">
              <a:latin typeface="Cambria Math" panose="02040503050406030204" pitchFamily="18" charset="0"/>
              <a:cs typeface="Cambria Math" panose="02040503050406030204" pitchFamily="18" charset="0"/>
              <a:sym typeface="+mn-ea"/>
            </a:endParaRPr>
          </a:p>
          <a:p>
            <a:endParaRPr lang="zh-CN" altLang="en-US">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1</a:t>
            </a:r>
            <a:r>
              <a:rPr lang="zh-CN" altLang="en-US">
                <a:latin typeface="Cambria Math" panose="02040503050406030204" pitchFamily="18" charset="0"/>
                <a:cs typeface="Cambria Math" panose="02040503050406030204" pitchFamily="18" charset="0"/>
              </a:rPr>
              <a:t>）将</a:t>
            </a:r>
            <a:r>
              <a:rPr lang="en-US" altLang="zh-CN">
                <a:latin typeface="Cambria Math" panose="02040503050406030204" pitchFamily="18" charset="0"/>
                <a:cs typeface="Cambria Math" panose="02040503050406030204" pitchFamily="18" charset="0"/>
              </a:rPr>
              <a:t>SVM</a:t>
            </a:r>
            <a:r>
              <a:rPr lang="zh-CN" altLang="en-US">
                <a:latin typeface="Cambria Math" panose="02040503050406030204" pitchFamily="18" charset="0"/>
                <a:cs typeface="Cambria Math" panose="02040503050406030204" pitchFamily="18" charset="0"/>
              </a:rPr>
              <a:t>基本型转化为多元函数在约束条件下求极值的标准形式：</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en-US" altLang="zh-CN">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2</a:t>
            </a:r>
            <a:r>
              <a:rPr lang="zh-CN" altLang="en-US">
                <a:latin typeface="Cambria Math" panose="02040503050406030204" pitchFamily="18" charset="0"/>
                <a:cs typeface="Cambria Math" panose="02040503050406030204" pitchFamily="18" charset="0"/>
              </a:rPr>
              <a:t>）通过拉格朗日乘子法将约束条件下的最优化问题转化为无约束条件下的最优化问题：</a:t>
            </a:r>
            <a:endParaRPr lang="zh-CN" altLang="en-US">
              <a:latin typeface="Cambria Math" panose="02040503050406030204" pitchFamily="18" charset="0"/>
              <a:cs typeface="Cambria Math" panose="02040503050406030204" pitchFamily="18" charset="0"/>
            </a:endParaRPr>
          </a:p>
        </p:txBody>
      </p:sp>
      <mc:AlternateContent xmlns:mc="http://schemas.openxmlformats.org/markup-compatibility/2006">
        <mc:Choice xmlns:a14="http://schemas.microsoft.com/office/drawing/2010/main" Requires="a14">
          <p:sp>
            <p:nvSpPr>
              <p:cNvPr id="12" name="文本框 11"/>
              <p:cNvSpPr txBox="1"/>
              <p:nvPr/>
            </p:nvSpPr>
            <p:spPr>
              <a:xfrm>
                <a:off x="679450" y="2329180"/>
                <a:ext cx="4028440" cy="115125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679450" y="2329180"/>
                <a:ext cx="4028440" cy="115125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377305" y="2329815"/>
                <a:ext cx="4403725" cy="115125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0</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3" name="文本框 12"/>
              <p:cNvSpPr txBox="1">
                <a:spLocks noRot="1" noChangeAspect="1" noMove="1" noResize="1" noEditPoints="1" noAdjustHandles="1" noChangeArrowheads="1" noChangeShapeType="1" noTextEdit="1"/>
              </p:cNvSpPr>
              <p:nvPr/>
            </p:nvSpPr>
            <p:spPr>
              <a:xfrm>
                <a:off x="6377305" y="2329815"/>
                <a:ext cx="4403725" cy="115125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898015" y="272097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14" name="文本框 13"/>
              <p:cNvSpPr txBox="1">
                <a:spLocks noRot="1" noChangeAspect="1" noMove="1" noResize="1" noEditPoints="1" noAdjustHandles="1" noChangeArrowheads="1" noChangeShapeType="1" noTextEdit="1"/>
              </p:cNvSpPr>
              <p:nvPr/>
            </p:nvSpPr>
            <p:spPr>
              <a:xfrm>
                <a:off x="1898015" y="2720975"/>
                <a:ext cx="80899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7731125" y="2721610"/>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15" name="文本框 14"/>
              <p:cNvSpPr txBox="1">
                <a:spLocks noRot="1" noChangeAspect="1" noMove="1" noResize="1" noEditPoints="1" noAdjustHandles="1" noChangeArrowheads="1" noChangeShapeType="1" noTextEdit="1"/>
              </p:cNvSpPr>
              <p:nvPr/>
            </p:nvSpPr>
            <p:spPr>
              <a:xfrm>
                <a:off x="7731125" y="2721610"/>
                <a:ext cx="808990" cy="368300"/>
              </a:xfrm>
              <a:prstGeom prst="rect">
                <a:avLst/>
              </a:prstGeom>
              <a:blipFill rotWithShape="1">
                <a:blip r:embed="rId3"/>
                <a:stretch>
                  <a:fillRect/>
                </a:stretch>
              </a:blipFill>
            </p:spPr>
            <p:txBody>
              <a:bodyPr/>
              <a:lstStyle/>
              <a:p>
                <a:r>
                  <a:rPr lang="zh-CN" altLang="en-US">
                    <a:noFill/>
                  </a:rPr>
                  <a:t> </a:t>
                </a:r>
              </a:p>
            </p:txBody>
          </p:sp>
        </mc:Fallback>
      </mc:AlternateContent>
      <p:sp>
        <p:nvSpPr>
          <p:cNvPr id="16" name="右箭头 15"/>
          <p:cNvSpPr/>
          <p:nvPr/>
        </p:nvSpPr>
        <p:spPr>
          <a:xfrm>
            <a:off x="4856480" y="2603500"/>
            <a:ext cx="1371600" cy="448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文本框 16"/>
              <p:cNvSpPr txBox="1"/>
              <p:nvPr/>
            </p:nvSpPr>
            <p:spPr>
              <a:xfrm>
                <a:off x="679450" y="4667250"/>
                <a:ext cx="4328160" cy="115125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0</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7" name="文本框 16"/>
              <p:cNvSpPr txBox="1">
                <a:spLocks noRot="1" noChangeAspect="1" noMove="1" noResize="1" noEditPoints="1" noAdjustHandles="1" noChangeArrowheads="1" noChangeShapeType="1" noTextEdit="1"/>
              </p:cNvSpPr>
              <p:nvPr/>
            </p:nvSpPr>
            <p:spPr>
              <a:xfrm>
                <a:off x="679450" y="4667250"/>
                <a:ext cx="4328160" cy="115125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2033270" y="505904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18" name="文本框 17"/>
              <p:cNvSpPr txBox="1">
                <a:spLocks noRot="1" noChangeAspect="1" noMove="1" noResize="1" noEditPoints="1" noAdjustHandles="1" noChangeArrowheads="1" noChangeShapeType="1" noTextEdit="1"/>
              </p:cNvSpPr>
              <p:nvPr/>
            </p:nvSpPr>
            <p:spPr>
              <a:xfrm>
                <a:off x="2033270" y="5059045"/>
                <a:ext cx="80899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6228080" y="4582795"/>
                <a:ext cx="5012690"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9" name="文本框 18"/>
              <p:cNvSpPr txBox="1">
                <a:spLocks noRot="1" noChangeAspect="1" noMove="1" noResize="1" noEditPoints="1" noAdjustHandles="1" noChangeArrowheads="1" noChangeShapeType="1" noTextEdit="1"/>
              </p:cNvSpPr>
              <p:nvPr/>
            </p:nvSpPr>
            <p:spPr>
              <a:xfrm>
                <a:off x="6228080" y="4582795"/>
                <a:ext cx="5012690" cy="844550"/>
              </a:xfrm>
              <a:prstGeom prst="rect">
                <a:avLst/>
              </a:prstGeom>
              <a:blipFill rotWithShape="1">
                <a:blip r:embed="rId5"/>
                <a:stretch>
                  <a:fillRect/>
                </a:stretch>
              </a:blipFill>
            </p:spPr>
            <p:txBody>
              <a:bodyPr/>
              <a:lstStyle/>
              <a:p>
                <a:r>
                  <a:rPr lang="zh-CN" altLang="en-US">
                    <a:noFill/>
                  </a:rPr>
                  <a:t> </a:t>
                </a:r>
              </a:p>
            </p:txBody>
          </p:sp>
        </mc:Fallback>
      </mc:AlternateContent>
      <p:sp>
        <p:nvSpPr>
          <p:cNvPr id="20" name="右箭头 19"/>
          <p:cNvSpPr/>
          <p:nvPr/>
        </p:nvSpPr>
        <p:spPr>
          <a:xfrm>
            <a:off x="4856480" y="4780915"/>
            <a:ext cx="1371600" cy="448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1" name="文本框 20"/>
              <p:cNvSpPr txBox="1"/>
              <p:nvPr/>
            </p:nvSpPr>
            <p:spPr>
              <a:xfrm>
                <a:off x="6313170" y="5059045"/>
                <a:ext cx="791845"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endParaRPr lang="en-US" altLang="zh-CN">
                  <a:latin typeface="Cambria Math" panose="02040503050406030204" pitchFamily="18" charset="0"/>
                  <a:cs typeface="Cambria Math" panose="02040503050406030204" pitchFamily="18" charset="0"/>
                  <a:sym typeface="+mn-ea"/>
                </a:endParaRPr>
              </a:p>
            </p:txBody>
          </p:sp>
        </mc:Choice>
        <mc:Fallback>
          <p:sp>
            <p:nvSpPr>
              <p:cNvPr id="21" name="文本框 20"/>
              <p:cNvSpPr txBox="1">
                <a:spLocks noRot="1" noChangeAspect="1" noMove="1" noResize="1" noEditPoints="1" noAdjustHandles="1" noChangeArrowheads="1" noChangeShapeType="1" noTextEdit="1"/>
              </p:cNvSpPr>
              <p:nvPr/>
            </p:nvSpPr>
            <p:spPr>
              <a:xfrm>
                <a:off x="6313170" y="5059045"/>
                <a:ext cx="791845" cy="36830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2447290" y="6069330"/>
                <a:ext cx="6997700" cy="337185"/>
              </a:xfrm>
              <a:prstGeom prst="rect">
                <a:avLst/>
              </a:prstGeom>
              <a:noFill/>
            </p:spPr>
            <p:txBody>
              <a:bodyPr wrap="square" rtlCol="0" anchor="t">
                <a:spAutoFit/>
              </a:bodyPr>
              <a:lstStyle/>
              <a:p>
                <a:r>
                  <a:rPr lang="zh-CN" altLang="en-US" sz="1600">
                    <a:latin typeface="Cambria Math" panose="02040503050406030204" pitchFamily="18" charset="0"/>
                    <a:cs typeface="Cambria Math" panose="02040503050406030204" pitchFamily="18" charset="0"/>
                    <a:sym typeface="+mn-ea"/>
                  </a:rPr>
                  <a:t>拉格朗日乘子</a:t>
                </a:r>
                <a14:m>
                  <m:oMath xmlns:m="http://schemas.openxmlformats.org/officeDocument/2006/math">
                    <m:r>
                      <a:rPr lang="zh-CN" altLang="en-US" sz="1600">
                        <a:latin typeface="Cambria Math" panose="02040503050406030204" pitchFamily="18" charset="0"/>
                        <a:cs typeface="Cambria Math" panose="02040503050406030204" pitchFamily="18" charset="0"/>
                        <a:sym typeface="+mn-ea"/>
                      </a:rPr>
                      <m:t>𝜶</m:t>
                    </m:r>
                  </m:oMath>
                </a14:m>
                <a:r>
                  <a:rPr lang="zh-CN" altLang="en-US" sz="1600">
                    <a:latin typeface="Cambria Math" panose="02040503050406030204" pitchFamily="18" charset="0"/>
                    <a:cs typeface="Cambria Math" panose="02040503050406030204" pitchFamily="18" charset="0"/>
                    <a:sym typeface="+mn-ea"/>
                  </a:rPr>
                  <a:t>是约束方程线性组合里每个向量的系数：</a:t>
                </a:r>
                <a14:m>
                  <m:oMath xmlns:m="http://schemas.openxmlformats.org/officeDocument/2006/math">
                    <m:r>
                      <a:rPr lang="zh-CN" altLang="en-US" sz="1600">
                        <a:latin typeface="Cambria Math" panose="02040503050406030204" pitchFamily="18" charset="0"/>
                        <a:cs typeface="Cambria Math" panose="02040503050406030204" pitchFamily="18" charset="0"/>
                        <a:sym typeface="+mn-ea"/>
                      </a:rPr>
                      <m:t>𝜶</m:t>
                    </m:r>
                    <m:r>
                      <a:rPr lang="zh-CN" altLang="en-US" sz="1600">
                        <a:latin typeface="Cambria Math" panose="02040503050406030204" pitchFamily="18" charset="0"/>
                        <a:cs typeface="Cambria Math" panose="02040503050406030204" pitchFamily="18" charset="0"/>
                        <a:sym typeface="+mn-ea"/>
                      </a:rPr>
                      <m:t>=(</m:t>
                    </m:r>
                    <m:sSub>
                      <m:sSubPr>
                        <m:ctrlPr>
                          <a:rPr lang="zh-CN" altLang="en-US" sz="1600" i="1">
                            <a:latin typeface="Cambria Math" panose="02040503050406030204" pitchFamily="18" charset="0"/>
                            <a:cs typeface="Cambria Math" panose="02040503050406030204" pitchFamily="18" charset="0"/>
                            <a:sym typeface="+mn-ea"/>
                          </a:rPr>
                        </m:ctrlPr>
                      </m:sSubPr>
                      <m:e>
                        <m:r>
                          <a:rPr lang="zh-CN" altLang="en-US" sz="1600">
                            <a:latin typeface="Cambria Math" panose="02040503050406030204" pitchFamily="18" charset="0"/>
                            <a:cs typeface="Cambria Math" panose="02040503050406030204" pitchFamily="18" charset="0"/>
                            <a:sym typeface="+mn-ea"/>
                          </a:rPr>
                          <m:t>𝛼</m:t>
                        </m:r>
                      </m:e>
                      <m:sub>
                        <m:r>
                          <a:rPr lang="zh-CN" altLang="en-US" sz="1600">
                            <a:latin typeface="Cambria Math" panose="02040503050406030204" pitchFamily="18" charset="0"/>
                            <a:cs typeface="Cambria Math" panose="02040503050406030204" pitchFamily="18" charset="0"/>
                            <a:sym typeface="+mn-ea"/>
                          </a:rPr>
                          <m:t>1</m:t>
                        </m:r>
                      </m:sub>
                    </m:sSub>
                    <m:r>
                      <a:rPr lang="zh-CN" altLang="en-US" sz="1600">
                        <a:latin typeface="Cambria Math" panose="02040503050406030204" pitchFamily="18" charset="0"/>
                        <a:cs typeface="Cambria Math" panose="02040503050406030204" pitchFamily="18" charset="0"/>
                        <a:sym typeface="+mn-ea"/>
                      </a:rPr>
                      <m:t>;</m:t>
                    </m:r>
                    <m:sSub>
                      <m:sSubPr>
                        <m:ctrlPr>
                          <a:rPr lang="zh-CN" altLang="en-US" sz="1600" i="1">
                            <a:latin typeface="Cambria Math" panose="02040503050406030204" pitchFamily="18" charset="0"/>
                            <a:cs typeface="Cambria Math" panose="02040503050406030204" pitchFamily="18" charset="0"/>
                            <a:sym typeface="+mn-ea"/>
                          </a:rPr>
                        </m:ctrlPr>
                      </m:sSubPr>
                      <m:e>
                        <m:r>
                          <a:rPr lang="zh-CN" altLang="en-US" sz="1600">
                            <a:latin typeface="Cambria Math" panose="02040503050406030204" pitchFamily="18" charset="0"/>
                            <a:cs typeface="Cambria Math" panose="02040503050406030204" pitchFamily="18" charset="0"/>
                            <a:sym typeface="+mn-ea"/>
                          </a:rPr>
                          <m:t>𝛼</m:t>
                        </m:r>
                      </m:e>
                      <m:sub>
                        <m:r>
                          <a:rPr lang="zh-CN" altLang="en-US" sz="1600">
                            <a:latin typeface="Cambria Math" panose="02040503050406030204" pitchFamily="18" charset="0"/>
                            <a:cs typeface="Cambria Math" panose="02040503050406030204" pitchFamily="18" charset="0"/>
                            <a:sym typeface="+mn-ea"/>
                          </a:rPr>
                          <m:t>2</m:t>
                        </m:r>
                      </m:sub>
                    </m:sSub>
                    <m:r>
                      <a:rPr lang="zh-CN" altLang="en-US" sz="1600">
                        <a:latin typeface="Cambria Math" panose="02040503050406030204" pitchFamily="18" charset="0"/>
                        <a:cs typeface="Cambria Math" panose="02040503050406030204" pitchFamily="18" charset="0"/>
                        <a:sym typeface="+mn-ea"/>
                      </a:rPr>
                      <m:t>;...;</m:t>
                    </m:r>
                    <m:sSub>
                      <m:sSubPr>
                        <m:ctrlPr>
                          <a:rPr lang="zh-CN" altLang="en-US" sz="1600" i="1">
                            <a:latin typeface="Cambria Math" panose="02040503050406030204" pitchFamily="18" charset="0"/>
                            <a:cs typeface="Cambria Math" panose="02040503050406030204" pitchFamily="18" charset="0"/>
                            <a:sym typeface="+mn-ea"/>
                          </a:rPr>
                        </m:ctrlPr>
                      </m:sSubPr>
                      <m:e>
                        <m:r>
                          <a:rPr lang="zh-CN" altLang="en-US" sz="1600">
                            <a:latin typeface="Cambria Math" panose="02040503050406030204" pitchFamily="18" charset="0"/>
                            <a:cs typeface="Cambria Math" panose="02040503050406030204" pitchFamily="18" charset="0"/>
                            <a:sym typeface="+mn-ea"/>
                          </a:rPr>
                          <m:t>𝛼</m:t>
                        </m:r>
                      </m:e>
                      <m:sub>
                        <m:r>
                          <a:rPr lang="zh-CN" altLang="en-US" sz="1600">
                            <a:latin typeface="Cambria Math" panose="02040503050406030204" pitchFamily="18" charset="0"/>
                            <a:cs typeface="Cambria Math" panose="02040503050406030204" pitchFamily="18" charset="0"/>
                            <a:sym typeface="+mn-ea"/>
                          </a:rPr>
                          <m:t>𝑚</m:t>
                        </m:r>
                      </m:sub>
                    </m:sSub>
                    <m:r>
                      <a:rPr lang="zh-CN" altLang="en-US" sz="1600">
                        <a:latin typeface="Cambria Math" panose="02040503050406030204" pitchFamily="18" charset="0"/>
                        <a:cs typeface="Cambria Math" panose="02040503050406030204" pitchFamily="18" charset="0"/>
                        <a:sym typeface="+mn-ea"/>
                      </a:rPr>
                      <m:t>)</m:t>
                    </m:r>
                  </m:oMath>
                </a14:m>
                <a:endParaRPr lang="zh-CN" altLang="en-US" sz="1600">
                  <a:latin typeface="Cambria Math" panose="02040503050406030204" pitchFamily="18" charset="0"/>
                  <a:cs typeface="Cambria Math" panose="02040503050406030204" pitchFamily="18" charset="0"/>
                  <a:sym typeface="+mn-ea"/>
                </a:endParaRPr>
              </a:p>
            </p:txBody>
          </p:sp>
        </mc:Choice>
        <mc:Fallback>
          <p:sp>
            <p:nvSpPr>
              <p:cNvPr id="23" name="文本框 22"/>
              <p:cNvSpPr txBox="1">
                <a:spLocks noRot="1" noChangeAspect="1" noMove="1" noResize="1" noEditPoints="1" noAdjustHandles="1" noChangeArrowheads="1" noChangeShapeType="1" noTextEdit="1"/>
              </p:cNvSpPr>
              <p:nvPr/>
            </p:nvSpPr>
            <p:spPr>
              <a:xfrm>
                <a:off x="2447290" y="6069330"/>
                <a:ext cx="6997700" cy="337185"/>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p:cNvSpPr txBox="1"/>
              <p:nvPr/>
            </p:nvSpPr>
            <p:spPr>
              <a:xfrm>
                <a:off x="6988175" y="505841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24" name="文本框 23"/>
              <p:cNvSpPr txBox="1">
                <a:spLocks noRot="1" noChangeAspect="1" noMove="1" noResize="1" noEditPoints="1" noAdjustHandles="1" noChangeArrowheads="1" noChangeShapeType="1" noTextEdit="1"/>
              </p:cNvSpPr>
              <p:nvPr/>
            </p:nvSpPr>
            <p:spPr>
              <a:xfrm>
                <a:off x="6988175" y="5058410"/>
                <a:ext cx="439420" cy="368300"/>
              </a:xfrm>
              <a:prstGeom prst="rect">
                <a:avLst/>
              </a:prstGeom>
              <a:blipFill rotWithShape="1">
                <a:blip r:embed="rId8"/>
                <a:stretch>
                  <a:fillRect/>
                </a:stretch>
              </a:blipFill>
            </p:spPr>
            <p:txBody>
              <a:bodyPr/>
              <a:lstStyle/>
              <a:p>
                <a:r>
                  <a:rPr lang="zh-CN" altLang="en-US">
                    <a:noFill/>
                  </a:rPr>
                  <a:t> </a:t>
                </a:r>
              </a:p>
            </p:txBody>
          </p:sp>
        </mc:Fallback>
      </mc:AlternateContent>
      <p:sp>
        <p:nvSpPr>
          <p:cNvPr id="9" name="矩形 8"/>
          <p:cNvSpPr/>
          <p:nvPr>
            <p:custDataLst>
              <p:tags r:id="rId9"/>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10"/>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5" name="文本框 4"/>
          <p:cNvSpPr txBox="1"/>
          <p:nvPr>
            <p:custDataLst>
              <p:tags r:id="rId11"/>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324485" y="1278255"/>
            <a:ext cx="11303000" cy="2861310"/>
          </a:xfrm>
          <a:prstGeom prst="rect">
            <a:avLst/>
          </a:prstGeom>
          <a:noFill/>
        </p:spPr>
        <p:txBody>
          <a:bodyPr wrap="square" rtlCol="0">
            <a:spAutoFit/>
          </a:bodyPr>
          <a:lstStyle/>
          <a:p>
            <a:r>
              <a:rPr lang="zh-CN" altLang="en-US"/>
              <a:t>将拉格朗日乘子法应用于</a:t>
            </a:r>
            <a:r>
              <a:rPr lang="zh-CN" altLang="en-US">
                <a:sym typeface="+mn-ea"/>
              </a:rPr>
              <a:t>支持向量机SVM的基本型的化简：</a:t>
            </a:r>
            <a:endParaRPr lang="zh-CN" altLang="en-US">
              <a:sym typeface="+mn-ea"/>
            </a:endParaRPr>
          </a:p>
          <a:p>
            <a:endParaRPr lang="zh-CN" altLang="en-US">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3</a:t>
            </a:r>
            <a:r>
              <a:rPr lang="zh-CN" altLang="en-US">
                <a:latin typeface="Cambria Math" panose="02040503050406030204" pitchFamily="18" charset="0"/>
                <a:cs typeface="Cambria Math" panose="02040503050406030204" pitchFamily="18" charset="0"/>
              </a:rPr>
              <a:t>）利用拉格朗日乘子法的对偶性质对无约束条件下的最优化问题进行转化：</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p:txBody>
      </p:sp>
      <p:sp>
        <p:nvSpPr>
          <p:cNvPr id="16" name="右箭头 15"/>
          <p:cNvSpPr/>
          <p:nvPr/>
        </p:nvSpPr>
        <p:spPr>
          <a:xfrm>
            <a:off x="5314315" y="2604135"/>
            <a:ext cx="1371600" cy="448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301625" y="2398395"/>
                <a:ext cx="5012690"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01625" y="2398395"/>
                <a:ext cx="5012690" cy="84455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6886575" y="2406015"/>
                <a:ext cx="5012690" cy="844550"/>
              </a:xfrm>
              <a:prstGeom prst="rect">
                <a:avLst/>
              </a:prstGeom>
              <a:noFill/>
            </p:spPr>
            <p:txBody>
              <a:bodyPr wrap="square" rtlCol="0" anchor="t">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6886575" y="2406015"/>
                <a:ext cx="5012690" cy="84455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19735" y="2882265"/>
                <a:ext cx="791845"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endParaRPr lang="en-US" altLang="zh-CN">
                  <a:latin typeface="Cambria Math" panose="02040503050406030204" pitchFamily="18" charset="0"/>
                  <a:cs typeface="Cambria Math" panose="02040503050406030204" pitchFamily="18"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419735" y="2882265"/>
                <a:ext cx="791845"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094740" y="288163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1094740" y="2881630"/>
                <a:ext cx="439420" cy="3683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6958965" y="288163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6958965" y="2881630"/>
                <a:ext cx="439420" cy="3683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7282180" y="2881630"/>
                <a:ext cx="791845"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endParaRPr lang="en-US" altLang="zh-CN">
                  <a:latin typeface="Cambria Math" panose="02040503050406030204" pitchFamily="18" charset="0"/>
                  <a:cs typeface="Cambria Math" panose="02040503050406030204" pitchFamily="18" charset="0"/>
                  <a:sym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7282180" y="2881630"/>
                <a:ext cx="791845"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1670685" y="4093845"/>
                <a:ext cx="8754745" cy="897890"/>
              </a:xfrm>
              <a:prstGeom prst="rect">
                <a:avLst/>
              </a:prstGeom>
              <a:noFill/>
            </p:spPr>
            <p:txBody>
              <a:bodyPr wrap="square" rtlCol="0">
                <a:spAutoFit/>
              </a:bodyPr>
              <a:lstStyle/>
              <a:p>
                <a:r>
                  <a:rPr lang="en-US" altLang="zh-CN">
                    <a:latin typeface="Cambria Math" panose="02040503050406030204" pitchFamily="18" charset="0"/>
                    <a:cs typeface="Cambria Math" panose="02040503050406030204" pitchFamily="18" charset="0"/>
                  </a:rPr>
                  <a:t>此时需满足KKT</a:t>
                </a:r>
                <a:r>
                  <a:rPr lang="en-US" altLang="zh-CN">
                    <a:latin typeface="Cambria Math" panose="02040503050406030204" pitchFamily="18" charset="0"/>
                    <a:cs typeface="Cambria Math" panose="02040503050406030204" pitchFamily="18" charset="0"/>
                    <a:sym typeface="+mn-ea"/>
                  </a:rPr>
                  <a:t>(Karush-Kuhn-Tucker)</a:t>
                </a:r>
                <a:r>
                  <a:rPr lang="zh-CN" altLang="en-US"/>
                  <a:t>条件：</a:t>
                </a:r>
                <a14:m>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rPr>
                        </m:ctrlPr>
                      </m:dPr>
                      <m:e>
                        <m:eqArr>
                          <m:eqArrPr>
                            <m:ctrlPr>
                              <a:rPr lang="en-US" altLang="zh-CN" i="1">
                                <a:latin typeface="Cambria Math" panose="02040503050406030204" pitchFamily="18" charset="0"/>
                                <a:cs typeface="Cambria Math" panose="02040503050406030204" pitchFamily="18" charset="0"/>
                              </a:rPr>
                            </m:ctrlPr>
                          </m:eqArr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e>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e>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e>
                        </m:eqArr>
                      </m:e>
                    </m:d>
                  </m:oMath>
                </a14:m>
                <a:r>
                  <a:rPr lang="en-US" altLang="zh-CN"/>
                  <a:t>  (</a:t>
                </a:r>
                <a14:m>
                  <m:oMath xmlns:m="http://schemas.openxmlformats.org/officeDocument/2006/math">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b="1" i="1">
                            <a:latin typeface="Cambria Math" panose="02040503050406030204" pitchFamily="18" charset="0"/>
                            <a:cs typeface="Cambria Math" panose="02040503050406030204" pitchFamily="18" charset="0"/>
                          </a:rPr>
                          <m:t>𝑻</m:t>
                        </m:r>
                      </m:sup>
                    </m:s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t>)</a:t>
                </a:r>
                <a:endParaRPr lang="en-US" altLang="zh-CN"/>
              </a:p>
            </p:txBody>
          </p:sp>
        </mc:Choice>
        <mc:Fallback>
          <p:sp>
            <p:nvSpPr>
              <p:cNvPr id="22" name="文本框 21"/>
              <p:cNvSpPr txBox="1">
                <a:spLocks noRot="1" noChangeAspect="1" noMove="1" noResize="1" noEditPoints="1" noAdjustHandles="1" noChangeArrowheads="1" noChangeShapeType="1" noTextEdit="1"/>
              </p:cNvSpPr>
              <p:nvPr/>
            </p:nvSpPr>
            <p:spPr>
              <a:xfrm>
                <a:off x="1670685" y="4093845"/>
                <a:ext cx="8754745" cy="897890"/>
              </a:xfrm>
              <a:prstGeom prst="rect">
                <a:avLst/>
              </a:prstGeom>
              <a:blipFill rotWithShape="1">
                <a:blip r:embed="rId5"/>
                <a:stretch>
                  <a:fillRect/>
                </a:stretch>
              </a:blipFill>
            </p:spPr>
            <p:txBody>
              <a:bodyPr/>
              <a:lstStyle/>
              <a:p>
                <a:r>
                  <a:rPr lang="zh-CN" altLang="en-US">
                    <a:noFill/>
                  </a:rPr>
                  <a:t> </a:t>
                </a:r>
              </a:p>
            </p:txBody>
          </p:sp>
        </mc:Fallback>
      </mc:AlternateContent>
      <p:sp>
        <p:nvSpPr>
          <p:cNvPr id="12" name="矩形 11"/>
          <p:cNvSpPr/>
          <p:nvPr>
            <p:custDataLst>
              <p:tags r:id="rId6"/>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3" name="矩形 12"/>
          <p:cNvSpPr/>
          <p:nvPr>
            <p:custDataLst>
              <p:tags r:id="rId7"/>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4" name="文本框 13"/>
          <p:cNvSpPr txBox="1"/>
          <p:nvPr>
            <p:custDataLst>
              <p:tags r:id="rId8"/>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269240" y="1195070"/>
                <a:ext cx="5012690"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𝜶</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269240" y="1195070"/>
                <a:ext cx="5012690" cy="84455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553085" y="2092325"/>
                <a:ext cx="7031990" cy="2428875"/>
              </a:xfrm>
              <a:prstGeom prst="rect">
                <a:avLst/>
              </a:prstGeom>
              <a:noFill/>
            </p:spPr>
            <p:txBody>
              <a:bodyPr wrap="square" rtlCol="0">
                <a:spAutoFit/>
              </a:bodyPr>
              <a:lstStyle/>
              <a:p>
                <a:r>
                  <a:rPr lang="zh-CN" altLang="en-US"/>
                  <a:t>求解无约束条件下的最优化问题，需要求方程极值，即对</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zh-CN" altLang="en-US">
                    <a:latin typeface="Cambria Math" panose="02040503050406030204" pitchFamily="18" charset="0"/>
                    <a:cs typeface="Cambria Math" panose="02040503050406030204" pitchFamily="18" charset="0"/>
                  </a:rPr>
                  <a:t>求偏导：</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𝐿</m:t>
                          </m:r>
                        </m:num>
                        <m:den>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den>
                      </m:f>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oMath>
                  </m:oMathPara>
                </a14:m>
                <a:endParaRPr lang="en-US" altLang="zh-CN"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0</m:t>
                      </m:r>
                      <m:r>
                        <a:rPr lang="en-US" altLang="zh-CN" b="1" i="1">
                          <a:latin typeface="Cambria Math" panose="02040503050406030204" pitchFamily="18" charset="0"/>
                          <a:cs typeface="Cambria Math" panose="02040503050406030204" pitchFamily="18" charset="0"/>
                        </a:rPr>
                        <m:t>=</m:t>
                      </m:r>
                      <m:f>
                        <m:fPr>
                          <m:ctrlPr>
                            <a:rPr lang="en-US" altLang="zh-CN" b="1"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𝐿</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den>
                      </m:f>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553085" y="2092325"/>
                <a:ext cx="7031990" cy="2428875"/>
              </a:xfrm>
              <a:prstGeom prst="rect">
                <a:avLst/>
              </a:prstGeom>
              <a:blipFill rotWithShape="1">
                <a:blip r:embed="rId2"/>
                <a:stretch>
                  <a:fillRect r="-11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226560" y="2639060"/>
                <a:ext cx="2066925" cy="84455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oMath>
                  </m:oMathPara>
                </a14:m>
                <a:endParaRPr lang="zh-CN" altLang="en-US"/>
              </a:p>
            </p:txBody>
          </p:sp>
        </mc:Choice>
        <mc:Fallback>
          <p:sp>
            <p:nvSpPr>
              <p:cNvPr id="7" name="文本框 6"/>
              <p:cNvSpPr txBox="1">
                <a:spLocks noRot="1" noChangeAspect="1" noMove="1" noResize="1" noEditPoints="1" noAdjustHandles="1" noChangeArrowheads="1" noChangeShapeType="1" noTextEdit="1"/>
              </p:cNvSpPr>
              <p:nvPr/>
            </p:nvSpPr>
            <p:spPr>
              <a:xfrm>
                <a:off x="4226560" y="2639060"/>
                <a:ext cx="2066925" cy="84455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4124960" y="3642995"/>
                <a:ext cx="2066925" cy="84455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oMath>
                  </m:oMathPara>
                </a14:m>
                <a:endParaRPr lang="zh-CN" altLang="en-US"/>
              </a:p>
            </p:txBody>
          </p:sp>
        </mc:Choice>
        <mc:Fallback>
          <p:sp>
            <p:nvSpPr>
              <p:cNvPr id="8" name="文本框 7"/>
              <p:cNvSpPr txBox="1">
                <a:spLocks noRot="1" noChangeAspect="1" noMove="1" noResize="1" noEditPoints="1" noAdjustHandles="1" noChangeArrowheads="1" noChangeShapeType="1" noTextEdit="1"/>
              </p:cNvSpPr>
              <p:nvPr/>
            </p:nvSpPr>
            <p:spPr>
              <a:xfrm>
                <a:off x="4124960" y="3642995"/>
                <a:ext cx="2066925" cy="844550"/>
              </a:xfrm>
              <a:prstGeom prst="rect">
                <a:avLst/>
              </a:prstGeom>
              <a:blipFill rotWithShape="1">
                <a:blip r:embed="rId4"/>
                <a:stretch>
                  <a:fillRect/>
                </a:stretch>
              </a:blipFill>
            </p:spPr>
            <p:txBody>
              <a:bodyPr/>
              <a:lstStyle/>
              <a:p>
                <a:r>
                  <a:rPr lang="zh-CN" altLang="en-US">
                    <a:noFill/>
                  </a:rPr>
                  <a:t> </a:t>
                </a:r>
              </a:p>
            </p:txBody>
          </p:sp>
        </mc:Fallback>
      </mc:AlternateContent>
      <p:sp>
        <p:nvSpPr>
          <p:cNvPr id="9" name="右箭头 8"/>
          <p:cNvSpPr/>
          <p:nvPr/>
        </p:nvSpPr>
        <p:spPr>
          <a:xfrm>
            <a:off x="3383280" y="2918460"/>
            <a:ext cx="906145" cy="360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a:off x="3383280" y="3884930"/>
            <a:ext cx="906145" cy="360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右箭头 21"/>
          <p:cNvSpPr/>
          <p:nvPr/>
        </p:nvSpPr>
        <p:spPr>
          <a:xfrm>
            <a:off x="6255385" y="2918460"/>
            <a:ext cx="906145" cy="360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3" name="文本框 22"/>
              <p:cNvSpPr txBox="1"/>
              <p:nvPr/>
            </p:nvSpPr>
            <p:spPr>
              <a:xfrm>
                <a:off x="7287895" y="2639060"/>
                <a:ext cx="2066925" cy="88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b="1" i="1">
                              <a:latin typeface="Cambria Math" panose="02040503050406030204" pitchFamily="18" charset="0"/>
                              <a:cs typeface="Cambria Math" panose="02040503050406030204" pitchFamily="18" charset="0"/>
                            </a:rPr>
                            <m:t>𝑻</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e>
                      </m:nary>
                    </m:oMath>
                  </m:oMathPara>
                </a14:m>
                <a:endParaRPr lang="zh-CN" altLang="en-US"/>
              </a:p>
            </p:txBody>
          </p:sp>
        </mc:Choice>
        <mc:Fallback>
          <p:sp>
            <p:nvSpPr>
              <p:cNvPr id="23" name="文本框 22"/>
              <p:cNvSpPr txBox="1">
                <a:spLocks noRot="1" noChangeAspect="1" noMove="1" noResize="1" noEditPoints="1" noAdjustHandles="1" noChangeArrowheads="1" noChangeShapeType="1" noTextEdit="1"/>
              </p:cNvSpPr>
              <p:nvPr/>
            </p:nvSpPr>
            <p:spPr>
              <a:xfrm>
                <a:off x="7287895" y="2639060"/>
                <a:ext cx="2066925" cy="880110"/>
              </a:xfrm>
              <a:prstGeom prst="rect">
                <a:avLst/>
              </a:prstGeom>
              <a:blipFill rotWithShape="1">
                <a:blip r:embed="rId5"/>
                <a:stretch>
                  <a:fillRect/>
                </a:stretch>
              </a:blipFill>
            </p:spPr>
            <p:txBody>
              <a:bodyPr/>
              <a:lstStyle/>
              <a:p>
                <a:r>
                  <a:rPr lang="zh-CN" altLang="en-US">
                    <a:noFill/>
                  </a:rPr>
                  <a:t> </a:t>
                </a:r>
              </a:p>
            </p:txBody>
          </p:sp>
        </mc:Fallback>
      </mc:AlternateContent>
      <p:sp>
        <p:nvSpPr>
          <p:cNvPr id="26" name="文本框 25"/>
          <p:cNvSpPr txBox="1"/>
          <p:nvPr/>
        </p:nvSpPr>
        <p:spPr>
          <a:xfrm>
            <a:off x="269240" y="5471160"/>
            <a:ext cx="3006090" cy="368300"/>
          </a:xfrm>
          <a:prstGeom prst="rect">
            <a:avLst/>
          </a:prstGeom>
          <a:noFill/>
        </p:spPr>
        <p:txBody>
          <a:bodyPr wrap="square" rtlCol="0">
            <a:spAutoFit/>
          </a:bodyPr>
          <a:lstStyle/>
          <a:p>
            <a:r>
              <a:rPr lang="zh-CN" altLang="en-US"/>
              <a:t>最终我们得到三个等式：</a:t>
            </a:r>
            <a:endParaRPr lang="zh-CN" altLang="en-US"/>
          </a:p>
        </p:txBody>
      </p:sp>
      <mc:AlternateContent xmlns:mc="http://schemas.openxmlformats.org/markup-compatibility/2006">
        <mc:Choice xmlns:a14="http://schemas.microsoft.com/office/drawing/2010/main" Requires="a14">
          <p:sp>
            <p:nvSpPr>
              <p:cNvPr id="27" name="文本框 26"/>
              <p:cNvSpPr txBox="1"/>
              <p:nvPr/>
            </p:nvSpPr>
            <p:spPr>
              <a:xfrm>
                <a:off x="3135630" y="4573905"/>
                <a:ext cx="1555115" cy="67500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cs typeface="Cambria Math" panose="02040503050406030204" pitchFamily="18" charset="0"/>
                        </a:rPr>
                        <m:t>𝒘</m:t>
                      </m:r>
                      <m:r>
                        <a:rPr lang="en-US" altLang="zh-CN" sz="1400" i="1">
                          <a:latin typeface="Cambria Math" panose="02040503050406030204" pitchFamily="18" charset="0"/>
                          <a:cs typeface="Cambria Math" panose="02040503050406030204" pitchFamily="18" charset="0"/>
                        </a:rPr>
                        <m:t>=</m:t>
                      </m:r>
                      <m:nary>
                        <m:naryPr>
                          <m:chr m:val="∑"/>
                          <m:limLoc m:val="undOvr"/>
                          <m:ctrlPr>
                            <a:rPr lang="en-US" altLang="zh-CN" sz="1400" i="1">
                              <a:latin typeface="Cambria Math" panose="02040503050406030204" pitchFamily="18" charset="0"/>
                              <a:cs typeface="Cambria Math" panose="02040503050406030204" pitchFamily="18" charset="0"/>
                            </a:rPr>
                          </m:ctrlPr>
                        </m:naryPr>
                        <m:sub>
                          <m:r>
                            <a:rPr lang="en-US" altLang="zh-CN" sz="1400" i="1">
                              <a:latin typeface="Cambria Math" panose="02040503050406030204" pitchFamily="18" charset="0"/>
                              <a:cs typeface="Cambria Math" panose="02040503050406030204" pitchFamily="18" charset="0"/>
                            </a:rPr>
                            <m:t>𝑖</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1</m:t>
                          </m:r>
                        </m:sub>
                        <m:sup>
                          <m:r>
                            <a:rPr lang="en-US" altLang="zh-CN" sz="1400" i="1">
                              <a:latin typeface="Cambria Math" panose="02040503050406030204" pitchFamily="18" charset="0"/>
                              <a:cs typeface="Cambria Math" panose="02040503050406030204" pitchFamily="18" charset="0"/>
                            </a:rPr>
                            <m:t>𝑚</m:t>
                          </m:r>
                        </m:sup>
                        <m:e>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𝛼</m:t>
                              </m:r>
                            </m:e>
                            <m:sub>
                              <m:r>
                                <a:rPr lang="en-US" altLang="zh-CN" sz="1400" i="1">
                                  <a:latin typeface="Cambria Math" panose="02040503050406030204" pitchFamily="18" charset="0"/>
                                  <a:cs typeface="Cambria Math" panose="02040503050406030204" pitchFamily="18" charset="0"/>
                                </a:rPr>
                                <m:t>𝑖</m:t>
                              </m:r>
                            </m:sub>
                          </m:sSub>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𝑦</m:t>
                              </m:r>
                            </m:e>
                            <m:sub>
                              <m:r>
                                <a:rPr lang="en-US" altLang="zh-CN" sz="1400" i="1">
                                  <a:latin typeface="Cambria Math" panose="02040503050406030204" pitchFamily="18" charset="0"/>
                                  <a:cs typeface="Cambria Math" panose="02040503050406030204" pitchFamily="18" charset="0"/>
                                </a:rPr>
                                <m:t>𝑖</m:t>
                              </m:r>
                            </m:sub>
                          </m:sSub>
                          <m:sSub>
                            <m:sSubPr>
                              <m:ctrlPr>
                                <a:rPr lang="en-US" altLang="zh-CN" sz="1400" b="1" i="1">
                                  <a:latin typeface="Cambria Math" panose="02040503050406030204" pitchFamily="18" charset="0"/>
                                  <a:cs typeface="Cambria Math" panose="02040503050406030204" pitchFamily="18" charset="0"/>
                                </a:rPr>
                              </m:ctrlPr>
                            </m:sSubPr>
                            <m:e>
                              <m:r>
                                <a:rPr lang="en-US" altLang="zh-CN" sz="1400" b="1" i="1">
                                  <a:latin typeface="Cambria Math" panose="02040503050406030204" pitchFamily="18" charset="0"/>
                                  <a:cs typeface="Cambria Math" panose="02040503050406030204" pitchFamily="18" charset="0"/>
                                </a:rPr>
                                <m:t>𝒙</m:t>
                              </m:r>
                            </m:e>
                            <m:sub>
                              <m:r>
                                <a:rPr lang="en-US" altLang="zh-CN" sz="1400" b="1" i="1">
                                  <a:latin typeface="Cambria Math" panose="02040503050406030204" pitchFamily="18" charset="0"/>
                                  <a:cs typeface="Cambria Math" panose="02040503050406030204" pitchFamily="18" charset="0"/>
                                </a:rPr>
                                <m:t>𝒊</m:t>
                              </m:r>
                            </m:sub>
                          </m:sSub>
                        </m:e>
                      </m:nary>
                    </m:oMath>
                  </m:oMathPara>
                </a14:m>
                <a:endParaRPr lang="en-US" altLang="zh-CN" sz="1400" b="1" i="1">
                  <a:latin typeface="Cambria Math" panose="02040503050406030204" pitchFamily="18" charset="0"/>
                  <a:cs typeface="Cambria Math" panose="02040503050406030204" pitchFamily="18" charset="0"/>
                </a:endParaRPr>
              </a:p>
            </p:txBody>
          </p:sp>
        </mc:Choice>
        <mc:Fallback>
          <p:sp>
            <p:nvSpPr>
              <p:cNvPr id="27" name="文本框 26"/>
              <p:cNvSpPr txBox="1">
                <a:spLocks noRot="1" noChangeAspect="1" noMove="1" noResize="1" noEditPoints="1" noAdjustHandles="1" noChangeArrowheads="1" noChangeShapeType="1" noTextEdit="1"/>
              </p:cNvSpPr>
              <p:nvPr/>
            </p:nvSpPr>
            <p:spPr>
              <a:xfrm>
                <a:off x="3135630" y="4573905"/>
                <a:ext cx="1555115" cy="675005"/>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3196590" y="5316855"/>
                <a:ext cx="1554480" cy="7023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altLang="zh-CN" sz="1400" b="1" i="1">
                              <a:latin typeface="Cambria Math" panose="02040503050406030204" pitchFamily="18" charset="0"/>
                              <a:cs typeface="Cambria Math" panose="02040503050406030204" pitchFamily="18" charset="0"/>
                            </a:rPr>
                          </m:ctrlPr>
                        </m:sSupPr>
                        <m:e>
                          <m:r>
                            <a:rPr lang="en-US" altLang="zh-CN" sz="1400" b="1" i="1">
                              <a:latin typeface="Cambria Math" panose="02040503050406030204" pitchFamily="18" charset="0"/>
                              <a:cs typeface="Cambria Math" panose="02040503050406030204" pitchFamily="18" charset="0"/>
                            </a:rPr>
                            <m:t>𝒘</m:t>
                          </m:r>
                        </m:e>
                        <m:sup>
                          <m:r>
                            <a:rPr lang="en-US" altLang="zh-CN" sz="1400" b="1" i="1">
                              <a:latin typeface="Cambria Math" panose="02040503050406030204" pitchFamily="18" charset="0"/>
                              <a:cs typeface="Cambria Math" panose="02040503050406030204" pitchFamily="18" charset="0"/>
                            </a:rPr>
                            <m:t>𝑻</m:t>
                          </m:r>
                        </m:sup>
                      </m:sSup>
                      <m:r>
                        <a:rPr lang="en-US" altLang="zh-CN" sz="1400" i="1">
                          <a:latin typeface="Cambria Math" panose="02040503050406030204" pitchFamily="18" charset="0"/>
                          <a:cs typeface="Cambria Math" panose="02040503050406030204" pitchFamily="18" charset="0"/>
                        </a:rPr>
                        <m:t>=</m:t>
                      </m:r>
                      <m:nary>
                        <m:naryPr>
                          <m:chr m:val="∑"/>
                          <m:limLoc m:val="undOvr"/>
                          <m:ctrlPr>
                            <a:rPr lang="en-US" altLang="zh-CN" sz="1400" i="1">
                              <a:latin typeface="Cambria Math" panose="02040503050406030204" pitchFamily="18" charset="0"/>
                              <a:cs typeface="Cambria Math" panose="02040503050406030204" pitchFamily="18" charset="0"/>
                            </a:rPr>
                          </m:ctrlPr>
                        </m:naryPr>
                        <m:sub>
                          <m:r>
                            <a:rPr lang="en-US" altLang="zh-CN" sz="1400" i="1">
                              <a:latin typeface="Cambria Math" panose="02040503050406030204" pitchFamily="18" charset="0"/>
                              <a:cs typeface="Cambria Math" panose="02040503050406030204" pitchFamily="18" charset="0"/>
                            </a:rPr>
                            <m:t>𝑗</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1</m:t>
                          </m:r>
                        </m:sub>
                        <m:sup>
                          <m:r>
                            <a:rPr lang="en-US" altLang="zh-CN" sz="1400" i="1">
                              <a:latin typeface="Cambria Math" panose="02040503050406030204" pitchFamily="18" charset="0"/>
                              <a:cs typeface="Cambria Math" panose="02040503050406030204" pitchFamily="18" charset="0"/>
                            </a:rPr>
                            <m:t>𝑚</m:t>
                          </m:r>
                        </m:sup>
                        <m:e>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𝛼</m:t>
                              </m:r>
                            </m:e>
                            <m:sub>
                              <m:r>
                                <a:rPr lang="en-US" altLang="zh-CN" sz="1400" i="1">
                                  <a:latin typeface="Cambria Math" panose="02040503050406030204" pitchFamily="18" charset="0"/>
                                  <a:cs typeface="Cambria Math" panose="02040503050406030204" pitchFamily="18" charset="0"/>
                                </a:rPr>
                                <m:t>𝑗</m:t>
                              </m:r>
                            </m:sub>
                          </m:sSub>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𝑦</m:t>
                              </m:r>
                            </m:e>
                            <m:sub>
                              <m:r>
                                <a:rPr lang="en-US" altLang="zh-CN" sz="1400" i="1">
                                  <a:latin typeface="Cambria Math" panose="02040503050406030204" pitchFamily="18" charset="0"/>
                                  <a:cs typeface="Cambria Math" panose="02040503050406030204" pitchFamily="18" charset="0"/>
                                </a:rPr>
                                <m:t>𝑗</m:t>
                              </m:r>
                            </m:sub>
                          </m:sSub>
                          <m:sSubSup>
                            <m:sSubSupPr>
                              <m:ctrlPr>
                                <a:rPr lang="en-US" altLang="zh-CN" sz="1400" b="1" i="1">
                                  <a:latin typeface="Cambria Math" panose="02040503050406030204" pitchFamily="18" charset="0"/>
                                  <a:cs typeface="Cambria Math" panose="02040503050406030204" pitchFamily="18" charset="0"/>
                                </a:rPr>
                              </m:ctrlPr>
                            </m:sSubSupPr>
                            <m:e>
                              <m:r>
                                <a:rPr lang="en-US" altLang="zh-CN" sz="1400" b="1" i="1">
                                  <a:latin typeface="Cambria Math" panose="02040503050406030204" pitchFamily="18" charset="0"/>
                                  <a:cs typeface="Cambria Math" panose="02040503050406030204" pitchFamily="18" charset="0"/>
                                </a:rPr>
                                <m:t>𝒙</m:t>
                              </m:r>
                            </m:e>
                            <m:sub>
                              <m:r>
                                <a:rPr lang="en-US" altLang="zh-CN" sz="1400" b="1" i="1">
                                  <a:latin typeface="Cambria Math" panose="02040503050406030204" pitchFamily="18" charset="0"/>
                                  <a:cs typeface="Cambria Math" panose="02040503050406030204" pitchFamily="18" charset="0"/>
                                </a:rPr>
                                <m:t>𝒋</m:t>
                              </m:r>
                            </m:sub>
                            <m:sup>
                              <m:r>
                                <a:rPr lang="en-US" altLang="zh-CN" sz="1400" b="1" i="1">
                                  <a:latin typeface="Cambria Math" panose="02040503050406030204" pitchFamily="18" charset="0"/>
                                  <a:cs typeface="Cambria Math" panose="02040503050406030204" pitchFamily="18" charset="0"/>
                                </a:rPr>
                                <m:t>𝑻</m:t>
                              </m:r>
                            </m:sup>
                          </m:sSubSup>
                        </m:e>
                      </m:nary>
                    </m:oMath>
                  </m:oMathPara>
                </a14:m>
                <a:endParaRPr lang="en-US" altLang="zh-CN" sz="1400" b="1" i="1">
                  <a:latin typeface="Cambria Math" panose="02040503050406030204" pitchFamily="18" charset="0"/>
                  <a:cs typeface="Cambria Math" panose="02040503050406030204" pitchFamily="18" charset="0"/>
                </a:endParaRPr>
              </a:p>
            </p:txBody>
          </p:sp>
        </mc:Choice>
        <mc:Fallback>
          <p:sp>
            <p:nvSpPr>
              <p:cNvPr id="28" name="文本框 27"/>
              <p:cNvSpPr txBox="1">
                <a:spLocks noRot="1" noChangeAspect="1" noMove="1" noResize="1" noEditPoints="1" noAdjustHandles="1" noChangeArrowheads="1" noChangeShapeType="1" noTextEdit="1"/>
              </p:cNvSpPr>
              <p:nvPr/>
            </p:nvSpPr>
            <p:spPr>
              <a:xfrm>
                <a:off x="3196590" y="5316855"/>
                <a:ext cx="1554480" cy="70231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3165475" y="6019165"/>
                <a:ext cx="1318260" cy="67500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Cambria Math" panose="02040503050406030204" pitchFamily="18" charset="0"/>
                        </a:rPr>
                        <m:t>0</m:t>
                      </m:r>
                      <m:r>
                        <a:rPr lang="en-US" altLang="zh-CN" sz="1400" i="1">
                          <a:latin typeface="Cambria Math" panose="02040503050406030204" pitchFamily="18" charset="0"/>
                          <a:cs typeface="Cambria Math" panose="02040503050406030204" pitchFamily="18" charset="0"/>
                        </a:rPr>
                        <m:t>=</m:t>
                      </m:r>
                      <m:nary>
                        <m:naryPr>
                          <m:chr m:val="∑"/>
                          <m:limLoc m:val="undOvr"/>
                          <m:ctrlPr>
                            <a:rPr lang="en-US" altLang="zh-CN" sz="1400" i="1">
                              <a:latin typeface="Cambria Math" panose="02040503050406030204" pitchFamily="18" charset="0"/>
                              <a:cs typeface="Cambria Math" panose="02040503050406030204" pitchFamily="18" charset="0"/>
                            </a:rPr>
                          </m:ctrlPr>
                        </m:naryPr>
                        <m:sub>
                          <m:r>
                            <a:rPr lang="en-US" altLang="zh-CN" sz="1400" i="1">
                              <a:latin typeface="Cambria Math" panose="02040503050406030204" pitchFamily="18" charset="0"/>
                              <a:cs typeface="Cambria Math" panose="02040503050406030204" pitchFamily="18" charset="0"/>
                            </a:rPr>
                            <m:t>𝑖</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1</m:t>
                          </m:r>
                        </m:sub>
                        <m:sup>
                          <m:r>
                            <a:rPr lang="en-US" altLang="zh-CN" sz="1400" i="1">
                              <a:latin typeface="Cambria Math" panose="02040503050406030204" pitchFamily="18" charset="0"/>
                              <a:cs typeface="Cambria Math" panose="02040503050406030204" pitchFamily="18" charset="0"/>
                            </a:rPr>
                            <m:t>𝑚</m:t>
                          </m:r>
                        </m:sup>
                        <m:e>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𝛼</m:t>
                              </m:r>
                            </m:e>
                            <m:sub>
                              <m:r>
                                <a:rPr lang="en-US" altLang="zh-CN" sz="1400" i="1">
                                  <a:latin typeface="Cambria Math" panose="02040503050406030204" pitchFamily="18" charset="0"/>
                                  <a:cs typeface="Cambria Math" panose="02040503050406030204" pitchFamily="18" charset="0"/>
                                </a:rPr>
                                <m:t>𝑖</m:t>
                              </m:r>
                            </m:sub>
                          </m:sSub>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𝑦</m:t>
                              </m:r>
                            </m:e>
                            <m:sub>
                              <m:r>
                                <a:rPr lang="en-US" altLang="zh-CN" sz="1400" i="1">
                                  <a:latin typeface="Cambria Math" panose="02040503050406030204" pitchFamily="18" charset="0"/>
                                  <a:cs typeface="Cambria Math" panose="02040503050406030204" pitchFamily="18" charset="0"/>
                                </a:rPr>
                                <m:t>𝑖</m:t>
                              </m:r>
                            </m:sub>
                          </m:sSub>
                        </m:e>
                      </m:nary>
                    </m:oMath>
                  </m:oMathPara>
                </a14:m>
                <a:endParaRPr lang="en-US" altLang="zh-CN" sz="1400" i="1">
                  <a:latin typeface="Cambria Math" panose="02040503050406030204" pitchFamily="18" charset="0"/>
                  <a:cs typeface="Cambria Math" panose="02040503050406030204" pitchFamily="18"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3165475" y="6019165"/>
                <a:ext cx="1318260" cy="675005"/>
              </a:xfrm>
              <a:prstGeom prst="rect">
                <a:avLst/>
              </a:prstGeom>
              <a:blipFill rotWithShape="1">
                <a:blip r:embed="rId8"/>
                <a:stretch>
                  <a:fillRect/>
                </a:stretch>
              </a:blipFill>
            </p:spPr>
            <p:txBody>
              <a:bodyPr/>
              <a:lstStyle/>
              <a:p>
                <a:r>
                  <a:rPr lang="zh-CN" altLang="en-US">
                    <a:noFill/>
                  </a:rPr>
                  <a:t> </a:t>
                </a:r>
              </a:p>
            </p:txBody>
          </p:sp>
        </mc:Fallback>
      </mc:AlternateContent>
      <p:sp>
        <p:nvSpPr>
          <p:cNvPr id="30" name="左大括号 29"/>
          <p:cNvSpPr/>
          <p:nvPr/>
        </p:nvSpPr>
        <p:spPr>
          <a:xfrm>
            <a:off x="2987675" y="4914900"/>
            <a:ext cx="287655" cy="1481455"/>
          </a:xfrm>
          <a:prstGeom prst="lef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11" name="矩形 10"/>
          <p:cNvSpPr/>
          <p:nvPr>
            <p:custDataLst>
              <p:tags r:id="rId9"/>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2" name="矩形 11"/>
          <p:cNvSpPr/>
          <p:nvPr>
            <p:custDataLst>
              <p:tags r:id="rId10"/>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3" name="文本框 12"/>
          <p:cNvSpPr txBox="1"/>
          <p:nvPr>
            <p:custDataLst>
              <p:tags r:id="rId11"/>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4" name="文本框 23"/>
              <p:cNvSpPr txBox="1"/>
              <p:nvPr/>
            </p:nvSpPr>
            <p:spPr>
              <a:xfrm>
                <a:off x="2715260" y="1242060"/>
                <a:ext cx="3498215" cy="368300"/>
              </a:xfrm>
              <a:prstGeom prst="rect">
                <a:avLst/>
              </a:prstGeom>
              <a:noFill/>
            </p:spPr>
            <p:txBody>
              <a:bodyPr wrap="square" rtlCol="0">
                <a:spAutoFit/>
              </a:bodyPr>
              <a:lstStyle/>
              <a:p>
                <a:r>
                  <a:rPr lang="zh-CN" altLang="en-US"/>
                  <a:t>将上述等式带入</a:t>
                </a:r>
                <a14:m>
                  <m:oMath xmlns:m="http://schemas.openxmlformats.org/officeDocument/2006/math">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𝜶</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可得：</a:t>
                </a:r>
                <a:endParaRPr lang="zh-CN" altLang="en-US">
                  <a:latin typeface="Cambria Math" panose="02040503050406030204" pitchFamily="18" charset="0"/>
                  <a:cs typeface="Cambria Math" panose="02040503050406030204" pitchFamily="18" charset="0"/>
                </a:endParaRPr>
              </a:p>
            </p:txBody>
          </p:sp>
        </mc:Choice>
        <mc:Fallback>
          <p:sp>
            <p:nvSpPr>
              <p:cNvPr id="24" name="文本框 23"/>
              <p:cNvSpPr txBox="1">
                <a:spLocks noRot="1" noChangeAspect="1" noMove="1" noResize="1" noEditPoints="1" noAdjustHandles="1" noChangeArrowheads="1" noChangeShapeType="1" noTextEdit="1"/>
              </p:cNvSpPr>
              <p:nvPr/>
            </p:nvSpPr>
            <p:spPr>
              <a:xfrm>
                <a:off x="2715260" y="1242060"/>
                <a:ext cx="3498215" cy="36830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3408680" y="1852930"/>
                <a:ext cx="7926070" cy="4241165"/>
              </a:xfrm>
              <a:prstGeom prst="rect">
                <a:avLst/>
              </a:prstGeom>
              <a:noFill/>
            </p:spPr>
            <p:txBody>
              <a:bodyPr wrap="square" rtlCol="0" anchor="t">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b="1" i="1">
                              <a:latin typeface="Cambria Math" panose="02040503050406030204" pitchFamily="18" charset="0"/>
                              <a:cs typeface="Cambria Math" panose="02040503050406030204" pitchFamily="18" charset="0"/>
                            </a:rPr>
                            <m:t>𝑻</m:t>
                          </m:r>
                        </m:sup>
                      </m:sSup>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e>
                      </m:nary>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e>
                      </m:nary>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𝑏</m:t>
                          </m:r>
                        </m:e>
                      </m:nary>
                    </m:oMath>
                  </m:oMathPara>
                </a14:m>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oMath>
                  </m:oMathPara>
                </a14:m>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oMath>
                  </m:oMathPara>
                </a14:m>
                <a:endParaRPr lang="en-US" altLang="zh-CN" i="1">
                  <a:latin typeface="Cambria Math" panose="02040503050406030204" pitchFamily="18" charset="0"/>
                  <a:cs typeface="Cambria Math" panose="02040503050406030204" pitchFamily="18" charset="0"/>
                </a:endParaRPr>
              </a:p>
              <a:p>
                <a:endParaRPr lang="en-US" altLang="zh-CN" i="1">
                  <a:latin typeface="Cambria Math" panose="02040503050406030204" pitchFamily="18" charset="0"/>
                  <a:cs typeface="Cambria Math" panose="02040503050406030204" pitchFamily="18" charset="0"/>
                  <a:sym typeface="+mn-ea"/>
                </a:endParaRPr>
              </a:p>
            </p:txBody>
          </p:sp>
        </mc:Choice>
        <mc:Fallback>
          <p:sp>
            <p:nvSpPr>
              <p:cNvPr id="25" name="文本框 24"/>
              <p:cNvSpPr txBox="1">
                <a:spLocks noRot="1" noChangeAspect="1" noMove="1" noResize="1" noEditPoints="1" noAdjustHandles="1" noChangeArrowheads="1" noChangeShapeType="1" noTextEdit="1"/>
              </p:cNvSpPr>
              <p:nvPr/>
            </p:nvSpPr>
            <p:spPr>
              <a:xfrm>
                <a:off x="3408680" y="1852930"/>
                <a:ext cx="7926070" cy="424116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p:cNvSpPr txBox="1"/>
              <p:nvPr/>
            </p:nvSpPr>
            <p:spPr>
              <a:xfrm>
                <a:off x="610235" y="1089025"/>
                <a:ext cx="1555115" cy="67500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cs typeface="Cambria Math" panose="02040503050406030204" pitchFamily="18" charset="0"/>
                        </a:rPr>
                        <m:t>𝒘</m:t>
                      </m:r>
                      <m:r>
                        <a:rPr lang="en-US" altLang="zh-CN" sz="1400" i="1">
                          <a:latin typeface="Cambria Math" panose="02040503050406030204" pitchFamily="18" charset="0"/>
                          <a:cs typeface="Cambria Math" panose="02040503050406030204" pitchFamily="18" charset="0"/>
                        </a:rPr>
                        <m:t>=</m:t>
                      </m:r>
                      <m:nary>
                        <m:naryPr>
                          <m:chr m:val="∑"/>
                          <m:limLoc m:val="undOvr"/>
                          <m:ctrlPr>
                            <a:rPr lang="en-US" altLang="zh-CN" sz="1400" i="1">
                              <a:latin typeface="Cambria Math" panose="02040503050406030204" pitchFamily="18" charset="0"/>
                              <a:cs typeface="Cambria Math" panose="02040503050406030204" pitchFamily="18" charset="0"/>
                            </a:rPr>
                          </m:ctrlPr>
                        </m:naryPr>
                        <m:sub>
                          <m:r>
                            <a:rPr lang="en-US" altLang="zh-CN" sz="1400" i="1">
                              <a:latin typeface="Cambria Math" panose="02040503050406030204" pitchFamily="18" charset="0"/>
                              <a:cs typeface="Cambria Math" panose="02040503050406030204" pitchFamily="18" charset="0"/>
                            </a:rPr>
                            <m:t>𝑖</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1</m:t>
                          </m:r>
                        </m:sub>
                        <m:sup>
                          <m:r>
                            <a:rPr lang="en-US" altLang="zh-CN" sz="1400" i="1">
                              <a:latin typeface="Cambria Math" panose="02040503050406030204" pitchFamily="18" charset="0"/>
                              <a:cs typeface="Cambria Math" panose="02040503050406030204" pitchFamily="18" charset="0"/>
                            </a:rPr>
                            <m:t>𝑚</m:t>
                          </m:r>
                        </m:sup>
                        <m:e>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𝛼</m:t>
                              </m:r>
                            </m:e>
                            <m:sub>
                              <m:r>
                                <a:rPr lang="en-US" altLang="zh-CN" sz="1400" i="1">
                                  <a:latin typeface="Cambria Math" panose="02040503050406030204" pitchFamily="18" charset="0"/>
                                  <a:cs typeface="Cambria Math" panose="02040503050406030204" pitchFamily="18" charset="0"/>
                                </a:rPr>
                                <m:t>𝑖</m:t>
                              </m:r>
                            </m:sub>
                          </m:sSub>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𝑦</m:t>
                              </m:r>
                            </m:e>
                            <m:sub>
                              <m:r>
                                <a:rPr lang="en-US" altLang="zh-CN" sz="1400" i="1">
                                  <a:latin typeface="Cambria Math" panose="02040503050406030204" pitchFamily="18" charset="0"/>
                                  <a:cs typeface="Cambria Math" panose="02040503050406030204" pitchFamily="18" charset="0"/>
                                </a:rPr>
                                <m:t>𝑖</m:t>
                              </m:r>
                            </m:sub>
                          </m:sSub>
                          <m:sSub>
                            <m:sSubPr>
                              <m:ctrlPr>
                                <a:rPr lang="en-US" altLang="zh-CN" sz="1400" b="1" i="1">
                                  <a:latin typeface="Cambria Math" panose="02040503050406030204" pitchFamily="18" charset="0"/>
                                  <a:cs typeface="Cambria Math" panose="02040503050406030204" pitchFamily="18" charset="0"/>
                                </a:rPr>
                              </m:ctrlPr>
                            </m:sSubPr>
                            <m:e>
                              <m:r>
                                <a:rPr lang="en-US" altLang="zh-CN" sz="1400" b="1" i="1">
                                  <a:latin typeface="Cambria Math" panose="02040503050406030204" pitchFamily="18" charset="0"/>
                                  <a:cs typeface="Cambria Math" panose="02040503050406030204" pitchFamily="18" charset="0"/>
                                </a:rPr>
                                <m:t>𝒙</m:t>
                              </m:r>
                            </m:e>
                            <m:sub>
                              <m:r>
                                <a:rPr lang="en-US" altLang="zh-CN" sz="1400" b="1" i="1">
                                  <a:latin typeface="Cambria Math" panose="02040503050406030204" pitchFamily="18" charset="0"/>
                                  <a:cs typeface="Cambria Math" panose="02040503050406030204" pitchFamily="18" charset="0"/>
                                </a:rPr>
                                <m:t>𝒊</m:t>
                              </m:r>
                            </m:sub>
                          </m:sSub>
                        </m:e>
                      </m:nary>
                    </m:oMath>
                  </m:oMathPara>
                </a14:m>
                <a:endParaRPr lang="en-US" altLang="zh-CN" sz="1400" b="1" i="1">
                  <a:latin typeface="Cambria Math" panose="02040503050406030204" pitchFamily="18" charset="0"/>
                  <a:cs typeface="Cambria Math" panose="02040503050406030204" pitchFamily="18" charset="0"/>
                </a:endParaRPr>
              </a:p>
            </p:txBody>
          </p:sp>
        </mc:Choice>
        <mc:Fallback>
          <p:sp>
            <p:nvSpPr>
              <p:cNvPr id="27" name="文本框 26"/>
              <p:cNvSpPr txBox="1">
                <a:spLocks noRot="1" noChangeAspect="1" noMove="1" noResize="1" noEditPoints="1" noAdjustHandles="1" noChangeArrowheads="1" noChangeShapeType="1" noTextEdit="1"/>
              </p:cNvSpPr>
              <p:nvPr/>
            </p:nvSpPr>
            <p:spPr>
              <a:xfrm>
                <a:off x="610235" y="1089025"/>
                <a:ext cx="1555115" cy="675005"/>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671195" y="1831975"/>
                <a:ext cx="1554480" cy="7023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altLang="zh-CN" sz="1400" b="1" i="1">
                              <a:latin typeface="Cambria Math" panose="02040503050406030204" pitchFamily="18" charset="0"/>
                              <a:cs typeface="Cambria Math" panose="02040503050406030204" pitchFamily="18" charset="0"/>
                            </a:rPr>
                          </m:ctrlPr>
                        </m:sSupPr>
                        <m:e>
                          <m:r>
                            <a:rPr lang="en-US" altLang="zh-CN" sz="1400" b="1" i="1">
                              <a:latin typeface="Cambria Math" panose="02040503050406030204" pitchFamily="18" charset="0"/>
                              <a:cs typeface="Cambria Math" panose="02040503050406030204" pitchFamily="18" charset="0"/>
                            </a:rPr>
                            <m:t>𝒘</m:t>
                          </m:r>
                        </m:e>
                        <m:sup>
                          <m:r>
                            <a:rPr lang="en-US" altLang="zh-CN" sz="1400" b="1" i="1">
                              <a:latin typeface="Cambria Math" panose="02040503050406030204" pitchFamily="18" charset="0"/>
                              <a:cs typeface="Cambria Math" panose="02040503050406030204" pitchFamily="18" charset="0"/>
                            </a:rPr>
                            <m:t>𝑻</m:t>
                          </m:r>
                        </m:sup>
                      </m:sSup>
                      <m:r>
                        <a:rPr lang="en-US" altLang="zh-CN" sz="1400" i="1">
                          <a:latin typeface="Cambria Math" panose="02040503050406030204" pitchFamily="18" charset="0"/>
                          <a:cs typeface="Cambria Math" panose="02040503050406030204" pitchFamily="18" charset="0"/>
                        </a:rPr>
                        <m:t>=</m:t>
                      </m:r>
                      <m:nary>
                        <m:naryPr>
                          <m:chr m:val="∑"/>
                          <m:limLoc m:val="undOvr"/>
                          <m:ctrlPr>
                            <a:rPr lang="en-US" altLang="zh-CN" sz="1400" i="1">
                              <a:latin typeface="Cambria Math" panose="02040503050406030204" pitchFamily="18" charset="0"/>
                              <a:cs typeface="Cambria Math" panose="02040503050406030204" pitchFamily="18" charset="0"/>
                            </a:rPr>
                          </m:ctrlPr>
                        </m:naryPr>
                        <m:sub>
                          <m:r>
                            <a:rPr lang="en-US" altLang="zh-CN" sz="1400" i="1">
                              <a:latin typeface="Cambria Math" panose="02040503050406030204" pitchFamily="18" charset="0"/>
                              <a:cs typeface="Cambria Math" panose="02040503050406030204" pitchFamily="18" charset="0"/>
                            </a:rPr>
                            <m:t>𝑗</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1</m:t>
                          </m:r>
                        </m:sub>
                        <m:sup>
                          <m:r>
                            <a:rPr lang="en-US" altLang="zh-CN" sz="1400" i="1">
                              <a:latin typeface="Cambria Math" panose="02040503050406030204" pitchFamily="18" charset="0"/>
                              <a:cs typeface="Cambria Math" panose="02040503050406030204" pitchFamily="18" charset="0"/>
                            </a:rPr>
                            <m:t>𝑚</m:t>
                          </m:r>
                        </m:sup>
                        <m:e>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𝛼</m:t>
                              </m:r>
                            </m:e>
                            <m:sub>
                              <m:r>
                                <a:rPr lang="en-US" altLang="zh-CN" sz="1400" i="1">
                                  <a:latin typeface="Cambria Math" panose="02040503050406030204" pitchFamily="18" charset="0"/>
                                  <a:cs typeface="Cambria Math" panose="02040503050406030204" pitchFamily="18" charset="0"/>
                                </a:rPr>
                                <m:t>𝑗</m:t>
                              </m:r>
                            </m:sub>
                          </m:sSub>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𝑦</m:t>
                              </m:r>
                            </m:e>
                            <m:sub>
                              <m:r>
                                <a:rPr lang="en-US" altLang="zh-CN" sz="1400" i="1">
                                  <a:latin typeface="Cambria Math" panose="02040503050406030204" pitchFamily="18" charset="0"/>
                                  <a:cs typeface="Cambria Math" panose="02040503050406030204" pitchFamily="18" charset="0"/>
                                </a:rPr>
                                <m:t>𝑗</m:t>
                              </m:r>
                            </m:sub>
                          </m:sSub>
                          <m:sSubSup>
                            <m:sSubSupPr>
                              <m:ctrlPr>
                                <a:rPr lang="en-US" altLang="zh-CN" sz="1400" b="1" i="1">
                                  <a:latin typeface="Cambria Math" panose="02040503050406030204" pitchFamily="18" charset="0"/>
                                  <a:cs typeface="Cambria Math" panose="02040503050406030204" pitchFamily="18" charset="0"/>
                                </a:rPr>
                              </m:ctrlPr>
                            </m:sSubSupPr>
                            <m:e>
                              <m:r>
                                <a:rPr lang="en-US" altLang="zh-CN" sz="1400" b="1" i="1">
                                  <a:latin typeface="Cambria Math" panose="02040503050406030204" pitchFamily="18" charset="0"/>
                                  <a:cs typeface="Cambria Math" panose="02040503050406030204" pitchFamily="18" charset="0"/>
                                </a:rPr>
                                <m:t>𝒙</m:t>
                              </m:r>
                            </m:e>
                            <m:sub>
                              <m:r>
                                <a:rPr lang="en-US" altLang="zh-CN" sz="1400" b="1" i="1">
                                  <a:latin typeface="Cambria Math" panose="02040503050406030204" pitchFamily="18" charset="0"/>
                                  <a:cs typeface="Cambria Math" panose="02040503050406030204" pitchFamily="18" charset="0"/>
                                </a:rPr>
                                <m:t>𝒋</m:t>
                              </m:r>
                            </m:sub>
                            <m:sup>
                              <m:r>
                                <a:rPr lang="en-US" altLang="zh-CN" sz="1400" b="1" i="1">
                                  <a:latin typeface="Cambria Math" panose="02040503050406030204" pitchFamily="18" charset="0"/>
                                  <a:cs typeface="Cambria Math" panose="02040503050406030204" pitchFamily="18" charset="0"/>
                                </a:rPr>
                                <m:t>𝑻</m:t>
                              </m:r>
                            </m:sup>
                          </m:sSubSup>
                        </m:e>
                      </m:nary>
                    </m:oMath>
                  </m:oMathPara>
                </a14:m>
                <a:endParaRPr lang="en-US" altLang="zh-CN" sz="1400" b="1" i="1">
                  <a:latin typeface="Cambria Math" panose="02040503050406030204" pitchFamily="18" charset="0"/>
                  <a:cs typeface="Cambria Math" panose="02040503050406030204" pitchFamily="18" charset="0"/>
                </a:endParaRPr>
              </a:p>
            </p:txBody>
          </p:sp>
        </mc:Choice>
        <mc:Fallback>
          <p:sp>
            <p:nvSpPr>
              <p:cNvPr id="28" name="文本框 27"/>
              <p:cNvSpPr txBox="1">
                <a:spLocks noRot="1" noChangeAspect="1" noMove="1" noResize="1" noEditPoints="1" noAdjustHandles="1" noChangeArrowheads="1" noChangeShapeType="1" noTextEdit="1"/>
              </p:cNvSpPr>
              <p:nvPr/>
            </p:nvSpPr>
            <p:spPr>
              <a:xfrm>
                <a:off x="671195" y="1831975"/>
                <a:ext cx="1554480" cy="70231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640080" y="2534285"/>
                <a:ext cx="1318260" cy="67500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1400" i="1">
                          <a:latin typeface="Cambria Math" panose="02040503050406030204" pitchFamily="18" charset="0"/>
                          <a:cs typeface="Cambria Math" panose="02040503050406030204" pitchFamily="18" charset="0"/>
                        </a:rPr>
                        <m:t>0</m:t>
                      </m:r>
                      <m:r>
                        <a:rPr lang="en-US" altLang="zh-CN" sz="1400" i="1">
                          <a:latin typeface="Cambria Math" panose="02040503050406030204" pitchFamily="18" charset="0"/>
                          <a:cs typeface="Cambria Math" panose="02040503050406030204" pitchFamily="18" charset="0"/>
                        </a:rPr>
                        <m:t>=</m:t>
                      </m:r>
                      <m:nary>
                        <m:naryPr>
                          <m:chr m:val="∑"/>
                          <m:limLoc m:val="undOvr"/>
                          <m:ctrlPr>
                            <a:rPr lang="en-US" altLang="zh-CN" sz="1400" i="1">
                              <a:latin typeface="Cambria Math" panose="02040503050406030204" pitchFamily="18" charset="0"/>
                              <a:cs typeface="Cambria Math" panose="02040503050406030204" pitchFamily="18" charset="0"/>
                            </a:rPr>
                          </m:ctrlPr>
                        </m:naryPr>
                        <m:sub>
                          <m:r>
                            <a:rPr lang="en-US" altLang="zh-CN" sz="1400" i="1">
                              <a:latin typeface="Cambria Math" panose="02040503050406030204" pitchFamily="18" charset="0"/>
                              <a:cs typeface="Cambria Math" panose="02040503050406030204" pitchFamily="18" charset="0"/>
                            </a:rPr>
                            <m:t>𝑖</m:t>
                          </m:r>
                          <m:r>
                            <a:rPr lang="en-US" altLang="zh-CN" sz="1400" i="1">
                              <a:latin typeface="Cambria Math" panose="02040503050406030204" pitchFamily="18" charset="0"/>
                              <a:cs typeface="Cambria Math" panose="02040503050406030204" pitchFamily="18" charset="0"/>
                            </a:rPr>
                            <m:t>=</m:t>
                          </m:r>
                          <m:r>
                            <a:rPr lang="en-US" altLang="zh-CN" sz="1400" i="1">
                              <a:latin typeface="Cambria Math" panose="02040503050406030204" pitchFamily="18" charset="0"/>
                              <a:cs typeface="Cambria Math" panose="02040503050406030204" pitchFamily="18" charset="0"/>
                            </a:rPr>
                            <m:t>1</m:t>
                          </m:r>
                        </m:sub>
                        <m:sup>
                          <m:r>
                            <a:rPr lang="en-US" altLang="zh-CN" sz="1400" i="1">
                              <a:latin typeface="Cambria Math" panose="02040503050406030204" pitchFamily="18" charset="0"/>
                              <a:cs typeface="Cambria Math" panose="02040503050406030204" pitchFamily="18" charset="0"/>
                            </a:rPr>
                            <m:t>𝑚</m:t>
                          </m:r>
                        </m:sup>
                        <m:e>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𝛼</m:t>
                              </m:r>
                            </m:e>
                            <m:sub>
                              <m:r>
                                <a:rPr lang="en-US" altLang="zh-CN" sz="1400" i="1">
                                  <a:latin typeface="Cambria Math" panose="02040503050406030204" pitchFamily="18" charset="0"/>
                                  <a:cs typeface="Cambria Math" panose="02040503050406030204" pitchFamily="18" charset="0"/>
                                </a:rPr>
                                <m:t>𝑖</m:t>
                              </m:r>
                            </m:sub>
                          </m:sSub>
                          <m:sSub>
                            <m:sSubPr>
                              <m:ctrlPr>
                                <a:rPr lang="en-US" altLang="zh-CN" sz="1400" i="1">
                                  <a:latin typeface="Cambria Math" panose="02040503050406030204" pitchFamily="18" charset="0"/>
                                  <a:cs typeface="Cambria Math" panose="02040503050406030204" pitchFamily="18" charset="0"/>
                                </a:rPr>
                              </m:ctrlPr>
                            </m:sSubPr>
                            <m:e>
                              <m:r>
                                <a:rPr lang="en-US" altLang="zh-CN" sz="1400" i="1">
                                  <a:latin typeface="Cambria Math" panose="02040503050406030204" pitchFamily="18" charset="0"/>
                                  <a:cs typeface="Cambria Math" panose="02040503050406030204" pitchFamily="18" charset="0"/>
                                </a:rPr>
                                <m:t>𝑦</m:t>
                              </m:r>
                            </m:e>
                            <m:sub>
                              <m:r>
                                <a:rPr lang="en-US" altLang="zh-CN" sz="1400" i="1">
                                  <a:latin typeface="Cambria Math" panose="02040503050406030204" pitchFamily="18" charset="0"/>
                                  <a:cs typeface="Cambria Math" panose="02040503050406030204" pitchFamily="18" charset="0"/>
                                </a:rPr>
                                <m:t>𝑖</m:t>
                              </m:r>
                            </m:sub>
                          </m:sSub>
                        </m:e>
                      </m:nary>
                    </m:oMath>
                  </m:oMathPara>
                </a14:m>
                <a:endParaRPr lang="en-US" altLang="zh-CN" sz="1400" i="1">
                  <a:latin typeface="Cambria Math" panose="02040503050406030204" pitchFamily="18" charset="0"/>
                  <a:cs typeface="Cambria Math" panose="02040503050406030204" pitchFamily="18"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640080" y="2534285"/>
                <a:ext cx="1318260" cy="675005"/>
              </a:xfrm>
              <a:prstGeom prst="rect">
                <a:avLst/>
              </a:prstGeom>
              <a:blipFill rotWithShape="1">
                <a:blip r:embed="rId5"/>
                <a:stretch>
                  <a:fillRect/>
                </a:stretch>
              </a:blipFill>
            </p:spPr>
            <p:txBody>
              <a:bodyPr/>
              <a:lstStyle/>
              <a:p>
                <a:r>
                  <a:rPr lang="zh-CN" altLang="en-US">
                    <a:noFill/>
                  </a:rPr>
                  <a:t> </a:t>
                </a:r>
              </a:p>
            </p:txBody>
          </p:sp>
        </mc:Fallback>
      </mc:AlternateContent>
      <p:sp>
        <p:nvSpPr>
          <p:cNvPr id="30" name="左大括号 29"/>
          <p:cNvSpPr/>
          <p:nvPr/>
        </p:nvSpPr>
        <p:spPr>
          <a:xfrm>
            <a:off x="462280" y="1430020"/>
            <a:ext cx="287655" cy="1481455"/>
          </a:xfrm>
          <a:prstGeom prst="lef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 name="文本框 4"/>
              <p:cNvSpPr txBox="1"/>
              <p:nvPr/>
            </p:nvSpPr>
            <p:spPr>
              <a:xfrm>
                <a:off x="2374900" y="2075180"/>
                <a:ext cx="1118235"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𝜶</m:t>
                      </m:r>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374900" y="2075180"/>
                <a:ext cx="1118235" cy="368300"/>
              </a:xfrm>
              <a:prstGeom prst="rect">
                <a:avLst/>
              </a:prstGeom>
              <a:blipFill rotWithShape="1">
                <a:blip r:embed="rId6"/>
                <a:stretch>
                  <a:fillRect/>
                </a:stretch>
              </a:blipFill>
            </p:spPr>
            <p:txBody>
              <a:bodyPr/>
              <a:lstStyle/>
              <a:p>
                <a:r>
                  <a:rPr lang="zh-CN" altLang="en-US">
                    <a:noFill/>
                  </a:rPr>
                  <a:t> </a:t>
                </a:r>
              </a:p>
            </p:txBody>
          </p:sp>
        </mc:Fallback>
      </mc:AlternateContent>
      <p:sp>
        <p:nvSpPr>
          <p:cNvPr id="9" name="矩形 8"/>
          <p:cNvSpPr/>
          <p:nvPr>
            <p:custDataLst>
              <p:tags r:id="rId7"/>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8"/>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6" name="文本框 5"/>
          <p:cNvSpPr txBox="1"/>
          <p:nvPr>
            <p:custDataLst>
              <p:tags r:id="rId9"/>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 name="文本框 6"/>
              <p:cNvSpPr txBox="1"/>
              <p:nvPr/>
            </p:nvSpPr>
            <p:spPr>
              <a:xfrm>
                <a:off x="301625" y="1691640"/>
                <a:ext cx="5012690" cy="2421890"/>
              </a:xfrm>
              <a:prstGeom prst="rect">
                <a:avLst/>
              </a:prstGeom>
              <a:noFill/>
            </p:spPr>
            <p:txBody>
              <a:bodyPr wrap="square" rtlCol="0" anchor="t">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𝑚𝑎𝑥</m:t>
                      </m:r>
                      <m:r>
                        <a:rPr lang="en-US" altLang="zh-CN" i="1">
                          <a:latin typeface="Cambria Math" panose="02040503050406030204" pitchFamily="18" charset="0"/>
                          <a:cs typeface="Cambria Math" panose="02040503050406030204" pitchFamily="18" charset="0"/>
                        </a:rPr>
                        <m:t> {</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b="1" i="1">
                          <a:latin typeface="Cambria Math" panose="02040503050406030204" pitchFamily="18" charset="0"/>
                          <a:cs typeface="Cambria Math" panose="02040503050406030204" pitchFamily="18" charset="0"/>
                        </a:rPr>
                        <m:t>}</m:t>
                      </m:r>
                    </m:oMath>
                  </m:oMathPara>
                </a14:m>
                <a:endParaRPr lang="en-US" altLang="zh-CN" b="1"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301625" y="1691640"/>
                <a:ext cx="5012690" cy="242189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309880" y="2144395"/>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309880" y="2144395"/>
                <a:ext cx="43942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633095" y="2144395"/>
                <a:ext cx="791845"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endParaRPr lang="en-US" altLang="zh-CN">
                  <a:latin typeface="Cambria Math" panose="02040503050406030204" pitchFamily="18" charset="0"/>
                  <a:cs typeface="Cambria Math" panose="02040503050406030204" pitchFamily="18" charset="0"/>
                  <a:sym typeface="+mn-ea"/>
                </a:endParaRPr>
              </a:p>
            </p:txBody>
          </p:sp>
        </mc:Choice>
        <mc:Fallback>
          <p:sp>
            <p:nvSpPr>
              <p:cNvPr id="9" name="文本框 8"/>
              <p:cNvSpPr txBox="1">
                <a:spLocks noRot="1" noChangeAspect="1" noMove="1" noResize="1" noEditPoints="1" noAdjustHandles="1" noChangeArrowheads="1" noChangeShapeType="1" noTextEdit="1"/>
              </p:cNvSpPr>
              <p:nvPr/>
            </p:nvSpPr>
            <p:spPr>
              <a:xfrm>
                <a:off x="633095" y="2144395"/>
                <a:ext cx="791845"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5314315" y="1299845"/>
                <a:ext cx="5829935" cy="897890"/>
              </a:xfrm>
              <a:prstGeom prst="rect">
                <a:avLst/>
              </a:prstGeom>
              <a:noFill/>
            </p:spPr>
            <p:txBody>
              <a:bodyPr wrap="square" rtlCol="0">
                <a:spAutoFit/>
              </a:bodyPr>
              <a:lstStyle/>
              <a:p>
                <a:r>
                  <a:rPr lang="zh-CN" altLang="en-US"/>
                  <a:t>KKT条件：</a:t>
                </a:r>
                <a14:m>
                  <m:oMath xmlns:m="http://schemas.openxmlformats.org/officeDocument/2006/math">
                    <m:d>
                      <m:dPr>
                        <m:begChr m:val="{"/>
                        <m:endChr m:val=""/>
                        <m:ctrlPr>
                          <a:rPr lang="en-US" altLang="zh-CN" i="1">
                            <a:latin typeface="Cambria Math" panose="02040503050406030204" pitchFamily="18" charset="0"/>
                            <a:cs typeface="Cambria Math" panose="02040503050406030204" pitchFamily="18" charset="0"/>
                          </a:rPr>
                        </m:ctrlPr>
                      </m:dPr>
                      <m:e>
                        <m:eqArr>
                          <m:eqArrPr>
                            <m:ctrlPr>
                              <a:rPr lang="en-US" altLang="zh-CN" i="1">
                                <a:latin typeface="Cambria Math" panose="02040503050406030204" pitchFamily="18" charset="0"/>
                                <a:cs typeface="Cambria Math" panose="02040503050406030204" pitchFamily="18" charset="0"/>
                              </a:rPr>
                            </m:ctrlPr>
                          </m:eqArr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e>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e>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e>
                        </m:eqArr>
                      </m:e>
                    </m:d>
                  </m:oMath>
                </a14:m>
                <a:r>
                  <a:rPr lang="en-US" altLang="zh-CN"/>
                  <a:t>  (</a:t>
                </a:r>
                <a14:m>
                  <m:oMath xmlns:m="http://schemas.openxmlformats.org/officeDocument/2006/math">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b="1" i="1">
                            <a:latin typeface="Cambria Math" panose="02040503050406030204" pitchFamily="18" charset="0"/>
                            <a:cs typeface="Cambria Math" panose="02040503050406030204" pitchFamily="18" charset="0"/>
                          </a:rPr>
                          <m:t>𝑻</m:t>
                        </m:r>
                      </m:sup>
                    </m:s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t>)</a:t>
                </a:r>
                <a:endParaRPr lang="en-US" altLang="zh-CN"/>
              </a:p>
            </p:txBody>
          </p:sp>
        </mc:Choice>
        <mc:Fallback>
          <p:sp>
            <p:nvSpPr>
              <p:cNvPr id="11" name="文本框 10"/>
              <p:cNvSpPr txBox="1">
                <a:spLocks noRot="1" noChangeAspect="1" noMove="1" noResize="1" noEditPoints="1" noAdjustHandles="1" noChangeArrowheads="1" noChangeShapeType="1" noTextEdit="1"/>
              </p:cNvSpPr>
              <p:nvPr/>
            </p:nvSpPr>
            <p:spPr>
              <a:xfrm>
                <a:off x="5314315" y="1299845"/>
                <a:ext cx="5829935" cy="89789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658495" y="284353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658495" y="2843530"/>
                <a:ext cx="43942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58495" y="366395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658495" y="3663950"/>
                <a:ext cx="439420" cy="368300"/>
              </a:xfrm>
              <a:prstGeom prst="rect">
                <a:avLst/>
              </a:prstGeom>
              <a:blipFill rotWithShape="1">
                <a:blip r:embed="rId2"/>
                <a:stretch>
                  <a:fillRect/>
                </a:stretch>
              </a:blipFill>
            </p:spPr>
            <p:txBody>
              <a:bodyPr/>
              <a:lstStyle/>
              <a:p>
                <a:r>
                  <a:rPr lang="zh-CN" altLang="en-US">
                    <a:noFill/>
                  </a:rPr>
                  <a:t> </a:t>
                </a:r>
              </a:p>
            </p:txBody>
          </p:sp>
        </mc:Fallback>
      </mc:AlternateContent>
      <p:sp>
        <p:nvSpPr>
          <p:cNvPr id="14" name="文本框 13"/>
          <p:cNvSpPr txBox="1"/>
          <p:nvPr/>
        </p:nvSpPr>
        <p:spPr>
          <a:xfrm>
            <a:off x="297815" y="1115060"/>
            <a:ext cx="5075555" cy="368300"/>
          </a:xfrm>
          <a:prstGeom prst="rect">
            <a:avLst/>
          </a:prstGeom>
          <a:noFill/>
        </p:spPr>
        <p:txBody>
          <a:bodyPr wrap="square" rtlCol="0">
            <a:spAutoFit/>
          </a:bodyPr>
          <a:lstStyle/>
          <a:p>
            <a:r>
              <a:rPr lang="zh-CN" altLang="en-US"/>
              <a:t>因此，最终的优化问题可转变为：</a:t>
            </a:r>
            <a:endParaRPr lang="zh-CN" altLang="en-US"/>
          </a:p>
        </p:txBody>
      </p:sp>
      <mc:AlternateContent xmlns:mc="http://schemas.openxmlformats.org/markup-compatibility/2006">
        <mc:Choice xmlns:a14="http://schemas.microsoft.com/office/drawing/2010/main" Requires="a14">
          <p:sp>
            <p:nvSpPr>
              <p:cNvPr id="15" name="文本框 14"/>
              <p:cNvSpPr txBox="1"/>
              <p:nvPr/>
            </p:nvSpPr>
            <p:spPr>
              <a:xfrm>
                <a:off x="5347970" y="2566035"/>
                <a:ext cx="6536690" cy="2344420"/>
              </a:xfrm>
              <a:prstGeom prst="rect">
                <a:avLst/>
              </a:prstGeom>
              <a:noFill/>
            </p:spPr>
            <p:txBody>
              <a:bodyPr wrap="square" rtlCol="0">
                <a:spAutoFit/>
              </a:bodyPr>
              <a:lstStyle/>
              <a:p>
                <a:r>
                  <a:rPr lang="zh-CN" altLang="en-US"/>
                  <a:t>根据</a:t>
                </a:r>
                <a:r>
                  <a:rPr lang="en-US" altLang="zh-CN"/>
                  <a:t>KKT</a:t>
                </a:r>
                <a:r>
                  <a:rPr lang="zh-CN" altLang="en-US"/>
                  <a:t>条件，对于任意的训练样本</a:t>
                </a:r>
                <a:r>
                  <a:rPr lang="en-US" altLang="zh-CN"/>
                  <a:t>(</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b="1"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oMath>
                </a14:m>
                <a:r>
                  <a:rPr lang="en-US" altLang="zh-CN"/>
                  <a:t>)</a:t>
                </a:r>
                <a:r>
                  <a:rPr lang="zh-CN" altLang="en-US"/>
                  <a:t>都有：</a:t>
                </a:r>
                <a:endParaRPr lang="zh-CN" altLang="en-US"/>
              </a:p>
              <a:p>
                <a:pPr>
                  <a:lnSpc>
                    <a:spcPct val="30000"/>
                  </a:lnSpc>
                </a:pPr>
                <a:endParaRPr lang="zh-CN" altLang="en-US"/>
              </a:p>
              <a:p>
                <a:pPr indent="457200"/>
                <a:r>
                  <a:rPr lang="en-US" altLang="zh-CN"/>
                  <a:t>1</a:t>
                </a:r>
                <a:r>
                  <a:rPr lang="zh-CN" altLang="en-US"/>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r>
                  <a:rPr lang="en-US" altLang="zh-CN"/>
                  <a:t>          </a:t>
                </a:r>
                <a:endParaRPr lang="en-US" altLang="zh-CN"/>
              </a:p>
              <a:p>
                <a:pPr indent="457200"/>
                <a:r>
                  <a:rPr lang="zh-CN" altLang="en-US"/>
                  <a:t>此种情况所对应的训练样本点对于优化问题无影响</a:t>
                </a:r>
                <a:endParaRPr lang="zh-CN" altLang="en-US"/>
              </a:p>
              <a:p>
                <a:pPr indent="457200">
                  <a:lnSpc>
                    <a:spcPct val="50000"/>
                  </a:lnSpc>
                </a:pPr>
                <a:endParaRPr lang="en-US" altLang="zh-CN"/>
              </a:p>
              <a:p>
                <a:pPr indent="457200"/>
                <a:r>
                  <a:rPr lang="en-US" altLang="zh-CN"/>
                  <a:t>2</a:t>
                </a:r>
                <a:r>
                  <a:rPr lang="zh-CN" altLang="en-US"/>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&gt;</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𝑓</m:t>
                    </m:r>
                    <m:r>
                      <a:rPr lang="en-US" altLang="zh-CN"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endParaRPr lang="en-US" altLang="zh-CN" i="1">
                  <a:latin typeface="Cambria Math" panose="02040503050406030204" pitchFamily="18" charset="0"/>
                  <a:cs typeface="Cambria Math" panose="02040503050406030204" pitchFamily="18" charset="0"/>
                </a:endParaRPr>
              </a:p>
              <a:p>
                <a:pPr indent="457200"/>
                <a:r>
                  <a:rPr lang="zh-CN" altLang="en-US"/>
                  <a:t>即</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oMath>
                </a14:m>
                <a:r>
                  <a:rPr lang="zh-CN" altLang="en-US">
                    <a:latin typeface="Cambria Math" panose="02040503050406030204" pitchFamily="18" charset="0"/>
                    <a:cs typeface="Cambria Math" panose="02040503050406030204" pitchFamily="18" charset="0"/>
                    <a:sym typeface="+mn-ea"/>
                  </a:rPr>
                  <a:t>，此种情况对应的训练样本点位于最大</a:t>
                </a:r>
                <a:endParaRPr lang="zh-CN" altLang="en-US">
                  <a:latin typeface="Cambria Math" panose="02040503050406030204" pitchFamily="18" charset="0"/>
                  <a:cs typeface="Cambria Math" panose="02040503050406030204" pitchFamily="18" charset="0"/>
                  <a:sym typeface="+mn-ea"/>
                </a:endParaRPr>
              </a:p>
              <a:p>
                <a:pPr indent="457200"/>
                <a:r>
                  <a:rPr lang="zh-CN" altLang="en-US">
                    <a:latin typeface="Cambria Math" panose="02040503050406030204" pitchFamily="18" charset="0"/>
                    <a:cs typeface="Cambria Math" panose="02040503050406030204" pitchFamily="18" charset="0"/>
                    <a:sym typeface="+mn-ea"/>
                  </a:rPr>
                  <a:t>间隔边界上，是一个支持向量</a:t>
                </a:r>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endParaRPr>
              </a:p>
              <a:p>
                <a:pPr indent="457200">
                  <a:lnSpc>
                    <a:spcPct val="30000"/>
                  </a:lnSpc>
                </a:pPr>
                <a:endParaRPr lang="zh-CN" altLang="en-US">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endParaRPr>
              </a:p>
              <a:p>
                <a:pPr indent="457200"/>
                <a:r>
                  <a:rPr lang="zh-CN" altLang="en-US">
                    <a:sym typeface="+mn-ea"/>
                  </a:rPr>
                  <a:t>(</a:t>
                </a:r>
                <a:r>
                  <a:rPr lang="zh-CN" altLang="en-US" sz="1600">
                    <a:sym typeface="+mn-ea"/>
                  </a:rPr>
                  <a:t>支持向量：距离超平面最近的且满足一定条件的几个训练样本点</a:t>
                </a:r>
                <a:r>
                  <a:rPr lang="zh-CN" altLang="en-US">
                    <a:sym typeface="+mn-ea"/>
                  </a:rPr>
                  <a:t>)</a:t>
                </a:r>
                <a:endParaRPr lang="en-US" altLang="zh-CN">
                  <a:solidFill>
                    <a:schemeClr val="accent1"/>
                  </a:solidFill>
                  <a:effectLst>
                    <a:outerShdw blurRad="38100" dist="25400" dir="5400000" algn="ctr" rotWithShape="0">
                      <a:srgbClr val="6E747A">
                        <a:alpha val="43000"/>
                      </a:srgbClr>
                    </a:outerShdw>
                  </a:effectLst>
                  <a:latin typeface="Cambria Math" panose="02040503050406030204" pitchFamily="18" charset="0"/>
                  <a:cs typeface="Cambria Math" panose="02040503050406030204" pitchFamily="18" charset="0"/>
                  <a:sym typeface="+mn-ea"/>
                </a:endParaRPr>
              </a:p>
            </p:txBody>
          </p:sp>
        </mc:Choice>
        <mc:Fallback>
          <p:sp>
            <p:nvSpPr>
              <p:cNvPr id="15" name="文本框 14"/>
              <p:cNvSpPr txBox="1">
                <a:spLocks noRot="1" noChangeAspect="1" noMove="1" noResize="1" noEditPoints="1" noAdjustHandles="1" noChangeArrowheads="1" noChangeShapeType="1" noTextEdit="1"/>
              </p:cNvSpPr>
              <p:nvPr/>
            </p:nvSpPr>
            <p:spPr>
              <a:xfrm>
                <a:off x="5347970" y="2566035"/>
                <a:ext cx="6536690" cy="2344420"/>
              </a:xfrm>
              <a:prstGeom prst="rect">
                <a:avLst/>
              </a:prstGeom>
              <a:blipFill rotWithShape="1">
                <a:blip r:embed="rId5"/>
                <a:stretch>
                  <a:fillRect/>
                </a:stretch>
              </a:blipFill>
            </p:spPr>
            <p:txBody>
              <a:bodyPr/>
              <a:lstStyle/>
              <a:p>
                <a:r>
                  <a:rPr lang="zh-CN" altLang="en-US">
                    <a:noFill/>
                  </a:rPr>
                  <a:t> </a:t>
                </a:r>
              </a:p>
            </p:txBody>
          </p:sp>
        </mc:Fallback>
      </mc:AlternateContent>
      <p:sp>
        <p:nvSpPr>
          <p:cNvPr id="16" name="右箭头 15"/>
          <p:cNvSpPr/>
          <p:nvPr/>
        </p:nvSpPr>
        <p:spPr>
          <a:xfrm>
            <a:off x="5474335" y="3255645"/>
            <a:ext cx="330200" cy="250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右箭头 17"/>
          <p:cNvSpPr/>
          <p:nvPr/>
        </p:nvSpPr>
        <p:spPr>
          <a:xfrm>
            <a:off x="5474335" y="3975100"/>
            <a:ext cx="330200" cy="250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688975" y="5099050"/>
            <a:ext cx="10819130" cy="506730"/>
          </a:xfrm>
          <a:prstGeom prst="rect">
            <a:avLst/>
          </a:prstGeom>
          <a:noFill/>
        </p:spPr>
        <p:txBody>
          <a:bodyPr wrap="square" rtlCol="0">
            <a:spAutoFit/>
          </a:bodyPr>
          <a:lstStyle/>
          <a:p>
            <a:pPr algn="l" eaLnBrk="0" hangingPunct="0">
              <a:lnSpc>
                <a:spcPct val="150000"/>
              </a:lnSpc>
              <a:buClr>
                <a:schemeClr val="folHlink"/>
              </a:buClr>
              <a:buSzTx/>
              <a:buFontTx/>
            </a:pPr>
            <a:r>
              <a:rPr lang="zh-CN" altLang="en-US" b="1">
                <a:solidFill>
                  <a:srgbClr val="0070C0"/>
                </a:solidFill>
              </a:rPr>
              <a:t>支持向量机的一个重要性质：训练完成后，大部分的训练样本都不需要保留，最终模型仅与支持向量有关</a:t>
            </a:r>
            <a:endParaRPr lang="zh-CN" altLang="en-US" b="1">
              <a:solidFill>
                <a:srgbClr val="0070C0"/>
              </a:solidFill>
            </a:endParaRPr>
          </a:p>
        </p:txBody>
      </p:sp>
      <mc:AlternateContent xmlns:mc="http://schemas.openxmlformats.org/markup-compatibility/2006">
        <mc:Choice xmlns:a14="http://schemas.microsoft.com/office/drawing/2010/main" Requires="a14">
          <p:sp>
            <p:nvSpPr>
              <p:cNvPr id="25" name="文本框 24"/>
              <p:cNvSpPr txBox="1"/>
              <p:nvPr/>
            </p:nvSpPr>
            <p:spPr>
              <a:xfrm>
                <a:off x="632460" y="5621655"/>
                <a:ext cx="10932160" cy="768350"/>
              </a:xfrm>
              <a:prstGeom prst="rect">
                <a:avLst/>
              </a:prstGeom>
              <a:noFill/>
            </p:spPr>
            <p:txBody>
              <a:bodyPr wrap="square" rtlCol="0">
                <a:spAutoFit/>
              </a:bodyPr>
              <a:lstStyle/>
              <a:p>
                <a:r>
                  <a:rPr lang="en-US" altLang="zh-CN"/>
                  <a:t>可以理解为对于一个超平面的选择任意一个训练数据</a:t>
                </a:r>
                <a14:m>
                  <m:oMath xmlns:m="http://schemas.openxmlformats.org/officeDocument/2006/math">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𝒙</m:t>
                        </m:r>
                      </m:e>
                      <m:sub>
                        <m:r>
                          <a:rPr lang="en-US" altLang="zh-CN">
                            <a:latin typeface="Cambria Math" panose="02040503050406030204" pitchFamily="18" charset="0"/>
                          </a:rPr>
                          <m:t>𝒊</m:t>
                        </m:r>
                      </m:sub>
                    </m:sSub>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𝑦</m:t>
                        </m:r>
                      </m:e>
                      <m:sub>
                        <m:r>
                          <a:rPr lang="en-US" altLang="zh-CN">
                            <a:latin typeface="Cambria Math" panose="02040503050406030204" pitchFamily="18" charset="0"/>
                          </a:rPr>
                          <m:t>𝑖</m:t>
                        </m:r>
                      </m:sub>
                    </m:sSub>
                    <m:r>
                      <a:rPr lang="en-US" altLang="zh-CN">
                        <a:latin typeface="Cambria Math" panose="02040503050406030204" pitchFamily="18" charset="0"/>
                      </a:rPr>
                      <m:t>)</m:t>
                    </m:r>
                  </m:oMath>
                </a14:m>
                <a:r>
                  <a:rPr lang="en-US" altLang="zh-CN"/>
                  <a:t>所对应的拉格朗日乘子为</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𝛼</m:t>
                        </m:r>
                      </m:e>
                      <m:sub>
                        <m:r>
                          <a:rPr lang="en-US" altLang="zh-CN">
                            <a:latin typeface="Cambria Math" panose="02040503050406030204" pitchFamily="18" charset="0"/>
                          </a:rPr>
                          <m:t>𝑖</m:t>
                        </m:r>
                      </m:sub>
                    </m:sSub>
                  </m:oMath>
                </a14:m>
                <a:r>
                  <a:rPr lang="en-US" altLang="zh-CN"/>
                  <a:t>，</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𝛼</m:t>
                        </m:r>
                      </m:e>
                      <m:sub>
                        <m:r>
                          <a:rPr lang="en-US" altLang="zh-CN">
                            <a:latin typeface="Cambria Math" panose="02040503050406030204" pitchFamily="18" charset="0"/>
                          </a:rPr>
                          <m:t>𝑖</m:t>
                        </m:r>
                      </m:sub>
                    </m:sSub>
                  </m:oMath>
                </a14:m>
                <a:r>
                  <a:rPr lang="en-US" altLang="zh-CN"/>
                  <a:t>越大，证明该训练数据对于超平面的选择贡献度越大，</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𝛼</m:t>
                        </m:r>
                      </m:e>
                      <m:sub>
                        <m:r>
                          <a:rPr lang="en-US" altLang="zh-CN">
                            <a:latin typeface="Cambria Math" panose="02040503050406030204" pitchFamily="18" charset="0"/>
                          </a:rPr>
                          <m:t>𝑖</m:t>
                        </m:r>
                      </m:sub>
                    </m:sSub>
                    <m:r>
                      <a:rPr lang="en-US" altLang="zh-CN">
                        <a:latin typeface="Cambria Math" panose="02040503050406030204" pitchFamily="18" charset="0"/>
                      </a:rPr>
                      <m:t>=</m:t>
                    </m:r>
                    <m:r>
                      <a:rPr lang="en-US" altLang="zh-CN">
                        <a:latin typeface="Cambria Math" panose="02040503050406030204" pitchFamily="18" charset="0"/>
                      </a:rPr>
                      <m:t>0</m:t>
                    </m:r>
                  </m:oMath>
                </a14:m>
                <a:r>
                  <a:rPr lang="en-US" altLang="zh-CN"/>
                  <a:t> 证明该训练数据对于超平面的选择无贡献</a:t>
                </a:r>
                <a:endParaRPr lang="en-US" altLang="zh-CN"/>
              </a:p>
            </p:txBody>
          </p:sp>
        </mc:Choice>
        <mc:Fallback>
          <p:sp>
            <p:nvSpPr>
              <p:cNvPr id="25" name="文本框 24"/>
              <p:cNvSpPr txBox="1">
                <a:spLocks noRot="1" noChangeAspect="1" noMove="1" noResize="1" noEditPoints="1" noAdjustHandles="1" noChangeArrowheads="1" noChangeShapeType="1" noTextEdit="1"/>
              </p:cNvSpPr>
              <p:nvPr/>
            </p:nvSpPr>
            <p:spPr>
              <a:xfrm>
                <a:off x="632460" y="5621655"/>
                <a:ext cx="10932160" cy="768350"/>
              </a:xfrm>
              <a:prstGeom prst="rect">
                <a:avLst/>
              </a:prstGeom>
              <a:blipFill rotWithShape="1">
                <a:blip r:embed="rId6"/>
                <a:stretch>
                  <a:fillRect/>
                </a:stretch>
              </a:blipFill>
            </p:spPr>
            <p:txBody>
              <a:bodyPr/>
              <a:lstStyle/>
              <a:p>
                <a:r>
                  <a:rPr lang="zh-CN" altLang="en-US">
                    <a:noFill/>
                  </a:rPr>
                  <a:t> </a:t>
                </a:r>
              </a:p>
            </p:txBody>
          </p:sp>
        </mc:Fallback>
      </mc:AlternateContent>
      <p:sp>
        <p:nvSpPr>
          <p:cNvPr id="5" name="矩形 4"/>
          <p:cNvSpPr/>
          <p:nvPr>
            <p:custDataLst>
              <p:tags r:id="rId7"/>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8"/>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6" name="文本框 5"/>
          <p:cNvSpPr txBox="1"/>
          <p:nvPr>
            <p:custDataLst>
              <p:tags r:id="rId9"/>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474980" y="1195070"/>
            <a:ext cx="10819130" cy="506730"/>
          </a:xfrm>
          <a:prstGeom prst="rect">
            <a:avLst/>
          </a:prstGeom>
          <a:noFill/>
        </p:spPr>
        <p:txBody>
          <a:bodyPr wrap="square" rtlCol="0">
            <a:spAutoFit/>
          </a:bodyPr>
          <a:lstStyle/>
          <a:p>
            <a:pPr algn="l" eaLnBrk="0" hangingPunct="0">
              <a:lnSpc>
                <a:spcPct val="150000"/>
              </a:lnSpc>
              <a:buClr>
                <a:schemeClr val="folHlink"/>
              </a:buClr>
              <a:buSzTx/>
              <a:buFontTx/>
            </a:pPr>
            <a:r>
              <a:rPr lang="zh-CN" altLang="en-US" b="1">
                <a:solidFill>
                  <a:srgbClr val="0070C0"/>
                </a:solidFill>
              </a:rPr>
              <a:t>支持向量机的一个重要性质：训练完成后，大部分的训练样本都不需要保留，最终模型仅与支持向量有关</a:t>
            </a:r>
            <a:endParaRPr lang="zh-CN" altLang="en-US" b="1">
              <a:solidFill>
                <a:srgbClr val="0070C0"/>
              </a:solidFill>
            </a:endParaRPr>
          </a:p>
        </p:txBody>
      </p:sp>
      <p:grpSp>
        <p:nvGrpSpPr>
          <p:cNvPr id="26" name="组合 25"/>
          <p:cNvGrpSpPr/>
          <p:nvPr/>
        </p:nvGrpSpPr>
        <p:grpSpPr>
          <a:xfrm>
            <a:off x="1259840" y="1805305"/>
            <a:ext cx="9928225" cy="4462780"/>
            <a:chOff x="2970" y="2776"/>
            <a:chExt cx="15635" cy="7028"/>
          </a:xfrm>
        </p:grpSpPr>
        <p:pic>
          <p:nvPicPr>
            <p:cNvPr id="5" name="图片 4" descr="支持向量"/>
            <p:cNvPicPr>
              <a:picLocks noChangeAspect="1"/>
            </p:cNvPicPr>
            <p:nvPr>
              <p:custDataLst>
                <p:tags r:id="rId1"/>
              </p:custDataLst>
            </p:nvPr>
          </p:nvPicPr>
          <p:blipFill>
            <a:blip r:embed="rId2"/>
            <a:stretch>
              <a:fillRect/>
            </a:stretch>
          </p:blipFill>
          <p:spPr>
            <a:xfrm>
              <a:off x="2970" y="3744"/>
              <a:ext cx="13260" cy="6060"/>
            </a:xfrm>
            <a:prstGeom prst="rect">
              <a:avLst/>
            </a:prstGeom>
          </p:spPr>
        </p:pic>
        <p:cxnSp>
          <p:nvCxnSpPr>
            <p:cNvPr id="9" name="直接箭头连接符 8"/>
            <p:cNvCxnSpPr/>
            <p:nvPr/>
          </p:nvCxnSpPr>
          <p:spPr>
            <a:xfrm flipH="1" flipV="1">
              <a:off x="10622" y="3496"/>
              <a:ext cx="527" cy="297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flipV="1">
              <a:off x="10922" y="3516"/>
              <a:ext cx="1554" cy="226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flipV="1">
              <a:off x="10802" y="3542"/>
              <a:ext cx="1667" cy="424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13816" y="5069"/>
              <a:ext cx="2926" cy="553"/>
            </a:xfrm>
            <a:prstGeom prst="straightConnector1">
              <a:avLst/>
            </a:prstGeom>
            <a:ln w="19050">
              <a:solidFill>
                <a:srgbClr val="0070C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11870" y="6022"/>
              <a:ext cx="4826" cy="3009"/>
            </a:xfrm>
            <a:prstGeom prst="straightConnector1">
              <a:avLst/>
            </a:prstGeom>
            <a:ln w="19050">
              <a:solidFill>
                <a:srgbClr val="0070C0"/>
              </a:solidFill>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9876" y="2776"/>
              <a:ext cx="1774" cy="580"/>
            </a:xfrm>
            <a:prstGeom prst="rect">
              <a:avLst/>
            </a:prstGeom>
            <a:noFill/>
          </p:spPr>
          <p:txBody>
            <a:bodyPr wrap="square" rtlCol="0">
              <a:spAutoFit/>
            </a:bodyPr>
            <a:lstStyle/>
            <a:p>
              <a:r>
                <a:rPr lang="zh-CN" altLang="en-US">
                  <a:solidFill>
                    <a:srgbClr val="FF0000"/>
                  </a:solidFill>
                </a:rPr>
                <a:t>支持向量</a:t>
              </a:r>
              <a:endParaRPr lang="zh-CN" altLang="en-US">
                <a:solidFill>
                  <a:srgbClr val="FF0000"/>
                </a:solidFill>
              </a:endParaRPr>
            </a:p>
          </p:txBody>
        </p:sp>
        <p:sp>
          <p:nvSpPr>
            <p:cNvPr id="15" name="文本框 14"/>
            <p:cNvSpPr txBox="1"/>
            <p:nvPr/>
          </p:nvSpPr>
          <p:spPr>
            <a:xfrm>
              <a:off x="16831" y="5333"/>
              <a:ext cx="1774" cy="798"/>
            </a:xfrm>
            <a:prstGeom prst="rect">
              <a:avLst/>
            </a:prstGeom>
            <a:noFill/>
          </p:spPr>
          <p:txBody>
            <a:bodyPr wrap="square" rtlCol="0">
              <a:spAutoFit/>
            </a:bodyPr>
            <a:lstStyle/>
            <a:p>
              <a:pPr algn="l" eaLnBrk="0" hangingPunct="0">
                <a:lnSpc>
                  <a:spcPct val="150000"/>
                </a:lnSpc>
                <a:buClr>
                  <a:schemeClr val="folHlink"/>
                </a:buClr>
                <a:buSzTx/>
                <a:buFontTx/>
              </a:pPr>
              <a:r>
                <a:rPr lang="zh-CN" altLang="en-US" b="1">
                  <a:solidFill>
                    <a:srgbClr val="0070C0"/>
                  </a:solidFill>
                </a:rPr>
                <a:t>无关向量</a:t>
              </a:r>
              <a:endParaRPr lang="zh-CN" altLang="en-US" b="1">
                <a:solidFill>
                  <a:srgbClr val="0070C0"/>
                </a:solidFill>
              </a:endParaRPr>
            </a:p>
          </p:txBody>
        </p:sp>
        <p:sp>
          <p:nvSpPr>
            <p:cNvPr id="16" name="椭圆 15"/>
            <p:cNvSpPr/>
            <p:nvPr/>
          </p:nvSpPr>
          <p:spPr>
            <a:xfrm>
              <a:off x="12379" y="5696"/>
              <a:ext cx="374" cy="37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623" y="7643"/>
              <a:ext cx="372" cy="349"/>
            </a:xfrm>
            <a:prstGeom prst="rect">
              <a:avLst/>
            </a:prstGeom>
            <a:noFill/>
            <a:ln w="57150">
              <a:solidFill>
                <a:schemeClr val="accent5"/>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1338" y="7992"/>
              <a:ext cx="360" cy="349"/>
            </a:xfrm>
            <a:prstGeom prst="rect">
              <a:avLst/>
            </a:prstGeom>
            <a:noFill/>
            <a:ln w="57150">
              <a:solidFill>
                <a:schemeClr val="accent5"/>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513" y="8710"/>
              <a:ext cx="357" cy="349"/>
            </a:xfrm>
            <a:prstGeom prst="rect">
              <a:avLst/>
            </a:prstGeom>
            <a:noFill/>
            <a:ln w="57150">
              <a:solidFill>
                <a:schemeClr val="accent5"/>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209" y="6469"/>
              <a:ext cx="362" cy="349"/>
            </a:xfrm>
            <a:prstGeom prst="rect">
              <a:avLst/>
            </a:prstGeom>
            <a:noFill/>
            <a:ln w="57150">
              <a:solidFill>
                <a:schemeClr val="accent5"/>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3866" y="7604"/>
              <a:ext cx="343" cy="349"/>
            </a:xfrm>
            <a:prstGeom prst="rect">
              <a:avLst/>
            </a:prstGeom>
            <a:noFill/>
            <a:ln w="57150">
              <a:solidFill>
                <a:schemeClr val="accent5"/>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4571" y="7953"/>
              <a:ext cx="343" cy="349"/>
            </a:xfrm>
            <a:prstGeom prst="rect">
              <a:avLst/>
            </a:prstGeom>
            <a:noFill/>
            <a:ln w="57150">
              <a:solidFill>
                <a:schemeClr val="accent5"/>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5609" y="7764"/>
              <a:ext cx="343" cy="349"/>
            </a:xfrm>
            <a:prstGeom prst="rect">
              <a:avLst/>
            </a:prstGeom>
            <a:noFill/>
            <a:ln w="57150">
              <a:solidFill>
                <a:schemeClr val="accent5"/>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738" y="8664"/>
              <a:ext cx="343" cy="349"/>
            </a:xfrm>
            <a:prstGeom prst="rect">
              <a:avLst/>
            </a:prstGeom>
            <a:noFill/>
            <a:ln w="57150">
              <a:solidFill>
                <a:schemeClr val="accent5"/>
              </a:solidFill>
            </a:ln>
            <a:extLst>
              <a:ext uri="{909E8E84-426E-40DD-AFC4-6F175D3DCCD1}">
                <a14:hiddenFill xmlns:a14="http://schemas.microsoft.com/office/drawing/2010/main">
                  <a:solidFill>
                    <a:srgbClr val="C0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7" name="矩形 6"/>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8" name="文本框 7"/>
          <p:cNvSpPr txBox="1"/>
          <p:nvPr>
            <p:custDataLst>
              <p:tags r:id="rId5"/>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07975" y="1025525"/>
                <a:ext cx="11315065" cy="5645150"/>
              </a:xfrm>
              <a:prstGeom prst="rect">
                <a:avLst/>
              </a:prstGeom>
              <a:noFill/>
            </p:spPr>
            <p:txBody>
              <a:bodyPr wrap="square" rtlCol="0">
                <a:noAutofit/>
              </a:bodyPr>
              <a:lstStyle/>
              <a:p>
                <a:r>
                  <a:rPr lang="zh-CN" altLang="en-US"/>
                  <a:t>总结而言，最优划分超平面可通过以下步骤获得：</a:t>
                </a:r>
                <a:endParaRPr lang="zh-CN" altLang="en-US"/>
              </a:p>
              <a:p>
                <a:endParaRPr lang="zh-CN" altLang="en-US"/>
              </a:p>
              <a:p>
                <a:pPr algn="l"/>
                <a:endParaRPr lang="en-US" altLang="zh-CN"/>
              </a:p>
              <a:p>
                <a:pPr algn="l"/>
                <a:endParaRPr lang="en-US" altLang="zh-CN"/>
              </a:p>
              <a:p>
                <a:pPr algn="l"/>
                <a:endParaRPr lang="en-US" altLang="zh-CN"/>
              </a:p>
              <a:p>
                <a:pPr algn="l"/>
                <a:r>
                  <a:rPr lang="en-US" altLang="zh-CN"/>
                  <a:t>1</a:t>
                </a:r>
                <a:r>
                  <a:rPr lang="zh-CN" altLang="en-US"/>
                  <a:t>）通过求解最优化问题</a:t>
                </a:r>
                <a14:m>
                  <m:oMath xmlns:m="http://schemas.openxmlformats.org/officeDocument/2006/math">
                    <m:r>
                      <a:rPr lang="en-US" altLang="zh-CN" i="1">
                        <a:latin typeface="Cambria Math" panose="02040503050406030204" pitchFamily="18" charset="0"/>
                        <a:cs typeface="Cambria Math" panose="02040503050406030204" pitchFamily="18" charset="0"/>
                      </a:rPr>
                      <m:t>    </m:t>
                    </m:r>
                  </m:oMath>
                </a14:m>
                <a:r>
                  <a:rPr lang="en-US" altLang="zh-CN"/>
                  <a:t>                                                                                 </a:t>
                </a:r>
                <a:r>
                  <a:rPr lang="zh-CN" altLang="en-US"/>
                  <a:t>得到拉格朗日乘子</a:t>
                </a:r>
                <a14:m>
                  <m:oMath xmlns:m="http://schemas.openxmlformats.org/officeDocument/2006/math">
                    <m:r>
                      <a:rPr lang="zh-CN" altLang="en-US">
                        <a:latin typeface="Cambria Math" panose="02040503050406030204" pitchFamily="18" charset="0"/>
                        <a:sym typeface="+mn-ea"/>
                      </a:rPr>
                      <m:t>𝜶</m:t>
                    </m:r>
                    <m:r>
                      <a:rPr lang="zh-CN" altLang="en-US">
                        <a:latin typeface="Cambria Math" panose="02040503050406030204" pitchFamily="18" charset="0"/>
                        <a:sym typeface="+mn-ea"/>
                      </a:rPr>
                      <m:t>=(</m:t>
                    </m:r>
                    <m:sSub>
                      <m:sSubPr>
                        <m:ctrlPr>
                          <a:rPr lang="zh-CN" altLang="en-US" i="1">
                            <a:latin typeface="Cambria Math" panose="02040503050406030204" pitchFamily="18" charset="0"/>
                            <a:sym typeface="+mn-ea"/>
                          </a:rPr>
                        </m:ctrlPr>
                      </m:sSubPr>
                      <m:e>
                        <m:r>
                          <a:rPr lang="zh-CN" altLang="en-US">
                            <a:latin typeface="Cambria Math" panose="02040503050406030204" pitchFamily="18" charset="0"/>
                            <a:sym typeface="+mn-ea"/>
                          </a:rPr>
                          <m:t>𝛼</m:t>
                        </m:r>
                      </m:e>
                      <m:sub>
                        <m:r>
                          <a:rPr lang="zh-CN" altLang="en-US">
                            <a:latin typeface="Cambria Math" panose="02040503050406030204" pitchFamily="18" charset="0"/>
                            <a:sym typeface="+mn-ea"/>
                          </a:rPr>
                          <m:t>1</m:t>
                        </m:r>
                      </m:sub>
                    </m:sSub>
                    <m:r>
                      <a:rPr lang="zh-CN" altLang="en-US">
                        <a:latin typeface="Cambria Math" panose="02040503050406030204" pitchFamily="18" charset="0"/>
                        <a:sym typeface="+mn-ea"/>
                      </a:rPr>
                      <m:t>;</m:t>
                    </m:r>
                    <m:sSub>
                      <m:sSubPr>
                        <m:ctrlPr>
                          <a:rPr lang="zh-CN" altLang="en-US" i="1">
                            <a:latin typeface="Cambria Math" panose="02040503050406030204" pitchFamily="18" charset="0"/>
                            <a:sym typeface="+mn-ea"/>
                          </a:rPr>
                        </m:ctrlPr>
                      </m:sSubPr>
                      <m:e>
                        <m:r>
                          <a:rPr lang="zh-CN" altLang="en-US">
                            <a:latin typeface="Cambria Math" panose="02040503050406030204" pitchFamily="18" charset="0"/>
                            <a:sym typeface="+mn-ea"/>
                          </a:rPr>
                          <m:t>𝛼</m:t>
                        </m:r>
                      </m:e>
                      <m:sub>
                        <m:r>
                          <a:rPr lang="zh-CN" altLang="en-US">
                            <a:latin typeface="Cambria Math" panose="02040503050406030204" pitchFamily="18" charset="0"/>
                            <a:sym typeface="+mn-ea"/>
                          </a:rPr>
                          <m:t>2</m:t>
                        </m:r>
                      </m:sub>
                    </m:sSub>
                    <m:r>
                      <a:rPr lang="zh-CN" altLang="en-US">
                        <a:latin typeface="Cambria Math" panose="02040503050406030204" pitchFamily="18" charset="0"/>
                        <a:sym typeface="+mn-ea"/>
                      </a:rPr>
                      <m:t>;...;</m:t>
                    </m:r>
                    <m:sSub>
                      <m:sSubPr>
                        <m:ctrlPr>
                          <a:rPr lang="zh-CN" altLang="en-US" i="1">
                            <a:latin typeface="Cambria Math" panose="02040503050406030204" pitchFamily="18" charset="0"/>
                            <a:sym typeface="+mn-ea"/>
                          </a:rPr>
                        </m:ctrlPr>
                      </m:sSubPr>
                      <m:e>
                        <m:r>
                          <a:rPr lang="zh-CN" altLang="en-US">
                            <a:latin typeface="Cambria Math" panose="02040503050406030204" pitchFamily="18" charset="0"/>
                            <a:sym typeface="+mn-ea"/>
                          </a:rPr>
                          <m:t>𝛼</m:t>
                        </m:r>
                      </m:e>
                      <m:sub>
                        <m:r>
                          <a:rPr lang="zh-CN" altLang="en-US">
                            <a:latin typeface="Cambria Math" panose="02040503050406030204" pitchFamily="18" charset="0"/>
                            <a:sym typeface="+mn-ea"/>
                          </a:rPr>
                          <m:t>𝑚</m:t>
                        </m:r>
                      </m:sub>
                    </m:sSub>
                    <m:r>
                      <a:rPr lang="zh-CN" altLang="en-US">
                        <a:latin typeface="Cambria Math" panose="02040503050406030204" pitchFamily="18" charset="0"/>
                        <a:sym typeface="+mn-ea"/>
                      </a:rPr>
                      <m:t>)</m:t>
                    </m:r>
                  </m:oMath>
                </a14:m>
                <a:endParaRPr lang="zh-CN" altLang="en-US">
                  <a:sym typeface="+mn-ea"/>
                </a:endParaRPr>
              </a:p>
              <a:p>
                <a:pPr algn="l"/>
                <a:endParaRPr lang="zh-CN" altLang="en-US">
                  <a:sym typeface="+mn-ea"/>
                </a:endParaRPr>
              </a:p>
              <a:p>
                <a:pPr algn="l"/>
                <a:endParaRPr lang="zh-CN" altLang="en-US">
                  <a:sym typeface="+mn-ea"/>
                </a:endParaRPr>
              </a:p>
              <a:p>
                <a:pPr algn="l"/>
                <a:endParaRPr lang="en-US" altLang="zh-CN"/>
              </a:p>
              <a:p>
                <a:pPr algn="l"/>
                <a:endParaRPr lang="en-US" altLang="zh-CN"/>
              </a:p>
              <a:p>
                <a:pPr algn="l"/>
                <a:r>
                  <a:rPr lang="en-US" altLang="zh-CN"/>
                  <a:t>2</a:t>
                </a:r>
                <a:r>
                  <a:rPr lang="zh-CN" altLang="en-US"/>
                  <a:t>）通过拉格朗日乘子得到最有划分超平面参数</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oMath>
                </a14:m>
                <a:r>
                  <a:rPr lang="zh-CN" altLang="en-US">
                    <a:latin typeface="Cambria Math" panose="02040503050406030204" pitchFamily="18" charset="0"/>
                    <a:cs typeface="Cambria Math" panose="02040503050406030204" pitchFamily="18" charset="0"/>
                  </a:rPr>
                  <a:t>和</a:t>
                </a:r>
                <a14:m>
                  <m:oMath xmlns:m="http://schemas.openxmlformats.org/officeDocument/2006/math">
                    <m:r>
                      <a:rPr lang="en-US" altLang="zh-CN" i="1">
                        <a:latin typeface="Cambria Math" panose="02040503050406030204" pitchFamily="18" charset="0"/>
                        <a:cs typeface="Cambria Math" panose="02040503050406030204" pitchFamily="18" charset="0"/>
                      </a:rPr>
                      <m:t>𝑏</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pPr indent="457200" algn="l"/>
                <a:endParaRPr lang="en-US" altLang="zh-CN" i="1">
                  <a:latin typeface="Cambria Math" panose="02040503050406030204" pitchFamily="18" charset="0"/>
                  <a:cs typeface="Cambria Math" panose="02040503050406030204" pitchFamily="18" charset="0"/>
                </a:endParaRPr>
              </a:p>
              <a:p>
                <a:pPr indent="457200" algn="l"/>
                <a:endParaRPr lang="en-US" altLang="zh-CN" i="1">
                  <a:latin typeface="Cambria Math" panose="02040503050406030204" pitchFamily="18" charset="0"/>
                  <a:cs typeface="Cambria Math" panose="02040503050406030204" pitchFamily="18" charset="0"/>
                </a:endParaRPr>
              </a:p>
              <a:p>
                <a:pPr indent="457200" algn="l"/>
                <a:endParaRPr lang="en-US" altLang="zh-CN" i="1">
                  <a:latin typeface="Cambria Math" panose="02040503050406030204" pitchFamily="18" charset="0"/>
                  <a:cs typeface="Cambria Math" panose="02040503050406030204" pitchFamily="18" charset="0"/>
                </a:endParaRPr>
              </a:p>
              <a:p>
                <a:pPr indent="457200" algn="l"/>
                <a:endParaRPr lang="en-US" altLang="zh-CN" i="1">
                  <a:latin typeface="Cambria Math" panose="02040503050406030204" pitchFamily="18" charset="0"/>
                  <a:cs typeface="Cambria Math" panose="02040503050406030204" pitchFamily="18" charset="0"/>
                </a:endParaRPr>
              </a:p>
              <a:p>
                <a:pPr indent="457200" algn="l"/>
                <a14:m>
                  <m:oMath xmlns:m="http://schemas.openxmlformats.org/officeDocument/2006/math">
                    <m:r>
                      <a:rPr lang="en-US" altLang="zh-CN" i="1">
                        <a:latin typeface="Cambria Math" panose="02040503050406030204" pitchFamily="18" charset="0"/>
                        <a:cs typeface="Cambria Math" panose="02040503050406030204" pitchFamily="18" charset="0"/>
                      </a:rPr>
                      <m:t>𝑏</m:t>
                    </m:r>
                  </m:oMath>
                </a14:m>
                <a:r>
                  <a:rPr lang="zh-CN" altLang="en-US">
                    <a:latin typeface="Cambria Math" panose="02040503050406030204" pitchFamily="18" charset="0"/>
                    <a:cs typeface="Cambria Math" panose="02040503050406030204" pitchFamily="18" charset="0"/>
                  </a:rPr>
                  <a:t>根据支持向量获取，对于</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&gt;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的支持向量，有</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oMath>
                </a14:m>
                <a:endParaRPr lang="en-US" altLang="zh-CN" i="1">
                  <a:latin typeface="Cambria Math" panose="02040503050406030204" pitchFamily="18" charset="0"/>
                  <a:cs typeface="Cambria Math" panose="02040503050406030204" pitchFamily="18" charset="0"/>
                  <a:sym typeface="+mn-ea"/>
                </a:endParaRPr>
              </a:p>
              <a:p>
                <a:pPr indent="457200" algn="l"/>
                <a:endParaRPr lang="zh-CN" altLang="en-US">
                  <a:latin typeface="Cambria Math" panose="02040503050406030204" pitchFamily="18" charset="0"/>
                  <a:cs typeface="Cambria Math" panose="02040503050406030204" pitchFamily="18" charset="0"/>
                </a:endParaRPr>
              </a:p>
              <a:p>
                <a:pPr indent="457200" algn="l"/>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其中样本</a:t>
                </a:r>
                <a:r>
                  <a:rPr lang="en-US" altLang="zh-CN">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oMath>
                </a14:m>
                <a:r>
                  <a:rPr lang="en-US" altLang="zh-CN">
                    <a:latin typeface="Cambria Math" panose="02040503050406030204" pitchFamily="18" charset="0"/>
                    <a:cs typeface="Cambria Math" panose="02040503050406030204" pitchFamily="18" charset="0"/>
                  </a:rPr>
                  <a:t>)</a:t>
                </a:r>
                <a:r>
                  <a:rPr lang="zh-CN" altLang="en-US">
                    <a:latin typeface="Cambria Math" panose="02040503050406030204" pitchFamily="18" charset="0"/>
                    <a:cs typeface="Cambria Math" panose="02040503050406030204" pitchFamily="18" charset="0"/>
                  </a:rPr>
                  <a:t>为支持向量</a:t>
                </a:r>
                <a:r>
                  <a:rPr lang="en-US" altLang="zh-CN">
                    <a:latin typeface="Cambria Math" panose="02040503050406030204" pitchFamily="18" charset="0"/>
                    <a:cs typeface="Cambria Math" panose="02040503050406030204" pitchFamily="18" charset="0"/>
                  </a:rPr>
                  <a:t>)</a:t>
                </a:r>
                <a:endParaRPr lang="en-US" altLang="zh-CN">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07975" y="1025525"/>
                <a:ext cx="11315065" cy="564515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3231515" y="1979295"/>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3231515" y="1979295"/>
                <a:ext cx="43942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2944495" y="2347595"/>
                <a:ext cx="108331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944495" y="2347595"/>
                <a:ext cx="108331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2944495" y="2783840"/>
                <a:ext cx="1812925"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2944495" y="2783840"/>
                <a:ext cx="1812925" cy="844550"/>
              </a:xfrm>
              <a:prstGeom prst="rect">
                <a:avLst/>
              </a:prstGeom>
              <a:blipFill rotWithShape="1">
                <a:blip r:embed="rId4"/>
                <a:stretch>
                  <a:fillRect/>
                </a:stretch>
              </a:blipFill>
            </p:spPr>
            <p:txBody>
              <a:bodyPr/>
              <a:lstStyle/>
              <a:p>
                <a:r>
                  <a:rPr lang="zh-CN" altLang="en-US">
                    <a:noFill/>
                  </a:rPr>
                  <a:t> </a:t>
                </a:r>
              </a:p>
            </p:txBody>
          </p:sp>
        </mc:Fallback>
      </mc:AlternateContent>
      <p:sp>
        <p:nvSpPr>
          <p:cNvPr id="8" name="左大括号 7"/>
          <p:cNvSpPr/>
          <p:nvPr/>
        </p:nvSpPr>
        <p:spPr>
          <a:xfrm>
            <a:off x="2907030" y="1913255"/>
            <a:ext cx="295910" cy="130429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9" name="文本框 8"/>
              <p:cNvSpPr txBox="1"/>
              <p:nvPr/>
            </p:nvSpPr>
            <p:spPr>
              <a:xfrm>
                <a:off x="3044190" y="1467485"/>
                <a:ext cx="4148455" cy="88011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  </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3044190" y="1467485"/>
                <a:ext cx="4148455" cy="88011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55245" y="4220210"/>
                <a:ext cx="2128520" cy="844550"/>
              </a:xfrm>
              <a:prstGeom prst="rect">
                <a:avLst/>
              </a:prstGeom>
              <a:noFill/>
            </p:spPr>
            <p:txBody>
              <a:bodyPr wrap="square" rtlCol="0" anchor="t">
                <a:spAutoFit/>
              </a:bodyPr>
              <a:lstStyle/>
              <a:p>
                <a:pPr indent="457200"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55245" y="4220210"/>
                <a:ext cx="2128520" cy="844550"/>
              </a:xfrm>
              <a:prstGeom prst="rect">
                <a:avLst/>
              </a:prstGeom>
              <a:blipFill rotWithShape="1">
                <a:blip r:embed="rId6"/>
                <a:stretch>
                  <a:fillRect r="-480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81280" y="5613400"/>
                <a:ext cx="2102485" cy="653415"/>
              </a:xfrm>
              <a:prstGeom prst="rect">
                <a:avLst/>
              </a:prstGeom>
              <a:noFill/>
            </p:spPr>
            <p:txBody>
              <a:bodyPr wrap="square" rtlCol="0" anchor="t">
                <a:spAutoFit/>
              </a:bodyPr>
              <a:lstStyle/>
              <a:p>
                <a:pPr indent="457200"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den>
                      </m:f>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oMath>
                  </m:oMathPara>
                </a14:m>
                <a:endParaRPr lang="en-US" altLang="zh-CN" b="1" i="1">
                  <a:latin typeface="Cambria Math" panose="02040503050406030204" pitchFamily="18" charset="0"/>
                  <a:cs typeface="Cambria Math" panose="02040503050406030204" pitchFamily="18" charset="0"/>
                  <a:sym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81280" y="5613400"/>
                <a:ext cx="2102485" cy="653415"/>
              </a:xfrm>
              <a:prstGeom prst="rect">
                <a:avLst/>
              </a:prstGeom>
              <a:blipFill rotWithShape="1">
                <a:blip r:embed="rId7"/>
                <a:stretch>
                  <a:fillRect r="-4561"/>
                </a:stretch>
              </a:blipFill>
            </p:spPr>
            <p:txBody>
              <a:bodyPr/>
              <a:lstStyle/>
              <a:p>
                <a:r>
                  <a:rPr lang="zh-CN" altLang="en-US">
                    <a:noFill/>
                  </a:rPr>
                  <a:t> </a:t>
                </a:r>
              </a:p>
            </p:txBody>
          </p:sp>
        </mc:Fallback>
      </mc:AlternateContent>
      <p:sp>
        <p:nvSpPr>
          <p:cNvPr id="10" name="矩形 9"/>
          <p:cNvSpPr/>
          <p:nvPr>
            <p:custDataLst>
              <p:tags r:id="rId8"/>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4" name="矩形 13"/>
          <p:cNvSpPr/>
          <p:nvPr>
            <p:custDataLst>
              <p:tags r:id="rId9"/>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5" name="文本框 14"/>
          <p:cNvSpPr txBox="1"/>
          <p:nvPr>
            <p:custDataLst>
              <p:tags r:id="rId10"/>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419735" y="2207260"/>
                <a:ext cx="4775200" cy="1845310"/>
              </a:xfrm>
              <a:prstGeom prst="rect">
                <a:avLst/>
              </a:prstGeom>
              <a:noFill/>
            </p:spPr>
            <p:txBody>
              <a:bodyPr wrap="square" rtlCol="0">
                <a:spAutoFit/>
              </a:bodyPr>
              <a:lstStyle/>
              <a:p>
                <a:r>
                  <a:rPr lang="en-US" altLang="zh-CN" sz="2000"/>
                  <a:t>SVM</a:t>
                </a:r>
                <a:r>
                  <a:rPr lang="zh-CN" altLang="en-US"/>
                  <a:t>求解最优划分超平面例子：</a:t>
                </a:r>
                <a:endParaRPr lang="zh-CN" altLang="en-US"/>
              </a:p>
              <a:p>
                <a:endParaRPr lang="zh-CN" altLang="en-US"/>
              </a:p>
              <a:p>
                <a:r>
                  <a:rPr lang="zh-CN" altLang="en-US"/>
                  <a:t>训练数据：</a:t>
                </a:r>
                <a:r>
                  <a:rPr lang="zh-CN" altLang="en-US" sz="1800"/>
                  <a:t>数据点1：</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endParaRPr lang="en-US" altLang="zh-CN" i="1">
                  <a:latin typeface="Cambria Math" panose="02040503050406030204" pitchFamily="18" charset="0"/>
                  <a:cs typeface="Cambria Math" panose="02040503050406030204" pitchFamily="18" charset="0"/>
                </a:endParaRPr>
              </a:p>
              <a:p>
                <a:pPr marL="0" lvl="0" indent="0">
                  <a:buNone/>
                </a:pPr>
                <a:r>
                  <a:rPr lang="en-US" altLang="zh-CN">
                    <a:solidFill>
                      <a:schemeClr val="tx1"/>
                    </a:solidFill>
                    <a:sym typeface="+mn-ea"/>
                  </a:rPr>
                  <a:t>                      </a:t>
                </a:r>
                <a:r>
                  <a:rPr lang="zh-CN" altLang="en-US">
                    <a:solidFill>
                      <a:schemeClr val="tx1"/>
                    </a:solidFill>
                    <a:sym typeface="+mn-ea"/>
                  </a:rPr>
                  <a:t>数据点</a:t>
                </a:r>
                <a:r>
                  <a:rPr lang="en-US" altLang="zh-CN" sz="1800">
                    <a:sym typeface="+mn-ea"/>
                  </a:rPr>
                  <a:t>2</a:t>
                </a:r>
                <a:r>
                  <a:rPr lang="zh-CN" altLang="en-US" sz="1800">
                    <a:sym typeface="+mn-ea"/>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endParaRPr lang="en-US" altLang="zh-CN" i="1">
                  <a:latin typeface="Cambria Math" panose="02040503050406030204" pitchFamily="18" charset="0"/>
                  <a:cs typeface="Cambria Math" panose="02040503050406030204" pitchFamily="18" charset="0"/>
                </a:endParaRPr>
              </a:p>
              <a:p>
                <a:pPr marL="0" lvl="0" indent="0">
                  <a:buNone/>
                </a:pPr>
                <a:r>
                  <a:rPr lang="en-US" altLang="zh-CN" sz="1800">
                    <a:solidFill>
                      <a:schemeClr val="tx1"/>
                    </a:solidFill>
                    <a:sym typeface="+mn-ea"/>
                  </a:rPr>
                  <a:t>                      </a:t>
                </a:r>
                <a:r>
                  <a:rPr lang="zh-CN" altLang="en-US" sz="1800">
                    <a:solidFill>
                      <a:schemeClr val="tx1"/>
                    </a:solidFill>
                    <a:sym typeface="+mn-ea"/>
                  </a:rPr>
                  <a:t>数据点</a:t>
                </a:r>
                <a:r>
                  <a:rPr lang="en-US" altLang="zh-CN">
                    <a:sym typeface="+mn-ea"/>
                  </a:rPr>
                  <a:t>3</a:t>
                </a:r>
                <a:r>
                  <a:rPr lang="zh-CN" altLang="en-US">
                    <a:sym typeface="+mn-ea"/>
                  </a:rPr>
                  <a:t>：</a:t>
                </a:r>
                <a14:m>
                  <m:oMath xmlns:m="http://schemas.openxmlformats.org/officeDocument/2006/math">
                    <m:sSub>
                      <m:sSubPr>
                        <m:ctrlPr>
                          <a:rPr lang="zh-CN" altLang="en-US" i="1">
                            <a:latin typeface="Cambria Math" panose="02040503050406030204" pitchFamily="18" charset="0"/>
                          </a:rPr>
                        </m:ctrlPr>
                      </m:sSubPr>
                      <m:e>
                        <m:r>
                          <a:rPr lang="zh-CN" altLang="en-US">
                            <a:latin typeface="Cambria Math" panose="02040503050406030204" pitchFamily="18" charset="0"/>
                          </a:rPr>
                          <m:t>𝑥</m:t>
                        </m:r>
                      </m:e>
                      <m:sub>
                        <m:r>
                          <a:rPr lang="en-US" altLang="zh-CN">
                            <a:latin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a:latin typeface="Cambria Math" panose="02040503050406030204" pitchFamily="18" charset="0"/>
                          </a:rPr>
                          <m:t>𝑦</m:t>
                        </m:r>
                      </m:e>
                      <m:sub>
                        <m:r>
                          <a:rPr lang="en-US" altLang="zh-CN">
                            <a:latin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endParaRPr lang="zh-CN" altLang="en-US"/>
              </a:p>
              <a:p>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419735" y="2207260"/>
                <a:ext cx="4775200" cy="1845310"/>
              </a:xfrm>
              <a:prstGeom prst="rect">
                <a:avLst/>
              </a:prstGeom>
              <a:blipFill rotWithShape="1">
                <a:blip r:embed="rId1"/>
                <a:stretch>
                  <a:fillRect/>
                </a:stretch>
              </a:blipFill>
            </p:spPr>
            <p:txBody>
              <a:bodyPr/>
              <a:lstStyle/>
              <a:p>
                <a:r>
                  <a:rPr lang="zh-CN" altLang="en-US">
                    <a:noFill/>
                  </a:rPr>
                  <a:t> </a:t>
                </a:r>
              </a:p>
            </p:txBody>
          </p:sp>
        </mc:Fallback>
      </mc:AlternateContent>
      <p:grpSp>
        <p:nvGrpSpPr>
          <p:cNvPr id="38" name="组合 37"/>
          <p:cNvGrpSpPr/>
          <p:nvPr/>
        </p:nvGrpSpPr>
        <p:grpSpPr>
          <a:xfrm>
            <a:off x="5194935" y="1765300"/>
            <a:ext cx="6258560" cy="3900805"/>
            <a:chOff x="900" y="4326"/>
            <a:chExt cx="9856" cy="6143"/>
          </a:xfrm>
        </p:grpSpPr>
        <p:cxnSp>
          <p:nvCxnSpPr>
            <p:cNvPr id="6" name="直接箭头连接符 5"/>
            <p:cNvCxnSpPr/>
            <p:nvPr/>
          </p:nvCxnSpPr>
          <p:spPr>
            <a:xfrm flipH="1" flipV="1">
              <a:off x="1299" y="4326"/>
              <a:ext cx="29" cy="556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1308" y="9889"/>
              <a:ext cx="8325" cy="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962" y="9889"/>
              <a:ext cx="9795" cy="580"/>
            </a:xfrm>
            <a:prstGeom prst="rect">
              <a:avLst/>
            </a:prstGeom>
            <a:noFill/>
          </p:spPr>
          <p:txBody>
            <a:bodyPr wrap="square" rtlCol="0">
              <a:spAutoFit/>
            </a:bodyPr>
            <a:lstStyle/>
            <a:p>
              <a:r>
                <a:rPr lang="en-US" altLang="zh-CN"/>
                <a:t>O              1</a:t>
              </a:r>
              <a:r>
                <a:rPr lang="en-US" altLang="zh-CN">
                  <a:sym typeface="+mn-ea"/>
                </a:rPr>
                <a:t>              2              3             4              5             6</a:t>
              </a:r>
              <a:r>
                <a:rPr lang="en-US" altLang="zh-CN"/>
                <a:t>    </a:t>
              </a:r>
              <a:endParaRPr lang="en-US" altLang="zh-CN"/>
            </a:p>
          </p:txBody>
        </p:sp>
        <p:sp>
          <p:nvSpPr>
            <p:cNvPr id="9" name="文本框 8"/>
            <p:cNvSpPr txBox="1"/>
            <p:nvPr/>
          </p:nvSpPr>
          <p:spPr>
            <a:xfrm>
              <a:off x="900" y="4644"/>
              <a:ext cx="720" cy="5562"/>
            </a:xfrm>
            <a:prstGeom prst="rect">
              <a:avLst/>
            </a:prstGeom>
            <a:noFill/>
          </p:spPr>
          <p:txBody>
            <a:bodyPr wrap="square" rtlCol="0">
              <a:noAutofit/>
            </a:bodyPr>
            <a:lstStyle/>
            <a:p>
              <a:r>
                <a:rPr lang="en-US" altLang="zh-CN"/>
                <a:t>6</a:t>
              </a:r>
              <a:endParaRPr lang="en-US" altLang="zh-CN"/>
            </a:p>
            <a:p>
              <a:pPr>
                <a:lnSpc>
                  <a:spcPct val="70000"/>
                </a:lnSpc>
              </a:pPr>
              <a:endParaRPr lang="en-US" altLang="zh-CN"/>
            </a:p>
            <a:p>
              <a:r>
                <a:rPr lang="en-US" altLang="zh-CN"/>
                <a:t>5</a:t>
              </a:r>
              <a:endParaRPr lang="en-US" altLang="zh-CN"/>
            </a:p>
            <a:p>
              <a:endParaRPr lang="en-US" altLang="zh-CN"/>
            </a:p>
            <a:p>
              <a:r>
                <a:rPr lang="en-US" altLang="zh-CN"/>
                <a:t>4</a:t>
              </a:r>
              <a:endParaRPr lang="en-US" altLang="zh-CN"/>
            </a:p>
            <a:p>
              <a:endParaRPr lang="en-US" altLang="zh-CN"/>
            </a:p>
            <a:p>
              <a:r>
                <a:rPr lang="en-US" altLang="zh-CN"/>
                <a:t>3</a:t>
              </a:r>
              <a:endParaRPr lang="en-US" altLang="zh-CN"/>
            </a:p>
            <a:p>
              <a:endParaRPr lang="en-US" altLang="zh-CN"/>
            </a:p>
            <a:p>
              <a:r>
                <a:rPr lang="en-US" altLang="zh-CN"/>
                <a:t>2</a:t>
              </a:r>
              <a:endParaRPr lang="en-US" altLang="zh-CN"/>
            </a:p>
            <a:p>
              <a:endParaRPr lang="en-US" altLang="zh-CN"/>
            </a:p>
            <a:p>
              <a:r>
                <a:rPr lang="en-US" altLang="zh-CN"/>
                <a:t>1</a:t>
              </a:r>
              <a:endParaRPr lang="en-US" altLang="zh-CN"/>
            </a:p>
            <a:p>
              <a:endParaRPr lang="en-US" altLang="zh-CN"/>
            </a:p>
            <a:p>
              <a:endParaRPr lang="en-US" altLang="zh-CN"/>
            </a:p>
          </p:txBody>
        </p:sp>
        <p:cxnSp>
          <p:nvCxnSpPr>
            <p:cNvPr id="10" name="直接连接符 9"/>
            <p:cNvCxnSpPr/>
            <p:nvPr/>
          </p:nvCxnSpPr>
          <p:spPr>
            <a:xfrm flipV="1">
              <a:off x="2609" y="9741"/>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直接连接符 10"/>
            <p:cNvCxnSpPr/>
            <p:nvPr/>
          </p:nvCxnSpPr>
          <p:spPr>
            <a:xfrm flipV="1">
              <a:off x="3890" y="9735"/>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flipV="1">
              <a:off x="5171" y="9741"/>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13" name="直接连接符 12"/>
            <p:cNvCxnSpPr/>
            <p:nvPr/>
          </p:nvCxnSpPr>
          <p:spPr>
            <a:xfrm flipV="1">
              <a:off x="6452" y="9741"/>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flipH="1" flipV="1">
              <a:off x="1328" y="9149"/>
              <a:ext cx="154" cy="6"/>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flipH="1" flipV="1">
              <a:off x="1338" y="8281"/>
              <a:ext cx="154" cy="6"/>
            </a:xfrm>
            <a:prstGeom prst="line">
              <a:avLst/>
            </a:prstGeom>
            <a:ln w="19050"/>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flipH="1" flipV="1">
              <a:off x="1328" y="7413"/>
              <a:ext cx="154" cy="6"/>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flipH="1" flipV="1">
              <a:off x="1328" y="6545"/>
              <a:ext cx="154" cy="6"/>
            </a:xfrm>
            <a:prstGeom prst="line">
              <a:avLst/>
            </a:prstGeom>
            <a:ln w="19050"/>
          </p:spPr>
          <p:style>
            <a:lnRef idx="1">
              <a:schemeClr val="dk1"/>
            </a:lnRef>
            <a:fillRef idx="0">
              <a:schemeClr val="dk1"/>
            </a:fillRef>
            <a:effectRef idx="0">
              <a:schemeClr val="dk1"/>
            </a:effectRef>
            <a:fontRef idx="minor">
              <a:schemeClr val="tx1"/>
            </a:fontRef>
          </p:style>
        </p:cxnSp>
        <p:sp>
          <p:nvSpPr>
            <p:cNvPr id="19" name="椭圆 18"/>
            <p:cNvSpPr/>
            <p:nvPr/>
          </p:nvSpPr>
          <p:spPr>
            <a:xfrm>
              <a:off x="4888" y="7132"/>
              <a:ext cx="567" cy="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6169" y="7142"/>
              <a:ext cx="567" cy="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2326" y="8868"/>
              <a:ext cx="567" cy="567"/>
            </a:xfrm>
            <a:prstGeom prst="ellipse">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a:p>
          </p:txBody>
        </p:sp>
        <p:cxnSp>
          <p:nvCxnSpPr>
            <p:cNvPr id="25" name="直接连接符 24"/>
            <p:cNvCxnSpPr/>
            <p:nvPr/>
          </p:nvCxnSpPr>
          <p:spPr>
            <a:xfrm flipV="1">
              <a:off x="7733" y="9741"/>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27" name="直接连接符 26"/>
            <p:cNvCxnSpPr/>
            <p:nvPr/>
          </p:nvCxnSpPr>
          <p:spPr>
            <a:xfrm flipH="1" flipV="1">
              <a:off x="1308" y="5677"/>
              <a:ext cx="154" cy="6"/>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直接连接符 27"/>
            <p:cNvCxnSpPr/>
            <p:nvPr/>
          </p:nvCxnSpPr>
          <p:spPr>
            <a:xfrm flipH="1" flipV="1">
              <a:off x="1299" y="4937"/>
              <a:ext cx="154" cy="6"/>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29" name="文本框 28"/>
                <p:cNvSpPr txBox="1"/>
                <p:nvPr/>
              </p:nvSpPr>
              <p:spPr>
                <a:xfrm>
                  <a:off x="2202" y="8910"/>
                  <a:ext cx="813" cy="483"/>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sz="1400" i="1">
                            <a:solidFill>
                              <a:schemeClr val="bg1"/>
                            </a:solidFill>
                            <a:latin typeface="Cambria Math" panose="02040503050406030204" pitchFamily="18" charset="0"/>
                            <a:cs typeface="Cambria Math" panose="02040503050406030204" pitchFamily="18" charset="0"/>
                          </a:rPr>
                          <m:t>−</m:t>
                        </m:r>
                        <m:r>
                          <a:rPr lang="en-US" altLang="zh-CN" sz="1400" i="1">
                            <a:solidFill>
                              <a:schemeClr val="bg1"/>
                            </a:solidFill>
                            <a:latin typeface="Cambria Math" panose="02040503050406030204" pitchFamily="18" charset="0"/>
                            <a:cs typeface="Cambria Math" panose="02040503050406030204" pitchFamily="18" charset="0"/>
                          </a:rPr>
                          <m:t>1</m:t>
                        </m:r>
                      </m:oMath>
                    </m:oMathPara>
                  </a14:m>
                  <a:endParaRPr lang="en-US" altLang="zh-CN" sz="1400" i="1">
                    <a:solidFill>
                      <a:schemeClr val="bg1"/>
                    </a:solidFill>
                    <a:latin typeface="Cambria Math" panose="02040503050406030204" pitchFamily="18" charset="0"/>
                    <a:cs typeface="Cambria Math" panose="02040503050406030204" pitchFamily="18" charset="0"/>
                  </a:endParaRPr>
                </a:p>
              </p:txBody>
            </p:sp>
          </mc:Choice>
          <mc:Fallback>
            <p:sp>
              <p:nvSpPr>
                <p:cNvPr id="29" name="文本框 28"/>
                <p:cNvSpPr txBox="1">
                  <a:spLocks noRot="1" noChangeAspect="1" noMove="1" noResize="1" noEditPoints="1" noAdjustHandles="1" noChangeArrowheads="1" noChangeShapeType="1" noTextEdit="1"/>
                </p:cNvSpPr>
                <p:nvPr/>
              </p:nvSpPr>
              <p:spPr>
                <a:xfrm>
                  <a:off x="2202" y="8910"/>
                  <a:ext cx="813" cy="483"/>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4734" y="7184"/>
                  <a:ext cx="873" cy="483"/>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sz="1400" i="1">
                            <a:solidFill>
                              <a:schemeClr val="bg1"/>
                            </a:solidFill>
                            <a:latin typeface="Cambria Math" panose="02040503050406030204" pitchFamily="18" charset="0"/>
                            <a:cs typeface="Cambria Math" panose="02040503050406030204" pitchFamily="18" charset="0"/>
                          </a:rPr>
                          <m:t>+</m:t>
                        </m:r>
                        <m:r>
                          <a:rPr lang="en-US" altLang="zh-CN" sz="1400" i="1">
                            <a:solidFill>
                              <a:schemeClr val="bg1"/>
                            </a:solidFill>
                            <a:latin typeface="Cambria Math" panose="02040503050406030204" pitchFamily="18" charset="0"/>
                            <a:cs typeface="Cambria Math" panose="02040503050406030204" pitchFamily="18" charset="0"/>
                          </a:rPr>
                          <m:t>1</m:t>
                        </m:r>
                      </m:oMath>
                    </m:oMathPara>
                  </a14:m>
                  <a:endParaRPr lang="en-US" altLang="zh-CN" sz="1400" i="1">
                    <a:solidFill>
                      <a:schemeClr val="bg1"/>
                    </a:solidFill>
                    <a:latin typeface="Cambria Math" panose="02040503050406030204" pitchFamily="18" charset="0"/>
                    <a:cs typeface="Cambria Math" panose="02040503050406030204" pitchFamily="18" charset="0"/>
                  </a:endParaRPr>
                </a:p>
              </p:txBody>
            </p:sp>
          </mc:Choice>
          <mc:Fallback>
            <p:sp>
              <p:nvSpPr>
                <p:cNvPr id="30" name="文本框 29"/>
                <p:cNvSpPr txBox="1">
                  <a:spLocks noRot="1" noChangeAspect="1" noMove="1" noResize="1" noEditPoints="1" noAdjustHandles="1" noChangeArrowheads="1" noChangeShapeType="1" noTextEdit="1"/>
                </p:cNvSpPr>
                <p:nvPr/>
              </p:nvSpPr>
              <p:spPr>
                <a:xfrm>
                  <a:off x="4734" y="7184"/>
                  <a:ext cx="873" cy="483"/>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6016" y="7216"/>
                  <a:ext cx="873" cy="483"/>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sz="1400" i="1">
                            <a:solidFill>
                              <a:schemeClr val="bg1"/>
                            </a:solidFill>
                            <a:latin typeface="Cambria Math" panose="02040503050406030204" pitchFamily="18" charset="0"/>
                            <a:cs typeface="Cambria Math" panose="02040503050406030204" pitchFamily="18" charset="0"/>
                          </a:rPr>
                          <m:t>+</m:t>
                        </m:r>
                        <m:r>
                          <a:rPr lang="en-US" altLang="zh-CN" sz="1400" i="1">
                            <a:solidFill>
                              <a:schemeClr val="bg1"/>
                            </a:solidFill>
                            <a:latin typeface="Cambria Math" panose="02040503050406030204" pitchFamily="18" charset="0"/>
                            <a:cs typeface="Cambria Math" panose="02040503050406030204" pitchFamily="18" charset="0"/>
                          </a:rPr>
                          <m:t>1</m:t>
                        </m:r>
                      </m:oMath>
                    </m:oMathPara>
                  </a14:m>
                  <a:endParaRPr lang="en-US" altLang="zh-CN" sz="1400" i="1">
                    <a:solidFill>
                      <a:schemeClr val="bg1"/>
                    </a:solidFill>
                    <a:latin typeface="Cambria Math" panose="02040503050406030204" pitchFamily="18" charset="0"/>
                    <a:cs typeface="Cambria Math" panose="02040503050406030204" pitchFamily="18" charset="0"/>
                  </a:endParaRPr>
                </a:p>
              </p:txBody>
            </p:sp>
          </mc:Choice>
          <mc:Fallback>
            <p:sp>
              <p:nvSpPr>
                <p:cNvPr id="31" name="文本框 30"/>
                <p:cNvSpPr txBox="1">
                  <a:spLocks noRot="1" noChangeAspect="1" noMove="1" noResize="1" noEditPoints="1" noAdjustHandles="1" noChangeArrowheads="1" noChangeShapeType="1" noTextEdit="1"/>
                </p:cNvSpPr>
                <p:nvPr/>
              </p:nvSpPr>
              <p:spPr>
                <a:xfrm>
                  <a:off x="6016" y="7216"/>
                  <a:ext cx="873" cy="483"/>
                </a:xfrm>
                <a:prstGeom prst="rect">
                  <a:avLst/>
                </a:prstGeom>
                <a:blipFill rotWithShape="1">
                  <a:blip r:embed="rId3"/>
                </a:blipFill>
              </p:spPr>
              <p:txBody>
                <a:bodyPr/>
                <a:lstStyle/>
                <a:p>
                  <a:r>
                    <a:rPr lang="zh-CN" altLang="en-US">
                      <a:noFill/>
                    </a:rPr>
                    <a:t> </a:t>
                  </a:r>
                </a:p>
              </p:txBody>
            </p:sp>
          </mc:Fallback>
        </mc:AlternateContent>
      </p:grpSp>
      <p:sp>
        <p:nvSpPr>
          <p:cNvPr id="15" name="矩形 14"/>
          <p:cNvSpPr/>
          <p:nvPr>
            <p:custDataLst>
              <p:tags r:id="rId4"/>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22" name="矩形 21"/>
          <p:cNvSpPr/>
          <p:nvPr>
            <p:custDataLst>
              <p:tags r:id="rId5"/>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3" name="文本框 22"/>
          <p:cNvSpPr txBox="1"/>
          <p:nvPr>
            <p:custDataLst>
              <p:tags r:id="rId6"/>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2" name="文本框 31"/>
              <p:cNvSpPr txBox="1"/>
              <p:nvPr/>
            </p:nvSpPr>
            <p:spPr>
              <a:xfrm>
                <a:off x="373380" y="1195070"/>
                <a:ext cx="4760595" cy="368300"/>
              </a:xfrm>
              <a:prstGeom prst="rect">
                <a:avLst/>
              </a:prstGeom>
              <a:noFill/>
            </p:spPr>
            <p:txBody>
              <a:bodyPr wrap="square" rtlCol="0">
                <a:spAutoFit/>
              </a:bodyPr>
              <a:lstStyle/>
              <a:p>
                <a:r>
                  <a:rPr lang="zh-CN" altLang="en-US"/>
                  <a:t>将数据点</a:t>
                </a:r>
                <a:r>
                  <a:rPr lang="en-US" altLang="zh-CN">
                    <a:sym typeface="+mn-ea"/>
                  </a:rPr>
                  <a:t>(</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𝟏</m:t>
                        </m:r>
                      </m:sub>
                    </m:sSub>
                    <m:r>
                      <a:rPr lang="en-US" altLang="zh-CN" b="1"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1</m:t>
                        </m:r>
                      </m:sub>
                    </m:sSub>
                  </m:oMath>
                </a14:m>
                <a:r>
                  <a:rPr lang="en-US" altLang="zh-CN">
                    <a:sym typeface="+mn-ea"/>
                  </a:rPr>
                  <a:t>)</a:t>
                </a:r>
                <a:r>
                  <a:rPr lang="zh-CN" altLang="en-US">
                    <a:sym typeface="+mn-ea"/>
                  </a:rPr>
                  <a:t>，</a:t>
                </a:r>
                <a:r>
                  <a:rPr lang="en-US" altLang="zh-CN">
                    <a:sym typeface="+mn-ea"/>
                  </a:rPr>
                  <a:t>(</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𝟐</m:t>
                        </m:r>
                      </m:sub>
                    </m:sSub>
                    <m:r>
                      <a:rPr lang="en-US" altLang="zh-CN" b="1"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2</m:t>
                        </m:r>
                      </m:sub>
                    </m:sSub>
                  </m:oMath>
                </a14:m>
                <a:r>
                  <a:rPr lang="en-US" altLang="zh-CN">
                    <a:sym typeface="+mn-ea"/>
                  </a:rPr>
                  <a:t>)</a:t>
                </a:r>
                <a:r>
                  <a:rPr lang="zh-CN" altLang="en-US">
                    <a:sym typeface="+mn-ea"/>
                  </a:rPr>
                  <a:t>，</a:t>
                </a:r>
                <a:r>
                  <a:rPr lang="en-US" altLang="zh-CN">
                    <a:sym typeface="+mn-ea"/>
                  </a:rPr>
                  <a:t>(</a:t>
                </a:r>
                <a14:m>
                  <m:oMath xmlns:m="http://schemas.openxmlformats.org/officeDocument/2006/math">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𝟑</m:t>
                        </m:r>
                      </m:sub>
                    </m:sSub>
                    <m:r>
                      <a:rPr lang="en-US" altLang="zh-CN" b="1"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3</m:t>
                        </m:r>
                      </m:sub>
                    </m:sSub>
                  </m:oMath>
                </a14:m>
                <a:r>
                  <a:rPr lang="en-US" altLang="zh-CN">
                    <a:sym typeface="+mn-ea"/>
                  </a:rPr>
                  <a:t>)</a:t>
                </a:r>
                <a:r>
                  <a:rPr lang="zh-CN" altLang="en-US"/>
                  <a:t>带入公式：</a:t>
                </a:r>
                <a:endParaRPr lang="en-US" altLang="zh-CN"/>
              </a:p>
            </p:txBody>
          </p:sp>
        </mc:Choice>
        <mc:Fallback>
          <p:sp>
            <p:nvSpPr>
              <p:cNvPr id="32" name="文本框 31"/>
              <p:cNvSpPr txBox="1">
                <a:spLocks noRot="1" noChangeAspect="1" noMove="1" noResize="1" noEditPoints="1" noAdjustHandles="1" noChangeArrowheads="1" noChangeShapeType="1" noTextEdit="1"/>
              </p:cNvSpPr>
              <p:nvPr/>
            </p:nvSpPr>
            <p:spPr>
              <a:xfrm>
                <a:off x="373380" y="1195070"/>
                <a:ext cx="4760595" cy="36830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p:cNvSpPr txBox="1"/>
              <p:nvPr/>
            </p:nvSpPr>
            <p:spPr>
              <a:xfrm>
                <a:off x="373380" y="1664970"/>
                <a:ext cx="10107295" cy="1316990"/>
              </a:xfrm>
              <a:prstGeom prst="rect">
                <a:avLst/>
              </a:prstGeom>
              <a:noFill/>
            </p:spPr>
            <p:txBody>
              <a:bodyPr wrap="square" rtlCol="0" anchor="t">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𝛼</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oMath>
                  </m:oMathPara>
                </a14:m>
                <a:endParaRPr lang="en-US" altLang="zh-CN" i="1">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          </a:t>
                </a:r>
                <a14:m>
                  <m:oMath xmlns:m="http://schemas.openxmlformats.org/officeDocument/2006/math">
                    <m:r>
                      <a:rPr lang="en-US" altLang="zh-CN" sz="2000">
                        <a:latin typeface="Cambria Math" panose="02040503050406030204" pitchFamily="18" charset="0"/>
                        <a:cs typeface="Cambria Math" panose="02040503050406030204" pitchFamily="18" charset="0"/>
                      </a:rPr>
                      <m:t>=</m:t>
                    </m:r>
                    <m:f>
                      <m:fPr>
                        <m:ctrlPr>
                          <a:rPr lang="en-US" altLang="zh-CN" sz="2000" i="1">
                            <a:latin typeface="Cambria Math" panose="02040503050406030204" pitchFamily="18" charset="0"/>
                            <a:cs typeface="Cambria Math" panose="02040503050406030204" pitchFamily="18" charset="0"/>
                          </a:rPr>
                        </m:ctrlPr>
                      </m:fPr>
                      <m:num>
                        <m:r>
                          <a:rPr lang="en-US" altLang="zh-CN" sz="2000" i="1">
                            <a:latin typeface="Cambria Math" panose="02040503050406030204" pitchFamily="18" charset="0"/>
                            <a:cs typeface="Cambria Math" panose="02040503050406030204" pitchFamily="18" charset="0"/>
                          </a:rPr>
                          <m:t>1</m:t>
                        </m:r>
                      </m:num>
                      <m:den>
                        <m:r>
                          <a:rPr lang="en-US" altLang="zh-CN" sz="2000" i="1">
                            <a:latin typeface="Cambria Math" panose="02040503050406030204" pitchFamily="18" charset="0"/>
                            <a:cs typeface="Cambria Math" panose="02040503050406030204" pitchFamily="18" charset="0"/>
                          </a:rPr>
                          <m:t>2</m:t>
                        </m:r>
                      </m:den>
                    </m:f>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18</m:t>
                    </m:r>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1</m:t>
                        </m:r>
                      </m:sub>
                      <m:sup>
                        <m:r>
                          <a:rPr lang="en-US" altLang="zh-CN" sz="2000" i="1">
                            <a:latin typeface="Cambria Math" panose="02040503050406030204" pitchFamily="18" charset="0"/>
                            <a:cs typeface="Cambria Math" panose="02040503050406030204" pitchFamily="18" charset="0"/>
                          </a:rPr>
                          <m:t>2</m:t>
                        </m:r>
                      </m:sup>
                    </m:sSub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25</m:t>
                    </m:r>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2</m:t>
                        </m:r>
                      </m:sub>
                      <m:sup>
                        <m:r>
                          <a:rPr lang="en-US" altLang="zh-CN" sz="2000" i="1">
                            <a:latin typeface="Cambria Math" panose="02040503050406030204" pitchFamily="18" charset="0"/>
                            <a:cs typeface="Cambria Math" panose="02040503050406030204" pitchFamily="18" charset="0"/>
                          </a:rPr>
                          <m:t>2</m:t>
                        </m:r>
                      </m:sup>
                    </m:sSub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2</m:t>
                    </m:r>
                    <m:sSubSup>
                      <m:sSubSupPr>
                        <m:ctrlPr>
                          <a:rPr lang="en-US" altLang="zh-CN" sz="2000" i="1">
                            <a:latin typeface="Cambria Math" panose="02040503050406030204" pitchFamily="18" charset="0"/>
                            <a:cs typeface="Cambria Math" panose="02040503050406030204" pitchFamily="18" charset="0"/>
                          </a:rPr>
                        </m:ctrlPr>
                      </m:sSubSup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3</m:t>
                        </m:r>
                      </m:sub>
                      <m:sup>
                        <m:r>
                          <a:rPr lang="en-US" altLang="zh-CN" sz="2000" i="1">
                            <a:latin typeface="Cambria Math" panose="02040503050406030204" pitchFamily="18" charset="0"/>
                            <a:cs typeface="Cambria Math" panose="02040503050406030204" pitchFamily="18" charset="0"/>
                          </a:rPr>
                          <m:t>2</m:t>
                        </m:r>
                      </m:sup>
                    </m:sSubSup>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42</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1</m:t>
                        </m:r>
                      </m:sub>
                    </m:sSub>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2</m:t>
                        </m:r>
                      </m:sub>
                    </m:sSub>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12</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1</m:t>
                        </m:r>
                      </m:sub>
                    </m:sSub>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3</m:t>
                        </m:r>
                      </m:sub>
                    </m:sSub>
                    <m:r>
                      <a:rPr lang="en-US" altLang="zh-CN" sz="2000" i="1">
                        <a:latin typeface="Cambria Math" panose="02040503050406030204" pitchFamily="18" charset="0"/>
                        <a:cs typeface="Cambria Math" panose="02040503050406030204" pitchFamily="18" charset="0"/>
                      </a:rPr>
                      <m:t>−</m:t>
                    </m:r>
                    <m:r>
                      <a:rPr lang="en-US" altLang="zh-CN" sz="2000" i="1">
                        <a:latin typeface="Cambria Math" panose="02040503050406030204" pitchFamily="18" charset="0"/>
                        <a:cs typeface="Cambria Math" panose="02040503050406030204" pitchFamily="18" charset="0"/>
                      </a:rPr>
                      <m:t>14</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2</m:t>
                        </m:r>
                      </m:sub>
                    </m:sSub>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3</m:t>
                        </m:r>
                      </m:sub>
                    </m:sSub>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1</m:t>
                        </m:r>
                      </m:sub>
                    </m:sSub>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2</m:t>
                        </m:r>
                      </m:sub>
                    </m:sSub>
                    <m:r>
                      <a:rPr lang="en-US" altLang="zh-CN" sz="2000" i="1">
                        <a:latin typeface="Cambria Math" panose="02040503050406030204" pitchFamily="18" charset="0"/>
                        <a:cs typeface="Cambria Math" panose="02040503050406030204" pitchFamily="18" charset="0"/>
                      </a:rPr>
                      <m:t>−</m:t>
                    </m:r>
                    <m:sSub>
                      <m:sSubPr>
                        <m:ctrlPr>
                          <a:rPr lang="en-US" altLang="zh-CN" sz="2000" i="1">
                            <a:latin typeface="Cambria Math" panose="02040503050406030204" pitchFamily="18" charset="0"/>
                            <a:cs typeface="Cambria Math" panose="02040503050406030204" pitchFamily="18" charset="0"/>
                          </a:rPr>
                        </m:ctrlPr>
                      </m:sSubPr>
                      <m:e>
                        <m:r>
                          <a:rPr lang="en-US" altLang="zh-CN" sz="2000" i="1">
                            <a:latin typeface="Cambria Math" panose="02040503050406030204" pitchFamily="18" charset="0"/>
                            <a:cs typeface="Cambria Math" panose="02040503050406030204" pitchFamily="18" charset="0"/>
                          </a:rPr>
                          <m:t>𝛼</m:t>
                        </m:r>
                      </m:e>
                      <m:sub>
                        <m:r>
                          <a:rPr lang="en-US" altLang="zh-CN" sz="2000" i="1">
                            <a:latin typeface="Cambria Math" panose="02040503050406030204" pitchFamily="18" charset="0"/>
                            <a:cs typeface="Cambria Math" panose="02040503050406030204" pitchFamily="18" charset="0"/>
                          </a:rPr>
                          <m:t>3</m:t>
                        </m:r>
                      </m:sub>
                    </m:sSub>
                  </m:oMath>
                </a14:m>
                <a:endParaRPr lang="en-US" altLang="zh-CN" i="1">
                  <a:latin typeface="Cambria Math" panose="02040503050406030204" pitchFamily="18" charset="0"/>
                  <a:cs typeface="Cambria Math" panose="02040503050406030204" pitchFamily="18" charset="0"/>
                </a:endParaRPr>
              </a:p>
            </p:txBody>
          </p:sp>
        </mc:Choice>
        <mc:Fallback>
          <p:sp>
            <p:nvSpPr>
              <p:cNvPr id="33" name="文本框 32"/>
              <p:cNvSpPr txBox="1">
                <a:spLocks noRot="1" noChangeAspect="1" noMove="1" noResize="1" noEditPoints="1" noAdjustHandles="1" noChangeArrowheads="1" noChangeShapeType="1" noTextEdit="1"/>
              </p:cNvSpPr>
              <p:nvPr/>
            </p:nvSpPr>
            <p:spPr>
              <a:xfrm>
                <a:off x="373380" y="1664970"/>
                <a:ext cx="10107295" cy="131699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203835" y="3006725"/>
                <a:ext cx="1812925"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34" name="文本框 33"/>
              <p:cNvSpPr txBox="1">
                <a:spLocks noRot="1" noChangeAspect="1" noMove="1" noResize="1" noEditPoints="1" noAdjustHandles="1" noChangeArrowheads="1" noChangeShapeType="1" noTextEdit="1"/>
              </p:cNvSpPr>
              <p:nvPr/>
            </p:nvSpPr>
            <p:spPr>
              <a:xfrm>
                <a:off x="203835" y="3006725"/>
                <a:ext cx="1812925" cy="84455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文本框 34"/>
              <p:cNvSpPr txBox="1"/>
              <p:nvPr/>
            </p:nvSpPr>
            <p:spPr>
              <a:xfrm>
                <a:off x="2706941" y="3245104"/>
                <a:ext cx="1875790" cy="36830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zh-CN" altLang="en-US"/>
              </a:p>
            </p:txBody>
          </p:sp>
        </mc:Choice>
        <mc:Fallback>
          <p:sp>
            <p:nvSpPr>
              <p:cNvPr id="35" name="文本框 34"/>
              <p:cNvSpPr txBox="1">
                <a:spLocks noRot="1" noChangeAspect="1" noMove="1" noResize="1" noEditPoints="1" noAdjustHandles="1" noChangeArrowheads="1" noChangeShapeType="1" noTextEdit="1"/>
              </p:cNvSpPr>
              <p:nvPr/>
            </p:nvSpPr>
            <p:spPr>
              <a:xfrm>
                <a:off x="2706941" y="3245104"/>
                <a:ext cx="1875790" cy="368300"/>
              </a:xfrm>
              <a:prstGeom prst="rect">
                <a:avLst/>
              </a:prstGeom>
              <a:blipFill rotWithShape="1">
                <a:blip r:embed="rId4"/>
                <a:stretch>
                  <a:fillRect l="-30" t="-69" r="30" b="69"/>
                </a:stretch>
              </a:blipFill>
            </p:spPr>
            <p:txBody>
              <a:bodyPr/>
              <a:lstStyle/>
              <a:p>
                <a:r>
                  <a:rPr lang="zh-CN" altLang="en-US">
                    <a:noFill/>
                  </a:rPr>
                  <a:t> </a:t>
                </a:r>
              </a:p>
            </p:txBody>
          </p:sp>
        </mc:Fallback>
      </mc:AlternateContent>
      <p:sp>
        <p:nvSpPr>
          <p:cNvPr id="36" name="右箭头 35"/>
          <p:cNvSpPr/>
          <p:nvPr/>
        </p:nvSpPr>
        <p:spPr>
          <a:xfrm>
            <a:off x="1964690" y="3255645"/>
            <a:ext cx="609600" cy="3467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7" name="文本框 36"/>
              <p:cNvSpPr txBox="1"/>
              <p:nvPr/>
            </p:nvSpPr>
            <p:spPr>
              <a:xfrm>
                <a:off x="486981" y="3844544"/>
                <a:ext cx="4417695" cy="605155"/>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𝛼</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4</m:t>
                      </m:r>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2</m:t>
                          </m:r>
                        </m:sup>
                      </m:sSubSup>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13</m:t>
                          </m:r>
                        </m:num>
                        <m:den>
                          <m:r>
                            <a:rPr lang="en-US" altLang="zh-CN" i="1">
                              <a:latin typeface="Cambria Math" panose="02040503050406030204" pitchFamily="18" charset="0"/>
                              <a:cs typeface="Cambria Math" panose="02040503050406030204" pitchFamily="18" charset="0"/>
                            </a:rPr>
                            <m:t>2</m:t>
                          </m:r>
                        </m:den>
                      </m:f>
                      <m:sSubSup>
                        <m:sSubSupPr>
                          <m:ctrlPr>
                            <a:rPr lang="en-US" altLang="zh-CN"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up>
                          <m:r>
                            <a:rPr lang="en-US" altLang="zh-CN" i="1">
                              <a:latin typeface="Cambria Math" panose="02040503050406030204" pitchFamily="18" charset="0"/>
                              <a:cs typeface="Cambria Math" panose="02040503050406030204" pitchFamily="18" charset="0"/>
                            </a:rPr>
                            <m:t>2</m:t>
                          </m:r>
                        </m:sup>
                      </m:sSub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10</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oMath>
                  </m:oMathPara>
                </a14:m>
                <a:endParaRPr lang="zh-CN" altLang="en-US"/>
              </a:p>
            </p:txBody>
          </p:sp>
        </mc:Choice>
        <mc:Fallback>
          <p:sp>
            <p:nvSpPr>
              <p:cNvPr id="37" name="文本框 36"/>
              <p:cNvSpPr txBox="1">
                <a:spLocks noRot="1" noChangeAspect="1" noMove="1" noResize="1" noEditPoints="1" noAdjustHandles="1" noChangeArrowheads="1" noChangeShapeType="1" noTextEdit="1"/>
              </p:cNvSpPr>
              <p:nvPr/>
            </p:nvSpPr>
            <p:spPr>
              <a:xfrm>
                <a:off x="486981" y="3844544"/>
                <a:ext cx="4417695" cy="605155"/>
              </a:xfrm>
              <a:prstGeom prst="rect">
                <a:avLst/>
              </a:prstGeom>
              <a:blipFill rotWithShape="1">
                <a:blip r:embed="rId5"/>
                <a:stretch>
                  <a:fillRect l="-13" t="-42" r="13" b="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487680" y="4592955"/>
                <a:ext cx="6917055" cy="484505"/>
              </a:xfrm>
              <a:prstGeom prst="rect">
                <a:avLst/>
              </a:prstGeom>
              <a:noFill/>
            </p:spPr>
            <p:txBody>
              <a:bodyPr wrap="square" rtlCol="0">
                <a:spAutoFit/>
              </a:bodyPr>
              <a:lstStyle/>
              <a:p>
                <a:r>
                  <a:rPr lang="zh-CN" altLang="en-US"/>
                  <a:t>求</a:t>
                </a:r>
                <a14:m>
                  <m:oMath xmlns:m="http://schemas.openxmlformats.org/officeDocument/2006/math">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𝛼</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最小值，分别对</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rPr>
                  <a:t>和</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oMath>
                </a14:m>
                <a:r>
                  <a:rPr lang="zh-CN" altLang="en-US">
                    <a:latin typeface="Cambria Math" panose="02040503050406030204" pitchFamily="18" charset="0"/>
                    <a:cs typeface="Cambria Math" panose="02040503050406030204" pitchFamily="18" charset="0"/>
                  </a:rPr>
                  <a:t>求偏导得：</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3</m:t>
                        </m:r>
                      </m:num>
                      <m:den>
                        <m:r>
                          <a:rPr lang="en-US" altLang="zh-CN" i="1">
                            <a:latin typeface="Cambria Math" panose="02040503050406030204" pitchFamily="18" charset="0"/>
                            <a:cs typeface="Cambria Math" panose="02040503050406030204" pitchFamily="18" charset="0"/>
                          </a:rPr>
                          <m:t>2</m:t>
                        </m:r>
                      </m:den>
                    </m:f>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endParaRPr lang="en-US" altLang="zh-CN">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487680" y="4592955"/>
                <a:ext cx="6917055" cy="484505"/>
              </a:xfrm>
              <a:prstGeom prst="rect">
                <a:avLst/>
              </a:prstGeom>
              <a:blipFill rotWithShape="1">
                <a:blip r:embed="rId6"/>
                <a:stretch>
                  <a:fillRect/>
                </a:stretch>
              </a:blipFill>
            </p:spPr>
            <p:txBody>
              <a:bodyPr/>
              <a:lstStyle/>
              <a:p>
                <a:r>
                  <a:rPr lang="zh-CN" altLang="en-US">
                    <a:noFill/>
                  </a:rPr>
                  <a:t> </a:t>
                </a:r>
              </a:p>
            </p:txBody>
          </p:sp>
        </mc:Fallback>
      </mc:AlternateContent>
      <p:sp>
        <p:nvSpPr>
          <p:cNvPr id="7" name="右箭头 6"/>
          <p:cNvSpPr/>
          <p:nvPr/>
        </p:nvSpPr>
        <p:spPr>
          <a:xfrm>
            <a:off x="6555740" y="4662170"/>
            <a:ext cx="609600" cy="3467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8" name="文本框 7"/>
              <p:cNvSpPr txBox="1"/>
              <p:nvPr/>
            </p:nvSpPr>
            <p:spPr>
              <a:xfrm>
                <a:off x="7079615" y="4662170"/>
                <a:ext cx="2685415" cy="368300"/>
              </a:xfrm>
              <a:prstGeom prst="rect">
                <a:avLst/>
              </a:prstGeom>
              <a:noFill/>
            </p:spPr>
            <p:txBody>
              <a:bodyPr wrap="square" rtlCol="0" anchor="t">
                <a:spAutoFit/>
              </a:bodyPr>
              <a:lstStyle/>
              <a:p>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&lt;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不满足约束条件</a:t>
                </a:r>
                <a:endParaRPr lang="zh-CN" altLang="en-US">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7079615" y="4662170"/>
                <a:ext cx="2685415" cy="36830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488315" y="5220970"/>
                <a:ext cx="6916420" cy="368300"/>
              </a:xfrm>
              <a:prstGeom prst="rect">
                <a:avLst/>
              </a:prstGeom>
              <a:noFill/>
            </p:spPr>
            <p:txBody>
              <a:bodyPr wrap="square" rtlCol="0">
                <a:spAutoFit/>
              </a:bodyPr>
              <a:lstStyle/>
              <a:p>
                <a:r>
                  <a:rPr lang="zh-CN"/>
                  <a:t>证明数据点</a:t>
                </a:r>
                <a:r>
                  <a:rPr lang="en-US"/>
                  <a:t>2</a:t>
                </a:r>
                <a:r>
                  <a:rPr lang="zh-CN" altLang="en-US"/>
                  <a:t>不是支持向量，设置</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，简化</a:t>
                </a:r>
                <a14:m>
                  <m:oMath xmlns:m="http://schemas.openxmlformats.org/officeDocument/2006/math">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𝛼</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后再对</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Sub>
                  </m:oMath>
                </a14:m>
                <a:r>
                  <a:rPr lang="zh-CN" altLang="en-US">
                    <a:latin typeface="Cambria Math" panose="02040503050406030204" pitchFamily="18" charset="0"/>
                    <a:cs typeface="Cambria Math" panose="02040503050406030204" pitchFamily="18" charset="0"/>
                    <a:sym typeface="+mn-ea"/>
                  </a:rPr>
                  <a:t>求偏导</a:t>
                </a:r>
                <a:endParaRPr lang="zh-CN" altLang="en-US">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488315" y="5220970"/>
                <a:ext cx="6916420" cy="36830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547370" y="5640070"/>
                <a:ext cx="7221855" cy="484505"/>
              </a:xfrm>
              <a:prstGeom prst="rect">
                <a:avLst/>
              </a:prstGeom>
              <a:noFill/>
            </p:spPr>
            <p:txBody>
              <a:bodyPr wrap="square" rtlCol="0">
                <a:spAutoFit/>
              </a:bodyPr>
              <a:lstStyle/>
              <a:p>
                <a:r>
                  <a:rPr lang="zh-CN" altLang="en-US">
                    <a:latin typeface="Cambria Math" panose="02040503050406030204" pitchFamily="18" charset="0"/>
                    <a:cs typeface="Cambria Math" panose="02040503050406030204" pitchFamily="18" charset="0"/>
                  </a:rPr>
                  <a:t>最终得：</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4</m:t>
                        </m:r>
                      </m:den>
                    </m:f>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4</m:t>
                        </m:r>
                      </m:den>
                    </m:f>
                  </m:oMath>
                </a14:m>
                <a:endParaRPr lang="zh-CN" altLang="en-US">
                  <a:latin typeface="Cambria Math" panose="02040503050406030204" pitchFamily="18" charset="0"/>
                  <a:cs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547370" y="5640070"/>
                <a:ext cx="7221855" cy="484505"/>
              </a:xfrm>
              <a:prstGeom prst="rect">
                <a:avLst/>
              </a:prstGeom>
              <a:blipFill rotWithShape="1">
                <a:blip r:embed="rId9"/>
                <a:stretch>
                  <a:fillRect/>
                </a:stretch>
              </a:blipFill>
            </p:spPr>
            <p:txBody>
              <a:bodyPr/>
              <a:lstStyle/>
              <a:p>
                <a:r>
                  <a:rPr lang="zh-CN" altLang="en-US">
                    <a:noFill/>
                  </a:rPr>
                  <a:t> </a:t>
                </a:r>
              </a:p>
            </p:txBody>
          </p:sp>
        </mc:Fallback>
      </mc:AlternateContent>
      <p:sp>
        <p:nvSpPr>
          <p:cNvPr id="6" name="矩形 5"/>
          <p:cNvSpPr/>
          <p:nvPr>
            <p:custDataLst>
              <p:tags r:id="rId10"/>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0" name="矩形 9"/>
          <p:cNvSpPr/>
          <p:nvPr>
            <p:custDataLst>
              <p:tags r:id="rId11"/>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12"/>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nvSpPr>
            <p:spPr>
              <a:xfrm>
                <a:off x="292735" y="2159635"/>
                <a:ext cx="2929890" cy="484505"/>
              </a:xfrm>
              <a:prstGeom prst="rect">
                <a:avLst/>
              </a:prstGeom>
              <a:noFill/>
            </p:spPr>
            <p:txBody>
              <a:bodyPr wrap="square" rtlCol="0">
                <a:spAutoFit/>
              </a:bodyPr>
              <a:lstStyle/>
              <a:p>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4</m:t>
                        </m:r>
                      </m:den>
                    </m:f>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2</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3</m:t>
                        </m:r>
                      </m:sub>
                    </m:sSub>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4</m:t>
                        </m:r>
                      </m:den>
                    </m:f>
                  </m:oMath>
                </a14:m>
                <a:endParaRPr lang="zh-CN" altLang="en-US">
                  <a:latin typeface="Cambria Math" panose="02040503050406030204" pitchFamily="18" charset="0"/>
                  <a:cs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292735" y="2159635"/>
                <a:ext cx="2929890" cy="48450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260350" y="2865755"/>
                <a:ext cx="4112260" cy="368300"/>
              </a:xfrm>
              <a:prstGeom prst="rect">
                <a:avLst/>
              </a:prstGeom>
              <a:noFill/>
            </p:spPr>
            <p:txBody>
              <a:bodyPr wrap="square" rtlCol="0">
                <a:spAutoFit/>
              </a:bodyPr>
              <a:lstStyle/>
              <a:p>
                <a:r>
                  <a:rPr lang="zh-CN" altLang="en-US"/>
                  <a:t>通过拉格朗日乘子</a:t>
                </a:r>
                <a14:m>
                  <m:oMath xmlns:m="http://schemas.openxmlformats.org/officeDocument/2006/math">
                    <m:r>
                      <a:rPr lang="en-US" altLang="zh-CN" b="1" i="1">
                        <a:latin typeface="Cambria Math" panose="02040503050406030204" pitchFamily="18" charset="0"/>
                        <a:cs typeface="Cambria Math" panose="02040503050406030204" pitchFamily="18" charset="0"/>
                      </a:rPr>
                      <m:t>𝜶</m:t>
                    </m:r>
                  </m:oMath>
                </a14:m>
                <a:r>
                  <a:rPr lang="zh-CN" altLang="en-US">
                    <a:latin typeface="Cambria Math" panose="02040503050406030204" pitchFamily="18" charset="0"/>
                    <a:cs typeface="Cambria Math" panose="02040503050406030204" pitchFamily="18" charset="0"/>
                  </a:rPr>
                  <a:t>，计算得到</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oMath>
                </a14:m>
                <a:r>
                  <a:rPr lang="zh-CN" altLang="en-US">
                    <a:latin typeface="Cambria Math" panose="02040503050406030204" pitchFamily="18" charset="0"/>
                    <a:cs typeface="Cambria Math" panose="02040503050406030204" pitchFamily="18" charset="0"/>
                  </a:rPr>
                  <a:t>和</a:t>
                </a:r>
                <a14:m>
                  <m:oMath xmlns:m="http://schemas.openxmlformats.org/officeDocument/2006/math">
                    <m:r>
                      <a:rPr lang="en-US" altLang="zh-CN" i="1">
                        <a:latin typeface="Cambria Math" panose="02040503050406030204" pitchFamily="18" charset="0"/>
                        <a:cs typeface="Cambria Math" panose="02040503050406030204" pitchFamily="18" charset="0"/>
                      </a:rPr>
                      <m:t>𝑏</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260350" y="2865755"/>
                <a:ext cx="411226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56210" y="3286760"/>
                <a:ext cx="7386320" cy="844550"/>
              </a:xfrm>
              <a:prstGeom prst="rect">
                <a:avLst/>
              </a:prstGeom>
              <a:noFill/>
            </p:spPr>
            <p:txBody>
              <a:bodyPr wrap="square" rtlCol="0" anchor="t">
                <a:spAutoFit/>
              </a:bodyPr>
              <a:lstStyle/>
              <a:p>
                <a:pPr indent="457200" algn="l"/>
                <a14:m>
                  <m:oMathPara xmlns:m="http://schemas.openxmlformats.org/officeDocument/2006/math">
                    <m:oMathParaPr>
                      <m:jc m:val="left"/>
                    </m:oMathParaPr>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r>
                        <a:rPr lang="en-US" altLang="zh-CN" b="1"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4</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4</m:t>
                          </m:r>
                        </m:den>
                      </m:f>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56210" y="3286760"/>
                <a:ext cx="7386320" cy="84455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343535" y="4260215"/>
                <a:ext cx="4648200" cy="653415"/>
              </a:xfrm>
              <a:prstGeom prst="rect">
                <a:avLst/>
              </a:prstGeom>
              <a:noFill/>
            </p:spPr>
            <p:txBody>
              <a:bodyPr wrap="square" rtlCol="0">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den>
                      </m:f>
                      <m:r>
                        <a:rPr lang="en-US" altLang="zh-CN" i="1">
                          <a:latin typeface="Cambria Math" panose="02040503050406030204" pitchFamily="18" charset="0"/>
                          <a:cs typeface="Cambria Math" panose="02040503050406030204" pitchFamily="18" charset="0"/>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b="1"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sym typeface="+mn-ea"/>
                            </a:rPr>
                          </m:ctrlPr>
                        </m:fPr>
                        <m:num>
                          <m:r>
                            <a:rPr lang="en-US" altLang="zh-CN" i="1">
                              <a:latin typeface="Cambria Math" panose="02040503050406030204" pitchFamily="18" charset="0"/>
                              <a:cs typeface="Cambria Math" panose="02040503050406030204" pitchFamily="18" charset="0"/>
                              <a:sym typeface="+mn-ea"/>
                            </a:rPr>
                            <m:t>1</m:t>
                          </m:r>
                        </m:num>
                        <m:den>
                          <m:r>
                            <a:rPr lang="en-US" altLang="zh-CN" i="1">
                              <a:latin typeface="Cambria Math" panose="02040503050406030204" pitchFamily="18" charset="0"/>
                              <a:cs typeface="Cambria Math" panose="02040503050406030204" pitchFamily="18" charset="0"/>
                              <a:sym typeface="+mn-ea"/>
                            </a:rPr>
                            <m:t>1</m:t>
                          </m:r>
                        </m:den>
                      </m:f>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r>
                            <a:rPr lang="en-US" altLang="zh-CN"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𝑇</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3</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2</m:t>
                      </m:r>
                    </m:oMath>
                  </m:oMathPara>
                </a14:m>
                <a:endParaRPr lang="en-US" altLang="zh-CN"/>
              </a:p>
            </p:txBody>
          </p:sp>
        </mc:Choice>
        <mc:Fallback>
          <p:sp>
            <p:nvSpPr>
              <p:cNvPr id="12" name="文本框 11"/>
              <p:cNvSpPr txBox="1">
                <a:spLocks noRot="1" noChangeAspect="1" noMove="1" noResize="1" noEditPoints="1" noAdjustHandles="1" noChangeArrowheads="1" noChangeShapeType="1" noTextEdit="1"/>
              </p:cNvSpPr>
              <p:nvPr/>
            </p:nvSpPr>
            <p:spPr>
              <a:xfrm>
                <a:off x="343535" y="4260215"/>
                <a:ext cx="4648200" cy="653415"/>
              </a:xfrm>
              <a:prstGeom prst="rect">
                <a:avLst/>
              </a:prstGeom>
              <a:blipFill rotWithShape="1">
                <a:blip r:embed="rId4"/>
                <a:stretch>
                  <a:fillRect/>
                </a:stretch>
              </a:blipFill>
            </p:spPr>
            <p:txBody>
              <a:bodyPr/>
              <a:lstStyle/>
              <a:p>
                <a:r>
                  <a:rPr lang="zh-CN" altLang="en-US">
                    <a:noFill/>
                  </a:rPr>
                  <a:t> </a:t>
                </a:r>
              </a:p>
            </p:txBody>
          </p:sp>
        </mc:Fallback>
      </mc:AlternateContent>
      <p:grpSp>
        <p:nvGrpSpPr>
          <p:cNvPr id="42" name="组合 41"/>
          <p:cNvGrpSpPr/>
          <p:nvPr/>
        </p:nvGrpSpPr>
        <p:grpSpPr>
          <a:xfrm>
            <a:off x="6223000" y="2011680"/>
            <a:ext cx="6258560" cy="3900170"/>
            <a:chOff x="9440" y="3754"/>
            <a:chExt cx="9856" cy="6142"/>
          </a:xfrm>
        </p:grpSpPr>
        <p:grpSp>
          <p:nvGrpSpPr>
            <p:cNvPr id="38" name="组合 37"/>
            <p:cNvGrpSpPr/>
            <p:nvPr/>
          </p:nvGrpSpPr>
          <p:grpSpPr>
            <a:xfrm>
              <a:off x="9440" y="3754"/>
              <a:ext cx="9856" cy="6143"/>
              <a:chOff x="900" y="4326"/>
              <a:chExt cx="9856" cy="6143"/>
            </a:xfrm>
          </p:grpSpPr>
          <p:cxnSp>
            <p:nvCxnSpPr>
              <p:cNvPr id="13" name="直接箭头连接符 12"/>
              <p:cNvCxnSpPr/>
              <p:nvPr/>
            </p:nvCxnSpPr>
            <p:spPr>
              <a:xfrm flipH="1" flipV="1">
                <a:off x="1299" y="4326"/>
                <a:ext cx="29" cy="556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1308" y="9889"/>
                <a:ext cx="8325" cy="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962" y="9889"/>
                <a:ext cx="9795" cy="580"/>
              </a:xfrm>
              <a:prstGeom prst="rect">
                <a:avLst/>
              </a:prstGeom>
              <a:noFill/>
            </p:spPr>
            <p:txBody>
              <a:bodyPr wrap="square" rtlCol="0">
                <a:spAutoFit/>
              </a:bodyPr>
              <a:lstStyle/>
              <a:p>
                <a:r>
                  <a:rPr lang="en-US" altLang="zh-CN"/>
                  <a:t>O              1</a:t>
                </a:r>
                <a:r>
                  <a:rPr lang="en-US" altLang="zh-CN">
                    <a:sym typeface="+mn-ea"/>
                  </a:rPr>
                  <a:t>              2              3             4              5             6</a:t>
                </a:r>
                <a:r>
                  <a:rPr lang="en-US" altLang="zh-CN"/>
                  <a:t>    </a:t>
                </a:r>
                <a:endParaRPr lang="en-US" altLang="zh-CN"/>
              </a:p>
            </p:txBody>
          </p:sp>
          <p:sp>
            <p:nvSpPr>
              <p:cNvPr id="16" name="文本框 15"/>
              <p:cNvSpPr txBox="1"/>
              <p:nvPr/>
            </p:nvSpPr>
            <p:spPr>
              <a:xfrm>
                <a:off x="900" y="4644"/>
                <a:ext cx="720" cy="5562"/>
              </a:xfrm>
              <a:prstGeom prst="rect">
                <a:avLst/>
              </a:prstGeom>
              <a:noFill/>
            </p:spPr>
            <p:txBody>
              <a:bodyPr wrap="square" rtlCol="0">
                <a:noAutofit/>
              </a:bodyPr>
              <a:lstStyle/>
              <a:p>
                <a:r>
                  <a:rPr lang="en-US" altLang="zh-CN"/>
                  <a:t>6</a:t>
                </a:r>
                <a:endParaRPr lang="en-US" altLang="zh-CN"/>
              </a:p>
              <a:p>
                <a:pPr>
                  <a:lnSpc>
                    <a:spcPct val="70000"/>
                  </a:lnSpc>
                </a:pPr>
                <a:endParaRPr lang="en-US" altLang="zh-CN"/>
              </a:p>
              <a:p>
                <a:r>
                  <a:rPr lang="en-US" altLang="zh-CN"/>
                  <a:t>5</a:t>
                </a:r>
                <a:endParaRPr lang="en-US" altLang="zh-CN"/>
              </a:p>
              <a:p>
                <a:endParaRPr lang="en-US" altLang="zh-CN"/>
              </a:p>
              <a:p>
                <a:r>
                  <a:rPr lang="en-US" altLang="zh-CN"/>
                  <a:t>4</a:t>
                </a:r>
                <a:endParaRPr lang="en-US" altLang="zh-CN"/>
              </a:p>
              <a:p>
                <a:endParaRPr lang="en-US" altLang="zh-CN"/>
              </a:p>
              <a:p>
                <a:r>
                  <a:rPr lang="en-US" altLang="zh-CN"/>
                  <a:t>3</a:t>
                </a:r>
                <a:endParaRPr lang="en-US" altLang="zh-CN"/>
              </a:p>
              <a:p>
                <a:endParaRPr lang="en-US" altLang="zh-CN"/>
              </a:p>
              <a:p>
                <a:r>
                  <a:rPr lang="en-US" altLang="zh-CN"/>
                  <a:t>2</a:t>
                </a:r>
                <a:endParaRPr lang="en-US" altLang="zh-CN"/>
              </a:p>
              <a:p>
                <a:endParaRPr lang="en-US" altLang="zh-CN"/>
              </a:p>
              <a:p>
                <a:r>
                  <a:rPr lang="en-US" altLang="zh-CN"/>
                  <a:t>1</a:t>
                </a:r>
                <a:endParaRPr lang="en-US" altLang="zh-CN"/>
              </a:p>
              <a:p>
                <a:endParaRPr lang="en-US" altLang="zh-CN"/>
              </a:p>
              <a:p>
                <a:endParaRPr lang="en-US" altLang="zh-CN"/>
              </a:p>
            </p:txBody>
          </p:sp>
          <p:cxnSp>
            <p:nvCxnSpPr>
              <p:cNvPr id="17" name="直接连接符 16"/>
              <p:cNvCxnSpPr/>
              <p:nvPr/>
            </p:nvCxnSpPr>
            <p:spPr>
              <a:xfrm flipV="1">
                <a:off x="2609" y="9741"/>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flipV="1">
                <a:off x="3890" y="9735"/>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直接连接符 18"/>
              <p:cNvCxnSpPr/>
              <p:nvPr/>
            </p:nvCxnSpPr>
            <p:spPr>
              <a:xfrm flipV="1">
                <a:off x="5171" y="9741"/>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20" name="直接连接符 19"/>
              <p:cNvCxnSpPr/>
              <p:nvPr/>
            </p:nvCxnSpPr>
            <p:spPr>
              <a:xfrm flipV="1">
                <a:off x="6452" y="9741"/>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flipH="1" flipV="1">
                <a:off x="1328" y="9149"/>
                <a:ext cx="154" cy="6"/>
              </a:xfrm>
              <a:prstGeom prst="line">
                <a:avLst/>
              </a:prstGeom>
              <a:ln w="19050"/>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flipH="1" flipV="1">
                <a:off x="1338" y="8281"/>
                <a:ext cx="154" cy="6"/>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直接连接符 22"/>
              <p:cNvCxnSpPr/>
              <p:nvPr/>
            </p:nvCxnSpPr>
            <p:spPr>
              <a:xfrm flipH="1" flipV="1">
                <a:off x="1328" y="7413"/>
                <a:ext cx="154" cy="6"/>
              </a:xfrm>
              <a:prstGeom prst="line">
                <a:avLst/>
              </a:prstGeom>
              <a:ln w="19050"/>
            </p:spPr>
            <p:style>
              <a:lnRef idx="1">
                <a:schemeClr val="dk1"/>
              </a:lnRef>
              <a:fillRef idx="0">
                <a:schemeClr val="dk1"/>
              </a:fillRef>
              <a:effectRef idx="0">
                <a:schemeClr val="dk1"/>
              </a:effectRef>
              <a:fontRef idx="minor">
                <a:schemeClr val="tx1"/>
              </a:fontRef>
            </p:style>
          </p:cxnSp>
          <p:cxnSp>
            <p:nvCxnSpPr>
              <p:cNvPr id="24" name="直接连接符 23"/>
              <p:cNvCxnSpPr/>
              <p:nvPr/>
            </p:nvCxnSpPr>
            <p:spPr>
              <a:xfrm flipH="1" flipV="1">
                <a:off x="1328" y="6545"/>
                <a:ext cx="154" cy="6"/>
              </a:xfrm>
              <a:prstGeom prst="line">
                <a:avLst/>
              </a:prstGeom>
              <a:ln w="19050"/>
            </p:spPr>
            <p:style>
              <a:lnRef idx="1">
                <a:schemeClr val="dk1"/>
              </a:lnRef>
              <a:fillRef idx="0">
                <a:schemeClr val="dk1"/>
              </a:fillRef>
              <a:effectRef idx="0">
                <a:schemeClr val="dk1"/>
              </a:effectRef>
              <a:fontRef idx="minor">
                <a:schemeClr val="tx1"/>
              </a:fontRef>
            </p:style>
          </p:cxnSp>
          <p:sp>
            <p:nvSpPr>
              <p:cNvPr id="25" name="椭圆 24"/>
              <p:cNvSpPr/>
              <p:nvPr/>
            </p:nvSpPr>
            <p:spPr>
              <a:xfrm>
                <a:off x="4888" y="7132"/>
                <a:ext cx="567" cy="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6169" y="7142"/>
                <a:ext cx="567" cy="5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326" y="8868"/>
                <a:ext cx="567" cy="567"/>
              </a:xfrm>
              <a:prstGeom prst="ellipse">
                <a:avLst/>
              </a:prstGeom>
              <a:solidFill>
                <a:schemeClr val="accent2">
                  <a:lumMod val="60000"/>
                  <a:lumOff val="4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1600"/>
              </a:p>
            </p:txBody>
          </p:sp>
          <p:cxnSp>
            <p:nvCxnSpPr>
              <p:cNvPr id="28" name="直接连接符 27"/>
              <p:cNvCxnSpPr/>
              <p:nvPr/>
            </p:nvCxnSpPr>
            <p:spPr>
              <a:xfrm flipV="1">
                <a:off x="7733" y="9741"/>
                <a:ext cx="0" cy="154"/>
              </a:xfrm>
              <a:prstGeom prst="line">
                <a:avLst/>
              </a:prstGeom>
              <a:ln w="19050"/>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flipH="1" flipV="1">
                <a:off x="1308" y="5677"/>
                <a:ext cx="154" cy="6"/>
              </a:xfrm>
              <a:prstGeom prst="line">
                <a:avLst/>
              </a:prstGeom>
              <a:ln w="19050"/>
            </p:spPr>
            <p:style>
              <a:lnRef idx="1">
                <a:schemeClr val="dk1"/>
              </a:lnRef>
              <a:fillRef idx="0">
                <a:schemeClr val="dk1"/>
              </a:fillRef>
              <a:effectRef idx="0">
                <a:schemeClr val="dk1"/>
              </a:effectRef>
              <a:fontRef idx="minor">
                <a:schemeClr val="tx1"/>
              </a:fontRef>
            </p:style>
          </p:cxnSp>
          <p:cxnSp>
            <p:nvCxnSpPr>
              <p:cNvPr id="30" name="直接连接符 29"/>
              <p:cNvCxnSpPr/>
              <p:nvPr/>
            </p:nvCxnSpPr>
            <p:spPr>
              <a:xfrm flipH="1" flipV="1">
                <a:off x="1299" y="4937"/>
                <a:ext cx="154" cy="6"/>
              </a:xfrm>
              <a:prstGeom prst="line">
                <a:avLst/>
              </a:prstGeom>
              <a:ln w="19050"/>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1" name="文本框 30"/>
                  <p:cNvSpPr txBox="1"/>
                  <p:nvPr/>
                </p:nvSpPr>
                <p:spPr>
                  <a:xfrm>
                    <a:off x="2202" y="8910"/>
                    <a:ext cx="813" cy="483"/>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sz="1400" i="1">
                              <a:solidFill>
                                <a:schemeClr val="bg1"/>
                              </a:solidFill>
                              <a:latin typeface="Cambria Math" panose="02040503050406030204" pitchFamily="18" charset="0"/>
                              <a:cs typeface="Cambria Math" panose="02040503050406030204" pitchFamily="18" charset="0"/>
                            </a:rPr>
                            <m:t>−</m:t>
                          </m:r>
                          <m:r>
                            <a:rPr lang="en-US" altLang="zh-CN" sz="1400" i="1">
                              <a:solidFill>
                                <a:schemeClr val="bg1"/>
                              </a:solidFill>
                              <a:latin typeface="Cambria Math" panose="02040503050406030204" pitchFamily="18" charset="0"/>
                              <a:cs typeface="Cambria Math" panose="02040503050406030204" pitchFamily="18" charset="0"/>
                            </a:rPr>
                            <m:t>1</m:t>
                          </m:r>
                        </m:oMath>
                      </m:oMathPara>
                    </a14:m>
                    <a:endParaRPr lang="en-US" altLang="zh-CN" sz="1400" i="1">
                      <a:solidFill>
                        <a:schemeClr val="bg1"/>
                      </a:solidFill>
                      <a:latin typeface="Cambria Math" panose="02040503050406030204" pitchFamily="18" charset="0"/>
                      <a:cs typeface="Cambria Math" panose="02040503050406030204" pitchFamily="18" charset="0"/>
                    </a:endParaRPr>
                  </a:p>
                </p:txBody>
              </p:sp>
            </mc:Choice>
            <mc:Fallback>
              <p:sp>
                <p:nvSpPr>
                  <p:cNvPr id="31" name="文本框 30"/>
                  <p:cNvSpPr txBox="1">
                    <a:spLocks noRot="1" noChangeAspect="1" noMove="1" noResize="1" noEditPoints="1" noAdjustHandles="1" noChangeArrowheads="1" noChangeShapeType="1" noTextEdit="1"/>
                  </p:cNvSpPr>
                  <p:nvPr/>
                </p:nvSpPr>
                <p:spPr>
                  <a:xfrm>
                    <a:off x="2202" y="8910"/>
                    <a:ext cx="813" cy="483"/>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文本框 38"/>
                  <p:cNvSpPr txBox="1"/>
                  <p:nvPr/>
                </p:nvSpPr>
                <p:spPr>
                  <a:xfrm>
                    <a:off x="4734" y="7184"/>
                    <a:ext cx="873" cy="483"/>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sz="1400" i="1">
                              <a:solidFill>
                                <a:schemeClr val="bg1"/>
                              </a:solidFill>
                              <a:latin typeface="Cambria Math" panose="02040503050406030204" pitchFamily="18" charset="0"/>
                              <a:cs typeface="Cambria Math" panose="02040503050406030204" pitchFamily="18" charset="0"/>
                            </a:rPr>
                            <m:t>+</m:t>
                          </m:r>
                          <m:r>
                            <a:rPr lang="en-US" altLang="zh-CN" sz="1400" i="1">
                              <a:solidFill>
                                <a:schemeClr val="bg1"/>
                              </a:solidFill>
                              <a:latin typeface="Cambria Math" panose="02040503050406030204" pitchFamily="18" charset="0"/>
                              <a:cs typeface="Cambria Math" panose="02040503050406030204" pitchFamily="18" charset="0"/>
                            </a:rPr>
                            <m:t>1</m:t>
                          </m:r>
                        </m:oMath>
                      </m:oMathPara>
                    </a14:m>
                    <a:endParaRPr lang="en-US" altLang="zh-CN" sz="1400" i="1">
                      <a:solidFill>
                        <a:schemeClr val="bg1"/>
                      </a:solidFill>
                      <a:latin typeface="Cambria Math" panose="02040503050406030204" pitchFamily="18" charset="0"/>
                      <a:cs typeface="Cambria Math" panose="02040503050406030204" pitchFamily="18" charset="0"/>
                    </a:endParaRPr>
                  </a:p>
                </p:txBody>
              </p:sp>
            </mc:Choice>
            <mc:Fallback>
              <p:sp>
                <p:nvSpPr>
                  <p:cNvPr id="39" name="文本框 38"/>
                  <p:cNvSpPr txBox="1">
                    <a:spLocks noRot="1" noChangeAspect="1" noMove="1" noResize="1" noEditPoints="1" noAdjustHandles="1" noChangeArrowheads="1" noChangeShapeType="1" noTextEdit="1"/>
                  </p:cNvSpPr>
                  <p:nvPr/>
                </p:nvSpPr>
                <p:spPr>
                  <a:xfrm>
                    <a:off x="4734" y="7184"/>
                    <a:ext cx="873" cy="483"/>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文本框 39"/>
                  <p:cNvSpPr txBox="1"/>
                  <p:nvPr/>
                </p:nvSpPr>
                <p:spPr>
                  <a:xfrm>
                    <a:off x="6016" y="7216"/>
                    <a:ext cx="873" cy="483"/>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sz="1400" i="1">
                              <a:solidFill>
                                <a:schemeClr val="bg1"/>
                              </a:solidFill>
                              <a:latin typeface="Cambria Math" panose="02040503050406030204" pitchFamily="18" charset="0"/>
                              <a:cs typeface="Cambria Math" panose="02040503050406030204" pitchFamily="18" charset="0"/>
                            </a:rPr>
                            <m:t>+</m:t>
                          </m:r>
                          <m:r>
                            <a:rPr lang="en-US" altLang="zh-CN" sz="1400" i="1">
                              <a:solidFill>
                                <a:schemeClr val="bg1"/>
                              </a:solidFill>
                              <a:latin typeface="Cambria Math" panose="02040503050406030204" pitchFamily="18" charset="0"/>
                              <a:cs typeface="Cambria Math" panose="02040503050406030204" pitchFamily="18" charset="0"/>
                            </a:rPr>
                            <m:t>1</m:t>
                          </m:r>
                        </m:oMath>
                      </m:oMathPara>
                    </a14:m>
                    <a:endParaRPr lang="en-US" altLang="zh-CN" sz="1400" i="1">
                      <a:solidFill>
                        <a:schemeClr val="bg1"/>
                      </a:solidFill>
                      <a:latin typeface="Cambria Math" panose="02040503050406030204" pitchFamily="18" charset="0"/>
                      <a:cs typeface="Cambria Math" panose="02040503050406030204" pitchFamily="18" charset="0"/>
                    </a:endParaRPr>
                  </a:p>
                </p:txBody>
              </p:sp>
            </mc:Choice>
            <mc:Fallback>
              <p:sp>
                <p:nvSpPr>
                  <p:cNvPr id="40" name="文本框 39"/>
                  <p:cNvSpPr txBox="1">
                    <a:spLocks noRot="1" noChangeAspect="1" noMove="1" noResize="1" noEditPoints="1" noAdjustHandles="1" noChangeArrowheads="1" noChangeShapeType="1" noTextEdit="1"/>
                  </p:cNvSpPr>
                  <p:nvPr/>
                </p:nvSpPr>
                <p:spPr>
                  <a:xfrm>
                    <a:off x="6016" y="7216"/>
                    <a:ext cx="873" cy="483"/>
                  </a:xfrm>
                  <a:prstGeom prst="rect">
                    <a:avLst/>
                  </a:prstGeom>
                  <a:blipFill rotWithShape="1">
                    <a:blip r:embed="rId6"/>
                  </a:blipFill>
                </p:spPr>
                <p:txBody>
                  <a:bodyPr/>
                  <a:lstStyle/>
                  <a:p>
                    <a:r>
                      <a:rPr lang="zh-CN" altLang="en-US">
                        <a:noFill/>
                      </a:rPr>
                      <a:t> </a:t>
                    </a:r>
                  </a:p>
                </p:txBody>
              </p:sp>
            </mc:Fallback>
          </mc:AlternateContent>
        </p:grpSp>
        <p:cxnSp>
          <p:nvCxnSpPr>
            <p:cNvPr id="41" name="直接连接符 40"/>
            <p:cNvCxnSpPr/>
            <p:nvPr/>
          </p:nvCxnSpPr>
          <p:spPr>
            <a:xfrm>
              <a:off x="9848" y="5966"/>
              <a:ext cx="5160" cy="334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43" name="直接箭头连接符 42"/>
          <p:cNvCxnSpPr/>
          <p:nvPr/>
        </p:nvCxnSpPr>
        <p:spPr>
          <a:xfrm flipV="1">
            <a:off x="7151370" y="2340610"/>
            <a:ext cx="702310" cy="136334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7566025" y="1802765"/>
            <a:ext cx="1812925" cy="506730"/>
          </a:xfrm>
          <a:prstGeom prst="rect">
            <a:avLst/>
          </a:prstGeom>
          <a:noFill/>
        </p:spPr>
        <p:txBody>
          <a:bodyPr wrap="square" rtlCol="0">
            <a:spAutoFit/>
          </a:bodyPr>
          <a:lstStyle/>
          <a:p>
            <a:pPr algn="l" eaLnBrk="0" hangingPunct="0">
              <a:lnSpc>
                <a:spcPct val="150000"/>
              </a:lnSpc>
              <a:buClr>
                <a:schemeClr val="folHlink"/>
              </a:buClr>
              <a:buSzTx/>
              <a:buFontTx/>
            </a:pPr>
            <a:r>
              <a:rPr lang="zh-CN" altLang="en-US" b="1">
                <a:solidFill>
                  <a:srgbClr val="0070C0"/>
                </a:solidFill>
              </a:rPr>
              <a:t>最优划分超平面</a:t>
            </a:r>
            <a:endParaRPr lang="zh-CN" altLang="en-US" b="1">
              <a:solidFill>
                <a:srgbClr val="0070C0"/>
              </a:solidFill>
            </a:endParaRPr>
          </a:p>
        </p:txBody>
      </p:sp>
      <p:sp>
        <p:nvSpPr>
          <p:cNvPr id="9" name="矩形 8"/>
          <p:cNvSpPr/>
          <p:nvPr>
            <p:custDataLst>
              <p:tags r:id="rId7"/>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5" name="矩形 4"/>
          <p:cNvSpPr/>
          <p:nvPr>
            <p:custDataLst>
              <p:tags r:id="rId8"/>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7" name="文本框 6"/>
          <p:cNvSpPr txBox="1"/>
          <p:nvPr>
            <p:custDataLst>
              <p:tags r:id="rId9"/>
            </p:custDataLst>
          </p:nvPr>
        </p:nvSpPr>
        <p:spPr>
          <a:xfrm>
            <a:off x="420370" y="323215"/>
            <a:ext cx="451294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如何得到最优划分超平面？</a:t>
            </a:r>
            <a:endParaRPr lang="zh-CN" altLang="en-US" sz="3200" b="1" spc="200" dirty="0">
              <a:solidFill>
                <a:schemeClr val="accent1"/>
              </a:solidFill>
              <a:uFillTx/>
              <a:latin typeface="微软雅黑 Light" panose="020B0502040204020203" pitchFamily="34" charset="-122"/>
              <a:ea typeface="微软雅黑" panose="020B0503020204020204" charset="-122"/>
              <a:cs typeface="+mj-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custDataLst>
              <p:tags r:id="rId1"/>
            </p:custDataLst>
          </p:nvPr>
        </p:nvSpPr>
        <p:spPr>
          <a:xfrm>
            <a:off x="4879975" y="854710"/>
            <a:ext cx="6861175" cy="5236845"/>
          </a:xfrm>
          <a:prstGeom prst="rect">
            <a:avLst/>
          </a:prstGeom>
          <a:noFill/>
        </p:spPr>
        <p:txBody>
          <a:bodyPr wrap="square" rtlCol="0">
            <a:noAutofit/>
            <a:scene3d>
              <a:camera prst="orthographicFront"/>
              <a:lightRig rig="threePt" dir="t"/>
            </a:scene3d>
          </a:bodyPr>
          <a:lstStyle/>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如何得到最优划分超平面？</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软间隔</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核函数</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支持向量机解决多分类问题和回归问题</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实现支持向量机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知识点总结</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98450" y="1550670"/>
            <a:ext cx="11325225" cy="3138170"/>
          </a:xfrm>
          <a:prstGeom prst="rect">
            <a:avLst/>
          </a:prstGeom>
          <a:noFill/>
        </p:spPr>
        <p:txBody>
          <a:bodyPr wrap="square" rtlCol="0">
            <a:spAutoFit/>
          </a:bodyPr>
          <a:lstStyle/>
          <a:p>
            <a:r>
              <a:rPr lang="zh-CN" altLang="en-US"/>
              <a:t>之前的讨论中，一直存在着一个前提假设，即训练样本在样本空间或特征空间中线性可分，即存在一个超平面能将不同类别的样本完全划分开，然而在现实情况下，当训练样本中存在一些噪音点时，会使得到的超平面并非真正意义上的最优划分超平面</a:t>
            </a:r>
            <a:endParaRPr lang="zh-CN" altLang="en-US"/>
          </a:p>
          <a:p>
            <a:endParaRPr lang="zh-CN" altLang="en-US"/>
          </a:p>
          <a:p>
            <a:endParaRPr lang="zh-CN" altLang="en-US"/>
          </a:p>
          <a:p>
            <a:endParaRPr lang="zh-CN" altLang="en-US"/>
          </a:p>
          <a:p>
            <a:endParaRPr lang="zh-CN" altLang="en-US"/>
          </a:p>
          <a:p>
            <a:endParaRPr lang="zh-CN" altLang="en-US"/>
          </a:p>
          <a:p>
            <a:r>
              <a:rPr lang="zh-CN" altLang="en-US"/>
              <a:t>以右图为例，当不存在噪音点</a:t>
            </a:r>
            <a:r>
              <a:rPr lang="en-US" altLang="zh-CN"/>
              <a:t>A</a:t>
            </a:r>
            <a:r>
              <a:rPr lang="zh-CN" altLang="en-US"/>
              <a:t>时，支持向量机得到的最优划分</a:t>
            </a:r>
            <a:endParaRPr lang="zh-CN" altLang="en-US"/>
          </a:p>
          <a:p>
            <a:r>
              <a:rPr lang="zh-CN" altLang="en-US"/>
              <a:t>超平面</a:t>
            </a:r>
            <a:r>
              <a:rPr lang="en-US" altLang="zh-CN"/>
              <a:t>(</a:t>
            </a:r>
            <a:r>
              <a:rPr lang="zh-CN" altLang="en-US"/>
              <a:t>虚线</a:t>
            </a:r>
            <a:r>
              <a:rPr lang="en-US" altLang="zh-CN"/>
              <a:t>)</a:t>
            </a:r>
            <a:r>
              <a:rPr lang="zh-CN" altLang="en-US"/>
              <a:t>相较于存在噪音点</a:t>
            </a:r>
            <a:r>
              <a:rPr lang="en-US" altLang="zh-CN"/>
              <a:t>A</a:t>
            </a:r>
            <a:r>
              <a:rPr lang="zh-CN" altLang="en-US"/>
              <a:t>时支持向量机得到的最优划分</a:t>
            </a:r>
            <a:endParaRPr lang="zh-CN" altLang="en-US"/>
          </a:p>
          <a:p>
            <a:r>
              <a:rPr lang="zh-CN" altLang="en-US"/>
              <a:t>超平面</a:t>
            </a:r>
            <a:r>
              <a:rPr lang="en-US" altLang="zh-CN"/>
              <a:t>(</a:t>
            </a:r>
            <a:r>
              <a:rPr lang="zh-CN" altLang="en-US"/>
              <a:t>实线</a:t>
            </a:r>
            <a:r>
              <a:rPr lang="en-US" altLang="zh-CN"/>
              <a:t>)</a:t>
            </a:r>
            <a:r>
              <a:rPr lang="zh-CN" altLang="en-US"/>
              <a:t>的分类效果更优</a:t>
            </a:r>
            <a:endParaRPr lang="zh-CN" altLang="en-US"/>
          </a:p>
        </p:txBody>
      </p:sp>
      <p:grpSp>
        <p:nvGrpSpPr>
          <p:cNvPr id="9" name="组合 8"/>
          <p:cNvGrpSpPr/>
          <p:nvPr/>
        </p:nvGrpSpPr>
        <p:grpSpPr>
          <a:xfrm>
            <a:off x="7329170" y="2640330"/>
            <a:ext cx="3112770" cy="2943860"/>
            <a:chOff x="12389" y="5005"/>
            <a:chExt cx="4902" cy="4636"/>
          </a:xfrm>
        </p:grpSpPr>
        <p:pic>
          <p:nvPicPr>
            <p:cNvPr id="5" name="图片 4"/>
            <p:cNvPicPr>
              <a:picLocks noChangeAspect="1"/>
            </p:cNvPicPr>
            <p:nvPr/>
          </p:nvPicPr>
          <p:blipFill>
            <a:blip r:embed="rId1"/>
            <a:stretch>
              <a:fillRect/>
            </a:stretch>
          </p:blipFill>
          <p:spPr>
            <a:xfrm>
              <a:off x="12389" y="5005"/>
              <a:ext cx="4903" cy="4637"/>
            </a:xfrm>
            <a:prstGeom prst="rect">
              <a:avLst/>
            </a:prstGeom>
          </p:spPr>
        </p:pic>
        <p:sp>
          <p:nvSpPr>
            <p:cNvPr id="7" name="椭圆 6"/>
            <p:cNvSpPr/>
            <p:nvPr/>
          </p:nvSpPr>
          <p:spPr>
            <a:xfrm>
              <a:off x="13162" y="5462"/>
              <a:ext cx="121" cy="120"/>
            </a:xfrm>
            <a:prstGeom prst="ellipse">
              <a:avLst/>
            </a:prstGeom>
            <a:noFill/>
            <a:ln w="1905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2875" y="5095"/>
              <a:ext cx="287" cy="434"/>
            </a:xfrm>
            <a:prstGeom prst="rect">
              <a:avLst/>
            </a:prstGeom>
            <a:noFill/>
          </p:spPr>
          <p:txBody>
            <a:bodyPr wrap="square" rtlCol="0">
              <a:spAutoFit/>
            </a:bodyPr>
            <a:lstStyle/>
            <a:p>
              <a:r>
                <a:rPr lang="en-US" altLang="zh-CN" sz="1200" b="1">
                  <a:solidFill>
                    <a:srgbClr val="FF0000"/>
                  </a:solidFill>
                </a:rPr>
                <a:t>A</a:t>
              </a:r>
              <a:endParaRPr lang="en-US" altLang="zh-CN" sz="1200" b="1">
                <a:solidFill>
                  <a:srgbClr val="FF0000"/>
                </a:solidFill>
              </a:endParaRPr>
            </a:p>
          </p:txBody>
        </p:sp>
      </p:grpSp>
      <p:sp>
        <p:nvSpPr>
          <p:cNvPr id="10" name="矩形 9"/>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20370" y="323215"/>
            <a:ext cx="15627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软间隔</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61315" y="1094740"/>
            <a:ext cx="10734040" cy="368300"/>
          </a:xfrm>
          <a:prstGeom prst="rect">
            <a:avLst/>
          </a:prstGeom>
          <a:noFill/>
        </p:spPr>
        <p:txBody>
          <a:bodyPr wrap="square" rtlCol="0">
            <a:spAutoFit/>
          </a:bodyPr>
          <a:lstStyle/>
          <a:p>
            <a:r>
              <a:rPr lang="zh-CN" altLang="en-US"/>
              <a:t>对于支持向量机来讲，优化目标可写为：</a:t>
            </a: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3001645" y="1675765"/>
                <a:ext cx="5342255"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𝐶</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m:t>
                              </m:r>
                            </m:e>
                            <m:sub>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b="1" i="1">
                                  <a:latin typeface="Cambria Math" panose="02040503050406030204" pitchFamily="18" charset="0"/>
                                  <a:cs typeface="Cambria Math" panose="02040503050406030204" pitchFamily="18" charset="0"/>
                                </a:rPr>
                                <m:t>𝑻</m:t>
                              </m:r>
                            </m:sup>
                          </m:s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m:t>
                          </m:r>
                        </m:e>
                      </m:nary>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3001645" y="1675765"/>
                <a:ext cx="5342255" cy="84455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4097591" y="2784094"/>
                <a:ext cx="2713355" cy="59690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𝑙</m:t>
                          </m:r>
                        </m:e>
                        <m:sub>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𝑧</m:t>
                      </m:r>
                      <m:r>
                        <a:rPr lang="en-US" altLang="zh-CN" i="1">
                          <a:latin typeface="Cambria Math" panose="02040503050406030204" pitchFamily="18" charset="0"/>
                          <a:cs typeface="Cambria Math" panose="02040503050406030204" pitchFamily="18" charset="0"/>
                        </a:rPr>
                        <m:t>)=</m:t>
                      </m:r>
                      <m:d>
                        <m:dPr>
                          <m:begChr m:val="{"/>
                          <m:endChr m:val=""/>
                          <m:ctrlPr>
                            <a:rPr lang="en-US" altLang="zh-CN" i="1">
                              <a:latin typeface="Cambria Math" panose="02040503050406030204" pitchFamily="18" charset="0"/>
                              <a:cs typeface="Cambria Math" panose="02040503050406030204" pitchFamily="18" charset="0"/>
                            </a:rPr>
                          </m:ctrlPr>
                        </m:dPr>
                        <m:e>
                          <m:eqArr>
                            <m:eqArrPr>
                              <m:ctrlPr>
                                <a:rPr lang="en-US" altLang="zh-CN" i="1">
                                  <a:latin typeface="Cambria Math" panose="02040503050406030204" pitchFamily="18" charset="0"/>
                                  <a:cs typeface="Cambria Math" panose="02040503050406030204" pitchFamily="18" charset="0"/>
                                </a:rPr>
                              </m:ctrlPr>
                            </m:eqArrPr>
                            <m:e>
                              <m:r>
                                <a:rPr lang="en-US" altLang="zh-CN" i="1">
                                  <a:latin typeface="Cambria Math" panose="02040503050406030204" pitchFamily="18" charset="0"/>
                                  <a:cs typeface="Cambria Math" panose="02040503050406030204" pitchFamily="18" charset="0"/>
                                </a:rPr>
                                <m:t>1</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𝑖𝑓</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𝑧</m:t>
                              </m:r>
                              <m:r>
                                <a:rPr lang="en-US" altLang="zh-CN" i="1">
                                  <a:latin typeface="Cambria Math" panose="02040503050406030204" pitchFamily="18" charset="0"/>
                                  <a:cs typeface="Cambria Math" panose="02040503050406030204" pitchFamily="18" charset="0"/>
                                </a:rPr>
                                <m:t>&lt;</m:t>
                              </m:r>
                              <m:r>
                                <a:rPr lang="en-US" altLang="zh-CN" i="1">
                                  <a:latin typeface="Cambria Math" panose="02040503050406030204" pitchFamily="18" charset="0"/>
                                  <a:cs typeface="Cambria Math" panose="02040503050406030204" pitchFamily="18" charset="0"/>
                                </a:rPr>
                                <m:t>0</m:t>
                              </m:r>
                            </m:e>
                            <m:e>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𝑜𝑡ℎ𝑒𝑟𝑤𝑖𝑠𝑒</m:t>
                              </m:r>
                            </m:e>
                          </m:eqArr>
                        </m:e>
                      </m:d>
                    </m:oMath>
                  </m:oMathPara>
                </a14:m>
                <a:endParaRPr lang="zh-CN" altLang="en-US"/>
              </a:p>
            </p:txBody>
          </p:sp>
        </mc:Choice>
        <mc:Fallback>
          <p:sp>
            <p:nvSpPr>
              <p:cNvPr id="14" name="文本框 13"/>
              <p:cNvSpPr txBox="1">
                <a:spLocks noRot="1" noChangeAspect="1" noMove="1" noResize="1" noEditPoints="1" noAdjustHandles="1" noChangeArrowheads="1" noChangeShapeType="1" noTextEdit="1"/>
              </p:cNvSpPr>
              <p:nvPr/>
            </p:nvSpPr>
            <p:spPr>
              <a:xfrm>
                <a:off x="4097591" y="2784094"/>
                <a:ext cx="2713355" cy="596900"/>
              </a:xfrm>
              <a:prstGeom prst="rect">
                <a:avLst/>
              </a:prstGeom>
              <a:blipFill rotWithShape="1">
                <a:blip r:embed="rId2"/>
                <a:stretch>
                  <a:fillRect l="-21" t="-43" r="21" b="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477520" y="3568065"/>
                <a:ext cx="10800080" cy="1215390"/>
              </a:xfrm>
              <a:prstGeom prst="rect">
                <a:avLst/>
              </a:prstGeom>
              <a:noFill/>
            </p:spPr>
            <p:txBody>
              <a:bodyPr wrap="square" rtlCol="0">
                <a:spAutoFit/>
              </a:bodyPr>
              <a:lstStyle/>
              <a:p>
                <a:r>
                  <a:rPr lang="zh-CN" altLang="en-US"/>
                  <a:t>该优化目标在出现样本分类错误时会进行惩罚，使优化的目标函数值变大，通过这种方法在最大化间隔的同时保证不满足约束的样本尽可能少。可将该优化目标函数看成两部分，</a:t>
                </a:r>
                <a:r>
                  <a:rPr lang="zh-CN" altLang="en-US" b="1">
                    <a:solidFill>
                      <a:schemeClr val="accent4">
                        <a:lumMod val="75000"/>
                      </a:schemeClr>
                    </a:solidFill>
                  </a:rPr>
                  <a:t>结构风险</a:t>
                </a:r>
                <a:r>
                  <a:rPr lang="zh-CN" altLang="en-US"/>
                  <a:t>与</a:t>
                </a:r>
                <a:r>
                  <a:rPr lang="zh-CN" altLang="en-US" b="1">
                    <a:solidFill>
                      <a:srgbClr val="0070C0"/>
                    </a:solidFill>
                  </a:rPr>
                  <a:t>经验风险</a:t>
                </a:r>
                <a:r>
                  <a:rPr lang="zh-CN" altLang="en-US">
                    <a:sym typeface="+mn-ea"/>
                  </a:rPr>
                  <a:t>，其中</a:t>
                </a:r>
                <a:r>
                  <a:rPr lang="zh-CN" altLang="en-US" b="1">
                    <a:solidFill>
                      <a:schemeClr val="accent4">
                        <a:lumMod val="75000"/>
                      </a:schemeClr>
                    </a:solidFill>
                    <a:sym typeface="+mn-ea"/>
                  </a:rPr>
                  <a:t>结构风险</a:t>
                </a:r>
                <a:r>
                  <a:rPr lang="zh-CN" altLang="en-US">
                    <a:sym typeface="+mn-ea"/>
                  </a:rPr>
                  <a:t>用于降低</a:t>
                </a:r>
                <a:r>
                  <a:rPr lang="zh-CN" altLang="en-US" b="1">
                    <a:solidFill>
                      <a:schemeClr val="accent4">
                        <a:lumMod val="75000"/>
                      </a:schemeClr>
                    </a:solidFill>
                    <a:sym typeface="+mn-ea"/>
                  </a:rPr>
                  <a:t>过拟合风险</a:t>
                </a:r>
                <a:r>
                  <a:rPr lang="zh-CN" altLang="en-US">
                    <a:sym typeface="+mn-ea"/>
                  </a:rPr>
                  <a:t>，</a:t>
                </a:r>
                <a:r>
                  <a:rPr lang="zh-CN" altLang="en-US" b="1">
                    <a:solidFill>
                      <a:srgbClr val="0070C0"/>
                    </a:solidFill>
                    <a:sym typeface="+mn-ea"/>
                  </a:rPr>
                  <a:t>经验风险</a:t>
                </a:r>
                <a:r>
                  <a:rPr lang="zh-CN" altLang="en-US">
                    <a:sym typeface="+mn-ea"/>
                  </a:rPr>
                  <a:t>用于</a:t>
                </a:r>
                <a:r>
                  <a:rPr lang="zh-CN" altLang="en-US" b="1">
                    <a:solidFill>
                      <a:srgbClr val="0070C0"/>
                    </a:solidFill>
                    <a:sym typeface="+mn-ea"/>
                  </a:rPr>
                  <a:t>提高模型与训练数据的契合程度</a:t>
                </a:r>
                <a:r>
                  <a:rPr lang="zh-CN" altLang="en-US">
                    <a:sym typeface="+mn-ea"/>
                  </a:rPr>
                  <a:t>，参数</a:t>
                </a:r>
                <a14:m>
                  <m:oMath xmlns:m="http://schemas.openxmlformats.org/officeDocument/2006/math">
                    <m:r>
                      <a:rPr lang="en-US" altLang="zh-CN" i="1">
                        <a:latin typeface="Cambria Math" panose="02040503050406030204" pitchFamily="18" charset="0"/>
                        <a:cs typeface="Cambria Math" panose="02040503050406030204" pitchFamily="18" charset="0"/>
                      </a:rPr>
                      <m:t>𝐶</m:t>
                    </m:r>
                  </m:oMath>
                </a14:m>
                <a:r>
                  <a:rPr lang="zh-CN" altLang="en-US">
                    <a:sym typeface="+mn-ea"/>
                  </a:rPr>
                  <a:t>为人工设置参数，用于平衡</a:t>
                </a:r>
                <a:r>
                  <a:rPr lang="zh-CN" altLang="en-US" b="1">
                    <a:solidFill>
                      <a:schemeClr val="accent4">
                        <a:lumMod val="75000"/>
                      </a:schemeClr>
                    </a:solidFill>
                    <a:sym typeface="+mn-ea"/>
                  </a:rPr>
                  <a:t>结构风险</a:t>
                </a:r>
                <a:r>
                  <a:rPr lang="zh-CN" altLang="en-US">
                    <a:sym typeface="+mn-ea"/>
                  </a:rPr>
                  <a:t>与</a:t>
                </a:r>
                <a:r>
                  <a:rPr lang="zh-CN" altLang="en-US" b="1">
                    <a:solidFill>
                      <a:srgbClr val="0070C0"/>
                    </a:solidFill>
                    <a:sym typeface="+mn-ea"/>
                  </a:rPr>
                  <a:t>经验风险</a:t>
                </a:r>
                <a:r>
                  <a:rPr lang="zh-CN" altLang="en-US">
                    <a:solidFill>
                      <a:schemeClr val="accent1"/>
                    </a:solidFill>
                    <a:sym typeface="+mn-ea"/>
                  </a:rPr>
                  <a:t>，</a:t>
                </a:r>
                <a:r>
                  <a:rPr lang="zh-CN" altLang="en-US">
                    <a:latin typeface="Cambria Math" panose="02040503050406030204" pitchFamily="18" charset="0"/>
                    <a:cs typeface="Cambria Math" panose="02040503050406030204" pitchFamily="18" charset="0"/>
                    <a:sym typeface="+mn-ea"/>
                  </a:rPr>
                  <a:t>函数</a:t>
                </a:r>
                <a14:m>
                  <m:oMath xmlns:m="http://schemas.openxmlformats.org/officeDocument/2006/math">
                    <m:sSub>
                      <m:sSubPr>
                        <m:ctrlPr>
                          <a:rPr lang="zh-CN" altLang="en-US" i="1">
                            <a:latin typeface="Cambria Math" panose="02040503050406030204" pitchFamily="18" charset="0"/>
                            <a:cs typeface="Cambria Math" panose="02040503050406030204" pitchFamily="18" charset="0"/>
                          </a:rPr>
                        </m:ctrlPr>
                      </m:sSubPr>
                      <m:e>
                        <m:r>
                          <a:rPr lang="zh-CN" altLang="en-US">
                            <a:latin typeface="Cambria Math" panose="02040503050406030204" pitchFamily="18" charset="0"/>
                            <a:cs typeface="Cambria Math" panose="02040503050406030204" pitchFamily="18" charset="0"/>
                          </a:rPr>
                          <m:t>𝑙</m:t>
                        </m:r>
                      </m:e>
                      <m:sub>
                        <m:r>
                          <a:rPr lang="zh-CN" altLang="en-US">
                            <a:latin typeface="Cambria Math" panose="02040503050406030204" pitchFamily="18" charset="0"/>
                            <a:cs typeface="Cambria Math" panose="02040503050406030204" pitchFamily="18" charset="0"/>
                          </a:rPr>
                          <m:t>0</m:t>
                        </m:r>
                        <m:r>
                          <a:rPr lang="zh-CN" altLang="en-US">
                            <a:latin typeface="Cambria Math" panose="02040503050406030204" pitchFamily="18" charset="0"/>
                            <a:cs typeface="Cambria Math" panose="02040503050406030204" pitchFamily="18" charset="0"/>
                          </a:rPr>
                          <m:t>/</m:t>
                        </m:r>
                        <m:r>
                          <a:rPr lang="zh-CN" altLang="en-US">
                            <a:latin typeface="Cambria Math" panose="02040503050406030204" pitchFamily="18" charset="0"/>
                            <a:cs typeface="Cambria Math" panose="02040503050406030204" pitchFamily="18" charset="0"/>
                          </a:rPr>
                          <m:t>1</m:t>
                        </m:r>
                      </m:sub>
                    </m:sSub>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可换成其他函数</a:t>
                </a:r>
                <a:endParaRPr lang="zh-CN" altLang="en-US">
                  <a:solidFill>
                    <a:schemeClr val="accent1"/>
                  </a:solidFill>
                  <a:latin typeface="Cambria Math" panose="02040503050406030204" pitchFamily="18" charset="0"/>
                  <a:cs typeface="Cambria Math" panose="02040503050406030204" pitchFamily="18" charset="0"/>
                  <a:sym typeface="+mn-ea"/>
                </a:endParaRPr>
              </a:p>
            </p:txBody>
          </p:sp>
        </mc:Choice>
        <mc:Fallback>
          <p:sp>
            <p:nvSpPr>
              <p:cNvPr id="15" name="文本框 14"/>
              <p:cNvSpPr txBox="1">
                <a:spLocks noRot="1" noChangeAspect="1" noMove="1" noResize="1" noEditPoints="1" noAdjustHandles="1" noChangeArrowheads="1" noChangeShapeType="1" noTextEdit="1"/>
              </p:cNvSpPr>
              <p:nvPr/>
            </p:nvSpPr>
            <p:spPr>
              <a:xfrm>
                <a:off x="477520" y="3568065"/>
                <a:ext cx="10800080" cy="1215390"/>
              </a:xfrm>
              <a:prstGeom prst="rect">
                <a:avLst/>
              </a:prstGeom>
              <a:blipFill rotWithShape="1">
                <a:blip r:embed="rId3"/>
                <a:stretch>
                  <a:fillRect/>
                </a:stretch>
              </a:blipFill>
            </p:spPr>
            <p:txBody>
              <a:bodyPr/>
              <a:lstStyle/>
              <a:p>
                <a:r>
                  <a:rPr lang="zh-CN" altLang="en-US">
                    <a:noFill/>
                  </a:rPr>
                  <a:t> </a:t>
                </a:r>
              </a:p>
            </p:txBody>
          </p:sp>
        </mc:Fallback>
      </mc:AlternateContent>
      <p:sp>
        <p:nvSpPr>
          <p:cNvPr id="16" name="任意多边形 15"/>
          <p:cNvSpPr/>
          <p:nvPr/>
        </p:nvSpPr>
        <p:spPr>
          <a:xfrm>
            <a:off x="4046220" y="2374900"/>
            <a:ext cx="629285" cy="76200"/>
          </a:xfrm>
          <a:custGeom>
            <a:avLst/>
            <a:gdLst>
              <a:gd name="connisteX0" fmla="*/ 0 w 629158"/>
              <a:gd name="connsiteY0" fmla="*/ 10274 h 76363"/>
              <a:gd name="connisteX1" fmla="*/ 111760 w 629158"/>
              <a:gd name="connsiteY1" fmla="*/ 76314 h 76363"/>
              <a:gd name="connisteX2" fmla="*/ 213360 w 629158"/>
              <a:gd name="connsiteY2" fmla="*/ 114 h 76363"/>
              <a:gd name="connisteX3" fmla="*/ 386080 w 629158"/>
              <a:gd name="connsiteY3" fmla="*/ 61074 h 76363"/>
              <a:gd name="connisteX4" fmla="*/ 538480 w 629158"/>
              <a:gd name="connsiteY4" fmla="*/ 114 h 76363"/>
              <a:gd name="connisteX5" fmla="*/ 619760 w 629158"/>
              <a:gd name="connsiteY5" fmla="*/ 66154 h 76363"/>
              <a:gd name="connisteX6" fmla="*/ 624840 w 629158"/>
              <a:gd name="connsiteY6" fmla="*/ 61074 h 7636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629158" h="76364">
                <a:moveTo>
                  <a:pt x="0" y="10274"/>
                </a:moveTo>
                <a:cubicBezTo>
                  <a:pt x="20320" y="24879"/>
                  <a:pt x="69215" y="78219"/>
                  <a:pt x="111760" y="76314"/>
                </a:cubicBezTo>
                <a:cubicBezTo>
                  <a:pt x="154305" y="74409"/>
                  <a:pt x="158750" y="3289"/>
                  <a:pt x="213360" y="114"/>
                </a:cubicBezTo>
                <a:cubicBezTo>
                  <a:pt x="267970" y="-3061"/>
                  <a:pt x="321310" y="61074"/>
                  <a:pt x="386080" y="61074"/>
                </a:cubicBezTo>
                <a:cubicBezTo>
                  <a:pt x="450850" y="61074"/>
                  <a:pt x="491490" y="-1156"/>
                  <a:pt x="538480" y="114"/>
                </a:cubicBezTo>
                <a:cubicBezTo>
                  <a:pt x="585470" y="1384"/>
                  <a:pt x="602615" y="54089"/>
                  <a:pt x="619760" y="66154"/>
                </a:cubicBezTo>
                <a:cubicBezTo>
                  <a:pt x="636905" y="78219"/>
                  <a:pt x="625475" y="63614"/>
                  <a:pt x="624840" y="61074"/>
                </a:cubicBezTo>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6"/>
          <p:cNvSpPr/>
          <p:nvPr/>
        </p:nvSpPr>
        <p:spPr>
          <a:xfrm>
            <a:off x="5212080" y="2520315"/>
            <a:ext cx="2518410" cy="76200"/>
          </a:xfrm>
          <a:custGeom>
            <a:avLst/>
            <a:gdLst>
              <a:gd name="connisteX0" fmla="*/ 0 w 629158"/>
              <a:gd name="connsiteY0" fmla="*/ 10274 h 76363"/>
              <a:gd name="connisteX1" fmla="*/ 111760 w 629158"/>
              <a:gd name="connsiteY1" fmla="*/ 76314 h 76363"/>
              <a:gd name="connisteX2" fmla="*/ 213360 w 629158"/>
              <a:gd name="connsiteY2" fmla="*/ 114 h 76363"/>
              <a:gd name="connisteX3" fmla="*/ 386080 w 629158"/>
              <a:gd name="connsiteY3" fmla="*/ 61074 h 76363"/>
              <a:gd name="connisteX4" fmla="*/ 538480 w 629158"/>
              <a:gd name="connsiteY4" fmla="*/ 114 h 76363"/>
              <a:gd name="connisteX5" fmla="*/ 619760 w 629158"/>
              <a:gd name="connsiteY5" fmla="*/ 66154 h 76363"/>
              <a:gd name="connisteX6" fmla="*/ 624840 w 629158"/>
              <a:gd name="connsiteY6" fmla="*/ 61074 h 76363"/>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629158" h="76364">
                <a:moveTo>
                  <a:pt x="0" y="10274"/>
                </a:moveTo>
                <a:cubicBezTo>
                  <a:pt x="20320" y="24879"/>
                  <a:pt x="69215" y="78219"/>
                  <a:pt x="111760" y="76314"/>
                </a:cubicBezTo>
                <a:cubicBezTo>
                  <a:pt x="154305" y="74409"/>
                  <a:pt x="158750" y="3289"/>
                  <a:pt x="213360" y="114"/>
                </a:cubicBezTo>
                <a:cubicBezTo>
                  <a:pt x="267970" y="-3061"/>
                  <a:pt x="321310" y="61074"/>
                  <a:pt x="386080" y="61074"/>
                </a:cubicBezTo>
                <a:cubicBezTo>
                  <a:pt x="450850" y="61074"/>
                  <a:pt x="491490" y="-1156"/>
                  <a:pt x="538480" y="114"/>
                </a:cubicBezTo>
                <a:cubicBezTo>
                  <a:pt x="585470" y="1384"/>
                  <a:pt x="602615" y="54089"/>
                  <a:pt x="619760" y="66154"/>
                </a:cubicBezTo>
                <a:cubicBezTo>
                  <a:pt x="636905" y="78219"/>
                  <a:pt x="625475" y="63614"/>
                  <a:pt x="624840" y="61074"/>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8" name="文本框 17"/>
              <p:cNvSpPr txBox="1"/>
              <p:nvPr/>
            </p:nvSpPr>
            <p:spPr>
              <a:xfrm>
                <a:off x="477520" y="4954270"/>
                <a:ext cx="10546080" cy="662305"/>
              </a:xfrm>
              <a:prstGeom prst="rect">
                <a:avLst/>
              </a:prstGeom>
              <a:noFill/>
            </p:spPr>
            <p:txBody>
              <a:bodyPr wrap="square" rtlCol="0">
                <a:spAutoFit/>
              </a:bodyPr>
              <a:lstStyle/>
              <a:p>
                <a:r>
                  <a:rPr lang="zh-CN" altLang="en-US"/>
                  <a:t>由于之前的推导中，我们训练数据线性可分，即对所有训练数据均有</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b="1" i="1">
                            <a:latin typeface="Cambria Math" panose="02040503050406030204" pitchFamily="18" charset="0"/>
                            <a:cs typeface="Cambria Math" panose="02040503050406030204" pitchFamily="18" charset="0"/>
                          </a:rPr>
                          <m:t>𝑻</m:t>
                        </m:r>
                      </m:sup>
                    </m:s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oMath>
                </a14:m>
                <a:r>
                  <a:rPr lang="zh-CN" altLang="en-US">
                    <a:latin typeface="Cambria Math" panose="02040503050406030204" pitchFamily="18" charset="0"/>
                    <a:cs typeface="Cambria Math" panose="02040503050406030204" pitchFamily="18" charset="0"/>
                  </a:rPr>
                  <a:t>，因此经验风险为</a:t>
                </a:r>
                <a:r>
                  <a:rPr lang="en-US" altLang="zh-CN">
                    <a:latin typeface="Cambria Math" panose="02040503050406030204" pitchFamily="18" charset="0"/>
                    <a:cs typeface="Cambria Math" panose="02040503050406030204" pitchFamily="18" charset="0"/>
                  </a:rPr>
                  <a:t>0</a:t>
                </a:r>
                <a:r>
                  <a:rPr lang="zh-CN" altLang="en-US">
                    <a:latin typeface="Cambria Math" panose="02040503050406030204" pitchFamily="18" charset="0"/>
                    <a:cs typeface="Cambria Math" panose="02040503050406030204" pitchFamily="18" charset="0"/>
                  </a:rPr>
                  <a:t>，优化目标简化为：</a:t>
                </a:r>
                <a:endParaRPr lang="zh-CN" altLang="en-US">
                  <a:latin typeface="Cambria Math" panose="02040503050406030204" pitchFamily="18" charset="0"/>
                  <a:cs typeface="Cambria Math" panose="02040503050406030204" pitchFamily="18" charset="0"/>
                </a:endParaRPr>
              </a:p>
            </p:txBody>
          </p:sp>
        </mc:Choice>
        <mc:Fallback>
          <p:sp>
            <p:nvSpPr>
              <p:cNvPr id="18" name="文本框 17"/>
              <p:cNvSpPr txBox="1">
                <a:spLocks noRot="1" noChangeAspect="1" noMove="1" noResize="1" noEditPoints="1" noAdjustHandles="1" noChangeArrowheads="1" noChangeShapeType="1" noTextEdit="1"/>
              </p:cNvSpPr>
              <p:nvPr/>
            </p:nvSpPr>
            <p:spPr>
              <a:xfrm>
                <a:off x="477520" y="4954270"/>
                <a:ext cx="10546080" cy="66230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5260340" y="5509260"/>
                <a:ext cx="1671320" cy="60452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19" name="文本框 18"/>
              <p:cNvSpPr txBox="1">
                <a:spLocks noRot="1" noChangeAspect="1" noMove="1" noResize="1" noEditPoints="1" noAdjustHandles="1" noChangeArrowheads="1" noChangeShapeType="1" noTextEdit="1"/>
              </p:cNvSpPr>
              <p:nvPr/>
            </p:nvSpPr>
            <p:spPr>
              <a:xfrm>
                <a:off x="5260340" y="5509260"/>
                <a:ext cx="1671320" cy="60452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5339080" y="5956300"/>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20" name="文本框 19"/>
              <p:cNvSpPr txBox="1">
                <a:spLocks noRot="1" noChangeAspect="1" noMove="1" noResize="1" noEditPoints="1" noAdjustHandles="1" noChangeArrowheads="1" noChangeShapeType="1" noTextEdit="1"/>
              </p:cNvSpPr>
              <p:nvPr/>
            </p:nvSpPr>
            <p:spPr>
              <a:xfrm>
                <a:off x="5339080" y="5956300"/>
                <a:ext cx="808990" cy="36830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3350895" y="215201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21" name="文本框 20"/>
              <p:cNvSpPr txBox="1">
                <a:spLocks noRot="1" noChangeAspect="1" noMove="1" noResize="1" noEditPoints="1" noAdjustHandles="1" noChangeArrowheads="1" noChangeShapeType="1" noTextEdit="1"/>
              </p:cNvSpPr>
              <p:nvPr/>
            </p:nvSpPr>
            <p:spPr>
              <a:xfrm>
                <a:off x="3350895" y="2152015"/>
                <a:ext cx="808990" cy="368300"/>
              </a:xfrm>
              <a:prstGeom prst="rect">
                <a:avLst/>
              </a:prstGeom>
              <a:blipFill rotWithShape="1">
                <a:blip r:embed="rId6"/>
                <a:stretch>
                  <a:fillRect/>
                </a:stretch>
              </a:blipFill>
            </p:spPr>
            <p:txBody>
              <a:bodyPr/>
              <a:lstStyle/>
              <a:p>
                <a:r>
                  <a:rPr lang="zh-CN" altLang="en-US">
                    <a:noFill/>
                  </a:rPr>
                  <a:t> </a:t>
                </a:r>
              </a:p>
            </p:txBody>
          </p:sp>
        </mc:Fallback>
      </mc:AlternateContent>
      <p:sp>
        <p:nvSpPr>
          <p:cNvPr id="5" name="矩形 4"/>
          <p:cNvSpPr/>
          <p:nvPr>
            <p:custDataLst>
              <p:tags r:id="rId7"/>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8"/>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6" name="文本框 5"/>
          <p:cNvSpPr txBox="1"/>
          <p:nvPr>
            <p:custDataLst>
              <p:tags r:id="rId9"/>
            </p:custDataLst>
          </p:nvPr>
        </p:nvSpPr>
        <p:spPr>
          <a:xfrm>
            <a:off x="420370" y="323215"/>
            <a:ext cx="15627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软间隔</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16230" y="1303655"/>
                <a:ext cx="11269345" cy="1891665"/>
              </a:xfrm>
              <a:prstGeom prst="rect">
                <a:avLst/>
              </a:prstGeom>
              <a:noFill/>
            </p:spPr>
            <p:txBody>
              <a:bodyPr wrap="square" rtlCol="0">
                <a:spAutoFit/>
              </a:bodyPr>
              <a:lstStyle/>
              <a:p>
                <a:r>
                  <a:rPr lang="zh-CN" altLang="en-US"/>
                  <a:t>软间隔的解决方法：</a:t>
                </a:r>
                <a:endParaRPr lang="zh-CN" altLang="en-US"/>
              </a:p>
              <a:p>
                <a:pPr>
                  <a:lnSpc>
                    <a:spcPct val="50000"/>
                  </a:lnSpc>
                </a:pPr>
                <a:endParaRPr lang="zh-CN" altLang="en-US"/>
              </a:p>
              <a:p>
                <a:r>
                  <a:rPr lang="en-US" altLang="zh-CN"/>
                  <a:t>1</a:t>
                </a:r>
                <a:r>
                  <a:rPr lang="zh-CN" altLang="en-US"/>
                  <a:t>）引入</a:t>
                </a:r>
                <a:r>
                  <a:rPr lang="zh-CN" altLang="en-US" b="1">
                    <a:solidFill>
                      <a:srgbClr val="0070C0"/>
                    </a:solidFill>
                  </a:rPr>
                  <a:t>松弛因子</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𝜉</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，从而降低之前的严苛条件：</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2</a:t>
                </a:r>
                <a:r>
                  <a:rPr lang="zh-CN" altLang="en-US">
                    <a:latin typeface="Cambria Math" panose="02040503050406030204" pitchFamily="18" charset="0"/>
                    <a:cs typeface="Cambria Math" panose="02040503050406030204" pitchFamily="18" charset="0"/>
                  </a:rPr>
                  <a:t>）调整支持向量机的基本型：</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16230" y="1303655"/>
                <a:ext cx="11269345" cy="189166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448310" y="2258060"/>
                <a:ext cx="2388235" cy="36068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6" name="文本框 5"/>
              <p:cNvSpPr txBox="1">
                <a:spLocks noRot="1" noChangeAspect="1" noMove="1" noResize="1" noEditPoints="1" noAdjustHandles="1" noChangeArrowheads="1" noChangeShapeType="1" noTextEdit="1"/>
              </p:cNvSpPr>
              <p:nvPr/>
            </p:nvSpPr>
            <p:spPr>
              <a:xfrm>
                <a:off x="448310" y="2258060"/>
                <a:ext cx="2388235" cy="36068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4142740" y="2254250"/>
                <a:ext cx="2388235" cy="36068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𝜉</m:t>
                          </m:r>
                        </m:e>
                        <m:sub>
                          <m:r>
                            <a:rPr lang="en-US" altLang="zh-CN" i="1">
                              <a:latin typeface="Cambria Math" panose="02040503050406030204" pitchFamily="18" charset="0"/>
                              <a:cs typeface="Cambria Math" panose="02040503050406030204" pitchFamily="18" charset="0"/>
                              <a:sym typeface="+mn-ea"/>
                            </a:rPr>
                            <m:t>𝑖</m:t>
                          </m:r>
                        </m:sub>
                      </m:sSub>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4142740" y="2254250"/>
                <a:ext cx="2388235" cy="360680"/>
              </a:xfrm>
              <a:prstGeom prst="rect">
                <a:avLst/>
              </a:prstGeom>
              <a:blipFill rotWithShape="1">
                <a:blip r:embed="rId3"/>
                <a:stretch>
                  <a:fillRect/>
                </a:stretch>
              </a:blipFill>
            </p:spPr>
            <p:txBody>
              <a:bodyPr/>
              <a:lstStyle/>
              <a:p>
                <a:r>
                  <a:rPr lang="zh-CN" altLang="en-US">
                    <a:noFill/>
                  </a:rPr>
                  <a:t> </a:t>
                </a:r>
              </a:p>
            </p:txBody>
          </p:sp>
        </mc:Fallback>
      </mc:AlternateContent>
      <p:sp>
        <p:nvSpPr>
          <p:cNvPr id="8" name="右箭头 7"/>
          <p:cNvSpPr/>
          <p:nvPr/>
        </p:nvSpPr>
        <p:spPr>
          <a:xfrm>
            <a:off x="2836545" y="2254250"/>
            <a:ext cx="956945" cy="364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9" name="文本框 8"/>
              <p:cNvSpPr txBox="1"/>
              <p:nvPr/>
            </p:nvSpPr>
            <p:spPr>
              <a:xfrm>
                <a:off x="800100" y="3363595"/>
                <a:ext cx="1685290" cy="60452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800100" y="3363595"/>
                <a:ext cx="1685290" cy="60452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4142740" y="3250565"/>
                <a:ext cx="2487295"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𝐶</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𝜉</m:t>
                              </m:r>
                            </m:e>
                            <m:sub>
                              <m:r>
                                <a:rPr lang="en-US" altLang="zh-CN" i="1">
                                  <a:latin typeface="Cambria Math" panose="02040503050406030204" pitchFamily="18" charset="0"/>
                                  <a:cs typeface="Cambria Math" panose="02040503050406030204" pitchFamily="18" charset="0"/>
                                  <a:sym typeface="+mn-ea"/>
                                </a:rPr>
                                <m:t>𝑖</m:t>
                              </m:r>
                            </m:sub>
                          </m:sSub>
                        </m:e>
                      </m:nary>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4142740" y="3250565"/>
                <a:ext cx="2487295" cy="844550"/>
              </a:xfrm>
              <a:prstGeom prst="rect">
                <a:avLst/>
              </a:prstGeom>
              <a:blipFill rotWithShape="1">
                <a:blip r:embed="rId5"/>
                <a:stretch>
                  <a:fillRect/>
                </a:stretch>
              </a:blipFill>
            </p:spPr>
            <p:txBody>
              <a:bodyPr/>
              <a:lstStyle/>
              <a:p>
                <a:r>
                  <a:rPr lang="zh-CN" altLang="en-US">
                    <a:noFill/>
                  </a:rPr>
                  <a:t> </a:t>
                </a:r>
              </a:p>
            </p:txBody>
          </p:sp>
        </mc:Fallback>
      </mc:AlternateContent>
      <p:sp>
        <p:nvSpPr>
          <p:cNvPr id="11" name="右箭头 10"/>
          <p:cNvSpPr/>
          <p:nvPr/>
        </p:nvSpPr>
        <p:spPr>
          <a:xfrm>
            <a:off x="2900680" y="3490595"/>
            <a:ext cx="956945" cy="364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748030" y="4258310"/>
                <a:ext cx="8932545" cy="865505"/>
              </a:xfrm>
              <a:prstGeom prst="rect">
                <a:avLst/>
              </a:prstGeom>
              <a:noFill/>
            </p:spPr>
            <p:txBody>
              <a:bodyPr wrap="square" rtlCol="0">
                <a:spAutoFit/>
              </a:bodyPr>
              <a:lstStyle/>
              <a:p>
                <a:pPr>
                  <a:lnSpc>
                    <a:spcPct val="40000"/>
                  </a:lnSpc>
                </a:pPr>
                <a:endParaRPr lang="zh-CN" altLang="en-US"/>
              </a:p>
              <a:p>
                <a:r>
                  <a:rPr lang="zh-CN" altLang="en-US"/>
                  <a:t>当</a:t>
                </a:r>
                <a:r>
                  <a:rPr lang="zh-CN" altLang="en-US">
                    <a:sym typeface="+mn-ea"/>
                  </a:rPr>
                  <a:t>参数C很</a:t>
                </a:r>
                <a:r>
                  <a:rPr lang="zh-CN" altLang="en-US"/>
                  <a:t>大时，为了最小化基本型，</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𝜉</m:t>
                        </m:r>
                      </m:e>
                      <m:sub>
                        <m:r>
                          <a:rPr lang="en-US" altLang="zh-CN" i="1">
                            <a:latin typeface="Cambria Math" panose="02040503050406030204" pitchFamily="18" charset="0"/>
                            <a:cs typeface="Cambria Math" panose="02040503050406030204" pitchFamily="18" charset="0"/>
                            <a:sym typeface="+mn-ea"/>
                          </a:rPr>
                          <m:t>𝑖</m:t>
                        </m:r>
                      </m:sub>
                    </m:sSub>
                  </m:oMath>
                </a14:m>
                <a:r>
                  <a:rPr lang="zh-CN" altLang="en-US">
                    <a:latin typeface="Cambria Math" panose="02040503050406030204" pitchFamily="18" charset="0"/>
                    <a:cs typeface="Cambria Math" panose="02040503050406030204" pitchFamily="18" charset="0"/>
                    <a:sym typeface="+mn-ea"/>
                  </a:rPr>
                  <a:t>会很小，此时分类严格不能有错误</a:t>
                </a:r>
                <a:endParaRPr lang="zh-CN" altLang="en-US">
                  <a:latin typeface="Cambria Math" panose="02040503050406030204" pitchFamily="18" charset="0"/>
                  <a:cs typeface="Cambria Math" panose="02040503050406030204" pitchFamily="18" charset="0"/>
                  <a:sym typeface="+mn-ea"/>
                </a:endParaRPr>
              </a:p>
              <a:p>
                <a:pPr>
                  <a:lnSpc>
                    <a:spcPct val="40000"/>
                  </a:lnSpc>
                </a:pPr>
                <a:endParaRPr lang="zh-CN" altLang="en-US">
                  <a:latin typeface="Cambria Math" panose="02040503050406030204" pitchFamily="18" charset="0"/>
                  <a:cs typeface="Cambria Math" panose="02040503050406030204" pitchFamily="18" charset="0"/>
                  <a:sym typeface="+mn-ea"/>
                </a:endParaRPr>
              </a:p>
              <a:p>
                <a:r>
                  <a:rPr lang="zh-CN" altLang="en-US">
                    <a:sym typeface="+mn-ea"/>
                  </a:rPr>
                  <a:t>当参数C很</a:t>
                </a:r>
                <a:r>
                  <a:rPr lang="zh-CN" altLang="en-US">
                    <a:latin typeface="Cambria Math" panose="02040503050406030204" pitchFamily="18" charset="0"/>
                    <a:cs typeface="Cambria Math" panose="02040503050406030204" pitchFamily="18" charset="0"/>
                    <a:sym typeface="+mn-ea"/>
                  </a:rPr>
                  <a:t>小时，</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𝜉</m:t>
                        </m:r>
                      </m:e>
                      <m:sub>
                        <m:r>
                          <a:rPr lang="en-US" altLang="zh-CN" i="1">
                            <a:latin typeface="Cambria Math" panose="02040503050406030204" pitchFamily="18" charset="0"/>
                            <a:cs typeface="Cambria Math" panose="02040503050406030204" pitchFamily="18" charset="0"/>
                            <a:sym typeface="+mn-ea"/>
                          </a:rPr>
                          <m:t>𝑖</m:t>
                        </m:r>
                      </m:sub>
                    </m:sSub>
                  </m:oMath>
                </a14:m>
                <a:r>
                  <a:rPr lang="zh-CN" altLang="en-US">
                    <a:latin typeface="Cambria Math" panose="02040503050406030204" pitchFamily="18" charset="0"/>
                    <a:cs typeface="Cambria Math" panose="02040503050406030204" pitchFamily="18" charset="0"/>
                    <a:sym typeface="+mn-ea"/>
                  </a:rPr>
                  <a:t>可以有较大值，此时分类有更大的错误容忍</a:t>
                </a:r>
                <a:endParaRPr lang="zh-CN" altLang="en-US">
                  <a:latin typeface="Cambria Math" panose="02040503050406030204" pitchFamily="18" charset="0"/>
                  <a:cs typeface="Cambria Math" panose="02040503050406030204" pitchFamily="18" charset="0"/>
                  <a:sym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748030" y="4258310"/>
                <a:ext cx="8932545" cy="865505"/>
              </a:xfrm>
              <a:prstGeom prst="rect">
                <a:avLst/>
              </a:prstGeom>
              <a:blipFill rotWithShape="1">
                <a:blip r:embed="rId6"/>
                <a:stretch>
                  <a:fillRect t="-10785"/>
                </a:stretch>
              </a:blipFill>
            </p:spPr>
            <p:txBody>
              <a:bodyPr/>
              <a:lstStyle/>
              <a:p>
                <a:r>
                  <a:rPr lang="zh-CN" altLang="en-US">
                    <a:noFill/>
                  </a:rPr>
                  <a:t> </a:t>
                </a:r>
              </a:p>
            </p:txBody>
          </p:sp>
        </mc:Fallback>
      </mc:AlternateContent>
      <p:sp>
        <p:nvSpPr>
          <p:cNvPr id="13" name="矩形 12"/>
          <p:cNvSpPr/>
          <p:nvPr>
            <p:custDataLst>
              <p:tags r:id="rId7"/>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4" name="矩形 13"/>
          <p:cNvSpPr/>
          <p:nvPr>
            <p:custDataLst>
              <p:tags r:id="rId8"/>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5" name="文本框 14"/>
          <p:cNvSpPr txBox="1"/>
          <p:nvPr>
            <p:custDataLst>
              <p:tags r:id="rId9"/>
            </p:custDataLst>
          </p:nvPr>
        </p:nvSpPr>
        <p:spPr>
          <a:xfrm>
            <a:off x="420370" y="323215"/>
            <a:ext cx="15627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软间隔</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16230" y="1269365"/>
                <a:ext cx="11307445" cy="710565"/>
              </a:xfrm>
              <a:prstGeom prst="rect">
                <a:avLst/>
              </a:prstGeom>
              <a:noFill/>
            </p:spPr>
            <p:txBody>
              <a:bodyPr wrap="square" rtlCol="0">
                <a:spAutoFit/>
              </a:bodyPr>
              <a:lstStyle/>
              <a:p>
                <a:r>
                  <a:rPr lang="zh-CN" altLang="en-US"/>
                  <a:t>上述解决方法便称为</a:t>
                </a:r>
                <a:r>
                  <a:rPr lang="zh-CN" altLang="en-US" b="1">
                    <a:solidFill>
                      <a:srgbClr val="0070C0"/>
                    </a:solidFill>
                  </a:rPr>
                  <a:t>软间隔</a:t>
                </a:r>
                <a:r>
                  <a:rPr lang="zh-CN" altLang="en-US"/>
                  <a:t>，与之对应的为</a:t>
                </a:r>
                <a:r>
                  <a:rPr lang="zh-CN" altLang="en-US" b="1">
                    <a:solidFill>
                      <a:srgbClr val="0070C0"/>
                    </a:solidFill>
                  </a:rPr>
                  <a:t>硬间隔</a:t>
                </a:r>
                <a:r>
                  <a:rPr lang="zh-CN" altLang="en-US"/>
                  <a:t>，要求所有训练样本满足约束</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oMath>
                </a14:m>
                <a:r>
                  <a:rPr lang="zh-CN" altLang="en-US">
                    <a:latin typeface="Cambria Math" panose="02040503050406030204" pitchFamily="18" charset="0"/>
                    <a:cs typeface="Cambria Math" panose="02040503050406030204" pitchFamily="18" charset="0"/>
                    <a:sym typeface="+mn-ea"/>
                  </a:rPr>
                  <a:t>，而</a:t>
                </a:r>
                <a:r>
                  <a:rPr lang="zh-CN" altLang="en-US" b="1">
                    <a:solidFill>
                      <a:srgbClr val="0070C0"/>
                    </a:solidFill>
                    <a:sym typeface="+mn-ea"/>
                  </a:rPr>
                  <a:t>软间隔</a:t>
                </a:r>
                <a:r>
                  <a:rPr lang="zh-CN" altLang="en-US">
                    <a:latin typeface="Cambria Math" panose="02040503050406030204" pitchFamily="18" charset="0"/>
                    <a:cs typeface="Cambria Math" panose="02040503050406030204" pitchFamily="18" charset="0"/>
                    <a:sym typeface="+mn-ea"/>
                  </a:rPr>
                  <a:t>则</a:t>
                </a:r>
                <a:endParaRPr lang="zh-CN" altLang="en-US">
                  <a:latin typeface="Cambria Math" panose="02040503050406030204" pitchFamily="18" charset="0"/>
                  <a:cs typeface="Cambria Math" panose="02040503050406030204" pitchFamily="18" charset="0"/>
                  <a:sym typeface="+mn-ea"/>
                </a:endParaRPr>
              </a:p>
              <a:p>
                <a:pPr>
                  <a:lnSpc>
                    <a:spcPct val="20000"/>
                  </a:lnSpc>
                </a:pPr>
                <a:endParaRPr lang="zh-CN" altLang="en-US">
                  <a:latin typeface="Cambria Math" panose="02040503050406030204" pitchFamily="18" charset="0"/>
                  <a:cs typeface="Cambria Math" panose="02040503050406030204" pitchFamily="18" charset="0"/>
                  <a:sym typeface="+mn-ea"/>
                </a:endParaRPr>
              </a:p>
              <a:p>
                <a:r>
                  <a:rPr lang="zh-CN" altLang="en-US">
                    <a:latin typeface="Cambria Math" panose="02040503050406030204" pitchFamily="18" charset="0"/>
                    <a:cs typeface="Cambria Math" panose="02040503050406030204" pitchFamily="18" charset="0"/>
                    <a:sym typeface="+mn-ea"/>
                  </a:rPr>
                  <a:t>是允许某些样本不满足约束，引入软间隔概念后，最优化问题推导也产生了相应的变化：</a:t>
                </a:r>
                <a:endParaRPr lang="zh-CN" altLang="en-US"/>
              </a:p>
            </p:txBody>
          </p:sp>
        </mc:Choice>
        <mc:Fallback>
          <p:sp>
            <p:nvSpPr>
              <p:cNvPr id="5" name="文本框 4"/>
              <p:cNvSpPr txBox="1">
                <a:spLocks noRot="1" noChangeAspect="1" noMove="1" noResize="1" noEditPoints="1" noAdjustHandles="1" noChangeArrowheads="1" noChangeShapeType="1" noTextEdit="1"/>
              </p:cNvSpPr>
              <p:nvPr/>
            </p:nvSpPr>
            <p:spPr>
              <a:xfrm>
                <a:off x="316230" y="1269365"/>
                <a:ext cx="11307445" cy="71056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509206" y="2195449"/>
                <a:ext cx="7590155" cy="84455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𝐿</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𝝃</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𝜶</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𝝁</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𝐶</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𝜉</m:t>
                              </m:r>
                            </m:e>
                            <m:sub>
                              <m:r>
                                <a:rPr lang="en-US" altLang="zh-CN" i="1">
                                  <a:latin typeface="Cambria Math" panose="02040503050406030204" pitchFamily="18" charset="0"/>
                                  <a:cs typeface="Cambria Math" panose="02040503050406030204" pitchFamily="18" charset="0"/>
                                  <a:sym typeface="+mn-ea"/>
                                </a:rPr>
                                <m:t>𝑖</m:t>
                              </m:r>
                            </m:sub>
                          </m:sSub>
                        </m:e>
                      </m:nary>
                      <m:r>
                        <a:rPr lang="en-US" altLang="zh-CN" i="1">
                          <a:latin typeface="Cambria Math" panose="02040503050406030204" pitchFamily="18" charset="0"/>
                          <a:cs typeface="Cambria Math" panose="02040503050406030204" pitchFamily="18" charset="0"/>
                          <a:sym typeface="+mn-ea"/>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𝜉</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𝜇</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𝜉</m:t>
                              </m:r>
                            </m:e>
                            <m:sub>
                              <m:r>
                                <a:rPr lang="en-US" altLang="zh-CN" i="1">
                                  <a:latin typeface="Cambria Math" panose="02040503050406030204" pitchFamily="18" charset="0"/>
                                  <a:cs typeface="Cambria Math" panose="02040503050406030204" pitchFamily="18" charset="0"/>
                                  <a:sym typeface="+mn-ea"/>
                                </a:rPr>
                                <m:t>𝑖</m:t>
                              </m:r>
                            </m:sub>
                          </m:sSub>
                        </m:e>
                      </m:nary>
                    </m:oMath>
                  </m:oMathPara>
                </a14:m>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509206" y="2195449"/>
                <a:ext cx="7590155" cy="844550"/>
              </a:xfrm>
              <a:prstGeom prst="rect">
                <a:avLst/>
              </a:prstGeom>
              <a:blipFill rotWithShape="1">
                <a:blip r:embed="rId2"/>
                <a:stretch>
                  <a:fillRect l="-8" t="-30" r="8"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1029970" y="384175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1029970" y="3841750"/>
                <a:ext cx="43942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742950" y="4210050"/>
                <a:ext cx="158242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𝐶</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742950" y="4210050"/>
                <a:ext cx="1582420" cy="3683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742950" y="4646295"/>
                <a:ext cx="1812925"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742950" y="4646295"/>
                <a:ext cx="1812925" cy="844550"/>
              </a:xfrm>
              <a:prstGeom prst="rect">
                <a:avLst/>
              </a:prstGeom>
              <a:blipFill rotWithShape="1">
                <a:blip r:embed="rId5"/>
                <a:stretch>
                  <a:fillRect/>
                </a:stretch>
              </a:blipFill>
            </p:spPr>
            <p:txBody>
              <a:bodyPr/>
              <a:lstStyle/>
              <a:p>
                <a:r>
                  <a:rPr lang="zh-CN" altLang="en-US">
                    <a:noFill/>
                  </a:rPr>
                  <a:t> </a:t>
                </a:r>
              </a:p>
            </p:txBody>
          </p:sp>
        </mc:Fallback>
      </mc:AlternateContent>
      <p:sp>
        <p:nvSpPr>
          <p:cNvPr id="9" name="左大括号 8"/>
          <p:cNvSpPr/>
          <p:nvPr/>
        </p:nvSpPr>
        <p:spPr>
          <a:xfrm>
            <a:off x="705485" y="3775710"/>
            <a:ext cx="295910" cy="130429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0" name="文本框 9"/>
              <p:cNvSpPr txBox="1"/>
              <p:nvPr/>
            </p:nvSpPr>
            <p:spPr>
              <a:xfrm>
                <a:off x="842645" y="3329940"/>
                <a:ext cx="4148455" cy="88011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  </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842645" y="3329940"/>
                <a:ext cx="4148455" cy="88011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5676265" y="3794760"/>
                <a:ext cx="5587365" cy="1198880"/>
              </a:xfrm>
              <a:prstGeom prst="rect">
                <a:avLst/>
              </a:prstGeom>
              <a:noFill/>
            </p:spPr>
            <p:txBody>
              <a:bodyPr wrap="square" rtlCol="0">
                <a:spAutoFit/>
              </a:bodyPr>
              <a:lstStyle/>
              <a:p>
                <a:r>
                  <a:rPr lang="zh-CN" altLang="en-US"/>
                  <a:t>引入松弛因子</a:t>
                </a:r>
                <a14:m>
                  <m:oMath xmlns:m="http://schemas.openxmlformats.org/officeDocument/2006/math">
                    <m:r>
                      <a:rPr lang="en-US" altLang="zh-CN" b="1" i="1">
                        <a:latin typeface="Cambria Math" panose="02040503050406030204" pitchFamily="18" charset="0"/>
                        <a:cs typeface="Cambria Math" panose="02040503050406030204" pitchFamily="18" charset="0"/>
                      </a:rPr>
                      <m:t>𝝃</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𝜉</m:t>
                        </m:r>
                      </m:e>
                      <m:sub>
                        <m:r>
                          <a:rPr lang="en-US" altLang="zh-CN" i="1">
                            <a:latin typeface="Cambria Math" panose="02040503050406030204" pitchFamily="18" charset="0"/>
                            <a:cs typeface="Cambria Math" panose="02040503050406030204" pitchFamily="18" charset="0"/>
                          </a:rPr>
                          <m:t>1</m:t>
                        </m:r>
                      </m:sub>
                    </m:sSub>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𝜉</m:t>
                        </m:r>
                      </m:e>
                      <m:sub>
                        <m:r>
                          <a:rPr lang="en-US" altLang="zh-CN" i="1">
                            <a:latin typeface="Cambria Math" panose="02040503050406030204" pitchFamily="18" charset="0"/>
                            <a:cs typeface="Cambria Math" panose="02040503050406030204" pitchFamily="18" charset="0"/>
                          </a:rPr>
                          <m:t>2</m:t>
                        </m:r>
                      </m:sub>
                    </m:sSub>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𝜉</m:t>
                        </m:r>
                      </m:e>
                      <m:sub>
                        <m:r>
                          <a:rPr lang="en-US" altLang="zh-CN" i="1">
                            <a:latin typeface="Cambria Math" panose="02040503050406030204" pitchFamily="18" charset="0"/>
                            <a:cs typeface="Cambria Math" panose="02040503050406030204" pitchFamily="18" charset="0"/>
                          </a:rPr>
                          <m:t>𝑚</m:t>
                        </m:r>
                      </m:sub>
                    </m:sSub>
                    <m:r>
                      <a:rPr lang="en-US" altLang="zh-CN" b="1"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和参数</a:t>
                </a:r>
                <a:r>
                  <a:rPr lang="en-US" altLang="zh-CN">
                    <a:latin typeface="Cambria Math" panose="02040503050406030204" pitchFamily="18" charset="0"/>
                    <a:cs typeface="Cambria Math" panose="02040503050406030204" pitchFamily="18" charset="0"/>
                  </a:rPr>
                  <a:t>C</a:t>
                </a:r>
                <a:r>
                  <a:rPr lang="zh-CN" altLang="en-US">
                    <a:latin typeface="Cambria Math" panose="02040503050406030204" pitchFamily="18" charset="0"/>
                    <a:cs typeface="Cambria Math" panose="02040503050406030204" pitchFamily="18" charset="0"/>
                  </a:rPr>
                  <a:t>对求解过程产生的唯一影响便是改变了</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的限制条件</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pPr marL="0" lvl="0" indent="0">
                  <a:buNone/>
                </a:pPr>
                <a14:m>
                  <m:oMath xmlns:m="http://schemas.openxmlformats.org/officeDocument/2006/math">
                    <m:r>
                      <a:rPr lang="en-US" altLang="zh-CN" b="1" i="1">
                        <a:solidFill>
                          <a:schemeClr val="tx1"/>
                        </a:solidFill>
                        <a:latin typeface="Cambria Math" panose="02040503050406030204" pitchFamily="18" charset="0"/>
                        <a:ea typeface="MS Mincho" charset="0"/>
                        <a:cs typeface="Cambria Math" panose="02040503050406030204" pitchFamily="18" charset="0"/>
                      </a:rPr>
                      <m:t>𝝁</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𝜇</m:t>
                        </m:r>
                      </m:e>
                      <m:sub>
                        <m:r>
                          <a:rPr lang="en-US" altLang="zh-CN" i="1">
                            <a:latin typeface="Cambria Math" panose="02040503050406030204" pitchFamily="18" charset="0"/>
                            <a:cs typeface="Cambria Math" panose="02040503050406030204" pitchFamily="18" charset="0"/>
                          </a:rPr>
                          <m:t>1</m:t>
                        </m:r>
                      </m:sub>
                    </m:sSub>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𝜇</m:t>
                        </m:r>
                      </m:e>
                      <m:sub>
                        <m:r>
                          <a:rPr lang="en-US" altLang="zh-CN" i="1">
                            <a:latin typeface="Cambria Math" panose="02040503050406030204" pitchFamily="18" charset="0"/>
                            <a:cs typeface="Cambria Math" panose="02040503050406030204" pitchFamily="18" charset="0"/>
                          </a:rPr>
                          <m:t>2</m:t>
                        </m:r>
                      </m:sub>
                    </m:sSub>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𝜇</m:t>
                        </m:r>
                      </m:e>
                      <m:sub>
                        <m:r>
                          <a:rPr lang="en-US" altLang="zh-CN" i="1">
                            <a:latin typeface="Cambria Math" panose="02040503050406030204" pitchFamily="18" charset="0"/>
                            <a:cs typeface="Cambria Math" panose="02040503050406030204" pitchFamily="18" charset="0"/>
                          </a:rPr>
                          <m:t>𝑚</m:t>
                        </m:r>
                      </m:sub>
                    </m:sSub>
                    <m:r>
                      <a:rPr lang="en-US" altLang="zh-CN" b="1"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为</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𝜉</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a14:m>
                <a:r>
                  <a:rPr lang="zh-CN" altLang="en-US">
                    <a:latin typeface="Cambria Math" panose="02040503050406030204" pitchFamily="18" charset="0"/>
                    <a:cs typeface="Cambria Math" panose="02040503050406030204" pitchFamily="18" charset="0"/>
                  </a:rPr>
                  <a:t>所引入的拉格朗日乘子</a:t>
                </a:r>
                <a:endParaRPr lang="zh-CN" altLang="en-US">
                  <a:latin typeface="Cambria Math" panose="02040503050406030204" pitchFamily="18" charset="0"/>
                  <a:cs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5676265" y="3794760"/>
                <a:ext cx="5587365" cy="1198880"/>
              </a:xfrm>
              <a:prstGeom prst="rect">
                <a:avLst/>
              </a:prstGeom>
              <a:blipFill rotWithShape="1">
                <a:blip r:embed="rId7"/>
                <a:stretch>
                  <a:fillRect/>
                </a:stretch>
              </a:blipFill>
            </p:spPr>
            <p:txBody>
              <a:bodyPr/>
              <a:lstStyle/>
              <a:p>
                <a:r>
                  <a:rPr lang="zh-CN" altLang="en-US">
                    <a:noFill/>
                  </a:rPr>
                  <a:t> </a:t>
                </a:r>
              </a:p>
            </p:txBody>
          </p:sp>
        </mc:Fallback>
      </mc:AlternateContent>
      <p:sp>
        <p:nvSpPr>
          <p:cNvPr id="12" name="矩形 11"/>
          <p:cNvSpPr/>
          <p:nvPr>
            <p:custDataLst>
              <p:tags r:id="rId8"/>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4" name="矩形 13"/>
          <p:cNvSpPr/>
          <p:nvPr>
            <p:custDataLst>
              <p:tags r:id="rId9"/>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5" name="文本框 14"/>
          <p:cNvSpPr txBox="1"/>
          <p:nvPr>
            <p:custDataLst>
              <p:tags r:id="rId10"/>
            </p:custDataLst>
          </p:nvPr>
        </p:nvSpPr>
        <p:spPr>
          <a:xfrm>
            <a:off x="420370" y="323215"/>
            <a:ext cx="15627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软间隔</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custDataLst>
              <p:tags r:id="rId1"/>
            </p:custDataLst>
          </p:nvPr>
        </p:nvSpPr>
        <p:spPr>
          <a:xfrm>
            <a:off x="4879975" y="854710"/>
            <a:ext cx="6861175" cy="5236845"/>
          </a:xfrm>
          <a:prstGeom prst="rect">
            <a:avLst/>
          </a:prstGeom>
          <a:noFill/>
        </p:spPr>
        <p:txBody>
          <a:bodyPr wrap="square" rtlCol="0">
            <a:noAutofit/>
            <a:scene3d>
              <a:camera prst="orthographicFront"/>
              <a:lightRig rig="threePt" dir="t"/>
            </a:scene3d>
          </a:bodyPr>
          <a:lstStyle/>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如何得到最优划分超平面？</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软间隔</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核函数</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支持向量机解决多分类问题和回归问题</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实现支持向量机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知识点总结</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2260" y="1182370"/>
            <a:ext cx="11311255" cy="368300"/>
          </a:xfrm>
          <a:prstGeom prst="rect">
            <a:avLst/>
          </a:prstGeom>
          <a:noFill/>
        </p:spPr>
        <p:txBody>
          <a:bodyPr wrap="square" rtlCol="0">
            <a:spAutoFit/>
          </a:bodyPr>
          <a:lstStyle/>
          <a:p>
            <a:r>
              <a:rPr lang="zh-CN" altLang="en-US"/>
              <a:t>当现实任务中，原本训练样本空间内不存在能正确划分正负样本的超平面时，支持向量机该如何正确分类？</a:t>
            </a:r>
            <a:endParaRPr lang="zh-CN" altLang="en-US"/>
          </a:p>
        </p:txBody>
      </p:sp>
      <p:sp>
        <p:nvSpPr>
          <p:cNvPr id="6" name="文本框 5"/>
          <p:cNvSpPr txBox="1"/>
          <p:nvPr/>
        </p:nvSpPr>
        <p:spPr>
          <a:xfrm>
            <a:off x="419735" y="2491105"/>
            <a:ext cx="4749165" cy="368300"/>
          </a:xfrm>
          <a:prstGeom prst="rect">
            <a:avLst/>
          </a:prstGeom>
          <a:noFill/>
        </p:spPr>
        <p:txBody>
          <a:bodyPr wrap="square" rtlCol="0">
            <a:spAutoFit/>
          </a:bodyPr>
          <a:lstStyle/>
          <a:p>
            <a:r>
              <a:rPr lang="zh-CN" altLang="en-US"/>
              <a:t>例如，</a:t>
            </a:r>
            <a:r>
              <a:rPr lang="en-US" altLang="zh-CN"/>
              <a:t>“</a:t>
            </a:r>
            <a:r>
              <a:rPr lang="zh-CN" altLang="en-US"/>
              <a:t>异或</a:t>
            </a:r>
            <a:r>
              <a:rPr lang="en-US" altLang="zh-CN"/>
              <a:t>”</a:t>
            </a:r>
            <a:r>
              <a:rPr lang="zh-CN" altLang="en-US"/>
              <a:t>问题在二维空间中便线性不可分</a:t>
            </a:r>
            <a:endParaRPr lang="zh-CN" altLang="en-US"/>
          </a:p>
        </p:txBody>
      </p:sp>
      <p:pic>
        <p:nvPicPr>
          <p:cNvPr id="8" name="图片 7"/>
          <p:cNvPicPr>
            <a:picLocks noChangeAspect="1"/>
          </p:cNvPicPr>
          <p:nvPr/>
        </p:nvPicPr>
        <p:blipFill>
          <a:blip r:embed="rId1"/>
          <a:stretch>
            <a:fillRect/>
          </a:stretch>
        </p:blipFill>
        <p:spPr>
          <a:xfrm>
            <a:off x="5327650" y="1724025"/>
            <a:ext cx="1774190" cy="1903095"/>
          </a:xfrm>
          <a:prstGeom prst="rect">
            <a:avLst/>
          </a:prstGeom>
        </p:spPr>
      </p:pic>
      <p:sp>
        <p:nvSpPr>
          <p:cNvPr id="9" name="文本框 8"/>
          <p:cNvSpPr txBox="1"/>
          <p:nvPr/>
        </p:nvSpPr>
        <p:spPr>
          <a:xfrm>
            <a:off x="360680" y="4413250"/>
            <a:ext cx="5968365" cy="1476375"/>
          </a:xfrm>
          <a:prstGeom prst="rect">
            <a:avLst/>
          </a:prstGeom>
          <a:noFill/>
        </p:spPr>
        <p:txBody>
          <a:bodyPr wrap="square" rtlCol="0">
            <a:spAutoFit/>
          </a:bodyPr>
          <a:lstStyle/>
          <a:p>
            <a:r>
              <a:rPr lang="zh-CN"/>
              <a:t>此时，需将样本从原始空间映射到一个更高维的特征空间，使得样本在这个特征空间内线性可分。例如，将</a:t>
            </a:r>
            <a:r>
              <a:rPr lang="en-US" altLang="zh-CN">
                <a:sym typeface="+mn-ea"/>
              </a:rPr>
              <a:t>“</a:t>
            </a:r>
            <a:r>
              <a:rPr lang="zh-CN" altLang="en-US">
                <a:sym typeface="+mn-ea"/>
              </a:rPr>
              <a:t>异或</a:t>
            </a:r>
            <a:r>
              <a:rPr lang="en-US" altLang="zh-CN">
                <a:sym typeface="+mn-ea"/>
              </a:rPr>
              <a:t>”</a:t>
            </a:r>
            <a:r>
              <a:rPr lang="zh-CN" altLang="en-US">
                <a:sym typeface="+mn-ea"/>
              </a:rPr>
              <a:t>问题从二维空间映射到一个合适的三维空间，便能找到一个合适的划分超平面。如果原始空间是有限维，即属性数有限，则一定存在一个高位特征空间使样本可分</a:t>
            </a:r>
            <a:endParaRPr lang="zh-CN" altLang="en-US">
              <a:sym typeface="+mn-ea"/>
            </a:endParaRPr>
          </a:p>
        </p:txBody>
      </p:sp>
      <p:pic>
        <p:nvPicPr>
          <p:cNvPr id="10" name="图片 9"/>
          <p:cNvPicPr>
            <a:picLocks noChangeAspect="1"/>
          </p:cNvPicPr>
          <p:nvPr/>
        </p:nvPicPr>
        <p:blipFill>
          <a:blip r:embed="rId2"/>
          <a:stretch>
            <a:fillRect/>
          </a:stretch>
        </p:blipFill>
        <p:spPr>
          <a:xfrm>
            <a:off x="6510020" y="4036060"/>
            <a:ext cx="4714240" cy="2061210"/>
          </a:xfrm>
          <a:prstGeom prst="rect">
            <a:avLst/>
          </a:prstGeom>
        </p:spPr>
      </p:pic>
      <p:sp>
        <p:nvSpPr>
          <p:cNvPr id="7" name="矩形 6"/>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5"/>
            </p:custDataLst>
          </p:nvPr>
        </p:nvSpPr>
        <p:spPr>
          <a:xfrm>
            <a:off x="420370" y="323215"/>
            <a:ext cx="15627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核函数</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285115" y="1195070"/>
                <a:ext cx="11320145" cy="645160"/>
              </a:xfrm>
              <a:prstGeom prst="rect">
                <a:avLst/>
              </a:prstGeom>
              <a:noFill/>
            </p:spPr>
            <p:txBody>
              <a:bodyPr wrap="square" rtlCol="0">
                <a:spAutoFit/>
              </a:bodyPr>
              <a:lstStyle/>
              <a:p>
                <a14:m>
                  <m:oMath xmlns:m="http://schemas.openxmlformats.org/officeDocument/2006/math">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oMath>
                </a14:m>
                <a:r>
                  <a:rPr lang="zh-CN" altLang="en-US"/>
                  <a:t>表示将</a:t>
                </a:r>
                <a14:m>
                  <m:oMath xmlns:m="http://schemas.openxmlformats.org/officeDocument/2006/math">
                    <m:r>
                      <a:rPr lang="en-US" altLang="zh-CN" i="1">
                        <a:latin typeface="Cambria Math" panose="02040503050406030204" pitchFamily="18" charset="0"/>
                        <a:cs typeface="Cambria Math" panose="02040503050406030204" pitchFamily="18" charset="0"/>
                      </a:rPr>
                      <m:t>𝑥</m:t>
                    </m:r>
                  </m:oMath>
                </a14:m>
                <a:r>
                  <a:rPr lang="zh-CN" altLang="en-US">
                    <a:latin typeface="Cambria Math" panose="02040503050406030204" pitchFamily="18" charset="0"/>
                    <a:cs typeface="Cambria Math" panose="02040503050406030204" pitchFamily="18" charset="0"/>
                  </a:rPr>
                  <a:t>映射后的特征向量，</a:t>
                </a:r>
                <a14:m>
                  <m:oMath xmlns:m="http://schemas.openxmlformats.org/officeDocument/2006/math">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为低维空间映射到高维空间的函数，因此在高维特征空间中的划分超平面可表示为：</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85115" y="1195070"/>
                <a:ext cx="11320145" cy="64516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5210111" y="1890649"/>
                <a:ext cx="1772285" cy="36068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5210111" y="1890649"/>
                <a:ext cx="1772285" cy="360680"/>
              </a:xfrm>
              <a:prstGeom prst="rect">
                <a:avLst/>
              </a:prstGeom>
              <a:blipFill rotWithShape="1">
                <a:blip r:embed="rId2"/>
                <a:stretch>
                  <a:fillRect l="-32" t="-70" r="32" b="7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1816735" y="2533650"/>
                <a:ext cx="4959985" cy="88011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  </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1816735" y="2533650"/>
                <a:ext cx="4959985" cy="88011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1816735" y="3477260"/>
                <a:ext cx="108331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1816735" y="3477260"/>
                <a:ext cx="1083310" cy="36830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1816735" y="3913505"/>
                <a:ext cx="1812925"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1816735" y="3913505"/>
                <a:ext cx="1812925" cy="844550"/>
              </a:xfrm>
              <a:prstGeom prst="rect">
                <a:avLst/>
              </a:prstGeom>
              <a:blipFill rotWithShape="1">
                <a:blip r:embed="rId5"/>
                <a:stretch>
                  <a:fillRect/>
                </a:stretch>
              </a:blipFill>
            </p:spPr>
            <p:txBody>
              <a:bodyPr/>
              <a:lstStyle/>
              <a:p>
                <a:r>
                  <a:rPr lang="zh-CN" altLang="en-US">
                    <a:noFill/>
                  </a:rPr>
                  <a:t> </a:t>
                </a:r>
              </a:p>
            </p:txBody>
          </p:sp>
        </mc:Fallback>
      </mc:AlternateContent>
      <p:sp>
        <p:nvSpPr>
          <p:cNvPr id="10" name="左大括号 9"/>
          <p:cNvSpPr/>
          <p:nvPr/>
        </p:nvSpPr>
        <p:spPr>
          <a:xfrm>
            <a:off x="1650365" y="3009265"/>
            <a:ext cx="295910" cy="129159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p:cNvSpPr txBox="1"/>
          <p:nvPr/>
        </p:nvSpPr>
        <p:spPr>
          <a:xfrm>
            <a:off x="361315" y="3470910"/>
            <a:ext cx="1066800" cy="368300"/>
          </a:xfrm>
          <a:prstGeom prst="rect">
            <a:avLst/>
          </a:prstGeom>
          <a:noFill/>
        </p:spPr>
        <p:txBody>
          <a:bodyPr wrap="square" rtlCol="0">
            <a:spAutoFit/>
          </a:bodyPr>
          <a:lstStyle/>
          <a:p>
            <a:r>
              <a:rPr lang="zh-CN" altLang="en-US"/>
              <a:t>对应有：</a:t>
            </a: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433070" y="5132070"/>
                <a:ext cx="11172190" cy="1042670"/>
              </a:xfrm>
              <a:prstGeom prst="rect">
                <a:avLst/>
              </a:prstGeom>
              <a:noFill/>
            </p:spPr>
            <p:txBody>
              <a:bodyPr wrap="square" rtlCol="0">
                <a:spAutoFit/>
              </a:bodyPr>
              <a:lstStyle/>
              <a:p>
                <a:r>
                  <a:rPr lang="zh-CN" altLang="en-US"/>
                  <a:t>求解</a:t>
                </a:r>
                <a:r>
                  <a:rPr lang="en-US" altLang="zh-CN"/>
                  <a:t> </a:t>
                </a:r>
                <a14:m>
                  <m:oMath xmlns:m="http://schemas.openxmlformats.org/officeDocument/2006/math">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oMath>
                </a14:m>
                <a:r>
                  <a:rPr lang="en-US" altLang="zh-CN">
                    <a:latin typeface="Cambria Math" panose="02040503050406030204" pitchFamily="18" charset="0"/>
                    <a:cs typeface="Cambria Math" panose="02040503050406030204" pitchFamily="18" charset="0"/>
                  </a:rPr>
                  <a:t> </a:t>
                </a:r>
                <a:r>
                  <a:rPr lang="zh-CN" altLang="en-US">
                    <a:latin typeface="Cambria Math" panose="02040503050406030204" pitchFamily="18" charset="0"/>
                    <a:cs typeface="Cambria Math" panose="02040503050406030204" pitchFamily="18" charset="0"/>
                  </a:rPr>
                  <a:t>涉及到样本映射到高维特征空间后的内积运算</a:t>
                </a:r>
                <a14:m>
                  <m:oMath xmlns:m="http://schemas.openxmlformats.org/officeDocument/2006/math">
                    <m:sSubSup>
                      <m:sSubSupPr>
                        <m:ctrlPr>
                          <a:rPr lang="en-US" altLang="zh-CN" b="1"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r>
                  <a:rPr lang="zh-CN" altLang="en-US">
                    <a:latin typeface="Cambria Math" panose="02040503050406030204" pitchFamily="18" charset="0"/>
                    <a:cs typeface="Cambria Math" panose="02040503050406030204" pitchFamily="18" charset="0"/>
                  </a:rPr>
                  <a:t>当特征空间维度较大时，求解会十分困难</a:t>
                </a:r>
                <a:endParaRPr lang="zh-CN" altLang="en-US">
                  <a:latin typeface="Cambria Math" panose="02040503050406030204" pitchFamily="18" charset="0"/>
                  <a:cs typeface="Cambria Math" panose="020405030504060302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433070" y="5132070"/>
                <a:ext cx="11172190" cy="1042670"/>
              </a:xfrm>
              <a:prstGeom prst="rect">
                <a:avLst/>
              </a:prstGeom>
              <a:blipFill rotWithShape="1">
                <a:blip r:embed="rId6"/>
                <a:stretch>
                  <a:fillRect r="-8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2104390" y="3009265"/>
                <a:ext cx="38481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2104390" y="3009265"/>
                <a:ext cx="384810" cy="36830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043305" y="5434965"/>
                <a:ext cx="38481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1043305" y="5434965"/>
                <a:ext cx="384810" cy="368300"/>
              </a:xfrm>
              <a:prstGeom prst="rect">
                <a:avLst/>
              </a:prstGeom>
              <a:blipFill rotWithShape="1">
                <a:blip r:embed="rId7"/>
                <a:stretch>
                  <a:fillRect/>
                </a:stretch>
              </a:blipFill>
            </p:spPr>
            <p:txBody>
              <a:bodyPr/>
              <a:lstStyle/>
              <a:p>
                <a:r>
                  <a:rPr lang="zh-CN" altLang="en-US">
                    <a:noFill/>
                  </a:rPr>
                  <a:t> </a:t>
                </a:r>
              </a:p>
            </p:txBody>
          </p:sp>
        </mc:Fallback>
      </mc:AlternateContent>
      <p:sp>
        <p:nvSpPr>
          <p:cNvPr id="15" name="矩形 14"/>
          <p:cNvSpPr/>
          <p:nvPr>
            <p:custDataLst>
              <p:tags r:id="rId8"/>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6" name="矩形 15"/>
          <p:cNvSpPr/>
          <p:nvPr>
            <p:custDataLst>
              <p:tags r:id="rId9"/>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7" name="文本框 16"/>
          <p:cNvSpPr txBox="1"/>
          <p:nvPr>
            <p:custDataLst>
              <p:tags r:id="rId10"/>
            </p:custDataLst>
          </p:nvPr>
        </p:nvSpPr>
        <p:spPr>
          <a:xfrm>
            <a:off x="420370" y="323215"/>
            <a:ext cx="15627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核函数</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14960" y="1245870"/>
                <a:ext cx="11294110" cy="970915"/>
              </a:xfrm>
              <a:prstGeom prst="rect">
                <a:avLst/>
              </a:prstGeom>
              <a:noFill/>
            </p:spPr>
            <p:txBody>
              <a:bodyPr wrap="square" rtlCol="0">
                <a:spAutoFit/>
              </a:bodyPr>
              <a:lstStyle/>
              <a:p>
                <a:r>
                  <a:rPr lang="zh-CN" altLang="en-US"/>
                  <a:t>若能通过函数</a:t>
                </a:r>
                <a14:m>
                  <m:oMath xmlns:m="http://schemas.openxmlformats.org/officeDocument/2006/math">
                    <m:r>
                      <a:rPr lang="en-US" altLang="zh-CN" i="1">
                        <a:latin typeface="Cambria Math" panose="02040503050406030204" pitchFamily="18" charset="0"/>
                        <a:cs typeface="Cambria Math" panose="02040503050406030204" pitchFamily="18" charset="0"/>
                      </a:rPr>
                      <m:t>𝒦</m:t>
                    </m:r>
                    <m:r>
                      <a:rPr lang="en-US" altLang="zh-CN" i="1">
                        <a:latin typeface="Cambria Math" panose="02040503050406030204" pitchFamily="18" charset="0"/>
                        <a:cs typeface="Cambria Math" panose="02040503050406030204" pitchFamily="18" charset="0"/>
                      </a:rPr>
                      <m:t>(∙,∙)</m:t>
                    </m:r>
                  </m:oMath>
                </a14:m>
                <a:r>
                  <a:rPr lang="zh-CN" altLang="en-US"/>
                  <a:t>使得</a:t>
                </a:r>
                <a:r>
                  <a:rPr lang="en-US" altLang="zh-CN"/>
                  <a:t> </a:t>
                </a:r>
                <a14:m>
                  <m:oMath xmlns:m="http://schemas.openxmlformats.org/officeDocument/2006/math">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𝒦</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 = &lt;</m:t>
                    </m:r>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Sub>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&gt; = </m:t>
                    </m:r>
                    <m:sSup>
                      <m:sSupPr>
                        <m:ctrlPr>
                          <a:rPr lang="en-US" altLang="zh-CN" i="1">
                            <a:latin typeface="Cambria Math" panose="02040503050406030204" pitchFamily="18" charset="0"/>
                            <a:cs typeface="Cambria Math" panose="02040503050406030204" pitchFamily="18" charset="0"/>
                          </a:rPr>
                        </m:ctrlPr>
                      </m:sSupPr>
                      <m:e>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𝑇</m:t>
                        </m:r>
                      </m:sup>
                    </m:sSup>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Sub>
                    <m:r>
                      <a:rPr lang="en-US" altLang="zh-CN" b="1"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，即</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与</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oMath>
                </a14:m>
                <a:r>
                  <a:rPr lang="zh-CN" altLang="en-US">
                    <a:latin typeface="Cambria Math" panose="02040503050406030204" pitchFamily="18" charset="0"/>
                    <a:cs typeface="Cambria Math" panose="02040503050406030204" pitchFamily="18" charset="0"/>
                  </a:rPr>
                  <a:t>在特征空间中的内积等于它们在原始样本空间中通过函数</a:t>
                </a:r>
                <a14:m>
                  <m:oMath xmlns:m="http://schemas.openxmlformats.org/officeDocument/2006/math">
                    <m:r>
                      <a:rPr lang="en-US" altLang="zh-CN" i="1">
                        <a:latin typeface="Cambria Math" panose="02040503050406030204" pitchFamily="18" charset="0"/>
                        <a:cs typeface="Cambria Math" panose="02040503050406030204" pitchFamily="18" charset="0"/>
                      </a:rPr>
                      <m:t>𝒦</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计算的结果，则我们就不必直接去计算高维特征空间中的内积，从而大大减少计算量，这个函数</a:t>
                </a:r>
                <a14:m>
                  <m:oMath xmlns:m="http://schemas.openxmlformats.org/officeDocument/2006/math">
                    <m:r>
                      <a:rPr lang="en-US" altLang="zh-CN" i="1">
                        <a:latin typeface="Cambria Math" panose="02040503050406030204" pitchFamily="18" charset="0"/>
                        <a:cs typeface="Cambria Math" panose="02040503050406030204" pitchFamily="18" charset="0"/>
                      </a:rPr>
                      <m:t>𝒦</m:t>
                    </m:r>
                    <m:r>
                      <a:rPr lang="en-US" altLang="zh-CN" i="1">
                        <a:latin typeface="Cambria Math" panose="02040503050406030204" pitchFamily="18" charset="0"/>
                        <a:cs typeface="Cambria Math" panose="02040503050406030204" pitchFamily="18" charset="0"/>
                      </a:rPr>
                      <m:t>(∙,∙)</m:t>
                    </m:r>
                  </m:oMath>
                </a14:m>
                <a:r>
                  <a:rPr lang="zh-CN" altLang="en-US">
                    <a:latin typeface="Cambria Math" panose="02040503050406030204" pitchFamily="18" charset="0"/>
                    <a:cs typeface="Cambria Math" panose="02040503050406030204" pitchFamily="18" charset="0"/>
                  </a:rPr>
                  <a:t>便称为</a:t>
                </a:r>
                <a:r>
                  <a:rPr lang="zh-CN" altLang="en-US" b="1">
                    <a:solidFill>
                      <a:srgbClr val="0070C0"/>
                    </a:solidFill>
                  </a:rPr>
                  <a:t>核函数</a:t>
                </a:r>
                <a:r>
                  <a:rPr lang="zh-CN" altLang="en-US">
                    <a:latin typeface="Cambria Math" panose="02040503050406030204" pitchFamily="18" charset="0"/>
                    <a:cs typeface="Cambria Math" panose="02040503050406030204" pitchFamily="18" charset="0"/>
                  </a:rPr>
                  <a:t>，此时便有：</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314960" y="1245870"/>
                <a:ext cx="11294110" cy="97091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508635" y="2889250"/>
                <a:ext cx="4959985" cy="88011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r>
                                <a:rPr lang="en-US" altLang="zh-CN" b="1" i="1">
                                  <a:latin typeface="Cambria Math" panose="02040503050406030204" pitchFamily="18" charset="0"/>
                                  <a:cs typeface="Cambria Math" panose="02040503050406030204" pitchFamily="18" charset="0"/>
                                </a:rPr>
                                <m:t>)</m:t>
                              </m:r>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  </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508635" y="2889250"/>
                <a:ext cx="4959985" cy="88011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96290" y="3364865"/>
                <a:ext cx="38481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796290" y="3364865"/>
                <a:ext cx="38481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537325" y="2889250"/>
                <a:ext cx="4959985" cy="88011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𝒦</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𝑗</m:t>
                                  </m:r>
                                </m:sub>
                              </m:sSub>
                              <m:r>
                                <a:rPr lang="en-US" altLang="zh-CN" i="1">
                                  <a:latin typeface="Cambria Math" panose="02040503050406030204" pitchFamily="18" charset="0"/>
                                  <a:cs typeface="Cambria Math" panose="02040503050406030204" pitchFamily="18" charset="0"/>
                                </a:rPr>
                                <m:t>)</m:t>
                              </m:r>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  </m:t>
                      </m:r>
                    </m:oMath>
                  </m:oMathPara>
                </a14:m>
                <a:endParaRPr lang="en-US" altLang="zh-CN" i="1">
                  <a:latin typeface="Cambria Math" panose="02040503050406030204" pitchFamily="18" charset="0"/>
                  <a:cs typeface="Cambria Math" panose="02040503050406030204" pitchFamily="18"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6537325" y="2889250"/>
                <a:ext cx="4959985" cy="880110"/>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6972935" y="3364865"/>
                <a:ext cx="384810" cy="36830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6972935" y="3364865"/>
                <a:ext cx="384810" cy="368300"/>
              </a:xfrm>
              <a:prstGeom prst="rect">
                <a:avLst/>
              </a:prstGeom>
              <a:blipFill rotWithShape="1">
                <a:blip r:embed="rId3"/>
                <a:stretch>
                  <a:fillRect/>
                </a:stretch>
              </a:blipFill>
            </p:spPr>
            <p:txBody>
              <a:bodyPr/>
              <a:lstStyle/>
              <a:p>
                <a:r>
                  <a:rPr lang="zh-CN" altLang="en-US">
                    <a:noFill/>
                  </a:rPr>
                  <a:t> </a:t>
                </a:r>
              </a:p>
            </p:txBody>
          </p:sp>
        </mc:Fallback>
      </mc:AlternateContent>
      <p:sp>
        <p:nvSpPr>
          <p:cNvPr id="8" name="右箭头 7"/>
          <p:cNvSpPr/>
          <p:nvPr/>
        </p:nvSpPr>
        <p:spPr>
          <a:xfrm>
            <a:off x="5703570" y="3168015"/>
            <a:ext cx="833755" cy="321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0" name="文本框 9"/>
              <p:cNvSpPr txBox="1"/>
              <p:nvPr/>
            </p:nvSpPr>
            <p:spPr>
              <a:xfrm>
                <a:off x="963866" y="4290949"/>
                <a:ext cx="1772285" cy="36068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i="1">
                              <a:latin typeface="Cambria Math" panose="02040503050406030204" pitchFamily="18" charset="0"/>
                              <a:cs typeface="Cambria Math" panose="02040503050406030204" pitchFamily="18" charset="0"/>
                            </a:rPr>
                            <m:t>𝑇</m:t>
                          </m:r>
                        </m:sup>
                      </m:sSup>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zh-CN" altLang="en-US"/>
              </a:p>
            </p:txBody>
          </p:sp>
        </mc:Choice>
        <mc:Fallback>
          <p:sp>
            <p:nvSpPr>
              <p:cNvPr id="10" name="文本框 9"/>
              <p:cNvSpPr txBox="1">
                <a:spLocks noRot="1" noChangeAspect="1" noMove="1" noResize="1" noEditPoints="1" noAdjustHandles="1" noChangeArrowheads="1" noChangeShapeType="1" noTextEdit="1"/>
              </p:cNvSpPr>
              <p:nvPr/>
            </p:nvSpPr>
            <p:spPr>
              <a:xfrm>
                <a:off x="963866" y="4290949"/>
                <a:ext cx="1772285" cy="360680"/>
              </a:xfrm>
              <a:prstGeom prst="rect">
                <a:avLst/>
              </a:prstGeom>
              <a:blipFill rotWithShape="1">
                <a:blip r:embed="rId5"/>
                <a:stretch>
                  <a:fillRect l="-32" t="-70" r="32" b="70"/>
                </a:stretch>
              </a:blipFill>
            </p:spPr>
            <p:txBody>
              <a:bodyPr/>
              <a:lstStyle/>
              <a:p>
                <a:r>
                  <a:rPr lang="zh-CN" altLang="en-US">
                    <a:noFill/>
                  </a:rPr>
                  <a:t> </a:t>
                </a:r>
              </a:p>
            </p:txBody>
          </p:sp>
        </mc:Fallback>
      </mc:AlternateContent>
      <p:sp>
        <p:nvSpPr>
          <p:cNvPr id="11" name="右箭头 10"/>
          <p:cNvSpPr/>
          <p:nvPr/>
        </p:nvSpPr>
        <p:spPr>
          <a:xfrm>
            <a:off x="2930525" y="4309745"/>
            <a:ext cx="833755" cy="321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2" name="文本框 11"/>
              <p:cNvSpPr txBox="1"/>
              <p:nvPr/>
            </p:nvSpPr>
            <p:spPr>
              <a:xfrm>
                <a:off x="3958526" y="4049014"/>
                <a:ext cx="2868295" cy="84455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p>
                            <m:sSupPr>
                              <m:ctrlPr>
                                <a:rPr lang="en-US" altLang="zh-CN" i="1">
                                  <a:latin typeface="Cambria Math" panose="02040503050406030204" pitchFamily="18" charset="0"/>
                                  <a:cs typeface="Cambria Math" panose="02040503050406030204" pitchFamily="18" charset="0"/>
                                </a:rPr>
                              </m:ctrlPr>
                            </m:sSupPr>
                            <m:e>
                              <m:sSub>
                                <m:sSubPr>
                                  <m:ctrlPr>
                                    <a:rPr lang="en-US" altLang="zh-CN" b="1"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r>
                                <a:rPr lang="en-US" altLang="zh-CN" b="1" i="1">
                                  <a:latin typeface="Cambria Math" panose="02040503050406030204" pitchFamily="18" charset="0"/>
                                  <a:cs typeface="Cambria Math" panose="02040503050406030204" pitchFamily="18" charset="0"/>
                                </a:rPr>
                                <m:t>)</m:t>
                              </m:r>
                            </m:e>
                            <m:sup>
                              <m:r>
                                <a:rPr lang="en-US" altLang="zh-CN" i="1">
                                  <a:latin typeface="Cambria Math" panose="02040503050406030204" pitchFamily="18" charset="0"/>
                                  <a:cs typeface="Cambria Math" panose="02040503050406030204" pitchFamily="18" charset="0"/>
                                </a:rPr>
                                <m:t>𝑇</m:t>
                              </m:r>
                            </m:sup>
                          </m:sSup>
                          <m:r>
                            <a:rPr lang="en-US" altLang="zh-CN" i="1">
                              <a:latin typeface="Cambria Math" panose="02040503050406030204" pitchFamily="18" charset="0"/>
                              <a:cs typeface="Cambria Math" panose="02040503050406030204" pitchFamily="18" charset="0"/>
                            </a:rPr>
                            <m:t>𝜙</m:t>
                          </m:r>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𝒙</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e>
                      </m:nary>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zh-CN" altLang="en-US"/>
              </a:p>
            </p:txBody>
          </p:sp>
        </mc:Choice>
        <mc:Fallback>
          <p:sp>
            <p:nvSpPr>
              <p:cNvPr id="12" name="文本框 11"/>
              <p:cNvSpPr txBox="1">
                <a:spLocks noRot="1" noChangeAspect="1" noMove="1" noResize="1" noEditPoints="1" noAdjustHandles="1" noChangeArrowheads="1" noChangeShapeType="1" noTextEdit="1"/>
              </p:cNvSpPr>
              <p:nvPr/>
            </p:nvSpPr>
            <p:spPr>
              <a:xfrm>
                <a:off x="3958526" y="4049014"/>
                <a:ext cx="2868295" cy="844550"/>
              </a:xfrm>
              <a:prstGeom prst="rect">
                <a:avLst/>
              </a:prstGeom>
              <a:blipFill rotWithShape="1">
                <a:blip r:embed="rId6"/>
                <a:stretch>
                  <a:fillRect l="-20" t="-30" r="20" b="30"/>
                </a:stretch>
              </a:blipFill>
            </p:spPr>
            <p:txBody>
              <a:bodyPr/>
              <a:lstStyle/>
              <a:p>
                <a:r>
                  <a:rPr lang="zh-CN" altLang="en-US">
                    <a:noFill/>
                  </a:rPr>
                  <a:t> </a:t>
                </a:r>
              </a:p>
            </p:txBody>
          </p:sp>
        </mc:Fallback>
      </mc:AlternateContent>
      <p:sp>
        <p:nvSpPr>
          <p:cNvPr id="14" name="右箭头 13"/>
          <p:cNvSpPr/>
          <p:nvPr/>
        </p:nvSpPr>
        <p:spPr>
          <a:xfrm>
            <a:off x="7021195" y="4309745"/>
            <a:ext cx="833755" cy="321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5" name="文本框 14"/>
              <p:cNvSpPr txBox="1"/>
              <p:nvPr/>
            </p:nvSpPr>
            <p:spPr>
              <a:xfrm>
                <a:off x="8014271" y="4048379"/>
                <a:ext cx="2595245" cy="844550"/>
              </a:xfrm>
              <a:prstGeom prst="rect">
                <a:avLst/>
              </a:prstGeom>
              <a:noFill/>
            </p:spPr>
            <p:txBody>
              <a:bodyPr wrap="none" rtlCol="0" anchor="t">
                <a:spAutoFit/>
              </a:bodyPr>
              <a:lstStyle/>
              <a:p>
                <a:pPr algn="l"/>
                <a14:m>
                  <m:oMathPara xmlns:m="http://schemas.openxmlformats.org/officeDocument/2006/math">
                    <m:oMathParaPr>
                      <m:jc m:val="centerGroup"/>
                    </m:oMathParaPr>
                    <m:oMath xmlns:m="http://schemas.openxmlformats.org/officeDocument/2006/math">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𝒦</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𝑥</m:t>
                          </m:r>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𝑥</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e>
                      </m:nary>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0</m:t>
                      </m:r>
                    </m:oMath>
                  </m:oMathPara>
                </a14:m>
                <a:endParaRPr lang="zh-CN" altLang="en-US"/>
              </a:p>
            </p:txBody>
          </p:sp>
        </mc:Choice>
        <mc:Fallback>
          <p:sp>
            <p:nvSpPr>
              <p:cNvPr id="15" name="文本框 14"/>
              <p:cNvSpPr txBox="1">
                <a:spLocks noRot="1" noChangeAspect="1" noMove="1" noResize="1" noEditPoints="1" noAdjustHandles="1" noChangeArrowheads="1" noChangeShapeType="1" noTextEdit="1"/>
              </p:cNvSpPr>
              <p:nvPr/>
            </p:nvSpPr>
            <p:spPr>
              <a:xfrm>
                <a:off x="8014271" y="4048379"/>
                <a:ext cx="2595245" cy="844550"/>
              </a:xfrm>
              <a:prstGeom prst="rect">
                <a:avLst/>
              </a:prstGeom>
              <a:blipFill rotWithShape="1">
                <a:blip r:embed="rId7"/>
                <a:stretch>
                  <a:fillRect l="-22" t="-30" r="22" b="30"/>
                </a:stretch>
              </a:blipFill>
            </p:spPr>
            <p:txBody>
              <a:bodyPr/>
              <a:lstStyle/>
              <a:p>
                <a:r>
                  <a:rPr lang="zh-CN" altLang="en-US">
                    <a:noFill/>
                  </a:rPr>
                  <a:t> </a:t>
                </a:r>
              </a:p>
            </p:txBody>
          </p:sp>
        </mc:Fallback>
      </mc:AlternateContent>
      <p:sp>
        <p:nvSpPr>
          <p:cNvPr id="16" name="矩形 15"/>
          <p:cNvSpPr/>
          <p:nvPr>
            <p:custDataLst>
              <p:tags r:id="rId8"/>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7" name="矩形 16"/>
          <p:cNvSpPr/>
          <p:nvPr>
            <p:custDataLst>
              <p:tags r:id="rId9"/>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8" name="文本框 17"/>
          <p:cNvSpPr txBox="1"/>
          <p:nvPr>
            <p:custDataLst>
              <p:tags r:id="rId10"/>
            </p:custDataLst>
          </p:nvPr>
        </p:nvSpPr>
        <p:spPr>
          <a:xfrm>
            <a:off x="420370" y="323215"/>
            <a:ext cx="15627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核函数</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14960" y="1245870"/>
            <a:ext cx="11294110" cy="368300"/>
          </a:xfrm>
          <a:prstGeom prst="rect">
            <a:avLst/>
          </a:prstGeom>
          <a:noFill/>
        </p:spPr>
        <p:txBody>
          <a:bodyPr wrap="square" rtlCol="0">
            <a:spAutoFit/>
          </a:bodyPr>
          <a:lstStyle/>
          <a:p>
            <a:r>
              <a:rPr lang="zh-CN" altLang="en-US">
                <a:latin typeface="Cambria Math" panose="02040503050406030204" pitchFamily="18" charset="0"/>
                <a:cs typeface="Cambria Math" panose="02040503050406030204" pitchFamily="18" charset="0"/>
              </a:rPr>
              <a:t>那么哪些函数具有核函数性质呢？以下列举了几种常用的核函数：</a:t>
            </a:r>
            <a:endParaRPr lang="zh-CN" altLang="en-US">
              <a:latin typeface="Cambria Math" panose="02040503050406030204" pitchFamily="18" charset="0"/>
              <a:cs typeface="Cambria Math" panose="02040503050406030204" pitchFamily="18" charset="0"/>
            </a:endParaRPr>
          </a:p>
        </p:txBody>
      </p:sp>
      <p:pic>
        <p:nvPicPr>
          <p:cNvPr id="6" name="图片 5"/>
          <p:cNvPicPr>
            <a:picLocks noChangeAspect="1"/>
          </p:cNvPicPr>
          <p:nvPr/>
        </p:nvPicPr>
        <p:blipFill>
          <a:blip r:embed="rId1"/>
          <a:stretch>
            <a:fillRect/>
          </a:stretch>
        </p:blipFill>
        <p:spPr>
          <a:xfrm>
            <a:off x="3022600" y="1805940"/>
            <a:ext cx="5847080" cy="1732280"/>
          </a:xfrm>
          <a:prstGeom prst="rect">
            <a:avLst/>
          </a:prstGeom>
        </p:spPr>
      </p:pic>
      <p:sp>
        <p:nvSpPr>
          <p:cNvPr id="7" name="文本框 6"/>
          <p:cNvSpPr txBox="1"/>
          <p:nvPr/>
        </p:nvSpPr>
        <p:spPr>
          <a:xfrm>
            <a:off x="419735" y="3729990"/>
            <a:ext cx="11294110" cy="368300"/>
          </a:xfrm>
          <a:prstGeom prst="rect">
            <a:avLst/>
          </a:prstGeom>
          <a:noFill/>
        </p:spPr>
        <p:txBody>
          <a:bodyPr wrap="square" rtlCol="0">
            <a:spAutoFit/>
          </a:bodyPr>
          <a:lstStyle/>
          <a:p>
            <a:r>
              <a:rPr lang="zh-CN" altLang="en-US">
                <a:latin typeface="Cambria Math" panose="02040503050406030204" pitchFamily="18" charset="0"/>
                <a:cs typeface="Cambria Math" panose="02040503050406030204" pitchFamily="18" charset="0"/>
              </a:rPr>
              <a:t>下图展示了采用高斯核函数的支持向量机相较于普通支持向量机在分类任务上性能的提升：</a:t>
            </a:r>
            <a:endParaRPr lang="zh-CN" altLang="en-US">
              <a:latin typeface="Cambria Math" panose="02040503050406030204" pitchFamily="18" charset="0"/>
              <a:cs typeface="Cambria Math" panose="02040503050406030204" pitchFamily="18" charset="0"/>
            </a:endParaRPr>
          </a:p>
        </p:txBody>
      </p:sp>
      <p:pic>
        <p:nvPicPr>
          <p:cNvPr id="9" name="图片 8"/>
          <p:cNvPicPr>
            <a:picLocks noChangeAspect="1"/>
          </p:cNvPicPr>
          <p:nvPr/>
        </p:nvPicPr>
        <p:blipFill>
          <a:blip r:embed="rId2"/>
          <a:stretch>
            <a:fillRect/>
          </a:stretch>
        </p:blipFill>
        <p:spPr>
          <a:xfrm>
            <a:off x="2186940" y="4204970"/>
            <a:ext cx="7759700" cy="2406015"/>
          </a:xfrm>
          <a:prstGeom prst="rect">
            <a:avLst/>
          </a:prstGeom>
        </p:spPr>
      </p:pic>
      <p:sp>
        <p:nvSpPr>
          <p:cNvPr id="8" name="矩形 7"/>
          <p:cNvSpPr/>
          <p:nvPr>
            <p:custDataLst>
              <p:tags r:id="rId3"/>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4"/>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5"/>
            </p:custDataLst>
          </p:nvPr>
        </p:nvSpPr>
        <p:spPr>
          <a:xfrm>
            <a:off x="420370" y="323215"/>
            <a:ext cx="156273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核函数</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custDataLst>
              <p:tags r:id="rId1"/>
            </p:custDataLst>
          </p:nvPr>
        </p:nvSpPr>
        <p:spPr>
          <a:xfrm>
            <a:off x="4879975" y="854710"/>
            <a:ext cx="6861175" cy="5236845"/>
          </a:xfrm>
          <a:prstGeom prst="rect">
            <a:avLst/>
          </a:prstGeom>
          <a:noFill/>
        </p:spPr>
        <p:txBody>
          <a:bodyPr wrap="square" rtlCol="0">
            <a:noAutofit/>
            <a:scene3d>
              <a:camera prst="orthographicFront"/>
              <a:lightRig rig="threePt" dir="t"/>
            </a:scene3d>
          </a:bodyPr>
          <a:lstStyle/>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如何得到最优划分超平面？</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软间隔</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核函数</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sym typeface="+mn-ea"/>
              </a:rPr>
              <a:t>支持向量机解决多分类问题和回归问题</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en-US" altLang="zh-CN" sz="2800" b="1" spc="200" dirty="0">
                <a:uFillTx/>
                <a:latin typeface="微软雅黑" panose="020B0503020204020204" charset="-122"/>
                <a:ea typeface="微软雅黑" panose="020B0503020204020204" charset="-122"/>
                <a:cs typeface="+mj-cs"/>
              </a:rPr>
              <a:t>Python</a:t>
            </a:r>
            <a:r>
              <a:rPr lang="zh-CN" altLang="en-US" sz="2800" b="1" spc="200" dirty="0">
                <a:uFillTx/>
                <a:latin typeface="微软雅黑" panose="020B0503020204020204" charset="-122"/>
                <a:ea typeface="微软雅黑" panose="020B0503020204020204" charset="-122"/>
                <a:cs typeface="+mj-cs"/>
              </a:rPr>
              <a:t>实现支持向量机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知识点总结</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12420" y="1247140"/>
            <a:ext cx="11311255" cy="4169410"/>
          </a:xfrm>
          <a:prstGeom prst="rect">
            <a:avLst/>
          </a:prstGeom>
          <a:noFill/>
        </p:spPr>
        <p:txBody>
          <a:bodyPr wrap="square" rtlCol="0">
            <a:spAutoFit/>
          </a:bodyPr>
          <a:lstStyle/>
          <a:p>
            <a:pPr algn="l" eaLnBrk="0" hangingPunct="0">
              <a:lnSpc>
                <a:spcPct val="150000"/>
              </a:lnSpc>
              <a:buClr>
                <a:schemeClr val="folHlink"/>
              </a:buClr>
              <a:buSzTx/>
              <a:buFontTx/>
            </a:pPr>
            <a:r>
              <a:rPr lang="zh-CN" altLang="en-US" b="1">
                <a:solidFill>
                  <a:srgbClr val="0070C0"/>
                </a:solidFill>
              </a:rPr>
              <a:t>支持向量机解决多分类问题</a:t>
            </a:r>
            <a:endParaRPr lang="zh-CN" altLang="en-US" b="1">
              <a:solidFill>
                <a:srgbClr val="0070C0"/>
              </a:solidFill>
            </a:endParaRPr>
          </a:p>
          <a:p>
            <a:endParaRPr lang="zh-CN" altLang="en-US"/>
          </a:p>
          <a:p>
            <a:r>
              <a:rPr lang="en-US" altLang="zh-CN"/>
              <a:t>1</a:t>
            </a:r>
            <a:r>
              <a:rPr lang="zh-CN" altLang="en-US"/>
              <a:t>）直接法：通过修改目标函数，将多分类问题中的多个参数整合到一个函数中。计算复杂度比较高，实现起来比较困难，只适合用于小型问题</a:t>
            </a:r>
            <a:endParaRPr lang="zh-CN" altLang="en-US"/>
          </a:p>
          <a:p>
            <a:endParaRPr lang="zh-CN" altLang="en-US"/>
          </a:p>
          <a:p>
            <a:r>
              <a:rPr lang="zh-CN" altLang="en-US"/>
              <a:t>2）间接法：通过组合多个二分类器来实现多分类器的构造，常见的方法有以下两种</a:t>
            </a:r>
            <a:endParaRPr lang="zh-CN" altLang="en-US"/>
          </a:p>
          <a:p>
            <a:endParaRPr lang="zh-CN" altLang="en-US"/>
          </a:p>
          <a:p>
            <a:pPr indent="457200"/>
            <a:r>
              <a:rPr lang="en-US" altLang="zh-CN" sz="2000"/>
              <a:t>One-Versus-Rest</a:t>
            </a:r>
            <a:r>
              <a:rPr lang="en-US" altLang="zh-CN"/>
              <a:t>(</a:t>
            </a:r>
            <a:r>
              <a:rPr lang="zh-CN" altLang="en-US"/>
              <a:t>一对多</a:t>
            </a:r>
            <a:r>
              <a:rPr lang="en-US" altLang="zh-CN"/>
              <a:t>)</a:t>
            </a:r>
            <a:r>
              <a:rPr lang="zh-CN" altLang="en-US"/>
              <a:t>：训练时依次把某个类别的样本归为一类,其他剩余的样本归为另一类，这样k</a:t>
            </a:r>
            <a:endParaRPr lang="zh-CN" altLang="en-US"/>
          </a:p>
          <a:p>
            <a:pPr indent="457200"/>
            <a:r>
              <a:rPr lang="zh-CN" altLang="en-US"/>
              <a:t> </a:t>
            </a:r>
            <a:r>
              <a:rPr lang="en-US" altLang="zh-CN"/>
              <a:t>                                                     </a:t>
            </a:r>
            <a:r>
              <a:rPr lang="zh-CN" altLang="en-US"/>
              <a:t>个类别的样本就构造出了k个SVM。分类时将未知样本分类为具有最大分类</a:t>
            </a:r>
            <a:endParaRPr lang="zh-CN" altLang="en-US"/>
          </a:p>
          <a:p>
            <a:pPr indent="457200"/>
            <a:r>
              <a:rPr lang="zh-CN" altLang="en-US"/>
              <a:t> </a:t>
            </a:r>
            <a:r>
              <a:rPr lang="en-US" altLang="zh-CN"/>
              <a:t>                                                     </a:t>
            </a:r>
            <a:r>
              <a:rPr lang="zh-CN" altLang="en-US"/>
              <a:t>函数值的那类</a:t>
            </a:r>
            <a:endParaRPr lang="zh-CN" altLang="en-US"/>
          </a:p>
          <a:p>
            <a:pPr indent="457200"/>
            <a:endParaRPr lang="zh-CN" altLang="en-US"/>
          </a:p>
          <a:p>
            <a:pPr indent="457200"/>
            <a:r>
              <a:rPr lang="en-US" altLang="zh-CN" sz="2000">
                <a:sym typeface="+mn-ea"/>
              </a:rPr>
              <a:t>One-Versus-One</a:t>
            </a:r>
            <a:r>
              <a:rPr lang="en-US" altLang="zh-CN">
                <a:sym typeface="+mn-ea"/>
              </a:rPr>
              <a:t>(</a:t>
            </a:r>
            <a:r>
              <a:rPr lang="zh-CN" altLang="en-US">
                <a:sym typeface="+mn-ea"/>
              </a:rPr>
              <a:t>一对一</a:t>
            </a:r>
            <a:r>
              <a:rPr lang="en-US" altLang="zh-CN">
                <a:sym typeface="+mn-ea"/>
              </a:rPr>
              <a:t>)</a:t>
            </a:r>
            <a:r>
              <a:rPr lang="zh-CN" altLang="en-US">
                <a:sym typeface="+mn-ea"/>
              </a:rPr>
              <a:t>：在任意两类样本之间设计一个SVM，因此k个类别的样本就需要设计k(k-1)/2</a:t>
            </a:r>
            <a:endParaRPr lang="zh-CN" altLang="en-US">
              <a:sym typeface="+mn-ea"/>
            </a:endParaRPr>
          </a:p>
          <a:p>
            <a:pPr indent="457200"/>
            <a:r>
              <a:rPr lang="zh-CN" altLang="en-US">
                <a:sym typeface="+mn-ea"/>
              </a:rPr>
              <a:t> </a:t>
            </a:r>
            <a:r>
              <a:rPr lang="en-US" altLang="zh-CN">
                <a:sym typeface="+mn-ea"/>
              </a:rPr>
              <a:t>                                                     </a:t>
            </a:r>
            <a:r>
              <a:rPr lang="zh-CN" altLang="en-US">
                <a:sym typeface="+mn-ea"/>
              </a:rPr>
              <a:t>个SVM，当对一个未知样本进行分类时，最后得票最多的类别即为该未知样</a:t>
            </a:r>
            <a:endParaRPr lang="zh-CN" altLang="en-US">
              <a:sym typeface="+mn-ea"/>
            </a:endParaRPr>
          </a:p>
          <a:p>
            <a:pPr indent="457200"/>
            <a:r>
              <a:rPr lang="zh-CN" altLang="en-US">
                <a:sym typeface="+mn-ea"/>
              </a:rPr>
              <a:t> </a:t>
            </a:r>
            <a:r>
              <a:rPr lang="en-US" altLang="zh-CN">
                <a:sym typeface="+mn-ea"/>
              </a:rPr>
              <a:t>                                                     </a:t>
            </a:r>
            <a:r>
              <a:rPr lang="zh-CN" altLang="en-US">
                <a:sym typeface="+mn-ea"/>
              </a:rPr>
              <a:t>本的类别</a:t>
            </a:r>
            <a:endParaRPr lang="zh-CN" altLang="en-US">
              <a:sym typeface="+mn-ea"/>
            </a:endParaRPr>
          </a:p>
        </p:txBody>
      </p:sp>
      <p:sp>
        <p:nvSpPr>
          <p:cNvPr id="7" name="矩形 6"/>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20370" y="323215"/>
            <a:ext cx="676783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支持向量机解决多分类问题和回归问题</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12420" y="1096645"/>
            <a:ext cx="11311255" cy="2722880"/>
          </a:xfrm>
          <a:prstGeom prst="rect">
            <a:avLst/>
          </a:prstGeom>
          <a:noFill/>
        </p:spPr>
        <p:txBody>
          <a:bodyPr wrap="square" rtlCol="0">
            <a:spAutoFit/>
          </a:bodyPr>
          <a:lstStyle/>
          <a:p>
            <a:r>
              <a:rPr lang="zh-CN" altLang="en-US"/>
              <a:t>以间接法</a:t>
            </a:r>
            <a:r>
              <a:rPr lang="en-US" altLang="zh-CN">
                <a:sym typeface="+mn-ea"/>
              </a:rPr>
              <a:t>One-Versus-Rest</a:t>
            </a:r>
            <a:r>
              <a:rPr lang="zh-CN" altLang="en-US">
                <a:sym typeface="+mn-ea"/>
              </a:rPr>
              <a:t>为例，解决四分类任务流程：</a:t>
            </a:r>
            <a:endParaRPr lang="zh-CN" altLang="en-US">
              <a:sym typeface="+mn-ea"/>
            </a:endParaRPr>
          </a:p>
          <a:p>
            <a:pPr>
              <a:lnSpc>
                <a:spcPct val="50000"/>
              </a:lnSpc>
            </a:pPr>
            <a:endParaRPr lang="zh-CN" altLang="en-US">
              <a:sym typeface="+mn-ea"/>
            </a:endParaRPr>
          </a:p>
          <a:p>
            <a:r>
              <a:rPr lang="en-US" altLang="zh-CN">
                <a:sym typeface="+mn-ea"/>
              </a:rPr>
              <a:t>1</a:t>
            </a:r>
            <a:r>
              <a:rPr lang="zh-CN" altLang="en-US">
                <a:sym typeface="+mn-ea"/>
              </a:rPr>
              <a:t>）根据训练样本集训练</a:t>
            </a:r>
            <a:r>
              <a:rPr lang="en-US" altLang="zh-CN">
                <a:sym typeface="+mn-ea"/>
              </a:rPr>
              <a:t>4</a:t>
            </a:r>
            <a:r>
              <a:rPr lang="zh-CN" altLang="en-US">
                <a:sym typeface="+mn-ea"/>
              </a:rPr>
              <a:t>个</a:t>
            </a:r>
            <a:r>
              <a:rPr lang="en-US" altLang="zh-CN">
                <a:sym typeface="+mn-ea"/>
              </a:rPr>
              <a:t>SVM</a:t>
            </a:r>
            <a:r>
              <a:rPr lang="zh-CN" altLang="en-US">
                <a:sym typeface="+mn-ea"/>
              </a:rPr>
              <a:t>支持向量机：</a:t>
            </a:r>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r>
              <a:rPr lang="en-US" altLang="zh-CN">
                <a:sym typeface="+mn-ea"/>
              </a:rPr>
              <a:t>2</a:t>
            </a:r>
            <a:r>
              <a:rPr lang="zh-CN" altLang="en-US">
                <a:sym typeface="+mn-ea"/>
              </a:rPr>
              <a:t>）来新样本时，对样本进行分类，取最大预测值所对应的类别作为新样本的分类类别：</a:t>
            </a:r>
            <a:endParaRPr lang="zh-CN" altLang="en-US">
              <a:sym typeface="+mn-ea"/>
            </a:endParaRPr>
          </a:p>
        </p:txBody>
      </p:sp>
      <p:grpSp>
        <p:nvGrpSpPr>
          <p:cNvPr id="8" name="组合 7"/>
          <p:cNvGrpSpPr/>
          <p:nvPr/>
        </p:nvGrpSpPr>
        <p:grpSpPr>
          <a:xfrm>
            <a:off x="739140" y="1927860"/>
            <a:ext cx="2187575" cy="1043305"/>
            <a:chOff x="1200" y="3839"/>
            <a:chExt cx="3445" cy="2180"/>
          </a:xfrm>
        </p:grpSpPr>
        <p:sp>
          <p:nvSpPr>
            <p:cNvPr id="6" name="矩形 5"/>
            <p:cNvSpPr/>
            <p:nvPr/>
          </p:nvSpPr>
          <p:spPr>
            <a:xfrm>
              <a:off x="1200" y="3839"/>
              <a:ext cx="1209" cy="2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1</a:t>
              </a:r>
              <a:endParaRPr lang="en-US" altLang="zh-CN"/>
            </a:p>
          </p:txBody>
        </p:sp>
        <p:sp>
          <p:nvSpPr>
            <p:cNvPr id="7" name="矩形 6"/>
            <p:cNvSpPr/>
            <p:nvPr/>
          </p:nvSpPr>
          <p:spPr>
            <a:xfrm>
              <a:off x="2409" y="3839"/>
              <a:ext cx="2236" cy="218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2/3/4</a:t>
              </a:r>
              <a:endParaRPr lang="en-US" altLang="zh-CN"/>
            </a:p>
          </p:txBody>
        </p:sp>
      </p:grpSp>
      <p:grpSp>
        <p:nvGrpSpPr>
          <p:cNvPr id="9" name="组合 8"/>
          <p:cNvGrpSpPr/>
          <p:nvPr/>
        </p:nvGrpSpPr>
        <p:grpSpPr>
          <a:xfrm>
            <a:off x="3457575" y="1927860"/>
            <a:ext cx="2187575" cy="1043305"/>
            <a:chOff x="1200" y="3839"/>
            <a:chExt cx="3445" cy="2180"/>
          </a:xfrm>
        </p:grpSpPr>
        <p:sp>
          <p:nvSpPr>
            <p:cNvPr id="10" name="矩形 9"/>
            <p:cNvSpPr/>
            <p:nvPr/>
          </p:nvSpPr>
          <p:spPr>
            <a:xfrm>
              <a:off x="1200" y="3839"/>
              <a:ext cx="1209" cy="2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2</a:t>
              </a:r>
              <a:endParaRPr lang="en-US" altLang="zh-CN"/>
            </a:p>
          </p:txBody>
        </p:sp>
        <p:sp>
          <p:nvSpPr>
            <p:cNvPr id="11" name="矩形 10"/>
            <p:cNvSpPr/>
            <p:nvPr/>
          </p:nvSpPr>
          <p:spPr>
            <a:xfrm>
              <a:off x="2409" y="3839"/>
              <a:ext cx="2236" cy="218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1/3/4</a:t>
              </a:r>
              <a:endParaRPr lang="en-US" altLang="zh-CN"/>
            </a:p>
          </p:txBody>
        </p:sp>
      </p:grpSp>
      <p:grpSp>
        <p:nvGrpSpPr>
          <p:cNvPr id="12" name="组合 11"/>
          <p:cNvGrpSpPr/>
          <p:nvPr/>
        </p:nvGrpSpPr>
        <p:grpSpPr>
          <a:xfrm>
            <a:off x="6176010" y="1927860"/>
            <a:ext cx="2187575" cy="1043305"/>
            <a:chOff x="1200" y="3839"/>
            <a:chExt cx="3445" cy="2180"/>
          </a:xfrm>
        </p:grpSpPr>
        <p:sp>
          <p:nvSpPr>
            <p:cNvPr id="13" name="矩形 12"/>
            <p:cNvSpPr/>
            <p:nvPr/>
          </p:nvSpPr>
          <p:spPr>
            <a:xfrm>
              <a:off x="1200" y="3839"/>
              <a:ext cx="1209" cy="2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3</a:t>
              </a:r>
              <a:endParaRPr lang="en-US" altLang="zh-CN"/>
            </a:p>
          </p:txBody>
        </p:sp>
        <p:sp>
          <p:nvSpPr>
            <p:cNvPr id="14" name="矩形 13"/>
            <p:cNvSpPr/>
            <p:nvPr/>
          </p:nvSpPr>
          <p:spPr>
            <a:xfrm>
              <a:off x="2409" y="3839"/>
              <a:ext cx="2236" cy="218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1/2/4</a:t>
              </a:r>
              <a:endParaRPr lang="en-US" altLang="zh-CN"/>
            </a:p>
          </p:txBody>
        </p:sp>
      </p:grpSp>
      <p:grpSp>
        <p:nvGrpSpPr>
          <p:cNvPr id="15" name="组合 14"/>
          <p:cNvGrpSpPr/>
          <p:nvPr/>
        </p:nvGrpSpPr>
        <p:grpSpPr>
          <a:xfrm>
            <a:off x="8894445" y="1927860"/>
            <a:ext cx="2187575" cy="1043305"/>
            <a:chOff x="1200" y="3839"/>
            <a:chExt cx="3445" cy="2180"/>
          </a:xfrm>
        </p:grpSpPr>
        <p:sp>
          <p:nvSpPr>
            <p:cNvPr id="16" name="矩形 15"/>
            <p:cNvSpPr/>
            <p:nvPr/>
          </p:nvSpPr>
          <p:spPr>
            <a:xfrm>
              <a:off x="1200" y="3839"/>
              <a:ext cx="1209" cy="2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4</a:t>
              </a:r>
              <a:endParaRPr lang="en-US" altLang="zh-CN"/>
            </a:p>
          </p:txBody>
        </p:sp>
        <p:sp>
          <p:nvSpPr>
            <p:cNvPr id="17" name="矩形 16"/>
            <p:cNvSpPr/>
            <p:nvPr/>
          </p:nvSpPr>
          <p:spPr>
            <a:xfrm>
              <a:off x="2409" y="3839"/>
              <a:ext cx="2236" cy="218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1/2/3</a:t>
              </a:r>
              <a:endParaRPr lang="en-US" altLang="zh-CN"/>
            </a:p>
          </p:txBody>
        </p:sp>
      </p:grpSp>
      <p:sp>
        <p:nvSpPr>
          <p:cNvPr id="18" name="文本框 17"/>
          <p:cNvSpPr txBox="1"/>
          <p:nvPr/>
        </p:nvSpPr>
        <p:spPr>
          <a:xfrm>
            <a:off x="730250" y="3084195"/>
            <a:ext cx="10358120" cy="368300"/>
          </a:xfrm>
          <a:prstGeom prst="rect">
            <a:avLst/>
          </a:prstGeom>
          <a:noFill/>
        </p:spPr>
        <p:txBody>
          <a:bodyPr wrap="square" rtlCol="0">
            <a:spAutoFit/>
          </a:bodyPr>
          <a:lstStyle/>
          <a:p>
            <a:r>
              <a:rPr lang="en-US" altLang="zh-CN"/>
              <a:t>           SVM1                                           SVM2                                         SVM3                                           SVM4</a:t>
            </a:r>
            <a:endParaRPr lang="en-US" altLang="zh-CN"/>
          </a:p>
        </p:txBody>
      </p:sp>
      <p:grpSp>
        <p:nvGrpSpPr>
          <p:cNvPr id="33" name="组合 32"/>
          <p:cNvGrpSpPr/>
          <p:nvPr/>
        </p:nvGrpSpPr>
        <p:grpSpPr>
          <a:xfrm>
            <a:off x="739140" y="4664075"/>
            <a:ext cx="2187575" cy="1043305"/>
            <a:chOff x="1200" y="3839"/>
            <a:chExt cx="3445" cy="2180"/>
          </a:xfrm>
        </p:grpSpPr>
        <p:sp>
          <p:nvSpPr>
            <p:cNvPr id="34" name="矩形 33"/>
            <p:cNvSpPr/>
            <p:nvPr/>
          </p:nvSpPr>
          <p:spPr>
            <a:xfrm>
              <a:off x="1200" y="3839"/>
              <a:ext cx="1209" cy="2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1</a:t>
              </a:r>
              <a:endParaRPr lang="en-US" altLang="zh-CN"/>
            </a:p>
          </p:txBody>
        </p:sp>
        <p:sp>
          <p:nvSpPr>
            <p:cNvPr id="35" name="矩形 34"/>
            <p:cNvSpPr/>
            <p:nvPr/>
          </p:nvSpPr>
          <p:spPr>
            <a:xfrm>
              <a:off x="2409" y="3839"/>
              <a:ext cx="2236" cy="218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2/3/4</a:t>
              </a:r>
              <a:endParaRPr lang="en-US" altLang="zh-CN"/>
            </a:p>
          </p:txBody>
        </p:sp>
      </p:grpSp>
      <p:grpSp>
        <p:nvGrpSpPr>
          <p:cNvPr id="36" name="组合 35"/>
          <p:cNvGrpSpPr/>
          <p:nvPr/>
        </p:nvGrpSpPr>
        <p:grpSpPr>
          <a:xfrm>
            <a:off x="3457575" y="4664075"/>
            <a:ext cx="2187575" cy="1043305"/>
            <a:chOff x="1200" y="3839"/>
            <a:chExt cx="3445" cy="2180"/>
          </a:xfrm>
        </p:grpSpPr>
        <p:sp>
          <p:nvSpPr>
            <p:cNvPr id="37" name="矩形 36"/>
            <p:cNvSpPr/>
            <p:nvPr/>
          </p:nvSpPr>
          <p:spPr>
            <a:xfrm>
              <a:off x="1200" y="3839"/>
              <a:ext cx="1209" cy="2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2</a:t>
              </a:r>
              <a:endParaRPr lang="en-US" altLang="zh-CN"/>
            </a:p>
          </p:txBody>
        </p:sp>
        <p:sp>
          <p:nvSpPr>
            <p:cNvPr id="38" name="矩形 37"/>
            <p:cNvSpPr/>
            <p:nvPr/>
          </p:nvSpPr>
          <p:spPr>
            <a:xfrm>
              <a:off x="2409" y="3839"/>
              <a:ext cx="2236" cy="218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1/3/4</a:t>
              </a:r>
              <a:endParaRPr lang="en-US" altLang="zh-CN"/>
            </a:p>
          </p:txBody>
        </p:sp>
      </p:grpSp>
      <p:grpSp>
        <p:nvGrpSpPr>
          <p:cNvPr id="39" name="组合 38"/>
          <p:cNvGrpSpPr/>
          <p:nvPr/>
        </p:nvGrpSpPr>
        <p:grpSpPr>
          <a:xfrm>
            <a:off x="6176010" y="4664075"/>
            <a:ext cx="2187575" cy="1043305"/>
            <a:chOff x="1200" y="3839"/>
            <a:chExt cx="3445" cy="2180"/>
          </a:xfrm>
        </p:grpSpPr>
        <p:sp>
          <p:nvSpPr>
            <p:cNvPr id="40" name="矩形 39"/>
            <p:cNvSpPr/>
            <p:nvPr/>
          </p:nvSpPr>
          <p:spPr>
            <a:xfrm>
              <a:off x="1200" y="3839"/>
              <a:ext cx="1209" cy="2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3</a:t>
              </a:r>
              <a:endParaRPr lang="en-US" altLang="zh-CN"/>
            </a:p>
          </p:txBody>
        </p:sp>
        <p:sp>
          <p:nvSpPr>
            <p:cNvPr id="41" name="矩形 40"/>
            <p:cNvSpPr/>
            <p:nvPr/>
          </p:nvSpPr>
          <p:spPr>
            <a:xfrm>
              <a:off x="2409" y="3839"/>
              <a:ext cx="2236" cy="218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1/2/4</a:t>
              </a:r>
              <a:endParaRPr lang="en-US" altLang="zh-CN"/>
            </a:p>
          </p:txBody>
        </p:sp>
      </p:grpSp>
      <p:grpSp>
        <p:nvGrpSpPr>
          <p:cNvPr id="42" name="组合 41"/>
          <p:cNvGrpSpPr/>
          <p:nvPr/>
        </p:nvGrpSpPr>
        <p:grpSpPr>
          <a:xfrm>
            <a:off x="8894445" y="4664075"/>
            <a:ext cx="2187575" cy="1043305"/>
            <a:chOff x="1200" y="3839"/>
            <a:chExt cx="3445" cy="2180"/>
          </a:xfrm>
        </p:grpSpPr>
        <p:sp>
          <p:nvSpPr>
            <p:cNvPr id="43" name="矩形 42"/>
            <p:cNvSpPr/>
            <p:nvPr/>
          </p:nvSpPr>
          <p:spPr>
            <a:xfrm>
              <a:off x="1200" y="3839"/>
              <a:ext cx="1209" cy="21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4</a:t>
              </a:r>
              <a:endParaRPr lang="en-US" altLang="zh-CN"/>
            </a:p>
          </p:txBody>
        </p:sp>
        <p:sp>
          <p:nvSpPr>
            <p:cNvPr id="44" name="矩形 43"/>
            <p:cNvSpPr/>
            <p:nvPr/>
          </p:nvSpPr>
          <p:spPr>
            <a:xfrm>
              <a:off x="2409" y="3839"/>
              <a:ext cx="2236" cy="218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3600"/>
                <a:t>-</a:t>
              </a:r>
              <a:endParaRPr lang="zh-CN" altLang="en-US"/>
            </a:p>
            <a:p>
              <a:pPr algn="ctr"/>
              <a:r>
                <a:rPr lang="zh-CN" altLang="en-US"/>
                <a:t>类别</a:t>
              </a:r>
              <a:r>
                <a:rPr lang="en-US" altLang="zh-CN"/>
                <a:t>1/2/3</a:t>
              </a:r>
              <a:endParaRPr lang="en-US" altLang="zh-CN"/>
            </a:p>
          </p:txBody>
        </p:sp>
      </p:grpSp>
      <p:sp>
        <p:nvSpPr>
          <p:cNvPr id="45" name="文本框 44"/>
          <p:cNvSpPr txBox="1"/>
          <p:nvPr/>
        </p:nvSpPr>
        <p:spPr>
          <a:xfrm>
            <a:off x="739140" y="4270375"/>
            <a:ext cx="10358120" cy="368300"/>
          </a:xfrm>
          <a:prstGeom prst="rect">
            <a:avLst/>
          </a:prstGeom>
          <a:noFill/>
        </p:spPr>
        <p:txBody>
          <a:bodyPr wrap="square" rtlCol="0">
            <a:spAutoFit/>
          </a:bodyPr>
          <a:lstStyle/>
          <a:p>
            <a:r>
              <a:rPr lang="en-US" altLang="zh-CN"/>
              <a:t>           SVM1                                           SVM2                                         SVM3                                           SVM4</a:t>
            </a:r>
            <a:endParaRPr lang="en-US" altLang="zh-CN"/>
          </a:p>
        </p:txBody>
      </p:sp>
      <p:sp>
        <p:nvSpPr>
          <p:cNvPr id="46" name="椭圆 45"/>
          <p:cNvSpPr/>
          <p:nvPr/>
        </p:nvSpPr>
        <p:spPr>
          <a:xfrm>
            <a:off x="5549265" y="3775710"/>
            <a:ext cx="720000" cy="720000"/>
          </a:xfrm>
          <a:prstGeom prst="ellipse">
            <a:avLst/>
          </a:prstGeom>
          <a:ln>
            <a:solidFill>
              <a:schemeClr val="accent6"/>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1400" b="1"/>
              <a:t>新样本</a:t>
            </a:r>
            <a:endParaRPr lang="zh-CN" altLang="en-US" sz="1400" b="1"/>
          </a:p>
        </p:txBody>
      </p:sp>
      <p:cxnSp>
        <p:nvCxnSpPr>
          <p:cNvPr id="50" name="曲线连接符 49"/>
          <p:cNvCxnSpPr>
            <a:stCxn id="46" idx="2"/>
            <a:endCxn id="35" idx="0"/>
          </p:cNvCxnSpPr>
          <p:nvPr/>
        </p:nvCxnSpPr>
        <p:spPr>
          <a:xfrm rot="10800000" flipV="1">
            <a:off x="2216785" y="4135755"/>
            <a:ext cx="3332480" cy="528320"/>
          </a:xfrm>
          <a:prstGeom prst="curvedConnector2">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51" name="曲线连接符 50"/>
          <p:cNvCxnSpPr/>
          <p:nvPr/>
        </p:nvCxnSpPr>
        <p:spPr>
          <a:xfrm rot="5400000">
            <a:off x="5098415" y="4107180"/>
            <a:ext cx="393065" cy="719455"/>
          </a:xfrm>
          <a:prstGeom prst="curvedConnector3">
            <a:avLst>
              <a:gd name="adj1" fmla="val 63489"/>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52" name="曲线连接符 51"/>
          <p:cNvCxnSpPr/>
          <p:nvPr/>
        </p:nvCxnSpPr>
        <p:spPr>
          <a:xfrm rot="5400000" flipV="1">
            <a:off x="6165850" y="4269105"/>
            <a:ext cx="393065" cy="396240"/>
          </a:xfrm>
          <a:prstGeom prst="curvedConnector3">
            <a:avLst>
              <a:gd name="adj1" fmla="val 63409"/>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53" name="曲线连接符 52"/>
          <p:cNvCxnSpPr>
            <a:stCxn id="46" idx="6"/>
            <a:endCxn id="43" idx="0"/>
          </p:cNvCxnSpPr>
          <p:nvPr/>
        </p:nvCxnSpPr>
        <p:spPr>
          <a:xfrm>
            <a:off x="6269355" y="4135755"/>
            <a:ext cx="3009265" cy="528320"/>
          </a:xfrm>
          <a:prstGeom prst="curvedConnector2">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H="1">
            <a:off x="1503680" y="5708015"/>
            <a:ext cx="3175" cy="321945"/>
          </a:xfrm>
          <a:prstGeom prst="straightConnector1">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H="1">
            <a:off x="4222115" y="5708015"/>
            <a:ext cx="3175" cy="321945"/>
          </a:xfrm>
          <a:prstGeom prst="straightConnector1">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H="1">
            <a:off x="6942455" y="5708015"/>
            <a:ext cx="3175" cy="321945"/>
          </a:xfrm>
          <a:prstGeom prst="straightConnector1">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H="1">
            <a:off x="9662795" y="5712460"/>
            <a:ext cx="3175" cy="321945"/>
          </a:xfrm>
          <a:prstGeom prst="straightConnector1">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52525" y="6029960"/>
            <a:ext cx="9747250" cy="368300"/>
          </a:xfrm>
          <a:prstGeom prst="rect">
            <a:avLst/>
          </a:prstGeom>
          <a:noFill/>
        </p:spPr>
        <p:txBody>
          <a:bodyPr wrap="square" rtlCol="0">
            <a:spAutoFit/>
          </a:bodyPr>
          <a:lstStyle/>
          <a:p>
            <a:r>
              <a:rPr lang="en-US" altLang="zh-CN"/>
              <a:t>  0.15                                              -2                                                -3.5                                                5</a:t>
            </a:r>
            <a:endParaRPr lang="en-US" altLang="zh-CN"/>
          </a:p>
        </p:txBody>
      </p:sp>
      <p:sp>
        <p:nvSpPr>
          <p:cNvPr id="60" name="文本框 59"/>
          <p:cNvSpPr txBox="1"/>
          <p:nvPr/>
        </p:nvSpPr>
        <p:spPr>
          <a:xfrm>
            <a:off x="4386580" y="6398260"/>
            <a:ext cx="3044825" cy="368300"/>
          </a:xfrm>
          <a:prstGeom prst="rect">
            <a:avLst/>
          </a:prstGeom>
          <a:noFill/>
        </p:spPr>
        <p:txBody>
          <a:bodyPr wrap="square" rtlCol="0">
            <a:spAutoFit/>
          </a:bodyPr>
          <a:lstStyle/>
          <a:p>
            <a:r>
              <a:rPr lang="zh-CN" altLang="en-US"/>
              <a:t>最终判断新样本为属于类别</a:t>
            </a:r>
            <a:r>
              <a:rPr lang="en-US" altLang="zh-CN"/>
              <a:t>4</a:t>
            </a:r>
            <a:endParaRPr lang="en-US" altLang="zh-CN"/>
          </a:p>
        </p:txBody>
      </p:sp>
      <p:sp>
        <p:nvSpPr>
          <p:cNvPr id="19" name="矩形 18"/>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20" name="矩形 19"/>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1" name="文本框 20"/>
          <p:cNvSpPr txBox="1"/>
          <p:nvPr>
            <p:custDataLst>
              <p:tags r:id="rId3"/>
            </p:custDataLst>
          </p:nvPr>
        </p:nvSpPr>
        <p:spPr>
          <a:xfrm>
            <a:off x="420370" y="323215"/>
            <a:ext cx="676783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支持向量机解决多分类问题和回归问题</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312420" y="1084580"/>
                <a:ext cx="11311255" cy="2707005"/>
              </a:xfrm>
              <a:prstGeom prst="rect">
                <a:avLst/>
              </a:prstGeom>
              <a:noFill/>
            </p:spPr>
            <p:txBody>
              <a:bodyPr wrap="square" rtlCol="0">
                <a:spAutoFit/>
              </a:bodyPr>
              <a:lstStyle/>
              <a:p>
                <a:pPr algn="l" eaLnBrk="0" hangingPunct="0">
                  <a:lnSpc>
                    <a:spcPct val="150000"/>
                  </a:lnSpc>
                  <a:buClr>
                    <a:schemeClr val="folHlink"/>
                  </a:buClr>
                  <a:buSzTx/>
                  <a:buFontTx/>
                </a:pPr>
                <a:r>
                  <a:rPr lang="zh-CN" altLang="en-US" b="1">
                    <a:solidFill>
                      <a:srgbClr val="0070C0"/>
                    </a:solidFill>
                  </a:rPr>
                  <a:t>支持向量机解决回归问题：</a:t>
                </a:r>
                <a:endParaRPr lang="zh-CN" altLang="en-US" b="1">
                  <a:solidFill>
                    <a:srgbClr val="0070C0"/>
                  </a:solidFill>
                </a:endParaRPr>
              </a:p>
              <a:p>
                <a:pPr>
                  <a:lnSpc>
                    <a:spcPct val="30000"/>
                  </a:lnSpc>
                </a:pPr>
                <a:endParaRPr lang="zh-CN" altLang="en-US"/>
              </a:p>
              <a:p>
                <a:pPr indent="457200"/>
                <a:r>
                  <a:rPr lang="zh-CN" altLang="en-US">
                    <a:sym typeface="+mn-ea"/>
                  </a:rPr>
                  <a:t>支持向量机解决回归问题被称为支持向量回归</a:t>
                </a:r>
                <a:r>
                  <a:rPr lang="en-US" altLang="zh-CN">
                    <a:sym typeface="+mn-ea"/>
                  </a:rPr>
                  <a:t>(Support Vector Regression, SVR)</a:t>
                </a:r>
                <a:r>
                  <a:rPr lang="zh-CN" altLang="en-US">
                    <a:sym typeface="+mn-ea"/>
                  </a:rPr>
                  <a:t>，</a:t>
                </a:r>
                <a:r>
                  <a:rPr lang="en-US" altLang="zh-CN">
                    <a:sym typeface="+mn-ea"/>
                  </a:rPr>
                  <a:t>SVR</a:t>
                </a:r>
                <a:r>
                  <a:rPr lang="zh-CN" altLang="en-US">
                    <a:sym typeface="+mn-ea"/>
                  </a:rPr>
                  <a:t>可形式化为：</a:t>
                </a:r>
                <a:endParaRPr lang="zh-CN" altLang="en-US">
                  <a:sym typeface="+mn-ea"/>
                </a:endParaRPr>
              </a:p>
              <a:p>
                <a:pPr indent="457200"/>
                <a:endParaRPr lang="zh-CN" altLang="en-US">
                  <a:sym typeface="+mn-ea"/>
                </a:endParaRPr>
              </a:p>
              <a:p>
                <a:pPr indent="457200"/>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 </m:t>
                      </m:r>
                      <m:f>
                        <m:fPr>
                          <m:ctrlPr>
                            <a:rPr lang="en-US" altLang="zh-CN" i="1">
                              <a:latin typeface="Cambria Math" panose="02040503050406030204" pitchFamily="18" charset="0"/>
                              <a:cs typeface="Cambria Math" panose="02040503050406030204" pitchFamily="18" charset="0"/>
                              <a:sym typeface="+mn-ea"/>
                            </a:rPr>
                          </m:ctrlPr>
                        </m:fPr>
                        <m:num>
                          <m:r>
                            <a:rPr lang="en-US" altLang="zh-CN" i="1">
                              <a:latin typeface="Cambria Math" panose="02040503050406030204" pitchFamily="18" charset="0"/>
                              <a:cs typeface="Cambria Math" panose="02040503050406030204" pitchFamily="18" charset="0"/>
                              <a:sym typeface="+mn-ea"/>
                            </a:rPr>
                            <m:t>1</m:t>
                          </m:r>
                        </m:num>
                        <m:den>
                          <m:r>
                            <a:rPr lang="en-US" altLang="zh-CN" i="1">
                              <a:latin typeface="Cambria Math" panose="02040503050406030204" pitchFamily="18" charset="0"/>
                              <a:cs typeface="Cambria Math" panose="02040503050406030204" pitchFamily="18" charset="0"/>
                              <a:sym typeface="+mn-ea"/>
                            </a:rPr>
                            <m:t>2</m:t>
                          </m:r>
                        </m:den>
                      </m:f>
                      <m:sSup>
                        <m:sSupPr>
                          <m:ctrlPr>
                            <a:rPr lang="en-US" altLang="zh-CN" i="1">
                              <a:latin typeface="Cambria Math" panose="02040503050406030204" pitchFamily="18" charset="0"/>
                              <a:cs typeface="Cambria Math" panose="02040503050406030204" pitchFamily="18" charset="0"/>
                              <a:sym typeface="+mn-ea"/>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sym typeface="+mn-ea"/>
                                </a:rPr>
                                <m:t>𝒘</m:t>
                              </m:r>
                            </m:e>
                          </m:d>
                        </m:e>
                        <m:sup>
                          <m:r>
                            <a:rPr lang="en-US" altLang="zh-CN" i="1">
                              <a:latin typeface="Cambria Math" panose="02040503050406030204" pitchFamily="18" charset="0"/>
                              <a:cs typeface="Cambria Math" panose="02040503050406030204" pitchFamily="18" charset="0"/>
                              <a:sym typeface="+mn-ea"/>
                            </a:rPr>
                            <m:t>2</m:t>
                          </m:r>
                        </m:sup>
                      </m:sSup>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𝐶</m:t>
                      </m:r>
                      <m:nary>
                        <m:naryPr>
                          <m:chr m:val="∑"/>
                          <m:limLoc m:val="undOvr"/>
                          <m:ctrlPr>
                            <a:rPr lang="en-US" altLang="zh-CN" i="1">
                              <a:latin typeface="Cambria Math" panose="02040503050406030204" pitchFamily="18" charset="0"/>
                              <a:cs typeface="Cambria Math" panose="02040503050406030204" pitchFamily="18" charset="0"/>
                              <a:sym typeface="+mn-ea"/>
                            </a:rPr>
                          </m:ctrlPr>
                        </m:naryPr>
                        <m:sub>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sub>
                        <m:sup>
                          <m:r>
                            <a:rPr lang="en-US" altLang="zh-CN" i="1">
                              <a:latin typeface="Cambria Math" panose="02040503050406030204" pitchFamily="18" charset="0"/>
                              <a:cs typeface="Cambria Math" panose="02040503050406030204" pitchFamily="18" charset="0"/>
                              <a:sym typeface="+mn-ea"/>
                            </a:rPr>
                            <m:t>𝑚</m:t>
                          </m:r>
                        </m:sup>
                        <m:e>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𝑙</m:t>
                              </m:r>
                            </m:e>
                            <m:sub>
                              <m:r>
                                <a:rPr lang="en-US" altLang="zh-CN" i="1">
                                  <a:latin typeface="Cambria Math" panose="02040503050406030204" pitchFamily="18" charset="0"/>
                                  <a:cs typeface="Cambria Math" panose="02040503050406030204" pitchFamily="18" charset="0"/>
                                  <a:sym typeface="+mn-ea"/>
                                </a:rPr>
                                <m:t>𝜖</m:t>
                              </m:r>
                            </m:sub>
                          </m:sSub>
                        </m:e>
                      </m:nary>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𝑓</m:t>
                      </m:r>
                      <m:r>
                        <a:rPr lang="en-US" altLang="zh-CN" i="1">
                          <a:latin typeface="Cambria Math" panose="02040503050406030204" pitchFamily="18" charset="0"/>
                          <a:cs typeface="Cambria Math" panose="02040503050406030204" pitchFamily="18" charset="0"/>
                          <a:sym typeface="+mn-ea"/>
                        </a:rPr>
                        <m:t>(</m:t>
                      </m:r>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oMath>
                  </m:oMathPara>
                </a14:m>
                <a:endParaRPr lang="en-US" altLang="zh-CN" i="1">
                  <a:latin typeface="Cambria Math" panose="02040503050406030204" pitchFamily="18" charset="0"/>
                  <a:cs typeface="Cambria Math" panose="02040503050406030204" pitchFamily="18" charset="0"/>
                  <a:sym typeface="+mn-ea"/>
                </a:endParaRPr>
              </a:p>
              <a:p>
                <a:pPr indent="457200"/>
                <a:endParaRPr lang="zh-CN" altLang="en-US">
                  <a:sym typeface="+mn-ea"/>
                </a:endParaRPr>
              </a:p>
              <a:p>
                <a:pPr indent="457200"/>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𝑙</m:t>
                          </m:r>
                        </m:e>
                        <m:sub>
                          <m:r>
                            <a:rPr lang="en-US" altLang="zh-CN" i="1">
                              <a:latin typeface="Cambria Math" panose="02040503050406030204" pitchFamily="18" charset="0"/>
                              <a:cs typeface="Cambria Math" panose="02040503050406030204" pitchFamily="18" charset="0"/>
                              <a:sym typeface="+mn-ea"/>
                            </a:rPr>
                            <m:t>𝜖</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𝑧</m:t>
                      </m:r>
                      <m:r>
                        <a:rPr lang="en-US" altLang="zh-CN" i="1">
                          <a:latin typeface="Cambria Math" panose="02040503050406030204" pitchFamily="18" charset="0"/>
                          <a:cs typeface="Cambria Math" panose="02040503050406030204" pitchFamily="18" charset="0"/>
                          <a:sym typeface="+mn-ea"/>
                        </a:rPr>
                        <m:t>)=</m:t>
                      </m:r>
                      <m:d>
                        <m:dPr>
                          <m:begChr m:val="{"/>
                          <m:endChr m:val=""/>
                          <m:ctrlPr>
                            <a:rPr lang="en-US" altLang="zh-CN" i="1">
                              <a:latin typeface="Cambria Math" panose="02040503050406030204" pitchFamily="18" charset="0"/>
                              <a:cs typeface="Cambria Math" panose="02040503050406030204" pitchFamily="18" charset="0"/>
                              <a:sym typeface="+mn-ea"/>
                            </a:rPr>
                          </m:ctrlPr>
                        </m:dPr>
                        <m:e>
                          <m:eqArr>
                            <m:eqArrPr>
                              <m:ctrlPr>
                                <a:rPr lang="en-US" altLang="zh-CN" i="1">
                                  <a:latin typeface="Cambria Math" panose="02040503050406030204" pitchFamily="18" charset="0"/>
                                  <a:cs typeface="Cambria Math" panose="02040503050406030204" pitchFamily="18" charset="0"/>
                                  <a:sym typeface="+mn-ea"/>
                                </a:rPr>
                              </m:ctrlPr>
                            </m:eqArrPr>
                            <m:e>
                              <m:r>
                                <a:rPr lang="en-US" altLang="zh-CN" i="1">
                                  <a:latin typeface="Cambria Math" panose="02040503050406030204" pitchFamily="18" charset="0"/>
                                  <a:cs typeface="Cambria Math" panose="02040503050406030204" pitchFamily="18" charset="0"/>
                                  <a:sym typeface="+mn-ea"/>
                                </a:rPr>
                                <m:t>0</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𝑖𝑓</m:t>
                              </m:r>
                              <m:r>
                                <a:rPr lang="en-US" altLang="zh-CN" i="1">
                                  <a:latin typeface="Cambria Math" panose="02040503050406030204" pitchFamily="18" charset="0"/>
                                  <a:cs typeface="Cambria Math" panose="02040503050406030204" pitchFamily="18" charset="0"/>
                                  <a:sym typeface="+mn-ea"/>
                                </a:rPr>
                                <m:t> </m:t>
                              </m:r>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i="1">
                                      <a:latin typeface="Cambria Math" panose="02040503050406030204" pitchFamily="18" charset="0"/>
                                      <a:cs typeface="Cambria Math" panose="02040503050406030204" pitchFamily="18" charset="0"/>
                                      <a:sym typeface="+mn-ea"/>
                                    </a:rPr>
                                    <m:t>𝑧</m:t>
                                  </m:r>
                                </m:e>
                              </m:d>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𝜖</m:t>
                              </m:r>
                            </m:e>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i="1">
                                      <a:latin typeface="Cambria Math" panose="02040503050406030204" pitchFamily="18" charset="0"/>
                                      <a:cs typeface="Cambria Math" panose="02040503050406030204" pitchFamily="18" charset="0"/>
                                      <a:sym typeface="+mn-ea"/>
                                    </a:rPr>
                                    <m:t>𝑧</m:t>
                                  </m:r>
                                </m:e>
                              </m:d>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𝜖</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𝑜𝑡ℎ𝑒𝑟𝑤𝑖𝑠𝑒</m:t>
                              </m:r>
                            </m:e>
                          </m:eqArr>
                        </m:e>
                      </m:d>
                    </m:oMath>
                  </m:oMathPara>
                </a14:m>
                <a:endParaRPr lang="zh-CN" altLang="en-US">
                  <a:sym typeface="+mn-ea"/>
                </a:endParaRPr>
              </a:p>
            </p:txBody>
          </p:sp>
        </mc:Choice>
        <mc:Fallback>
          <p:sp>
            <p:nvSpPr>
              <p:cNvPr id="5" name="文本框 4"/>
              <p:cNvSpPr txBox="1">
                <a:spLocks noRot="1" noChangeAspect="1" noMove="1" noResize="1" noEditPoints="1" noAdjustHandles="1" noChangeArrowheads="1" noChangeShapeType="1" noTextEdit="1"/>
              </p:cNvSpPr>
              <p:nvPr/>
            </p:nvSpPr>
            <p:spPr>
              <a:xfrm>
                <a:off x="312420" y="1084580"/>
                <a:ext cx="11311255" cy="270700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4676775" y="250634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21" name="文本框 20"/>
              <p:cNvSpPr txBox="1">
                <a:spLocks noRot="1" noChangeAspect="1" noMove="1" noResize="1" noEditPoints="1" noAdjustHandles="1" noChangeArrowheads="1" noChangeShapeType="1" noTextEdit="1"/>
              </p:cNvSpPr>
              <p:nvPr/>
            </p:nvSpPr>
            <p:spPr>
              <a:xfrm>
                <a:off x="4676775" y="2506345"/>
                <a:ext cx="808990" cy="368300"/>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876300" y="3727450"/>
                <a:ext cx="9818370" cy="645160"/>
              </a:xfrm>
              <a:prstGeom prst="rect">
                <a:avLst/>
              </a:prstGeom>
              <a:noFill/>
            </p:spPr>
            <p:txBody>
              <a:bodyPr wrap="square" rtlCol="0">
                <a:spAutoFit/>
              </a:bodyPr>
              <a:lstStyle/>
              <a:p>
                <a:r>
                  <a:rPr lang="zh-CN" altLang="en-US"/>
                  <a:t>其中，</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𝑙</m:t>
                        </m:r>
                      </m:e>
                      <m:sub>
                        <m:r>
                          <a:rPr lang="en-US" altLang="zh-CN" i="1">
                            <a:latin typeface="Cambria Math" panose="02040503050406030204" pitchFamily="18" charset="0"/>
                            <a:cs typeface="Cambria Math" panose="02040503050406030204" pitchFamily="18" charset="0"/>
                            <a:sym typeface="+mn-ea"/>
                          </a:rPr>
                          <m:t>𝜖</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𝑧</m:t>
                    </m:r>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被称为</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𝜖</m:t>
                    </m:r>
                  </m:oMath>
                </a14:m>
                <a:r>
                  <a:rPr lang="en-US" altLang="zh-CN">
                    <a:latin typeface="Cambria Math" panose="02040503050406030204" pitchFamily="18" charset="0"/>
                    <a:cs typeface="Cambria Math" panose="02040503050406030204" pitchFamily="18" charset="0"/>
                    <a:sym typeface="+mn-ea"/>
                  </a:rPr>
                  <a:t>-</a:t>
                </a:r>
                <a:r>
                  <a:rPr lang="zh-CN" altLang="en-US">
                    <a:latin typeface="Cambria Math" panose="02040503050406030204" pitchFamily="18" charset="0"/>
                    <a:cs typeface="Cambria Math" panose="02040503050406030204" pitchFamily="18" charset="0"/>
                    <a:sym typeface="+mn-ea"/>
                  </a:rPr>
                  <a:t>不敏感损失函数，即</a:t>
                </a:r>
                <a:r>
                  <a:rPr lang="en-US" altLang="zh-CN">
                    <a:latin typeface="Cambria Math" panose="02040503050406030204" pitchFamily="18" charset="0"/>
                    <a:cs typeface="Cambria Math" panose="02040503050406030204" pitchFamily="18" charset="0"/>
                    <a:sym typeface="+mn-ea"/>
                  </a:rPr>
                  <a:t>SVR</a:t>
                </a:r>
                <a:r>
                  <a:rPr lang="zh-CN" altLang="en-US">
                    <a:latin typeface="Cambria Math" panose="02040503050406030204" pitchFamily="18" charset="0"/>
                    <a:cs typeface="Cambria Math" panose="02040503050406030204" pitchFamily="18" charset="0"/>
                    <a:sym typeface="+mn-ea"/>
                  </a:rPr>
                  <a:t>可以容忍预测值</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𝑓</m:t>
                    </m:r>
                    <m:r>
                      <a:rPr lang="en-US" altLang="zh-CN" i="1">
                        <a:latin typeface="Cambria Math" panose="02040503050406030204" pitchFamily="18" charset="0"/>
                        <a:cs typeface="Cambria Math" panose="02040503050406030204" pitchFamily="18" charset="0"/>
                        <a:sym typeface="+mn-ea"/>
                      </a:rPr>
                      <m:t>(</m:t>
                    </m:r>
                    <m:r>
                      <a:rPr lang="en-US" altLang="zh-CN" b="1" i="1">
                        <a:latin typeface="Cambria Math" panose="02040503050406030204" pitchFamily="18" charset="0"/>
                        <a:cs typeface="Cambria Math" panose="02040503050406030204" pitchFamily="18" charset="0"/>
                        <a:sym typeface="+mn-ea"/>
                      </a:rPr>
                      <m:t>𝒙</m:t>
                    </m:r>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与真实值</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𝑦</m:t>
                    </m:r>
                  </m:oMath>
                </a14:m>
                <a:r>
                  <a:rPr lang="zh-CN" altLang="en-US">
                    <a:latin typeface="Cambria Math" panose="02040503050406030204" pitchFamily="18" charset="0"/>
                    <a:cs typeface="Cambria Math" panose="02040503050406030204" pitchFamily="18" charset="0"/>
                    <a:sym typeface="+mn-ea"/>
                  </a:rPr>
                  <a:t>之间最多有</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𝜖</m:t>
                    </m:r>
                  </m:oMath>
                </a14:m>
                <a:r>
                  <a:rPr lang="zh-CN" altLang="en-US">
                    <a:latin typeface="Cambria Math" panose="02040503050406030204" pitchFamily="18" charset="0"/>
                    <a:cs typeface="Cambria Math" panose="02040503050406030204" pitchFamily="18" charset="0"/>
                    <a:sym typeface="+mn-ea"/>
                  </a:rPr>
                  <a:t>的偏差，仅当</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𝑓</m:t>
                    </m:r>
                    <m:r>
                      <a:rPr lang="en-US" altLang="zh-CN" i="1">
                        <a:latin typeface="Cambria Math" panose="02040503050406030204" pitchFamily="18" charset="0"/>
                        <a:cs typeface="Cambria Math" panose="02040503050406030204" pitchFamily="18" charset="0"/>
                        <a:sym typeface="+mn-ea"/>
                      </a:rPr>
                      <m:t>(</m:t>
                    </m:r>
                    <m:r>
                      <a:rPr lang="en-US" altLang="zh-CN" b="1" i="1">
                        <a:latin typeface="Cambria Math" panose="02040503050406030204" pitchFamily="18" charset="0"/>
                        <a:cs typeface="Cambria Math" panose="02040503050406030204" pitchFamily="18" charset="0"/>
                        <a:sym typeface="+mn-ea"/>
                      </a:rPr>
                      <m:t>𝒙</m:t>
                    </m:r>
                    <m:r>
                      <a:rPr lang="en-US" altLang="zh-CN" i="1">
                        <a:latin typeface="Cambria Math" panose="02040503050406030204" pitchFamily="18" charset="0"/>
                        <a:cs typeface="Cambria Math" panose="02040503050406030204" pitchFamily="18" charset="0"/>
                        <a:sym typeface="+mn-ea"/>
                      </a:rPr>
                      <m:t>)</m:t>
                    </m:r>
                  </m:oMath>
                </a14:m>
                <a:r>
                  <a:rPr lang="zh-CN" altLang="en-US">
                    <a:latin typeface="Cambria Math" panose="02040503050406030204" pitchFamily="18" charset="0"/>
                    <a:cs typeface="Cambria Math" panose="02040503050406030204" pitchFamily="18" charset="0"/>
                    <a:sym typeface="+mn-ea"/>
                  </a:rPr>
                  <a:t>与</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𝑦</m:t>
                    </m:r>
                  </m:oMath>
                </a14:m>
                <a:r>
                  <a:rPr lang="zh-CN" altLang="en-US">
                    <a:latin typeface="Cambria Math" panose="02040503050406030204" pitchFamily="18" charset="0"/>
                    <a:cs typeface="Cambria Math" panose="02040503050406030204" pitchFamily="18" charset="0"/>
                    <a:sym typeface="+mn-ea"/>
                  </a:rPr>
                  <a:t>之间的差别大于</a:t>
                </a:r>
                <a14:m>
                  <m:oMath xmlns:m="http://schemas.openxmlformats.org/officeDocument/2006/math">
                    <m:r>
                      <a:rPr lang="en-US" altLang="zh-CN" i="1">
                        <a:latin typeface="Cambria Math" panose="02040503050406030204" pitchFamily="18" charset="0"/>
                        <a:cs typeface="Cambria Math" panose="02040503050406030204" pitchFamily="18" charset="0"/>
                        <a:sym typeface="+mn-ea"/>
                      </a:rPr>
                      <m:t>𝜖</m:t>
                    </m:r>
                  </m:oMath>
                </a14:m>
                <a:r>
                  <a:rPr lang="zh-CN" altLang="en-US">
                    <a:latin typeface="Cambria Math" panose="02040503050406030204" pitchFamily="18" charset="0"/>
                    <a:cs typeface="Cambria Math" panose="02040503050406030204" pitchFamily="18" charset="0"/>
                    <a:sym typeface="+mn-ea"/>
                  </a:rPr>
                  <a:t>时才计算损失</a:t>
                </a:r>
                <a:endParaRPr lang="zh-CN" altLang="en-US">
                  <a:latin typeface="Cambria Math" panose="02040503050406030204" pitchFamily="18" charset="0"/>
                  <a:cs typeface="Cambria Math" panose="02040503050406030204" pitchFamily="18" charset="0"/>
                  <a:sym typeface="+mn-ea"/>
                </a:endParaRPr>
              </a:p>
            </p:txBody>
          </p:sp>
        </mc:Choice>
        <mc:Fallback>
          <p:sp>
            <p:nvSpPr>
              <p:cNvPr id="7" name="文本框 6"/>
              <p:cNvSpPr txBox="1">
                <a:spLocks noRot="1" noChangeAspect="1" noMove="1" noResize="1" noEditPoints="1" noAdjustHandles="1" noChangeArrowheads="1" noChangeShapeType="1" noTextEdit="1"/>
              </p:cNvSpPr>
              <p:nvPr/>
            </p:nvSpPr>
            <p:spPr>
              <a:xfrm>
                <a:off x="876300" y="3727450"/>
                <a:ext cx="9818370" cy="645160"/>
              </a:xfrm>
              <a:prstGeom prst="rect">
                <a:avLst/>
              </a:prstGeom>
              <a:blipFill rotWithShape="1">
                <a:blip r:embed="rId3"/>
                <a:stretch>
                  <a:fillRect/>
                </a:stretch>
              </a:blipFill>
            </p:spPr>
            <p:txBody>
              <a:bodyPr/>
              <a:lstStyle/>
              <a:p>
                <a:r>
                  <a:rPr lang="zh-CN" altLang="en-US">
                    <a:noFill/>
                  </a:rPr>
                  <a:t> </a:t>
                </a:r>
              </a:p>
            </p:txBody>
          </p:sp>
        </mc:Fallback>
      </mc:AlternateContent>
      <p:pic>
        <p:nvPicPr>
          <p:cNvPr id="8" name="图片 7" descr="SVR"/>
          <p:cNvPicPr>
            <a:picLocks noChangeAspect="1"/>
          </p:cNvPicPr>
          <p:nvPr/>
        </p:nvPicPr>
        <p:blipFill>
          <a:blip r:embed="rId4"/>
          <a:stretch>
            <a:fillRect/>
          </a:stretch>
        </p:blipFill>
        <p:spPr>
          <a:xfrm>
            <a:off x="5638800" y="4204970"/>
            <a:ext cx="3576320" cy="2552700"/>
          </a:xfrm>
          <a:prstGeom prst="rect">
            <a:avLst/>
          </a:prstGeom>
        </p:spPr>
      </p:pic>
      <p:sp>
        <p:nvSpPr>
          <p:cNvPr id="6" name="矩形 5"/>
          <p:cNvSpPr/>
          <p:nvPr>
            <p:custDataLst>
              <p:tags r:id="rId5"/>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6"/>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7"/>
            </p:custDataLst>
          </p:nvPr>
        </p:nvSpPr>
        <p:spPr>
          <a:xfrm>
            <a:off x="420370" y="323215"/>
            <a:ext cx="676783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支持向量机解决多分类问题和回归问题</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3044190" y="2227580"/>
            <a:ext cx="5288280" cy="3528060"/>
          </a:xfrm>
          <a:prstGeom prst="rect">
            <a:avLst/>
          </a:prstGeom>
        </p:spPr>
      </p:pic>
      <p:sp>
        <p:nvSpPr>
          <p:cNvPr id="9" name="文本框 8"/>
          <p:cNvSpPr txBox="1"/>
          <p:nvPr/>
        </p:nvSpPr>
        <p:spPr>
          <a:xfrm>
            <a:off x="1391920" y="1254125"/>
            <a:ext cx="9030335" cy="645160"/>
          </a:xfrm>
          <a:prstGeom prst="rect">
            <a:avLst/>
          </a:prstGeom>
          <a:noFill/>
        </p:spPr>
        <p:txBody>
          <a:bodyPr wrap="square" rtlCol="0">
            <a:spAutoFit/>
          </a:bodyPr>
          <a:lstStyle/>
          <a:p>
            <a:r>
              <a:rPr lang="en-US" altLang="zh-CN"/>
              <a:t>SVR</a:t>
            </a:r>
            <a:r>
              <a:rPr lang="zh-CN" altLang="en-US"/>
              <a:t>实例可视化：蓝色点为原始训练数据点在样本空间中的位置，红色曲线为带核函数的</a:t>
            </a:r>
            <a:endParaRPr lang="zh-CN" altLang="en-US"/>
          </a:p>
          <a:p>
            <a:r>
              <a:rPr lang="zh-CN" altLang="en-US"/>
              <a:t> </a:t>
            </a:r>
            <a:r>
              <a:rPr lang="en-US" altLang="zh-CN"/>
              <a:t>                                 SVR</a:t>
            </a:r>
            <a:r>
              <a:rPr lang="zh-CN" altLang="en-US"/>
              <a:t>在样本空间中拟合出的数据预测曲线</a:t>
            </a:r>
            <a:endParaRPr lang="zh-CN" altLang="en-US"/>
          </a:p>
        </p:txBody>
      </p:sp>
      <p:sp>
        <p:nvSpPr>
          <p:cNvPr id="7" name="矩形 6"/>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20370" y="323215"/>
            <a:ext cx="6767830"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支持向量机解决多分类问题和回归问题</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custDataLst>
              <p:tags r:id="rId1"/>
            </p:custDataLst>
          </p:nvPr>
        </p:nvSpPr>
        <p:spPr>
          <a:xfrm>
            <a:off x="4879975" y="854710"/>
            <a:ext cx="6861175" cy="5236845"/>
          </a:xfrm>
          <a:prstGeom prst="rect">
            <a:avLst/>
          </a:prstGeom>
          <a:noFill/>
        </p:spPr>
        <p:txBody>
          <a:bodyPr wrap="square" rtlCol="0">
            <a:noAutofit/>
            <a:scene3d>
              <a:camera prst="orthographicFront"/>
              <a:lightRig rig="threePt" dir="t"/>
            </a:scene3d>
          </a:bodyPr>
          <a:lstStyle/>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如何得到最优划分超平面？</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软间隔</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核函数</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支持向量机解决多分类问题和回归问题</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Python实现支持向量机</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知识点总结</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20370" y="323215"/>
            <a:ext cx="4300220" cy="521970"/>
          </a:xfrm>
          <a:prstGeom prst="rect">
            <a:avLst/>
          </a:prstGeom>
          <a:noFill/>
        </p:spPr>
        <p:txBody>
          <a:bodyPr wrap="square" rtlCol="0">
            <a:spAutoFit/>
            <a:scene3d>
              <a:camera prst="orthographicFront"/>
              <a:lightRig rig="threePt" dir="t"/>
            </a:scene3d>
          </a:bodyPr>
          <a:lstStyle/>
          <a:p>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实现支持向量机</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3" name="文本框 2"/>
          <p:cNvSpPr txBox="1"/>
          <p:nvPr>
            <p:custDataLst>
              <p:tags r:id="rId4"/>
            </p:custDataLst>
          </p:nvPr>
        </p:nvSpPr>
        <p:spPr>
          <a:xfrm>
            <a:off x="375285" y="1143000"/>
            <a:ext cx="5986145" cy="398780"/>
          </a:xfrm>
          <a:prstGeom prst="rect">
            <a:avLst/>
          </a:prstGeom>
          <a:noFill/>
        </p:spPr>
        <p:txBody>
          <a:bodyPr wrap="square" rtlCol="0" anchor="t">
            <a:spAutoFit/>
          </a:bodyPr>
          <a:lstStyle/>
          <a:p>
            <a:r>
              <a:rPr lang="zh-CN" altLang="en-US" sz="2000" b="1">
                <a:solidFill>
                  <a:srgbClr val="0070C0"/>
                </a:solidFill>
              </a:rPr>
              <a:t>安装Sklearn</a:t>
            </a:r>
            <a:endParaRPr lang="zh-CN" altLang="en-US" sz="2000" b="1">
              <a:solidFill>
                <a:srgbClr val="0070C0"/>
              </a:solidFill>
            </a:endParaRPr>
          </a:p>
        </p:txBody>
      </p:sp>
      <p:pic>
        <p:nvPicPr>
          <p:cNvPr id="6" name="图片 5" descr="sklearn"/>
          <p:cNvPicPr>
            <a:picLocks noChangeAspect="1"/>
          </p:cNvPicPr>
          <p:nvPr/>
        </p:nvPicPr>
        <p:blipFill>
          <a:blip r:embed="rId5"/>
          <a:stretch>
            <a:fillRect/>
          </a:stretch>
        </p:blipFill>
        <p:spPr>
          <a:xfrm>
            <a:off x="6096000" y="3276600"/>
            <a:ext cx="4104005" cy="2402205"/>
          </a:xfrm>
          <a:prstGeom prst="rect">
            <a:avLst/>
          </a:prstGeom>
        </p:spPr>
      </p:pic>
      <p:sp>
        <p:nvSpPr>
          <p:cNvPr id="8" name="文本框 7"/>
          <p:cNvSpPr txBox="1"/>
          <p:nvPr/>
        </p:nvSpPr>
        <p:spPr>
          <a:xfrm>
            <a:off x="603250" y="1679575"/>
            <a:ext cx="9338310" cy="922020"/>
          </a:xfrm>
          <a:prstGeom prst="rect">
            <a:avLst/>
          </a:prstGeom>
          <a:noFill/>
        </p:spPr>
        <p:txBody>
          <a:bodyPr wrap="square" rtlCol="0" anchor="t">
            <a:spAutoFit/>
          </a:bodyPr>
          <a:lstStyle/>
          <a:p>
            <a:r>
              <a:rPr lang="en-US" altLang="zh-CN"/>
              <a:t>S</a:t>
            </a:r>
            <a:r>
              <a:rPr lang="zh-CN" altLang="en-US"/>
              <a:t>klearn是基于python语言的机器学习工具包，是目前做机器学习项目当之无愧的第一工具。 </a:t>
            </a:r>
            <a:r>
              <a:rPr lang="en-US" altLang="zh-CN"/>
              <a:t>S</a:t>
            </a:r>
            <a:r>
              <a:rPr lang="zh-CN" altLang="en-US"/>
              <a:t>klearn自带了大量的数据集，可供我们练习各种机器学习算法。 sklearn集成了数据预处理、数据特征选择、数据特征降维、分类、回归、聚类模型、模型评估等非常全面算法。</a:t>
            </a:r>
            <a:endParaRPr lang="zh-CN" altLang="en-US"/>
          </a:p>
        </p:txBody>
      </p:sp>
      <p:pic>
        <p:nvPicPr>
          <p:cNvPr id="9" name="图片 8"/>
          <p:cNvPicPr>
            <a:picLocks noChangeAspect="1"/>
          </p:cNvPicPr>
          <p:nvPr>
            <p:custDataLst>
              <p:tags r:id="rId6"/>
            </p:custDataLst>
          </p:nvPr>
        </p:nvPicPr>
        <p:blipFill>
          <a:blip r:embed="rId7"/>
          <a:stretch>
            <a:fillRect/>
          </a:stretch>
        </p:blipFill>
        <p:spPr>
          <a:xfrm>
            <a:off x="1911985" y="3399155"/>
            <a:ext cx="3378200" cy="221615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20370" y="323215"/>
            <a:ext cx="4300220" cy="521970"/>
          </a:xfrm>
          <a:prstGeom prst="rect">
            <a:avLst/>
          </a:prstGeom>
          <a:noFill/>
        </p:spPr>
        <p:txBody>
          <a:bodyPr wrap="square" rtlCol="0">
            <a:spAutoFit/>
            <a:scene3d>
              <a:camera prst="orthographicFront"/>
              <a:lightRig rig="threePt" dir="t"/>
            </a:scene3d>
          </a:bodyPr>
          <a:lstStyle/>
          <a:p>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实现支持向量机</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3" name="文本框 2"/>
          <p:cNvSpPr txBox="1"/>
          <p:nvPr>
            <p:custDataLst>
              <p:tags r:id="rId4"/>
            </p:custDataLst>
          </p:nvPr>
        </p:nvSpPr>
        <p:spPr>
          <a:xfrm>
            <a:off x="354330" y="1116965"/>
            <a:ext cx="7541895" cy="368300"/>
          </a:xfrm>
          <a:prstGeom prst="rect">
            <a:avLst/>
          </a:prstGeom>
          <a:noFill/>
        </p:spPr>
        <p:txBody>
          <a:bodyPr wrap="square" rtlCol="0" anchor="t">
            <a:spAutoFit/>
          </a:bodyPr>
          <a:lstStyle/>
          <a:p>
            <a:r>
              <a:rPr lang="zh-CN" altLang="en-US" b="1">
                <a:solidFill>
                  <a:srgbClr val="0070C0"/>
                </a:solidFill>
              </a:rPr>
              <a:t>通过</a:t>
            </a:r>
            <a:r>
              <a:rPr lang="en-US" altLang="zh-CN" b="1">
                <a:solidFill>
                  <a:srgbClr val="0070C0"/>
                </a:solidFill>
              </a:rPr>
              <a:t>Sklearn</a:t>
            </a:r>
            <a:r>
              <a:rPr lang="zh-CN" altLang="en-US" b="1">
                <a:solidFill>
                  <a:srgbClr val="0070C0"/>
                </a:solidFill>
              </a:rPr>
              <a:t>实现</a:t>
            </a:r>
            <a:r>
              <a:rPr lang="zh-CN" altLang="en-US" b="1">
                <a:solidFill>
                  <a:srgbClr val="0070C0"/>
                </a:solidFill>
                <a:sym typeface="+mn-ea"/>
              </a:rPr>
              <a:t>线性支持向量机在的鸢尾花数据集上的分类训练与测试</a:t>
            </a:r>
            <a:endParaRPr lang="zh-CN" altLang="en-US" b="1">
              <a:solidFill>
                <a:srgbClr val="0070C0"/>
              </a:solidFill>
            </a:endParaRPr>
          </a:p>
        </p:txBody>
      </p:sp>
      <p:sp>
        <p:nvSpPr>
          <p:cNvPr id="4" name="文本框 3"/>
          <p:cNvSpPr txBox="1"/>
          <p:nvPr/>
        </p:nvSpPr>
        <p:spPr>
          <a:xfrm>
            <a:off x="2329815" y="1707515"/>
            <a:ext cx="7233920" cy="3784600"/>
          </a:xfrm>
          <a:prstGeom prst="rect">
            <a:avLst/>
          </a:prstGeom>
          <a:noFill/>
        </p:spPr>
        <p:txBody>
          <a:bodyPr wrap="square" rtlCol="0" anchor="t">
            <a:spAutoFit/>
          </a:bodyPr>
          <a:lstStyle/>
          <a:p>
            <a:r>
              <a:rPr lang="en-US" altLang="zh-CN" sz="1600"/>
              <a:t>#</a:t>
            </a:r>
            <a:r>
              <a:rPr lang="zh-CN" altLang="en-US" sz="1600"/>
              <a:t>引入</a:t>
            </a:r>
            <a:r>
              <a:rPr lang="en-US" altLang="zh-CN" sz="1600"/>
              <a:t>Sklearn</a:t>
            </a:r>
            <a:r>
              <a:rPr lang="zh-CN" altLang="en-US" sz="1600"/>
              <a:t>中的数据集及支持向量机</a:t>
            </a:r>
            <a:endParaRPr lang="zh-CN" altLang="en-US" sz="1600"/>
          </a:p>
          <a:p>
            <a:r>
              <a:rPr lang="zh-CN" altLang="en-US" sz="1600"/>
              <a:t>from sklearn import datasets</a:t>
            </a:r>
            <a:endParaRPr lang="zh-CN" altLang="en-US" sz="1600"/>
          </a:p>
          <a:p>
            <a:r>
              <a:rPr lang="zh-CN" altLang="en-US" sz="1600"/>
              <a:t>from sklearn.model_selection import train_test_split</a:t>
            </a:r>
            <a:endParaRPr lang="zh-CN" altLang="en-US" sz="1600"/>
          </a:p>
          <a:p>
            <a:r>
              <a:rPr lang="zh-CN" altLang="en-US" sz="1600"/>
              <a:t>from sklearn.svm import SVC</a:t>
            </a:r>
            <a:endParaRPr lang="zh-CN" altLang="en-US" sz="1600"/>
          </a:p>
          <a:p>
            <a:endParaRPr lang="zh-CN" altLang="en-US" sz="1600">
              <a:sym typeface="+mn-ea"/>
            </a:endParaRPr>
          </a:p>
          <a:p>
            <a:r>
              <a:rPr lang="zh-CN" altLang="en-US" sz="1600">
                <a:sym typeface="+mn-ea"/>
              </a:rPr>
              <a:t># 加载鸢尾花数据集</a:t>
            </a:r>
            <a:endParaRPr lang="zh-CN" altLang="en-US" sz="1600"/>
          </a:p>
          <a:p>
            <a:r>
              <a:rPr lang="zh-CN" altLang="en-US" sz="1600"/>
              <a:t>iris = datasets.load_iris()</a:t>
            </a:r>
            <a:r>
              <a:rPr lang="en-US" altLang="zh-CN" sz="1600"/>
              <a:t>     </a:t>
            </a:r>
            <a:endParaRPr lang="en-US" altLang="zh-CN" sz="1600"/>
          </a:p>
          <a:p>
            <a:r>
              <a:rPr lang="zh-CN" altLang="en-US" sz="1600"/>
              <a:t>X = iris.data</a:t>
            </a:r>
            <a:endParaRPr lang="zh-CN" altLang="en-US" sz="1600"/>
          </a:p>
          <a:p>
            <a:r>
              <a:rPr lang="zh-CN" altLang="en-US" sz="1600"/>
              <a:t>y = iris.target</a:t>
            </a:r>
            <a:endParaRPr lang="zh-CN" altLang="en-US" sz="1600"/>
          </a:p>
          <a:p>
            <a:endParaRPr lang="zh-CN" altLang="en-US" sz="1600"/>
          </a:p>
          <a:p>
            <a:r>
              <a:rPr lang="zh-CN" altLang="en-US" sz="1600"/>
              <a:t># 将数据集分为训练集和测试集</a:t>
            </a:r>
            <a:endParaRPr lang="zh-CN" altLang="en-US" sz="1600"/>
          </a:p>
          <a:p>
            <a:r>
              <a:rPr lang="zh-CN" altLang="en-US" sz="1600"/>
              <a:t>X_train, X_test, y_train, y_test = train_test_split(X, y, test_size=0.2, random_state=0)</a:t>
            </a:r>
            <a:endParaRPr lang="zh-CN" altLang="en-US" sz="1600"/>
          </a:p>
          <a:p>
            <a:endParaRPr lang="zh-CN" altLang="en-US" sz="1600"/>
          </a:p>
          <a:p>
            <a:r>
              <a:rPr lang="zh-CN" altLang="en-US" sz="1600"/>
              <a:t># 创建一个线性支持向量机模型</a:t>
            </a:r>
            <a:endParaRPr lang="zh-CN" altLang="en-US" sz="1600"/>
          </a:p>
          <a:p>
            <a:r>
              <a:rPr lang="zh-CN" altLang="en-US" sz="1600"/>
              <a:t>svm = SVC(kernel='linear')</a:t>
            </a:r>
            <a:endParaRPr lang="zh-CN" altLang="en-US" sz="16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20370" y="323215"/>
            <a:ext cx="4300220" cy="521970"/>
          </a:xfrm>
          <a:prstGeom prst="rect">
            <a:avLst/>
          </a:prstGeom>
          <a:noFill/>
        </p:spPr>
        <p:txBody>
          <a:bodyPr wrap="square" rtlCol="0">
            <a:spAutoFit/>
            <a:scene3d>
              <a:camera prst="orthographicFront"/>
              <a:lightRig rig="threePt" dir="t"/>
            </a:scene3d>
          </a:bodyPr>
          <a:lstStyle/>
          <a:p>
            <a:r>
              <a:rPr lang="en-US" altLang="zh-CN" sz="2800" b="1" spc="200" dirty="0">
                <a:solidFill>
                  <a:srgbClr val="0070C0"/>
                </a:solidFill>
                <a:uFillTx/>
                <a:latin typeface="微软雅黑" panose="020B0503020204020204" charset="-122"/>
                <a:ea typeface="微软雅黑" panose="020B0503020204020204" charset="-122"/>
                <a:cs typeface="+mj-cs"/>
              </a:rPr>
              <a:t>Python</a:t>
            </a:r>
            <a:r>
              <a:rPr lang="zh-CN" altLang="en-US" sz="2800" b="1" spc="200" dirty="0">
                <a:solidFill>
                  <a:srgbClr val="0070C0"/>
                </a:solidFill>
                <a:uFillTx/>
                <a:latin typeface="微软雅黑" panose="020B0503020204020204" charset="-122"/>
                <a:ea typeface="微软雅黑" panose="020B0503020204020204" charset="-122"/>
                <a:cs typeface="+mj-cs"/>
              </a:rPr>
              <a:t>实现支持向量机</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
        <p:nvSpPr>
          <p:cNvPr id="3" name="文本框 2"/>
          <p:cNvSpPr txBox="1"/>
          <p:nvPr>
            <p:custDataLst>
              <p:tags r:id="rId4"/>
            </p:custDataLst>
          </p:nvPr>
        </p:nvSpPr>
        <p:spPr>
          <a:xfrm>
            <a:off x="354330" y="1116965"/>
            <a:ext cx="7541895" cy="368300"/>
          </a:xfrm>
          <a:prstGeom prst="rect">
            <a:avLst/>
          </a:prstGeom>
          <a:noFill/>
        </p:spPr>
        <p:txBody>
          <a:bodyPr wrap="square" rtlCol="0" anchor="t">
            <a:spAutoFit/>
          </a:bodyPr>
          <a:lstStyle/>
          <a:p>
            <a:r>
              <a:rPr lang="zh-CN" altLang="en-US" b="1">
                <a:solidFill>
                  <a:srgbClr val="0070C0"/>
                </a:solidFill>
              </a:rPr>
              <a:t>通过</a:t>
            </a:r>
            <a:r>
              <a:rPr lang="en-US" altLang="zh-CN" b="1">
                <a:solidFill>
                  <a:srgbClr val="0070C0"/>
                </a:solidFill>
              </a:rPr>
              <a:t>Sklearn</a:t>
            </a:r>
            <a:r>
              <a:rPr lang="zh-CN" altLang="en-US" b="1">
                <a:solidFill>
                  <a:srgbClr val="0070C0"/>
                </a:solidFill>
              </a:rPr>
              <a:t>实现</a:t>
            </a:r>
            <a:r>
              <a:rPr lang="zh-CN" altLang="en-US" b="1">
                <a:solidFill>
                  <a:srgbClr val="0070C0"/>
                </a:solidFill>
                <a:sym typeface="+mn-ea"/>
              </a:rPr>
              <a:t>线性支持向量机在的鸢尾花数据集上的分类训练与测试</a:t>
            </a:r>
            <a:endParaRPr lang="zh-CN" altLang="en-US" b="1">
              <a:solidFill>
                <a:srgbClr val="0070C0"/>
              </a:solidFill>
            </a:endParaRPr>
          </a:p>
        </p:txBody>
      </p:sp>
      <p:sp>
        <p:nvSpPr>
          <p:cNvPr id="5" name="文本框 4"/>
          <p:cNvSpPr txBox="1"/>
          <p:nvPr/>
        </p:nvSpPr>
        <p:spPr>
          <a:xfrm>
            <a:off x="3969385" y="1718310"/>
            <a:ext cx="3281680" cy="2306955"/>
          </a:xfrm>
          <a:prstGeom prst="rect">
            <a:avLst/>
          </a:prstGeom>
          <a:noFill/>
        </p:spPr>
        <p:txBody>
          <a:bodyPr wrap="square" rtlCol="0" anchor="t">
            <a:spAutoFit/>
          </a:bodyPr>
          <a:lstStyle/>
          <a:p>
            <a:r>
              <a:rPr lang="zh-CN" altLang="en-US" sz="1600">
                <a:sym typeface="+mn-ea"/>
              </a:rPr>
              <a:t># 在训练集上训练模型</a:t>
            </a:r>
            <a:endParaRPr lang="zh-CN" altLang="en-US" sz="1600"/>
          </a:p>
          <a:p>
            <a:r>
              <a:rPr lang="zh-CN" altLang="en-US" sz="1600">
                <a:sym typeface="+mn-ea"/>
              </a:rPr>
              <a:t>svm.fit(X_train, y_train)</a:t>
            </a:r>
            <a:endParaRPr lang="zh-CN" altLang="en-US" sz="1600"/>
          </a:p>
          <a:p>
            <a:endParaRPr lang="zh-CN" altLang="en-US" sz="1600">
              <a:sym typeface="+mn-ea"/>
            </a:endParaRPr>
          </a:p>
          <a:p>
            <a:r>
              <a:rPr lang="zh-CN" altLang="en-US" sz="1600">
                <a:sym typeface="+mn-ea"/>
              </a:rPr>
              <a:t># 在测试集上进行预测</a:t>
            </a:r>
            <a:endParaRPr lang="zh-CN" altLang="en-US" sz="1600"/>
          </a:p>
          <a:p>
            <a:r>
              <a:rPr lang="zh-CN" altLang="en-US" sz="1600">
                <a:sym typeface="+mn-ea"/>
              </a:rPr>
              <a:t>y_pred = svm.predict(X_test)</a:t>
            </a:r>
            <a:endParaRPr lang="zh-CN" altLang="en-US" sz="1600"/>
          </a:p>
          <a:p>
            <a:endParaRPr lang="zh-CN" altLang="en-US" sz="1600">
              <a:sym typeface="+mn-ea"/>
            </a:endParaRPr>
          </a:p>
          <a:p>
            <a:r>
              <a:rPr lang="zh-CN" altLang="en-US" sz="1600">
                <a:sym typeface="+mn-ea"/>
              </a:rPr>
              <a:t># 计算模型的准确率并输出</a:t>
            </a:r>
            <a:endParaRPr lang="zh-CN" altLang="en-US" sz="1600"/>
          </a:p>
          <a:p>
            <a:r>
              <a:rPr lang="zh-CN" altLang="en-US" sz="1600">
                <a:sym typeface="+mn-ea"/>
              </a:rPr>
              <a:t>accuracy = (y_pred == y_test).mean()</a:t>
            </a:r>
            <a:endParaRPr lang="zh-CN" altLang="en-US" sz="1600"/>
          </a:p>
          <a:p>
            <a:r>
              <a:rPr lang="zh-CN" altLang="en-US" sz="1600">
                <a:sym typeface="+mn-ea"/>
              </a:rPr>
              <a:t>print(f"Accuracy: {accuracy}")</a:t>
            </a:r>
            <a:endParaRPr lang="zh-CN" altLang="en-US" sz="1600">
              <a:sym typeface="+mn-ea"/>
            </a:endParaRPr>
          </a:p>
        </p:txBody>
      </p:sp>
      <p:sp>
        <p:nvSpPr>
          <p:cNvPr id="2" name="文本框 1"/>
          <p:cNvSpPr txBox="1"/>
          <p:nvPr/>
        </p:nvSpPr>
        <p:spPr>
          <a:xfrm>
            <a:off x="3719830" y="4558030"/>
            <a:ext cx="1236980" cy="368300"/>
          </a:xfrm>
          <a:prstGeom prst="rect">
            <a:avLst/>
          </a:prstGeom>
          <a:noFill/>
        </p:spPr>
        <p:txBody>
          <a:bodyPr wrap="square" rtlCol="0">
            <a:spAutoFit/>
          </a:bodyPr>
          <a:lstStyle/>
          <a:p>
            <a:r>
              <a:rPr lang="zh-CN" altLang="en-US"/>
              <a:t>最终输出：</a:t>
            </a:r>
            <a:endParaRPr lang="zh-CN" altLang="en-US"/>
          </a:p>
        </p:txBody>
      </p:sp>
      <p:pic>
        <p:nvPicPr>
          <p:cNvPr id="6" name="图片 5"/>
          <p:cNvPicPr>
            <a:picLocks noChangeAspect="1"/>
          </p:cNvPicPr>
          <p:nvPr>
            <p:custDataLst>
              <p:tags r:id="rId5"/>
            </p:custDataLst>
          </p:nvPr>
        </p:nvPicPr>
        <p:blipFill>
          <a:blip r:embed="rId6"/>
          <a:stretch>
            <a:fillRect/>
          </a:stretch>
        </p:blipFill>
        <p:spPr>
          <a:xfrm>
            <a:off x="5213350" y="4532630"/>
            <a:ext cx="1786255" cy="41973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custDataLst>
              <p:tags r:id="rId1"/>
            </p:custDataLst>
          </p:nvPr>
        </p:nvSpPr>
        <p:spPr>
          <a:xfrm>
            <a:off x="4879975" y="854710"/>
            <a:ext cx="6861175" cy="5236845"/>
          </a:xfrm>
          <a:prstGeom prst="rect">
            <a:avLst/>
          </a:prstGeom>
          <a:noFill/>
        </p:spPr>
        <p:txBody>
          <a:bodyPr wrap="square" rtlCol="0">
            <a:noAutofit/>
            <a:scene3d>
              <a:camera prst="orthographicFront"/>
              <a:lightRig rig="threePt" dir="t"/>
            </a:scene3d>
          </a:bodyPr>
          <a:lstStyle/>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如何得到最优划分超平面？</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软间隔</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核函数</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支持向量机解决多分类问题和回归问题</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Python实现支持向量机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知识点总结</a:t>
            </a:r>
            <a:endParaRPr lang="zh-CN" altLang="en-US" sz="2800" b="1" spc="200" dirty="0">
              <a:solidFill>
                <a:srgbClr val="2E75B6"/>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思考题</a:t>
            </a:r>
            <a:endParaRPr lang="zh-CN" altLang="en-US" sz="2800" b="1" spc="200" dirty="0">
              <a:uFillTx/>
              <a:latin typeface="微软雅黑" panose="020B0503020204020204" charset="-122"/>
              <a:ea typeface="微软雅黑" panose="020B0503020204020204" charset="-122"/>
              <a:cs typeface="+mj-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p:cNvSpPr txBox="1"/>
              <p:nvPr/>
            </p:nvSpPr>
            <p:spPr>
              <a:xfrm>
                <a:off x="292100" y="1196340"/>
                <a:ext cx="11348720" cy="4881245"/>
              </a:xfrm>
              <a:prstGeom prst="rect">
                <a:avLst/>
              </a:prstGeom>
              <a:noFill/>
            </p:spPr>
            <p:txBody>
              <a:bodyPr wrap="square" rtlCol="0">
                <a:spAutoFit/>
              </a:bodyPr>
              <a:lstStyle/>
              <a:p>
                <a:pPr algn="l" eaLnBrk="0" hangingPunct="0">
                  <a:lnSpc>
                    <a:spcPct val="150000"/>
                  </a:lnSpc>
                  <a:buClr>
                    <a:schemeClr val="folHlink"/>
                  </a:buClr>
                  <a:buSzTx/>
                  <a:buFontTx/>
                </a:pPr>
                <a:r>
                  <a:rPr lang="zh-CN" altLang="en-US" b="1">
                    <a:solidFill>
                      <a:srgbClr val="0070C0"/>
                    </a:solidFill>
                  </a:rPr>
                  <a:t>什么是支持向量机？</a:t>
                </a:r>
                <a:endParaRPr lang="zh-CN" altLang="en-US" b="1">
                  <a:solidFill>
                    <a:srgbClr val="0070C0"/>
                  </a:solidFill>
                </a:endParaRPr>
              </a:p>
              <a:p>
                <a:pPr>
                  <a:lnSpc>
                    <a:spcPct val="40000"/>
                  </a:lnSpc>
                </a:pPr>
                <a:endParaRPr lang="zh-CN" altLang="en-US">
                  <a:solidFill>
                    <a:schemeClr val="accent1"/>
                  </a:solidFill>
                  <a:effectLst>
                    <a:outerShdw blurRad="38100" dist="25400" dir="5400000" algn="ctr" rotWithShape="0">
                      <a:srgbClr val="6E747A">
                        <a:alpha val="43000"/>
                      </a:srgbClr>
                    </a:outerShdw>
                  </a:effectLst>
                </a:endParaRPr>
              </a:p>
              <a:p>
                <a:pPr indent="457200"/>
                <a:r>
                  <a:rPr lang="en-US" altLang="zh-CN" b="1"/>
                  <a:t>-- </a:t>
                </a:r>
                <a:r>
                  <a:rPr lang="zh-CN" altLang="en-US">
                    <a:sym typeface="+mn-ea"/>
                  </a:rPr>
                  <a:t>是一类按监督学习方式对数据进行二元分类的广义线性分类器，其决策边界是对学习样本求解的最大边距超平面</a:t>
                </a:r>
                <a:endParaRPr lang="zh-CN" altLang="en-US">
                  <a:sym typeface="+mn-ea"/>
                </a:endParaRPr>
              </a:p>
              <a:p>
                <a:pPr indent="457200"/>
                <a:endParaRPr lang="zh-CN" altLang="en-US"/>
              </a:p>
              <a:p>
                <a:pPr marL="0" lvl="0" algn="l" eaLnBrk="0" hangingPunct="0">
                  <a:lnSpc>
                    <a:spcPct val="150000"/>
                  </a:lnSpc>
                  <a:buClr>
                    <a:schemeClr val="folHlink"/>
                  </a:buClr>
                  <a:buSzTx/>
                  <a:buFontTx/>
                  <a:buNone/>
                </a:pPr>
                <a:r>
                  <a:rPr lang="zh-CN" altLang="en-US" b="1">
                    <a:solidFill>
                      <a:srgbClr val="0070C0"/>
                    </a:solidFill>
                  </a:rPr>
                  <a:t>如何求解最优划分超平面？</a:t>
                </a:r>
                <a:endParaRPr lang="zh-CN" altLang="en-US" b="1">
                  <a:solidFill>
                    <a:srgbClr val="0070C0"/>
                  </a:solidFill>
                </a:endParaRPr>
              </a:p>
              <a:p>
                <a:pPr marL="0" lvl="0" indent="0">
                  <a:lnSpc>
                    <a:spcPct val="40000"/>
                  </a:lnSpc>
                  <a:buNone/>
                </a:pPr>
                <a:endParaRPr lang="zh-CN" altLang="en-US">
                  <a:solidFill>
                    <a:schemeClr val="tx1"/>
                  </a:solidFill>
                </a:endParaRPr>
              </a:p>
              <a:p>
                <a:pPr marL="0" lvl="0" indent="457200">
                  <a:buNone/>
                </a:pPr>
                <a:r>
                  <a:rPr lang="en-US" altLang="zh-CN">
                    <a:solidFill>
                      <a:schemeClr val="tx1"/>
                    </a:solidFill>
                  </a:rPr>
                  <a:t>1</a:t>
                </a:r>
                <a:r>
                  <a:rPr lang="zh-CN" altLang="en-US">
                    <a:solidFill>
                      <a:schemeClr val="tx1"/>
                    </a:solidFill>
                  </a:rPr>
                  <a:t>）将带有约束条件的最优化问题通过拉格朗日乘子法转化为无约束条件的最优化问题；</a:t>
                </a:r>
                <a:endParaRPr lang="zh-CN" altLang="en-US">
                  <a:solidFill>
                    <a:schemeClr val="tx1"/>
                  </a:solidFill>
                </a:endParaRPr>
              </a:p>
              <a:p>
                <a:pPr marL="0" lvl="0" indent="457200">
                  <a:lnSpc>
                    <a:spcPct val="20000"/>
                  </a:lnSpc>
                  <a:buNone/>
                </a:pPr>
                <a:endParaRPr lang="zh-CN" altLang="en-US">
                  <a:solidFill>
                    <a:schemeClr val="tx1"/>
                  </a:solidFill>
                </a:endParaRPr>
              </a:p>
              <a:p>
                <a:pPr marL="0" lvl="0" indent="457200">
                  <a:buNone/>
                </a:pPr>
                <a:r>
                  <a:rPr lang="en-US" altLang="zh-CN">
                    <a:solidFill>
                      <a:schemeClr val="tx1"/>
                    </a:solidFill>
                  </a:rPr>
                  <a:t>2</a:t>
                </a:r>
                <a:r>
                  <a:rPr lang="zh-CN" altLang="en-US">
                    <a:solidFill>
                      <a:schemeClr val="tx1"/>
                    </a:solidFill>
                  </a:rPr>
                  <a:t>）在满足</a:t>
                </a:r>
                <a:r>
                  <a:rPr lang="en-US" altLang="zh-CN">
                    <a:solidFill>
                      <a:schemeClr val="tx1"/>
                    </a:solidFill>
                  </a:rPr>
                  <a:t>KKT</a:t>
                </a:r>
                <a:r>
                  <a:rPr lang="zh-CN" altLang="en-US">
                    <a:solidFill>
                      <a:schemeClr val="tx1"/>
                    </a:solidFill>
                  </a:rPr>
                  <a:t>条件下，根据拉格朗日乘子法的对偶性质将无约束条件的最优化问题转化为其对偶问题；</a:t>
                </a:r>
                <a:endParaRPr lang="zh-CN" altLang="en-US">
                  <a:solidFill>
                    <a:schemeClr val="tx1"/>
                  </a:solidFill>
                </a:endParaRPr>
              </a:p>
              <a:p>
                <a:pPr marL="0" lvl="0" indent="457200">
                  <a:lnSpc>
                    <a:spcPct val="20000"/>
                  </a:lnSpc>
                  <a:buNone/>
                </a:pPr>
                <a:endParaRPr lang="zh-CN" altLang="en-US">
                  <a:solidFill>
                    <a:schemeClr val="tx1"/>
                  </a:solidFill>
                </a:endParaRPr>
              </a:p>
              <a:p>
                <a:pPr marL="0" lvl="0" indent="457200">
                  <a:buNone/>
                </a:pPr>
                <a:r>
                  <a:rPr lang="en-US" altLang="zh-CN">
                    <a:solidFill>
                      <a:schemeClr val="tx1"/>
                    </a:solidFill>
                  </a:rPr>
                  <a:t>3</a:t>
                </a:r>
                <a:r>
                  <a:rPr lang="zh-CN" altLang="en-US">
                    <a:solidFill>
                      <a:schemeClr val="tx1"/>
                    </a:solidFill>
                  </a:rPr>
                  <a:t>）求解对偶问题对</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𝒘</m:t>
                    </m:r>
                  </m:oMath>
                </a14:m>
                <a:r>
                  <a:rPr lang="zh-CN" altLang="en-US">
                    <a:solidFill>
                      <a:schemeClr val="tx1"/>
                    </a:solidFill>
                  </a:rPr>
                  <a:t>和</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𝑏</m:t>
                    </m:r>
                  </m:oMath>
                </a14:m>
                <a:r>
                  <a:rPr lang="zh-CN" altLang="en-US">
                    <a:solidFill>
                      <a:schemeClr val="tx1"/>
                    </a:solidFill>
                  </a:rPr>
                  <a:t>的偏导，得到</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𝒘</m:t>
                    </m:r>
                  </m:oMath>
                </a14:m>
                <a:r>
                  <a:rPr lang="zh-CN" altLang="en-US">
                    <a:solidFill>
                      <a:schemeClr val="tx1"/>
                    </a:solidFill>
                    <a:latin typeface="Cambria Math" panose="02040503050406030204" pitchFamily="18" charset="0"/>
                    <a:cs typeface="Cambria Math" panose="02040503050406030204" pitchFamily="18" charset="0"/>
                  </a:rPr>
                  <a:t>与拉格朗日乘子</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𝜶</m:t>
                    </m:r>
                  </m:oMath>
                </a14:m>
                <a:r>
                  <a:rPr lang="zh-CN" altLang="en-US">
                    <a:solidFill>
                      <a:schemeClr val="tx1"/>
                    </a:solidFill>
                    <a:latin typeface="Cambria Math" panose="02040503050406030204" pitchFamily="18" charset="0"/>
                    <a:cs typeface="Cambria Math" panose="02040503050406030204" pitchFamily="18" charset="0"/>
                  </a:rPr>
                  <a:t>的关系，同时得到拉格朗日乘子的约束条件，将</a:t>
                </a: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r>
                  <a:rPr lang="zh-CN" altLang="en-US">
                    <a:solidFill>
                      <a:schemeClr val="tx1"/>
                    </a:solidFill>
                    <a:latin typeface="Cambria Math" panose="02040503050406030204" pitchFamily="18" charset="0"/>
                    <a:cs typeface="Cambria Math" panose="02040503050406030204" pitchFamily="18" charset="0"/>
                  </a:rPr>
                  <a:t> </a:t>
                </a:r>
                <a:r>
                  <a:rPr lang="en-US" altLang="zh-CN">
                    <a:solidFill>
                      <a:schemeClr val="tx1"/>
                    </a:solidFill>
                    <a:latin typeface="Cambria Math" panose="02040503050406030204" pitchFamily="18" charset="0"/>
                    <a:cs typeface="Cambria Math" panose="02040503050406030204" pitchFamily="18" charset="0"/>
                  </a:rPr>
                  <a:t>      </a:t>
                </a:r>
                <a:r>
                  <a:rPr lang="zh-CN" altLang="en-US">
                    <a:solidFill>
                      <a:schemeClr val="tx1"/>
                    </a:solidFill>
                    <a:latin typeface="Cambria Math" panose="02040503050406030204" pitchFamily="18" charset="0"/>
                    <a:cs typeface="Cambria Math" panose="02040503050406030204" pitchFamily="18" charset="0"/>
                  </a:rPr>
                  <a:t>关系带入对偶问题，简化为只有</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𝜶</m:t>
                    </m:r>
                  </m:oMath>
                </a14:m>
                <a:r>
                  <a:rPr lang="zh-CN" altLang="en-US">
                    <a:solidFill>
                      <a:schemeClr val="tx1"/>
                    </a:solidFill>
                    <a:latin typeface="Cambria Math" panose="02040503050406030204" pitchFamily="18" charset="0"/>
                    <a:cs typeface="Cambria Math" panose="02040503050406030204" pitchFamily="18" charset="0"/>
                  </a:rPr>
                  <a:t>为变量的最优化问题；</a:t>
                </a:r>
                <a:endParaRPr lang="zh-CN" altLang="en-US">
                  <a:solidFill>
                    <a:schemeClr val="tx1"/>
                  </a:solidFill>
                  <a:latin typeface="Cambria Math" panose="02040503050406030204" pitchFamily="18" charset="0"/>
                  <a:cs typeface="Cambria Math" panose="02040503050406030204" pitchFamily="18" charset="0"/>
                </a:endParaRPr>
              </a:p>
              <a:p>
                <a:pPr marL="0" lvl="0" indent="457200">
                  <a:lnSpc>
                    <a:spcPct val="20000"/>
                  </a:lnSpc>
                  <a:buNone/>
                </a:pP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r>
                  <a:rPr lang="en-US" altLang="zh-CN">
                    <a:solidFill>
                      <a:schemeClr val="tx1"/>
                    </a:solidFill>
                    <a:latin typeface="Cambria Math" panose="02040503050406030204" pitchFamily="18" charset="0"/>
                    <a:cs typeface="Cambria Math" panose="02040503050406030204" pitchFamily="18" charset="0"/>
                  </a:rPr>
                  <a:t>4</a:t>
                </a:r>
                <a:r>
                  <a:rPr lang="zh-CN" altLang="en-US">
                    <a:solidFill>
                      <a:schemeClr val="tx1"/>
                    </a:solidFill>
                    <a:latin typeface="Cambria Math" panose="02040503050406030204" pitchFamily="18" charset="0"/>
                    <a:cs typeface="Cambria Math" panose="02040503050406030204" pitchFamily="18" charset="0"/>
                  </a:rPr>
                  <a:t>）求解该最优化问题对各个训练数据所对应的拉格朗日乘子</a:t>
                </a:r>
                <a14:m>
                  <m:oMath xmlns:m="http://schemas.openxmlformats.org/officeDocument/2006/math">
                    <m:sSub>
                      <m:sSubPr>
                        <m:ctrlPr>
                          <a:rPr lang="en-US" altLang="zh-CN" i="1">
                            <a:solidFill>
                              <a:schemeClr val="tx1"/>
                            </a:solidFill>
                            <a:latin typeface="Cambria Math" panose="02040503050406030204" pitchFamily="18" charset="0"/>
                            <a:cs typeface="Cambria Math" panose="02040503050406030204" pitchFamily="18" charset="0"/>
                          </a:rPr>
                        </m:ctrlPr>
                      </m:sSubPr>
                      <m:e>
                        <m:r>
                          <a:rPr lang="en-US" altLang="zh-CN" i="1">
                            <a:solidFill>
                              <a:schemeClr val="tx1"/>
                            </a:solidFill>
                            <a:latin typeface="Cambria Math" panose="02040503050406030204" pitchFamily="18" charset="0"/>
                            <a:cs typeface="Cambria Math" panose="02040503050406030204" pitchFamily="18" charset="0"/>
                          </a:rPr>
                          <m:t>𝛼</m:t>
                        </m:r>
                      </m:e>
                      <m:sub>
                        <m:r>
                          <a:rPr lang="en-US" altLang="zh-CN" i="1">
                            <a:solidFill>
                              <a:schemeClr val="tx1"/>
                            </a:solidFill>
                            <a:latin typeface="Cambria Math" panose="02040503050406030204" pitchFamily="18" charset="0"/>
                            <a:cs typeface="Cambria Math" panose="02040503050406030204" pitchFamily="18" charset="0"/>
                          </a:rPr>
                          <m:t>𝑖</m:t>
                        </m:r>
                      </m:sub>
                    </m:sSub>
                  </m:oMath>
                </a14:m>
                <a:r>
                  <a:rPr lang="zh-CN" altLang="en-US">
                    <a:solidFill>
                      <a:schemeClr val="tx1"/>
                    </a:solidFill>
                    <a:latin typeface="Cambria Math" panose="02040503050406030204" pitchFamily="18" charset="0"/>
                    <a:cs typeface="Cambria Math" panose="02040503050406030204" pitchFamily="18" charset="0"/>
                  </a:rPr>
                  <a:t>的偏导，最终得到</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𝜶</m:t>
                    </m:r>
                  </m:oMath>
                </a14:m>
                <a:r>
                  <a:rPr lang="zh-CN" altLang="en-US">
                    <a:solidFill>
                      <a:schemeClr val="tx1"/>
                    </a:solidFill>
                    <a:latin typeface="Cambria Math" panose="02040503050406030204" pitchFamily="18" charset="0"/>
                    <a:cs typeface="Cambria Math" panose="02040503050406030204" pitchFamily="18" charset="0"/>
                  </a:rPr>
                  <a:t>；根据</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𝜶</m:t>
                    </m:r>
                  </m:oMath>
                </a14:m>
                <a:r>
                  <a:rPr lang="zh-CN" altLang="en-US">
                    <a:solidFill>
                      <a:schemeClr val="tx1"/>
                    </a:solidFill>
                    <a:latin typeface="Cambria Math" panose="02040503050406030204" pitchFamily="18" charset="0"/>
                    <a:cs typeface="Cambria Math" panose="02040503050406030204" pitchFamily="18" charset="0"/>
                  </a:rPr>
                  <a:t>得到</a:t>
                </a:r>
                <a14:m>
                  <m:oMath xmlns:m="http://schemas.openxmlformats.org/officeDocument/2006/math">
                    <m:r>
                      <a:rPr lang="en-US" altLang="zh-CN" b="1" i="1">
                        <a:solidFill>
                          <a:schemeClr val="tx1"/>
                        </a:solidFill>
                        <a:latin typeface="Cambria Math" panose="02040503050406030204" pitchFamily="18" charset="0"/>
                        <a:cs typeface="Cambria Math" panose="02040503050406030204" pitchFamily="18" charset="0"/>
                      </a:rPr>
                      <m:t>𝒘</m:t>
                    </m:r>
                  </m:oMath>
                </a14:m>
                <a:r>
                  <a:rPr lang="zh-CN" altLang="en-US">
                    <a:solidFill>
                      <a:schemeClr val="tx1"/>
                    </a:solidFill>
                    <a:latin typeface="Cambria Math" panose="02040503050406030204" pitchFamily="18" charset="0"/>
                    <a:cs typeface="Cambria Math" panose="02040503050406030204" pitchFamily="18" charset="0"/>
                  </a:rPr>
                  <a:t>和</a:t>
                </a:r>
                <a14:m>
                  <m:oMath xmlns:m="http://schemas.openxmlformats.org/officeDocument/2006/math">
                    <m:r>
                      <a:rPr lang="en-US" altLang="zh-CN" i="1">
                        <a:solidFill>
                          <a:schemeClr val="tx1"/>
                        </a:solidFill>
                        <a:latin typeface="Cambria Math" panose="02040503050406030204" pitchFamily="18" charset="0"/>
                        <a:cs typeface="Cambria Math" panose="02040503050406030204" pitchFamily="18" charset="0"/>
                      </a:rPr>
                      <m:t>𝑏</m:t>
                    </m:r>
                  </m:oMath>
                </a14:m>
                <a:r>
                  <a:rPr lang="zh-CN" altLang="en-US">
                    <a:solidFill>
                      <a:schemeClr val="tx1"/>
                    </a:solidFill>
                    <a:latin typeface="Cambria Math" panose="02040503050406030204" pitchFamily="18" charset="0"/>
                    <a:cs typeface="Cambria Math" panose="02040503050406030204" pitchFamily="18" charset="0"/>
                  </a:rPr>
                  <a:t>，即</a:t>
                </a: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r>
                  <a:rPr lang="zh-CN" altLang="en-US">
                    <a:solidFill>
                      <a:schemeClr val="tx1"/>
                    </a:solidFill>
                    <a:latin typeface="Cambria Math" panose="02040503050406030204" pitchFamily="18" charset="0"/>
                    <a:cs typeface="Cambria Math" panose="02040503050406030204" pitchFamily="18" charset="0"/>
                  </a:rPr>
                  <a:t> </a:t>
                </a:r>
                <a:r>
                  <a:rPr lang="en-US" altLang="zh-CN">
                    <a:solidFill>
                      <a:schemeClr val="tx1"/>
                    </a:solidFill>
                    <a:latin typeface="Cambria Math" panose="02040503050406030204" pitchFamily="18" charset="0"/>
                    <a:cs typeface="Cambria Math" panose="02040503050406030204" pitchFamily="18" charset="0"/>
                  </a:rPr>
                  <a:t>      </a:t>
                </a:r>
                <a:r>
                  <a:rPr lang="zh-CN" altLang="en-US">
                    <a:solidFill>
                      <a:schemeClr val="tx1"/>
                    </a:solidFill>
                    <a:latin typeface="Cambria Math" panose="02040503050406030204" pitchFamily="18" charset="0"/>
                    <a:cs typeface="Cambria Math" panose="02040503050406030204" pitchFamily="18" charset="0"/>
                  </a:rPr>
                  <a:t>得到最优划分超平面</a:t>
                </a:r>
                <a:endParaRPr lang="zh-CN" altLang="en-US">
                  <a:solidFill>
                    <a:schemeClr val="tx1"/>
                  </a:solidFill>
                  <a:latin typeface="Cambria Math" panose="02040503050406030204" pitchFamily="18" charset="0"/>
                  <a:cs typeface="Cambria Math" panose="02040503050406030204" pitchFamily="18" charset="0"/>
                </a:endParaRPr>
              </a:p>
              <a:p>
                <a:pPr marL="0" lvl="0" indent="457200">
                  <a:buNone/>
                </a:pPr>
                <a:endParaRPr lang="zh-CN" altLang="en-US">
                  <a:solidFill>
                    <a:schemeClr val="tx1"/>
                  </a:solidFill>
                  <a:latin typeface="Cambria Math" panose="02040503050406030204" pitchFamily="18" charset="0"/>
                  <a:cs typeface="Cambria Math" panose="02040503050406030204" pitchFamily="18" charset="0"/>
                </a:endParaRPr>
              </a:p>
              <a:p>
                <a:pPr marL="0" lvl="0" algn="l" eaLnBrk="0" hangingPunct="0">
                  <a:lnSpc>
                    <a:spcPct val="150000"/>
                  </a:lnSpc>
                  <a:buClr>
                    <a:schemeClr val="folHlink"/>
                  </a:buClr>
                  <a:buSzTx/>
                  <a:buFontTx/>
                  <a:buNone/>
                </a:pPr>
                <a:r>
                  <a:rPr lang="zh-CN" altLang="en-US" b="1">
                    <a:solidFill>
                      <a:srgbClr val="0070C0"/>
                    </a:solidFill>
                  </a:rPr>
                  <a:t>如何通过软间隔方法来获得真正最优的划分超平面？</a:t>
                </a:r>
                <a:endParaRPr lang="zh-CN" altLang="en-US" b="1">
                  <a:solidFill>
                    <a:srgbClr val="0070C0"/>
                  </a:solidFill>
                </a:endParaRPr>
              </a:p>
              <a:p>
                <a:pPr marL="0" lvl="0" indent="457200">
                  <a:lnSpc>
                    <a:spcPct val="40000"/>
                  </a:lnSpc>
                  <a:buNone/>
                </a:pPr>
                <a:endParaRPr lang="en-US" altLang="zh-CN" b="1"/>
              </a:p>
              <a:p>
                <a:pPr marL="0" lvl="0" indent="457200">
                  <a:buNone/>
                </a:pPr>
                <a:r>
                  <a:rPr lang="en-US" altLang="zh-CN" b="1"/>
                  <a:t>-- </a:t>
                </a:r>
                <a:r>
                  <a:rPr lang="zh-CN" altLang="en-US">
                    <a:latin typeface="Cambria Math" panose="02040503050406030204" pitchFamily="18" charset="0"/>
                    <a:cs typeface="Cambria Math" panose="02040503050406030204" pitchFamily="18" charset="0"/>
                  </a:rPr>
                  <a:t>通过引入松弛因子</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𝜉</m:t>
                        </m:r>
                      </m:e>
                      <m:sub>
                        <m:r>
                          <a:rPr lang="en-US" altLang="zh-CN" i="1">
                            <a:latin typeface="Cambria Math" panose="02040503050406030204" pitchFamily="18" charset="0"/>
                            <a:cs typeface="Cambria Math" panose="02040503050406030204" pitchFamily="18" charset="0"/>
                          </a:rPr>
                          <m:t>𝑖</m:t>
                        </m:r>
                      </m:sub>
                    </m:sSub>
                  </m:oMath>
                </a14:m>
                <a:r>
                  <a:rPr lang="zh-CN" altLang="en-US">
                    <a:latin typeface="Cambria Math" panose="02040503050406030204" pitchFamily="18" charset="0"/>
                    <a:cs typeface="Cambria Math" panose="02040503050406030204" pitchFamily="18" charset="0"/>
                  </a:rPr>
                  <a:t>实现</a:t>
                </a:r>
                <a:endParaRPr lang="zh-CN" altLang="en-US">
                  <a:latin typeface="Cambria Math" panose="02040503050406030204" pitchFamily="18" charset="0"/>
                  <a:cs typeface="Cambria Math" panose="02040503050406030204" pitchFamily="18"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292100" y="1196340"/>
                <a:ext cx="11348720" cy="4881245"/>
              </a:xfrm>
              <a:prstGeom prst="rect">
                <a:avLst/>
              </a:prstGeom>
              <a:blipFill rotWithShape="1">
                <a:blip r:embed="rId1"/>
                <a:stretch>
                  <a:fillRect/>
                </a:stretch>
              </a:blipFill>
            </p:spPr>
            <p:txBody>
              <a:bodyPr/>
              <a:lstStyle/>
              <a:p>
                <a:r>
                  <a:rPr lang="zh-CN" altLang="en-US">
                    <a:noFill/>
                  </a:rPr>
                  <a:t> </a:t>
                </a:r>
              </a:p>
            </p:txBody>
          </p:sp>
        </mc:Fallback>
      </mc:AlternateContent>
      <p:sp>
        <p:nvSpPr>
          <p:cNvPr id="7" name="矩形 6"/>
          <p:cNvSpPr/>
          <p:nvPr>
            <p:custDataLst>
              <p:tags r:id="rId2"/>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3"/>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4"/>
            </p:custDataLst>
          </p:nvPr>
        </p:nvSpPr>
        <p:spPr>
          <a:xfrm>
            <a:off x="420370" y="323215"/>
            <a:ext cx="220281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知识点总结</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92100" y="1196340"/>
            <a:ext cx="11348720" cy="3717925"/>
          </a:xfrm>
          <a:prstGeom prst="rect">
            <a:avLst/>
          </a:prstGeom>
          <a:noFill/>
        </p:spPr>
        <p:txBody>
          <a:bodyPr wrap="square" rtlCol="0">
            <a:spAutoFit/>
          </a:bodyPr>
          <a:lstStyle/>
          <a:p>
            <a:pPr algn="l" eaLnBrk="0" hangingPunct="0">
              <a:lnSpc>
                <a:spcPct val="150000"/>
              </a:lnSpc>
              <a:buClr>
                <a:schemeClr val="folHlink"/>
              </a:buClr>
              <a:buSzTx/>
              <a:buFontTx/>
            </a:pPr>
            <a:r>
              <a:rPr lang="zh-CN" altLang="en-US" b="1">
                <a:solidFill>
                  <a:srgbClr val="0070C0"/>
                </a:solidFill>
              </a:rPr>
              <a:t>支持向量机引入核函数的作用？</a:t>
            </a:r>
            <a:endParaRPr lang="zh-CN" altLang="en-US" b="1">
              <a:solidFill>
                <a:srgbClr val="0070C0"/>
              </a:solidFill>
            </a:endParaRPr>
          </a:p>
          <a:p>
            <a:pPr>
              <a:lnSpc>
                <a:spcPct val="40000"/>
              </a:lnSpc>
            </a:pPr>
            <a:endParaRPr lang="zh-CN" altLang="en-US">
              <a:solidFill>
                <a:schemeClr val="accent1"/>
              </a:solidFill>
              <a:effectLst>
                <a:outerShdw blurRad="38100" dist="25400" dir="5400000" algn="ctr" rotWithShape="0">
                  <a:srgbClr val="6E747A">
                    <a:alpha val="43000"/>
                  </a:srgbClr>
                </a:outerShdw>
              </a:effectLst>
            </a:endParaRPr>
          </a:p>
          <a:p>
            <a:pPr indent="457200"/>
            <a:r>
              <a:rPr lang="en-US" altLang="zh-CN" b="1"/>
              <a:t>-- </a:t>
            </a:r>
            <a:r>
              <a:rPr lang="zh-CN" altLang="en-US">
                <a:sym typeface="+mn-ea"/>
              </a:rPr>
              <a:t>当样本所处的低维空间线性不可分时，通过核函数将其映射到高维特征空间获取最优划分平面，同时核函</a:t>
            </a:r>
            <a:endParaRPr lang="zh-CN" altLang="en-US">
              <a:sym typeface="+mn-ea"/>
            </a:endParaRPr>
          </a:p>
          <a:p>
            <a:pPr indent="457200">
              <a:lnSpc>
                <a:spcPct val="20000"/>
              </a:lnSpc>
            </a:pPr>
            <a:r>
              <a:rPr lang="zh-CN" altLang="en-US">
                <a:sym typeface="+mn-ea"/>
              </a:rPr>
              <a:t> </a:t>
            </a:r>
            <a:r>
              <a:rPr lang="en-US" altLang="zh-CN">
                <a:sym typeface="+mn-ea"/>
              </a:rPr>
              <a:t>   </a:t>
            </a:r>
            <a:endParaRPr lang="en-US" altLang="zh-CN">
              <a:sym typeface="+mn-ea"/>
            </a:endParaRPr>
          </a:p>
          <a:p>
            <a:pPr indent="457200"/>
            <a:r>
              <a:rPr lang="en-US" altLang="zh-CN">
                <a:sym typeface="+mn-ea"/>
              </a:rPr>
              <a:t>    </a:t>
            </a:r>
            <a:r>
              <a:rPr lang="zh-CN" altLang="en-US">
                <a:sym typeface="+mn-ea"/>
              </a:rPr>
              <a:t>数也可以防止映射到高维特征空间后所导致的计算量剧增</a:t>
            </a:r>
            <a:endParaRPr lang="zh-CN" altLang="en-US">
              <a:sym typeface="+mn-ea"/>
            </a:endParaRPr>
          </a:p>
          <a:p>
            <a:pPr indent="457200"/>
            <a:endParaRPr lang="zh-CN" altLang="en-US"/>
          </a:p>
          <a:p>
            <a:pPr marL="0" lvl="0" algn="l" eaLnBrk="0" hangingPunct="0">
              <a:lnSpc>
                <a:spcPct val="150000"/>
              </a:lnSpc>
              <a:buClr>
                <a:schemeClr val="folHlink"/>
              </a:buClr>
              <a:buSzTx/>
              <a:buFontTx/>
              <a:buNone/>
            </a:pPr>
            <a:r>
              <a:rPr lang="zh-CN" altLang="en-US" b="1">
                <a:solidFill>
                  <a:srgbClr val="0070C0"/>
                </a:solidFill>
              </a:rPr>
              <a:t>支持向量机如何解决多分类问题？</a:t>
            </a:r>
            <a:endParaRPr lang="zh-CN" altLang="en-US" b="1">
              <a:solidFill>
                <a:srgbClr val="0070C0"/>
              </a:solidFill>
            </a:endParaRPr>
          </a:p>
          <a:p>
            <a:pPr marL="0" lvl="0" indent="0">
              <a:lnSpc>
                <a:spcPct val="40000"/>
              </a:lnSpc>
              <a:buNone/>
            </a:pPr>
            <a:endParaRPr lang="zh-CN" altLang="en-US">
              <a:solidFill>
                <a:schemeClr val="tx1"/>
              </a:solidFill>
            </a:endParaRPr>
          </a:p>
          <a:p>
            <a:pPr marL="0" lvl="0" indent="457200">
              <a:buNone/>
            </a:pPr>
            <a:r>
              <a:rPr lang="en-US" b="1">
                <a:solidFill>
                  <a:schemeClr val="tx1"/>
                </a:solidFill>
              </a:rPr>
              <a:t>-- </a:t>
            </a:r>
            <a:r>
              <a:rPr lang="zh-CN" altLang="en-US">
                <a:sym typeface="+mn-ea"/>
              </a:rPr>
              <a:t>通过修改目标函数，将多分类问题中的多个参数整合到一个函数中</a:t>
            </a:r>
            <a:r>
              <a:rPr lang="en-US" altLang="zh-CN">
                <a:sym typeface="+mn-ea"/>
              </a:rPr>
              <a:t>(</a:t>
            </a:r>
            <a:r>
              <a:rPr lang="zh-CN" altLang="en-US">
                <a:sym typeface="+mn-ea"/>
              </a:rPr>
              <a:t>直接法</a:t>
            </a:r>
            <a:r>
              <a:rPr lang="en-US" altLang="zh-CN">
                <a:sym typeface="+mn-ea"/>
              </a:rPr>
              <a:t>)</a:t>
            </a:r>
            <a:r>
              <a:rPr lang="zh-CN" altLang="en-US">
                <a:sym typeface="+mn-ea"/>
              </a:rPr>
              <a:t>；或组合多个二分类器来实现</a:t>
            </a:r>
            <a:endParaRPr lang="zh-CN" altLang="en-US">
              <a:sym typeface="+mn-ea"/>
            </a:endParaRPr>
          </a:p>
          <a:p>
            <a:pPr marL="0" lvl="0" indent="457200">
              <a:lnSpc>
                <a:spcPct val="20000"/>
              </a:lnSpc>
              <a:buNone/>
            </a:pPr>
            <a:endParaRPr lang="zh-CN" altLang="en-US">
              <a:sym typeface="+mn-ea"/>
            </a:endParaRPr>
          </a:p>
          <a:p>
            <a:pPr marL="0" lvl="0" indent="457200">
              <a:buNone/>
            </a:pPr>
            <a:r>
              <a:rPr lang="zh-CN" altLang="en-US">
                <a:sym typeface="+mn-ea"/>
              </a:rPr>
              <a:t> </a:t>
            </a:r>
            <a:r>
              <a:rPr lang="en-US" altLang="zh-CN">
                <a:sym typeface="+mn-ea"/>
              </a:rPr>
              <a:t>   </a:t>
            </a:r>
            <a:r>
              <a:rPr lang="zh-CN" altLang="en-US">
                <a:sym typeface="+mn-ea"/>
              </a:rPr>
              <a:t>多分类器的构造</a:t>
            </a:r>
            <a:r>
              <a:rPr lang="en-US" altLang="zh-CN">
                <a:sym typeface="+mn-ea"/>
              </a:rPr>
              <a:t>(</a:t>
            </a:r>
            <a:r>
              <a:rPr lang="zh-CN" altLang="en-US">
                <a:sym typeface="+mn-ea"/>
              </a:rPr>
              <a:t>间接法</a:t>
            </a:r>
            <a:r>
              <a:rPr lang="en-US" altLang="zh-CN">
                <a:sym typeface="+mn-ea"/>
              </a:rPr>
              <a:t>)</a:t>
            </a:r>
            <a:endParaRPr lang="en-US" altLang="zh-CN">
              <a:sym typeface="+mn-ea"/>
            </a:endParaRPr>
          </a:p>
          <a:p>
            <a:pPr marL="0" lvl="0" indent="457200">
              <a:buNone/>
            </a:pPr>
            <a:endParaRPr lang="zh-CN" altLang="en-US">
              <a:solidFill>
                <a:schemeClr val="tx1"/>
              </a:solidFill>
              <a:latin typeface="Cambria Math" panose="02040503050406030204" pitchFamily="18" charset="0"/>
              <a:cs typeface="Cambria Math" panose="02040503050406030204" pitchFamily="18" charset="0"/>
            </a:endParaRPr>
          </a:p>
          <a:p>
            <a:pPr marL="0" lvl="0" algn="l" eaLnBrk="0" hangingPunct="0">
              <a:lnSpc>
                <a:spcPct val="150000"/>
              </a:lnSpc>
              <a:buClr>
                <a:schemeClr val="folHlink"/>
              </a:buClr>
              <a:buSzTx/>
              <a:buFontTx/>
              <a:buNone/>
            </a:pPr>
            <a:r>
              <a:rPr lang="zh-CN" altLang="en-US" b="1">
                <a:solidFill>
                  <a:srgbClr val="0070C0"/>
                </a:solidFill>
                <a:sym typeface="+mn-ea"/>
              </a:rPr>
              <a:t>支持向量机如何解决回归问题</a:t>
            </a:r>
            <a:r>
              <a:rPr lang="zh-CN" altLang="en-US" b="1">
                <a:solidFill>
                  <a:srgbClr val="0070C0"/>
                </a:solidFill>
              </a:rPr>
              <a:t>？</a:t>
            </a:r>
            <a:endParaRPr lang="zh-CN" altLang="en-US" b="1">
              <a:solidFill>
                <a:srgbClr val="0070C0"/>
              </a:solidFill>
            </a:endParaRPr>
          </a:p>
          <a:p>
            <a:pPr marL="0" lvl="0" indent="457200">
              <a:lnSpc>
                <a:spcPct val="40000"/>
              </a:lnSpc>
              <a:buNone/>
            </a:pPr>
            <a:endParaRPr lang="en-US" altLang="zh-CN" b="1"/>
          </a:p>
          <a:p>
            <a:pPr marL="0" lvl="0" indent="457200">
              <a:buNone/>
            </a:pPr>
            <a:r>
              <a:rPr lang="en-US" altLang="zh-CN" b="1"/>
              <a:t>-- </a:t>
            </a:r>
            <a:r>
              <a:rPr lang="zh-CN" altLang="en-US"/>
              <a:t>通过</a:t>
            </a:r>
            <a:r>
              <a:rPr lang="zh-CN" altLang="en-US">
                <a:sym typeface="+mn-ea"/>
              </a:rPr>
              <a:t>支持向量回归方法</a:t>
            </a:r>
            <a:endParaRPr lang="zh-CN" altLang="en-US">
              <a:latin typeface="Cambria Math" panose="02040503050406030204" pitchFamily="18" charset="0"/>
              <a:cs typeface="Cambria Math" panose="02040503050406030204" pitchFamily="18" charset="0"/>
            </a:endParaRPr>
          </a:p>
        </p:txBody>
      </p:sp>
      <p:sp>
        <p:nvSpPr>
          <p:cNvPr id="7" name="矩形 6"/>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20370" y="323215"/>
            <a:ext cx="220281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知识点总结</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391780"/>
            <a:ext cx="1473958" cy="573206"/>
            <a:chOff x="0" y="696036"/>
            <a:chExt cx="1473958" cy="573206"/>
          </a:xfrm>
        </p:grpSpPr>
        <p:sp>
          <p:nvSpPr>
            <p:cNvPr id="5" name="矩形 4"/>
            <p:cNvSpPr/>
            <p:nvPr/>
          </p:nvSpPr>
          <p:spPr>
            <a:xfrm>
              <a:off x="0" y="696036"/>
              <a:ext cx="1473958" cy="5732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6" name="文本框 5"/>
            <p:cNvSpPr txBox="1"/>
            <p:nvPr/>
          </p:nvSpPr>
          <p:spPr>
            <a:xfrm>
              <a:off x="69215" y="752551"/>
              <a:ext cx="1404620" cy="460375"/>
            </a:xfrm>
            <a:prstGeom prst="rect">
              <a:avLst/>
            </a:prstGeom>
            <a:noFill/>
          </p:spPr>
          <p:txBody>
            <a:bodyPr wrap="square" rtlCol="0">
              <a:spAutoFit/>
            </a:bodyPr>
            <a:lstStyle/>
            <a:p>
              <a:pPr algn="r"/>
              <a:r>
                <a:rPr lang="zh-CN" altLang="en-US" sz="2400" dirty="0">
                  <a:solidFill>
                    <a:schemeClr val="bg1"/>
                  </a:solidFill>
                </a:rPr>
                <a:t>本节内容</a:t>
              </a:r>
              <a:endParaRPr lang="zh-CN" altLang="en-US" sz="2400" dirty="0">
                <a:solidFill>
                  <a:schemeClr val="bg1"/>
                </a:solidFill>
              </a:endParaRPr>
            </a:p>
          </p:txBody>
        </p:sp>
      </p:grpSp>
      <p:sp>
        <p:nvSpPr>
          <p:cNvPr id="7" name="文本框 6"/>
          <p:cNvSpPr txBox="1"/>
          <p:nvPr/>
        </p:nvSpPr>
        <p:spPr>
          <a:xfrm>
            <a:off x="1528549" y="324737"/>
            <a:ext cx="2565779" cy="706755"/>
          </a:xfrm>
          <a:prstGeom prst="rect">
            <a:avLst/>
          </a:prstGeom>
          <a:noFill/>
        </p:spPr>
        <p:txBody>
          <a:bodyPr wrap="square" rtlCol="0">
            <a:spAutoFit/>
          </a:bodyPr>
          <a:lstStyle/>
          <a:p>
            <a:r>
              <a:rPr lang="en-US" altLang="zh-CN" sz="4000" b="1" dirty="0">
                <a:solidFill>
                  <a:schemeClr val="accent1">
                    <a:lumMod val="75000"/>
                  </a:schemeClr>
                </a:solidFill>
                <a:latin typeface="Times New Roman" panose="02020603050405020304" charset="0"/>
                <a:cs typeface="Times New Roman" panose="02020603050405020304" charset="0"/>
              </a:rPr>
              <a:t>C</a:t>
            </a:r>
            <a:r>
              <a:rPr lang="en-US" altLang="zh-CN" sz="2000" b="1" dirty="0">
                <a:solidFill>
                  <a:schemeClr val="accent1">
                    <a:lumMod val="75000"/>
                  </a:schemeClr>
                </a:solidFill>
                <a:latin typeface="Times New Roman" panose="02020603050405020304" charset="0"/>
                <a:cs typeface="Times New Roman" panose="02020603050405020304" charset="0"/>
              </a:rPr>
              <a:t>ONTENT</a:t>
            </a:r>
            <a:endParaRPr lang="zh-CN" altLang="en-US" sz="2000" b="1" dirty="0">
              <a:solidFill>
                <a:schemeClr val="accent1">
                  <a:lumMod val="75000"/>
                </a:schemeClr>
              </a:solidFill>
              <a:latin typeface="Times New Roman" panose="02020603050405020304" charset="0"/>
              <a:cs typeface="Times New Roman" panose="02020603050405020304" charset="0"/>
            </a:endParaRPr>
          </a:p>
        </p:txBody>
      </p:sp>
      <p:cxnSp>
        <p:nvCxnSpPr>
          <p:cNvPr id="8" name="直接连接符 7"/>
          <p:cNvCxnSpPr/>
          <p:nvPr/>
        </p:nvCxnSpPr>
        <p:spPr>
          <a:xfrm flipH="1">
            <a:off x="4778692" y="1048426"/>
            <a:ext cx="6985" cy="5101590"/>
          </a:xfrm>
          <a:prstGeom prst="line">
            <a:avLst/>
          </a:prstGeom>
          <a:ln w="38100">
            <a:solidFill>
              <a:srgbClr val="2E75B6"/>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252182" y="2075717"/>
            <a:ext cx="1920554" cy="1870488"/>
            <a:chOff x="4796805" y="-215900"/>
            <a:chExt cx="2093913" cy="2122488"/>
          </a:xfrm>
          <a:solidFill>
            <a:srgbClr val="0070C0"/>
          </a:solidFill>
        </p:grpSpPr>
        <p:sp>
          <p:nvSpPr>
            <p:cNvPr id="10" name="Freeform 6"/>
            <p:cNvSpPr>
              <a:spLocks noEditPoints="1"/>
            </p:cNvSpPr>
            <p:nvPr/>
          </p:nvSpPr>
          <p:spPr bwMode="auto">
            <a:xfrm>
              <a:off x="4796805" y="-215900"/>
              <a:ext cx="2093913" cy="2122488"/>
            </a:xfrm>
            <a:custGeom>
              <a:avLst/>
              <a:gdLst>
                <a:gd name="T0" fmla="*/ 1391 w 2783"/>
                <a:gd name="T1" fmla="*/ 0 h 2783"/>
                <a:gd name="T2" fmla="*/ 0 w 2783"/>
                <a:gd name="T3" fmla="*/ 1391 h 2783"/>
                <a:gd name="T4" fmla="*/ 1391 w 2783"/>
                <a:gd name="T5" fmla="*/ 2783 h 2783"/>
                <a:gd name="T6" fmla="*/ 2783 w 2783"/>
                <a:gd name="T7" fmla="*/ 1391 h 2783"/>
                <a:gd name="T8" fmla="*/ 1391 w 2783"/>
                <a:gd name="T9" fmla="*/ 0 h 2783"/>
                <a:gd name="T10" fmla="*/ 1391 w 2783"/>
                <a:gd name="T11" fmla="*/ 55 h 2783"/>
                <a:gd name="T12" fmla="*/ 55 w 2783"/>
                <a:gd name="T13" fmla="*/ 1391 h 2783"/>
                <a:gd name="T14" fmla="*/ 1391 w 2783"/>
                <a:gd name="T15" fmla="*/ 2728 h 2783"/>
                <a:gd name="T16" fmla="*/ 2728 w 2783"/>
                <a:gd name="T17" fmla="*/ 1391 h 2783"/>
                <a:gd name="T18" fmla="*/ 1391 w 2783"/>
                <a:gd name="T19" fmla="*/ 55 h 27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3" h="2783">
                  <a:moveTo>
                    <a:pt x="1391" y="0"/>
                  </a:moveTo>
                  <a:cubicBezTo>
                    <a:pt x="623" y="0"/>
                    <a:pt x="0" y="623"/>
                    <a:pt x="0" y="1391"/>
                  </a:cubicBezTo>
                  <a:cubicBezTo>
                    <a:pt x="0" y="2160"/>
                    <a:pt x="623" y="2783"/>
                    <a:pt x="1391" y="2783"/>
                  </a:cubicBezTo>
                  <a:cubicBezTo>
                    <a:pt x="2160" y="2783"/>
                    <a:pt x="2783" y="2160"/>
                    <a:pt x="2783" y="1391"/>
                  </a:cubicBezTo>
                  <a:cubicBezTo>
                    <a:pt x="2783" y="623"/>
                    <a:pt x="2160" y="0"/>
                    <a:pt x="1391" y="0"/>
                  </a:cubicBezTo>
                  <a:close/>
                  <a:moveTo>
                    <a:pt x="1391" y="55"/>
                  </a:moveTo>
                  <a:cubicBezTo>
                    <a:pt x="654" y="55"/>
                    <a:pt x="55" y="654"/>
                    <a:pt x="55" y="1391"/>
                  </a:cubicBezTo>
                  <a:cubicBezTo>
                    <a:pt x="55" y="2129"/>
                    <a:pt x="654" y="2728"/>
                    <a:pt x="1391" y="2728"/>
                  </a:cubicBezTo>
                  <a:cubicBezTo>
                    <a:pt x="2129" y="2728"/>
                    <a:pt x="2728" y="2129"/>
                    <a:pt x="2728" y="1391"/>
                  </a:cubicBezTo>
                  <a:cubicBezTo>
                    <a:pt x="2728" y="654"/>
                    <a:pt x="2129" y="55"/>
                    <a:pt x="1391" y="55"/>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sp>
          <p:nvSpPr>
            <p:cNvPr id="11" name="Freeform 7"/>
            <p:cNvSpPr>
              <a:spLocks noEditPoints="1"/>
            </p:cNvSpPr>
            <p:nvPr/>
          </p:nvSpPr>
          <p:spPr bwMode="auto">
            <a:xfrm>
              <a:off x="5168280" y="0"/>
              <a:ext cx="1360488" cy="1641475"/>
            </a:xfrm>
            <a:custGeom>
              <a:avLst/>
              <a:gdLst>
                <a:gd name="T0" fmla="*/ 870 w 1809"/>
                <a:gd name="T1" fmla="*/ 879 h 2152"/>
                <a:gd name="T2" fmla="*/ 870 w 1809"/>
                <a:gd name="T3" fmla="*/ 2152 h 2152"/>
                <a:gd name="T4" fmla="*/ 1809 w 1809"/>
                <a:gd name="T5" fmla="*/ 1820 h 2152"/>
                <a:gd name="T6" fmla="*/ 1809 w 1809"/>
                <a:gd name="T7" fmla="*/ 547 h 2152"/>
                <a:gd name="T8" fmla="*/ 870 w 1809"/>
                <a:gd name="T9" fmla="*/ 879 h 2152"/>
                <a:gd name="T10" fmla="*/ 785 w 1809"/>
                <a:gd name="T11" fmla="*/ 961 h 2152"/>
                <a:gd name="T12" fmla="*/ 785 w 1809"/>
                <a:gd name="T13" fmla="*/ 1138 h 2152"/>
                <a:gd name="T14" fmla="*/ 613 w 1809"/>
                <a:gd name="T15" fmla="*/ 1053 h 2152"/>
                <a:gd name="T16" fmla="*/ 613 w 1809"/>
                <a:gd name="T17" fmla="*/ 864 h 2152"/>
                <a:gd name="T18" fmla="*/ 785 w 1809"/>
                <a:gd name="T19" fmla="*/ 961 h 2152"/>
                <a:gd name="T20" fmla="*/ 1555 w 1809"/>
                <a:gd name="T21" fmla="*/ 410 h 2152"/>
                <a:gd name="T22" fmla="*/ 1507 w 1809"/>
                <a:gd name="T23" fmla="*/ 386 h 2152"/>
                <a:gd name="T24" fmla="*/ 602 w 1809"/>
                <a:gd name="T25" fmla="*/ 700 h 2152"/>
                <a:gd name="T26" fmla="*/ 576 w 1809"/>
                <a:gd name="T27" fmla="*/ 724 h 2152"/>
                <a:gd name="T28" fmla="*/ 576 w 1809"/>
                <a:gd name="T29" fmla="*/ 2017 h 2152"/>
                <a:gd name="T30" fmla="*/ 822 w 1809"/>
                <a:gd name="T31" fmla="*/ 2149 h 2152"/>
                <a:gd name="T32" fmla="*/ 822 w 1809"/>
                <a:gd name="T33" fmla="*/ 879 h 2152"/>
                <a:gd name="T34" fmla="*/ 622 w 1809"/>
                <a:gd name="T35" fmla="*/ 772 h 2152"/>
                <a:gd name="T36" fmla="*/ 625 w 1809"/>
                <a:gd name="T37" fmla="*/ 772 h 2152"/>
                <a:gd name="T38" fmla="*/ 1531 w 1809"/>
                <a:gd name="T39" fmla="*/ 457 h 2152"/>
                <a:gd name="T40" fmla="*/ 1555 w 1809"/>
                <a:gd name="T41" fmla="*/ 410 h 2152"/>
                <a:gd name="T42" fmla="*/ 209 w 1809"/>
                <a:gd name="T43" fmla="*/ 581 h 2152"/>
                <a:gd name="T44" fmla="*/ 209 w 1809"/>
                <a:gd name="T45" fmla="*/ 758 h 2152"/>
                <a:gd name="T46" fmla="*/ 37 w 1809"/>
                <a:gd name="T47" fmla="*/ 673 h 2152"/>
                <a:gd name="T48" fmla="*/ 37 w 1809"/>
                <a:gd name="T49" fmla="*/ 484 h 2152"/>
                <a:gd name="T50" fmla="*/ 209 w 1809"/>
                <a:gd name="T51" fmla="*/ 581 h 2152"/>
                <a:gd name="T52" fmla="*/ 978 w 1809"/>
                <a:gd name="T53" fmla="*/ 30 h 2152"/>
                <a:gd name="T54" fmla="*/ 931 w 1809"/>
                <a:gd name="T55" fmla="*/ 6 h 2152"/>
                <a:gd name="T56" fmla="*/ 25 w 1809"/>
                <a:gd name="T57" fmla="*/ 321 h 2152"/>
                <a:gd name="T58" fmla="*/ 0 w 1809"/>
                <a:gd name="T59" fmla="*/ 344 h 2152"/>
                <a:gd name="T60" fmla="*/ 0 w 1809"/>
                <a:gd name="T61" fmla="*/ 1638 h 2152"/>
                <a:gd name="T62" fmla="*/ 246 w 1809"/>
                <a:gd name="T63" fmla="*/ 1770 h 2152"/>
                <a:gd name="T64" fmla="*/ 246 w 1809"/>
                <a:gd name="T65" fmla="*/ 500 h 2152"/>
                <a:gd name="T66" fmla="*/ 46 w 1809"/>
                <a:gd name="T67" fmla="*/ 393 h 2152"/>
                <a:gd name="T68" fmla="*/ 49 w 1809"/>
                <a:gd name="T69" fmla="*/ 392 h 2152"/>
                <a:gd name="T70" fmla="*/ 954 w 1809"/>
                <a:gd name="T71" fmla="*/ 77 h 2152"/>
                <a:gd name="T72" fmla="*/ 978 w 1809"/>
                <a:gd name="T73" fmla="*/ 30 h 2152"/>
                <a:gd name="T74" fmla="*/ 497 w 1809"/>
                <a:gd name="T75" fmla="*/ 781 h 2152"/>
                <a:gd name="T76" fmla="*/ 497 w 1809"/>
                <a:gd name="T77" fmla="*/ 958 h 2152"/>
                <a:gd name="T78" fmla="*/ 325 w 1809"/>
                <a:gd name="T79" fmla="*/ 873 h 2152"/>
                <a:gd name="T80" fmla="*/ 325 w 1809"/>
                <a:gd name="T81" fmla="*/ 684 h 2152"/>
                <a:gd name="T82" fmla="*/ 497 w 1809"/>
                <a:gd name="T83" fmla="*/ 781 h 2152"/>
                <a:gd name="T84" fmla="*/ 1266 w 1809"/>
                <a:gd name="T85" fmla="*/ 230 h 2152"/>
                <a:gd name="T86" fmla="*/ 1219 w 1809"/>
                <a:gd name="T87" fmla="*/ 206 h 2152"/>
                <a:gd name="T88" fmla="*/ 313 w 1809"/>
                <a:gd name="T89" fmla="*/ 520 h 2152"/>
                <a:gd name="T90" fmla="*/ 288 w 1809"/>
                <a:gd name="T91" fmla="*/ 544 h 2152"/>
                <a:gd name="T92" fmla="*/ 288 w 1809"/>
                <a:gd name="T93" fmla="*/ 1837 h 2152"/>
                <a:gd name="T94" fmla="*/ 534 w 1809"/>
                <a:gd name="T95" fmla="*/ 1969 h 2152"/>
                <a:gd name="T96" fmla="*/ 534 w 1809"/>
                <a:gd name="T97" fmla="*/ 699 h 2152"/>
                <a:gd name="T98" fmla="*/ 334 w 1809"/>
                <a:gd name="T99" fmla="*/ 592 h 2152"/>
                <a:gd name="T100" fmla="*/ 337 w 1809"/>
                <a:gd name="T101" fmla="*/ 592 h 2152"/>
                <a:gd name="T102" fmla="*/ 1243 w 1809"/>
                <a:gd name="T103" fmla="*/ 277 h 2152"/>
                <a:gd name="T104" fmla="*/ 1266 w 1809"/>
                <a:gd name="T105" fmla="*/ 230 h 2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09" h="2152">
                  <a:moveTo>
                    <a:pt x="870" y="879"/>
                  </a:moveTo>
                  <a:lnTo>
                    <a:pt x="870" y="2152"/>
                  </a:lnTo>
                  <a:lnTo>
                    <a:pt x="1809" y="1820"/>
                  </a:lnTo>
                  <a:lnTo>
                    <a:pt x="1809" y="547"/>
                  </a:lnTo>
                  <a:lnTo>
                    <a:pt x="870" y="879"/>
                  </a:lnTo>
                  <a:close/>
                  <a:moveTo>
                    <a:pt x="785" y="961"/>
                  </a:moveTo>
                  <a:lnTo>
                    <a:pt x="785" y="1138"/>
                  </a:lnTo>
                  <a:cubicBezTo>
                    <a:pt x="699" y="1121"/>
                    <a:pt x="613" y="1053"/>
                    <a:pt x="613" y="1053"/>
                  </a:cubicBezTo>
                  <a:lnTo>
                    <a:pt x="613" y="864"/>
                  </a:lnTo>
                  <a:cubicBezTo>
                    <a:pt x="719" y="950"/>
                    <a:pt x="785" y="961"/>
                    <a:pt x="785" y="961"/>
                  </a:cubicBezTo>
                  <a:close/>
                  <a:moveTo>
                    <a:pt x="1555" y="410"/>
                  </a:moveTo>
                  <a:cubicBezTo>
                    <a:pt x="1548" y="390"/>
                    <a:pt x="1527" y="379"/>
                    <a:pt x="1507" y="386"/>
                  </a:cubicBezTo>
                  <a:lnTo>
                    <a:pt x="602" y="700"/>
                  </a:lnTo>
                  <a:cubicBezTo>
                    <a:pt x="590" y="704"/>
                    <a:pt x="580" y="713"/>
                    <a:pt x="576" y="724"/>
                  </a:cubicBezTo>
                  <a:lnTo>
                    <a:pt x="576" y="2017"/>
                  </a:lnTo>
                  <a:cubicBezTo>
                    <a:pt x="608" y="2080"/>
                    <a:pt x="741" y="2149"/>
                    <a:pt x="822" y="2149"/>
                  </a:cubicBezTo>
                  <a:lnTo>
                    <a:pt x="822" y="879"/>
                  </a:lnTo>
                  <a:cubicBezTo>
                    <a:pt x="779" y="873"/>
                    <a:pt x="682" y="822"/>
                    <a:pt x="622" y="772"/>
                  </a:cubicBezTo>
                  <a:cubicBezTo>
                    <a:pt x="623" y="772"/>
                    <a:pt x="624" y="772"/>
                    <a:pt x="625" y="772"/>
                  </a:cubicBezTo>
                  <a:lnTo>
                    <a:pt x="1531" y="457"/>
                  </a:lnTo>
                  <a:cubicBezTo>
                    <a:pt x="1550" y="450"/>
                    <a:pt x="1561" y="429"/>
                    <a:pt x="1555" y="410"/>
                  </a:cubicBezTo>
                  <a:close/>
                  <a:moveTo>
                    <a:pt x="209" y="581"/>
                  </a:moveTo>
                  <a:lnTo>
                    <a:pt x="209" y="758"/>
                  </a:lnTo>
                  <a:cubicBezTo>
                    <a:pt x="123" y="742"/>
                    <a:pt x="37" y="673"/>
                    <a:pt x="37" y="673"/>
                  </a:cubicBezTo>
                  <a:lnTo>
                    <a:pt x="37" y="484"/>
                  </a:lnTo>
                  <a:cubicBezTo>
                    <a:pt x="143" y="570"/>
                    <a:pt x="209" y="581"/>
                    <a:pt x="209" y="581"/>
                  </a:cubicBezTo>
                  <a:close/>
                  <a:moveTo>
                    <a:pt x="978" y="30"/>
                  </a:moveTo>
                  <a:cubicBezTo>
                    <a:pt x="972" y="11"/>
                    <a:pt x="951" y="0"/>
                    <a:pt x="931" y="6"/>
                  </a:cubicBezTo>
                  <a:lnTo>
                    <a:pt x="25" y="321"/>
                  </a:lnTo>
                  <a:cubicBezTo>
                    <a:pt x="14" y="325"/>
                    <a:pt x="3" y="334"/>
                    <a:pt x="0" y="344"/>
                  </a:cubicBezTo>
                  <a:lnTo>
                    <a:pt x="0" y="1638"/>
                  </a:lnTo>
                  <a:cubicBezTo>
                    <a:pt x="32" y="1700"/>
                    <a:pt x="165" y="1770"/>
                    <a:pt x="246" y="1770"/>
                  </a:cubicBezTo>
                  <a:lnTo>
                    <a:pt x="246" y="500"/>
                  </a:lnTo>
                  <a:cubicBezTo>
                    <a:pt x="203" y="493"/>
                    <a:pt x="106" y="443"/>
                    <a:pt x="46" y="393"/>
                  </a:cubicBezTo>
                  <a:cubicBezTo>
                    <a:pt x="47" y="393"/>
                    <a:pt x="48" y="392"/>
                    <a:pt x="49" y="392"/>
                  </a:cubicBezTo>
                  <a:lnTo>
                    <a:pt x="954" y="77"/>
                  </a:lnTo>
                  <a:cubicBezTo>
                    <a:pt x="974" y="71"/>
                    <a:pt x="985" y="50"/>
                    <a:pt x="978" y="30"/>
                  </a:cubicBezTo>
                  <a:close/>
                  <a:moveTo>
                    <a:pt x="497" y="781"/>
                  </a:moveTo>
                  <a:lnTo>
                    <a:pt x="497" y="958"/>
                  </a:lnTo>
                  <a:cubicBezTo>
                    <a:pt x="411" y="941"/>
                    <a:pt x="325" y="873"/>
                    <a:pt x="325" y="873"/>
                  </a:cubicBezTo>
                  <a:lnTo>
                    <a:pt x="325" y="684"/>
                  </a:lnTo>
                  <a:cubicBezTo>
                    <a:pt x="431" y="770"/>
                    <a:pt x="497" y="781"/>
                    <a:pt x="497" y="781"/>
                  </a:cubicBezTo>
                  <a:close/>
                  <a:moveTo>
                    <a:pt x="1266" y="230"/>
                  </a:moveTo>
                  <a:cubicBezTo>
                    <a:pt x="1260" y="210"/>
                    <a:pt x="1239" y="199"/>
                    <a:pt x="1219" y="206"/>
                  </a:cubicBezTo>
                  <a:lnTo>
                    <a:pt x="313" y="520"/>
                  </a:lnTo>
                  <a:cubicBezTo>
                    <a:pt x="302" y="524"/>
                    <a:pt x="291" y="533"/>
                    <a:pt x="288" y="544"/>
                  </a:cubicBezTo>
                  <a:lnTo>
                    <a:pt x="288" y="1837"/>
                  </a:lnTo>
                  <a:cubicBezTo>
                    <a:pt x="320" y="1900"/>
                    <a:pt x="453" y="1969"/>
                    <a:pt x="534" y="1969"/>
                  </a:cubicBezTo>
                  <a:lnTo>
                    <a:pt x="534" y="699"/>
                  </a:lnTo>
                  <a:cubicBezTo>
                    <a:pt x="491" y="693"/>
                    <a:pt x="394" y="642"/>
                    <a:pt x="334" y="592"/>
                  </a:cubicBezTo>
                  <a:cubicBezTo>
                    <a:pt x="335" y="592"/>
                    <a:pt x="336" y="592"/>
                    <a:pt x="337" y="592"/>
                  </a:cubicBezTo>
                  <a:lnTo>
                    <a:pt x="1243" y="277"/>
                  </a:lnTo>
                  <a:cubicBezTo>
                    <a:pt x="1262" y="270"/>
                    <a:pt x="1273" y="249"/>
                    <a:pt x="1266" y="230"/>
                  </a:cubicBez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ym typeface="+mn-ea"/>
              </a:endParaRPr>
            </a:p>
          </p:txBody>
        </p:sp>
      </p:grpSp>
      <p:sp>
        <p:nvSpPr>
          <p:cNvPr id="2" name="文本框 1"/>
          <p:cNvSpPr txBox="1"/>
          <p:nvPr>
            <p:custDataLst>
              <p:tags r:id="rId1"/>
            </p:custDataLst>
          </p:nvPr>
        </p:nvSpPr>
        <p:spPr>
          <a:xfrm>
            <a:off x="4879975" y="854710"/>
            <a:ext cx="6861175" cy="5236845"/>
          </a:xfrm>
          <a:prstGeom prst="rect">
            <a:avLst/>
          </a:prstGeom>
          <a:noFill/>
        </p:spPr>
        <p:txBody>
          <a:bodyPr wrap="square" rtlCol="0">
            <a:noAutofit/>
            <a:scene3d>
              <a:camera prst="orthographicFront"/>
              <a:lightRig rig="threePt" dir="t"/>
            </a:scene3d>
          </a:bodyPr>
          <a:lstStyle/>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什么是支持向量机？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如何得到最优划分超平面？</a:t>
            </a:r>
            <a:endParaRPr lang="zh-CN" altLang="en-US" sz="2800" b="1" spc="200" dirty="0">
              <a:solidFill>
                <a:schemeClr val="tx1"/>
              </a:solidFill>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软间隔</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核函数</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sym typeface="+mn-ea"/>
              </a:rPr>
              <a:t>支持向量机解决多分类问题和回归问题</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Python实现支持向量机</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uFillTx/>
                <a:latin typeface="微软雅黑" panose="020B0503020204020204" charset="-122"/>
                <a:ea typeface="微软雅黑" panose="020B0503020204020204" charset="-122"/>
                <a:cs typeface="+mj-cs"/>
              </a:rPr>
              <a:t>知识点总结</a:t>
            </a:r>
            <a:endParaRPr lang="zh-CN" altLang="en-US" sz="2800" b="1" spc="200" dirty="0">
              <a:uFillTx/>
              <a:latin typeface="微软雅黑" panose="020B0503020204020204" charset="-122"/>
              <a:ea typeface="微软雅黑" panose="020B0503020204020204" charset="-122"/>
              <a:cs typeface="+mj-cs"/>
            </a:endParaRPr>
          </a:p>
          <a:p>
            <a:pPr algn="l">
              <a:lnSpc>
                <a:spcPct val="150000"/>
              </a:lnSpc>
              <a:buClrTx/>
              <a:buSzTx/>
              <a:buFontTx/>
            </a:pPr>
            <a:r>
              <a:rPr lang="zh-CN" altLang="en-US" sz="2800" b="1" spc="200" dirty="0">
                <a:solidFill>
                  <a:srgbClr val="2E75B6"/>
                </a:solidFill>
                <a:uFillTx/>
                <a:latin typeface="微软雅黑" panose="020B0503020204020204" charset="-122"/>
                <a:ea typeface="微软雅黑" panose="020B0503020204020204" charset="-122"/>
                <a:cs typeface="+mj-cs"/>
              </a:rPr>
              <a:t>思考题</a:t>
            </a:r>
            <a:endParaRPr lang="zh-CN" altLang="en-US" sz="2800" b="1" spc="200" dirty="0">
              <a:solidFill>
                <a:srgbClr val="2E75B6"/>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1625" y="1289050"/>
            <a:ext cx="11321415" cy="3765550"/>
          </a:xfrm>
          <a:prstGeom prst="rect">
            <a:avLst/>
          </a:prstGeom>
          <a:noFill/>
        </p:spPr>
        <p:txBody>
          <a:bodyPr wrap="square" rtlCol="0" anchor="t">
            <a:noAutofit/>
          </a:bodyPr>
          <a:lstStyle/>
          <a:p>
            <a:r>
              <a:rPr lang="en-US" altLang="zh-CN" b="1">
                <a:sym typeface="+mn-ea"/>
              </a:rPr>
              <a:t>5-1 </a:t>
            </a:r>
            <a:r>
              <a:rPr lang="zh-CN" altLang="en-US">
                <a:latin typeface="Cambria Math" panose="02040503050406030204" pitchFamily="18" charset="0"/>
                <a:cs typeface="Cambria Math" panose="02040503050406030204" pitchFamily="18" charset="0"/>
                <a:sym typeface="+mn-ea"/>
              </a:rPr>
              <a:t>将支持向量机</a:t>
            </a:r>
            <a:r>
              <a:rPr lang="en-US" altLang="zh-CN">
                <a:latin typeface="Cambria Math" panose="02040503050406030204" pitchFamily="18" charset="0"/>
                <a:cs typeface="Cambria Math" panose="02040503050406030204" pitchFamily="18" charset="0"/>
                <a:sym typeface="+mn-ea"/>
              </a:rPr>
              <a:t>SVM</a:t>
            </a:r>
            <a:r>
              <a:rPr lang="zh-CN" altLang="en-US">
                <a:latin typeface="Cambria Math" panose="02040503050406030204" pitchFamily="18" charset="0"/>
                <a:cs typeface="Cambria Math" panose="02040503050406030204" pitchFamily="18" charset="0"/>
                <a:sym typeface="+mn-ea"/>
              </a:rPr>
              <a:t>由</a:t>
            </a:r>
            <a:r>
              <a:rPr lang="en-US" altLang="zh-CN">
                <a:latin typeface="Cambria Math" panose="02040503050406030204" pitchFamily="18" charset="0"/>
                <a:cs typeface="Cambria Math" panose="02040503050406030204" pitchFamily="18" charset="0"/>
                <a:sym typeface="+mn-ea"/>
              </a:rPr>
              <a:t>基本型</a:t>
            </a:r>
            <a:r>
              <a:rPr lang="zh-CN" altLang="en-US">
                <a:latin typeface="Cambria Math" panose="02040503050406030204" pitchFamily="18" charset="0"/>
                <a:cs typeface="Cambria Math" panose="02040503050406030204" pitchFamily="18" charset="0"/>
                <a:sym typeface="+mn-ea"/>
              </a:rPr>
              <a:t>推导至最终只含拉格朗日乘子形式</a:t>
            </a:r>
            <a:endParaRPr lang="zh-CN" altLang="en-US">
              <a:latin typeface="Cambria Math" panose="02040503050406030204" pitchFamily="18" charset="0"/>
              <a:cs typeface="Cambria Math" panose="02040503050406030204" pitchFamily="18" charset="0"/>
              <a:sym typeface="+mn-ea"/>
            </a:endParaRPr>
          </a:p>
          <a:p>
            <a:endParaRPr lang="zh-CN" altLang="en-US">
              <a:latin typeface="Cambria Math" panose="02040503050406030204" pitchFamily="18" charset="0"/>
              <a:cs typeface="Cambria Math" panose="02040503050406030204" pitchFamily="18" charset="0"/>
              <a:sym typeface="+mn-ea"/>
            </a:endParaRPr>
          </a:p>
          <a:p>
            <a:r>
              <a:rPr lang="en-US" altLang="zh-CN" b="1">
                <a:sym typeface="+mn-ea"/>
              </a:rPr>
              <a:t>5-2 </a:t>
            </a:r>
            <a:r>
              <a:rPr lang="zh-CN">
                <a:latin typeface="Cambria Math" panose="02040503050406030204" pitchFamily="18" charset="0"/>
                <a:cs typeface="Cambria Math" panose="02040503050406030204" pitchFamily="18" charset="0"/>
                <a:sym typeface="+mn-ea"/>
              </a:rPr>
              <a:t>代码题：</a:t>
            </a:r>
            <a:endParaRPr lang="zh-CN">
              <a:latin typeface="Cambria Math" panose="02040503050406030204" pitchFamily="18" charset="0"/>
              <a:cs typeface="Cambria Math" panose="02040503050406030204" pitchFamily="18" charset="0"/>
              <a:sym typeface="+mn-ea"/>
            </a:endParaRPr>
          </a:p>
          <a:p>
            <a:pPr indent="457200">
              <a:lnSpc>
                <a:spcPct val="150000"/>
              </a:lnSpc>
            </a:pPr>
            <a:r>
              <a:rPr lang="zh-CN">
                <a:latin typeface="Cambria Math" panose="02040503050406030204" pitchFamily="18" charset="0"/>
                <a:cs typeface="Cambria Math" panose="02040503050406030204" pitchFamily="18" charset="0"/>
                <a:sym typeface="+mn-ea"/>
              </a:rPr>
              <a:t>使用 scikit-learn 库构建一个支持向量机（SVM）模型来进行二分类任务。请完成以下步骤：</a:t>
            </a:r>
            <a:endParaRPr lang="zh-CN" altLang="en-US">
              <a:latin typeface="Cambria Math" panose="02040503050406030204" pitchFamily="18" charset="0"/>
              <a:cs typeface="Cambria Math" panose="02040503050406030204" pitchFamily="18" charset="0"/>
              <a:sym typeface="+mn-ea"/>
            </a:endParaRPr>
          </a:p>
          <a:p>
            <a:pPr marL="800100" lvl="1" indent="-342900">
              <a:lnSpc>
                <a:spcPct val="150000"/>
              </a:lnSpc>
              <a:buFont typeface="+mj-lt"/>
              <a:buAutoNum type="arabicPeriod"/>
            </a:pPr>
            <a:r>
              <a:rPr lang="zh-CN" altLang="en-US" sz="1600">
                <a:latin typeface="Cambria Math" panose="02040503050406030204" pitchFamily="18" charset="0"/>
                <a:cs typeface="Cambria Math" panose="02040503050406030204" pitchFamily="18" charset="0"/>
                <a:sym typeface="+mn-ea"/>
              </a:rPr>
              <a:t>导入必要的库。</a:t>
            </a:r>
            <a:endParaRPr lang="zh-CN" altLang="en-US" sz="1600">
              <a:latin typeface="Cambria Math" panose="02040503050406030204" pitchFamily="18" charset="0"/>
              <a:cs typeface="Cambria Math" panose="02040503050406030204" pitchFamily="18" charset="0"/>
              <a:sym typeface="+mn-ea"/>
            </a:endParaRPr>
          </a:p>
          <a:p>
            <a:pPr marL="800100" lvl="1" indent="-342900">
              <a:lnSpc>
                <a:spcPct val="150000"/>
              </a:lnSpc>
              <a:buFont typeface="+mj-lt"/>
              <a:buAutoNum type="arabicPeriod"/>
            </a:pPr>
            <a:r>
              <a:rPr lang="zh-CN" altLang="en-US" sz="1600">
                <a:latin typeface="Cambria Math" panose="02040503050406030204" pitchFamily="18" charset="0"/>
                <a:cs typeface="Cambria Math" panose="02040503050406030204" pitchFamily="18" charset="0"/>
                <a:sym typeface="+mn-ea"/>
              </a:rPr>
              <a:t>使用 make_classification 创建一个模拟二分类数据集。</a:t>
            </a:r>
            <a:endParaRPr lang="zh-CN" altLang="en-US" sz="1600">
              <a:latin typeface="Cambria Math" panose="02040503050406030204" pitchFamily="18" charset="0"/>
              <a:cs typeface="Cambria Math" panose="02040503050406030204" pitchFamily="18" charset="0"/>
              <a:sym typeface="+mn-ea"/>
            </a:endParaRPr>
          </a:p>
          <a:p>
            <a:pPr marL="800100" lvl="1" indent="-342900">
              <a:lnSpc>
                <a:spcPct val="150000"/>
              </a:lnSpc>
              <a:buFont typeface="+mj-lt"/>
              <a:buAutoNum type="arabicPeriod"/>
            </a:pPr>
            <a:r>
              <a:rPr lang="zh-CN" altLang="en-US" sz="1600">
                <a:latin typeface="Cambria Math" panose="02040503050406030204" pitchFamily="18" charset="0"/>
                <a:cs typeface="Cambria Math" panose="02040503050406030204" pitchFamily="18" charset="0"/>
                <a:sym typeface="+mn-ea"/>
              </a:rPr>
              <a:t>划分数据集为训练集和测试集。</a:t>
            </a:r>
            <a:endParaRPr lang="zh-CN" altLang="en-US" sz="1600">
              <a:latin typeface="Cambria Math" panose="02040503050406030204" pitchFamily="18" charset="0"/>
              <a:cs typeface="Cambria Math" panose="02040503050406030204" pitchFamily="18" charset="0"/>
              <a:sym typeface="+mn-ea"/>
            </a:endParaRPr>
          </a:p>
          <a:p>
            <a:pPr marL="800100" lvl="1" indent="-342900">
              <a:lnSpc>
                <a:spcPct val="150000"/>
              </a:lnSpc>
              <a:buFont typeface="+mj-lt"/>
              <a:buAutoNum type="arabicPeriod"/>
            </a:pPr>
            <a:r>
              <a:rPr lang="zh-CN" altLang="en-US" sz="1600">
                <a:latin typeface="Cambria Math" panose="02040503050406030204" pitchFamily="18" charset="0"/>
                <a:cs typeface="Cambria Math" panose="02040503050406030204" pitchFamily="18" charset="0"/>
                <a:sym typeface="+mn-ea"/>
              </a:rPr>
              <a:t>创建并训练一个支持向量机分类模型。</a:t>
            </a:r>
            <a:endParaRPr lang="zh-CN" altLang="en-US" sz="1600">
              <a:latin typeface="Cambria Math" panose="02040503050406030204" pitchFamily="18" charset="0"/>
              <a:cs typeface="Cambria Math" panose="02040503050406030204" pitchFamily="18" charset="0"/>
              <a:sym typeface="+mn-ea"/>
            </a:endParaRPr>
          </a:p>
          <a:p>
            <a:pPr marL="800100" lvl="1" indent="-342900">
              <a:lnSpc>
                <a:spcPct val="150000"/>
              </a:lnSpc>
              <a:buFont typeface="+mj-lt"/>
              <a:buAutoNum type="arabicPeriod"/>
            </a:pPr>
            <a:r>
              <a:rPr lang="zh-CN" altLang="en-US" sz="1600">
                <a:latin typeface="Cambria Math" panose="02040503050406030204" pitchFamily="18" charset="0"/>
                <a:cs typeface="Cambria Math" panose="02040503050406030204" pitchFamily="18" charset="0"/>
                <a:sym typeface="+mn-ea"/>
              </a:rPr>
              <a:t>使用模型对测试集进行预测。</a:t>
            </a:r>
            <a:endParaRPr lang="zh-CN" altLang="en-US" sz="1600">
              <a:latin typeface="Cambria Math" panose="02040503050406030204" pitchFamily="18" charset="0"/>
              <a:cs typeface="Cambria Math" panose="02040503050406030204" pitchFamily="18" charset="0"/>
              <a:sym typeface="+mn-ea"/>
            </a:endParaRPr>
          </a:p>
          <a:p>
            <a:pPr marL="800100" lvl="1" indent="-342900">
              <a:lnSpc>
                <a:spcPct val="150000"/>
              </a:lnSpc>
              <a:buFont typeface="+mj-lt"/>
              <a:buAutoNum type="arabicPeriod"/>
            </a:pPr>
            <a:r>
              <a:rPr lang="zh-CN" altLang="en-US" sz="1600">
                <a:latin typeface="Cambria Math" panose="02040503050406030204" pitchFamily="18" charset="0"/>
                <a:cs typeface="Cambria Math" panose="02040503050406030204" pitchFamily="18" charset="0"/>
                <a:sym typeface="+mn-ea"/>
              </a:rPr>
              <a:t>计算并输出混淆矩阵和准确率</a:t>
            </a:r>
            <a:endParaRPr lang="zh-CN" altLang="en-US" sz="1600">
              <a:latin typeface="Cambria Math" panose="02040503050406030204" pitchFamily="18" charset="0"/>
              <a:cs typeface="Cambria Math" panose="02040503050406030204" pitchFamily="18" charset="0"/>
              <a:sym typeface="+mn-ea"/>
            </a:endParaRPr>
          </a:p>
          <a:p>
            <a:pPr marL="342900" indent="-342900">
              <a:buFont typeface="+mj-lt"/>
              <a:buAutoNum type="arabicPeriod"/>
            </a:pPr>
            <a:endParaRPr lang="zh-CN" altLang="en-US" sz="1600">
              <a:latin typeface="Cambria Math" panose="02040503050406030204" pitchFamily="18" charset="0"/>
              <a:cs typeface="Cambria Math" panose="02040503050406030204" pitchFamily="18" charset="0"/>
              <a:sym typeface="+mn-ea"/>
            </a:endParaRPr>
          </a:p>
        </p:txBody>
      </p:sp>
      <p:sp>
        <p:nvSpPr>
          <p:cNvPr id="7" name="矩形 6"/>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11" name="矩形 10"/>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12" name="文本框 11"/>
          <p:cNvSpPr txBox="1"/>
          <p:nvPr>
            <p:custDataLst>
              <p:tags r:id="rId3"/>
            </p:custDataLst>
          </p:nvPr>
        </p:nvSpPr>
        <p:spPr>
          <a:xfrm>
            <a:off x="420370" y="323215"/>
            <a:ext cx="220281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思考题</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1625" y="1141730"/>
            <a:ext cx="11321415" cy="368300"/>
          </a:xfrm>
          <a:prstGeom prst="rect">
            <a:avLst/>
          </a:prstGeom>
          <a:noFill/>
        </p:spPr>
        <p:txBody>
          <a:bodyPr wrap="square" rtlCol="0" anchor="t">
            <a:spAutoFit/>
          </a:bodyPr>
          <a:lstStyle/>
          <a:p>
            <a:r>
              <a:rPr lang="en-US" altLang="zh-CN" b="1">
                <a:sym typeface="+mn-ea"/>
              </a:rPr>
              <a:t>5-1 </a:t>
            </a:r>
            <a:r>
              <a:rPr lang="zh-CN" altLang="en-US">
                <a:latin typeface="Cambria Math" panose="02040503050406030204" pitchFamily="18" charset="0"/>
                <a:cs typeface="Cambria Math" panose="02040503050406030204" pitchFamily="18" charset="0"/>
                <a:sym typeface="+mn-ea"/>
              </a:rPr>
              <a:t>将支持向量机</a:t>
            </a:r>
            <a:r>
              <a:rPr lang="en-US" altLang="zh-CN">
                <a:latin typeface="Cambria Math" panose="02040503050406030204" pitchFamily="18" charset="0"/>
                <a:cs typeface="Cambria Math" panose="02040503050406030204" pitchFamily="18" charset="0"/>
                <a:sym typeface="+mn-ea"/>
              </a:rPr>
              <a:t>SVM</a:t>
            </a:r>
            <a:r>
              <a:rPr lang="zh-CN" altLang="en-US">
                <a:latin typeface="Cambria Math" panose="02040503050406030204" pitchFamily="18" charset="0"/>
                <a:cs typeface="Cambria Math" panose="02040503050406030204" pitchFamily="18" charset="0"/>
                <a:sym typeface="+mn-ea"/>
              </a:rPr>
              <a:t>由</a:t>
            </a:r>
            <a:r>
              <a:rPr lang="en-US" altLang="zh-CN">
                <a:latin typeface="Cambria Math" panose="02040503050406030204" pitchFamily="18" charset="0"/>
                <a:cs typeface="Cambria Math" panose="02040503050406030204" pitchFamily="18" charset="0"/>
                <a:sym typeface="+mn-ea"/>
              </a:rPr>
              <a:t>基本型</a:t>
            </a:r>
            <a:r>
              <a:rPr lang="zh-CN" altLang="en-US">
                <a:latin typeface="Cambria Math" panose="02040503050406030204" pitchFamily="18" charset="0"/>
                <a:cs typeface="Cambria Math" panose="02040503050406030204" pitchFamily="18" charset="0"/>
                <a:sym typeface="+mn-ea"/>
              </a:rPr>
              <a:t>推导至最终只含拉格朗日乘子形式</a:t>
            </a:r>
            <a:endParaRPr lang="zh-CN" altLang="en-US">
              <a:latin typeface="Cambria Math" panose="02040503050406030204" pitchFamily="18" charset="0"/>
              <a:cs typeface="Cambria Math" panose="02040503050406030204" pitchFamily="18" charset="0"/>
              <a:sym typeface="+mn-ea"/>
            </a:endParaRPr>
          </a:p>
        </p:txBody>
      </p:sp>
      <p:sp>
        <p:nvSpPr>
          <p:cNvPr id="11" name="文本框 10"/>
          <p:cNvSpPr txBox="1"/>
          <p:nvPr/>
        </p:nvSpPr>
        <p:spPr>
          <a:xfrm>
            <a:off x="320675" y="1562735"/>
            <a:ext cx="11303000" cy="2030095"/>
          </a:xfrm>
          <a:prstGeom prst="rect">
            <a:avLst/>
          </a:prstGeom>
          <a:noFill/>
        </p:spPr>
        <p:txBody>
          <a:bodyPr wrap="square" rtlCol="0">
            <a:spAutoFit/>
          </a:bodyPr>
          <a:lstStyle/>
          <a:p>
            <a:r>
              <a:rPr lang="en-US" altLang="zh-CN">
                <a:latin typeface="Cambria Math" panose="02040503050406030204" pitchFamily="18" charset="0"/>
                <a:cs typeface="Cambria Math" panose="02040503050406030204" pitchFamily="18" charset="0"/>
              </a:rPr>
              <a:t>1</a:t>
            </a:r>
            <a:r>
              <a:rPr lang="zh-CN" altLang="en-US">
                <a:latin typeface="Cambria Math" panose="02040503050406030204" pitchFamily="18" charset="0"/>
                <a:cs typeface="Cambria Math" panose="02040503050406030204" pitchFamily="18" charset="0"/>
              </a:rPr>
              <a:t>）将</a:t>
            </a:r>
            <a:r>
              <a:rPr lang="en-US" altLang="zh-CN">
                <a:latin typeface="Cambria Math" panose="02040503050406030204" pitchFamily="18" charset="0"/>
                <a:cs typeface="Cambria Math" panose="02040503050406030204" pitchFamily="18" charset="0"/>
              </a:rPr>
              <a:t>SVM</a:t>
            </a:r>
            <a:r>
              <a:rPr lang="zh-CN" altLang="en-US">
                <a:latin typeface="Cambria Math" panose="02040503050406030204" pitchFamily="18" charset="0"/>
                <a:cs typeface="Cambria Math" panose="02040503050406030204" pitchFamily="18" charset="0"/>
              </a:rPr>
              <a:t>基本型转化为多元函数在约束条件下求极值的标准形式：</a:t>
            </a:r>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endParaRPr lang="en-US" altLang="zh-CN">
              <a:latin typeface="Cambria Math" panose="02040503050406030204" pitchFamily="18" charset="0"/>
              <a:cs typeface="Cambria Math" panose="02040503050406030204" pitchFamily="18" charset="0"/>
            </a:endParaRPr>
          </a:p>
          <a:p>
            <a:r>
              <a:rPr lang="en-US" altLang="zh-CN">
                <a:latin typeface="Cambria Math" panose="02040503050406030204" pitchFamily="18" charset="0"/>
                <a:cs typeface="Cambria Math" panose="02040503050406030204" pitchFamily="18" charset="0"/>
              </a:rPr>
              <a:t>2</a:t>
            </a:r>
            <a:r>
              <a:rPr lang="zh-CN" altLang="en-US">
                <a:latin typeface="Cambria Math" panose="02040503050406030204" pitchFamily="18" charset="0"/>
                <a:cs typeface="Cambria Math" panose="02040503050406030204" pitchFamily="18" charset="0"/>
              </a:rPr>
              <a:t>）通过拉格朗日乘子法将约束条件下的最优化问题转化为无约束条件下的最优化问题：</a:t>
            </a:r>
            <a:endParaRPr lang="zh-CN" altLang="en-US">
              <a:latin typeface="Cambria Math" panose="02040503050406030204" pitchFamily="18" charset="0"/>
              <a:cs typeface="Cambria Math" panose="02040503050406030204" pitchFamily="18" charset="0"/>
            </a:endParaRPr>
          </a:p>
        </p:txBody>
      </p:sp>
      <mc:AlternateContent xmlns:mc="http://schemas.openxmlformats.org/markup-compatibility/2006">
        <mc:Choice xmlns:a14="http://schemas.microsoft.com/office/drawing/2010/main" Requires="a14">
          <p:sp>
            <p:nvSpPr>
              <p:cNvPr id="12" name="文本框 11"/>
              <p:cNvSpPr txBox="1"/>
              <p:nvPr/>
            </p:nvSpPr>
            <p:spPr>
              <a:xfrm>
                <a:off x="419735" y="1924050"/>
                <a:ext cx="4028440" cy="115125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2" name="文本框 11"/>
              <p:cNvSpPr txBox="1">
                <a:spLocks noRot="1" noChangeAspect="1" noMove="1" noResize="1" noEditPoints="1" noAdjustHandles="1" noChangeArrowheads="1" noChangeShapeType="1" noTextEdit="1"/>
              </p:cNvSpPr>
              <p:nvPr/>
            </p:nvSpPr>
            <p:spPr>
              <a:xfrm>
                <a:off x="419735" y="1924050"/>
                <a:ext cx="4028440" cy="1151255"/>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117590" y="1924685"/>
                <a:ext cx="4403725" cy="115125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0</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3" name="文本框 12"/>
              <p:cNvSpPr txBox="1">
                <a:spLocks noRot="1" noChangeAspect="1" noMove="1" noResize="1" noEditPoints="1" noAdjustHandles="1" noChangeArrowheads="1" noChangeShapeType="1" noTextEdit="1"/>
              </p:cNvSpPr>
              <p:nvPr/>
            </p:nvSpPr>
            <p:spPr>
              <a:xfrm>
                <a:off x="6117590" y="1924685"/>
                <a:ext cx="4403725" cy="115125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638300" y="231584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14" name="文本框 13"/>
              <p:cNvSpPr txBox="1">
                <a:spLocks noRot="1" noChangeAspect="1" noMove="1" noResize="1" noEditPoints="1" noAdjustHandles="1" noChangeArrowheads="1" noChangeShapeType="1" noTextEdit="1"/>
              </p:cNvSpPr>
              <p:nvPr/>
            </p:nvSpPr>
            <p:spPr>
              <a:xfrm>
                <a:off x="1638300" y="2315845"/>
                <a:ext cx="80899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7471410" y="2316480"/>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15" name="文本框 14"/>
              <p:cNvSpPr txBox="1">
                <a:spLocks noRot="1" noChangeAspect="1" noMove="1" noResize="1" noEditPoints="1" noAdjustHandles="1" noChangeArrowheads="1" noChangeShapeType="1" noTextEdit="1"/>
              </p:cNvSpPr>
              <p:nvPr/>
            </p:nvSpPr>
            <p:spPr>
              <a:xfrm>
                <a:off x="7471410" y="2316480"/>
                <a:ext cx="808990" cy="368300"/>
              </a:xfrm>
              <a:prstGeom prst="rect">
                <a:avLst/>
              </a:prstGeom>
              <a:blipFill rotWithShape="1">
                <a:blip r:embed="rId3"/>
                <a:stretch>
                  <a:fillRect/>
                </a:stretch>
              </a:blipFill>
            </p:spPr>
            <p:txBody>
              <a:bodyPr/>
              <a:lstStyle/>
              <a:p>
                <a:r>
                  <a:rPr lang="zh-CN" altLang="en-US">
                    <a:noFill/>
                  </a:rPr>
                  <a:t> </a:t>
                </a:r>
              </a:p>
            </p:txBody>
          </p:sp>
        </mc:Fallback>
      </mc:AlternateContent>
      <p:sp>
        <p:nvSpPr>
          <p:cNvPr id="16" name="右箭头 15"/>
          <p:cNvSpPr/>
          <p:nvPr/>
        </p:nvSpPr>
        <p:spPr>
          <a:xfrm>
            <a:off x="4596765" y="2198370"/>
            <a:ext cx="1371600" cy="448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7" name="文本框 16"/>
              <p:cNvSpPr txBox="1"/>
              <p:nvPr/>
            </p:nvSpPr>
            <p:spPr>
              <a:xfrm>
                <a:off x="419735" y="3704590"/>
                <a:ext cx="4328160" cy="1151255"/>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oMath>
                  </m:oMathPara>
                </a14:m>
                <a:endParaRPr lang="en-US" altLang="zh-CN" b="1"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sym typeface="+mn-ea"/>
                </a:endParaRPr>
              </a:p>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𝒔</m:t>
                      </m:r>
                      <m:r>
                        <a:rPr lang="en-US" altLang="zh-CN" b="1"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𝒕</m:t>
                      </m:r>
                      <m:r>
                        <a:rPr lang="en-US" altLang="zh-CN" b="1"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0</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𝑖</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1</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2</m:t>
                      </m:r>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𝑚</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7" name="文本框 16"/>
              <p:cNvSpPr txBox="1">
                <a:spLocks noRot="1" noChangeAspect="1" noMove="1" noResize="1" noEditPoints="1" noAdjustHandles="1" noChangeArrowheads="1" noChangeShapeType="1" noTextEdit="1"/>
              </p:cNvSpPr>
              <p:nvPr/>
            </p:nvSpPr>
            <p:spPr>
              <a:xfrm>
                <a:off x="419735" y="3704590"/>
                <a:ext cx="4328160" cy="1151255"/>
              </a:xfrm>
              <a:prstGeom prst="rect">
                <a:avLst/>
              </a:prstGeom>
              <a:blipFill rotWithShape="1">
                <a:blip r:embed="rId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1773555" y="4096385"/>
                <a:ext cx="808990"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en-US" altLang="zh-CN">
                    <a:latin typeface="Cambria Math" panose="02040503050406030204" pitchFamily="18" charset="0"/>
                    <a:cs typeface="Cambria Math" panose="02040503050406030204" pitchFamily="18" charset="0"/>
                    <a:sym typeface="+mn-ea"/>
                  </a:rPr>
                  <a:t>)</a:t>
                </a:r>
                <a:endParaRPr lang="en-US" altLang="zh-CN">
                  <a:latin typeface="Cambria Math" panose="02040503050406030204" pitchFamily="18" charset="0"/>
                  <a:cs typeface="Cambria Math" panose="02040503050406030204" pitchFamily="18" charset="0"/>
                  <a:sym typeface="+mn-ea"/>
                </a:endParaRPr>
              </a:p>
            </p:txBody>
          </p:sp>
        </mc:Choice>
        <mc:Fallback>
          <p:sp>
            <p:nvSpPr>
              <p:cNvPr id="18" name="文本框 17"/>
              <p:cNvSpPr txBox="1">
                <a:spLocks noRot="1" noChangeAspect="1" noMove="1" noResize="1" noEditPoints="1" noAdjustHandles="1" noChangeArrowheads="1" noChangeShapeType="1" noTextEdit="1"/>
              </p:cNvSpPr>
              <p:nvPr/>
            </p:nvSpPr>
            <p:spPr>
              <a:xfrm>
                <a:off x="1773555" y="4096385"/>
                <a:ext cx="808990" cy="36830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5968365" y="3620135"/>
                <a:ext cx="5012690"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19" name="文本框 18"/>
              <p:cNvSpPr txBox="1">
                <a:spLocks noRot="1" noChangeAspect="1" noMove="1" noResize="1" noEditPoints="1" noAdjustHandles="1" noChangeArrowheads="1" noChangeShapeType="1" noTextEdit="1"/>
              </p:cNvSpPr>
              <p:nvPr/>
            </p:nvSpPr>
            <p:spPr>
              <a:xfrm>
                <a:off x="5968365" y="3620135"/>
                <a:ext cx="5012690" cy="844550"/>
              </a:xfrm>
              <a:prstGeom prst="rect">
                <a:avLst/>
              </a:prstGeom>
              <a:blipFill rotWithShape="1">
                <a:blip r:embed="rId5"/>
                <a:stretch>
                  <a:fillRect/>
                </a:stretch>
              </a:blipFill>
            </p:spPr>
            <p:txBody>
              <a:bodyPr/>
              <a:lstStyle/>
              <a:p>
                <a:r>
                  <a:rPr lang="zh-CN" altLang="en-US">
                    <a:noFill/>
                  </a:rPr>
                  <a:t> </a:t>
                </a:r>
              </a:p>
            </p:txBody>
          </p:sp>
        </mc:Fallback>
      </mc:AlternateContent>
      <p:sp>
        <p:nvSpPr>
          <p:cNvPr id="20" name="右箭头 19"/>
          <p:cNvSpPr/>
          <p:nvPr/>
        </p:nvSpPr>
        <p:spPr>
          <a:xfrm>
            <a:off x="4596765" y="3818255"/>
            <a:ext cx="1371600" cy="448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1" name="文本框 20"/>
              <p:cNvSpPr txBox="1"/>
              <p:nvPr/>
            </p:nvSpPr>
            <p:spPr>
              <a:xfrm>
                <a:off x="6053455" y="4096385"/>
                <a:ext cx="791845"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endParaRPr lang="en-US" altLang="zh-CN">
                  <a:latin typeface="Cambria Math" panose="02040503050406030204" pitchFamily="18" charset="0"/>
                  <a:cs typeface="Cambria Math" panose="02040503050406030204" pitchFamily="18" charset="0"/>
                  <a:sym typeface="+mn-ea"/>
                </a:endParaRPr>
              </a:p>
            </p:txBody>
          </p:sp>
        </mc:Choice>
        <mc:Fallback>
          <p:sp>
            <p:nvSpPr>
              <p:cNvPr id="21" name="文本框 20"/>
              <p:cNvSpPr txBox="1">
                <a:spLocks noRot="1" noChangeAspect="1" noMove="1" noResize="1" noEditPoints="1" noAdjustHandles="1" noChangeArrowheads="1" noChangeShapeType="1" noTextEdit="1"/>
              </p:cNvSpPr>
              <p:nvPr/>
            </p:nvSpPr>
            <p:spPr>
              <a:xfrm>
                <a:off x="6053455" y="4096385"/>
                <a:ext cx="791845" cy="36830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p:cNvSpPr txBox="1"/>
              <p:nvPr/>
            </p:nvSpPr>
            <p:spPr>
              <a:xfrm>
                <a:off x="6728460" y="409575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24" name="文本框 23"/>
              <p:cNvSpPr txBox="1">
                <a:spLocks noRot="1" noChangeAspect="1" noMove="1" noResize="1" noEditPoints="1" noAdjustHandles="1" noChangeArrowheads="1" noChangeShapeType="1" noTextEdit="1"/>
              </p:cNvSpPr>
              <p:nvPr/>
            </p:nvSpPr>
            <p:spPr>
              <a:xfrm>
                <a:off x="6728460" y="4095750"/>
                <a:ext cx="439420" cy="368300"/>
              </a:xfrm>
              <a:prstGeom prst="rect">
                <a:avLst/>
              </a:prstGeom>
              <a:blipFill rotWithShape="1">
                <a:blip r:embed="rId7"/>
                <a:stretch>
                  <a:fillRect/>
                </a:stretch>
              </a:blipFill>
            </p:spPr>
            <p:txBody>
              <a:bodyPr/>
              <a:lstStyle/>
              <a:p>
                <a:r>
                  <a:rPr lang="zh-CN" altLang="en-US">
                    <a:noFill/>
                  </a:rPr>
                  <a:t> </a:t>
                </a:r>
              </a:p>
            </p:txBody>
          </p:sp>
        </mc:Fallback>
      </mc:AlternateContent>
      <p:sp>
        <p:nvSpPr>
          <p:cNvPr id="6" name="文本框 5"/>
          <p:cNvSpPr txBox="1"/>
          <p:nvPr/>
        </p:nvSpPr>
        <p:spPr>
          <a:xfrm>
            <a:off x="238125" y="4967605"/>
            <a:ext cx="11303000" cy="368300"/>
          </a:xfrm>
          <a:prstGeom prst="rect">
            <a:avLst/>
          </a:prstGeom>
          <a:noFill/>
        </p:spPr>
        <p:txBody>
          <a:bodyPr wrap="square" rtlCol="0">
            <a:spAutoFit/>
          </a:bodyPr>
          <a:lstStyle/>
          <a:p>
            <a:r>
              <a:rPr lang="en-US" altLang="zh-CN">
                <a:latin typeface="Cambria Math" panose="02040503050406030204" pitchFamily="18" charset="0"/>
                <a:cs typeface="Cambria Math" panose="02040503050406030204" pitchFamily="18" charset="0"/>
              </a:rPr>
              <a:t>3</a:t>
            </a:r>
            <a:r>
              <a:rPr lang="zh-CN" altLang="en-US">
                <a:latin typeface="Cambria Math" panose="02040503050406030204" pitchFamily="18" charset="0"/>
                <a:cs typeface="Cambria Math" panose="02040503050406030204" pitchFamily="18" charset="0"/>
              </a:rPr>
              <a:t>）利用拉格朗日乘子法的对偶性质对无约束条件下的最优化问题进行转化：</a:t>
            </a:r>
            <a:endParaRPr lang="zh-CN" altLang="en-US">
              <a:latin typeface="Cambria Math" panose="02040503050406030204" pitchFamily="18" charset="0"/>
              <a:cs typeface="Cambria Math" panose="02040503050406030204" pitchFamily="18" charset="0"/>
            </a:endParaRPr>
          </a:p>
        </p:txBody>
      </p:sp>
      <p:sp>
        <p:nvSpPr>
          <p:cNvPr id="7" name="右箭头 6"/>
          <p:cNvSpPr/>
          <p:nvPr/>
        </p:nvSpPr>
        <p:spPr>
          <a:xfrm>
            <a:off x="5217795" y="5587365"/>
            <a:ext cx="1371600" cy="4489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8" name="文本框 7"/>
              <p:cNvSpPr txBox="1"/>
              <p:nvPr/>
            </p:nvSpPr>
            <p:spPr>
              <a:xfrm>
                <a:off x="205105" y="5381625"/>
                <a:ext cx="5012690" cy="844550"/>
              </a:xfrm>
              <a:prstGeom prst="rect">
                <a:avLst/>
              </a:prstGeom>
              <a:no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8" name="文本框 7"/>
              <p:cNvSpPr txBox="1">
                <a:spLocks noRot="1" noChangeAspect="1" noMove="1" noResize="1" noEditPoints="1" noAdjustHandles="1" noChangeArrowheads="1" noChangeShapeType="1" noTextEdit="1"/>
              </p:cNvSpPr>
              <p:nvPr/>
            </p:nvSpPr>
            <p:spPr>
              <a:xfrm>
                <a:off x="205105" y="5381625"/>
                <a:ext cx="5012690" cy="84455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6790055" y="5389245"/>
                <a:ext cx="5012690" cy="844550"/>
              </a:xfrm>
              <a:prstGeom prst="rect">
                <a:avLst/>
              </a:prstGeom>
              <a:noFill/>
            </p:spPr>
            <p:txBody>
              <a:bodyPr wrap="square" rtlCol="0" anchor="t">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9" name="文本框 8"/>
              <p:cNvSpPr txBox="1">
                <a:spLocks noRot="1" noChangeAspect="1" noMove="1" noResize="1" noEditPoints="1" noAdjustHandles="1" noChangeArrowheads="1" noChangeShapeType="1" noTextEdit="1"/>
              </p:cNvSpPr>
              <p:nvPr/>
            </p:nvSpPr>
            <p:spPr>
              <a:xfrm>
                <a:off x="6790055" y="5389245"/>
                <a:ext cx="5012690" cy="84455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323215" y="5865495"/>
                <a:ext cx="791845"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endParaRPr lang="en-US" altLang="zh-CN">
                  <a:latin typeface="Cambria Math" panose="02040503050406030204" pitchFamily="18" charset="0"/>
                  <a:cs typeface="Cambria Math" panose="02040503050406030204" pitchFamily="18" charset="0"/>
                  <a:sym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323215" y="5865495"/>
                <a:ext cx="791845" cy="36830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998220" y="586486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22" name="文本框 21"/>
              <p:cNvSpPr txBox="1">
                <a:spLocks noRot="1" noChangeAspect="1" noMove="1" noResize="1" noEditPoints="1" noAdjustHandles="1" noChangeArrowheads="1" noChangeShapeType="1" noTextEdit="1"/>
              </p:cNvSpPr>
              <p:nvPr/>
            </p:nvSpPr>
            <p:spPr>
              <a:xfrm>
                <a:off x="998220" y="5864860"/>
                <a:ext cx="439420" cy="36830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6862445" y="586486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23" name="文本框 22"/>
              <p:cNvSpPr txBox="1">
                <a:spLocks noRot="1" noChangeAspect="1" noMove="1" noResize="1" noEditPoints="1" noAdjustHandles="1" noChangeArrowheads="1" noChangeShapeType="1" noTextEdit="1"/>
              </p:cNvSpPr>
              <p:nvPr/>
            </p:nvSpPr>
            <p:spPr>
              <a:xfrm>
                <a:off x="6862445" y="5864860"/>
                <a:ext cx="439420" cy="36830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7185660" y="5864860"/>
                <a:ext cx="791845"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endParaRPr lang="en-US" altLang="zh-CN">
                  <a:latin typeface="Cambria Math" panose="02040503050406030204" pitchFamily="18" charset="0"/>
                  <a:cs typeface="Cambria Math" panose="02040503050406030204" pitchFamily="18" charset="0"/>
                  <a:sym typeface="+mn-ea"/>
                </a:endParaRPr>
              </a:p>
            </p:txBody>
          </p:sp>
        </mc:Choice>
        <mc:Fallback>
          <p:sp>
            <p:nvSpPr>
              <p:cNvPr id="25" name="文本框 24"/>
              <p:cNvSpPr txBox="1">
                <a:spLocks noRot="1" noChangeAspect="1" noMove="1" noResize="1" noEditPoints="1" noAdjustHandles="1" noChangeArrowheads="1" noChangeShapeType="1" noTextEdit="1"/>
              </p:cNvSpPr>
              <p:nvPr/>
            </p:nvSpPr>
            <p:spPr>
              <a:xfrm>
                <a:off x="7185660" y="5864860"/>
                <a:ext cx="791845" cy="368300"/>
              </a:xfrm>
              <a:prstGeom prst="rect">
                <a:avLst/>
              </a:prstGeom>
              <a:blipFill rotWithShape="1">
                <a:blip r:embed="rId6"/>
                <a:stretch>
                  <a:fillRect/>
                </a:stretch>
              </a:blipFill>
            </p:spPr>
            <p:txBody>
              <a:bodyPr/>
              <a:lstStyle/>
              <a:p>
                <a:r>
                  <a:rPr lang="zh-CN" altLang="en-US">
                    <a:noFill/>
                  </a:rPr>
                  <a:t> </a:t>
                </a:r>
              </a:p>
            </p:txBody>
          </p:sp>
        </mc:Fallback>
      </mc:AlternateContent>
      <p:sp>
        <p:nvSpPr>
          <p:cNvPr id="26" name="矩形 25"/>
          <p:cNvSpPr/>
          <p:nvPr>
            <p:custDataLst>
              <p:tags r:id="rId9"/>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27" name="矩形 26"/>
          <p:cNvSpPr/>
          <p:nvPr>
            <p:custDataLst>
              <p:tags r:id="rId10"/>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8" name="文本框 27"/>
          <p:cNvSpPr txBox="1"/>
          <p:nvPr>
            <p:custDataLst>
              <p:tags r:id="rId11"/>
            </p:custDataLst>
          </p:nvPr>
        </p:nvSpPr>
        <p:spPr>
          <a:xfrm>
            <a:off x="420370" y="323215"/>
            <a:ext cx="220281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思考题答案</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1625" y="1141730"/>
            <a:ext cx="11321415" cy="368300"/>
          </a:xfrm>
          <a:prstGeom prst="rect">
            <a:avLst/>
          </a:prstGeom>
          <a:noFill/>
        </p:spPr>
        <p:txBody>
          <a:bodyPr wrap="square" rtlCol="0" anchor="t">
            <a:spAutoFit/>
          </a:bodyPr>
          <a:lstStyle/>
          <a:p>
            <a:r>
              <a:rPr lang="en-US" altLang="zh-CN" b="1">
                <a:sym typeface="+mn-ea"/>
              </a:rPr>
              <a:t>5-1 </a:t>
            </a:r>
            <a:r>
              <a:rPr lang="zh-CN" altLang="en-US">
                <a:latin typeface="Cambria Math" panose="02040503050406030204" pitchFamily="18" charset="0"/>
                <a:cs typeface="Cambria Math" panose="02040503050406030204" pitchFamily="18" charset="0"/>
                <a:sym typeface="+mn-ea"/>
              </a:rPr>
              <a:t>将支持向量机</a:t>
            </a:r>
            <a:r>
              <a:rPr lang="en-US" altLang="zh-CN">
                <a:latin typeface="Cambria Math" panose="02040503050406030204" pitchFamily="18" charset="0"/>
                <a:cs typeface="Cambria Math" panose="02040503050406030204" pitchFamily="18" charset="0"/>
                <a:sym typeface="+mn-ea"/>
              </a:rPr>
              <a:t>SVM</a:t>
            </a:r>
            <a:r>
              <a:rPr lang="zh-CN" altLang="en-US">
                <a:latin typeface="Cambria Math" panose="02040503050406030204" pitchFamily="18" charset="0"/>
                <a:cs typeface="Cambria Math" panose="02040503050406030204" pitchFamily="18" charset="0"/>
                <a:sym typeface="+mn-ea"/>
              </a:rPr>
              <a:t>由</a:t>
            </a:r>
            <a:r>
              <a:rPr lang="en-US" altLang="zh-CN">
                <a:latin typeface="Cambria Math" panose="02040503050406030204" pitchFamily="18" charset="0"/>
                <a:cs typeface="Cambria Math" panose="02040503050406030204" pitchFamily="18" charset="0"/>
                <a:sym typeface="+mn-ea"/>
              </a:rPr>
              <a:t>基本型</a:t>
            </a:r>
            <a:r>
              <a:rPr lang="zh-CN" altLang="en-US">
                <a:latin typeface="Cambria Math" panose="02040503050406030204" pitchFamily="18" charset="0"/>
                <a:cs typeface="Cambria Math" panose="02040503050406030204" pitchFamily="18" charset="0"/>
                <a:sym typeface="+mn-ea"/>
              </a:rPr>
              <a:t>推导至最终只含拉格朗日乘子形式</a:t>
            </a:r>
            <a:endParaRPr lang="zh-CN" altLang="en-US">
              <a:latin typeface="Cambria Math" panose="02040503050406030204" pitchFamily="18" charset="0"/>
              <a:cs typeface="Cambria Math" panose="02040503050406030204" pitchFamily="18" charset="0"/>
              <a:sym typeface="+mn-ea"/>
            </a:endParaRPr>
          </a:p>
        </p:txBody>
      </p:sp>
      <mc:AlternateContent xmlns:mc="http://schemas.openxmlformats.org/markup-compatibility/2006">
        <mc:Choice xmlns:a14="http://schemas.microsoft.com/office/drawing/2010/main" Requires="a14">
          <p:sp>
            <p:nvSpPr>
              <p:cNvPr id="11" name="文本框 10"/>
              <p:cNvSpPr txBox="1"/>
              <p:nvPr/>
            </p:nvSpPr>
            <p:spPr>
              <a:xfrm>
                <a:off x="320675" y="1562735"/>
                <a:ext cx="11303000" cy="368300"/>
              </a:xfrm>
              <a:prstGeom prst="rect">
                <a:avLst/>
              </a:prstGeom>
              <a:noFill/>
            </p:spPr>
            <p:txBody>
              <a:bodyPr wrap="square" rtlCol="0">
                <a:spAutoFit/>
              </a:bodyPr>
              <a:lstStyle/>
              <a:p>
                <a:r>
                  <a:rPr lang="en-US" altLang="zh-CN">
                    <a:latin typeface="Cambria Math" panose="02040503050406030204" pitchFamily="18" charset="0"/>
                    <a:cs typeface="Cambria Math" panose="02040503050406030204" pitchFamily="18" charset="0"/>
                  </a:rPr>
                  <a:t>4</a:t>
                </a:r>
                <a:r>
                  <a:rPr lang="zh-CN" altLang="en-US">
                    <a:latin typeface="Cambria Math" panose="02040503050406030204" pitchFamily="18" charset="0"/>
                    <a:cs typeface="Cambria Math" panose="02040503050406030204" pitchFamily="18" charset="0"/>
                  </a:rPr>
                  <a:t>）</a:t>
                </a:r>
                <a:r>
                  <a:rPr lang="zh-CN">
                    <a:latin typeface="Cambria Math" panose="02040503050406030204" pitchFamily="18" charset="0"/>
                    <a:cs typeface="Cambria Math" panose="02040503050406030204" pitchFamily="18" charset="0"/>
                  </a:rPr>
                  <a:t>对</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oMath>
                </a14:m>
                <a:r>
                  <a:rPr lang="zh-CN" altLang="en-US">
                    <a:latin typeface="Cambria Math" panose="02040503050406030204" pitchFamily="18" charset="0"/>
                    <a:cs typeface="Cambria Math" panose="02040503050406030204" pitchFamily="18" charset="0"/>
                  </a:rPr>
                  <a:t>求偏导：</a:t>
                </a:r>
                <a:endParaRPr lang="zh-CN" altLang="en-US">
                  <a:latin typeface="Cambria Math" panose="02040503050406030204" pitchFamily="18" charset="0"/>
                  <a:cs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320675" y="1562735"/>
                <a:ext cx="11303000" cy="36830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p:cNvSpPr txBox="1"/>
              <p:nvPr/>
            </p:nvSpPr>
            <p:spPr>
              <a:xfrm>
                <a:off x="419735" y="1335405"/>
                <a:ext cx="7031990" cy="2428875"/>
              </a:xfrm>
              <a:prstGeom prst="rect">
                <a:avLst/>
              </a:prstGeom>
              <a:noFill/>
            </p:spPr>
            <p:txBody>
              <a:bodyPr wrap="square" rtlCol="0">
                <a:spAutoFit/>
              </a:bodyPr>
              <a:lstStyle/>
              <a:p>
                <a:endParaRPr lang="zh-CN" altLang="en-US">
                  <a:latin typeface="Cambria Math" panose="02040503050406030204" pitchFamily="18" charset="0"/>
                  <a:cs typeface="Cambria Math" panose="02040503050406030204" pitchFamily="18" charset="0"/>
                </a:endParaRPr>
              </a:p>
              <a:p>
                <a:endParaRPr lang="zh-CN" altLang="en-US">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𝐿</m:t>
                          </m:r>
                        </m:num>
                        <m:den>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den>
                      </m:f>
                      <m:r>
                        <a:rPr lang="en-US" altLang="zh-CN" i="1">
                          <a:latin typeface="Cambria Math" panose="02040503050406030204" pitchFamily="18" charset="0"/>
                          <a:cs typeface="Cambria Math" panose="02040503050406030204" pitchFamily="18" charset="0"/>
                        </a:rPr>
                        <m:t>=</m:t>
                      </m:r>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oMath>
                  </m:oMathPara>
                </a14:m>
                <a:endParaRPr lang="en-US" altLang="zh-CN" i="1">
                  <a:latin typeface="Cambria Math" panose="02040503050406030204" pitchFamily="18" charset="0"/>
                  <a:cs typeface="Cambria Math" panose="02040503050406030204" pitchFamily="18" charset="0"/>
                </a:endParaRPr>
              </a:p>
              <a:p>
                <a:endParaRPr lang="en-US" altLang="zh-CN" b="1"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0</m:t>
                      </m:r>
                      <m:r>
                        <a:rPr lang="en-US" altLang="zh-CN" b="1" i="1">
                          <a:latin typeface="Cambria Math" panose="02040503050406030204" pitchFamily="18" charset="0"/>
                          <a:cs typeface="Cambria Math" panose="02040503050406030204" pitchFamily="18" charset="0"/>
                        </a:rPr>
                        <m:t>=</m:t>
                      </m:r>
                      <m:f>
                        <m:fPr>
                          <m:ctrlPr>
                            <a:rPr lang="en-US" altLang="zh-CN" b="1"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𝐿</m:t>
                          </m:r>
                        </m:num>
                        <m:den>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den>
                      </m:f>
                      <m:r>
                        <a:rPr lang="en-US" altLang="zh-CN" b="1"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33" name="文本框 32"/>
              <p:cNvSpPr txBox="1">
                <a:spLocks noRot="1" noChangeAspect="1" noMove="1" noResize="1" noEditPoints="1" noAdjustHandles="1" noChangeArrowheads="1" noChangeShapeType="1" noTextEdit="1"/>
              </p:cNvSpPr>
              <p:nvPr/>
            </p:nvSpPr>
            <p:spPr>
              <a:xfrm>
                <a:off x="419735" y="1335405"/>
                <a:ext cx="7031990" cy="242887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4093210" y="1882140"/>
                <a:ext cx="2066925" cy="84455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oMath>
                  </m:oMathPara>
                </a14:m>
                <a:endParaRPr lang="zh-CN" altLang="en-US"/>
              </a:p>
            </p:txBody>
          </p:sp>
        </mc:Choice>
        <mc:Fallback>
          <p:sp>
            <p:nvSpPr>
              <p:cNvPr id="34" name="文本框 33"/>
              <p:cNvSpPr txBox="1">
                <a:spLocks noRot="1" noChangeAspect="1" noMove="1" noResize="1" noEditPoints="1" noAdjustHandles="1" noChangeArrowheads="1" noChangeShapeType="1" noTextEdit="1"/>
              </p:cNvSpPr>
              <p:nvPr/>
            </p:nvSpPr>
            <p:spPr>
              <a:xfrm>
                <a:off x="4093210" y="1882140"/>
                <a:ext cx="2066925" cy="844550"/>
              </a:xfrm>
              <a:prstGeom prst="rect">
                <a:avLst/>
              </a:prstGeom>
              <a:blipFill rotWithShape="1">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 name="文本框 34"/>
              <p:cNvSpPr txBox="1"/>
              <p:nvPr/>
            </p:nvSpPr>
            <p:spPr>
              <a:xfrm>
                <a:off x="3991610" y="2886075"/>
                <a:ext cx="2066925" cy="84455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0</m:t>
                      </m:r>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e>
                      </m:nary>
                    </m:oMath>
                  </m:oMathPara>
                </a14:m>
                <a:endParaRPr lang="zh-CN" altLang="en-US"/>
              </a:p>
            </p:txBody>
          </p:sp>
        </mc:Choice>
        <mc:Fallback>
          <p:sp>
            <p:nvSpPr>
              <p:cNvPr id="35" name="文本框 34"/>
              <p:cNvSpPr txBox="1">
                <a:spLocks noRot="1" noChangeAspect="1" noMove="1" noResize="1" noEditPoints="1" noAdjustHandles="1" noChangeArrowheads="1" noChangeShapeType="1" noTextEdit="1"/>
              </p:cNvSpPr>
              <p:nvPr/>
            </p:nvSpPr>
            <p:spPr>
              <a:xfrm>
                <a:off x="3991610" y="2886075"/>
                <a:ext cx="2066925" cy="844550"/>
              </a:xfrm>
              <a:prstGeom prst="rect">
                <a:avLst/>
              </a:prstGeom>
              <a:blipFill rotWithShape="1">
                <a:blip r:embed="rId4"/>
                <a:stretch>
                  <a:fillRect/>
                </a:stretch>
              </a:blipFill>
            </p:spPr>
            <p:txBody>
              <a:bodyPr/>
              <a:lstStyle/>
              <a:p>
                <a:r>
                  <a:rPr lang="zh-CN" altLang="en-US">
                    <a:noFill/>
                  </a:rPr>
                  <a:t> </a:t>
                </a:r>
              </a:p>
            </p:txBody>
          </p:sp>
        </mc:Fallback>
      </mc:AlternateContent>
      <p:sp>
        <p:nvSpPr>
          <p:cNvPr id="36" name="右箭头 35"/>
          <p:cNvSpPr/>
          <p:nvPr/>
        </p:nvSpPr>
        <p:spPr>
          <a:xfrm>
            <a:off x="3249930" y="2161540"/>
            <a:ext cx="906145" cy="360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右箭头 36"/>
          <p:cNvSpPr/>
          <p:nvPr/>
        </p:nvSpPr>
        <p:spPr>
          <a:xfrm>
            <a:off x="3249930" y="3128010"/>
            <a:ext cx="906145" cy="360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右箭头 37"/>
          <p:cNvSpPr/>
          <p:nvPr/>
        </p:nvSpPr>
        <p:spPr>
          <a:xfrm>
            <a:off x="6122035" y="2161540"/>
            <a:ext cx="906145" cy="3600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9" name="文本框 38"/>
              <p:cNvSpPr txBox="1"/>
              <p:nvPr/>
            </p:nvSpPr>
            <p:spPr>
              <a:xfrm>
                <a:off x="7154545" y="1882140"/>
                <a:ext cx="2066925" cy="88011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altLang="zh-CN" b="1" i="1">
                              <a:latin typeface="Cambria Math" panose="02040503050406030204" pitchFamily="18" charset="0"/>
                              <a:cs typeface="Cambria Math" panose="02040503050406030204" pitchFamily="18" charset="0"/>
                            </a:rPr>
                          </m:ctrlPr>
                        </m:sSupPr>
                        <m:e>
                          <m:r>
                            <a:rPr lang="en-US" altLang="zh-CN" b="1" i="1">
                              <a:latin typeface="Cambria Math" panose="02040503050406030204" pitchFamily="18" charset="0"/>
                              <a:cs typeface="Cambria Math" panose="02040503050406030204" pitchFamily="18" charset="0"/>
                            </a:rPr>
                            <m:t>𝒘</m:t>
                          </m:r>
                        </m:e>
                        <m:sup>
                          <m:r>
                            <a:rPr lang="en-US" altLang="zh-CN" b="1" i="1">
                              <a:latin typeface="Cambria Math" panose="02040503050406030204" pitchFamily="18" charset="0"/>
                              <a:cs typeface="Cambria Math" panose="02040503050406030204" pitchFamily="18" charset="0"/>
                            </a:rPr>
                            <m:t>𝑻</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e>
                      </m:nary>
                    </m:oMath>
                  </m:oMathPara>
                </a14:m>
                <a:endParaRPr lang="zh-CN" altLang="en-US"/>
              </a:p>
            </p:txBody>
          </p:sp>
        </mc:Choice>
        <mc:Fallback>
          <p:sp>
            <p:nvSpPr>
              <p:cNvPr id="39" name="文本框 38"/>
              <p:cNvSpPr txBox="1">
                <a:spLocks noRot="1" noChangeAspect="1" noMove="1" noResize="1" noEditPoints="1" noAdjustHandles="1" noChangeArrowheads="1" noChangeShapeType="1" noTextEdit="1"/>
              </p:cNvSpPr>
              <p:nvPr/>
            </p:nvSpPr>
            <p:spPr>
              <a:xfrm>
                <a:off x="7154545" y="1882140"/>
                <a:ext cx="2066925" cy="880110"/>
              </a:xfrm>
              <a:prstGeom prst="rect">
                <a:avLst/>
              </a:prstGeom>
              <a:blipFill rotWithShape="1">
                <a:blip r:embed="rId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0" name="文本框 39"/>
              <p:cNvSpPr txBox="1"/>
              <p:nvPr/>
            </p:nvSpPr>
            <p:spPr>
              <a:xfrm>
                <a:off x="657225" y="4224655"/>
                <a:ext cx="5012690" cy="2421890"/>
              </a:xfrm>
              <a:prstGeom prst="rect">
                <a:avLst/>
              </a:prstGeom>
              <a:noFill/>
            </p:spPr>
            <p:txBody>
              <a:bodyPr wrap="square" rtlCol="0" anchor="t">
                <a:spAutoFit/>
              </a:bodyPr>
              <a:lstStyle/>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sym typeface="+mn-ea"/>
                        </a:rPr>
                        <m:t>𝑚𝑎𝑥</m:t>
                      </m:r>
                      <m:r>
                        <a:rPr lang="en-US" altLang="zh-CN" i="1">
                          <a:latin typeface="Cambria Math" panose="02040503050406030204" pitchFamily="18" charset="0"/>
                          <a:cs typeface="Cambria Math" panose="02040503050406030204" pitchFamily="18" charset="0"/>
                          <a:sym typeface="+mn-ea"/>
                        </a:rPr>
                        <m:t> </m:t>
                      </m:r>
                      <m:r>
                        <a:rPr lang="en-US" altLang="zh-CN" i="1">
                          <a:latin typeface="Cambria Math" panose="02040503050406030204" pitchFamily="18" charset="0"/>
                          <a:cs typeface="Cambria Math" panose="02040503050406030204" pitchFamily="18" charset="0"/>
                          <a:sym typeface="+mn-ea"/>
                        </a:rPr>
                        <m:t>𝑚𝑖𝑛</m:t>
                      </m:r>
                      <m:r>
                        <a:rPr lang="en-US" altLang="zh-CN" i="1">
                          <a:latin typeface="Cambria Math" panose="02040503050406030204" pitchFamily="18" charset="0"/>
                          <a:cs typeface="Cambria Math" panose="02040503050406030204" pitchFamily="18" charset="0"/>
                          <a:sym typeface="+mn-ea"/>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sSup>
                        <m:sSupPr>
                          <m:ctrlPr>
                            <a:rPr lang="en-US" altLang="zh-CN" i="1">
                              <a:latin typeface="Cambria Math" panose="02040503050406030204" pitchFamily="18" charset="0"/>
                              <a:cs typeface="Cambria Math" panose="02040503050406030204" pitchFamily="18" charset="0"/>
                            </a:rPr>
                          </m:ctrlPr>
                        </m:sSupPr>
                        <m:e>
                          <m:d>
                            <m:dPr>
                              <m:begChr m:val="‖"/>
                              <m:endChr m:val="‖"/>
                              <m:ctrlPr>
                                <a:rPr lang="en-US" altLang="zh-CN" i="1">
                                  <a:latin typeface="Cambria Math" panose="02040503050406030204" pitchFamily="18" charset="0"/>
                                  <a:cs typeface="Cambria Math" panose="02040503050406030204" pitchFamily="18" charset="0"/>
                                  <a:sym typeface="+mn-ea"/>
                                </a:rPr>
                              </m:ctrlPr>
                            </m:dPr>
                            <m:e>
                              <m:r>
                                <a:rPr lang="en-US" altLang="zh-CN" b="1" i="1">
                                  <a:latin typeface="Cambria Math" panose="02040503050406030204" pitchFamily="18" charset="0"/>
                                  <a:cs typeface="Cambria Math" panose="02040503050406030204" pitchFamily="18" charset="0"/>
                                </a:rPr>
                                <m:t>𝒘</m:t>
                              </m:r>
                            </m:e>
                          </m:d>
                        </m:e>
                        <m:sup>
                          <m:r>
                            <a:rPr lang="en-US" altLang="zh-CN" i="1">
                              <a:latin typeface="Cambria Math" panose="02040503050406030204" pitchFamily="18" charset="0"/>
                              <a:cs typeface="Cambria Math" panose="02040503050406030204" pitchFamily="18" charset="0"/>
                            </a:rPr>
                            <m:t>2</m:t>
                          </m:r>
                        </m:sup>
                      </m:sSup>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r>
                            <a:rPr lang="en-US" altLang="zh-CN" b="1"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sym typeface="+mn-ea"/>
                                </a:rPr>
                              </m:ctrlPr>
                            </m:sSubPr>
                            <m:e>
                              <m:r>
                                <a:rPr lang="en-US" altLang="zh-CN" i="1">
                                  <a:latin typeface="Cambria Math" panose="02040503050406030204" pitchFamily="18" charset="0"/>
                                  <a:cs typeface="Cambria Math" panose="02040503050406030204" pitchFamily="18" charset="0"/>
                                  <a:sym typeface="+mn-ea"/>
                                </a:rPr>
                                <m:t>𝑦</m:t>
                              </m:r>
                            </m:e>
                            <m:sub>
                              <m:r>
                                <a:rPr lang="en-US" altLang="zh-CN" i="1">
                                  <a:latin typeface="Cambria Math" panose="02040503050406030204" pitchFamily="18" charset="0"/>
                                  <a:cs typeface="Cambria Math" panose="02040503050406030204" pitchFamily="18" charset="0"/>
                                  <a:sym typeface="+mn-ea"/>
                                </a:rPr>
                                <m:t>𝑖</m:t>
                              </m:r>
                            </m:sub>
                          </m:sSub>
                          <m:r>
                            <a:rPr lang="en-US" altLang="zh-CN" i="1">
                              <a:latin typeface="Cambria Math" panose="02040503050406030204" pitchFamily="18" charset="0"/>
                              <a:cs typeface="Cambria Math" panose="02040503050406030204" pitchFamily="18" charset="0"/>
                              <a:sym typeface="+mn-ea"/>
                            </a:rPr>
                            <m:t>(</m:t>
                          </m:r>
                          <m:sSup>
                            <m:sSupPr>
                              <m:ctrlPr>
                                <a:rPr lang="en-US" altLang="zh-CN" i="1">
                                  <a:latin typeface="Cambria Math" panose="02040503050406030204" pitchFamily="18" charset="0"/>
                                  <a:cs typeface="Cambria Math" panose="02040503050406030204" pitchFamily="18" charset="0"/>
                                  <a:sym typeface="+mn-ea"/>
                                </a:rPr>
                              </m:ctrlPr>
                            </m:sSupPr>
                            <m:e>
                              <m:r>
                                <a:rPr lang="en-US" altLang="zh-CN" b="1" i="1">
                                  <a:latin typeface="Cambria Math" panose="02040503050406030204" pitchFamily="18" charset="0"/>
                                  <a:cs typeface="Cambria Math" panose="02040503050406030204" pitchFamily="18" charset="0"/>
                                  <a:sym typeface="+mn-ea"/>
                                </a:rPr>
                                <m:t>𝒘</m:t>
                              </m:r>
                            </m:e>
                            <m:sup>
                              <m:r>
                                <a:rPr lang="en-US" altLang="zh-CN" i="1">
                                  <a:latin typeface="Cambria Math" panose="02040503050406030204" pitchFamily="18" charset="0"/>
                                  <a:cs typeface="Cambria Math" panose="02040503050406030204" pitchFamily="18" charset="0"/>
                                  <a:sym typeface="+mn-ea"/>
                                </a:rPr>
                                <m:t>𝑇</m:t>
                              </m:r>
                            </m:sup>
                          </m:sSup>
                          <m:sSub>
                            <m:sSubPr>
                              <m:ctrlPr>
                                <a:rPr lang="en-US" altLang="zh-CN" b="1" i="1">
                                  <a:latin typeface="Cambria Math" panose="02040503050406030204" pitchFamily="18" charset="0"/>
                                  <a:cs typeface="Cambria Math" panose="02040503050406030204" pitchFamily="18" charset="0"/>
                                  <a:sym typeface="+mn-ea"/>
                                </a:rPr>
                              </m:ctrlPr>
                            </m:sSubPr>
                            <m:e>
                              <m:r>
                                <a:rPr lang="en-US" altLang="zh-CN" b="1" i="1">
                                  <a:latin typeface="Cambria Math" panose="02040503050406030204" pitchFamily="18" charset="0"/>
                                  <a:cs typeface="Cambria Math" panose="02040503050406030204" pitchFamily="18" charset="0"/>
                                  <a:sym typeface="+mn-ea"/>
                                </a:rPr>
                                <m:t>𝒙</m:t>
                              </m:r>
                            </m:e>
                            <m:sub>
                              <m:r>
                                <a:rPr lang="en-US" altLang="zh-CN" b="1" i="1">
                                  <a:latin typeface="Cambria Math" panose="02040503050406030204" pitchFamily="18" charset="0"/>
                                  <a:cs typeface="Cambria Math" panose="02040503050406030204" pitchFamily="18" charset="0"/>
                                  <a:sym typeface="+mn-ea"/>
                                </a:rPr>
                                <m:t>𝒊</m:t>
                              </m:r>
                            </m:sub>
                          </m:sSub>
                          <m:r>
                            <a:rPr lang="en-US" altLang="zh-CN" i="1">
                              <a:latin typeface="Cambria Math" panose="02040503050406030204" pitchFamily="18" charset="0"/>
                              <a:cs typeface="Cambria Math" panose="02040503050406030204" pitchFamily="18" charset="0"/>
                              <a:sym typeface="+mn-ea"/>
                            </a:rPr>
                            <m:t>+</m:t>
                          </m:r>
                          <m:r>
                            <a:rPr lang="en-US" altLang="zh-CN" i="1">
                              <a:latin typeface="Cambria Math" panose="02040503050406030204" pitchFamily="18" charset="0"/>
                              <a:cs typeface="Cambria Math" panose="02040503050406030204" pitchFamily="18" charset="0"/>
                              <a:sym typeface="+mn-ea"/>
                            </a:rPr>
                            <m:t>𝑏</m:t>
                          </m:r>
                          <m:r>
                            <a:rPr lang="en-US" altLang="zh-CN" i="1">
                              <a:latin typeface="Cambria Math" panose="02040503050406030204" pitchFamily="18" charset="0"/>
                              <a:cs typeface="Cambria Math" panose="02040503050406030204" pitchFamily="18" charset="0"/>
                              <a:sym typeface="+mn-ea"/>
                            </a:rPr>
                            <m:t>)]}</m:t>
                          </m:r>
                        </m:e>
                      </m:nary>
                    </m:oMath>
                  </m:oMathPara>
                </a14:m>
                <a:endParaRPr lang="en-US" altLang="zh-CN"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𝑚𝑎𝑥</m:t>
                      </m:r>
                      <m:r>
                        <a:rPr lang="en-US" altLang="zh-CN" i="1">
                          <a:latin typeface="Cambria Math" panose="02040503050406030204" pitchFamily="18" charset="0"/>
                          <a:cs typeface="Cambria Math" panose="02040503050406030204" pitchFamily="18" charset="0"/>
                        </a:rPr>
                        <m:t> {</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b="1" i="1">
                          <a:latin typeface="Cambria Math" panose="02040503050406030204" pitchFamily="18" charset="0"/>
                          <a:cs typeface="Cambria Math" panose="02040503050406030204" pitchFamily="18" charset="0"/>
                        </a:rPr>
                        <m:t>}</m:t>
                      </m:r>
                    </m:oMath>
                  </m:oMathPara>
                </a14:m>
                <a:endParaRPr lang="en-US" altLang="zh-CN" b="1" i="1">
                  <a:latin typeface="Cambria Math" panose="02040503050406030204" pitchFamily="18" charset="0"/>
                  <a:cs typeface="Cambria Math" panose="02040503050406030204" pitchFamily="18" charset="0"/>
                </a:endParaRPr>
              </a:p>
              <a:p>
                <a14:m>
                  <m:oMathPara xmlns:m="http://schemas.openxmlformats.org/officeDocument/2006/math">
                    <m:oMathParaPr>
                      <m:jc m:val="left"/>
                    </m:oMathParaPr>
                    <m:oMath xmlns:m="http://schemas.openxmlformats.org/officeDocument/2006/math">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𝑚𝑖𝑛</m:t>
                      </m:r>
                      <m:r>
                        <a:rPr lang="en-US" altLang="zh-CN" i="1">
                          <a:latin typeface="Cambria Math" panose="02040503050406030204" pitchFamily="18" charset="0"/>
                          <a:cs typeface="Cambria Math" panose="02040503050406030204" pitchFamily="18" charset="0"/>
                        </a:rPr>
                        <m:t> {</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1</m:t>
                          </m:r>
                        </m:num>
                        <m:den>
                          <m:r>
                            <a:rPr lang="en-US" altLang="zh-CN" i="1">
                              <a:latin typeface="Cambria Math" panose="02040503050406030204" pitchFamily="18" charset="0"/>
                              <a:cs typeface="Cambria Math" panose="02040503050406030204" pitchFamily="18" charset="0"/>
                            </a:rPr>
                            <m:t>2</m:t>
                          </m:r>
                        </m:den>
                      </m:f>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𝑗</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𝑗</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𝑖</m:t>
                                  </m:r>
                                </m:sub>
                              </m:sSub>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𝑦</m:t>
                                  </m:r>
                                </m:e>
                                <m:sub>
                                  <m:r>
                                    <a:rPr lang="en-US" altLang="zh-CN" i="1">
                                      <a:latin typeface="Cambria Math" panose="02040503050406030204" pitchFamily="18" charset="0"/>
                                      <a:cs typeface="Cambria Math" panose="02040503050406030204" pitchFamily="18" charset="0"/>
                                    </a:rPr>
                                    <m:t>𝑗</m:t>
                                  </m:r>
                                </m:sub>
                              </m:sSub>
                              <m:sSubSup>
                                <m:sSubSupPr>
                                  <m:ctrlPr>
                                    <a:rPr lang="en-US" altLang="zh-CN" b="1" i="1">
                                      <a:latin typeface="Cambria Math" panose="02040503050406030204" pitchFamily="18" charset="0"/>
                                      <a:cs typeface="Cambria Math" panose="02040503050406030204" pitchFamily="18" charset="0"/>
                                    </a:rPr>
                                  </m:ctrlPr>
                                </m:sSubSup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𝒋</m:t>
                                  </m:r>
                                </m:sub>
                                <m:sup>
                                  <m:r>
                                    <a:rPr lang="en-US" altLang="zh-CN" b="1" i="1">
                                      <a:latin typeface="Cambria Math" panose="02040503050406030204" pitchFamily="18" charset="0"/>
                                      <a:cs typeface="Cambria Math" panose="02040503050406030204" pitchFamily="18" charset="0"/>
                                    </a:rPr>
                                    <m:t>𝑻</m:t>
                                  </m:r>
                                </m:sup>
                              </m:sSubSup>
                              <m:sSub>
                                <m:sSubPr>
                                  <m:ctrlPr>
                                    <a:rPr lang="en-US" altLang="zh-CN" b="1" i="1">
                                      <a:latin typeface="Cambria Math" panose="02040503050406030204" pitchFamily="18" charset="0"/>
                                      <a:cs typeface="Cambria Math" panose="02040503050406030204" pitchFamily="18" charset="0"/>
                                    </a:rPr>
                                  </m:ctrlPr>
                                </m:sSubPr>
                                <m:e>
                                  <m:r>
                                    <a:rPr lang="en-US" altLang="zh-CN" b="1" i="1">
                                      <a:latin typeface="Cambria Math" panose="02040503050406030204" pitchFamily="18" charset="0"/>
                                      <a:cs typeface="Cambria Math" panose="02040503050406030204" pitchFamily="18" charset="0"/>
                                    </a:rPr>
                                    <m:t>𝒙</m:t>
                                  </m:r>
                                </m:e>
                                <m:sub>
                                  <m:r>
                                    <a:rPr lang="en-US" altLang="zh-CN" b="1" i="1">
                                      <a:latin typeface="Cambria Math" panose="02040503050406030204" pitchFamily="18" charset="0"/>
                                      <a:cs typeface="Cambria Math" panose="02040503050406030204" pitchFamily="18" charset="0"/>
                                    </a:rPr>
                                    <m:t>𝒊</m:t>
                                  </m:r>
                                </m:sub>
                              </m:sSub>
                            </m:e>
                          </m:nary>
                        </m:e>
                      </m:nary>
                      <m:r>
                        <a:rPr lang="en-US" altLang="zh-CN" i="1">
                          <a:latin typeface="Cambria Math" panose="02040503050406030204" pitchFamily="18" charset="0"/>
                          <a:cs typeface="Cambria Math" panose="02040503050406030204" pitchFamily="18" charset="0"/>
                        </a:rPr>
                        <m:t>−</m:t>
                      </m:r>
                      <m:nary>
                        <m:naryPr>
                          <m:chr m:val="∑"/>
                          <m:limLoc m:val="undOvr"/>
                          <m:ctrlPr>
                            <a:rPr lang="en-US" altLang="zh-CN" i="1">
                              <a:latin typeface="Cambria Math" panose="02040503050406030204" pitchFamily="18" charset="0"/>
                              <a:cs typeface="Cambria Math" panose="02040503050406030204" pitchFamily="18" charset="0"/>
                            </a:rPr>
                          </m:ctrlPr>
                        </m:naryPr>
                        <m:sub>
                          <m:r>
                            <a:rPr lang="en-US" altLang="zh-CN" i="1">
                              <a:latin typeface="Cambria Math" panose="02040503050406030204" pitchFamily="18" charset="0"/>
                              <a:cs typeface="Cambria Math" panose="02040503050406030204" pitchFamily="18" charset="0"/>
                            </a:rPr>
                            <m:t>𝑖</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1</m:t>
                          </m:r>
                        </m:sub>
                        <m:sup>
                          <m:r>
                            <a:rPr lang="en-US" altLang="zh-CN" i="1">
                              <a:latin typeface="Cambria Math" panose="02040503050406030204" pitchFamily="18" charset="0"/>
                              <a:cs typeface="Cambria Math" panose="02040503050406030204" pitchFamily="18" charset="0"/>
                            </a:rPr>
                            <m:t>𝑚</m:t>
                          </m:r>
                        </m:sup>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𝛼</m:t>
                              </m:r>
                            </m:e>
                            <m:sub>
                              <m:r>
                                <a:rPr lang="en-US" altLang="zh-CN" i="1">
                                  <a:latin typeface="Cambria Math" panose="02040503050406030204" pitchFamily="18" charset="0"/>
                                  <a:cs typeface="Cambria Math" panose="02040503050406030204" pitchFamily="18" charset="0"/>
                                </a:rPr>
                                <m:t>𝑖</m:t>
                              </m:r>
                            </m:sub>
                          </m:sSub>
                        </m:e>
                      </m:nary>
                      <m:r>
                        <a:rPr lang="en-US" altLang="zh-CN" i="1">
                          <a:latin typeface="Cambria Math" panose="02040503050406030204" pitchFamily="18" charset="0"/>
                          <a:cs typeface="Cambria Math" panose="02040503050406030204" pitchFamily="18" charset="0"/>
                        </a:rPr>
                        <m:t>}</m:t>
                      </m:r>
                    </m:oMath>
                  </m:oMathPara>
                </a14:m>
                <a:endParaRPr lang="en-US" altLang="zh-CN" i="1">
                  <a:latin typeface="Cambria Math" panose="02040503050406030204" pitchFamily="18" charset="0"/>
                  <a:cs typeface="Cambria Math" panose="02040503050406030204" pitchFamily="18" charset="0"/>
                  <a:sym typeface="+mn-ea"/>
                </a:endParaRPr>
              </a:p>
            </p:txBody>
          </p:sp>
        </mc:Choice>
        <mc:Fallback>
          <p:sp>
            <p:nvSpPr>
              <p:cNvPr id="40" name="文本框 39"/>
              <p:cNvSpPr txBox="1">
                <a:spLocks noRot="1" noChangeAspect="1" noMove="1" noResize="1" noEditPoints="1" noAdjustHandles="1" noChangeArrowheads="1" noChangeShapeType="1" noTextEdit="1"/>
              </p:cNvSpPr>
              <p:nvPr/>
            </p:nvSpPr>
            <p:spPr>
              <a:xfrm>
                <a:off x="657225" y="4224655"/>
                <a:ext cx="5012690" cy="2421890"/>
              </a:xfrm>
              <a:prstGeom prst="rect">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1" name="文本框 40"/>
              <p:cNvSpPr txBox="1"/>
              <p:nvPr/>
            </p:nvSpPr>
            <p:spPr>
              <a:xfrm>
                <a:off x="665480" y="4677410"/>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41" name="文本框 40"/>
              <p:cNvSpPr txBox="1">
                <a:spLocks noRot="1" noChangeAspect="1" noMove="1" noResize="1" noEditPoints="1" noAdjustHandles="1" noChangeArrowheads="1" noChangeShapeType="1" noTextEdit="1"/>
              </p:cNvSpPr>
              <p:nvPr/>
            </p:nvSpPr>
            <p:spPr>
              <a:xfrm>
                <a:off x="665480" y="4677410"/>
                <a:ext cx="439420" cy="36830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988695" y="4677410"/>
                <a:ext cx="791845" cy="368300"/>
              </a:xfrm>
              <a:prstGeom prst="rect">
                <a:avLst/>
              </a:prstGeom>
              <a:noFill/>
            </p:spPr>
            <p:txBody>
              <a:bodyPr wrap="square" rtlCol="0" anchor="t">
                <a:spAutoFit/>
              </a:bodyPr>
              <a:lstStyle/>
              <a:p>
                <a:r>
                  <a:rPr lang="en-US" altLang="zh-CN">
                    <a:latin typeface="Cambria Math" panose="02040503050406030204" pitchFamily="18" charset="0"/>
                    <a:cs typeface="Cambria Math" panose="02040503050406030204" pitchFamily="18" charset="0"/>
                    <a:sym typeface="+mn-ea"/>
                  </a:rPr>
                  <a:t>(</a:t>
                </a:r>
                <a14:m>
                  <m:oMath xmlns:m="http://schemas.openxmlformats.org/officeDocument/2006/math">
                    <m:r>
                      <a:rPr lang="en-US" altLang="zh-CN" b="1" i="1">
                        <a:latin typeface="Cambria Math" panose="02040503050406030204" pitchFamily="18" charset="0"/>
                        <a:cs typeface="Cambria Math" panose="02040503050406030204" pitchFamily="18" charset="0"/>
                      </a:rPr>
                      <m:t>𝒘</m:t>
                    </m:r>
                    <m:r>
                      <a:rPr lang="en-US" altLang="zh-CN" b="1"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𝑏</m:t>
                    </m:r>
                    <m:r>
                      <a:rPr lang="en-US" altLang="zh-CN" i="1">
                        <a:latin typeface="Cambria Math" panose="02040503050406030204" pitchFamily="18" charset="0"/>
                        <a:cs typeface="Cambria Math" panose="02040503050406030204" pitchFamily="18" charset="0"/>
                      </a:rPr>
                      <m:t>)</m:t>
                    </m:r>
                  </m:oMath>
                </a14:m>
                <a:endParaRPr lang="en-US" altLang="zh-CN">
                  <a:latin typeface="Cambria Math" panose="02040503050406030204" pitchFamily="18" charset="0"/>
                  <a:cs typeface="Cambria Math" panose="02040503050406030204" pitchFamily="18" charset="0"/>
                  <a:sym typeface="+mn-ea"/>
                </a:endParaRPr>
              </a:p>
            </p:txBody>
          </p:sp>
        </mc:Choice>
        <mc:Fallback>
          <p:sp>
            <p:nvSpPr>
              <p:cNvPr id="42" name="文本框 41"/>
              <p:cNvSpPr txBox="1">
                <a:spLocks noRot="1" noChangeAspect="1" noMove="1" noResize="1" noEditPoints="1" noAdjustHandles="1" noChangeArrowheads="1" noChangeShapeType="1" noTextEdit="1"/>
              </p:cNvSpPr>
              <p:nvPr/>
            </p:nvSpPr>
            <p:spPr>
              <a:xfrm>
                <a:off x="988695" y="4677410"/>
                <a:ext cx="791845" cy="368300"/>
              </a:xfrm>
              <a:prstGeom prst="rect">
                <a:avLst/>
              </a:prstGeom>
              <a:blipFill rotWithShape="1">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1014095" y="5376545"/>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43" name="文本框 42"/>
              <p:cNvSpPr txBox="1">
                <a:spLocks noRot="1" noChangeAspect="1" noMove="1" noResize="1" noEditPoints="1" noAdjustHandles="1" noChangeArrowheads="1" noChangeShapeType="1" noTextEdit="1"/>
              </p:cNvSpPr>
              <p:nvPr/>
            </p:nvSpPr>
            <p:spPr>
              <a:xfrm>
                <a:off x="1014095" y="5376545"/>
                <a:ext cx="439420" cy="36830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4" name="文本框 43"/>
              <p:cNvSpPr txBox="1"/>
              <p:nvPr/>
            </p:nvSpPr>
            <p:spPr>
              <a:xfrm>
                <a:off x="1014095" y="6196965"/>
                <a:ext cx="439420" cy="368300"/>
              </a:xfrm>
              <a:prstGeom prst="rect">
                <a:avLst/>
              </a:prstGeom>
              <a:noFill/>
            </p:spPr>
            <p:txBody>
              <a:bodyPr wrap="square" rtlCol="0" anchor="t">
                <a:spAutoFit/>
              </a:bodyPr>
              <a:lstStyle/>
              <a:p>
                <a:pPr algn="l"/>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ea typeface="MS Mincho" charset="0"/>
                          <a:cs typeface="Cambria Math" panose="02040503050406030204" pitchFamily="18" charset="0"/>
                        </a:rPr>
                        <m:t>𝜶</m:t>
                      </m:r>
                    </m:oMath>
                  </m:oMathPara>
                </a14:m>
                <a:endParaRPr lang="en-US" altLang="zh-CN" b="1" i="1">
                  <a:latin typeface="Cambria Math" panose="02040503050406030204" pitchFamily="18" charset="0"/>
                  <a:cs typeface="Cambria Math" panose="02040503050406030204" pitchFamily="18" charset="0"/>
                </a:endParaRPr>
              </a:p>
            </p:txBody>
          </p:sp>
        </mc:Choice>
        <mc:Fallback>
          <p:sp>
            <p:nvSpPr>
              <p:cNvPr id="44" name="文本框 43"/>
              <p:cNvSpPr txBox="1">
                <a:spLocks noRot="1" noChangeAspect="1" noMove="1" noResize="1" noEditPoints="1" noAdjustHandles="1" noChangeArrowheads="1" noChangeShapeType="1" noTextEdit="1"/>
              </p:cNvSpPr>
              <p:nvPr/>
            </p:nvSpPr>
            <p:spPr>
              <a:xfrm>
                <a:off x="1014095" y="6196965"/>
                <a:ext cx="439420" cy="368300"/>
              </a:xfrm>
              <a:prstGeom prst="rect">
                <a:avLst/>
              </a:prstGeom>
              <a:blipFill rotWithShape="1">
                <a:blip r:embed="rId7"/>
                <a:stretch>
                  <a:fillRect/>
                </a:stretch>
              </a:blipFill>
            </p:spPr>
            <p:txBody>
              <a:bodyPr/>
              <a:lstStyle/>
              <a:p>
                <a:r>
                  <a:rPr lang="zh-CN" altLang="en-US">
                    <a:noFill/>
                  </a:rPr>
                  <a:t> </a:t>
                </a:r>
              </a:p>
            </p:txBody>
          </p:sp>
        </mc:Fallback>
      </mc:AlternateContent>
      <p:sp>
        <p:nvSpPr>
          <p:cNvPr id="45" name="文本框 44"/>
          <p:cNvSpPr txBox="1"/>
          <p:nvPr/>
        </p:nvSpPr>
        <p:spPr>
          <a:xfrm>
            <a:off x="388620" y="3848735"/>
            <a:ext cx="3261360" cy="368300"/>
          </a:xfrm>
          <a:prstGeom prst="rect">
            <a:avLst/>
          </a:prstGeom>
          <a:noFill/>
        </p:spPr>
        <p:txBody>
          <a:bodyPr wrap="square" rtlCol="0">
            <a:spAutoFit/>
          </a:bodyPr>
          <a:lstStyle/>
          <a:p>
            <a:r>
              <a:rPr lang="en-US" altLang="zh-CN"/>
              <a:t>5</a:t>
            </a:r>
            <a:r>
              <a:rPr lang="zh-CN" altLang="en-US"/>
              <a:t>）将关系式带入最优化问题：</a:t>
            </a:r>
            <a:endParaRPr lang="zh-CN" altLang="en-US"/>
          </a:p>
        </p:txBody>
      </p:sp>
      <p:sp>
        <p:nvSpPr>
          <p:cNvPr id="26" name="矩形 25"/>
          <p:cNvSpPr/>
          <p:nvPr>
            <p:custDataLst>
              <p:tags r:id="rId9"/>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27" name="矩形 26"/>
          <p:cNvSpPr/>
          <p:nvPr>
            <p:custDataLst>
              <p:tags r:id="rId10"/>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8" name="文本框 27"/>
          <p:cNvSpPr txBox="1"/>
          <p:nvPr>
            <p:custDataLst>
              <p:tags r:id="rId11"/>
            </p:custDataLst>
          </p:nvPr>
        </p:nvSpPr>
        <p:spPr>
          <a:xfrm>
            <a:off x="420370" y="323215"/>
            <a:ext cx="220281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思考题答案</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01625" y="1141730"/>
            <a:ext cx="11321415" cy="368300"/>
          </a:xfrm>
          <a:prstGeom prst="rect">
            <a:avLst/>
          </a:prstGeom>
          <a:noFill/>
        </p:spPr>
        <p:txBody>
          <a:bodyPr wrap="square" rtlCol="0" anchor="t">
            <a:spAutoFit/>
          </a:bodyPr>
          <a:lstStyle/>
          <a:p>
            <a:r>
              <a:rPr lang="en-US" altLang="zh-CN" b="1">
                <a:sym typeface="+mn-ea"/>
              </a:rPr>
              <a:t>5-2 </a:t>
            </a:r>
            <a:r>
              <a:rPr lang="zh-CN">
                <a:latin typeface="Cambria Math" panose="02040503050406030204" pitchFamily="18" charset="0"/>
                <a:cs typeface="Cambria Math" panose="02040503050406030204" pitchFamily="18" charset="0"/>
                <a:sym typeface="+mn-ea"/>
              </a:rPr>
              <a:t>答案</a:t>
            </a:r>
            <a:endParaRPr lang="zh-CN">
              <a:latin typeface="Cambria Math" panose="02040503050406030204" pitchFamily="18" charset="0"/>
              <a:cs typeface="Cambria Math" panose="02040503050406030204" pitchFamily="18" charset="0"/>
              <a:sym typeface="+mn-ea"/>
            </a:endParaRPr>
          </a:p>
        </p:txBody>
      </p:sp>
      <p:sp>
        <p:nvSpPr>
          <p:cNvPr id="26" name="矩形 25"/>
          <p:cNvSpPr/>
          <p:nvPr>
            <p:custDataLst>
              <p:tags r:id="rId1"/>
            </p:custDataLst>
          </p:nvPr>
        </p:nvSpPr>
        <p:spPr>
          <a:xfrm>
            <a:off x="269240" y="381635"/>
            <a:ext cx="85090" cy="40259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charset="0"/>
              <a:cs typeface="Times New Roman" panose="02020603050405020304" charset="0"/>
            </a:endParaRPr>
          </a:p>
        </p:txBody>
      </p:sp>
      <p:sp>
        <p:nvSpPr>
          <p:cNvPr id="27" name="矩形 26"/>
          <p:cNvSpPr/>
          <p:nvPr>
            <p:custDataLst>
              <p:tags r:id="rId2"/>
            </p:custDataLst>
          </p:nvPr>
        </p:nvSpPr>
        <p:spPr>
          <a:xfrm>
            <a:off x="269042" y="928018"/>
            <a:ext cx="11354540" cy="4571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Times New Roman" panose="02020603050405020304" charset="0"/>
              <a:cs typeface="Times New Roman" panose="02020603050405020304" charset="0"/>
              <a:sym typeface="+mn-ea"/>
            </a:endParaRPr>
          </a:p>
        </p:txBody>
      </p:sp>
      <p:sp>
        <p:nvSpPr>
          <p:cNvPr id="28" name="文本框 27"/>
          <p:cNvSpPr txBox="1"/>
          <p:nvPr>
            <p:custDataLst>
              <p:tags r:id="rId3"/>
            </p:custDataLst>
          </p:nvPr>
        </p:nvSpPr>
        <p:spPr>
          <a:xfrm>
            <a:off x="420370" y="323215"/>
            <a:ext cx="2202815" cy="521970"/>
          </a:xfrm>
          <a:prstGeom prst="rect">
            <a:avLst/>
          </a:prstGeom>
          <a:noFill/>
        </p:spPr>
        <p:txBody>
          <a:bodyPr wrap="square" rtlCol="0">
            <a:spAutoFit/>
            <a:scene3d>
              <a:camera prst="orthographicFront"/>
              <a:lightRig rig="threePt" dir="t"/>
            </a:scene3d>
          </a:bodyPr>
          <a:lstStyle/>
          <a:p>
            <a:r>
              <a:rPr lang="zh-CN" altLang="en-US" sz="2800" b="1" spc="200" dirty="0">
                <a:solidFill>
                  <a:srgbClr val="0070C0"/>
                </a:solidFill>
                <a:uFillTx/>
                <a:latin typeface="微软雅黑" panose="020B0503020204020204" charset="-122"/>
                <a:ea typeface="微软雅黑" panose="020B0503020204020204" charset="-122"/>
                <a:cs typeface="+mj-cs"/>
              </a:rPr>
              <a:t>思考题答案</a:t>
            </a:r>
            <a:endParaRPr lang="zh-CN" altLang="en-US" sz="2800" b="1" spc="200" dirty="0">
              <a:solidFill>
                <a:srgbClr val="0070C0"/>
              </a:solidFill>
              <a:uFillTx/>
              <a:latin typeface="微软雅黑" panose="020B0503020204020204" charset="-122"/>
              <a:ea typeface="微软雅黑" panose="020B0503020204020204" charset="-122"/>
              <a:cs typeface="+mj-cs"/>
            </a:endParaRPr>
          </a:p>
        </p:txBody>
      </p:sp>
      <p:pic>
        <p:nvPicPr>
          <p:cNvPr id="2" name="图片 1"/>
          <p:cNvPicPr>
            <a:picLocks noChangeAspect="1"/>
          </p:cNvPicPr>
          <p:nvPr/>
        </p:nvPicPr>
        <p:blipFill>
          <a:blip r:embed="rId4"/>
          <a:stretch>
            <a:fillRect/>
          </a:stretch>
        </p:blipFill>
        <p:spPr>
          <a:xfrm>
            <a:off x="1631950" y="1190625"/>
            <a:ext cx="6800850" cy="541020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UNIT_PLACING_PICTURE_USER_VIEWPORT" val="{&quot;height&quot;:6060,&quot;width&quot;:13260}"/>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PP_MARK_KEY" val="ce225390-6514-4faa-84f2-e89cbf6ee03a"/>
  <p:tag name="COMMONDATA" val="eyJoZGlkIjoiZWVhYmRhZTIyMDlkYTBlYWEwMTNhN2ZhYWRhYjdkNGUifQ=="/>
  <p:tag name="commondata" val="eyJoZGlkIjoiNGZlOTEyN2FjOTYyM2RkZDFhMzc2OGZlNDc3OTZmYz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15041</Words>
  <Application>WPS 演示</Application>
  <PresentationFormat>宽屏</PresentationFormat>
  <Paragraphs>956</Paragraphs>
  <Slides>49</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49</vt:i4>
      </vt:variant>
    </vt:vector>
  </HeadingPairs>
  <TitlesOfParts>
    <vt:vector size="63" baseType="lpstr">
      <vt:lpstr>Arial</vt:lpstr>
      <vt:lpstr>宋体</vt:lpstr>
      <vt:lpstr>Wingdings</vt:lpstr>
      <vt:lpstr>黑体</vt:lpstr>
      <vt:lpstr>Times New Roman</vt:lpstr>
      <vt:lpstr>微软雅黑</vt:lpstr>
      <vt:lpstr>华文琥珀</vt:lpstr>
      <vt:lpstr>微软雅黑 Light</vt:lpstr>
      <vt:lpstr>Cambria Math</vt:lpstr>
      <vt:lpstr>Arial Unicode MS</vt:lpstr>
      <vt:lpstr>Calibri</vt:lpstr>
      <vt:lpstr>MS Mincho</vt:lpstr>
      <vt:lpstr>AMGDT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王泽林</dc:creator>
  <cp:lastModifiedBy>周意尧</cp:lastModifiedBy>
  <cp:revision>299</cp:revision>
  <dcterms:created xsi:type="dcterms:W3CDTF">2022-04-13T13:21:00Z</dcterms:created>
  <dcterms:modified xsi:type="dcterms:W3CDTF">2024-12-30T08:41:18Z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B462288B34EB402DA6EF70CBA2B234F3</vt:lpwstr>
  </property>
  <property fmtid="{D5CDD505-2E9C-101B-9397-08002B2CF9AE}" pid="3" name="KSOProductBuildVer">
    <vt:lpwstr>2052-12.1.0.18276</vt:lpwstr>
  </property>
  <property fmtid="{D5CDD505-2E9C-101B-9397-08002B2CF9AE}" pid="4" name="commondata">
    <vt:lpwstr>eyJoZGlkIjoiNWRiN2EzOTIwNTFkMWRjYjlhM2M2MjEwMTAzOTAyMTAifQ==</vt:lpwstr>
  </property>
</Properties>
</file>