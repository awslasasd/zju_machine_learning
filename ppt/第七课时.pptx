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1040" r:id="rId3"/>
    <p:sldId id="302" r:id="rId4"/>
    <p:sldId id="972" r:id="rId5"/>
    <p:sldId id="625" r:id="rId6"/>
    <p:sldId id="891" r:id="rId7"/>
    <p:sldId id="939" r:id="rId8"/>
    <p:sldId id="940" r:id="rId9"/>
    <p:sldId id="892" r:id="rId10"/>
    <p:sldId id="936" r:id="rId11"/>
    <p:sldId id="971" r:id="rId12"/>
    <p:sldId id="895" r:id="rId13"/>
    <p:sldId id="937" r:id="rId15"/>
    <p:sldId id="938" r:id="rId16"/>
    <p:sldId id="970" r:id="rId17"/>
    <p:sldId id="900" r:id="rId18"/>
    <p:sldId id="905" r:id="rId19"/>
    <p:sldId id="906" r:id="rId20"/>
    <p:sldId id="907" r:id="rId21"/>
    <p:sldId id="969" r:id="rId22"/>
    <p:sldId id="902" r:id="rId23"/>
    <p:sldId id="912" r:id="rId24"/>
    <p:sldId id="944" r:id="rId25"/>
    <p:sldId id="945" r:id="rId26"/>
    <p:sldId id="946" r:id="rId27"/>
    <p:sldId id="959" r:id="rId28"/>
    <p:sldId id="960" r:id="rId29"/>
    <p:sldId id="961" r:id="rId30"/>
    <p:sldId id="968" r:id="rId31"/>
    <p:sldId id="904" r:id="rId32"/>
    <p:sldId id="949" r:id="rId33"/>
    <p:sldId id="950" r:id="rId34"/>
    <p:sldId id="951" r:id="rId35"/>
    <p:sldId id="952" r:id="rId36"/>
    <p:sldId id="973" r:id="rId37"/>
    <p:sldId id="967" r:id="rId38"/>
    <p:sldId id="921" r:id="rId39"/>
    <p:sldId id="956" r:id="rId40"/>
    <p:sldId id="974" r:id="rId41"/>
    <p:sldId id="962" r:id="rId42"/>
    <p:sldId id="963" r:id="rId43"/>
    <p:sldId id="975" r:id="rId44"/>
    <p:sldId id="976" r:id="rId45"/>
    <p:sldId id="977" r:id="rId46"/>
    <p:sldId id="955" r:id="rId47"/>
    <p:sldId id="923" r:id="rId48"/>
    <p:sldId id="1028" r:id="rId49"/>
    <p:sldId id="935" r:id="rId50"/>
    <p:sldId id="1029" r:id="rId51"/>
    <p:sldId id="1019" r:id="rId52"/>
    <p:sldId id="1020" r:id="rId53"/>
    <p:sldId id="1021" r:id="rId54"/>
    <p:sldId id="1022" r:id="rId55"/>
    <p:sldId id="1023" r:id="rId56"/>
    <p:sldId id="1024" r:id="rId57"/>
    <p:sldId id="1025" r:id="rId58"/>
    <p:sldId id="1026" r:id="rId59"/>
    <p:sldId id="1027" r:id="rId60"/>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60905" initials="6"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61" d="100"/>
          <a:sy n="161" d="100"/>
        </p:scale>
        <p:origin x="112"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5" Type="http://schemas.openxmlformats.org/officeDocument/2006/relationships/tags" Target="tags/tag126.xml"/><Relationship Id="rId64" Type="http://schemas.openxmlformats.org/officeDocument/2006/relationships/commentAuthors" Target="commentAuthors.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5.xml"/><Relationship Id="rId6" Type="http://schemas.openxmlformats.org/officeDocument/2006/relationships/image" Target="../media/image9.png"/><Relationship Id="rId5" Type="http://schemas.openxmlformats.org/officeDocument/2006/relationships/tags" Target="../tags/tag4.xml"/><Relationship Id="rId4" Type="http://schemas.openxmlformats.org/officeDocument/2006/relationships/image" Target="../media/image8.png"/><Relationship Id="rId3" Type="http://schemas.openxmlformats.org/officeDocument/2006/relationships/tags" Target="../tags/tag3.xml"/><Relationship Id="rId2" Type="http://schemas.openxmlformats.org/officeDocument/2006/relationships/image" Target="../media/image7.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8" Type="http://schemas.openxmlformats.org/officeDocument/2006/relationships/slideLayout" Target="../slideLayouts/slideLayout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image" Target="../media/image14.png"/><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2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tags" Target="../tags/tag23.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7.png"/><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image" Target="../media/image26.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tags" Target="../tags/tag29.xml"/><Relationship Id="rId1" Type="http://schemas.openxmlformats.org/officeDocument/2006/relationships/tags" Target="../tags/tag28.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tags" Target="../tags/tag31.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tags" Target="../tags/tag33.xml"/><Relationship Id="rId1" Type="http://schemas.openxmlformats.org/officeDocument/2006/relationships/tags" Target="../tags/tag3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6.png"/><Relationship Id="rId2" Type="http://schemas.openxmlformats.org/officeDocument/2006/relationships/tags" Target="../tags/tag35.xml"/><Relationship Id="rId1" Type="http://schemas.openxmlformats.org/officeDocument/2006/relationships/tags" Target="../tags/tag3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2" Type="http://schemas.openxmlformats.org/officeDocument/2006/relationships/slideLayout" Target="../slideLayouts/slideLayout2.xml"/><Relationship Id="rId21" Type="http://schemas.openxmlformats.org/officeDocument/2006/relationships/image" Target="../media/image46.png"/><Relationship Id="rId20" Type="http://schemas.openxmlformats.org/officeDocument/2006/relationships/tags" Target="../tags/tag48.xml"/><Relationship Id="rId2" Type="http://schemas.openxmlformats.org/officeDocument/2006/relationships/tags" Target="../tags/tag38.xml"/><Relationship Id="rId19" Type="http://schemas.openxmlformats.org/officeDocument/2006/relationships/tags" Target="../tags/tag47.xml"/><Relationship Id="rId18" Type="http://schemas.openxmlformats.org/officeDocument/2006/relationships/image" Target="../media/image45.png"/><Relationship Id="rId17" Type="http://schemas.openxmlformats.org/officeDocument/2006/relationships/tags" Target="../tags/tag46.xml"/><Relationship Id="rId16" Type="http://schemas.openxmlformats.org/officeDocument/2006/relationships/image" Target="../media/image44.png"/><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image" Target="../media/image43.png"/><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7.xml"/></Relationships>
</file>

<file path=ppt/slides/_rels/slide30.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image" Target="../media/image49.png"/><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image" Target="../media/image40.png"/><Relationship Id="rId4" Type="http://schemas.openxmlformats.org/officeDocument/2006/relationships/tags" Target="../tags/tag50.xml"/><Relationship Id="rId30" Type="http://schemas.openxmlformats.org/officeDocument/2006/relationships/slideLayout" Target="../slideLayouts/slideLayout2.xml"/><Relationship Id="rId3" Type="http://schemas.openxmlformats.org/officeDocument/2006/relationships/tags" Target="../tags/tag49.xml"/><Relationship Id="rId29" Type="http://schemas.openxmlformats.org/officeDocument/2006/relationships/image" Target="../media/image54.png"/><Relationship Id="rId28" Type="http://schemas.openxmlformats.org/officeDocument/2006/relationships/tags" Target="../tags/tag68.xml"/><Relationship Id="rId27" Type="http://schemas.openxmlformats.org/officeDocument/2006/relationships/tags" Target="../tags/tag67.xml"/><Relationship Id="rId26" Type="http://schemas.openxmlformats.org/officeDocument/2006/relationships/image" Target="../media/image53.png"/><Relationship Id="rId25" Type="http://schemas.openxmlformats.org/officeDocument/2006/relationships/tags" Target="../tags/tag66.xml"/><Relationship Id="rId24" Type="http://schemas.openxmlformats.org/officeDocument/2006/relationships/tags" Target="../tags/tag65.xml"/><Relationship Id="rId23" Type="http://schemas.openxmlformats.org/officeDocument/2006/relationships/tags" Target="../tags/tag64.xml"/><Relationship Id="rId22" Type="http://schemas.openxmlformats.org/officeDocument/2006/relationships/tags" Target="../tags/tag63.xml"/><Relationship Id="rId21" Type="http://schemas.openxmlformats.org/officeDocument/2006/relationships/image" Target="../media/image52.png"/><Relationship Id="rId20" Type="http://schemas.openxmlformats.org/officeDocument/2006/relationships/tags" Target="../tags/tag62.xml"/><Relationship Id="rId2" Type="http://schemas.openxmlformats.org/officeDocument/2006/relationships/image" Target="../media/image48.png"/><Relationship Id="rId19" Type="http://schemas.openxmlformats.org/officeDocument/2006/relationships/tags" Target="../tags/tag61.xml"/><Relationship Id="rId18" Type="http://schemas.openxmlformats.org/officeDocument/2006/relationships/image" Target="../media/image51.png"/><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image" Target="../media/image50.png"/><Relationship Id="rId10" Type="http://schemas.openxmlformats.org/officeDocument/2006/relationships/tags" Target="../tags/tag54.xml"/><Relationship Id="rId1" Type="http://schemas.openxmlformats.org/officeDocument/2006/relationships/image" Target="../media/image47.png"/></Relationships>
</file>

<file path=ppt/slides/_rels/slide31.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image" Target="../media/image57.png"/><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image" Target="../media/image56.png"/><Relationship Id="rId3" Type="http://schemas.openxmlformats.org/officeDocument/2006/relationships/tags" Target="../tags/tag70.xml"/><Relationship Id="rId29" Type="http://schemas.openxmlformats.org/officeDocument/2006/relationships/slideLayout" Target="../slideLayouts/slideLayout2.xml"/><Relationship Id="rId28" Type="http://schemas.openxmlformats.org/officeDocument/2006/relationships/image" Target="../media/image62.png"/><Relationship Id="rId27" Type="http://schemas.openxmlformats.org/officeDocument/2006/relationships/tags" Target="../tags/tag88.xml"/><Relationship Id="rId26" Type="http://schemas.openxmlformats.org/officeDocument/2006/relationships/tags" Target="../tags/tag87.xml"/><Relationship Id="rId25" Type="http://schemas.openxmlformats.org/officeDocument/2006/relationships/image" Target="../media/image61.png"/><Relationship Id="rId24" Type="http://schemas.openxmlformats.org/officeDocument/2006/relationships/tags" Target="../tags/tag86.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image" Target="../media/image60.png"/><Relationship Id="rId2" Type="http://schemas.openxmlformats.org/officeDocument/2006/relationships/tags" Target="../tags/tag69.xml"/><Relationship Id="rId19" Type="http://schemas.openxmlformats.org/officeDocument/2006/relationships/tags" Target="../tags/tag82.xml"/><Relationship Id="rId18" Type="http://schemas.openxmlformats.org/officeDocument/2006/relationships/tags" Target="../tags/tag81.xml"/><Relationship Id="rId17" Type="http://schemas.openxmlformats.org/officeDocument/2006/relationships/image" Target="../media/image59.png"/><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image" Target="../media/image58.png"/><Relationship Id="rId1" Type="http://schemas.openxmlformats.org/officeDocument/2006/relationships/image" Target="../media/image55.png"/></Relationships>
</file>

<file path=ppt/slides/_rels/slide32.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image" Target="../media/image66.png"/><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image" Target="../media/image65.png"/><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image" Target="../media/image64.png"/><Relationship Id="rId13" Type="http://schemas.openxmlformats.org/officeDocument/2006/relationships/slideLayout" Target="../slideLayouts/slideLayout2.xml"/><Relationship Id="rId12" Type="http://schemas.openxmlformats.org/officeDocument/2006/relationships/image" Target="../media/image67.png"/><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image" Target="../media/image6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image" Target="../media/image69.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0.png"/><Relationship Id="rId2" Type="http://schemas.openxmlformats.org/officeDocument/2006/relationships/tags" Target="../tags/tag113.xml"/><Relationship Id="rId1" Type="http://schemas.openxmlformats.org/officeDocument/2006/relationships/tags" Target="../tags/tag11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GI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tags" Target="../tags/tag115.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tags" Target="../tags/tag11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tags" Target="../tags/tag118.xml"/><Relationship Id="rId1" Type="http://schemas.openxmlformats.org/officeDocument/2006/relationships/tags" Target="../tags/tag11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tags" Target="../tags/tag120.xml"/><Relationship Id="rId1" Type="http://schemas.openxmlformats.org/officeDocument/2006/relationships/tags" Target="../tags/tag119.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tags" Target="../tags/tag122.xml"/><Relationship Id="rId1" Type="http://schemas.openxmlformats.org/officeDocument/2006/relationships/tags" Target="../tags/tag121.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0.png"/><Relationship Id="rId2" Type="http://schemas.openxmlformats.org/officeDocument/2006/relationships/tags" Target="../tags/tag124.xml"/><Relationship Id="rId1" Type="http://schemas.openxmlformats.org/officeDocument/2006/relationships/tags" Target="../tags/tag123.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smtClean="0">
                <a:latin typeface="黑体" panose="02010609060101010101" charset="-122"/>
                <a:ea typeface="黑体" panose="02010609060101010101" charset="-122"/>
                <a:cs typeface="Times New Roman" panose="02020603050405020304" charset="0"/>
              </a:rPr>
              <a:t>周建光</a:t>
            </a:r>
            <a:endParaRPr lang="en-US" altLang="zh-CN" sz="3600" b="1" dirty="0" smtClean="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smtClean="0">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smtClean="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a:t>
            </a: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与机器人</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4685665" cy="1325880"/>
          </a:xfrm>
        </p:spPr>
        <p:txBody>
          <a:bodyPr/>
          <a:lstStyle/>
          <a:p>
            <a:r>
              <a:rPr lang="zh-CN" altLang="en-US" dirty="0"/>
              <a:t>本课程内容</a:t>
            </a:r>
            <a:endParaRPr lang="en-GB" dirty="0"/>
          </a:p>
        </p:txBody>
      </p:sp>
      <p:sp>
        <p:nvSpPr>
          <p:cNvPr id="6" name="Content Placeholder 5"/>
          <p:cNvSpPr>
            <a:spLocks noGrp="1"/>
          </p:cNvSpPr>
          <p:nvPr>
            <p:ph idx="1"/>
          </p:nvPr>
        </p:nvSpPr>
        <p:spPr>
          <a:xfrm>
            <a:off x="838200" y="1764030"/>
            <a:ext cx="3955415" cy="2896870"/>
          </a:xfrm>
        </p:spPr>
        <p:txBody>
          <a:bodyPr/>
          <a:lstStyle/>
          <a:p>
            <a:r>
              <a:rPr lang="zh-CN" altLang="en-US" sz="2000" dirty="0"/>
              <a:t>人工智能与机器学习绪论</a:t>
            </a:r>
            <a:endParaRPr lang="zh-CN" altLang="en-US" sz="2000" dirty="0"/>
          </a:p>
          <a:p>
            <a:r>
              <a:rPr lang="zh-CN" altLang="en-US" sz="2000" dirty="0">
                <a:sym typeface="+mn-ea"/>
              </a:rPr>
              <a:t>机器学习——概念学习</a:t>
            </a:r>
            <a:endParaRPr lang="zh-CN" altLang="en-US" sz="2000" dirty="0"/>
          </a:p>
          <a:p>
            <a:pPr algn="l">
              <a:buClrTx/>
              <a:buSzTx/>
            </a:pPr>
            <a:r>
              <a:rPr lang="zh-CN" altLang="en-US" sz="2000" dirty="0"/>
              <a:t>机器学习——决策树与随机森林</a:t>
            </a:r>
            <a:endParaRPr lang="zh-CN" altLang="en-US" sz="2000" dirty="0"/>
          </a:p>
          <a:p>
            <a:pPr algn="l">
              <a:buClrTx/>
              <a:buSzTx/>
            </a:pPr>
            <a:r>
              <a:rPr lang="zh-CN" altLang="en-US" sz="2000" dirty="0"/>
              <a:t>机器学习——神经网络</a:t>
            </a:r>
            <a:endParaRPr lang="zh-CN" altLang="en-US" sz="2000" dirty="0"/>
          </a:p>
          <a:p>
            <a:pPr algn="l">
              <a:buClrTx/>
              <a:buSzTx/>
            </a:pPr>
            <a:r>
              <a:rPr lang="zh-CN" altLang="en-US" sz="2000" dirty="0">
                <a:sym typeface="+mn-ea"/>
              </a:rPr>
              <a:t>机器学习——支持向量机</a:t>
            </a:r>
            <a:endParaRPr lang="zh-CN" altLang="en-US" sz="2000" dirty="0">
              <a:sym typeface="+mn-ea"/>
            </a:endParaRPr>
          </a:p>
          <a:p>
            <a:pPr algn="l">
              <a:buClrTx/>
              <a:buSzTx/>
            </a:pPr>
            <a:r>
              <a:rPr lang="zh-CN" altLang="en-US" sz="2000" dirty="0">
                <a:sym typeface="+mn-ea"/>
              </a:rPr>
              <a:t>机器学习——贝叶斯分类器</a:t>
            </a:r>
            <a:endParaRPr lang="zh-CN" altLang="en-US" sz="2000" dirty="0">
              <a:sym typeface="+mn-ea"/>
            </a:endParaRPr>
          </a:p>
          <a:p>
            <a:pPr algn="l">
              <a:buClrTx/>
              <a:buSzTx/>
            </a:pPr>
            <a:r>
              <a:rPr lang="zh-CN" altLang="en-US" sz="2000" b="1" dirty="0">
                <a:solidFill>
                  <a:schemeClr val="accent5">
                    <a:lumMod val="75000"/>
                  </a:schemeClr>
                </a:solidFill>
                <a:sym typeface="+mn-ea"/>
              </a:rPr>
              <a:t>机器学习——强化学习</a:t>
            </a:r>
            <a:endParaRPr lang="zh-CN" altLang="en-US" sz="2000" b="1" dirty="0">
              <a:solidFill>
                <a:schemeClr val="accent5">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什么是强化学习？</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417195" y="1168400"/>
            <a:ext cx="10979785" cy="70040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强化学习</a:t>
            </a:r>
            <a:r>
              <a:rPr lang="zh-CN" altLang="en-US"/>
              <a:t>：又称再励学习、评价学习或增强学习，是机器学习的范式和方法论之一，用于描述和解决智能体</a:t>
            </a:r>
            <a:endParaRPr lang="zh-CN" altLang="en-US"/>
          </a:p>
          <a:p>
            <a:pPr>
              <a:lnSpc>
                <a:spcPct val="20000"/>
              </a:lnSpc>
            </a:pPr>
            <a:endParaRPr lang="zh-CN" altLang="en-US"/>
          </a:p>
          <a:p>
            <a:r>
              <a:rPr lang="zh-CN" altLang="en-US"/>
              <a:t> </a:t>
            </a:r>
            <a:r>
              <a:rPr lang="en-US" altLang="zh-CN"/>
              <a:t>                     </a:t>
            </a:r>
            <a:r>
              <a:rPr lang="zh-CN" altLang="en-US"/>
              <a:t>在与环境的交互过程中通过学习策略以达成回报最大化或实现特定目标的问题</a:t>
            </a:r>
            <a:endParaRPr lang="zh-CN" altLang="en-US"/>
          </a:p>
        </p:txBody>
      </p:sp>
      <p:pic>
        <p:nvPicPr>
          <p:cNvPr id="10" name="图片 2"/>
          <p:cNvPicPr>
            <a:picLocks noChangeAspect="1"/>
          </p:cNvPicPr>
          <p:nvPr>
            <p:custDataLst>
              <p:tags r:id="rId1"/>
            </p:custDataLst>
          </p:nvPr>
        </p:nvPicPr>
        <p:blipFill>
          <a:blip r:embed="rId2"/>
          <a:stretch>
            <a:fillRect/>
          </a:stretch>
        </p:blipFill>
        <p:spPr>
          <a:xfrm>
            <a:off x="624205" y="2005965"/>
            <a:ext cx="4460240" cy="4341495"/>
          </a:xfrm>
          <a:prstGeom prst="rect">
            <a:avLst/>
          </a:prstGeom>
          <a:noFill/>
          <a:ln>
            <a:noFill/>
          </a:ln>
        </p:spPr>
      </p:pic>
      <p:sp>
        <p:nvSpPr>
          <p:cNvPr id="11" name="文本框 10"/>
          <p:cNvSpPr txBox="1"/>
          <p:nvPr/>
        </p:nvSpPr>
        <p:spPr>
          <a:xfrm>
            <a:off x="5412105" y="2884170"/>
            <a:ext cx="6715125" cy="2030095"/>
          </a:xfrm>
          <a:prstGeom prst="rect">
            <a:avLst/>
          </a:prstGeom>
          <a:noFill/>
        </p:spPr>
        <p:txBody>
          <a:bodyPr wrap="square" rtlCol="0">
            <a:spAutoFit/>
          </a:bodyPr>
          <a:p>
            <a:r>
              <a:rPr lang="en-US" altLang="zh-CN" b="1"/>
              <a:t>Agent</a:t>
            </a:r>
            <a:r>
              <a:rPr lang="zh-CN" altLang="en-US" b="1"/>
              <a:t>：智能体</a:t>
            </a:r>
            <a:r>
              <a:rPr lang="en-US" altLang="zh-CN" b="1"/>
              <a:t>(强化学习的本体，作为学习者或者决策者)</a:t>
            </a:r>
            <a:endParaRPr lang="zh-CN" altLang="en-US" b="1"/>
          </a:p>
          <a:p>
            <a:pPr>
              <a:lnSpc>
                <a:spcPct val="50000"/>
              </a:lnSpc>
            </a:pPr>
            <a:endParaRPr lang="zh-CN" altLang="en-US" b="1"/>
          </a:p>
          <a:p>
            <a:r>
              <a:rPr lang="en-US" altLang="zh-CN" b="1"/>
              <a:t>Environment</a:t>
            </a:r>
            <a:r>
              <a:rPr lang="zh-CN" altLang="en-US" b="1"/>
              <a:t>：环境</a:t>
            </a:r>
            <a:r>
              <a:rPr lang="en-US" altLang="zh-CN" b="1"/>
              <a:t>(</a:t>
            </a:r>
            <a:r>
              <a:rPr lang="zh-CN" altLang="en-US" b="1"/>
              <a:t>强化学习智能体以外的一切</a:t>
            </a:r>
            <a:r>
              <a:rPr lang="en-US" altLang="zh-CN" b="1"/>
              <a:t>)</a:t>
            </a:r>
            <a:endParaRPr lang="zh-CN" altLang="en-US" b="1"/>
          </a:p>
          <a:p>
            <a:pPr>
              <a:lnSpc>
                <a:spcPct val="50000"/>
              </a:lnSpc>
            </a:pPr>
            <a:endParaRPr lang="zh-CN" altLang="en-US" b="1"/>
          </a:p>
          <a:p>
            <a:r>
              <a:rPr lang="en-US" altLang="zh-CN" b="1"/>
              <a:t>State</a:t>
            </a:r>
            <a:r>
              <a:rPr lang="zh-CN" altLang="en-US" b="1"/>
              <a:t>：状态</a:t>
            </a:r>
            <a:r>
              <a:rPr lang="en-US" altLang="zh-CN" b="1"/>
              <a:t>(一个表示环境的数据)</a:t>
            </a:r>
            <a:endParaRPr lang="zh-CN" altLang="en-US" b="1"/>
          </a:p>
          <a:p>
            <a:pPr>
              <a:lnSpc>
                <a:spcPct val="50000"/>
              </a:lnSpc>
            </a:pPr>
            <a:endParaRPr lang="zh-CN" altLang="en-US" b="1"/>
          </a:p>
          <a:p>
            <a:r>
              <a:rPr lang="en-US" altLang="zh-CN" b="1"/>
              <a:t>Action</a:t>
            </a:r>
            <a:r>
              <a:rPr lang="zh-CN" altLang="en-US" b="1"/>
              <a:t>：行为</a:t>
            </a:r>
            <a:r>
              <a:rPr lang="en-US" altLang="zh-CN" b="1"/>
              <a:t>(智能体可以做出的动作)</a:t>
            </a:r>
            <a:endParaRPr lang="zh-CN" altLang="en-US" b="1"/>
          </a:p>
          <a:p>
            <a:pPr>
              <a:lnSpc>
                <a:spcPct val="50000"/>
              </a:lnSpc>
            </a:pPr>
            <a:endParaRPr lang="zh-CN" altLang="en-US" b="1"/>
          </a:p>
          <a:p>
            <a:r>
              <a:rPr lang="en-US" altLang="zh-CN" b="1"/>
              <a:t>Reward</a:t>
            </a:r>
            <a:r>
              <a:rPr lang="zh-CN" altLang="en-US" b="1"/>
              <a:t>：奖励</a:t>
            </a:r>
            <a:r>
              <a:rPr lang="en-US" altLang="zh-CN" b="1"/>
              <a:t>(智能体在执行一个动作后，获得的正/负反馈信号)</a:t>
            </a:r>
            <a:endParaRPr lang="en-US" altLang="zh-CN" b="1"/>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026160"/>
            <a:ext cx="11321415" cy="194691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强化学习</a:t>
            </a:r>
            <a:r>
              <a:rPr lang="zh-CN" altLang="en-US"/>
              <a:t>推理过程：</a:t>
            </a:r>
            <a:endParaRPr lang="zh-CN" altLang="en-US"/>
          </a:p>
          <a:p>
            <a:pPr>
              <a:lnSpc>
                <a:spcPct val="70000"/>
              </a:lnSpc>
            </a:pPr>
            <a:endParaRPr lang="zh-CN" altLang="en-US"/>
          </a:p>
          <a:p>
            <a:r>
              <a:rPr lang="en-US" altLang="zh-CN"/>
              <a:t>1</a:t>
            </a:r>
            <a:r>
              <a:rPr lang="zh-CN" altLang="en-US"/>
              <a:t>）智能体通过观察环境得到环境中针对于当前任务所关心的当前状态</a:t>
            </a:r>
            <a:endParaRPr lang="zh-CN" altLang="en-US"/>
          </a:p>
          <a:p>
            <a:endParaRPr lang="zh-CN" altLang="en-US"/>
          </a:p>
          <a:p>
            <a:r>
              <a:rPr lang="en-US" altLang="zh-CN"/>
              <a:t>2</a:t>
            </a:r>
            <a:r>
              <a:rPr lang="zh-CN" altLang="en-US"/>
              <a:t>）根据环境的当前状态，智能体产生对应的行为作用于环境上，改变环境</a:t>
            </a:r>
            <a:endParaRPr lang="zh-CN" altLang="en-US"/>
          </a:p>
          <a:p>
            <a:endParaRPr lang="zh-CN" altLang="en-US"/>
          </a:p>
          <a:p>
            <a:r>
              <a:rPr lang="en-US" altLang="zh-CN"/>
              <a:t>3</a:t>
            </a:r>
            <a:r>
              <a:rPr lang="zh-CN" altLang="en-US"/>
              <a:t>）环境根据自身的改变产生对应的奖励反馈给智能体</a:t>
            </a:r>
            <a:endParaRPr lang="zh-CN" altLang="en-US"/>
          </a:p>
        </p:txBody>
      </p:sp>
      <p:pic>
        <p:nvPicPr>
          <p:cNvPr id="7" name="图片 6"/>
          <p:cNvPicPr>
            <a:picLocks noChangeAspect="1"/>
          </p:cNvPicPr>
          <p:nvPr>
            <p:custDataLst>
              <p:tags r:id="rId1"/>
            </p:custDataLst>
          </p:nvPr>
        </p:nvPicPr>
        <p:blipFill>
          <a:blip r:embed="rId2"/>
          <a:stretch>
            <a:fillRect/>
          </a:stretch>
        </p:blipFill>
        <p:spPr>
          <a:xfrm>
            <a:off x="445135" y="3211195"/>
            <a:ext cx="3157855" cy="3290570"/>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3896360" y="3180715"/>
            <a:ext cx="3534410" cy="3321050"/>
          </a:xfrm>
          <a:prstGeom prst="rect">
            <a:avLst/>
          </a:prstGeom>
        </p:spPr>
      </p:pic>
      <p:pic>
        <p:nvPicPr>
          <p:cNvPr id="9" name="图片 8"/>
          <p:cNvPicPr>
            <a:picLocks noChangeAspect="1"/>
          </p:cNvPicPr>
          <p:nvPr>
            <p:custDataLst>
              <p:tags r:id="rId5"/>
            </p:custDataLst>
          </p:nvPr>
        </p:nvPicPr>
        <p:blipFill>
          <a:blip r:embed="rId6"/>
          <a:stretch>
            <a:fillRect/>
          </a:stretch>
        </p:blipFill>
        <p:spPr>
          <a:xfrm>
            <a:off x="8322310" y="3211195"/>
            <a:ext cx="3494405" cy="3321685"/>
          </a:xfrm>
          <a:prstGeom prst="rect">
            <a:avLst/>
          </a:prstGeom>
        </p:spPr>
      </p:pic>
      <p:sp>
        <p:nvSpPr>
          <p:cNvPr id="11" name="右箭头 10"/>
          <p:cNvSpPr/>
          <p:nvPr/>
        </p:nvSpPr>
        <p:spPr>
          <a:xfrm>
            <a:off x="2921635" y="4435475"/>
            <a:ext cx="777875" cy="5321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右箭头 11"/>
          <p:cNvSpPr/>
          <p:nvPr>
            <p:custDataLst>
              <p:tags r:id="rId7"/>
            </p:custDataLst>
          </p:nvPr>
        </p:nvSpPr>
        <p:spPr>
          <a:xfrm>
            <a:off x="7487285" y="4435475"/>
            <a:ext cx="777875" cy="5321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026160"/>
            <a:ext cx="11321415" cy="2223770"/>
          </a:xfrm>
          <a:prstGeom prst="rect">
            <a:avLst/>
          </a:prstGeom>
          <a:noFill/>
        </p:spPr>
        <p:txBody>
          <a:bodyPr wrap="square" rtlCol="0">
            <a:spAutoFit/>
          </a:bodyPr>
          <a:p>
            <a:r>
              <a:rPr lang="zh-CN" altLang="en-US"/>
              <a:t>以下围棋为例：</a:t>
            </a:r>
            <a:endParaRPr lang="zh-CN" altLang="en-US"/>
          </a:p>
          <a:p>
            <a:pPr>
              <a:lnSpc>
                <a:spcPct val="70000"/>
              </a:lnSpc>
            </a:pPr>
            <a:endParaRPr lang="zh-CN" altLang="en-US"/>
          </a:p>
          <a:p>
            <a:r>
              <a:rPr lang="en-US" altLang="zh-CN">
                <a:sym typeface="+mn-ea"/>
              </a:rPr>
              <a:t>1</a:t>
            </a:r>
            <a:r>
              <a:rPr lang="zh-CN" altLang="en-US">
                <a:sym typeface="+mn-ea"/>
              </a:rPr>
              <a:t>）智能体</a:t>
            </a:r>
            <a:r>
              <a:rPr lang="en-US" altLang="zh-CN">
                <a:sym typeface="+mn-ea"/>
              </a:rPr>
              <a:t>(AlphaGo)</a:t>
            </a:r>
            <a:r>
              <a:rPr lang="zh-CN" altLang="en-US">
                <a:sym typeface="+mn-ea"/>
              </a:rPr>
              <a:t>通过观察环境</a:t>
            </a:r>
            <a:r>
              <a:rPr lang="en-US" altLang="zh-CN">
                <a:sym typeface="+mn-ea"/>
              </a:rPr>
              <a:t>(</a:t>
            </a:r>
            <a:r>
              <a:rPr lang="zh-CN" altLang="en-US">
                <a:sym typeface="+mn-ea"/>
              </a:rPr>
              <a:t>棋盘与对手</a:t>
            </a:r>
            <a:r>
              <a:rPr lang="en-US" altLang="zh-CN">
                <a:sym typeface="+mn-ea"/>
              </a:rPr>
              <a:t>)</a:t>
            </a:r>
            <a:r>
              <a:rPr lang="zh-CN" altLang="en-US">
                <a:sym typeface="+mn-ea"/>
              </a:rPr>
              <a:t>得到环境</a:t>
            </a:r>
            <a:r>
              <a:rPr lang="en-US" altLang="zh-CN">
                <a:sym typeface="+mn-ea"/>
              </a:rPr>
              <a:t>(</a:t>
            </a:r>
            <a:r>
              <a:rPr lang="zh-CN" altLang="en-US">
                <a:sym typeface="+mn-ea"/>
              </a:rPr>
              <a:t>棋盘</a:t>
            </a:r>
            <a:r>
              <a:rPr lang="zh-CN" altLang="en-US">
                <a:sym typeface="+mn-ea"/>
              </a:rPr>
              <a:t>与对手</a:t>
            </a:r>
            <a:r>
              <a:rPr lang="en-US" altLang="zh-CN">
                <a:sym typeface="+mn-ea"/>
              </a:rPr>
              <a:t>)</a:t>
            </a:r>
            <a:r>
              <a:rPr lang="zh-CN" altLang="en-US">
                <a:sym typeface="+mn-ea"/>
              </a:rPr>
              <a:t>中针对于当前任务</a:t>
            </a:r>
            <a:r>
              <a:rPr lang="en-US" altLang="zh-CN">
                <a:sym typeface="+mn-ea"/>
              </a:rPr>
              <a:t>(</a:t>
            </a:r>
            <a:r>
              <a:rPr lang="zh-CN" altLang="en-US">
                <a:sym typeface="+mn-ea"/>
              </a:rPr>
              <a:t>赢得比赛</a:t>
            </a:r>
            <a:r>
              <a:rPr lang="en-US" altLang="zh-CN">
                <a:sym typeface="+mn-ea"/>
              </a:rPr>
              <a:t>)</a:t>
            </a:r>
            <a:r>
              <a:rPr lang="zh-CN" altLang="en-US">
                <a:sym typeface="+mn-ea"/>
              </a:rPr>
              <a:t>所关心的当前状态</a:t>
            </a:r>
            <a:r>
              <a:rPr lang="en-US" altLang="zh-CN">
                <a:sym typeface="+mn-ea"/>
              </a:rPr>
              <a:t>(</a:t>
            </a:r>
            <a:r>
              <a:rPr lang="zh-CN" altLang="en-US">
                <a:sym typeface="+mn-ea"/>
              </a:rPr>
              <a:t>棋局局面</a:t>
            </a:r>
            <a:r>
              <a:rPr lang="en-US" altLang="zh-CN">
                <a:sym typeface="+mn-ea"/>
              </a:rPr>
              <a:t>)</a:t>
            </a:r>
            <a:endParaRPr lang="en-US" altLang="zh-CN">
              <a:sym typeface="+mn-ea"/>
            </a:endParaRPr>
          </a:p>
          <a:p>
            <a:pPr>
              <a:lnSpc>
                <a:spcPct val="50000"/>
              </a:lnSpc>
            </a:pPr>
            <a:endParaRPr lang="zh-CN" altLang="en-US"/>
          </a:p>
          <a:p>
            <a:r>
              <a:rPr lang="en-US" altLang="zh-CN">
                <a:sym typeface="+mn-ea"/>
              </a:rPr>
              <a:t>2</a:t>
            </a:r>
            <a:r>
              <a:rPr lang="zh-CN" altLang="en-US">
                <a:sym typeface="+mn-ea"/>
              </a:rPr>
              <a:t>）根据环境</a:t>
            </a:r>
            <a:r>
              <a:rPr lang="en-US" altLang="zh-CN">
                <a:sym typeface="+mn-ea"/>
              </a:rPr>
              <a:t>(</a:t>
            </a:r>
            <a:r>
              <a:rPr lang="zh-CN" altLang="en-US">
                <a:sym typeface="+mn-ea"/>
              </a:rPr>
              <a:t>棋盘与对手</a:t>
            </a:r>
            <a:r>
              <a:rPr lang="en-US" altLang="zh-CN">
                <a:sym typeface="+mn-ea"/>
              </a:rPr>
              <a:t>)</a:t>
            </a:r>
            <a:r>
              <a:rPr lang="zh-CN" altLang="en-US">
                <a:sym typeface="+mn-ea"/>
              </a:rPr>
              <a:t>的当前状态</a:t>
            </a:r>
            <a:r>
              <a:rPr lang="en-US" altLang="zh-CN">
                <a:sym typeface="+mn-ea"/>
              </a:rPr>
              <a:t>(</a:t>
            </a:r>
            <a:r>
              <a:rPr lang="zh-CN" altLang="en-US">
                <a:sym typeface="+mn-ea"/>
              </a:rPr>
              <a:t>棋局局面</a:t>
            </a:r>
            <a:r>
              <a:rPr lang="en-US" altLang="zh-CN">
                <a:sym typeface="+mn-ea"/>
              </a:rPr>
              <a:t>)</a:t>
            </a:r>
            <a:r>
              <a:rPr lang="zh-CN" altLang="en-US">
                <a:sym typeface="+mn-ea"/>
              </a:rPr>
              <a:t>，智能体</a:t>
            </a:r>
            <a:r>
              <a:rPr lang="en-US" altLang="zh-CN">
                <a:sym typeface="+mn-ea"/>
              </a:rPr>
              <a:t>(AlphaGo)</a:t>
            </a:r>
            <a:r>
              <a:rPr lang="zh-CN" altLang="en-US">
                <a:sym typeface="+mn-ea"/>
              </a:rPr>
              <a:t>产生对应的行为</a:t>
            </a:r>
            <a:r>
              <a:rPr lang="en-US" altLang="zh-CN">
                <a:sym typeface="+mn-ea"/>
              </a:rPr>
              <a:t>(</a:t>
            </a:r>
            <a:r>
              <a:rPr lang="zh-CN" altLang="en-US">
                <a:sym typeface="+mn-ea"/>
              </a:rPr>
              <a:t>选择位置落子</a:t>
            </a:r>
            <a:r>
              <a:rPr lang="en-US" altLang="zh-CN">
                <a:sym typeface="+mn-ea"/>
              </a:rPr>
              <a:t>)</a:t>
            </a:r>
            <a:r>
              <a:rPr lang="zh-CN" altLang="en-US">
                <a:sym typeface="+mn-ea"/>
              </a:rPr>
              <a:t>作用于环境</a:t>
            </a:r>
            <a:r>
              <a:rPr lang="en-US" altLang="zh-CN">
                <a:sym typeface="+mn-ea"/>
              </a:rPr>
              <a:t>(</a:t>
            </a:r>
            <a:r>
              <a:rPr lang="zh-CN" altLang="en-US">
                <a:sym typeface="+mn-ea"/>
              </a:rPr>
              <a:t>棋盘与对手</a:t>
            </a:r>
            <a:r>
              <a:rPr lang="en-US" altLang="zh-CN">
                <a:sym typeface="+mn-ea"/>
              </a:rPr>
              <a:t>)</a:t>
            </a:r>
            <a:r>
              <a:rPr lang="zh-CN" altLang="en-US">
                <a:sym typeface="+mn-ea"/>
              </a:rPr>
              <a:t>上，改变环境</a:t>
            </a:r>
            <a:r>
              <a:rPr lang="en-US" altLang="zh-CN">
                <a:sym typeface="+mn-ea"/>
              </a:rPr>
              <a:t>(</a:t>
            </a:r>
            <a:r>
              <a:rPr lang="zh-CN" altLang="en-US">
                <a:sym typeface="+mn-ea"/>
              </a:rPr>
              <a:t>棋盘与对手</a:t>
            </a:r>
            <a:r>
              <a:rPr lang="en-US" altLang="zh-CN">
                <a:sym typeface="+mn-ea"/>
              </a:rPr>
              <a:t>)</a:t>
            </a:r>
            <a:endParaRPr lang="zh-CN" altLang="en-US"/>
          </a:p>
          <a:p>
            <a:pPr>
              <a:lnSpc>
                <a:spcPct val="50000"/>
              </a:lnSpc>
            </a:pPr>
            <a:endParaRPr lang="zh-CN" altLang="en-US"/>
          </a:p>
          <a:p>
            <a:r>
              <a:rPr lang="en-US" altLang="zh-CN">
                <a:sym typeface="+mn-ea"/>
              </a:rPr>
              <a:t>3</a:t>
            </a:r>
            <a:r>
              <a:rPr lang="zh-CN" altLang="en-US">
                <a:sym typeface="+mn-ea"/>
              </a:rPr>
              <a:t>）环境</a:t>
            </a:r>
            <a:r>
              <a:rPr lang="en-US" altLang="zh-CN">
                <a:sym typeface="+mn-ea"/>
              </a:rPr>
              <a:t>(</a:t>
            </a:r>
            <a:r>
              <a:rPr lang="zh-CN" altLang="en-US">
                <a:sym typeface="+mn-ea"/>
              </a:rPr>
              <a:t>棋盘与对手</a:t>
            </a:r>
            <a:r>
              <a:rPr lang="en-US" altLang="zh-CN">
                <a:sym typeface="+mn-ea"/>
              </a:rPr>
              <a:t>)</a:t>
            </a:r>
            <a:r>
              <a:rPr lang="zh-CN" altLang="en-US">
                <a:sym typeface="+mn-ea"/>
              </a:rPr>
              <a:t>根据自身的改变产生对应的奖励</a:t>
            </a:r>
            <a:r>
              <a:rPr lang="en-US" altLang="zh-CN">
                <a:sym typeface="+mn-ea"/>
              </a:rPr>
              <a:t>(</a:t>
            </a:r>
            <a:r>
              <a:rPr lang="zh-CN" altLang="en-US">
                <a:sym typeface="+mn-ea"/>
              </a:rPr>
              <a:t>赢得比赛</a:t>
            </a:r>
            <a:r>
              <a:rPr lang="en-US" altLang="zh-CN">
                <a:sym typeface="+mn-ea"/>
              </a:rPr>
              <a:t>+100,</a:t>
            </a:r>
            <a:r>
              <a:rPr lang="zh-CN" altLang="en-US">
                <a:sym typeface="+mn-ea"/>
              </a:rPr>
              <a:t>输掉比赛</a:t>
            </a:r>
            <a:r>
              <a:rPr lang="en-US" altLang="zh-CN">
                <a:sym typeface="+mn-ea"/>
              </a:rPr>
              <a:t>-100)</a:t>
            </a:r>
            <a:r>
              <a:rPr lang="zh-CN" altLang="en-US">
                <a:sym typeface="+mn-ea"/>
              </a:rPr>
              <a:t>反馈给智能体</a:t>
            </a:r>
            <a:r>
              <a:rPr lang="en-US" altLang="zh-CN">
                <a:sym typeface="+mn-ea"/>
              </a:rPr>
              <a:t>(AlphaGo)</a:t>
            </a:r>
            <a:endParaRPr lang="en-US" altLang="zh-CN">
              <a:sym typeface="+mn-ea"/>
            </a:endParaRPr>
          </a:p>
        </p:txBody>
      </p:sp>
      <p:pic>
        <p:nvPicPr>
          <p:cNvPr id="6" name="图片 4" descr="图片1"/>
          <p:cNvPicPr>
            <a:picLocks noChangeAspect="1"/>
          </p:cNvPicPr>
          <p:nvPr>
            <p:custDataLst>
              <p:tags r:id="rId1"/>
            </p:custDataLst>
          </p:nvPr>
        </p:nvPicPr>
        <p:blipFill>
          <a:blip r:embed="rId2"/>
          <a:stretch>
            <a:fillRect/>
          </a:stretch>
        </p:blipFill>
        <p:spPr>
          <a:xfrm>
            <a:off x="2845435" y="3302635"/>
            <a:ext cx="6501130" cy="339915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1625" y="1195070"/>
                <a:ext cx="11321415" cy="944245"/>
              </a:xfrm>
              <a:prstGeom prst="rect">
                <a:avLst/>
              </a:prstGeom>
              <a:noFill/>
            </p:spPr>
            <p:txBody>
              <a:bodyPr wrap="square" rtlCol="0">
                <a:spAutoFit/>
              </a:bodyPr>
              <a:p>
                <a:pPr indent="457200"/>
                <a:r>
                  <a:rPr lang="zh-CN" altLang="en-US">
                    <a:sym typeface="+mn-ea"/>
                  </a:rPr>
                  <a:t>总之，智能体要做的就是通过在环境中不断地尝试而学的一个策略</a:t>
                </a:r>
                <a:r>
                  <a:rPr lang="en-US" altLang="zh-CN">
                    <a:sym typeface="+mn-ea"/>
                  </a:rPr>
                  <a:t>π</a:t>
                </a:r>
                <a:r>
                  <a:rPr lang="zh-CN" altLang="en-US">
                    <a:sym typeface="+mn-ea"/>
                  </a:rPr>
                  <a:t>，根据这个策略，在状态</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𝑥</m:t>
                    </m:r>
                  </m:oMath>
                </a14:m>
                <a:r>
                  <a:rPr lang="zh-CN" altLang="en-US">
                    <a:latin typeface="Cambria Math" panose="02040503050406030204" pitchFamily="18" charset="0"/>
                    <a:cs typeface="Cambria Math" panose="02040503050406030204" pitchFamily="18" charset="0"/>
                    <a:sym typeface="+mn-ea"/>
                  </a:rPr>
                  <a:t>下就能得知智能体要执行的动作</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𝑎</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𝜋</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，对于一个状态</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𝑥</m:t>
                    </m:r>
                  </m:oMath>
                </a14:m>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𝜋</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可以是一个确定的动作，也有可能是各种动作出现的概率。当为后者时，</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𝜋</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𝑎</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是状态</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𝑥</m:t>
                    </m:r>
                  </m:oMath>
                </a14:m>
                <a:r>
                  <a:rPr lang="zh-CN" altLang="en-US">
                    <a:latin typeface="Cambria Math" panose="02040503050406030204" pitchFamily="18" charset="0"/>
                    <a:cs typeface="Cambria Math" panose="02040503050406030204" pitchFamily="18" charset="0"/>
                    <a:sym typeface="+mn-ea"/>
                  </a:rPr>
                  <a:t>下选择动作</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𝑎</m:t>
                    </m:r>
                  </m:oMath>
                </a14:m>
                <a:r>
                  <a:rPr lang="zh-CN" altLang="en-US">
                    <a:latin typeface="Cambria Math" panose="02040503050406030204" pitchFamily="18" charset="0"/>
                    <a:cs typeface="Cambria Math" panose="02040503050406030204" pitchFamily="18" charset="0"/>
                    <a:sym typeface="+mn-ea"/>
                  </a:rPr>
                  <a:t>的概率，有</a:t>
                </a:r>
                <a14:m>
                  <m:oMath xmlns:m="http://schemas.openxmlformats.org/officeDocument/2006/math">
                    <m:nary>
                      <m:naryPr>
                        <m:chr m:val="∑"/>
                        <m:limLoc m:val="subSup"/>
                        <m:supHide m:val="on"/>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𝑎</m:t>
                        </m:r>
                      </m:sub>
                      <m:sup/>
                      <m:e>
                        <m:r>
                          <a:rPr lang="en-US" altLang="zh-CN" i="1">
                            <a:latin typeface="Cambria Math" panose="02040503050406030204" pitchFamily="18" charset="0"/>
                            <a:cs typeface="Cambria Math" panose="02040503050406030204" pitchFamily="18" charset="0"/>
                            <a:sym typeface="+mn-ea"/>
                          </a:rPr>
                          <m:t>𝜋</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𝑎</m:t>
                        </m:r>
                        <m:r>
                          <a:rPr lang="en-US" altLang="zh-CN" i="1">
                            <a:latin typeface="Cambria Math" panose="02040503050406030204" pitchFamily="18" charset="0"/>
                            <a:cs typeface="Cambria Math" panose="02040503050406030204" pitchFamily="18" charset="0"/>
                            <a:sym typeface="+mn-ea"/>
                          </a:rPr>
                          <m:t>)</m:t>
                        </m:r>
                      </m:e>
                    </m:nary>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95070"/>
                <a:ext cx="11321415" cy="944245"/>
              </a:xfrm>
              <a:prstGeom prst="rect">
                <a:avLst/>
              </a:prstGeom>
              <a:blipFill rotWithShape="1">
                <a:blip r:embed="rId1"/>
                <a:stretch>
                  <a:fillRect r="-353"/>
                </a:stretch>
              </a:blipFill>
            </p:spPr>
            <p:txBody>
              <a:bodyPr/>
              <a:lstStyle/>
              <a:p>
                <a:r>
                  <a:rPr lang="zh-CN" altLang="en-US">
                    <a:noFill/>
                  </a:rPr>
                  <a:t> </a:t>
                </a:r>
              </a:p>
            </p:txBody>
          </p:sp>
        </mc:Fallback>
      </mc:AlternateContent>
      <p:pic>
        <p:nvPicPr>
          <p:cNvPr id="10" name="图片 2"/>
          <p:cNvPicPr>
            <a:picLocks noChangeAspect="1"/>
          </p:cNvPicPr>
          <p:nvPr>
            <p:custDataLst>
              <p:tags r:id="rId2"/>
            </p:custDataLst>
          </p:nvPr>
        </p:nvPicPr>
        <p:blipFill>
          <a:blip r:embed="rId3"/>
          <a:stretch>
            <a:fillRect/>
          </a:stretch>
        </p:blipFill>
        <p:spPr>
          <a:xfrm>
            <a:off x="4010025" y="2459355"/>
            <a:ext cx="4172585" cy="406209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107632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a:p>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137160" y="978535"/>
            <a:ext cx="11866245" cy="5800725"/>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强化学习</a:t>
            </a:r>
            <a:r>
              <a:rPr lang="zh-CN" altLang="en-US"/>
              <a:t>历史发展进程：</a:t>
            </a:r>
            <a:endParaRPr lang="zh-CN" altLang="en-US"/>
          </a:p>
          <a:p>
            <a:pPr>
              <a:lnSpc>
                <a:spcPct val="40000"/>
              </a:lnSpc>
            </a:pPr>
            <a:endParaRPr lang="zh-CN" altLang="en-US"/>
          </a:p>
          <a:p>
            <a:r>
              <a:rPr lang="en-US" altLang="zh-CN" sz="1600" i="1" u="sng">
                <a:solidFill>
                  <a:schemeClr val="accent1"/>
                </a:solidFill>
                <a:effectLst>
                  <a:outerShdw blurRad="38100" dist="25400" dir="5400000" algn="ctr" rotWithShape="0">
                    <a:srgbClr val="6E747A">
                      <a:alpha val="43000"/>
                    </a:srgbClr>
                  </a:outerShdw>
                </a:effectLst>
              </a:rPr>
              <a:t>1911</a:t>
            </a:r>
            <a:r>
              <a:rPr lang="zh-CN" altLang="en-US" sz="1600" i="1" u="sng">
                <a:solidFill>
                  <a:schemeClr val="accent1"/>
                </a:solidFill>
                <a:effectLst>
                  <a:outerShdw blurRad="38100" dist="25400" dir="5400000" algn="ctr" rotWithShape="0">
                    <a:srgbClr val="6E747A">
                      <a:alpha val="43000"/>
                    </a:srgbClr>
                  </a:outerShdw>
                </a:effectLst>
              </a:rPr>
              <a:t>年，爱德华</a:t>
            </a:r>
            <a:r>
              <a:rPr lang="en-US" altLang="zh-CN" sz="1600" i="1" u="sng">
                <a:solidFill>
                  <a:schemeClr val="accent1"/>
                </a:solidFill>
                <a:effectLst>
                  <a:outerShdw blurRad="38100" dist="25400" dir="5400000" algn="ctr" rotWithShape="0">
                    <a:srgbClr val="6E747A">
                      <a:alpha val="43000"/>
                    </a:srgbClr>
                  </a:outerShdw>
                </a:effectLst>
              </a:rPr>
              <a:t>·</a:t>
            </a:r>
            <a:r>
              <a:rPr lang="zh-CN" altLang="en-US" sz="1600" i="1" u="sng">
                <a:solidFill>
                  <a:schemeClr val="accent1"/>
                </a:solidFill>
                <a:effectLst>
                  <a:outerShdw blurRad="38100" dist="25400" dir="5400000" algn="ctr" rotWithShape="0">
                    <a:srgbClr val="6E747A">
                      <a:alpha val="43000"/>
                    </a:srgbClr>
                  </a:outerShdw>
                </a:effectLst>
              </a:rPr>
              <a:t>桑戴克：动物实验心理学中的效应定律</a:t>
            </a:r>
            <a:endParaRPr lang="zh-CN" altLang="en-US" sz="1600"/>
          </a:p>
          <a:p>
            <a:pPr indent="457200" algn="l">
              <a:lnSpc>
                <a:spcPct val="20000"/>
              </a:lnSpc>
              <a:buClrTx/>
              <a:buSzTx/>
              <a:buFontTx/>
            </a:pPr>
            <a:endParaRPr lang="zh-CN" altLang="en-US" sz="1600"/>
          </a:p>
          <a:p>
            <a:pPr indent="457200" algn="l">
              <a:buClrTx/>
              <a:buSzTx/>
              <a:buFontTx/>
            </a:pPr>
            <a:r>
              <a:rPr lang="zh-CN" altLang="en-US" sz="1600"/>
              <a:t>强化学习是一种给予反馈的学习，这种基于反馈进行学习的朴素思想很早就被研究者观察到了，心理学家爱德华·桑戴克在</a:t>
            </a:r>
            <a:r>
              <a:rPr lang="zh-CN" altLang="en-US" sz="1600"/>
              <a:t>1911年将其总结为</a:t>
            </a:r>
            <a:r>
              <a:rPr lang="zh-CN" altLang="en-US" sz="1600">
                <a:solidFill>
                  <a:schemeClr val="accent1"/>
                </a:solidFill>
                <a:effectLst>
                  <a:outerShdw blurRad="38100" dist="25400" dir="5400000" algn="ctr" rotWithShape="0">
                    <a:srgbClr val="6E747A">
                      <a:alpha val="43000"/>
                    </a:srgbClr>
                  </a:outerShdw>
                </a:effectLst>
              </a:rPr>
              <a:t>效应定律</a:t>
            </a:r>
            <a:r>
              <a:rPr lang="zh-CN" altLang="en-US" sz="1600"/>
              <a:t>：</a:t>
            </a:r>
            <a:endParaRPr lang="zh-CN" altLang="en-US" sz="1600"/>
          </a:p>
          <a:p>
            <a:pPr indent="457200" algn="l">
              <a:lnSpc>
                <a:spcPct val="20000"/>
              </a:lnSpc>
              <a:buClrTx/>
              <a:buSzTx/>
              <a:buFontTx/>
            </a:pPr>
            <a:endParaRPr lang="en-US" altLang="zh-CN" sz="1600"/>
          </a:p>
          <a:p>
            <a:pPr indent="457200" algn="l">
              <a:buClrTx/>
              <a:buSzTx/>
              <a:buFontTx/>
            </a:pPr>
            <a:r>
              <a:rPr lang="en-US" altLang="zh-CN" sz="1600"/>
              <a:t>“</a:t>
            </a:r>
            <a:r>
              <a:rPr lang="zh-CN" altLang="en-US" sz="1600"/>
              <a:t>面对同样的情景时，动物可能产生不同的反应。在其他条件相同的情况下，如果某些反应伴随着或紧随其后能够引起动物自身的满足感，则这些反应将于情景联系的更加紧密。因此，当这种情境再次发生的时候，这些反应也更有可能再出现。而在其他条件相同的情况下，如果某些反应给动物带来了不适感，则这些反应与情境的联系将被减弱，所以当这种情境再次发生时，这些反应便越来越不容易再现。更大的满意度或更大的不适感决定了更强化或更弱化的联系。</a:t>
            </a:r>
            <a:r>
              <a:rPr lang="en-US" altLang="zh-CN" sz="1600"/>
              <a:t>”</a:t>
            </a:r>
            <a:endParaRPr lang="en-US" altLang="zh-CN" sz="1600"/>
          </a:p>
          <a:p>
            <a:pPr marL="0" lvl="0" indent="0" algn="l">
              <a:lnSpc>
                <a:spcPct val="20000"/>
              </a:lnSpc>
              <a:buClrTx/>
              <a:buSzTx/>
              <a:buFontTx/>
              <a:buNone/>
            </a:pPr>
            <a:endParaRPr lang="zh-CN" altLang="en-US">
              <a:solidFill>
                <a:schemeClr val="tx1"/>
              </a:solidFill>
            </a:endParaRPr>
          </a:p>
          <a:p>
            <a:pPr marL="0" lvl="0" indent="457200" algn="l">
              <a:buClrTx/>
              <a:buSzTx/>
              <a:buFontTx/>
              <a:buNone/>
            </a:pPr>
            <a:r>
              <a:rPr lang="zh-CN" altLang="en-US" sz="1600">
                <a:solidFill>
                  <a:schemeClr val="tx1"/>
                </a:solidFill>
              </a:rPr>
              <a:t>此后，在动物学习领域，巴甫洛夫对条件反射的研究中开始使用“强化”一词。这里的“强化”，也包含了弱化过程，即对刺激事件的忽略或终止。</a:t>
            </a:r>
            <a:endParaRPr lang="zh-CN" altLang="en-US">
              <a:solidFill>
                <a:schemeClr val="tx1"/>
              </a:solidFill>
            </a:endParaRPr>
          </a:p>
          <a:p>
            <a:pPr marL="0" lvl="0" indent="0" algn="l">
              <a:lnSpc>
                <a:spcPct val="50000"/>
              </a:lnSpc>
              <a:buClrTx/>
              <a:buSzTx/>
              <a:buFontTx/>
              <a:buNone/>
            </a:pPr>
            <a:endParaRPr lang="zh-CN" altLang="en-US">
              <a:solidFill>
                <a:schemeClr val="tx1"/>
              </a:solidFill>
            </a:endParaRPr>
          </a:p>
          <a:p>
            <a:pPr marL="0" lvl="0" indent="0" algn="l">
              <a:buClrTx/>
              <a:buSzTx/>
              <a:buFontTx/>
              <a:buNone/>
            </a:pPr>
            <a:r>
              <a:rPr lang="en-US" altLang="zh-CN" sz="1600" i="1" u="sng">
                <a:solidFill>
                  <a:schemeClr val="accent1"/>
                </a:solidFill>
                <a:effectLst>
                  <a:outerShdw blurRad="38100" dist="25400" dir="5400000" algn="ctr" rotWithShape="0">
                    <a:srgbClr val="6E747A">
                      <a:alpha val="43000"/>
                    </a:srgbClr>
                  </a:outerShdw>
                </a:effectLst>
              </a:rPr>
              <a:t>1948</a:t>
            </a:r>
            <a:r>
              <a:rPr lang="zh-CN" altLang="en-US" sz="1600" i="1" u="sng">
                <a:solidFill>
                  <a:schemeClr val="accent1"/>
                </a:solidFill>
                <a:effectLst>
                  <a:outerShdw blurRad="38100" dist="25400" dir="5400000" algn="ctr" rotWithShape="0">
                    <a:srgbClr val="6E747A">
                      <a:alpha val="43000"/>
                    </a:srgbClr>
                  </a:outerShdw>
                </a:effectLst>
              </a:rPr>
              <a:t>年，图灵：早起计算机领域关于试错学习的探索</a:t>
            </a:r>
            <a:r>
              <a:rPr lang="zh-CN" altLang="en-US">
                <a:solidFill>
                  <a:schemeClr val="tx1"/>
                </a:solidFill>
              </a:rPr>
              <a:t>：</a:t>
            </a:r>
            <a:endParaRPr lang="zh-CN" altLang="en-US">
              <a:solidFill>
                <a:schemeClr val="tx1"/>
              </a:solidFill>
            </a:endParaRPr>
          </a:p>
          <a:p>
            <a:pPr marL="0" lvl="0" indent="0" algn="l">
              <a:lnSpc>
                <a:spcPct val="20000"/>
              </a:lnSpc>
              <a:buClrTx/>
              <a:buSzTx/>
              <a:buFontTx/>
              <a:buNone/>
            </a:pPr>
            <a:endParaRPr lang="zh-CN" altLang="en-US">
              <a:solidFill>
                <a:schemeClr val="tx1"/>
              </a:solidFill>
            </a:endParaRPr>
          </a:p>
          <a:p>
            <a:pPr marL="0" lvl="0" indent="457200" algn="l">
              <a:buClrTx/>
              <a:buSzTx/>
              <a:buFontTx/>
              <a:buNone/>
            </a:pPr>
            <a:r>
              <a:rPr lang="zh-CN" altLang="en-US" sz="1600">
                <a:solidFill>
                  <a:schemeClr val="tx1"/>
                </a:solidFill>
              </a:rPr>
              <a:t>这种基于反馈，或者称基于</a:t>
            </a:r>
            <a:r>
              <a:rPr lang="zh-CN" altLang="en-US" sz="1600">
                <a:solidFill>
                  <a:schemeClr val="accent1"/>
                </a:solidFill>
                <a:effectLst>
                  <a:outerShdw blurRad="38100" dist="25400" dir="5400000" algn="ctr" rotWithShape="0">
                    <a:srgbClr val="6E747A">
                      <a:alpha val="43000"/>
                    </a:srgbClr>
                  </a:outerShdw>
                </a:effectLst>
              </a:rPr>
              <a:t>试错</a:t>
            </a:r>
            <a:r>
              <a:rPr lang="zh-CN" altLang="en-US" sz="1600">
                <a:solidFill>
                  <a:schemeClr val="tx1"/>
                </a:solidFill>
              </a:rPr>
              <a:t>的学习思想，得到了计算机领域学者的广泛关注。</a:t>
            </a:r>
            <a:r>
              <a:rPr lang="zh-CN" altLang="en-US" sz="1600"/>
              <a:t>图灵</a:t>
            </a:r>
            <a:r>
              <a:rPr lang="zh-CN" altLang="en-US" sz="1600">
                <a:solidFill>
                  <a:schemeClr val="tx1"/>
                </a:solidFill>
              </a:rPr>
              <a:t>在</a:t>
            </a:r>
            <a:r>
              <a:rPr lang="zh-CN" altLang="en-US" sz="1600"/>
              <a:t>1948</a:t>
            </a:r>
            <a:r>
              <a:rPr lang="zh-CN" altLang="en-US" sz="1600">
                <a:solidFill>
                  <a:schemeClr val="tx1"/>
                </a:solidFill>
              </a:rPr>
              <a:t>年的报告中描述了一种</a:t>
            </a:r>
            <a:r>
              <a:rPr lang="zh-CN" altLang="en-US" sz="1600">
                <a:solidFill>
                  <a:schemeClr val="accent1"/>
                </a:solidFill>
                <a:effectLst>
                  <a:outerShdw blurRad="38100" dist="25400" dir="5400000" algn="ctr" rotWithShape="0">
                    <a:srgbClr val="6E747A">
                      <a:alpha val="43000"/>
                    </a:srgbClr>
                  </a:outerShdw>
                </a:effectLst>
              </a:rPr>
              <a:t>快乐-痛苦</a:t>
            </a:r>
            <a:r>
              <a:rPr lang="zh-CN" altLang="en-US" sz="1600">
                <a:solidFill>
                  <a:schemeClr val="tx1"/>
                </a:solidFill>
              </a:rPr>
              <a:t>的机器对</a:t>
            </a:r>
            <a:r>
              <a:rPr lang="zh-CN" altLang="en-US" sz="1600">
                <a:solidFill>
                  <a:schemeClr val="accent1"/>
                </a:solidFill>
                <a:effectLst>
                  <a:outerShdw blurRad="38100" dist="25400" dir="5400000" algn="ctr" rotWithShape="0">
                    <a:srgbClr val="6E747A">
                      <a:alpha val="43000"/>
                    </a:srgbClr>
                  </a:outerShdw>
                </a:effectLst>
              </a:rPr>
              <a:t>效应定律</a:t>
            </a:r>
            <a:r>
              <a:rPr lang="zh-CN" altLang="en-US" sz="1600">
                <a:solidFill>
                  <a:schemeClr val="tx1"/>
                </a:solidFill>
              </a:rPr>
              <a:t>进行演绎：</a:t>
            </a:r>
            <a:endParaRPr lang="zh-CN" altLang="en-US" sz="1600">
              <a:solidFill>
                <a:schemeClr val="tx1"/>
              </a:solidFill>
            </a:endParaRPr>
          </a:p>
          <a:p>
            <a:pPr marL="0" lvl="0" indent="457200" algn="l">
              <a:lnSpc>
                <a:spcPct val="20000"/>
              </a:lnSpc>
              <a:buClrTx/>
              <a:buSzTx/>
              <a:buFontTx/>
              <a:buNone/>
            </a:pPr>
            <a:endParaRPr lang="zh-CN" altLang="en-US" sz="1600">
              <a:solidFill>
                <a:schemeClr val="tx1"/>
              </a:solidFill>
            </a:endParaRPr>
          </a:p>
          <a:p>
            <a:pPr marL="0" lvl="0" indent="457200" algn="l">
              <a:buClrTx/>
              <a:buSzTx/>
              <a:buFontTx/>
              <a:buNone/>
            </a:pPr>
            <a:r>
              <a:rPr lang="zh-CN" altLang="en-US" sz="1600">
                <a:solidFill>
                  <a:schemeClr val="tx1"/>
                </a:solidFill>
              </a:rPr>
              <a:t>“当达到无预设动作的状态时，随机选择一些没有遇到过的数据，记录并试探性地应用这些数据。如果发生了痛苦刺激，停止所有动作试探；如果发生了愉悦刺激，则一直保持动作试探。”</a:t>
            </a:r>
            <a:endParaRPr lang="zh-CN" altLang="en-US" sz="1600">
              <a:solidFill>
                <a:schemeClr val="tx1"/>
              </a:solidFill>
            </a:endParaRPr>
          </a:p>
          <a:p>
            <a:pPr marL="0" lvl="0" indent="0" algn="l">
              <a:lnSpc>
                <a:spcPct val="50000"/>
              </a:lnSpc>
              <a:buClrTx/>
              <a:buSzTx/>
              <a:buFontTx/>
              <a:buNone/>
            </a:pPr>
            <a:endParaRPr lang="zh-CN" altLang="en-US">
              <a:solidFill>
                <a:schemeClr val="tx1"/>
              </a:solidFill>
            </a:endParaRPr>
          </a:p>
          <a:p>
            <a:pPr marL="0" lvl="0" indent="0" algn="l">
              <a:buClrTx/>
              <a:buSzTx/>
              <a:buFontTx/>
              <a:buNone/>
            </a:pPr>
            <a:r>
              <a:rPr lang="en-US" altLang="zh-CN" sz="1600" i="1" u="sng">
                <a:solidFill>
                  <a:schemeClr val="accent1"/>
                </a:solidFill>
                <a:effectLst>
                  <a:outerShdw blurRad="38100" dist="25400" dir="5400000" algn="ctr" rotWithShape="0">
                    <a:srgbClr val="6E747A">
                      <a:alpha val="43000"/>
                    </a:srgbClr>
                  </a:outerShdw>
                </a:effectLst>
              </a:rPr>
              <a:t>1957</a:t>
            </a:r>
            <a:r>
              <a:rPr lang="zh-CN" altLang="en-US" sz="1600" i="1" u="sng">
                <a:solidFill>
                  <a:schemeClr val="accent1"/>
                </a:solidFill>
                <a:effectLst>
                  <a:outerShdw blurRad="38100" dist="25400" dir="5400000" algn="ctr" rotWithShape="0">
                    <a:srgbClr val="6E747A">
                      <a:alpha val="43000"/>
                    </a:srgbClr>
                  </a:outerShdw>
                </a:effectLst>
              </a:rPr>
              <a:t>年，贝尔曼：试错学习与最优控制</a:t>
            </a:r>
            <a:r>
              <a:rPr lang="zh-CN" altLang="en-US">
                <a:solidFill>
                  <a:schemeClr val="tx1"/>
                </a:solidFill>
              </a:rPr>
              <a:t>：</a:t>
            </a:r>
            <a:endParaRPr lang="zh-CN" altLang="en-US">
              <a:solidFill>
                <a:schemeClr val="tx1"/>
              </a:solidFill>
            </a:endParaRPr>
          </a:p>
          <a:p>
            <a:pPr marL="0" lvl="0" indent="0" algn="l">
              <a:lnSpc>
                <a:spcPct val="20000"/>
              </a:lnSpc>
              <a:buClrTx/>
              <a:buSzTx/>
              <a:buFontTx/>
              <a:buNone/>
            </a:pPr>
            <a:endParaRPr lang="zh-CN" altLang="en-US" sz="1600">
              <a:solidFill>
                <a:schemeClr val="tx1"/>
              </a:solidFill>
            </a:endParaRPr>
          </a:p>
          <a:p>
            <a:pPr marL="0" lvl="0" indent="457200" algn="l">
              <a:buClrTx/>
              <a:buSzTx/>
              <a:buFontTx/>
              <a:buNone/>
            </a:pPr>
            <a:r>
              <a:rPr lang="zh-CN" altLang="en-US" sz="1600">
                <a:solidFill>
                  <a:schemeClr val="tx1"/>
                </a:solidFill>
              </a:rPr>
              <a:t>这种</a:t>
            </a:r>
            <a:r>
              <a:rPr lang="zh-CN" altLang="en-US" sz="1600">
                <a:solidFill>
                  <a:schemeClr val="accent1"/>
                </a:solidFill>
                <a:effectLst>
                  <a:outerShdw blurRad="38100" dist="25400" dir="5400000" algn="ctr" rotWithShape="0">
                    <a:srgbClr val="6E747A">
                      <a:alpha val="43000"/>
                    </a:srgbClr>
                  </a:outerShdw>
                </a:effectLst>
              </a:rPr>
              <a:t>试错</a:t>
            </a:r>
            <a:r>
              <a:rPr lang="zh-CN" altLang="en-US" sz="1600">
                <a:solidFill>
                  <a:schemeClr val="tx1"/>
                </a:solidFill>
              </a:rPr>
              <a:t>的学习方式与</a:t>
            </a:r>
            <a:r>
              <a:rPr lang="zh-CN" altLang="en-US" sz="1600">
                <a:solidFill>
                  <a:schemeClr val="accent1"/>
                </a:solidFill>
                <a:effectLst>
                  <a:outerShdw blurRad="38100" dist="25400" dir="5400000" algn="ctr" rotWithShape="0">
                    <a:srgbClr val="6E747A">
                      <a:alpha val="43000"/>
                    </a:srgbClr>
                  </a:outerShdw>
                </a:effectLst>
              </a:rPr>
              <a:t>最优控制</a:t>
            </a:r>
            <a:r>
              <a:rPr lang="zh-CN" altLang="en-US" sz="1600">
                <a:solidFill>
                  <a:schemeClr val="tx1"/>
                </a:solidFill>
              </a:rPr>
              <a:t>的理念不谋而合。</a:t>
            </a:r>
            <a:r>
              <a:rPr lang="zh-CN" altLang="en-US" sz="1600">
                <a:solidFill>
                  <a:schemeClr val="accent1"/>
                </a:solidFill>
                <a:effectLst>
                  <a:outerShdw blurRad="38100" dist="25400" dir="5400000" algn="ctr" rotWithShape="0">
                    <a:srgbClr val="6E747A">
                      <a:alpha val="43000"/>
                    </a:srgbClr>
                  </a:outerShdw>
                </a:effectLst>
              </a:rPr>
              <a:t>最优控制</a:t>
            </a:r>
            <a:r>
              <a:rPr lang="zh-CN" altLang="en-US" sz="1600">
                <a:solidFill>
                  <a:schemeClr val="tx1"/>
                </a:solidFill>
              </a:rPr>
              <a:t>的目标是使得动态系统随时间变化的的某种度量最大化或最小化。从控制的角度，</a:t>
            </a:r>
            <a:r>
              <a:rPr lang="zh-CN" altLang="en-US" sz="1600">
                <a:solidFill>
                  <a:schemeClr val="accent1"/>
                </a:solidFill>
                <a:effectLst>
                  <a:outerShdw blurRad="38100" dist="25400" dir="5400000" algn="ctr" rotWithShape="0">
                    <a:srgbClr val="6E747A">
                      <a:alpha val="43000"/>
                    </a:srgbClr>
                  </a:outerShdw>
                </a:effectLst>
              </a:rPr>
              <a:t>试错</a:t>
            </a:r>
            <a:r>
              <a:rPr lang="zh-CN" altLang="en-US" sz="1600">
                <a:solidFill>
                  <a:schemeClr val="tx1"/>
                </a:solidFill>
              </a:rPr>
              <a:t>学习的一系列动作实际上是时序决策的结果。</a:t>
            </a:r>
            <a:r>
              <a:rPr lang="zh-CN" altLang="en-US" sz="1600"/>
              <a:t>贝尔曼</a:t>
            </a:r>
            <a:r>
              <a:rPr lang="zh-CN" altLang="en-US" sz="1600">
                <a:solidFill>
                  <a:schemeClr val="tx1"/>
                </a:solidFill>
              </a:rPr>
              <a:t>与</a:t>
            </a:r>
            <a:r>
              <a:rPr lang="zh-CN" altLang="en-US" sz="1600"/>
              <a:t>1957</a:t>
            </a:r>
            <a:r>
              <a:rPr lang="zh-CN" altLang="en-US" sz="1600">
                <a:solidFill>
                  <a:schemeClr val="tx1"/>
                </a:solidFill>
              </a:rPr>
              <a:t>年提出了</a:t>
            </a:r>
            <a:r>
              <a:rPr lang="zh-CN" altLang="en-US" sz="1600">
                <a:solidFill>
                  <a:schemeClr val="accent1"/>
                </a:solidFill>
                <a:effectLst>
                  <a:outerShdw blurRad="38100" dist="25400" dir="5400000" algn="ctr" rotWithShape="0">
                    <a:srgbClr val="6E747A">
                      <a:alpha val="43000"/>
                    </a:srgbClr>
                  </a:outerShdw>
                </a:effectLst>
              </a:rPr>
              <a:t>最优控制</a:t>
            </a:r>
            <a:r>
              <a:rPr lang="zh-CN" altLang="en-US" sz="1600">
                <a:solidFill>
                  <a:schemeClr val="tx1"/>
                </a:solidFill>
              </a:rPr>
              <a:t>问题的离散随机版本，并用</a:t>
            </a:r>
            <a:r>
              <a:rPr lang="zh-CN" altLang="en-US" sz="1600">
                <a:solidFill>
                  <a:schemeClr val="accent1"/>
                </a:solidFill>
                <a:effectLst>
                  <a:outerShdw blurRad="38100" dist="25400" dir="5400000" algn="ctr" rotWithShape="0">
                    <a:srgbClr val="6E747A">
                      <a:alpha val="43000"/>
                    </a:srgbClr>
                  </a:outerShdw>
                </a:effectLst>
              </a:rPr>
              <a:t>马尔科夫决策过程</a:t>
            </a:r>
            <a:r>
              <a:rPr lang="zh-CN" altLang="en-US" sz="1600">
                <a:solidFill>
                  <a:schemeClr val="tx1"/>
                </a:solidFill>
              </a:rPr>
              <a:t>进行形式化的描述。此后罗纳德</a:t>
            </a:r>
            <a:r>
              <a:rPr lang="en-US" altLang="zh-CN" sz="1600">
                <a:solidFill>
                  <a:schemeClr val="tx1"/>
                </a:solidFill>
              </a:rPr>
              <a:t>·</a:t>
            </a:r>
            <a:r>
              <a:rPr lang="zh-CN" altLang="en-US" sz="1600">
                <a:solidFill>
                  <a:schemeClr val="tx1"/>
                </a:solidFill>
              </a:rPr>
              <a:t>霍华德在</a:t>
            </a:r>
            <a:r>
              <a:rPr lang="en-US" altLang="zh-CN" sz="1600">
                <a:solidFill>
                  <a:schemeClr val="tx1"/>
                </a:solidFill>
              </a:rPr>
              <a:t>1960</a:t>
            </a:r>
            <a:r>
              <a:rPr lang="zh-CN" altLang="en-US" sz="1600">
                <a:solidFill>
                  <a:schemeClr val="tx1"/>
                </a:solidFill>
              </a:rPr>
              <a:t>年开发出了基于</a:t>
            </a:r>
            <a:r>
              <a:rPr lang="zh-CN" altLang="en-US" sz="1600">
                <a:solidFill>
                  <a:schemeClr val="accent1"/>
                </a:solidFill>
                <a:effectLst>
                  <a:outerShdw blurRad="38100" dist="25400" dir="5400000" algn="ctr" rotWithShape="0">
                    <a:srgbClr val="6E747A">
                      <a:alpha val="43000"/>
                    </a:srgbClr>
                  </a:outerShdw>
                </a:effectLst>
              </a:rPr>
              <a:t>马尔科夫决策过程</a:t>
            </a:r>
            <a:r>
              <a:rPr lang="zh-CN" altLang="en-US" sz="1600">
                <a:solidFill>
                  <a:schemeClr val="tx1"/>
                </a:solidFill>
              </a:rPr>
              <a:t>的策略迭代方法，为现代强化学习理论和算法打下了坚实的基础。</a:t>
            </a:r>
            <a:endParaRPr lang="zh-CN" altLang="en-US" sz="160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pic>
        <p:nvPicPr>
          <p:cNvPr id="11" name="图片 10" descr="强化学习分类"/>
          <p:cNvPicPr>
            <a:picLocks noChangeAspect="1"/>
          </p:cNvPicPr>
          <p:nvPr/>
        </p:nvPicPr>
        <p:blipFill>
          <a:blip r:embed="rId1"/>
          <a:stretch>
            <a:fillRect/>
          </a:stretch>
        </p:blipFill>
        <p:spPr>
          <a:xfrm>
            <a:off x="2126615" y="807085"/>
            <a:ext cx="4763770" cy="5359400"/>
          </a:xfrm>
          <a:prstGeom prst="rect">
            <a:avLst/>
          </a:prstGeom>
        </p:spPr>
      </p:pic>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什么是强化学习？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nvSpPr>
        <p:spPr>
          <a:xfrm>
            <a:off x="269240" y="1130300"/>
            <a:ext cx="1857375" cy="36830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sym typeface="+mn-ea"/>
              </a:rPr>
              <a:t>强化学习</a:t>
            </a:r>
            <a:r>
              <a:rPr lang="zh-CN" altLang="en-US">
                <a:sym typeface="+mn-ea"/>
              </a:rPr>
              <a:t>分类：</a:t>
            </a:r>
            <a:endParaRPr lang="en-US" altLang="zh-CN">
              <a:ln w="22225">
                <a:solidFill>
                  <a:schemeClr val="accent2"/>
                </a:solidFill>
                <a:prstDash val="solid"/>
              </a:ln>
              <a:solidFill>
                <a:schemeClr val="accent2">
                  <a:lumMod val="40000"/>
                  <a:lumOff val="60000"/>
                </a:schemeClr>
              </a:solidFill>
              <a:effectLst/>
              <a:sym typeface="+mn-ea"/>
            </a:endParaRPr>
          </a:p>
        </p:txBody>
      </p:sp>
      <p:sp>
        <p:nvSpPr>
          <p:cNvPr id="8" name="文本框 7"/>
          <p:cNvSpPr txBox="1"/>
          <p:nvPr/>
        </p:nvSpPr>
        <p:spPr>
          <a:xfrm>
            <a:off x="5210175" y="5940425"/>
            <a:ext cx="381000" cy="368300"/>
          </a:xfrm>
          <a:prstGeom prst="rect">
            <a:avLst/>
          </a:prstGeom>
          <a:noFill/>
        </p:spPr>
        <p:txBody>
          <a:bodyPr wrap="square" rtlCol="0" anchor="t">
            <a:spAutoFit/>
          </a:bodyPr>
          <a:p>
            <a:r>
              <a:rPr lang="en-US" altLang="zh-CN">
                <a:ln w="22225">
                  <a:solidFill>
                    <a:schemeClr val="accent2"/>
                  </a:solidFill>
                  <a:prstDash val="solid"/>
                </a:ln>
                <a:solidFill>
                  <a:schemeClr val="accent2">
                    <a:lumMod val="40000"/>
                    <a:lumOff val="60000"/>
                  </a:schemeClr>
                </a:solidFill>
                <a:effectLst/>
                <a:sym typeface="+mn-ea"/>
              </a:rPr>
              <a:t>√</a:t>
            </a:r>
            <a:endParaRPr lang="en-US" altLang="zh-CN">
              <a:ln w="22225">
                <a:solidFill>
                  <a:schemeClr val="accent2"/>
                </a:solidFill>
                <a:prstDash val="solid"/>
              </a:ln>
              <a:solidFill>
                <a:schemeClr val="accent2">
                  <a:lumMod val="40000"/>
                  <a:lumOff val="60000"/>
                </a:schemeClr>
              </a:solidFill>
              <a:effectLst/>
              <a:sym typeface="+mn-ea"/>
            </a:endParaRPr>
          </a:p>
        </p:txBody>
      </p:sp>
      <p:sp>
        <p:nvSpPr>
          <p:cNvPr id="9" name="矩形 8"/>
          <p:cNvSpPr/>
          <p:nvPr/>
        </p:nvSpPr>
        <p:spPr>
          <a:xfrm>
            <a:off x="4204970" y="3517900"/>
            <a:ext cx="5923915" cy="3144520"/>
          </a:xfrm>
          <a:prstGeom prst="rect">
            <a:avLst/>
          </a:prstGeom>
          <a:noFill/>
          <a:ln w="3810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左大括号 11"/>
          <p:cNvSpPr/>
          <p:nvPr/>
        </p:nvSpPr>
        <p:spPr>
          <a:xfrm>
            <a:off x="6681470" y="4236720"/>
            <a:ext cx="447040" cy="1600835"/>
          </a:xfrm>
          <a:prstGeom prst="leftBrace">
            <a:avLst>
              <a:gd name="adj1" fmla="val 248275"/>
              <a:gd name="adj2" fmla="val 50000"/>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13" name="直接连接符 12"/>
          <p:cNvCxnSpPr>
            <a:stCxn id="12" idx="0"/>
          </p:cNvCxnSpPr>
          <p:nvPr/>
        </p:nvCxnSpPr>
        <p:spPr>
          <a:xfrm flipV="1">
            <a:off x="7128510" y="4229100"/>
            <a:ext cx="1315085" cy="7620"/>
          </a:xfrm>
          <a:prstGeom prst="line">
            <a:avLst/>
          </a:prstGeom>
        </p:spPr>
        <p:style>
          <a:lnRef idx="1">
            <a:schemeClr val="accent4"/>
          </a:lnRef>
          <a:fillRef idx="0">
            <a:schemeClr val="accent4"/>
          </a:fillRef>
          <a:effectRef idx="0">
            <a:schemeClr val="accent4"/>
          </a:effectRef>
          <a:fontRef idx="minor">
            <a:schemeClr val="tx1"/>
          </a:fontRef>
        </p:style>
      </p:cxnSp>
      <p:cxnSp>
        <p:nvCxnSpPr>
          <p:cNvPr id="14" name="直接连接符 13"/>
          <p:cNvCxnSpPr/>
          <p:nvPr>
            <p:custDataLst>
              <p:tags r:id="rId2"/>
            </p:custDataLst>
          </p:nvPr>
        </p:nvCxnSpPr>
        <p:spPr>
          <a:xfrm flipV="1">
            <a:off x="7128510" y="5837555"/>
            <a:ext cx="1315085" cy="7620"/>
          </a:xfrm>
          <a:prstGeom prst="line">
            <a:avLst/>
          </a:prstGeom>
        </p:spPr>
        <p:style>
          <a:lnRef idx="1">
            <a:schemeClr val="accent4"/>
          </a:lnRef>
          <a:fillRef idx="0">
            <a:schemeClr val="accent4"/>
          </a:fillRef>
          <a:effectRef idx="0">
            <a:schemeClr val="accent4"/>
          </a:effectRef>
          <a:fontRef idx="minor">
            <a:schemeClr val="tx1"/>
          </a:fontRef>
        </p:style>
      </p:cxnSp>
      <p:sp>
        <p:nvSpPr>
          <p:cNvPr id="15" name="文本框 14"/>
          <p:cNvSpPr txBox="1"/>
          <p:nvPr/>
        </p:nvSpPr>
        <p:spPr>
          <a:xfrm>
            <a:off x="7181215" y="3922395"/>
            <a:ext cx="1118235" cy="275590"/>
          </a:xfrm>
          <a:prstGeom prst="rect">
            <a:avLst/>
          </a:prstGeom>
          <a:noFill/>
        </p:spPr>
        <p:txBody>
          <a:bodyPr wrap="square" rtlCol="0">
            <a:spAutoFit/>
          </a:bodyPr>
          <a:p>
            <a:r>
              <a:rPr lang="zh-CN" altLang="en-US" sz="1200" b="1">
                <a:solidFill>
                  <a:srgbClr val="FFC000"/>
                </a:solidFill>
              </a:rPr>
              <a:t>单步强化学习</a:t>
            </a:r>
            <a:endParaRPr lang="zh-CN" altLang="en-US" sz="1200" b="1">
              <a:solidFill>
                <a:srgbClr val="FFC000"/>
              </a:solidFill>
            </a:endParaRPr>
          </a:p>
        </p:txBody>
      </p:sp>
      <p:sp>
        <p:nvSpPr>
          <p:cNvPr id="16" name="文本框 15"/>
          <p:cNvSpPr txBox="1"/>
          <p:nvPr>
            <p:custDataLst>
              <p:tags r:id="rId3"/>
            </p:custDataLst>
          </p:nvPr>
        </p:nvSpPr>
        <p:spPr>
          <a:xfrm>
            <a:off x="7221855" y="5569585"/>
            <a:ext cx="1128395" cy="275590"/>
          </a:xfrm>
          <a:prstGeom prst="rect">
            <a:avLst/>
          </a:prstGeom>
          <a:noFill/>
        </p:spPr>
        <p:txBody>
          <a:bodyPr wrap="square" rtlCol="0">
            <a:spAutoFit/>
          </a:bodyPr>
          <a:p>
            <a:r>
              <a:rPr lang="zh-CN" altLang="en-US" sz="1200" b="1">
                <a:solidFill>
                  <a:srgbClr val="FFC000"/>
                </a:solidFill>
              </a:rPr>
              <a:t>多</a:t>
            </a:r>
            <a:r>
              <a:rPr lang="zh-CN" altLang="en-US" sz="1200" b="1">
                <a:solidFill>
                  <a:srgbClr val="FFC000"/>
                </a:solidFill>
              </a:rPr>
              <a:t>步强化学习</a:t>
            </a:r>
            <a:endParaRPr lang="zh-CN" altLang="en-US" sz="1200" b="1">
              <a:solidFill>
                <a:srgbClr val="FFC000"/>
              </a:solidFill>
            </a:endParaRPr>
          </a:p>
        </p:txBody>
      </p:sp>
      <p:sp>
        <p:nvSpPr>
          <p:cNvPr id="17" name="左大括号 16"/>
          <p:cNvSpPr/>
          <p:nvPr>
            <p:custDataLst>
              <p:tags r:id="rId4"/>
            </p:custDataLst>
          </p:nvPr>
        </p:nvSpPr>
        <p:spPr>
          <a:xfrm>
            <a:off x="8456930" y="3922395"/>
            <a:ext cx="342265" cy="620395"/>
          </a:xfrm>
          <a:prstGeom prst="leftBrace">
            <a:avLst>
              <a:gd name="adj1" fmla="val 248275"/>
              <a:gd name="adj2" fmla="val 50000"/>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18" name="直接连接符 17"/>
          <p:cNvCxnSpPr/>
          <p:nvPr>
            <p:custDataLst>
              <p:tags r:id="rId5"/>
            </p:custDataLst>
          </p:nvPr>
        </p:nvCxnSpPr>
        <p:spPr>
          <a:xfrm>
            <a:off x="8783320" y="3922395"/>
            <a:ext cx="934085" cy="0"/>
          </a:xfrm>
          <a:prstGeom prst="line">
            <a:avLst/>
          </a:prstGeom>
          <a:ln w="9525"/>
        </p:spPr>
        <p:style>
          <a:lnRef idx="1">
            <a:schemeClr val="accent4"/>
          </a:lnRef>
          <a:fillRef idx="0">
            <a:schemeClr val="accent4"/>
          </a:fillRef>
          <a:effectRef idx="0">
            <a:schemeClr val="accent4"/>
          </a:effectRef>
          <a:fontRef idx="minor">
            <a:schemeClr val="tx1"/>
          </a:fontRef>
        </p:style>
      </p:cxnSp>
      <p:cxnSp>
        <p:nvCxnSpPr>
          <p:cNvPr id="19" name="直接连接符 18"/>
          <p:cNvCxnSpPr/>
          <p:nvPr>
            <p:custDataLst>
              <p:tags r:id="rId6"/>
            </p:custDataLst>
          </p:nvPr>
        </p:nvCxnSpPr>
        <p:spPr>
          <a:xfrm>
            <a:off x="8783320" y="4542790"/>
            <a:ext cx="909320" cy="1270"/>
          </a:xfrm>
          <a:prstGeom prst="line">
            <a:avLst/>
          </a:prstGeom>
          <a:ln w="9525"/>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mc:Choice xmlns:a14="http://schemas.microsoft.com/office/drawing/2010/main" Requires="a14">
          <p:sp>
            <p:nvSpPr>
              <p:cNvPr id="20" name="文本框 19"/>
              <p:cNvSpPr txBox="1"/>
              <p:nvPr>
                <p:custDataLst>
                  <p:tags r:id="rId7"/>
                </p:custDataLst>
              </p:nvPr>
            </p:nvSpPr>
            <p:spPr>
              <a:xfrm>
                <a:off x="8933815" y="3678555"/>
                <a:ext cx="633095" cy="275590"/>
              </a:xfrm>
              <a:prstGeom prst="rect">
                <a:avLst/>
              </a:prstGeom>
              <a:noFill/>
            </p:spPr>
            <p:txBody>
              <a:bodyPr wrap="square" rtlCol="0">
                <a:spAutoFit/>
              </a:bodyPr>
              <a:p>
                <a14:m>
                  <m:oMath xmlns:m="http://schemas.openxmlformats.org/officeDocument/2006/math">
                    <m:r>
                      <a:rPr lang="en-US" altLang="zh-CN" sz="1200" b="1" i="1">
                        <a:solidFill>
                          <a:srgbClr val="FFC000"/>
                        </a:solidFill>
                        <a:latin typeface="Cambria Math" panose="02040503050406030204" pitchFamily="18" charset="0"/>
                        <a:cs typeface="Cambria Math" panose="02040503050406030204" pitchFamily="18" charset="0"/>
                      </a:rPr>
                      <m:t>𝝐</m:t>
                    </m:r>
                  </m:oMath>
                </a14:m>
                <a:r>
                  <a:rPr lang="en-US" altLang="zh-CN" sz="1200" b="1">
                    <a:solidFill>
                      <a:srgbClr val="FFC000"/>
                    </a:solidFill>
                  </a:rPr>
                  <a:t>-</a:t>
                </a:r>
                <a:r>
                  <a:rPr lang="zh-CN" altLang="en-US" sz="1200" b="1">
                    <a:solidFill>
                      <a:srgbClr val="FFC000"/>
                    </a:solidFill>
                  </a:rPr>
                  <a:t>贪心</a:t>
                </a:r>
                <a:endParaRPr lang="zh-CN" altLang="en-US" sz="1200" b="1">
                  <a:solidFill>
                    <a:srgbClr val="FFC000"/>
                  </a:solidFill>
                </a:endParaRPr>
              </a:p>
            </p:txBody>
          </p:sp>
        </mc:Choice>
        <mc:Fallback>
          <p:sp>
            <p:nvSpPr>
              <p:cNvPr id="20" name="文本框 19"/>
              <p:cNvSpPr txBox="1">
                <a:spLocks noRot="1" noChangeAspect="1" noMove="1" noResize="1" noEditPoints="1" noAdjustHandles="1" noChangeArrowheads="1" noChangeShapeType="1" noTextEdit="1"/>
              </p:cNvSpPr>
              <p:nvPr>
                <p:custDataLst>
                  <p:tags r:id="rId8"/>
                </p:custDataLst>
              </p:nvPr>
            </p:nvSpPr>
            <p:spPr>
              <a:xfrm>
                <a:off x="8933815" y="3678555"/>
                <a:ext cx="633095" cy="275590"/>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custDataLst>
                  <p:tags r:id="rId10"/>
                </p:custDataLst>
              </p:nvPr>
            </p:nvSpPr>
            <p:spPr>
              <a:xfrm>
                <a:off x="8860155" y="4268470"/>
                <a:ext cx="758825" cy="27559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r>
                        <a:rPr lang="en-US" sz="1200" b="1" i="1">
                          <a:solidFill>
                            <a:srgbClr val="FFC000"/>
                          </a:solidFill>
                          <a:latin typeface="Cambria Math" panose="02040503050406030204" pitchFamily="18" charset="0"/>
                          <a:cs typeface="Cambria Math" panose="02040503050406030204" pitchFamily="18" charset="0"/>
                        </a:rPr>
                        <m:t>𝑺𝒐𝒇𝒕𝒎𝒂𝒙</m:t>
                      </m:r>
                    </m:oMath>
                  </m:oMathPara>
                </a14:m>
                <a:endParaRPr lang="en-US" sz="1200" b="1" i="1">
                  <a:solidFill>
                    <a:srgbClr val="FFC000"/>
                  </a:solidFill>
                  <a:latin typeface="Cambria Math" panose="02040503050406030204" pitchFamily="18" charset="0"/>
                  <a:cs typeface="Cambria Math" panose="02040503050406030204" pitchFamily="18" charset="0"/>
                </a:endParaRPr>
              </a:p>
            </p:txBody>
          </p:sp>
        </mc:Choice>
        <mc:Fallback>
          <p:sp>
            <p:nvSpPr>
              <p:cNvPr id="21" name="文本框 20"/>
              <p:cNvSpPr txBox="1">
                <a:spLocks noRot="1" noChangeAspect="1" noMove="1" noResize="1" noEditPoints="1" noAdjustHandles="1" noChangeArrowheads="1" noChangeShapeType="1" noTextEdit="1"/>
              </p:cNvSpPr>
              <p:nvPr>
                <p:custDataLst>
                  <p:tags r:id="rId11"/>
                </p:custDataLst>
              </p:nvPr>
            </p:nvSpPr>
            <p:spPr>
              <a:xfrm>
                <a:off x="8860155" y="4268470"/>
                <a:ext cx="758825" cy="275590"/>
              </a:xfrm>
              <a:prstGeom prst="rect">
                <a:avLst/>
              </a:prstGeom>
              <a:blipFill rotWithShape="1">
                <a:blip r:embed="rId12"/>
                <a:stretch>
                  <a:fillRect/>
                </a:stretch>
              </a:blipFill>
            </p:spPr>
            <p:txBody>
              <a:bodyPr/>
              <a:lstStyle/>
              <a:p>
                <a:r>
                  <a:rPr lang="zh-CN" altLang="en-US">
                    <a:noFill/>
                  </a:rPr>
                  <a:t> </a:t>
                </a:r>
              </a:p>
            </p:txBody>
          </p:sp>
        </mc:Fallback>
      </mc:AlternateContent>
      <p:sp>
        <p:nvSpPr>
          <p:cNvPr id="22" name="左大括号 21"/>
          <p:cNvSpPr/>
          <p:nvPr>
            <p:custDataLst>
              <p:tags r:id="rId13"/>
            </p:custDataLst>
          </p:nvPr>
        </p:nvSpPr>
        <p:spPr>
          <a:xfrm>
            <a:off x="8456930" y="5245735"/>
            <a:ext cx="342265" cy="1191260"/>
          </a:xfrm>
          <a:prstGeom prst="leftBrace">
            <a:avLst>
              <a:gd name="adj1" fmla="val 248275"/>
              <a:gd name="adj2" fmla="val 50000"/>
            </a:avLst>
          </a:prstGeom>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cxnSp>
        <p:nvCxnSpPr>
          <p:cNvPr id="23" name="直接连接符 22"/>
          <p:cNvCxnSpPr/>
          <p:nvPr>
            <p:custDataLst>
              <p:tags r:id="rId14"/>
            </p:custDataLst>
          </p:nvPr>
        </p:nvCxnSpPr>
        <p:spPr>
          <a:xfrm>
            <a:off x="8783320" y="5245735"/>
            <a:ext cx="934085" cy="0"/>
          </a:xfrm>
          <a:prstGeom prst="line">
            <a:avLst/>
          </a:prstGeom>
          <a:ln w="9525"/>
        </p:spPr>
        <p:style>
          <a:lnRef idx="1">
            <a:schemeClr val="accent4"/>
          </a:lnRef>
          <a:fillRef idx="0">
            <a:schemeClr val="accent4"/>
          </a:fillRef>
          <a:effectRef idx="0">
            <a:schemeClr val="accent4"/>
          </a:effectRef>
          <a:fontRef idx="minor">
            <a:schemeClr val="tx1"/>
          </a:fontRef>
        </p:style>
      </p:cxnSp>
      <p:cxnSp>
        <p:nvCxnSpPr>
          <p:cNvPr id="24" name="直接连接符 23"/>
          <p:cNvCxnSpPr/>
          <p:nvPr>
            <p:custDataLst>
              <p:tags r:id="rId15"/>
            </p:custDataLst>
          </p:nvPr>
        </p:nvCxnSpPr>
        <p:spPr>
          <a:xfrm>
            <a:off x="8799195" y="6436995"/>
            <a:ext cx="909320" cy="1270"/>
          </a:xfrm>
          <a:prstGeom prst="line">
            <a:avLst/>
          </a:prstGeom>
          <a:ln w="9525"/>
        </p:spPr>
        <p:style>
          <a:lnRef idx="1">
            <a:schemeClr val="accent4"/>
          </a:lnRef>
          <a:fillRef idx="0">
            <a:schemeClr val="accent4"/>
          </a:fillRef>
          <a:effectRef idx="0">
            <a:schemeClr val="accent4"/>
          </a:effectRef>
          <a:fontRef idx="minor">
            <a:schemeClr val="tx1"/>
          </a:fontRef>
        </p:style>
      </p:cxnSp>
      <p:sp>
        <p:nvSpPr>
          <p:cNvPr id="25" name="文本框 24"/>
          <p:cNvSpPr txBox="1"/>
          <p:nvPr>
            <p:custDataLst>
              <p:tags r:id="rId16"/>
            </p:custDataLst>
          </p:nvPr>
        </p:nvSpPr>
        <p:spPr>
          <a:xfrm>
            <a:off x="8783320" y="4970145"/>
            <a:ext cx="979805" cy="275590"/>
          </a:xfrm>
          <a:prstGeom prst="rect">
            <a:avLst/>
          </a:prstGeom>
          <a:noFill/>
        </p:spPr>
        <p:txBody>
          <a:bodyPr wrap="square" rtlCol="0">
            <a:spAutoFit/>
          </a:bodyPr>
          <a:p>
            <a:r>
              <a:rPr lang="en-US" altLang="zh-CN" sz="1200" b="1">
                <a:solidFill>
                  <a:srgbClr val="FFC000"/>
                </a:solidFill>
              </a:rPr>
              <a:t>Policy-based</a:t>
            </a:r>
            <a:endParaRPr lang="en-US" altLang="zh-CN" sz="1200" b="1">
              <a:solidFill>
                <a:srgbClr val="FFC000"/>
              </a:solidFill>
            </a:endParaRPr>
          </a:p>
        </p:txBody>
      </p:sp>
      <p:sp>
        <p:nvSpPr>
          <p:cNvPr id="29" name="文本框 28"/>
          <p:cNvSpPr txBox="1"/>
          <p:nvPr>
            <p:custDataLst>
              <p:tags r:id="rId17"/>
            </p:custDataLst>
          </p:nvPr>
        </p:nvSpPr>
        <p:spPr>
          <a:xfrm>
            <a:off x="8783320" y="6153785"/>
            <a:ext cx="1007110" cy="275590"/>
          </a:xfrm>
          <a:prstGeom prst="rect">
            <a:avLst/>
          </a:prstGeom>
          <a:noFill/>
        </p:spPr>
        <p:txBody>
          <a:bodyPr wrap="square" rtlCol="0">
            <a:spAutoFit/>
          </a:bodyPr>
          <a:p>
            <a:r>
              <a:rPr lang="en-US" altLang="zh-CN" sz="1200" b="1">
                <a:solidFill>
                  <a:srgbClr val="FFC000"/>
                </a:solidFill>
              </a:rPr>
              <a:t>Value-based</a:t>
            </a:r>
            <a:endParaRPr lang="en-US" altLang="zh-CN" sz="1200" b="1">
              <a:solidFill>
                <a:srgbClr val="FFC000"/>
              </a:solidFill>
            </a:endParaRPr>
          </a:p>
        </p:txBody>
      </p:sp>
      <p:sp>
        <p:nvSpPr>
          <p:cNvPr id="5" name="文本框 4"/>
          <p:cNvSpPr txBox="1"/>
          <p:nvPr/>
        </p:nvSpPr>
        <p:spPr>
          <a:xfrm>
            <a:off x="6600190" y="1290955"/>
            <a:ext cx="4648200" cy="737235"/>
          </a:xfrm>
          <a:prstGeom prst="rect">
            <a:avLst/>
          </a:prstGeom>
          <a:noFill/>
        </p:spPr>
        <p:txBody>
          <a:bodyPr wrap="square" rtlCol="0" anchor="t">
            <a:spAutoFit/>
          </a:bodyPr>
          <a:p>
            <a:r>
              <a:rPr lang="zh-CN" altLang="en-US" sz="1400" b="1"/>
              <a:t>将单智能体强化学习方法直接套用在多智能体系统中，即每个智能体把其他智能体都当做环境中的因素，仍然按照单智能体学习的方式、通过与环境的交互来更新策略</a:t>
            </a:r>
            <a:endParaRPr lang="zh-CN" altLang="en-US" sz="1400" b="1"/>
          </a:p>
        </p:txBody>
      </p:sp>
      <p:sp>
        <p:nvSpPr>
          <p:cNvPr id="6" name="上箭头 5"/>
          <p:cNvSpPr/>
          <p:nvPr/>
        </p:nvSpPr>
        <p:spPr>
          <a:xfrm>
            <a:off x="4982845" y="2560320"/>
            <a:ext cx="835660" cy="597535"/>
          </a:xfrm>
          <a:prstGeom prst="upArrow">
            <a:avLst/>
          </a:prstGeom>
          <a:noFill/>
          <a:ln w="28575">
            <a:solidFill>
              <a:srgbClr val="0070C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有监督学习与强化学习区别</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180340" y="1271270"/>
            <a:ext cx="5922645" cy="4799965"/>
          </a:xfrm>
          <a:prstGeom prst="rect">
            <a:avLst/>
          </a:prstGeom>
          <a:noFill/>
        </p:spPr>
        <p:txBody>
          <a:bodyPr wrap="square" rtlCol="0" anchor="t">
            <a:spAutoFit/>
          </a:bodyPr>
          <a:p>
            <a:pPr indent="457200"/>
            <a:r>
              <a:rPr lang="zh-CN" altLang="en-US">
                <a:solidFill>
                  <a:schemeClr val="accent1"/>
                </a:solidFill>
                <a:effectLst>
                  <a:outerShdw blurRad="38100" dist="25400" dir="5400000" algn="ctr" rotWithShape="0">
                    <a:srgbClr val="6E747A">
                      <a:alpha val="43000"/>
                    </a:srgbClr>
                  </a:outerShdw>
                </a:effectLst>
              </a:rPr>
              <a:t>有监督学习</a:t>
            </a:r>
            <a:r>
              <a:rPr lang="zh-CN" altLang="en-US"/>
              <a:t>的典型代表是分类器，比如我们对标注过的图片、文本、浮点型数据等进行分类。分类器的实现有很多种方式，比如线性模型，决策树模型、神经网络、支持向量机、贝叶斯分类器等等。这里以神经网络为例，在有监督学习中我们一般假设样本之间是独立同分布的，每个样本对应了指定标签，那么学习的目标就是找到一组权重参数，使得损失函数在样本上面能够完成最小化</a:t>
            </a:r>
            <a:endParaRPr lang="zh-CN" altLang="en-US"/>
          </a:p>
          <a:p>
            <a:pPr indent="457200">
              <a:lnSpc>
                <a:spcPct val="50000"/>
              </a:lnSpc>
            </a:pPr>
            <a:endParaRPr lang="zh-CN" altLang="en-US"/>
          </a:p>
          <a:p>
            <a:pPr indent="457200"/>
            <a:r>
              <a:rPr lang="zh-CN" altLang="en-US">
                <a:solidFill>
                  <a:schemeClr val="accent1"/>
                </a:solidFill>
                <a:effectLst>
                  <a:outerShdw blurRad="38100" dist="25400" dir="5400000" algn="ctr" rotWithShape="0">
                    <a:srgbClr val="6E747A">
                      <a:alpha val="43000"/>
                    </a:srgbClr>
                  </a:outerShdw>
                </a:effectLst>
              </a:rPr>
              <a:t>强化学习</a:t>
            </a:r>
            <a:r>
              <a:rPr lang="zh-CN" altLang="en-US"/>
              <a:t>是一个通过智能体不断通过各种观察周边环境的转态，来做出对应的决策动作，进而得到回报来不断迭代改进自身的参数的学习过程，那么学习的目标是最终使得智能体在交互中的累积奖励最大化</a:t>
            </a:r>
            <a:endParaRPr lang="zh-CN" altLang="en-US"/>
          </a:p>
          <a:p>
            <a:pPr indent="457200">
              <a:lnSpc>
                <a:spcPct val="50000"/>
              </a:lnSpc>
            </a:pPr>
            <a:endParaRPr lang="zh-CN" altLang="en-US"/>
          </a:p>
          <a:p>
            <a:pPr indent="457200"/>
            <a:r>
              <a:rPr lang="zh-CN" altLang="en-US">
                <a:solidFill>
                  <a:schemeClr val="accent1"/>
                </a:solidFill>
                <a:effectLst>
                  <a:outerShdw blurRad="38100" dist="25400" dir="5400000" algn="ctr" rotWithShape="0">
                    <a:srgbClr val="6E747A">
                      <a:alpha val="43000"/>
                    </a:srgbClr>
                  </a:outerShdw>
                </a:effectLst>
              </a:rPr>
              <a:t>强化学习</a:t>
            </a:r>
            <a:r>
              <a:rPr lang="zh-CN" altLang="en-US"/>
              <a:t>是</a:t>
            </a:r>
            <a:r>
              <a:rPr lang="zh-CN" altLang="en-US">
                <a:solidFill>
                  <a:schemeClr val="accent1"/>
                </a:solidFill>
                <a:effectLst>
                  <a:outerShdw blurRad="38100" dist="25400" dir="5400000" algn="ctr" rotWithShape="0">
                    <a:srgbClr val="6E747A">
                      <a:alpha val="43000"/>
                    </a:srgbClr>
                  </a:outerShdw>
                </a:effectLst>
              </a:rPr>
              <a:t>试错</a:t>
            </a:r>
            <a:r>
              <a:rPr lang="zh-CN" altLang="en-US"/>
              <a:t>学习，由于没有直接的指导信息，智能体要以不断与环境进行交互，通过试错的方式来获得最佳策略。并且强化学习得到的奖励属于延迟回报，强化学习的指导信息很少，而且往往是在事后</a:t>
            </a:r>
            <a:r>
              <a:rPr lang="en-US" altLang="zh-CN"/>
              <a:t>(</a:t>
            </a:r>
            <a:r>
              <a:rPr lang="zh-CN" altLang="en-US"/>
              <a:t>最后一个状态</a:t>
            </a:r>
            <a:r>
              <a:rPr lang="en-US" altLang="zh-CN"/>
              <a:t>)</a:t>
            </a:r>
            <a:r>
              <a:rPr lang="zh-CN" altLang="en-US"/>
              <a:t>才给出的。</a:t>
            </a:r>
            <a:endParaRPr lang="zh-CN" altLang="en-US"/>
          </a:p>
        </p:txBody>
      </p:sp>
      <p:pic>
        <p:nvPicPr>
          <p:cNvPr id="6" name="图片 5" descr="强化学习"/>
          <p:cNvPicPr>
            <a:picLocks noChangeAspect="1"/>
          </p:cNvPicPr>
          <p:nvPr/>
        </p:nvPicPr>
        <p:blipFill>
          <a:blip r:embed="rId1"/>
          <a:stretch>
            <a:fillRect/>
          </a:stretch>
        </p:blipFill>
        <p:spPr>
          <a:xfrm>
            <a:off x="7594600" y="3682365"/>
            <a:ext cx="3556635" cy="2649855"/>
          </a:xfrm>
          <a:prstGeom prst="rect">
            <a:avLst/>
          </a:prstGeom>
        </p:spPr>
      </p:pic>
      <p:pic>
        <p:nvPicPr>
          <p:cNvPr id="7" name="图片 6" descr="有监督学习"/>
          <p:cNvPicPr>
            <a:picLocks noChangeAspect="1"/>
          </p:cNvPicPr>
          <p:nvPr/>
        </p:nvPicPr>
        <p:blipFill>
          <a:blip r:embed="rId2"/>
          <a:stretch>
            <a:fillRect/>
          </a:stretch>
        </p:blipFill>
        <p:spPr>
          <a:xfrm>
            <a:off x="6191250" y="1195070"/>
            <a:ext cx="5553710" cy="214312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有监督学习与强化学习区别</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280670" y="1099820"/>
            <a:ext cx="3905250" cy="368300"/>
          </a:xfrm>
          <a:prstGeom prst="rect">
            <a:avLst/>
          </a:prstGeom>
          <a:noFill/>
        </p:spPr>
        <p:txBody>
          <a:bodyPr wrap="square" rtlCol="0">
            <a:spAutoFit/>
          </a:bodyPr>
          <a:p>
            <a:r>
              <a:rPr lang="zh-CN" altLang="en-US"/>
              <a:t>举例说明：下围棋</a:t>
            </a:r>
            <a:endParaRPr lang="zh-CN" altLang="en-US"/>
          </a:p>
        </p:txBody>
      </p:sp>
      <p:pic>
        <p:nvPicPr>
          <p:cNvPr id="6" name="图片 5" descr="围棋例子"/>
          <p:cNvPicPr>
            <a:picLocks noChangeAspect="1"/>
          </p:cNvPicPr>
          <p:nvPr/>
        </p:nvPicPr>
        <p:blipFill>
          <a:blip r:embed="rId1"/>
          <a:stretch>
            <a:fillRect/>
          </a:stretch>
        </p:blipFill>
        <p:spPr>
          <a:xfrm>
            <a:off x="1280160" y="1785620"/>
            <a:ext cx="9332595" cy="447675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有监督学习与强化学习区别</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custDataLst>
              <p:tags r:id="rId1"/>
            </p:custDataLst>
          </p:nvPr>
        </p:nvSpPr>
        <p:spPr>
          <a:xfrm>
            <a:off x="280670" y="1099820"/>
            <a:ext cx="3905250" cy="368300"/>
          </a:xfrm>
          <a:prstGeom prst="rect">
            <a:avLst/>
          </a:prstGeom>
          <a:noFill/>
        </p:spPr>
        <p:txBody>
          <a:bodyPr wrap="square" rtlCol="0">
            <a:spAutoFit/>
          </a:bodyPr>
          <a:p>
            <a:r>
              <a:rPr lang="zh-CN" altLang="en-US"/>
              <a:t>举例说明：聊天机器人</a:t>
            </a:r>
            <a:endParaRPr lang="zh-CN" altLang="en-US"/>
          </a:p>
        </p:txBody>
      </p:sp>
      <p:pic>
        <p:nvPicPr>
          <p:cNvPr id="6" name="图片 5" descr="聊天机器人例子"/>
          <p:cNvPicPr>
            <a:picLocks noChangeAspect="1"/>
          </p:cNvPicPr>
          <p:nvPr/>
        </p:nvPicPr>
        <p:blipFill>
          <a:blip r:embed="rId2"/>
          <a:stretch>
            <a:fillRect/>
          </a:stretch>
        </p:blipFill>
        <p:spPr>
          <a:xfrm>
            <a:off x="2158365" y="1594485"/>
            <a:ext cx="7875270" cy="477393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zh-CN" altLang="en-US" sz="2800" b="1" spc="200" dirty="0">
                        <a:solidFill>
                          <a:schemeClr val="accent1"/>
                        </a:solidFill>
                        <a:uFillTx/>
                        <a:latin typeface="宋体" panose="02010600030101010101" pitchFamily="2" charset="-122"/>
                        <a:ea typeface="宋体" panose="02010600030101010101" pitchFamily="2" charset="-122"/>
                        <a:cs typeface="+mj-cs"/>
                      </a:rPr>
                      <m:t>𝝐</m:t>
                    </m:r>
                  </m:oMath>
                </a14:m>
                <a:r>
                  <a:rPr lang="zh-CN" altLang="en-US" sz="2800" b="1" spc="200" dirty="0">
                    <a:solidFill>
                      <a:schemeClr val="accent1"/>
                    </a:solidFill>
                    <a:uFillTx/>
                    <a:latin typeface="宋体" panose="02010600030101010101" pitchFamily="2" charset="-122"/>
                    <a:ea typeface="宋体" panose="02010600030101010101" pitchFamily="2" charset="-122"/>
                    <a:cs typeface="+mj-cs"/>
                  </a:rPr>
                  <a:t>-贪心算法与</a:t>
                </a:r>
                <a14:m>
                  <m:oMath xmlns:m="http://schemas.openxmlformats.org/officeDocument/2006/math">
                    <m:r>
                      <a:rPr lang="zh-CN" altLang="en-US" sz="2800" b="1" spc="200" dirty="0">
                        <a:solidFill>
                          <a:schemeClr val="accent1"/>
                        </a:solidFill>
                        <a:uFillTx/>
                        <a:latin typeface="宋体" panose="02010600030101010101" pitchFamily="2" charset="-122"/>
                        <a:ea typeface="宋体" panose="02010600030101010101" pitchFamily="2" charset="-122"/>
                        <a:cs typeface="+mj-cs"/>
                      </a:rPr>
                      <m:t>𝑺𝒐𝒇𝒕𝒎𝒂𝒙</m:t>
                    </m:r>
                  </m:oMath>
                </a14:m>
                <a:r>
                  <a:rPr lang="zh-CN" altLang="en-US" sz="2800" b="1" spc="200" dirty="0">
                    <a:solidFill>
                      <a:schemeClr val="accent1"/>
                    </a:solidFill>
                    <a:uFillTx/>
                    <a:latin typeface="宋体" panose="02010600030101010101" pitchFamily="2" charset="-122"/>
                    <a:ea typeface="宋体" panose="02010600030101010101" pitchFamily="2" charset="-122"/>
                    <a:cs typeface="+mj-cs"/>
                  </a:rPr>
                  <a:t>算法</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419735" y="291465"/>
                <a:ext cx="5675630" cy="583565"/>
              </a:xfrm>
              <a:prstGeom prst="rect">
                <a:avLst/>
              </a:prstGeom>
              <a:noFill/>
            </p:spPr>
            <p:txBody>
              <a:bodyPr wrap="square" rtlCol="0">
                <a:spAutoFit/>
                <a:scene3d>
                  <a:camera prst="orthographicFront"/>
                  <a:lightRig rig="threePt" dir="t"/>
                </a:scene3d>
              </a:bodyPr>
              <a:p>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𝝐</m:t>
                    </m:r>
                  </m:oMath>
                </a14:m>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贪心算法与</a:t>
                </a:r>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𝑺𝒐𝒇𝒕𝒎𝒂𝒙</m:t>
                    </m:r>
                  </m:oMath>
                </a14:m>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算法</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Choice>
        <mc:Fallback>
          <p:sp>
            <p:nvSpPr>
              <p:cNvPr id="4" name="文本框 3"/>
              <p:cNvSpPr txBox="1">
                <a:spLocks noRot="1" noChangeAspect="1" noMove="1" noResize="1" noEditPoints="1" noAdjustHandles="1" noChangeArrowheads="1" noChangeShapeType="1" noTextEdit="1"/>
              </p:cNvSpPr>
              <p:nvPr/>
            </p:nvSpPr>
            <p:spPr>
              <a:xfrm>
                <a:off x="419735" y="291465"/>
                <a:ext cx="5675630" cy="583565"/>
              </a:xfrm>
              <a:prstGeom prst="rect">
                <a:avLst/>
              </a:prstGeom>
              <a:blipFill rotWithShape="1">
                <a:blip r:embed="rId1"/>
                <a:stretch>
                  <a:fillRect/>
                </a:stretch>
              </a:blipFill>
            </p:spPr>
            <p:txBody>
              <a:bodyPr/>
              <a:lstStyle/>
              <a:p>
                <a:r>
                  <a:rPr lang="zh-CN" altLang="en-US">
                    <a:noFill/>
                  </a:rPr>
                  <a:t> </a:t>
                </a:r>
              </a:p>
            </p:txBody>
          </p:sp>
        </mc:Fallback>
      </mc:AlternateContent>
      <p:sp>
        <p:nvSpPr>
          <p:cNvPr id="5" name="文本框 4"/>
          <p:cNvSpPr txBox="1"/>
          <p:nvPr/>
        </p:nvSpPr>
        <p:spPr>
          <a:xfrm>
            <a:off x="314325" y="1276350"/>
            <a:ext cx="11306175" cy="1891665"/>
          </a:xfrm>
          <a:prstGeom prst="rect">
            <a:avLst/>
          </a:prstGeom>
          <a:noFill/>
        </p:spPr>
        <p:txBody>
          <a:bodyPr wrap="square" rtlCol="0">
            <a:spAutoFit/>
          </a:bodyPr>
          <a:p>
            <a:r>
              <a:rPr lang="zh-CN" altLang="en-US"/>
              <a:t>先考虑强化学习中比较简单的情形：</a:t>
            </a:r>
            <a:r>
              <a:rPr lang="zh-CN" altLang="en-US">
                <a:solidFill>
                  <a:schemeClr val="accent1"/>
                </a:solidFill>
                <a:effectLst>
                  <a:outerShdw blurRad="38100" dist="25400" dir="5400000" algn="ctr" rotWithShape="0">
                    <a:srgbClr val="6E747A">
                      <a:alpha val="43000"/>
                    </a:srgbClr>
                  </a:outerShdw>
                </a:effectLst>
              </a:rPr>
              <a:t>最大化单步奖励</a:t>
            </a:r>
            <a:endParaRPr lang="zh-CN" altLang="en-US"/>
          </a:p>
          <a:p>
            <a:pPr>
              <a:lnSpc>
                <a:spcPct val="50000"/>
              </a:lnSpc>
            </a:pPr>
            <a:endParaRPr lang="zh-CN" altLang="en-US"/>
          </a:p>
          <a:p>
            <a:pPr indent="457200"/>
            <a:r>
              <a:rPr lang="zh-CN" altLang="en-US"/>
              <a:t>欲最大化单步奖励需考虑两个方面：</a:t>
            </a:r>
            <a:r>
              <a:rPr lang="en-US" altLang="zh-CN"/>
              <a:t>1</a:t>
            </a:r>
            <a:r>
              <a:rPr lang="zh-CN" altLang="en-US"/>
              <a:t>）需知道每个动作带来的奖励</a:t>
            </a:r>
            <a:r>
              <a:rPr lang="en-US" altLang="zh-CN"/>
              <a:t>  2</a:t>
            </a:r>
            <a:r>
              <a:rPr lang="zh-CN" altLang="en-US"/>
              <a:t>）执行奖励最大的动作</a:t>
            </a:r>
            <a:endParaRPr lang="zh-CN" altLang="en-US"/>
          </a:p>
          <a:p>
            <a:pPr indent="457200">
              <a:lnSpc>
                <a:spcPct val="50000"/>
              </a:lnSpc>
            </a:pPr>
            <a:endParaRPr lang="zh-CN" altLang="en-US"/>
          </a:p>
          <a:p>
            <a:pPr marL="0" lvl="0" indent="0">
              <a:buNone/>
            </a:pPr>
            <a:r>
              <a:rPr lang="zh-CN" altLang="en-US">
                <a:solidFill>
                  <a:schemeClr val="accent1"/>
                </a:solidFill>
                <a:effectLst>
                  <a:outerShdw blurRad="38100" dist="25400" dir="5400000" algn="ctr" rotWithShape="0">
                    <a:srgbClr val="6E747A">
                      <a:alpha val="43000"/>
                    </a:srgbClr>
                  </a:outerShdw>
                </a:effectLst>
              </a:rPr>
              <a:t>单步强化学习</a:t>
            </a:r>
            <a:r>
              <a:rPr lang="zh-CN" altLang="en-US">
                <a:solidFill>
                  <a:schemeClr val="tx1"/>
                </a:solidFill>
              </a:rPr>
              <a:t>对应一个理论模型：</a:t>
            </a:r>
            <a:r>
              <a:rPr lang="en-US" altLang="zh-CN">
                <a:solidFill>
                  <a:schemeClr val="accent1"/>
                </a:solidFill>
                <a:effectLst>
                  <a:outerShdw blurRad="38100" dist="25400" dir="5400000" algn="ctr" rotWithShape="0">
                    <a:srgbClr val="6E747A">
                      <a:alpha val="43000"/>
                    </a:srgbClr>
                  </a:outerShdw>
                </a:effectLst>
              </a:rPr>
              <a:t>K-</a:t>
            </a:r>
            <a:r>
              <a:rPr lang="zh-CN" altLang="en-US">
                <a:solidFill>
                  <a:schemeClr val="accent1"/>
                </a:solidFill>
                <a:effectLst>
                  <a:outerShdw blurRad="38100" dist="25400" dir="5400000" algn="ctr" rotWithShape="0">
                    <a:srgbClr val="6E747A">
                      <a:alpha val="43000"/>
                    </a:srgbClr>
                  </a:outerShdw>
                </a:effectLst>
              </a:rPr>
              <a:t>摇臂赌博机</a:t>
            </a:r>
            <a:r>
              <a:rPr lang="zh-CN" altLang="en-US">
                <a:solidFill>
                  <a:schemeClr val="tx1"/>
                </a:solidFill>
              </a:rPr>
              <a:t>：</a:t>
            </a:r>
            <a:endParaRPr lang="zh-CN" altLang="en-US">
              <a:solidFill>
                <a:schemeClr val="tx1"/>
              </a:solidFill>
            </a:endParaRPr>
          </a:p>
          <a:p>
            <a:pPr marL="0" lvl="0" indent="457200">
              <a:lnSpc>
                <a:spcPct val="50000"/>
              </a:lnSpc>
              <a:buNone/>
            </a:pPr>
            <a:endParaRPr lang="zh-CN" altLang="en-US">
              <a:solidFill>
                <a:schemeClr val="tx1"/>
              </a:solidFill>
            </a:endParaRPr>
          </a:p>
          <a:p>
            <a:pPr marL="0" lvl="0" indent="457200">
              <a:buNone/>
            </a:pPr>
            <a:r>
              <a:rPr lang="en-US" altLang="zh-CN">
                <a:solidFill>
                  <a:schemeClr val="accent1"/>
                </a:solidFill>
                <a:effectLst>
                  <a:outerShdw blurRad="38100" dist="25400" dir="5400000" algn="ctr" rotWithShape="0">
                    <a:srgbClr val="6E747A">
                      <a:alpha val="43000"/>
                    </a:srgbClr>
                  </a:outerShdw>
                </a:effectLst>
              </a:rPr>
              <a:t>K-</a:t>
            </a:r>
            <a:r>
              <a:rPr lang="zh-CN" altLang="en-US">
                <a:solidFill>
                  <a:schemeClr val="accent1"/>
                </a:solidFill>
                <a:effectLst>
                  <a:outerShdw blurRad="38100" dist="25400" dir="5400000" algn="ctr" rotWithShape="0">
                    <a:srgbClr val="6E747A">
                      <a:alpha val="43000"/>
                    </a:srgbClr>
                  </a:outerShdw>
                </a:effectLst>
              </a:rPr>
              <a:t>摇臂赌博机</a:t>
            </a:r>
            <a:r>
              <a:rPr lang="zh-CN" altLang="en-US">
                <a:solidFill>
                  <a:schemeClr val="tx1"/>
                </a:solidFill>
              </a:rPr>
              <a:t>有</a:t>
            </a:r>
            <a:r>
              <a:rPr lang="en-US" altLang="zh-CN">
                <a:solidFill>
                  <a:schemeClr val="tx1"/>
                </a:solidFill>
              </a:rPr>
              <a:t>K</a:t>
            </a:r>
            <a:r>
              <a:rPr lang="zh-CN" altLang="en-US">
                <a:solidFill>
                  <a:schemeClr val="tx1"/>
                </a:solidFill>
              </a:rPr>
              <a:t>个摇臂，赌徒在投入一个硬币后可选择按下其中一个摇臂，每个摇臂以一定概率吐出硬币，但这个概率赌徒并不知道。赌徒的目标是通过一定的策略最大化自己的奖励，即吐出的硬币数量</a:t>
            </a:r>
            <a:endParaRPr lang="zh-CN" altLang="en-US">
              <a:solidFill>
                <a:schemeClr val="tx1"/>
              </a:solidFill>
            </a:endParaRPr>
          </a:p>
        </p:txBody>
      </p:sp>
      <p:pic>
        <p:nvPicPr>
          <p:cNvPr id="6" name="图片 5"/>
          <p:cNvPicPr>
            <a:picLocks noChangeAspect="1"/>
          </p:cNvPicPr>
          <p:nvPr>
            <p:custDataLst>
              <p:tags r:id="rId2"/>
            </p:custDataLst>
          </p:nvPr>
        </p:nvPicPr>
        <p:blipFill>
          <a:blip r:embed="rId3"/>
          <a:stretch>
            <a:fillRect/>
          </a:stretch>
        </p:blipFill>
        <p:spPr>
          <a:xfrm>
            <a:off x="4431665" y="3286125"/>
            <a:ext cx="3663315" cy="312356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419735" y="291465"/>
                <a:ext cx="5675630" cy="583565"/>
              </a:xfrm>
              <a:prstGeom prst="rect">
                <a:avLst/>
              </a:prstGeom>
              <a:noFill/>
            </p:spPr>
            <p:txBody>
              <a:bodyPr wrap="square" rtlCol="0">
                <a:spAutoFit/>
                <a:scene3d>
                  <a:camera prst="orthographicFront"/>
                  <a:lightRig rig="threePt" dir="t"/>
                </a:scene3d>
              </a:bodyPr>
              <a:p>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𝝐</m:t>
                    </m:r>
                  </m:oMath>
                </a14:m>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贪心算法与</a:t>
                </a:r>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𝑺𝒐𝒇𝒕𝒎𝒂𝒙</m:t>
                    </m:r>
                  </m:oMath>
                </a14:m>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算法</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Choice>
        <mc:Fallback>
          <p:sp>
            <p:nvSpPr>
              <p:cNvPr id="4" name="文本框 3"/>
              <p:cNvSpPr txBox="1">
                <a:spLocks noRot="1" noChangeAspect="1" noMove="1" noResize="1" noEditPoints="1" noAdjustHandles="1" noChangeArrowheads="1" noChangeShapeType="1" noTextEdit="1"/>
              </p:cNvSpPr>
              <p:nvPr/>
            </p:nvSpPr>
            <p:spPr>
              <a:xfrm>
                <a:off x="419735" y="291465"/>
                <a:ext cx="5675630" cy="5835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333375" y="1247775"/>
                <a:ext cx="11277600" cy="3647440"/>
              </a:xfrm>
              <a:prstGeom prst="rect">
                <a:avLst/>
              </a:prstGeom>
              <a:noFill/>
            </p:spPr>
            <p:txBody>
              <a:bodyPr wrap="square" rtlCol="0">
                <a:spAutoFit/>
              </a:bodyPr>
              <a:p>
                <a:r>
                  <a:rPr lang="zh-CN" altLang="en-US"/>
                  <a:t>赌徒所采用的最直观的方法有两种：</a:t>
                </a:r>
                <a:r>
                  <a:rPr lang="en-US" altLang="zh-CN"/>
                  <a:t>1</a:t>
                </a:r>
                <a:r>
                  <a:rPr lang="zh-CN" altLang="en-US"/>
                  <a:t>）</a:t>
                </a:r>
                <a:r>
                  <a:rPr lang="zh-CN" altLang="en-US">
                    <a:solidFill>
                      <a:schemeClr val="accent1"/>
                    </a:solidFill>
                    <a:effectLst>
                      <a:outerShdw blurRad="38100" dist="25400" dir="5400000" algn="ctr" rotWithShape="0">
                        <a:srgbClr val="6E747A">
                          <a:alpha val="43000"/>
                        </a:srgbClr>
                      </a:outerShdw>
                    </a:effectLst>
                  </a:rPr>
                  <a:t>仅搜索法</a:t>
                </a:r>
                <a:r>
                  <a:rPr lang="en-US" altLang="zh-CN"/>
                  <a:t>  2</a:t>
                </a:r>
                <a:r>
                  <a:rPr lang="zh-CN" altLang="en-US"/>
                  <a:t>）</a:t>
                </a:r>
                <a:r>
                  <a:rPr lang="zh-CN" altLang="en-US">
                    <a:solidFill>
                      <a:schemeClr val="accent1"/>
                    </a:solidFill>
                    <a:effectLst>
                      <a:outerShdw blurRad="38100" dist="25400" dir="5400000" algn="ctr" rotWithShape="0">
                        <a:srgbClr val="6E747A">
                          <a:alpha val="43000"/>
                        </a:srgbClr>
                      </a:outerShdw>
                    </a:effectLst>
                  </a:rPr>
                  <a:t>仅利用法</a:t>
                </a:r>
                <a:endParaRPr lang="zh-CN" altLang="en-US"/>
              </a:p>
              <a:p>
                <a:pPr>
                  <a:lnSpc>
                    <a:spcPct val="70000"/>
                  </a:lnSpc>
                </a:pPr>
                <a:endParaRPr lang="zh-CN" altLang="en-US"/>
              </a:p>
              <a:p>
                <a:r>
                  <a:rPr lang="en-US" altLang="zh-CN"/>
                  <a:t>1</a:t>
                </a:r>
                <a:r>
                  <a:rPr lang="zh-CN" altLang="en-US"/>
                  <a:t>）</a:t>
                </a:r>
                <a:r>
                  <a:rPr lang="zh-CN" altLang="en-US">
                    <a:solidFill>
                      <a:schemeClr val="accent1"/>
                    </a:solidFill>
                    <a:effectLst>
                      <a:outerShdw blurRad="38100" dist="25400" dir="5400000" algn="ctr" rotWithShape="0">
                        <a:srgbClr val="6E747A">
                          <a:alpha val="43000"/>
                        </a:srgbClr>
                      </a:outerShdw>
                    </a:effectLst>
                  </a:rPr>
                  <a:t>仅搜索法</a:t>
                </a:r>
                <a:r>
                  <a:rPr lang="zh-CN" altLang="en-US"/>
                  <a:t>：将所有的尝试机会平均分配给每个摇臂</a:t>
                </a:r>
                <a:r>
                  <a:rPr lang="en-US" altLang="zh-CN"/>
                  <a:t>(</a:t>
                </a:r>
                <a:r>
                  <a:rPr lang="zh-CN" altLang="en-US"/>
                  <a:t>即轮流按下每个摇臂</a:t>
                </a:r>
                <a:r>
                  <a:rPr lang="en-US" altLang="zh-CN"/>
                  <a:t>)</a:t>
                </a:r>
                <a:r>
                  <a:rPr lang="zh-CN" altLang="en-US"/>
                  <a:t>，最后以每个摇臂各自的平均吐币</a:t>
                </a:r>
                <a:endParaRPr lang="zh-CN" altLang="en-US"/>
              </a:p>
              <a:p>
                <a:pPr>
                  <a:lnSpc>
                    <a:spcPct val="20000"/>
                  </a:lnSpc>
                </a:pPr>
                <a:r>
                  <a:rPr lang="zh-CN" altLang="en-US"/>
                  <a:t> </a:t>
                </a:r>
                <a:r>
                  <a:rPr lang="en-US" altLang="zh-CN"/>
                  <a:t>                            </a:t>
                </a:r>
                <a:endParaRPr lang="en-US" altLang="zh-CN"/>
              </a:p>
              <a:p>
                <a:r>
                  <a:rPr lang="en-US" altLang="zh-CN"/>
                  <a:t>                             </a:t>
                </a:r>
                <a:r>
                  <a:rPr lang="zh-CN" altLang="en-US"/>
                  <a:t>概率作为其奖励期望的近似估计</a:t>
                </a:r>
                <a:endParaRPr lang="zh-CN" altLang="en-US"/>
              </a:p>
              <a:p>
                <a:pPr>
                  <a:lnSpc>
                    <a:spcPct val="70000"/>
                  </a:lnSpc>
                </a:pPr>
                <a:endParaRPr lang="zh-CN" altLang="en-US"/>
              </a:p>
              <a:p>
                <a:r>
                  <a:rPr lang="en-US" altLang="zh-CN"/>
                  <a:t>2</a:t>
                </a:r>
                <a:r>
                  <a:rPr lang="zh-CN" altLang="en-US"/>
                  <a:t>）</a:t>
                </a:r>
                <a:r>
                  <a:rPr lang="zh-CN" altLang="en-US">
                    <a:solidFill>
                      <a:schemeClr val="accent1"/>
                    </a:solidFill>
                    <a:effectLst>
                      <a:outerShdw blurRad="38100" dist="25400" dir="5400000" algn="ctr" rotWithShape="0">
                        <a:srgbClr val="6E747A">
                          <a:alpha val="43000"/>
                        </a:srgbClr>
                      </a:outerShdw>
                    </a:effectLst>
                  </a:rPr>
                  <a:t>仅利用法</a:t>
                </a:r>
                <a:r>
                  <a:rPr lang="zh-CN" altLang="en-US"/>
                  <a:t>：按下目前最优</a:t>
                </a:r>
                <a:r>
                  <a:rPr lang="en-US" altLang="zh-CN"/>
                  <a:t>(</a:t>
                </a:r>
                <a:r>
                  <a:rPr lang="zh-CN" altLang="en-US"/>
                  <a:t>即目前为止平均奖励最大</a:t>
                </a:r>
                <a:r>
                  <a:rPr lang="en-US" altLang="zh-CN"/>
                  <a:t>)</a:t>
                </a:r>
                <a:r>
                  <a:rPr lang="zh-CN" altLang="en-US"/>
                  <a:t>的摇臂，若有多个摇臂同为最优，则从中随机选取一个</a:t>
                </a:r>
                <a:endParaRPr lang="zh-CN" altLang="en-US"/>
              </a:p>
              <a:p>
                <a:endParaRPr lang="zh-CN" altLang="en-US"/>
              </a:p>
              <a:p>
                <a:pPr indent="457200"/>
                <a:r>
                  <a:rPr lang="zh-CN" altLang="en-US">
                    <a:solidFill>
                      <a:schemeClr val="accent1"/>
                    </a:solidFill>
                    <a:effectLst>
                      <a:outerShdw blurRad="38100" dist="25400" dir="5400000" algn="ctr" rotWithShape="0">
                        <a:srgbClr val="6E747A">
                          <a:alpha val="43000"/>
                        </a:srgbClr>
                      </a:outerShdw>
                    </a:effectLst>
                  </a:rPr>
                  <a:t>仅搜索法</a:t>
                </a:r>
                <a:r>
                  <a:rPr lang="zh-CN" altLang="en-US"/>
                  <a:t>能很好地估计每个摇臂的奖励，却会失去很多选择最优摇臂的机会；</a:t>
                </a:r>
                <a:r>
                  <a:rPr lang="zh-CN" altLang="en-US">
                    <a:solidFill>
                      <a:schemeClr val="accent1"/>
                    </a:solidFill>
                    <a:effectLst>
                      <a:outerShdw blurRad="38100" dist="25400" dir="5400000" algn="ctr" rotWithShape="0">
                        <a:srgbClr val="6E747A">
                          <a:alpha val="43000"/>
                        </a:srgbClr>
                      </a:outerShdw>
                    </a:effectLst>
                  </a:rPr>
                  <a:t>仅利用法</a:t>
                </a:r>
                <a:r>
                  <a:rPr lang="zh-CN" altLang="en-US"/>
                  <a:t>则相反，它没有很</a:t>
                </a:r>
                <a:endParaRPr lang="zh-CN" altLang="en-US"/>
              </a:p>
              <a:p>
                <a:pPr marL="0" lvl="0" indent="0">
                  <a:lnSpc>
                    <a:spcPct val="20000"/>
                  </a:lnSpc>
                  <a:buNone/>
                </a:pPr>
                <a:endParaRPr lang="zh-CN" altLang="en-US">
                  <a:solidFill>
                    <a:schemeClr val="tx1"/>
                  </a:solidFill>
                </a:endParaRPr>
              </a:p>
              <a:p>
                <a:pPr marL="0" lvl="0" indent="0">
                  <a:buNone/>
                </a:pPr>
                <a:r>
                  <a:rPr lang="zh-CN" altLang="en-US">
                    <a:solidFill>
                      <a:schemeClr val="tx1"/>
                    </a:solidFill>
                  </a:rPr>
                  <a:t>好地估计摇臂期望奖励，很可能经常选不到最优摇臂。两种方法都难以使最终的累计奖励最大化。事实上，搜</a:t>
                </a:r>
                <a:endParaRPr lang="zh-CN" altLang="en-US">
                  <a:solidFill>
                    <a:schemeClr val="tx1"/>
                  </a:solidFill>
                </a:endParaRPr>
              </a:p>
              <a:p>
                <a:pPr marL="0" lvl="0" indent="0">
                  <a:lnSpc>
                    <a:spcPct val="20000"/>
                  </a:lnSpc>
                  <a:buNone/>
                </a:pPr>
                <a:endParaRPr lang="zh-CN" altLang="en-US">
                  <a:solidFill>
                    <a:schemeClr val="tx1"/>
                  </a:solidFill>
                </a:endParaRPr>
              </a:p>
              <a:p>
                <a:pPr marL="0" lvl="0" indent="0">
                  <a:buNone/>
                </a:pPr>
                <a:r>
                  <a:rPr lang="zh-CN" altLang="en-US">
                    <a:solidFill>
                      <a:schemeClr val="tx1"/>
                    </a:solidFill>
                  </a:rPr>
                  <a:t>索和利用这两者是矛盾的，因为尝试次数是有限的，加强一方必回削弱另一方，这便是强化学习所面临的</a:t>
                </a:r>
                <a:r>
                  <a:rPr lang="zh-CN" altLang="en-US">
                    <a:solidFill>
                      <a:schemeClr val="accent1"/>
                    </a:solidFill>
                    <a:effectLst>
                      <a:outerShdw blurRad="38100" dist="25400" dir="5400000" algn="ctr" rotWithShape="0">
                        <a:srgbClr val="6E747A">
                          <a:alpha val="43000"/>
                        </a:srgbClr>
                      </a:outerShdw>
                    </a:effectLst>
                  </a:rPr>
                  <a:t>搜索-</a:t>
                </a:r>
                <a:endParaRPr lang="zh-CN" altLang="en-US">
                  <a:solidFill>
                    <a:schemeClr val="accent1"/>
                  </a:solidFill>
                  <a:effectLst>
                    <a:outerShdw blurRad="38100" dist="25400" dir="5400000" algn="ctr" rotWithShape="0">
                      <a:srgbClr val="6E747A">
                        <a:alpha val="43000"/>
                      </a:srgbClr>
                    </a:outerShdw>
                  </a:effectLst>
                </a:endParaRPr>
              </a:p>
              <a:p>
                <a:pPr marL="0" lvl="0" indent="0">
                  <a:lnSpc>
                    <a:spcPct val="20000"/>
                  </a:lnSpc>
                  <a:buNone/>
                </a:pPr>
                <a:endParaRPr lang="zh-CN" altLang="en-US">
                  <a:solidFill>
                    <a:schemeClr val="accent1"/>
                  </a:solidFill>
                  <a:effectLst>
                    <a:outerShdw blurRad="38100" dist="25400" dir="5400000" algn="ctr" rotWithShape="0">
                      <a:srgbClr val="6E747A">
                        <a:alpha val="43000"/>
                      </a:srgbClr>
                    </a:outerShdw>
                  </a:effectLst>
                </a:endParaRPr>
              </a:p>
              <a:p>
                <a:pPr marL="0" lvl="0" indent="0">
                  <a:buNone/>
                </a:pPr>
                <a:r>
                  <a:rPr lang="zh-CN" altLang="en-US">
                    <a:solidFill>
                      <a:schemeClr val="accent1"/>
                    </a:solidFill>
                    <a:effectLst>
                      <a:outerShdw blurRad="38100" dist="25400" dir="5400000" algn="ctr" rotWithShape="0">
                        <a:srgbClr val="6E747A">
                          <a:alpha val="43000"/>
                        </a:srgbClr>
                      </a:outerShdw>
                    </a:effectLst>
                  </a:rPr>
                  <a:t>利用</a:t>
                </a:r>
                <a:r>
                  <a:rPr lang="zh-CN" altLang="en-US"/>
                  <a:t>窘境。显然，为了使得累计奖励最大化，必须在探索和利用之间找寻较好的折中方法，人们采用</a:t>
                </a:r>
                <a14:m>
                  <m:oMath xmlns:m="http://schemas.openxmlformats.org/officeDocument/2006/math">
                    <m:r>
                      <m:rPr>
                        <m:sty m:val="p"/>
                      </m:rP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ϵ</m:t>
                    </m:r>
                  </m:oMath>
                </a14:m>
                <a:r>
                  <a:rPr lang="zh-CN" altLang="en-US">
                    <a:solidFill>
                      <a:schemeClr val="accent1"/>
                    </a:solidFill>
                    <a:effectLst>
                      <a:outerShdw blurRad="38100" dist="25400" dir="5400000" algn="ctr" rotWithShape="0">
                        <a:srgbClr val="6E747A">
                          <a:alpha val="43000"/>
                        </a:srgbClr>
                      </a:outerShdw>
                    </a:effectLst>
                  </a:rPr>
                  <a:t>-贪心算</a:t>
                </a:r>
                <a:endParaRPr lang="zh-CN" altLang="en-US">
                  <a:solidFill>
                    <a:schemeClr val="accent1"/>
                  </a:solidFill>
                  <a:effectLst>
                    <a:outerShdw blurRad="38100" dist="25400" dir="5400000" algn="ctr" rotWithShape="0">
                      <a:srgbClr val="6E747A">
                        <a:alpha val="43000"/>
                      </a:srgbClr>
                    </a:outerShdw>
                  </a:effectLst>
                </a:endParaRPr>
              </a:p>
              <a:p>
                <a:pPr marL="0" lvl="0" indent="0">
                  <a:lnSpc>
                    <a:spcPct val="20000"/>
                  </a:lnSpc>
                  <a:buNone/>
                </a:pPr>
                <a:endParaRPr lang="zh-CN" altLang="en-US">
                  <a:solidFill>
                    <a:schemeClr val="accent1"/>
                  </a:solidFill>
                  <a:effectLst>
                    <a:outerShdw blurRad="38100" dist="25400" dir="5400000" algn="ctr" rotWithShape="0">
                      <a:srgbClr val="6E747A">
                        <a:alpha val="43000"/>
                      </a:srgbClr>
                    </a:outerShdw>
                  </a:effectLst>
                </a:endParaRPr>
              </a:p>
              <a:p>
                <a:pPr marL="0" lvl="0" indent="0">
                  <a:buNone/>
                </a:pPr>
                <a:r>
                  <a:rPr lang="zh-CN" altLang="en-US">
                    <a:solidFill>
                      <a:schemeClr val="accent1"/>
                    </a:solidFill>
                    <a:effectLst>
                      <a:outerShdw blurRad="38100" dist="25400" dir="5400000" algn="ctr" rotWithShape="0">
                        <a:srgbClr val="6E747A">
                          <a:alpha val="43000"/>
                        </a:srgbClr>
                      </a:outerShdw>
                    </a:effectLst>
                  </a:rPr>
                  <a:t>法</a:t>
                </a:r>
                <a:r>
                  <a:rPr lang="zh-CN" altLang="en-US"/>
                  <a:t>与</a:t>
                </a:r>
                <a14:m>
                  <m:oMath xmlns:m="http://schemas.openxmlformats.org/officeDocument/2006/math">
                    <m:r>
                      <m:rPr>
                        <m:sty m:val="p"/>
                      </m:rP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Softmax</m:t>
                    </m:r>
                  </m:oMath>
                </a14:m>
                <a:r>
                  <a:rPr lang="zh-CN" altLang="en-US">
                    <a:solidFill>
                      <a:schemeClr val="accent1"/>
                    </a:solidFill>
                    <a:effectLst>
                      <a:outerShdw blurRad="38100" dist="25400" dir="5400000" algn="ctr" rotWithShape="0">
                        <a:srgbClr val="6E747A">
                          <a:alpha val="43000"/>
                        </a:srgbClr>
                      </a:outerShdw>
                    </a:effectLst>
                  </a:rPr>
                  <a:t>算法</a:t>
                </a:r>
                <a:r>
                  <a:rPr lang="zh-CN" altLang="en-US"/>
                  <a:t>来解决</a:t>
                </a:r>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333375" y="1247775"/>
                <a:ext cx="11277600" cy="364744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419735" y="291465"/>
                <a:ext cx="5675630" cy="583565"/>
              </a:xfrm>
              <a:prstGeom prst="rect">
                <a:avLst/>
              </a:prstGeom>
              <a:noFill/>
            </p:spPr>
            <p:txBody>
              <a:bodyPr wrap="square" rtlCol="0">
                <a:spAutoFit/>
                <a:scene3d>
                  <a:camera prst="orthographicFront"/>
                  <a:lightRig rig="threePt" dir="t"/>
                </a:scene3d>
              </a:bodyPr>
              <a:p>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𝝐</m:t>
                    </m:r>
                  </m:oMath>
                </a14:m>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贪心算法与</a:t>
                </a:r>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𝑺𝒐𝒇𝒕𝒎𝒂𝒙</m:t>
                    </m:r>
                  </m:oMath>
                </a14:m>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算法</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Choice>
        <mc:Fallback>
          <p:sp>
            <p:nvSpPr>
              <p:cNvPr id="4" name="文本框 3"/>
              <p:cNvSpPr txBox="1">
                <a:spLocks noRot="1" noChangeAspect="1" noMove="1" noResize="1" noEditPoints="1" noAdjustHandles="1" noChangeArrowheads="1" noChangeShapeType="1" noTextEdit="1"/>
              </p:cNvSpPr>
              <p:nvPr/>
            </p:nvSpPr>
            <p:spPr>
              <a:xfrm>
                <a:off x="419735" y="291465"/>
                <a:ext cx="5675630" cy="5835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301625" y="1195070"/>
                <a:ext cx="6096000" cy="398780"/>
              </a:xfrm>
              <a:prstGeom prst="rect">
                <a:avLst/>
              </a:prstGeom>
              <a:noFill/>
            </p:spPr>
            <p:txBody>
              <a:bodyPr wrap="square" rtlCol="0" anchor="t">
                <a:spAutoFit/>
              </a:bodyPr>
              <a:p>
                <a:pPr marL="0" lvl="0" indent="0">
                  <a:buNone/>
                </a:pPr>
                <a14:m>
                  <m:oMath xmlns:m="http://schemas.openxmlformats.org/officeDocument/2006/math">
                    <m:r>
                      <m:rPr>
                        <m:sty m:val="p"/>
                      </m:rPr>
                      <a:rPr lang="zh-CN" altLang="en-US" sz="2000">
                        <a:solidFill>
                          <a:schemeClr val="accent1"/>
                        </a:solidFill>
                        <a:effectLst>
                          <a:outerShdw blurRad="38100" dist="25400" dir="5400000" algn="ctr" rotWithShape="0">
                            <a:srgbClr val="6E747A">
                              <a:alpha val="43000"/>
                            </a:srgbClr>
                          </a:outerShdw>
                        </a:effectLst>
                        <a:latin typeface="Cambria Math" panose="02040503050406030204" pitchFamily="18" charset="0"/>
                      </a:rPr>
                      <m:t>ϵ</m:t>
                    </m:r>
                  </m:oMath>
                </a14:m>
                <a:r>
                  <a:rPr lang="zh-CN" altLang="en-US" sz="2000">
                    <a:solidFill>
                      <a:schemeClr val="accent1"/>
                    </a:solidFill>
                    <a:effectLst>
                      <a:outerShdw blurRad="38100" dist="25400" dir="5400000" algn="ctr" rotWithShape="0">
                        <a:srgbClr val="6E747A">
                          <a:alpha val="43000"/>
                        </a:srgbClr>
                      </a:outerShdw>
                    </a:effectLst>
                    <a:sym typeface="+mn-ea"/>
                  </a:rPr>
                  <a:t>-贪心算法</a:t>
                </a:r>
                <a:endParaRPr lang="zh-CN" altLang="en-US" sz="2000">
                  <a:solidFill>
                    <a:schemeClr val="accent1"/>
                  </a:solidFill>
                  <a:effectLst>
                    <a:outerShdw blurRad="38100" dist="25400" dir="5400000" algn="ctr" rotWithShape="0">
                      <a:srgbClr val="6E747A">
                        <a:alpha val="43000"/>
                      </a:srgbClr>
                    </a:outerShdw>
                  </a:effectLst>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95070"/>
                <a:ext cx="6096000" cy="39878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71475" y="1781175"/>
                <a:ext cx="11163300" cy="4265295"/>
              </a:xfrm>
              <a:prstGeom prst="rect">
                <a:avLst/>
              </a:prstGeom>
              <a:noFill/>
            </p:spPr>
            <p:txBody>
              <a:bodyPr wrap="square" rtlCol="0">
                <a:spAutoFit/>
              </a:bodyPr>
              <a:p>
                <a:pPr indent="457200"/>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en-US" altLang="zh-CN"/>
                  <a:t>-</a:t>
                </a:r>
                <a:r>
                  <a:rPr lang="zh-CN" altLang="en-US"/>
                  <a:t>贪心算法基于一个概率对搜索和利用进行折中：每次尝试时，以</a:t>
                </a:r>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zh-CN" altLang="en-US">
                    <a:latin typeface="Cambria Math" panose="02040503050406030204" pitchFamily="18" charset="0"/>
                    <a:cs typeface="Cambria Math" panose="02040503050406030204" pitchFamily="18" charset="0"/>
                  </a:rPr>
                  <a:t>的概率进行搜索，以</a:t>
                </a:r>
                <a:r>
                  <a:rPr lang="en-US" altLang="zh-CN">
                    <a:latin typeface="Cambria Math" panose="02040503050406030204" pitchFamily="18" charset="0"/>
                    <a:cs typeface="Cambria Math" panose="02040503050406030204" pitchFamily="18" charset="0"/>
                  </a:rPr>
                  <a:t>1-</a:t>
                </a:r>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zh-CN" altLang="en-US">
                    <a:latin typeface="Cambria Math" panose="02040503050406030204" pitchFamily="18" charset="0"/>
                    <a:cs typeface="Cambria Math" panose="02040503050406030204" pitchFamily="18" charset="0"/>
                  </a:rPr>
                  <a:t>的概率进行利用，令</a:t>
                </a:r>
                <a14:m>
                  <m:oMath xmlns:m="http://schemas.openxmlformats.org/officeDocument/2006/math">
                    <m:r>
                      <a:rPr lang="en-US" altLang="zh-CN" i="1">
                        <a:latin typeface="Cambria Math" panose="02040503050406030204" pitchFamily="18" charset="0"/>
                        <a:cs typeface="Cambria Math" panose="02040503050406030204" pitchFamily="18" charset="0"/>
                      </a:rPr>
                      <m:t>𝑄</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记录摇臂</a:t>
                </a:r>
                <a14:m>
                  <m:oMath xmlns:m="http://schemas.openxmlformats.org/officeDocument/2006/math">
                    <m:r>
                      <a:rPr lang="en-US" altLang="zh-CN" i="1">
                        <a:latin typeface="Cambria Math" panose="02040503050406030204" pitchFamily="18" charset="0"/>
                        <a:cs typeface="Cambria Math" panose="02040503050406030204" pitchFamily="18" charset="0"/>
                      </a:rPr>
                      <m:t>𝑘</m:t>
                    </m:r>
                  </m:oMath>
                </a14:m>
                <a:r>
                  <a:rPr lang="zh-CN" altLang="en-US">
                    <a:latin typeface="Cambria Math" panose="02040503050406030204" pitchFamily="18" charset="0"/>
                    <a:cs typeface="Cambria Math" panose="02040503050406030204" pitchFamily="18" charset="0"/>
                  </a:rPr>
                  <a:t>的平均奖励，若摇臂</a:t>
                </a:r>
                <a14:m>
                  <m:oMath xmlns:m="http://schemas.openxmlformats.org/officeDocument/2006/math">
                    <m:r>
                      <a:rPr lang="en-US" altLang="zh-CN" i="1">
                        <a:latin typeface="Cambria Math" panose="02040503050406030204" pitchFamily="18" charset="0"/>
                        <a:cs typeface="Cambria Math" panose="02040503050406030204" pitchFamily="18" charset="0"/>
                      </a:rPr>
                      <m:t>𝑘</m:t>
                    </m:r>
                  </m:oMath>
                </a14:m>
                <a:r>
                  <a:rPr lang="zh-CN" altLang="en-US">
                    <a:latin typeface="Cambria Math" panose="02040503050406030204" pitchFamily="18" charset="0"/>
                    <a:cs typeface="Cambria Math" panose="02040503050406030204" pitchFamily="18" charset="0"/>
                  </a:rPr>
                  <a:t>被尝试了</a:t>
                </a:r>
                <a14:m>
                  <m:oMath xmlns:m="http://schemas.openxmlformats.org/officeDocument/2006/math">
                    <m:r>
                      <a:rPr lang="en-US" altLang="zh-CN" i="1">
                        <a:latin typeface="Cambria Math" panose="02040503050406030204" pitchFamily="18" charset="0"/>
                        <a:cs typeface="Cambria Math" panose="02040503050406030204" pitchFamily="18" charset="0"/>
                      </a:rPr>
                      <m:t>𝑛</m:t>
                    </m:r>
                  </m:oMath>
                </a14:m>
                <a:r>
                  <a:rPr lang="zh-CN" altLang="en-US">
                    <a:latin typeface="Cambria Math" panose="02040503050406030204" pitchFamily="18" charset="0"/>
                    <a:cs typeface="Cambria Math" panose="02040503050406030204" pitchFamily="18" charset="0"/>
                  </a:rPr>
                  <a:t>次，得到的奖励分别为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𝑛</m:t>
                        </m:r>
                      </m:sub>
                    </m:sSub>
                  </m:oMath>
                </a14:m>
                <a:r>
                  <a:rPr lang="zh-CN" altLang="en-US">
                    <a:latin typeface="Cambria Math" panose="02040503050406030204" pitchFamily="18" charset="0"/>
                    <a:cs typeface="Cambria Math" panose="02040503050406030204" pitchFamily="18" charset="0"/>
                  </a:rPr>
                  <a:t>，则平均奖励为：</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𝑄</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𝑛</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𝑛</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𝑖</m:t>
                              </m:r>
                            </m:sub>
                          </m:sSub>
                        </m:e>
                      </m:nary>
                    </m:oMath>
                  </m:oMathPara>
                </a14:m>
                <a:endParaRPr lang="en-US" altLang="zh-CN" i="1">
                  <a:latin typeface="Cambria Math" panose="02040503050406030204" pitchFamily="18" charset="0"/>
                  <a:cs typeface="Cambria Math" panose="02040503050406030204" pitchFamily="18" charset="0"/>
                </a:endParaRPr>
              </a:p>
              <a:p>
                <a:pPr indent="457200">
                  <a:lnSpc>
                    <a:spcPct val="50000"/>
                  </a:lnSpc>
                </a:pPr>
                <a:endParaRPr lang="en-US" altLang="zh-CN" i="1">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然而这种计算平均奖励的方式需要记录</a:t>
                </a:r>
                <a14:m>
                  <m:oMath xmlns:m="http://schemas.openxmlformats.org/officeDocument/2006/math">
                    <m:r>
                      <a:rPr lang="en-US" altLang="zh-CN" i="1">
                        <a:latin typeface="Cambria Math" panose="02040503050406030204" pitchFamily="18" charset="0"/>
                        <a:cs typeface="Cambria Math" panose="02040503050406030204" pitchFamily="18" charset="0"/>
                      </a:rPr>
                      <m:t>𝑛</m:t>
                    </m:r>
                  </m:oMath>
                </a14:m>
                <a:r>
                  <a:rPr lang="zh-CN" altLang="en-US">
                    <a:latin typeface="Cambria Math" panose="02040503050406030204" pitchFamily="18" charset="0"/>
                    <a:cs typeface="Cambria Math" panose="02040503050406030204" pitchFamily="18" charset="0"/>
                  </a:rPr>
                  <a:t>个奖励值，更高效的做法是对奖励均值进行增量式计算，即每尝试一次就更新一次</a:t>
                </a:r>
                <a14:m>
                  <m:oMath xmlns:m="http://schemas.openxmlformats.org/officeDocument/2006/math">
                    <m:r>
                      <a:rPr lang="en-US" altLang="zh-CN" i="1">
                        <a:latin typeface="Cambria Math" panose="02040503050406030204" pitchFamily="18" charset="0"/>
                        <a:cs typeface="Cambria Math" panose="02040503050406030204" pitchFamily="18" charset="0"/>
                      </a:rPr>
                      <m:t>𝑄</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，初始时</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𝑄</m:t>
                        </m:r>
                      </m:e>
                      <m:sub>
                        <m:r>
                          <a:rPr lang="en-US" altLang="zh-CN" i="1">
                            <a:latin typeface="Cambria Math" panose="02040503050406030204" pitchFamily="18" charset="0"/>
                            <a:cs typeface="Cambria Math" panose="02040503050406030204" pitchFamily="18" charset="0"/>
                          </a:rPr>
                          <m:t>0</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，对于任意的</a:t>
                </a:r>
                <a14:m>
                  <m:oMath xmlns:m="http://schemas.openxmlformats.org/officeDocument/2006/math">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zh-CN" altLang="en-US">
                    <a:latin typeface="Cambria Math" panose="02040503050406030204" pitchFamily="18" charset="0"/>
                    <a:cs typeface="Cambria Math" panose="02040503050406030204" pitchFamily="18" charset="0"/>
                  </a:rPr>
                  <a:t>，若第</a:t>
                </a:r>
                <a14:m>
                  <m:oMath xmlns:m="http://schemas.openxmlformats.org/officeDocument/2006/math">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zh-CN" altLang="en-US">
                    <a:latin typeface="Cambria Math" panose="02040503050406030204" pitchFamily="18" charset="0"/>
                    <a:cs typeface="Cambria Math" panose="02040503050406030204" pitchFamily="18" charset="0"/>
                  </a:rPr>
                  <a:t>次尝试后的平均奖励为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𝑄</m:t>
                        </m:r>
                      </m:e>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，则再经过第</a:t>
                </a:r>
                <a14:m>
                  <m:oMath xmlns:m="http://schemas.openxmlformats.org/officeDocument/2006/math">
                    <m:r>
                      <a:rPr lang="en-US" altLang="zh-CN" i="1">
                        <a:latin typeface="Cambria Math" panose="02040503050406030204" pitchFamily="18" charset="0"/>
                        <a:cs typeface="Cambria Math" panose="02040503050406030204" pitchFamily="18" charset="0"/>
                      </a:rPr>
                      <m:t>𝑛</m:t>
                    </m:r>
                  </m:oMath>
                </a14:m>
                <a:r>
                  <a:rPr lang="zh-CN" altLang="en-US">
                    <a:latin typeface="Cambria Math" panose="02040503050406030204" pitchFamily="18" charset="0"/>
                    <a:cs typeface="Cambria Math" panose="02040503050406030204" pitchFamily="18" charset="0"/>
                  </a:rPr>
                  <a:t>次尝试获得奖励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𝑛</m:t>
                        </m:r>
                      </m:sub>
                    </m:sSub>
                  </m:oMath>
                </a14:m>
                <a:r>
                  <a:rPr lang="zh-CN" altLang="en-US">
                    <a:latin typeface="Cambria Math" panose="02040503050406030204" pitchFamily="18" charset="0"/>
                    <a:cs typeface="Cambria Math" panose="02040503050406030204" pitchFamily="18" charset="0"/>
                  </a:rPr>
                  <a:t>后，平均奖励应更新为：</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𝑄</m:t>
                          </m:r>
                        </m:e>
                        <m:sub>
                          <m:r>
                            <a:rPr lang="en-US" altLang="zh-CN" i="1">
                              <a:latin typeface="Cambria Math" panose="02040503050406030204" pitchFamily="18" charset="0"/>
                              <a:cs typeface="Cambria Math" panose="02040503050406030204" pitchFamily="18" charset="0"/>
                            </a:rPr>
                            <m:t>𝑛</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𝑛</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𝑄</m:t>
                          </m:r>
                        </m:e>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𝑣</m:t>
                          </m:r>
                        </m:e>
                        <m:sub>
                          <m:r>
                            <a:rPr lang="en-US" altLang="zh-CN" i="1">
                              <a:latin typeface="Cambria Math" panose="02040503050406030204" pitchFamily="18" charset="0"/>
                              <a:cs typeface="Cambria Math" panose="02040503050406030204" pitchFamily="18" charset="0"/>
                            </a:rPr>
                            <m:t>𝑛</m:t>
                          </m:r>
                        </m:sub>
                      </m:sSub>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indent="457200">
                  <a:lnSpc>
                    <a:spcPct val="50000"/>
                  </a:lnSpc>
                </a:pPr>
                <a:endParaRPr lang="en-US" altLang="zh-CN" i="1">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此时，无论是第几次尝试，仅需记录两个值：已尝试次数</a:t>
                </a:r>
                <a14:m>
                  <m:oMath xmlns:m="http://schemas.openxmlformats.org/officeDocument/2006/math">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zh-CN" altLang="en-US">
                    <a:latin typeface="Cambria Math" panose="02040503050406030204" pitchFamily="18" charset="0"/>
                    <a:cs typeface="Cambria Math" panose="02040503050406030204" pitchFamily="18" charset="0"/>
                  </a:rPr>
                  <a:t>和最近平均奖励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𝑄</m:t>
                        </m:r>
                      </m:e>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。若摇臂奖赏的不确定度较大，例如概率分布较宽时，需要更多的搜索，此时需要较大的</a:t>
                </a:r>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zh-CN" altLang="en-US">
                    <a:latin typeface="Cambria Math" panose="02040503050406030204" pitchFamily="18" charset="0"/>
                    <a:cs typeface="Cambria Math" panose="02040503050406030204" pitchFamily="18" charset="0"/>
                  </a:rPr>
                  <a:t>值；若摇臂的不确定度较小，例如概率分布较集中时，则少量的尝试就能很好地近似真实奖赏，此时需要的</a:t>
                </a:r>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zh-CN" altLang="en-US">
                    <a:latin typeface="Cambria Math" panose="02040503050406030204" pitchFamily="18" charset="0"/>
                    <a:cs typeface="Cambria Math" panose="02040503050406030204" pitchFamily="18" charset="0"/>
                  </a:rPr>
                  <a:t>值较小。若规定的尝试次数非常大时，可以让</a:t>
                </a:r>
                <a14:m>
                  <m:oMath xmlns:m="http://schemas.openxmlformats.org/officeDocument/2006/math">
                    <m:r>
                      <a:rPr lang="en-US" altLang="zh-CN" i="1">
                        <a:latin typeface="Cambria Math" panose="02040503050406030204" pitchFamily="18" charset="0"/>
                        <a:cs typeface="Cambria Math" panose="02040503050406030204" pitchFamily="18" charset="0"/>
                      </a:rPr>
                      <m:t>𝜖</m:t>
                    </m:r>
                  </m:oMath>
                </a14:m>
                <a:r>
                  <a:rPr lang="zh-CN" altLang="en-US">
                    <a:latin typeface="Cambria Math" panose="02040503050406030204" pitchFamily="18" charset="0"/>
                    <a:cs typeface="Cambria Math" panose="02040503050406030204" pitchFamily="18" charset="0"/>
                  </a:rPr>
                  <a:t>随着尝试次数的增加而逐渐减小，例如设定</a:t>
                </a:r>
                <a14:m>
                  <m:oMath xmlns:m="http://schemas.openxmlformats.org/officeDocument/2006/math">
                    <m:r>
                      <a:rPr lang="en-US" altLang="zh-CN" i="1">
                        <a:latin typeface="Cambria Math" panose="02040503050406030204" pitchFamily="18" charset="0"/>
                        <a:cs typeface="Cambria Math" panose="02040503050406030204" pitchFamily="18" charset="0"/>
                      </a:rPr>
                      <m:t>𝜖</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ad>
                          <m:radPr>
                            <m:degHide m:val="on"/>
                            <m:ctrlPr>
                              <a:rPr lang="en-US" altLang="zh-CN" i="1">
                                <a:latin typeface="Cambria Math" panose="02040503050406030204" pitchFamily="18" charset="0"/>
                                <a:cs typeface="Cambria Math" panose="02040503050406030204" pitchFamily="18" charset="0"/>
                              </a:rPr>
                            </m:ctrlPr>
                          </m:radPr>
                          <m:deg/>
                          <m:e>
                            <m:r>
                              <a:rPr lang="en-US" altLang="zh-CN" i="1">
                                <a:latin typeface="Cambria Math" panose="02040503050406030204" pitchFamily="18" charset="0"/>
                                <a:cs typeface="Cambria Math" panose="02040503050406030204" pitchFamily="18" charset="0"/>
                              </a:rPr>
                              <m:t>𝑡</m:t>
                            </m:r>
                          </m:e>
                        </m:rad>
                      </m:den>
                    </m:f>
                  </m:oMath>
                </a14:m>
                <a:endParaRPr lang="zh-CN" altLang="en-US">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71475" y="1781175"/>
                <a:ext cx="11163300" cy="4265295"/>
              </a:xfrm>
              <a:prstGeom prst="rect">
                <a:avLst/>
              </a:prstGeom>
              <a:blipFill rotWithShape="1">
                <a:blip r:embed="rId3"/>
                <a:stretch>
                  <a:fillRect r="-68"/>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4" name="文本框 3"/>
              <p:cNvSpPr txBox="1"/>
              <p:nvPr/>
            </p:nvSpPr>
            <p:spPr>
              <a:xfrm>
                <a:off x="419735" y="291465"/>
                <a:ext cx="5675630" cy="583565"/>
              </a:xfrm>
              <a:prstGeom prst="rect">
                <a:avLst/>
              </a:prstGeom>
              <a:noFill/>
            </p:spPr>
            <p:txBody>
              <a:bodyPr wrap="square" rtlCol="0">
                <a:spAutoFit/>
                <a:scene3d>
                  <a:camera prst="orthographicFront"/>
                  <a:lightRig rig="threePt" dir="t"/>
                </a:scene3d>
              </a:bodyPr>
              <a:p>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𝝐</m:t>
                    </m:r>
                  </m:oMath>
                </a14:m>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贪心算法与</a:t>
                </a:r>
                <a14:m>
                  <m:oMath xmlns:m="http://schemas.openxmlformats.org/officeDocument/2006/math">
                    <m:r>
                      <a:rPr lang="en-US" altLang="zh-CN" sz="3200" b="1" i="1" spc="200" dirty="0">
                        <a:solidFill>
                          <a:schemeClr val="accent1"/>
                        </a:solidFill>
                        <a:uFillTx/>
                        <a:latin typeface="Cambria Math" panose="02040503050406030204" pitchFamily="18" charset="0"/>
                        <a:ea typeface="微软雅黑" panose="020B0503020204020204" charset="-122"/>
                        <a:cs typeface="Cambria Math" panose="02040503050406030204" pitchFamily="18" charset="0"/>
                      </a:rPr>
                      <m:t>𝑺𝒐𝒇𝒕𝒎𝒂𝒙</m:t>
                    </m:r>
                  </m:oMath>
                </a14:m>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算法</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Choice>
        <mc:Fallback>
          <p:sp>
            <p:nvSpPr>
              <p:cNvPr id="4" name="文本框 3"/>
              <p:cNvSpPr txBox="1">
                <a:spLocks noRot="1" noChangeAspect="1" noMove="1" noResize="1" noEditPoints="1" noAdjustHandles="1" noChangeArrowheads="1" noChangeShapeType="1" noTextEdit="1"/>
              </p:cNvSpPr>
              <p:nvPr/>
            </p:nvSpPr>
            <p:spPr>
              <a:xfrm>
                <a:off x="419735" y="291465"/>
                <a:ext cx="5675630" cy="5835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custDataLst>
                  <p:tags r:id="rId2"/>
                </p:custDataLst>
              </p:nvPr>
            </p:nvSpPr>
            <p:spPr>
              <a:xfrm>
                <a:off x="301625" y="1195070"/>
                <a:ext cx="6096000" cy="398780"/>
              </a:xfrm>
              <a:prstGeom prst="rect">
                <a:avLst/>
              </a:prstGeom>
              <a:noFill/>
            </p:spPr>
            <p:txBody>
              <a:bodyPr wrap="square" rtlCol="0" anchor="t">
                <a:spAutoFit/>
              </a:bodyPr>
              <a:p>
                <a:pPr marL="0" lvl="0" indent="0">
                  <a:buNone/>
                </a:pPr>
                <a14:m>
                  <m:oMath xmlns:m="http://schemas.openxmlformats.org/officeDocument/2006/math">
                    <m:r>
                      <a:rPr lang="zh-CN" altLang="en-US" sz="2000">
                        <a:solidFill>
                          <a:schemeClr val="accent1"/>
                        </a:solidFill>
                        <a:effectLst>
                          <a:outerShdw blurRad="38100" dist="25400" dir="5400000" algn="ctr" rotWithShape="0">
                            <a:srgbClr val="6E747A">
                              <a:alpha val="43000"/>
                            </a:srgbClr>
                          </a:outerShdw>
                        </a:effectLst>
                        <a:latin typeface="Cambria Math" panose="02040503050406030204" pitchFamily="18" charset="0"/>
                      </a:rPr>
                      <m:t>𝑆𝑜𝑓𝑡𝑚𝑎𝑥</m:t>
                    </m:r>
                  </m:oMath>
                </a14:m>
                <a:r>
                  <a:rPr lang="zh-CN" altLang="en-US" sz="2000">
                    <a:solidFill>
                      <a:schemeClr val="accent1"/>
                    </a:solidFill>
                    <a:effectLst>
                      <a:outerShdw blurRad="38100" dist="25400" dir="5400000" algn="ctr" rotWithShape="0">
                        <a:srgbClr val="6E747A">
                          <a:alpha val="43000"/>
                        </a:srgbClr>
                      </a:outerShdw>
                    </a:effectLst>
                    <a:sym typeface="+mn-ea"/>
                  </a:rPr>
                  <a:t>算法</a:t>
                </a:r>
                <a:endParaRPr lang="zh-CN" altLang="en-US" sz="2000">
                  <a:solidFill>
                    <a:schemeClr val="accent1"/>
                  </a:solidFill>
                  <a:effectLst>
                    <a:outerShdw blurRad="38100" dist="25400" dir="5400000" algn="ctr" rotWithShape="0">
                      <a:srgbClr val="6E747A">
                        <a:alpha val="43000"/>
                      </a:srgbClr>
                    </a:outerShdw>
                  </a:effectLst>
                  <a:sym typeface="+mn-ea"/>
                </a:endParaRPr>
              </a:p>
            </p:txBody>
          </p:sp>
        </mc:Choice>
        <mc:Fallback>
          <p:sp>
            <p:nvSpPr>
              <p:cNvPr id="5" name="文本框 4"/>
              <p:cNvSpPr txBox="1">
                <a:spLocks noRot="1" noChangeAspect="1" noMove="1" noResize="1" noEditPoints="1" noAdjustHandles="1" noChangeArrowheads="1" noChangeShapeType="1" noTextEdit="1"/>
              </p:cNvSpPr>
              <p:nvPr>
                <p:custDataLst>
                  <p:tags r:id="rId3"/>
                </p:custDataLst>
              </p:nvPr>
            </p:nvSpPr>
            <p:spPr>
              <a:xfrm>
                <a:off x="301625" y="1195070"/>
                <a:ext cx="6096000" cy="39878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custDataLst>
                  <p:tags r:id="rId5"/>
                </p:custDataLst>
              </p:nvPr>
            </p:nvSpPr>
            <p:spPr>
              <a:xfrm>
                <a:off x="371475" y="1781175"/>
                <a:ext cx="11163300" cy="2398395"/>
              </a:xfrm>
              <a:prstGeom prst="rect">
                <a:avLst/>
              </a:prstGeom>
              <a:noFill/>
            </p:spPr>
            <p:txBody>
              <a:bodyPr wrap="square" rtlCol="0">
                <a:spAutoFit/>
              </a:bodyPr>
              <a:p>
                <a:pPr indent="457200"/>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𝑆𝑜𝑓𝑡𝑚𝑎𝑥</m:t>
                    </m:r>
                  </m:oMath>
                </a14:m>
                <a:r>
                  <a:rPr lang="zh-CN" altLang="en-US">
                    <a:solidFill>
                      <a:schemeClr val="accent1"/>
                    </a:solidFill>
                    <a:effectLst>
                      <a:outerShdw blurRad="38100" dist="25400" dir="5400000" algn="ctr" rotWithShape="0">
                        <a:srgbClr val="6E747A">
                          <a:alpha val="43000"/>
                        </a:srgbClr>
                      </a:outerShdw>
                    </a:effectLst>
                  </a:rPr>
                  <a:t>算法</a:t>
                </a:r>
                <a:r>
                  <a:rPr lang="zh-CN" altLang="en-US"/>
                  <a:t>基于当前已知的摇臂平均奖励来对搜索和利用进行折中，若各摇臂的平均奖赏相当，则选取各摇臂的概率也相同；若某些摇臂的平均奖赏明显高于其它摇臂，则它们被选取的概率也明显更高</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𝑄</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𝑘</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𝜏</m:t>
                                  </m:r>
                                </m:den>
                              </m:f>
                            </m:sup>
                          </m:sSup>
                        </m:num>
                        <m:den>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𝐾</m:t>
                              </m:r>
                            </m:sup>
                            <m:e>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𝑄</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𝜏</m:t>
                                      </m:r>
                                    </m:den>
                                  </m:f>
                                </m:sup>
                              </m:sSup>
                            </m:e>
                          </m:nary>
                        </m:den>
                      </m:f>
                    </m:oMath>
                  </m:oMathPara>
                </a14:m>
                <a:endParaRPr lang="en-US" altLang="zh-CN" i="1">
                  <a:latin typeface="Cambria Math" panose="02040503050406030204" pitchFamily="18" charset="0"/>
                  <a:cs typeface="Cambria Math" panose="02040503050406030204" pitchFamily="18" charset="0"/>
                </a:endParaRPr>
              </a:p>
              <a:p>
                <a:pPr indent="457200"/>
                <a:endParaRPr lang="zh-CN" altLang="en-US">
                  <a:solidFill>
                    <a:schemeClr val="tx1"/>
                  </a:solidFill>
                  <a:latin typeface="Cambria Math" panose="02040503050406030204" pitchFamily="18" charset="0"/>
                  <a:cs typeface="Cambria Math" panose="02040503050406030204" pitchFamily="18" charset="0"/>
                </a:endParaRPr>
              </a:p>
              <a:p>
                <a:pPr indent="457200"/>
                <a:r>
                  <a:rPr lang="zh-CN" altLang="en-US">
                    <a:solidFill>
                      <a:schemeClr val="tx1"/>
                    </a:solidFill>
                    <a:latin typeface="Cambria Math" panose="02040503050406030204" pitchFamily="18" charset="0"/>
                    <a:cs typeface="Cambria Math" panose="02040503050406030204" pitchFamily="18" charset="0"/>
                  </a:rPr>
                  <a:t>其中</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𝑄</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𝑖</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记录当前摇臂</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𝑖</m:t>
                    </m:r>
                  </m:oMath>
                </a14:m>
                <a:r>
                  <a:rPr lang="zh-CN" altLang="en-US">
                    <a:solidFill>
                      <a:schemeClr val="tx1"/>
                    </a:solidFill>
                    <a:latin typeface="Cambria Math" panose="02040503050406030204" pitchFamily="18" charset="0"/>
                    <a:cs typeface="Cambria Math" panose="02040503050406030204" pitchFamily="18" charset="0"/>
                  </a:rPr>
                  <a:t>的平均奖励，</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𝜏</m:t>
                    </m:r>
                    <m:r>
                      <a:rPr lang="en-US" altLang="zh-CN" i="1">
                        <a:solidFill>
                          <a:schemeClr val="tx1"/>
                        </a:solidFill>
                        <a:latin typeface="Cambria Math" panose="02040503050406030204" pitchFamily="18" charset="0"/>
                        <a:cs typeface="Cambria Math" panose="02040503050406030204" pitchFamily="18" charset="0"/>
                      </a:rPr>
                      <m:t>&gt;</m:t>
                    </m:r>
                    <m:r>
                      <a:rPr lang="en-US" altLang="zh-CN" i="1">
                        <a:solidFill>
                          <a:schemeClr val="tx1"/>
                        </a:solidFill>
                        <a:latin typeface="Cambria Math" panose="02040503050406030204" pitchFamily="18" charset="0"/>
                        <a:cs typeface="Cambria Math" panose="02040503050406030204" pitchFamily="18" charset="0"/>
                      </a:rPr>
                      <m:t>0</m:t>
                    </m:r>
                  </m:oMath>
                </a14:m>
                <a:r>
                  <a:rPr lang="zh-CN" altLang="en-US">
                    <a:solidFill>
                      <a:schemeClr val="tx1"/>
                    </a:solidFill>
                    <a:latin typeface="Cambria Math" panose="02040503050406030204" pitchFamily="18" charset="0"/>
                    <a:cs typeface="Cambria Math" panose="02040503050406030204" pitchFamily="18" charset="0"/>
                  </a:rPr>
                  <a:t>称为温度，温度越小则平均奖励高的摇臂被选中的几率越大，温度趋于</a:t>
                </a:r>
                <a:r>
                  <a:rPr lang="en-US" altLang="zh-CN">
                    <a:solidFill>
                      <a:schemeClr val="tx1"/>
                    </a:solidFill>
                    <a:latin typeface="Cambria Math" panose="02040503050406030204" pitchFamily="18" charset="0"/>
                    <a:cs typeface="Cambria Math" panose="02040503050406030204" pitchFamily="18" charset="0"/>
                  </a:rPr>
                  <a:t>0</a:t>
                </a:r>
                <a:r>
                  <a:rPr lang="zh-CN" altLang="en-US">
                    <a:solidFill>
                      <a:schemeClr val="tx1"/>
                    </a:solidFill>
                    <a:latin typeface="Cambria Math" panose="02040503050406030204" pitchFamily="18" charset="0"/>
                    <a:cs typeface="Cambria Math" panose="02040503050406030204" pitchFamily="18" charset="0"/>
                  </a:rPr>
                  <a:t>时，</a:t>
                </a:r>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𝑆𝑜𝑓𝑡𝑚𝑎𝑥</m:t>
                    </m:r>
                  </m:oMath>
                </a14:m>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算法</a:t>
                </a:r>
                <a:r>
                  <a:rPr lang="zh-CN" altLang="en-US">
                    <a:latin typeface="Cambria Math" panose="02040503050406030204" pitchFamily="18" charset="0"/>
                    <a:cs typeface="Cambria Math" panose="02040503050406030204" pitchFamily="18" charset="0"/>
                  </a:rPr>
                  <a:t>将趋于</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仅利用</a:t>
                </a:r>
                <a:r>
                  <a:rPr lang="zh-CN" altLang="en-US">
                    <a:latin typeface="Cambria Math" panose="02040503050406030204" pitchFamily="18" charset="0"/>
                    <a:cs typeface="Cambria Math" panose="02040503050406030204" pitchFamily="18" charset="0"/>
                  </a:rPr>
                  <a:t>；温度趋于</a:t>
                </a:r>
                <a14:m>
                  <m:oMath xmlns:m="http://schemas.openxmlformats.org/officeDocument/2006/math">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时，</a:t>
                </a:r>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𝑆𝑜𝑓𝑡𝑚𝑎𝑥</m:t>
                    </m:r>
                  </m:oMath>
                </a14:m>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算法</a:t>
                </a:r>
                <a:r>
                  <a:rPr lang="zh-CN" altLang="en-US">
                    <a:latin typeface="Cambria Math" panose="02040503050406030204" pitchFamily="18" charset="0"/>
                    <a:cs typeface="Cambria Math" panose="02040503050406030204" pitchFamily="18" charset="0"/>
                  </a:rPr>
                  <a:t>将趋于</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仅搜索</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custDataLst>
                  <p:tags r:id="rId6"/>
                </p:custDataLst>
              </p:nvPr>
            </p:nvSpPr>
            <p:spPr>
              <a:xfrm>
                <a:off x="371475" y="1781175"/>
                <a:ext cx="11163300" cy="2398395"/>
              </a:xfrm>
              <a:prstGeom prst="rect">
                <a:avLst/>
              </a:prstGeom>
              <a:blipFill rotWithShape="1">
                <a:blip r:embed="rId7"/>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Policy-based Method</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Policy-based Method</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95275" y="1257300"/>
                <a:ext cx="11306175" cy="922020"/>
              </a:xfrm>
              <a:prstGeom prst="rect">
                <a:avLst/>
              </a:prstGeom>
              <a:noFill/>
            </p:spPr>
            <p:txBody>
              <a:bodyPr wrap="square" rtlCol="0">
                <a:spAutoFit/>
              </a:bodyPr>
              <a:p>
                <a:pPr indent="457200"/>
                <a:r>
                  <a:rPr lang="zh-CN" altLang="en-US"/>
                  <a:t>基于策略的方法，通过训练一个智能体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t>，该智能体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t>可以将输入的状态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t>映射为输出的行为</a:t>
                </a:r>
                <a14:m>
                  <m:oMath xmlns:m="http://schemas.openxmlformats.org/officeDocument/2006/math">
                    <m:r>
                      <a:rPr lang="en-US" altLang="zh-CN" i="1">
                        <a:latin typeface="Cambria Math" panose="02040503050406030204" pitchFamily="18" charset="0"/>
                        <a:cs typeface="Cambria Math" panose="02040503050406030204" pitchFamily="18" charset="0"/>
                      </a:rPr>
                      <m:t>𝑎</m:t>
                    </m:r>
                  </m:oMath>
                </a14:m>
                <a:r>
                  <a:rPr lang="zh-CN" altLang="en-US">
                    <a:latin typeface="Cambria Math" panose="02040503050406030204" pitchFamily="18" charset="0"/>
                    <a:cs typeface="Cambria Math" panose="02040503050406030204" pitchFamily="18" charset="0"/>
                  </a:rPr>
                  <a:t>，目前大多的智能体均采用深度神经网络</a:t>
                </a:r>
                <a:r>
                  <a:rPr lang="en-US" altLang="zh-CN">
                    <a:latin typeface="Cambria Math" panose="02040503050406030204" pitchFamily="18" charset="0"/>
                    <a:cs typeface="Cambria Math" panose="02040503050406030204" pitchFamily="18" charset="0"/>
                  </a:rPr>
                  <a:t>(deep neural network, DNN)</a:t>
                </a:r>
                <a:r>
                  <a:rPr lang="zh-CN" altLang="en-US">
                    <a:latin typeface="Cambria Math" panose="02040503050406030204" pitchFamily="18" charset="0"/>
                    <a:cs typeface="Cambria Math" panose="02040503050406030204" pitchFamily="18" charset="0"/>
                  </a:rPr>
                  <a:t>，这种以</a:t>
                </a:r>
                <a14:m>
                  <m:oMath xmlns:m="http://schemas.openxmlformats.org/officeDocument/2006/math">
                    <m:r>
                      <m:rPr>
                        <m:sty m:val="p"/>
                      </m:rPr>
                      <a:rPr lang="en-US" altLang="zh-CN">
                        <a:latin typeface="Cambria Math" panose="02040503050406030204" pitchFamily="18" charset="0"/>
                        <a:cs typeface="Cambria Math" panose="02040503050406030204" pitchFamily="18" charset="0"/>
                      </a:rPr>
                      <m:t>DNN</m:t>
                    </m:r>
                  </m:oMath>
                </a14:m>
                <a:r>
                  <a:rPr lang="zh-CN" altLang="en-US">
                    <a:latin typeface="Cambria Math" panose="02040503050406030204" pitchFamily="18" charset="0"/>
                    <a:cs typeface="Cambria Math" panose="02040503050406030204" pitchFamily="18" charset="0"/>
                  </a:rPr>
                  <a:t>为智能体的强化学习方法称为深度强化学习</a:t>
                </a:r>
                <a:r>
                  <a:rPr lang="en-US" altLang="zh-CN">
                    <a:latin typeface="Cambria Math" panose="02040503050406030204" pitchFamily="18" charset="0"/>
                    <a:cs typeface="Cambria Math" panose="02040503050406030204" pitchFamily="18" charset="0"/>
                  </a:rPr>
                  <a:t>(deep reinforcement learning, DRL)</a:t>
                </a:r>
                <a:r>
                  <a:rPr lang="zh-CN" altLang="en-US">
                    <a:latin typeface="Cambria Math" panose="02040503050406030204" pitchFamily="18" charset="0"/>
                    <a:cs typeface="Cambria Math" panose="02040503050406030204" pitchFamily="18" charset="0"/>
                  </a:rPr>
                  <a:t>，目前主流的基于策略的方法均采用</a:t>
                </a:r>
                <a:r>
                  <a:rPr lang="en-US" altLang="zh-CN">
                    <a:solidFill>
                      <a:schemeClr val="accent1"/>
                    </a:solidFill>
                    <a:effectLst>
                      <a:outerShdw blurRad="38100" dist="25400" dir="5400000" algn="ctr" rotWithShape="0">
                        <a:srgbClr val="6E747A">
                          <a:alpha val="43000"/>
                        </a:srgbClr>
                      </a:outerShdw>
                    </a:effectLst>
                  </a:rPr>
                  <a:t>DRL</a:t>
                </a:r>
                <a:r>
                  <a:rPr lang="zh-CN" altLang="en-US">
                    <a:latin typeface="Cambria Math" panose="02040503050406030204" pitchFamily="18" charset="0"/>
                    <a:cs typeface="Cambria Math" panose="02040503050406030204" pitchFamily="18" charset="0"/>
                  </a:rPr>
                  <a:t>，这里我们便以</a:t>
                </a:r>
                <a:r>
                  <a:rPr lang="en-US" altLang="zh-CN">
                    <a:latin typeface="Cambria Math" panose="02040503050406030204" pitchFamily="18" charset="0"/>
                    <a:cs typeface="Cambria Math" panose="02040503050406030204" pitchFamily="18" charset="0"/>
                  </a:rPr>
                  <a:t>DRL</a:t>
                </a:r>
                <a:r>
                  <a:rPr lang="zh-CN" altLang="en-US">
                    <a:latin typeface="Cambria Math" panose="02040503050406030204" pitchFamily="18" charset="0"/>
                    <a:cs typeface="Cambria Math" panose="02040503050406030204" pitchFamily="18" charset="0"/>
                  </a:rPr>
                  <a:t>为例说明</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5275" y="1257300"/>
                <a:ext cx="11306175" cy="922020"/>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descr="DRL"/>
          <p:cNvPicPr>
            <a:picLocks noChangeAspect="1"/>
          </p:cNvPicPr>
          <p:nvPr/>
        </p:nvPicPr>
        <p:blipFill>
          <a:blip r:embed="rId2"/>
          <a:stretch>
            <a:fillRect/>
          </a:stretch>
        </p:blipFill>
        <p:spPr>
          <a:xfrm>
            <a:off x="269240" y="2644140"/>
            <a:ext cx="8101965" cy="3761740"/>
          </a:xfrm>
          <a:prstGeom prst="rect">
            <a:avLst/>
          </a:prstGeom>
        </p:spPr>
      </p:pic>
      <p:sp>
        <p:nvSpPr>
          <p:cNvPr id="7" name="文本框 6"/>
          <p:cNvSpPr txBox="1"/>
          <p:nvPr/>
        </p:nvSpPr>
        <p:spPr>
          <a:xfrm>
            <a:off x="8677275" y="2533650"/>
            <a:ext cx="3295650" cy="3858260"/>
          </a:xfrm>
          <a:prstGeom prst="rect">
            <a:avLst/>
          </a:prstGeom>
          <a:noFill/>
        </p:spPr>
        <p:txBody>
          <a:bodyPr wrap="square" rtlCol="0">
            <a:spAutoFit/>
          </a:bodyPr>
          <a:p>
            <a:r>
              <a:rPr lang="zh-CN" altLang="en-US"/>
              <a:t>以训练一个打电玩的</a:t>
            </a:r>
            <a:r>
              <a:rPr lang="en-US" altLang="zh-CN"/>
              <a:t>DRL</a:t>
            </a:r>
            <a:r>
              <a:rPr lang="zh-CN" altLang="en-US"/>
              <a:t>为例：</a:t>
            </a:r>
            <a:endParaRPr lang="zh-CN" altLang="en-US"/>
          </a:p>
          <a:p>
            <a:pPr>
              <a:lnSpc>
                <a:spcPct val="60000"/>
              </a:lnSpc>
            </a:pPr>
            <a:endParaRPr lang="zh-CN" altLang="en-US"/>
          </a:p>
          <a:p>
            <a:r>
              <a:rPr lang="en-US" altLang="zh-CN" b="1">
                <a:sym typeface="+mn-ea"/>
              </a:rPr>
              <a:t>Agent</a:t>
            </a:r>
            <a:r>
              <a:rPr lang="zh-CN" altLang="en-US">
                <a:sym typeface="+mn-ea"/>
              </a:rPr>
              <a:t>：</a:t>
            </a:r>
            <a:r>
              <a:rPr lang="en-US" altLang="zh-CN">
                <a:sym typeface="+mn-ea"/>
              </a:rPr>
              <a:t>DRL</a:t>
            </a:r>
            <a:endParaRPr lang="zh-CN" altLang="en-US"/>
          </a:p>
          <a:p>
            <a:pPr>
              <a:lnSpc>
                <a:spcPct val="50000"/>
              </a:lnSpc>
            </a:pPr>
            <a:endParaRPr lang="zh-CN" altLang="en-US"/>
          </a:p>
          <a:p>
            <a:r>
              <a:rPr lang="en-US" altLang="zh-CN" b="1">
                <a:sym typeface="+mn-ea"/>
              </a:rPr>
              <a:t>Environment</a:t>
            </a:r>
            <a:r>
              <a:rPr lang="zh-CN" altLang="en-US">
                <a:sym typeface="+mn-ea"/>
              </a:rPr>
              <a:t>：进行的游戏</a:t>
            </a:r>
            <a:endParaRPr lang="zh-CN" altLang="en-US"/>
          </a:p>
          <a:p>
            <a:pPr>
              <a:lnSpc>
                <a:spcPct val="50000"/>
              </a:lnSpc>
            </a:pPr>
            <a:endParaRPr lang="zh-CN" altLang="en-US"/>
          </a:p>
          <a:p>
            <a:r>
              <a:rPr lang="en-US" altLang="zh-CN" b="1">
                <a:sym typeface="+mn-ea"/>
              </a:rPr>
              <a:t>State</a:t>
            </a:r>
            <a:r>
              <a:rPr lang="zh-CN" altLang="en-US">
                <a:sym typeface="+mn-ea"/>
              </a:rPr>
              <a:t>：当前显示屏幕上的图像</a:t>
            </a:r>
            <a:r>
              <a:rPr lang="en-US" altLang="zh-CN">
                <a:sym typeface="+mn-ea"/>
              </a:rPr>
              <a:t>(</a:t>
            </a:r>
            <a:r>
              <a:rPr lang="zh-CN" altLang="en-US">
                <a:sym typeface="+mn-ea"/>
              </a:rPr>
              <a:t>以</a:t>
            </a:r>
            <a:r>
              <a:rPr lang="en-US" altLang="zh-CN">
                <a:sym typeface="+mn-ea"/>
              </a:rPr>
              <a:t>RGB</a:t>
            </a:r>
            <a:r>
              <a:rPr lang="zh-CN" altLang="en-US">
                <a:sym typeface="+mn-ea"/>
              </a:rPr>
              <a:t>图进行输入</a:t>
            </a:r>
            <a:r>
              <a:rPr lang="en-US" altLang="zh-CN">
                <a:sym typeface="+mn-ea"/>
              </a:rPr>
              <a:t>)</a:t>
            </a:r>
            <a:endParaRPr lang="zh-CN" altLang="en-US"/>
          </a:p>
          <a:p>
            <a:pPr>
              <a:lnSpc>
                <a:spcPct val="50000"/>
              </a:lnSpc>
            </a:pPr>
            <a:endParaRPr lang="zh-CN" altLang="en-US"/>
          </a:p>
          <a:p>
            <a:r>
              <a:rPr lang="en-US" altLang="zh-CN" b="1">
                <a:sym typeface="+mn-ea"/>
              </a:rPr>
              <a:t>Action</a:t>
            </a:r>
            <a:r>
              <a:rPr lang="zh-CN" altLang="en-US">
                <a:sym typeface="+mn-ea"/>
              </a:rPr>
              <a:t>：游戏中可进行的操作</a:t>
            </a:r>
            <a:r>
              <a:rPr lang="en-US" altLang="zh-CN">
                <a:sym typeface="+mn-ea"/>
              </a:rPr>
              <a:t>(left,right,fire...)</a:t>
            </a:r>
            <a:endParaRPr lang="zh-CN" altLang="en-US"/>
          </a:p>
          <a:p>
            <a:pPr>
              <a:lnSpc>
                <a:spcPct val="50000"/>
              </a:lnSpc>
            </a:pPr>
            <a:endParaRPr lang="zh-CN" altLang="en-US"/>
          </a:p>
          <a:p>
            <a:r>
              <a:rPr lang="en-US" altLang="zh-CN" b="1">
                <a:sym typeface="+mn-ea"/>
              </a:rPr>
              <a:t>Reward</a:t>
            </a:r>
            <a:r>
              <a:rPr lang="zh-CN" altLang="en-US">
                <a:sym typeface="+mn-ea"/>
              </a:rPr>
              <a:t>：人为制定的规则</a:t>
            </a:r>
            <a:endParaRPr lang="zh-CN" altLang="en-US">
              <a:sym typeface="+mn-ea"/>
            </a:endParaRPr>
          </a:p>
          <a:p>
            <a:r>
              <a:rPr lang="en-US" altLang="zh-CN"/>
              <a:t>(</a:t>
            </a:r>
            <a:r>
              <a:rPr lang="zh-CN" altLang="en-US"/>
              <a:t>消灭敌方飞船</a:t>
            </a:r>
            <a:r>
              <a:rPr lang="en-US" altLang="zh-CN"/>
              <a:t>+10</a:t>
            </a:r>
            <a:r>
              <a:rPr lang="zh-CN" altLang="en-US"/>
              <a:t>，消灭敌方母舰</a:t>
            </a:r>
            <a:r>
              <a:rPr lang="en-US" altLang="zh-CN"/>
              <a:t>+100</a:t>
            </a:r>
            <a:r>
              <a:rPr lang="zh-CN" altLang="en-US"/>
              <a:t>，获得游戏胜利</a:t>
            </a:r>
            <a:r>
              <a:rPr lang="en-US" altLang="zh-CN"/>
              <a:t>+1000</a:t>
            </a:r>
            <a:r>
              <a:rPr lang="zh-CN" altLang="en-US"/>
              <a:t>，游戏失败</a:t>
            </a:r>
            <a:r>
              <a:rPr lang="en-US" altLang="zh-CN"/>
              <a:t>-1000</a:t>
            </a:r>
            <a:r>
              <a:rPr lang="zh-CN" altLang="en-US"/>
              <a:t>，</a:t>
            </a:r>
            <a:r>
              <a:rPr lang="en-US" altLang="zh-CN"/>
              <a:t>...)</a:t>
            </a:r>
            <a:endParaRPr lang="en-US" altLang="zh-CN"/>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95275" y="1228725"/>
                <a:ext cx="11353800" cy="4479290"/>
              </a:xfrm>
              <a:prstGeom prst="rect">
                <a:avLst/>
              </a:prstGeom>
              <a:noFill/>
            </p:spPr>
            <p:txBody>
              <a:bodyPr wrap="square" rtlCol="0">
                <a:spAutoFit/>
              </a:bodyPr>
              <a:p>
                <a:pPr indent="457200"/>
                <a:r>
                  <a:rPr lang="zh-CN" altLang="en-US"/>
                  <a:t>针对该任务，输入的是显示屏幕上游戏的</a:t>
                </a:r>
                <a:r>
                  <a:rPr lang="en-US" altLang="zh-CN"/>
                  <a:t>RGB</a:t>
                </a:r>
                <a:r>
                  <a:rPr lang="zh-CN" altLang="en-US"/>
                  <a:t>图像，经过</a:t>
                </a:r>
                <a:r>
                  <a:rPr lang="en-US" altLang="zh-CN"/>
                  <a:t>DNN</a:t>
                </a:r>
                <a:r>
                  <a:rPr lang="zh-CN" altLang="en-US"/>
                  <a:t>后，输出的是一个与游戏中可进行的操作数量相同的向量，该向量中每个位置是</a:t>
                </a:r>
                <a:r>
                  <a:rPr lang="en-US" altLang="zh-CN"/>
                  <a:t>DNN</a:t>
                </a:r>
                <a:r>
                  <a:rPr lang="zh-CN" altLang="en-US"/>
                  <a:t>预测的进行相应操作的概率值，最终智能体根据向量中提供的概率得到最终输出的行为</a:t>
                </a:r>
                <a14:m>
                  <m:oMath xmlns:m="http://schemas.openxmlformats.org/officeDocument/2006/math">
                    <m:r>
                      <a:rPr lang="en-US" altLang="zh-CN" i="1">
                        <a:latin typeface="Cambria Math" panose="02040503050406030204" pitchFamily="18" charset="0"/>
                        <a:cs typeface="Cambria Math" panose="02040503050406030204" pitchFamily="18" charset="0"/>
                      </a:rPr>
                      <m:t>𝑎</m:t>
                    </m:r>
                  </m:oMath>
                </a14:m>
                <a:r>
                  <a:rPr lang="zh-CN" altLang="en-US">
                    <a:latin typeface="Cambria Math" panose="02040503050406030204" pitchFamily="18" charset="0"/>
                    <a:cs typeface="Cambria Math" panose="02040503050406030204" pitchFamily="18" charset="0"/>
                  </a:rPr>
                  <a:t>，也就是说即便是对于相同的输入状态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，智能体</a:t>
                </a:r>
                <a:r>
                  <a:rPr lang="zh-CN" altLang="en-US">
                    <a:latin typeface="Cambria Math" panose="02040503050406030204" pitchFamily="18" charset="0"/>
                    <a:cs typeface="Cambria Math" panose="02040503050406030204" pitchFamily="18" charset="0"/>
                  </a:rPr>
                  <a:t>最终的输出也有可能会不同，我们将</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作为强化学习的输入输出映射函数</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，通过训练不断地更新迭代</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）初始化</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，以获得初始化的智能体</a:t>
                </a:r>
                <a:r>
                  <a:rPr lang="en-US" altLang="zh-CN">
                    <a:latin typeface="Cambria Math" panose="02040503050406030204" pitchFamily="18" charset="0"/>
                    <a:cs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endParaRPr lang="en-US" altLang="zh-CN" i="1">
                  <a:latin typeface="Cambria Math" panose="02040503050406030204" pitchFamily="18" charset="0"/>
                  <a:cs typeface="Cambria Math" panose="02040503050406030204" pitchFamily="18" charset="0"/>
                </a:endParaRPr>
              </a:p>
              <a:p>
                <a:pPr indent="457200"/>
                <a:endParaRPr lang="en-US" altLang="zh-CN">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）在每个迭代轮次中，智能体通过与游戏进行交互</a:t>
                </a:r>
                <a:r>
                  <a:rPr lang="en-US" altLang="zh-CN">
                    <a:latin typeface="Cambria Math" panose="02040503050406030204" pitchFamily="18" charset="0"/>
                    <a:cs typeface="Cambria Math" panose="02040503050406030204" pitchFamily="18" charset="0"/>
                  </a:rPr>
                  <a:t>T</a:t>
                </a:r>
                <a:r>
                  <a:rPr lang="zh-CN" altLang="en-US">
                    <a:latin typeface="Cambria Math" panose="02040503050406030204" pitchFamily="18" charset="0"/>
                    <a:cs typeface="Cambria Math" panose="02040503050406030204" pitchFamily="18" charset="0"/>
                  </a:rPr>
                  <a:t>次，得到中间过程的</a:t>
                </a:r>
                <a:r>
                  <a:rPr lang="en-US" altLang="zh-CN">
                    <a:latin typeface="Cambria Math" panose="02040503050406030204" pitchFamily="18" charset="0"/>
                    <a:cs typeface="Cambria Math" panose="02040503050406030204" pitchFamily="18" charset="0"/>
                  </a:rPr>
                  <a:t>T</a:t>
                </a:r>
                <a:r>
                  <a:rPr lang="zh-CN" altLang="en-US">
                    <a:latin typeface="Cambria Math" panose="02040503050406030204" pitchFamily="18" charset="0"/>
                    <a:cs typeface="Cambria Math" panose="02040503050406030204" pitchFamily="18" charset="0"/>
                  </a:rPr>
                  <a:t>个</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状态，行为，奖励</a:t>
                </a:r>
                <a:r>
                  <a:rPr lang="en-US" altLang="zh-CN">
                    <a:latin typeface="Cambria Math" panose="02040503050406030204" pitchFamily="18" charset="0"/>
                    <a:cs typeface="Cambria Math" panose="02040503050406030204" pitchFamily="18" charset="0"/>
                  </a:rPr>
                  <a:t>}</a:t>
                </a:r>
                <a:endParaRPr lang="en-US" altLang="zh-CN">
                  <a:latin typeface="Cambria Math" panose="02040503050406030204" pitchFamily="18" charset="0"/>
                  <a:cs typeface="Cambria Math" panose="02040503050406030204" pitchFamily="18" charset="0"/>
                </a:endParaRPr>
              </a:p>
              <a:p>
                <a:pPr marL="457200" lvl="1" indent="457200">
                  <a:lnSpc>
                    <a:spcPct val="50000"/>
                  </a:lnSpc>
                </a:pPr>
                <a:endParaRPr lang="en-US" altLang="zh-CN">
                  <a:latin typeface="Cambria Math" panose="02040503050406030204" pitchFamily="18" charset="0"/>
                  <a:cs typeface="Cambria Math" panose="02040503050406030204" pitchFamily="18" charset="0"/>
                </a:endParaRPr>
              </a:p>
              <a:p>
                <a:pPr marL="0" lvl="1"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环境初始状态</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1</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环境状态</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2</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环境状态</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𝑇</m:t>
                        </m:r>
                      </m:sub>
                    </m:sSub>
                  </m:oMath>
                </a14:m>
                <a:endParaRPr lang="en-US" altLang="zh-CN" i="1">
                  <a:latin typeface="Cambria Math" panose="02040503050406030204" pitchFamily="18" charset="0"/>
                  <a:cs typeface="Cambria Math" panose="02040503050406030204" pitchFamily="18" charset="0"/>
                </a:endParaRPr>
              </a:p>
              <a:p>
                <a:pPr marL="0" lvl="1"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智能体采取行为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智能体采取行为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智能体采取行为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𝑇</m:t>
                        </m:r>
                      </m:sub>
                    </m:sSub>
                  </m:oMath>
                </a14:m>
                <a:endParaRPr lang="en-US" altLang="zh-CN" i="1">
                  <a:latin typeface="Cambria Math" panose="02040503050406030204" pitchFamily="18" charset="0"/>
                  <a:cs typeface="Cambria Math" panose="02040503050406030204" pitchFamily="18" charset="0"/>
                </a:endParaRPr>
              </a:p>
              <a:p>
                <a:pPr marL="0" lvl="1"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智能体得到环境的奖励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智能体得到环境的奖励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2</m:t>
                        </m:r>
                      </m:sub>
                    </m:sSub>
                  </m:oMath>
                </a14:m>
                <a:r>
                  <a:rPr lang="en-US" altLang="zh-CN" i="1">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智能体得到环境的奖励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𝑇</m:t>
                        </m:r>
                      </m:sub>
                    </m:sSub>
                  </m:oMath>
                </a14:m>
                <a:endParaRPr lang="en-US" altLang="zh-CN" i="1">
                  <a:latin typeface="Cambria Math" panose="02040503050406030204" pitchFamily="18" charset="0"/>
                  <a:cs typeface="Cambria Math" panose="02040503050406030204" pitchFamily="18" charset="0"/>
                </a:endParaRPr>
              </a:p>
              <a:p>
                <a:pPr marL="0" lvl="1" indent="457200"/>
                <a:endParaRPr lang="en-US" altLang="zh-CN">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sym typeface="+mn-ea"/>
                  </a:rPr>
                  <a:t>3</a:t>
                </a:r>
                <a:r>
                  <a:rPr lang="zh-CN" altLang="en-US">
                    <a:latin typeface="Cambria Math" panose="02040503050406030204" pitchFamily="18" charset="0"/>
                    <a:cs typeface="Cambria Math" panose="02040503050406030204" pitchFamily="18" charset="0"/>
                    <a:sym typeface="+mn-ea"/>
                  </a:rPr>
                  <a:t>）计算总奖励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r>
                      <a:rPr lang="en-US" altLang="zh-CN" i="1">
                        <a:latin typeface="Cambria Math" panose="02040503050406030204" pitchFamily="18" charset="0"/>
                        <a:cs typeface="Cambria Math" panose="02040503050406030204" pitchFamily="18" charset="0"/>
                      </a:rPr>
                      <m:t>=</m:t>
                    </m:r>
                    <m:nary>
                      <m:naryPr>
                        <m:chr m:val="∑"/>
                        <m:limLoc m:val="subSup"/>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𝑇</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𝑡</m:t>
                            </m:r>
                          </m:sub>
                        </m:sSub>
                      </m:e>
                    </m:nary>
                  </m:oMath>
                </a14:m>
                <a:r>
                  <a:rPr lang="zh-CN" altLang="en-US">
                    <a:latin typeface="Cambria Math" panose="02040503050406030204" pitchFamily="18" charset="0"/>
                    <a:cs typeface="Cambria Math" panose="02040503050406030204" pitchFamily="18" charset="0"/>
                    <a:sym typeface="+mn-ea"/>
                  </a:rPr>
                  <a:t>，获取期望奖励</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oMath>
                </a14:m>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，该期望奖励代表了智能体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sym typeface="+mn-ea"/>
                  </a:rPr>
                  <a:t>的好坏</a:t>
                </a:r>
                <a:endParaRPr lang="en-US" altLang="zh-CN" i="1">
                  <a:latin typeface="Cambria Math" panose="02040503050406030204" pitchFamily="18" charset="0"/>
                  <a:cs typeface="Cambria Math" panose="02040503050406030204" pitchFamily="18" charset="0"/>
                </a:endParaRPr>
              </a:p>
              <a:p>
                <a:pPr indent="457200"/>
                <a:endParaRPr lang="en-US" altLang="zh-CN">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sym typeface="+mn-ea"/>
                  </a:rPr>
                  <a:t>4</a:t>
                </a:r>
                <a:r>
                  <a:rPr lang="zh-CN" altLang="en-US">
                    <a:latin typeface="Cambria Math" panose="02040503050406030204" pitchFamily="18" charset="0"/>
                    <a:cs typeface="Cambria Math" panose="02040503050406030204" pitchFamily="18" charset="0"/>
                    <a:sym typeface="+mn-ea"/>
                  </a:rPr>
                  <a:t>）根据奖励</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oMath>
                </a14:m>
                <a:r>
                  <a:rPr lang="zh-CN" altLang="en-US">
                    <a:latin typeface="Cambria Math" panose="02040503050406030204" pitchFamily="18" charset="0"/>
                    <a:cs typeface="Cambria Math" panose="02040503050406030204" pitchFamily="18" charset="0"/>
                    <a:sym typeface="+mn-ea"/>
                  </a:rPr>
                  <a:t>，更新智能体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sym typeface="+mn-ea"/>
                  </a:rPr>
                  <a:t>中</a:t>
                </a:r>
                <a:r>
                  <a:rPr lang="en-US" altLang="zh-CN">
                    <a:latin typeface="Cambria Math" panose="02040503050406030204" pitchFamily="18" charset="0"/>
                    <a:cs typeface="Cambria Math" panose="02040503050406030204" pitchFamily="18" charset="0"/>
                    <a:sym typeface="+mn-ea"/>
                  </a:rPr>
                  <a:t>DNN</a:t>
                </a:r>
                <a:r>
                  <a:rPr lang="zh-CN" altLang="en-US">
                    <a:latin typeface="Cambria Math" panose="02040503050406030204" pitchFamily="18" charset="0"/>
                    <a:cs typeface="Cambria Math" panose="02040503050406030204" pitchFamily="18" charset="0"/>
                    <a:sym typeface="+mn-ea"/>
                  </a:rPr>
                  <a:t>的参数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endParaRPr lang="en-US" altLang="zh-CN">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5275" y="1228725"/>
                <a:ext cx="11353800" cy="447929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nvSpPr>
            <p:spPr>
              <a:xfrm>
                <a:off x="294005" y="1233805"/>
                <a:ext cx="11340465" cy="2891790"/>
              </a:xfrm>
              <a:prstGeom prst="rect">
                <a:avLst/>
              </a:prstGeom>
              <a:noFill/>
            </p:spPr>
            <p:txBody>
              <a:bodyPr wrap="square" rtlCol="0">
                <a:spAutoFit/>
              </a:bodyPr>
              <a:p>
                <a:r>
                  <a:rPr lang="zh-CN" altLang="en-US"/>
                  <a:t>如何更新智能体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中</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反向传播</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 </a:t>
                </a:r>
                <a:r>
                  <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梯度上升</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对于</a:t>
                </a:r>
                <a:r>
                  <a:rPr lang="en-US" altLang="zh-CN">
                    <a:solidFill>
                      <a:schemeClr val="tx1"/>
                    </a:solidFill>
                    <a:latin typeface="Cambria Math" panose="02040503050406030204" pitchFamily="18" charset="0"/>
                    <a:cs typeface="Cambria Math" panose="02040503050406030204" pitchFamily="18" charset="0"/>
                  </a:rPr>
                  <a:t>1</a:t>
                </a:r>
                <a:r>
                  <a:rPr lang="zh-CN" altLang="en-US">
                    <a:solidFill>
                      <a:schemeClr val="tx1"/>
                    </a:solidFill>
                    <a:latin typeface="Cambria Math" panose="02040503050406030204" pitchFamily="18" charset="0"/>
                    <a:cs typeface="Cambria Math" panose="02040503050406030204" pitchFamily="18" charset="0"/>
                  </a:rPr>
                  <a:t>个训练轮次，其智能体与环境的交互轨迹为</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𝜏</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该交互轨迹</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𝜏</m:t>
                    </m:r>
                  </m:oMath>
                </a14:m>
                <a:r>
                  <a:rPr lang="zh-CN" altLang="en-US">
                    <a:solidFill>
                      <a:schemeClr val="tx1"/>
                    </a:solidFill>
                    <a:latin typeface="Cambria Math" panose="02040503050406030204" pitchFamily="18" charset="0"/>
                    <a:cs typeface="Cambria Math" panose="02040503050406030204" pitchFamily="18" charset="0"/>
                  </a:rPr>
                  <a:t>所对应的累计奖励</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𝑅</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𝜏</m:t>
                    </m:r>
                    <m:r>
                      <a:rPr lang="en-US" altLang="zh-CN" i="1">
                        <a:solidFill>
                          <a:schemeClr val="tx1"/>
                        </a:solidFill>
                        <a:latin typeface="Cambria Math" panose="02040503050406030204" pitchFamily="18" charset="0"/>
                        <a:cs typeface="Cambria Math" panose="02040503050406030204" pitchFamily="18" charset="0"/>
                      </a:rPr>
                      <m:t>)=</m:t>
                    </m:r>
                    <m:nary>
                      <m:naryPr>
                        <m:chr m:val="∑"/>
                        <m:limLoc m:val="subSup"/>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b>
                      <m:sup>
                        <m:r>
                          <a:rPr lang="en-US" altLang="zh-CN" i="1">
                            <a:solidFill>
                              <a:schemeClr val="tx1"/>
                            </a:solidFill>
                            <a:latin typeface="Cambria Math" panose="02040503050406030204" pitchFamily="18" charset="0"/>
                            <a:cs typeface="Cambria Math" panose="02040503050406030204" pitchFamily="18" charset="0"/>
                          </a:rPr>
                          <m:t>𝑇</m:t>
                        </m:r>
                      </m:sup>
                      <m:e>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𝑡</m:t>
                            </m:r>
                          </m:sub>
                        </m:sSub>
                      </m:e>
                    </m:nary>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latin typeface="Cambria Math" panose="02040503050406030204" pitchFamily="18" charset="0"/>
                    <a:cs typeface="Cambria Math" panose="02040503050406030204" pitchFamily="18" charset="0"/>
                    <a:sym typeface="+mn-ea"/>
                  </a:rPr>
                  <a:t>期望奖励</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oMath>
                </a14:m>
                <a:r>
                  <a:rPr lang="zh-CN" altLang="en-US">
                    <a:latin typeface="Cambria Math" panose="02040503050406030204" pitchFamily="18" charset="0"/>
                    <a:cs typeface="Cambria Math" panose="02040503050406030204" pitchFamily="18" charset="0"/>
                  </a:rPr>
                  <a:t>应为智能体与环境的交互轨迹空间中所有轨迹的累计奖励均值：</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e>
                    </m:nary>
                  </m:oMath>
                </a14:m>
                <a:endParaRPr lang="en-US" altLang="zh-CN" i="1">
                  <a:latin typeface="Cambria Math" panose="02040503050406030204" pitchFamily="18" charset="0"/>
                  <a:cs typeface="Cambria Math" panose="02040503050406030204" pitchFamily="18" charset="0"/>
                </a:endParaRPr>
              </a:p>
              <a:p>
                <a:pPr marL="0" lvl="0" indent="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我们的目标是找到一个参数</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𝜃</m:t>
                        </m:r>
                      </m:e>
                      <m:sup>
                        <m:r>
                          <a:rPr lang="en-US" altLang="zh-CN" i="1">
                            <a:latin typeface="Cambria Math" panose="02040503050406030204" pitchFamily="18" charset="0"/>
                            <a:cs typeface="Cambria Math" panose="02040503050406030204" pitchFamily="18" charset="0"/>
                          </a:rPr>
                          <m:t>∗</m:t>
                        </m:r>
                      </m:sup>
                    </m:sSup>
                  </m:oMath>
                </a14:m>
                <a:r>
                  <a:rPr lang="zh-CN" altLang="en-US">
                    <a:latin typeface="Cambria Math" panose="02040503050406030204" pitchFamily="18" charset="0"/>
                    <a:cs typeface="Cambria Math" panose="02040503050406030204" pitchFamily="18" charset="0"/>
                  </a:rPr>
                  <a:t>，可以使</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oMath>
                </a14:m>
                <a:r>
                  <a:rPr lang="zh-CN" altLang="en-US">
                    <a:latin typeface="Cambria Math" panose="02040503050406030204" pitchFamily="18" charset="0"/>
                    <a:cs typeface="Cambria Math" panose="02040503050406030204" pitchFamily="18" charset="0"/>
                  </a:rPr>
                  <a:t>最大：</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𝜃</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argmax</m:t>
                            </m:r>
                          </m:e>
                          <m:lim>
                            <m:r>
                              <a:rPr lang="en-US" altLang="zh-CN" i="1">
                                <a:latin typeface="Cambria Math" panose="02040503050406030204" pitchFamily="18" charset="0"/>
                                <a:cs typeface="Cambria Math" panose="02040503050406030204" pitchFamily="18" charset="0"/>
                              </a:rPr>
                              <m:t>𝜃</m:t>
                            </m:r>
                          </m:lim>
                        </m:limLow>
                      </m:fName>
                      <m:e>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e>
                    </m:func>
                  </m:oMath>
                </a14:m>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94005" y="1233805"/>
                <a:ext cx="11340465" cy="289179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294005" y="1233805"/>
                <a:ext cx="11340465" cy="5464810"/>
              </a:xfrm>
              <a:prstGeom prst="rect">
                <a:avLst/>
              </a:prstGeom>
              <a:noFill/>
            </p:spPr>
            <p:txBody>
              <a:bodyPr wrap="square" rtlCol="0">
                <a:spAutoFit/>
              </a:bodyPr>
              <a:p>
                <a:r>
                  <a:rPr lang="zh-CN" altLang="en-US"/>
                  <a:t>如何更新智能体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中</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反向传播</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 </a:t>
                </a:r>
                <a:r>
                  <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梯度上升</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latin typeface="Cambria Math" panose="02040503050406030204" pitchFamily="18" charset="0"/>
                    <a:cs typeface="Cambria Math" panose="02040503050406030204" pitchFamily="18" charset="0"/>
                  </a:rPr>
                  <a:t>目标：</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𝜃</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argmax</m:t>
                            </m:r>
                          </m:e>
                          <m:lim>
                            <m:r>
                              <a:rPr lang="en-US" altLang="zh-CN" i="1">
                                <a:latin typeface="Cambria Math" panose="02040503050406030204" pitchFamily="18" charset="0"/>
                                <a:cs typeface="Cambria Math" panose="02040503050406030204" pitchFamily="18" charset="0"/>
                              </a:rPr>
                              <m:t>𝜃</m:t>
                            </m:r>
                          </m:lim>
                        </m:limLow>
                      </m:fName>
                      <m:e>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e>
                    </m:func>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在神经网络中，采用梯度下降方法</a:t>
                </a:r>
                <a:r>
                  <a:rPr lang="zh-CN" altLang="en-US">
                    <a:latin typeface="Cambria Math" panose="02040503050406030204" pitchFamily="18" charset="0"/>
                    <a:cs typeface="Cambria Math" panose="02040503050406030204" pitchFamily="18" charset="0"/>
                    <a:sym typeface="+mn-ea"/>
                  </a:rPr>
                  <a:t>来寻找目标函数的最小值所对应网络参数；在强化学习中，采用梯度上升方法来寻找目标函数的最大值所对应网络参数</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这里更新参数时梯度上升是</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学习率</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梯度，而神经网络优化过程中梯度下降是</a:t>
                </a:r>
                <a:r>
                  <a:rPr lang="en-US" altLang="zh-CN">
                    <a:solidFill>
                      <a:schemeClr val="tx1"/>
                    </a:solidFill>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sym typeface="+mn-ea"/>
                  </a:rPr>
                  <a:t>学习率</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sym typeface="+mn-ea"/>
                  </a:rPr>
                  <a:t>梯度</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a:t>
                </a:r>
                <a:endParaRPr lang="zh-CN" altLang="en-US">
                  <a:latin typeface="Cambria Math" panose="02040503050406030204" pitchFamily="18" charset="0"/>
                  <a:cs typeface="Cambria Math" panose="02040503050406030204" pitchFamily="18" charset="0"/>
                  <a:sym typeface="+mn-ea"/>
                </a:endParaRPr>
              </a:p>
              <a:p>
                <a:pPr marL="0" lvl="0" indent="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lgn="ctr">
                  <a:buNone/>
                </a:pPr>
                <a:r>
                  <a:rPr lang="zh-CN" altLang="en-US">
                    <a:solidFill>
                      <a:schemeClr val="tx1"/>
                    </a:solidFill>
                    <a:latin typeface="Cambria Math" panose="02040503050406030204" pitchFamily="18" charset="0"/>
                    <a:cs typeface="Cambria Math" panose="02040503050406030204" pitchFamily="18" charset="0"/>
                  </a:rPr>
                  <a:t>初始化网络参数</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0</m:t>
                        </m:r>
                      </m:sup>
                    </m:sSup>
                  </m:oMath>
                </a14:m>
                <a:r>
                  <a:rPr lang="en-US" altLang="zh-CN">
                    <a:solidFill>
                      <a:schemeClr val="tx1"/>
                    </a:solidFill>
                    <a:latin typeface="Cambria Math" panose="02040503050406030204" pitchFamily="18" charset="0"/>
                    <a:cs typeface="Cambria Math" panose="02040503050406030204" pitchFamily="18" charset="0"/>
                  </a:rPr>
                  <a:t>                </a:t>
                </a:r>
                <a:endParaRPr lang="en-US" altLang="zh-CN">
                  <a:solidFill>
                    <a:schemeClr val="tx1"/>
                  </a:solidFill>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1</m:t>
                        </m:r>
                      </m:sup>
                    </m:sSup>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0</m:t>
                        </m:r>
                      </m:sup>
                    </m:sSup>
                    <m:r>
                      <a:rPr lang="en-US" altLang="zh-CN" i="1">
                        <a:solidFill>
                          <a:srgbClr val="FF0000"/>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𝜂</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sSup>
                                  <m:sSupPr>
                                    <m:ctrlPr>
                                      <a:rPr lang="en-US" altLang="zh-CN" i="1">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latin typeface="Cambria Math" panose="02040503050406030204" pitchFamily="18" charset="0"/>
                                        <a:cs typeface="Cambria Math" panose="02040503050406030204" pitchFamily="18" charset="0"/>
                                      </a:rPr>
                                      <m:t>0</m:t>
                                    </m:r>
                                  </m:sup>
                                </m:sSup>
                              </m:sub>
                            </m:sSub>
                          </m:e>
                        </m:acc>
                      </m:num>
                      <m:den>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0</m:t>
                            </m:r>
                          </m:sup>
                        </m:sSup>
                      </m:den>
                    </m:f>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gn="ctr">
                  <a:buNone/>
                </a:pP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2</m:t>
                        </m:r>
                      </m:sup>
                    </m:sSup>
                  </m:oMath>
                </a14:m>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1</m:t>
                        </m:r>
                      </m:sup>
                    </m:sSup>
                    <m:r>
                      <a:rPr lang="en-US" altLang="zh-CN" i="1">
                        <a:solidFill>
                          <a:srgbClr val="FF0000"/>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𝜂</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sSup>
                                  <m:sSupPr>
                                    <m:ctrlPr>
                                      <a:rPr lang="en-US" altLang="zh-CN" i="1">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latin typeface="Cambria Math" panose="02040503050406030204" pitchFamily="18" charset="0"/>
                                        <a:cs typeface="Cambria Math" panose="02040503050406030204" pitchFamily="18" charset="0"/>
                                      </a:rPr>
                                      <m:t>1</m:t>
                                    </m:r>
                                  </m:sup>
                                </m:sSup>
                              </m:sub>
                            </m:sSub>
                          </m:e>
                        </m:acc>
                      </m:num>
                      <m:den>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𝜃</m:t>
                            </m:r>
                          </m:e>
                          <m:sup>
                            <m:r>
                              <a:rPr lang="en-US" altLang="zh-CN" i="1">
                                <a:solidFill>
                                  <a:schemeClr val="tx1"/>
                                </a:solidFill>
                                <a:latin typeface="Cambria Math" panose="02040503050406030204" pitchFamily="18" charset="0"/>
                                <a:cs typeface="Cambria Math" panose="02040503050406030204" pitchFamily="18" charset="0"/>
                              </a:rPr>
                              <m:t>1</m:t>
                            </m:r>
                          </m:sup>
                        </m:sSup>
                      </m:den>
                    </m:f>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gn="ctr">
                  <a:buNone/>
                </a:pPr>
                <a14:m>
                  <m:oMathPara xmlns:m="http://schemas.openxmlformats.org/officeDocument/2006/math">
                    <m:oMathParaPr>
                      <m:jc m:val="center"/>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20000"/>
                  </a:lnSpc>
                  <a:buNone/>
                </a:pPr>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 </m:t>
                          </m:r>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e>
                      </m:nary>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den>
                          </m:f>
                        </m:e>
                      </m:nary>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oMath>
                  </m:oMathPara>
                </a14:m>
                <a:endParaRPr lang="en-US" altLang="zh-CN" i="1">
                  <a:latin typeface="Cambria Math" panose="02040503050406030204" pitchFamily="18" charset="0"/>
                  <a:cs typeface="Cambria Math" panose="02040503050406030204" pitchFamily="18" charset="0"/>
                </a:endParaRPr>
              </a:p>
              <a:p>
                <a:pPr marL="0" lvl="0" indent="0">
                  <a:lnSpc>
                    <a:spcPct val="40000"/>
                  </a:lnSpc>
                  <a:buNone/>
                </a:pPr>
                <a:r>
                  <a:rPr lang="en-US" altLang="zh-CN">
                    <a:solidFill>
                      <a:schemeClr val="tx1"/>
                    </a:solidFill>
                    <a:latin typeface="Cambria Math" panose="02040503050406030204" pitchFamily="18" charset="0"/>
                    <a:cs typeface="Cambria Math" panose="02040503050406030204" pitchFamily="18" charset="0"/>
                  </a:rPr>
                  <a:t>                                                                                                                                         </a:t>
                </a: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r>
                  <a:rPr lang="en-US" altLang="zh-CN">
                    <a:solidFill>
                      <a:schemeClr val="tx1"/>
                    </a:solidFill>
                    <a:latin typeface="Cambria Math" panose="02040503050406030204" pitchFamily="18" charset="0"/>
                    <a:cs typeface="Cambria Math" panose="02040503050406030204" pitchFamily="18" charset="0"/>
                  </a:rPr>
                  <a:t>                                                                                                                                        (</a:t>
                </a:r>
                <a14:m>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𝑑𝑙𝑛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𝑓</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𝑑𝑥</m:t>
                        </m:r>
                      </m:den>
                    </m:f>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
                          <a:rPr lang="en-US" altLang="zh-CN" i="1">
                            <a:solidFill>
                              <a:schemeClr val="tx1"/>
                            </a:solidFill>
                            <a:latin typeface="Cambria Math" panose="02040503050406030204" pitchFamily="18" charset="0"/>
                            <a:cs typeface="Cambria Math" panose="02040503050406030204" pitchFamily="18" charset="0"/>
                          </a:rPr>
                          <m:t>𝑓</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den>
                    </m:f>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𝑑𝑓</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𝑑𝑥</m:t>
                        </m:r>
                      </m:den>
                    </m:f>
                  </m:oMath>
                </a14:m>
                <a:r>
                  <a:rPr lang="en-US" altLang="zh-CN">
                    <a:solidFill>
                      <a:schemeClr val="tx1"/>
                    </a:solidFill>
                    <a:latin typeface="Cambria Math" panose="02040503050406030204" pitchFamily="18" charset="0"/>
                    <a:cs typeface="Cambria Math" panose="02040503050406030204" pitchFamily="18" charset="0"/>
                  </a:rPr>
                  <a:t>)</a:t>
                </a:r>
                <a:endParaRPr lang="en-US" altLang="zh-CN">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294005" y="1233805"/>
                <a:ext cx="11340465" cy="546481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294005" y="1233805"/>
                <a:ext cx="11340465" cy="5400040"/>
              </a:xfrm>
              <a:prstGeom prst="rect">
                <a:avLst/>
              </a:prstGeom>
              <a:noFill/>
            </p:spPr>
            <p:txBody>
              <a:bodyPr wrap="square" rtlCol="0">
                <a:spAutoFit/>
              </a:bodyPr>
              <a:p>
                <a:r>
                  <a:rPr lang="zh-CN" altLang="en-US"/>
                  <a:t>如何更新智能体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中</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反向传播</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 </a:t>
                </a:r>
                <a:r>
                  <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梯度上升</a:t>
                </a:r>
                <a:endPar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 </m:t>
                          </m:r>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e>
                      </m:nary>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den>
                          </m:f>
                        </m:e>
                      </m:nary>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红色框内操作主要是为了在公式中出现</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oMath>
                </a14:m>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由于现实中我们不可能遍历所有可能出现的交互轨迹，因此我们退而求其次，从交互轨迹空间中取样</a:t>
                </a:r>
                <a:r>
                  <a:rPr lang="en-US" altLang="zh-CN">
                    <a:solidFill>
                      <a:schemeClr val="tx1"/>
                    </a:solidFill>
                    <a:latin typeface="Cambria Math" panose="02040503050406030204" pitchFamily="18" charset="0"/>
                    <a:cs typeface="Cambria Math" panose="02040503050406030204" pitchFamily="18" charset="0"/>
                  </a:rPr>
                  <a:t>N</a:t>
                </a:r>
                <a:r>
                  <a:rPr lang="zh-CN" altLang="en-US">
                    <a:solidFill>
                      <a:schemeClr val="tx1"/>
                    </a:solidFill>
                    <a:latin typeface="Cambria Math" panose="02040503050406030204" pitchFamily="18" charset="0"/>
                    <a:cs typeface="Cambria Math" panose="02040503050406030204" pitchFamily="18" charset="0"/>
                  </a:rPr>
                  <a:t>次</a:t>
                </a:r>
                <a:r>
                  <a:rPr lang="en-US" altLang="zh-CN">
                    <a:solidFill>
                      <a:schemeClr val="tx1"/>
                    </a:solidFill>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1</m:t>
                        </m:r>
                      </m:sup>
                    </m:s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𝑁</m:t>
                        </m:r>
                      </m:sup>
                    </m:sSup>
                  </m:oMath>
                </a14:m>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tx1"/>
                    </a:solidFill>
                    <a:latin typeface="Cambria Math" panose="02040503050406030204" pitchFamily="18" charset="0"/>
                    <a:cs typeface="Cambria Math" panose="02040503050406030204" pitchFamily="18" charset="0"/>
                  </a:rPr>
                  <a:t>做平均以近似累计奖励均值</a:t>
                </a:r>
                <a14:m>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oMath>
                </a14:m>
                <a:r>
                  <a:rPr lang="zh-CN" altLang="en-US">
                    <a:latin typeface="Cambria Math" panose="02040503050406030204" pitchFamily="18" charset="0"/>
                    <a:cs typeface="Cambria Math" panose="02040503050406030204" pitchFamily="18" charset="0"/>
                  </a:rPr>
                  <a:t>：</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𝑁</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因此有：</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𝑁</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e>
                      </m:nary>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oMath>
                  </m:oMathPara>
                </a14:m>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294005" y="1233805"/>
                <a:ext cx="11340465" cy="5400040"/>
              </a:xfrm>
              <a:prstGeom prst="rect">
                <a:avLst/>
              </a:prstGeom>
              <a:blipFill rotWithShape="1">
                <a:blip r:embed="rId3"/>
                <a:stretch>
                  <a:fillRect/>
                </a:stretch>
              </a:blipFill>
            </p:spPr>
            <p:txBody>
              <a:bodyPr/>
              <a:lstStyle/>
              <a:p>
                <a:r>
                  <a:rPr lang="zh-CN" altLang="en-US">
                    <a:noFill/>
                  </a:rPr>
                  <a:t> </a:t>
                </a:r>
              </a:p>
            </p:txBody>
          </p:sp>
        </mc:Fallback>
      </mc:AlternateContent>
      <p:sp>
        <p:nvSpPr>
          <p:cNvPr id="5" name="矩形 4"/>
          <p:cNvSpPr/>
          <p:nvPr/>
        </p:nvSpPr>
        <p:spPr>
          <a:xfrm>
            <a:off x="5673725" y="2174875"/>
            <a:ext cx="5313680" cy="958215"/>
          </a:xfrm>
          <a:prstGeom prst="rect">
            <a:avLst/>
          </a:prstGeom>
          <a:noFill/>
          <a:ln w="28575">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294005" y="1233805"/>
                <a:ext cx="11340465" cy="4857115"/>
              </a:xfrm>
              <a:prstGeom prst="rect">
                <a:avLst/>
              </a:prstGeom>
              <a:noFill/>
            </p:spPr>
            <p:txBody>
              <a:bodyPr wrap="square" rtlCol="0">
                <a:spAutoFit/>
              </a:bodyPr>
              <a:p>
                <a:r>
                  <a:rPr lang="zh-CN" altLang="en-US"/>
                  <a:t>如何更新智能体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中</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反向传播</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 </a:t>
                </a:r>
                <a:r>
                  <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梯度上升</a:t>
                </a:r>
                <a:endPar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𝑁</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e>
                      </m:nary>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marL="0" lvl="0" indent="0">
                  <a:buNone/>
                </a:pPr>
                <a:r>
                  <a:rPr lang="en-US" altLang="zh-CN">
                    <a:solidFill>
                      <a:schemeClr val="tx1"/>
                    </a:solidFill>
                    <a:latin typeface="Cambria Math" panose="02040503050406030204" pitchFamily="18" charset="0"/>
                    <a:cs typeface="Cambria Math" panose="02040503050406030204" pitchFamily="18" charset="0"/>
                  </a:rPr>
                  <a:t>                                                           </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b>
                      <m:sup>
                        <m:r>
                          <a:rPr lang="en-US" altLang="zh-CN" i="1">
                            <a:solidFill>
                              <a:schemeClr val="tx1"/>
                            </a:solidFill>
                            <a:latin typeface="Cambria Math" panose="02040503050406030204" pitchFamily="18" charset="0"/>
                            <a:cs typeface="Cambria Math" panose="02040503050406030204" pitchFamily="18" charset="0"/>
                          </a:rPr>
                          <m:t>𝑇</m:t>
                        </m:r>
                      </m:sup>
                      <m:e>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e>
                    </m:nary>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𝑙𝑛𝑃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b>
                        <m:sup>
                          <m:r>
                            <a:rPr lang="en-US" altLang="zh-CN" i="1">
                              <a:solidFill>
                                <a:schemeClr val="tx1"/>
                              </a:solidFill>
                              <a:latin typeface="Cambria Math" panose="02040503050406030204" pitchFamily="18" charset="0"/>
                              <a:cs typeface="Cambria Math" panose="02040503050406030204" pitchFamily="18" charset="0"/>
                            </a:rPr>
                            <m:t>𝑇</m:t>
                          </m:r>
                        </m:sup>
                        <m:e>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e>
                      </m:nary>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b>
                        <m:sup>
                          <m:r>
                            <a:rPr lang="en-US" altLang="zh-CN" i="1">
                              <a:solidFill>
                                <a:schemeClr val="tx1"/>
                              </a:solidFill>
                              <a:latin typeface="Cambria Math" panose="02040503050406030204" pitchFamily="18" charset="0"/>
                              <a:cs typeface="Cambria Math" panose="02040503050406030204" pitchFamily="18" charset="0"/>
                            </a:rPr>
                            <m:t>𝑇</m:t>
                          </m:r>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oMath>
                  </m:oMathPara>
                </a14:m>
                <a:endParaRPr lang="en-US" altLang="zh-CN">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294005" y="1233805"/>
                <a:ext cx="11340465" cy="485711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294005" y="1233805"/>
                <a:ext cx="11340465" cy="4320540"/>
              </a:xfrm>
              <a:prstGeom prst="rect">
                <a:avLst/>
              </a:prstGeom>
              <a:noFill/>
            </p:spPr>
            <p:txBody>
              <a:bodyPr wrap="square" rtlCol="0">
                <a:spAutoFit/>
              </a:bodyPr>
              <a:p>
                <a:r>
                  <a:rPr lang="zh-CN" altLang="en-US"/>
                  <a:t>如何更新智能体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中</a:t>
                </a:r>
                <a:r>
                  <a:rPr lang="en-US" altLang="zh-CN">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rPr>
                  <a:t>的</a:t>
                </a:r>
                <a:r>
                  <a:rPr lang="zh-CN" altLang="en-US">
                    <a:latin typeface="Cambria Math" panose="02040503050406030204" pitchFamily="18" charset="0"/>
                    <a:cs typeface="Cambria Math" panose="02040503050406030204" pitchFamily="18" charset="0"/>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反向传播</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a:t>
                </a:r>
                <a:r>
                  <a:rPr lang="en-US" altLang="zh-CN">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a:t>
                </a:r>
                <a:r>
                  <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梯度上升</a:t>
                </a:r>
                <a:endParaRPr lang="zh-CN" altLang="en-US">
                  <a:solidFill>
                    <a:srgbClr val="FF0000"/>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acc>
                            <m:accPr>
                              <m:chr m:val="̅"/>
                              <m:ctrlPr>
                                <a:rPr lang="en-US" altLang="zh-CN" i="1">
                                  <a:latin typeface="Cambria Math" panose="02040503050406030204" pitchFamily="18" charset="0"/>
                                  <a:cs typeface="Cambria Math" panose="02040503050406030204" pitchFamily="18" charset="0"/>
                                </a:rPr>
                              </m:ctrlPr>
                            </m:acc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𝑅</m:t>
                                  </m:r>
                                </m:e>
                                <m:sub>
                                  <m:r>
                                    <a:rPr lang="en-US" altLang="zh-CN" i="1">
                                      <a:latin typeface="Cambria Math" panose="02040503050406030204" pitchFamily="18" charset="0"/>
                                      <a:cs typeface="Cambria Math" panose="02040503050406030204" pitchFamily="18" charset="0"/>
                                    </a:rPr>
                                    <m:t>𝜃</m:t>
                                  </m:r>
                                </m:sub>
                              </m:sSub>
                            </m:e>
                          </m:acc>
                        </m:num>
                        <m:den>
                          <m:r>
                            <a:rPr lang="en-US" altLang="zh-CN" i="1">
                              <a:solidFill>
                                <a:schemeClr val="tx1"/>
                              </a:solidFill>
                              <a:latin typeface="Cambria Math" panose="02040503050406030204" pitchFamily="18" charset="0"/>
                              <a:cs typeface="Cambria Math" panose="02040503050406030204" pitchFamily="18" charset="0"/>
                            </a:rPr>
                            <m:t>𝜕𝜃</m:t>
                          </m:r>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𝜏</m:t>
                          </m:r>
                        </m:sub>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𝑁</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e>
                      </m:nary>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𝜃</m:t>
                          </m:r>
                          <m:r>
                            <a:rPr lang="en-US" altLang="zh-CN" i="1">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𝑁</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𝜏</m:t>
                              </m:r>
                            </m:e>
                            <m:sup>
                              <m:r>
                                <a:rPr lang="en-US" altLang="zh-CN" i="1">
                                  <a:solidFill>
                                    <a:schemeClr val="tx1"/>
                                  </a:solidFill>
                                  <a:latin typeface="Cambria Math" panose="02040503050406030204" pitchFamily="18" charset="0"/>
                                  <a:cs typeface="Cambria Math" panose="02040503050406030204" pitchFamily="18" charset="0"/>
                                </a:rPr>
                                <m:t>𝑛</m:t>
                              </m:r>
                            </m:sup>
                          </m:sSup>
                          <m:r>
                            <a:rPr lang="en-US" altLang="zh-CN" i="1">
                              <a:latin typeface="Cambria Math" panose="02040503050406030204" pitchFamily="18" charset="0"/>
                              <a:cs typeface="Cambria Math" panose="02040503050406030204" pitchFamily="18" charset="0"/>
                            </a:rPr>
                            <m:t>)</m:t>
                          </m:r>
                        </m:e>
                      </m:nary>
                      <m:nary>
                        <m:naryPr>
                          <m:chr m:val="∑"/>
                          <m:limLoc m:val="undOvr"/>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1</m:t>
                          </m:r>
                        </m:sub>
                        <m:sup>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𝑇</m:t>
                              </m:r>
                            </m:e>
                            <m:sub>
                              <m:r>
                                <a:rPr lang="en-US" altLang="zh-CN" i="1">
                                  <a:solidFill>
                                    <a:schemeClr val="tx1"/>
                                  </a:solidFill>
                                  <a:latin typeface="Cambria Math" panose="02040503050406030204" pitchFamily="18" charset="0"/>
                                  <a:cs typeface="Cambria Math" panose="02040503050406030204" pitchFamily="18" charset="0"/>
                                </a:rPr>
                                <m:t>𝑛</m:t>
                              </m:r>
                            </m:sub>
                          </m:sSub>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𝜕𝜃</m:t>
                              </m:r>
                            </m:den>
                          </m:f>
                        </m:e>
                      </m:nary>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其中</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𝑝</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𝜃</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即为</a:t>
                </a:r>
                <a:r>
                  <a:rPr lang="en-US" altLang="zh-CN">
                    <a:solidFill>
                      <a:schemeClr val="tx1"/>
                    </a:solidFill>
                    <a:latin typeface="Cambria Math" panose="02040503050406030204" pitchFamily="18" charset="0"/>
                    <a:cs typeface="Cambria Math" panose="02040503050406030204" pitchFamily="18" charset="0"/>
                  </a:rPr>
                  <a:t>DNN</a:t>
                </a:r>
                <a:r>
                  <a:rPr lang="zh-CN" altLang="en-US">
                    <a:solidFill>
                      <a:schemeClr val="tx1"/>
                    </a:solidFill>
                    <a:latin typeface="Cambria Math" panose="02040503050406030204" pitchFamily="18" charset="0"/>
                    <a:cs typeface="Cambria Math" panose="02040503050406030204" pitchFamily="18" charset="0"/>
                  </a:rPr>
                  <a:t>最终的输出预测值，代表输入当前观测状态</a:t>
                </a:r>
                <a14:m>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𝑡</m:t>
                        </m:r>
                      </m:sub>
                    </m:sSub>
                  </m:oMath>
                </a14:m>
                <a:r>
                  <a:rPr lang="zh-CN" altLang="en-US">
                    <a:solidFill>
                      <a:schemeClr val="tx1"/>
                    </a:solidFill>
                    <a:latin typeface="Cambria Math" panose="02040503050406030204" pitchFamily="18" charset="0"/>
                    <a:cs typeface="Cambria Math" panose="02040503050406030204" pitchFamily="18" charset="0"/>
                  </a:rPr>
                  <a:t>后网络输出的智能体采用各种行为的概率</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以上介绍了</a:t>
                </a:r>
                <a:r>
                  <a:rPr lang="en-US" altLang="zh-CN">
                    <a:solidFill>
                      <a:schemeClr val="accent1"/>
                    </a:solidFill>
                    <a:effectLst>
                      <a:outerShdw blurRad="38100" dist="25400" dir="5400000" algn="ctr" rotWithShape="0">
                        <a:srgbClr val="6E747A">
                          <a:alpha val="43000"/>
                        </a:srgbClr>
                      </a:outerShdw>
                    </a:effectLst>
                  </a:rPr>
                  <a:t>Policy-based Method</a:t>
                </a:r>
                <a:r>
                  <a:rPr lang="zh-CN" altLang="en-US">
                    <a:solidFill>
                      <a:schemeClr val="tx1"/>
                    </a:solidFill>
                    <a:latin typeface="Cambria Math" panose="02040503050406030204" pitchFamily="18" charset="0"/>
                    <a:cs typeface="Cambria Math" panose="02040503050406030204" pitchFamily="18" charset="0"/>
                  </a:rPr>
                  <a:t>中的</a:t>
                </a:r>
                <a:r>
                  <a:rPr lang="en-US" altLang="zh-CN">
                    <a:solidFill>
                      <a:schemeClr val="accent1"/>
                    </a:solidFill>
                    <a:effectLst>
                      <a:outerShdw blurRad="38100" dist="25400" dir="5400000" algn="ctr" rotWithShape="0">
                        <a:srgbClr val="6E747A">
                          <a:alpha val="43000"/>
                        </a:srgbClr>
                      </a:outerShdw>
                    </a:effectLst>
                  </a:rPr>
                  <a:t>DRL</a:t>
                </a:r>
                <a:r>
                  <a:rPr lang="zh-CN" altLang="en-US">
                    <a:solidFill>
                      <a:schemeClr val="tx1"/>
                    </a:solidFill>
                    <a:latin typeface="Cambria Math" panose="02040503050406030204" pitchFamily="18" charset="0"/>
                    <a:cs typeface="Cambria Math" panose="02040503050406030204" pitchFamily="18" charset="0"/>
                  </a:rPr>
                  <a:t>是如何训练的。而在推理时，向</a:t>
                </a:r>
                <a:r>
                  <a:rPr lang="en-US" altLang="zh-CN">
                    <a:solidFill>
                      <a:schemeClr val="tx1"/>
                    </a:solidFill>
                    <a:latin typeface="Cambria Math" panose="02040503050406030204" pitchFamily="18" charset="0"/>
                    <a:cs typeface="Cambria Math" panose="02040503050406030204" pitchFamily="18" charset="0"/>
                  </a:rPr>
                  <a:t>DNN</a:t>
                </a:r>
                <a:r>
                  <a:rPr lang="zh-CN" altLang="en-US">
                    <a:solidFill>
                      <a:schemeClr val="tx1"/>
                    </a:solidFill>
                    <a:latin typeface="Cambria Math" panose="02040503050406030204" pitchFamily="18" charset="0"/>
                    <a:cs typeface="Cambria Math" panose="02040503050406030204" pitchFamily="18" charset="0"/>
                  </a:rPr>
                  <a:t>输入当前状态</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𝑠</m:t>
                    </m:r>
                  </m:oMath>
                </a14:m>
                <a:r>
                  <a:rPr lang="zh-CN" altLang="en-US">
                    <a:solidFill>
                      <a:schemeClr val="tx1"/>
                    </a:solidFill>
                    <a:latin typeface="Cambria Math" panose="02040503050406030204" pitchFamily="18" charset="0"/>
                    <a:cs typeface="Cambria Math" panose="02040503050406030204" pitchFamily="18" charset="0"/>
                  </a:rPr>
                  <a:t>，</a:t>
                </a:r>
                <a:r>
                  <a:rPr lang="en-US" altLang="zh-CN">
                    <a:solidFill>
                      <a:schemeClr val="tx1"/>
                    </a:solidFill>
                    <a:latin typeface="Cambria Math" panose="02040503050406030204" pitchFamily="18" charset="0"/>
                    <a:cs typeface="Cambria Math" panose="02040503050406030204" pitchFamily="18" charset="0"/>
                  </a:rPr>
                  <a:t>DNN</a:t>
                </a:r>
                <a:r>
                  <a:rPr lang="zh-CN" altLang="en-US">
                    <a:latin typeface="Cambria Math" panose="02040503050406030204" pitchFamily="18" charset="0"/>
                    <a:cs typeface="Cambria Math" panose="02040503050406030204" pitchFamily="18" charset="0"/>
                    <a:sym typeface="+mn-ea"/>
                  </a:rPr>
                  <a:t>网络输出的一个向量，其中为智能体可能采用的各种行为的概率，最终根据概率得到智能体输出的行为，即即使两个相同的状态</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𝑠</m:t>
                        </m:r>
                      </m:e>
                      <m:sub>
                        <m:r>
                          <a:rPr lang="en-US" altLang="zh-CN" i="1">
                            <a:latin typeface="Cambria Math" panose="02040503050406030204" pitchFamily="18" charset="0"/>
                            <a:cs typeface="Cambria Math" panose="02040503050406030204" pitchFamily="18" charset="0"/>
                            <a:sym typeface="+mn-ea"/>
                          </a:rPr>
                          <m:t>1</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𝑠</m:t>
                        </m:r>
                      </m:e>
                      <m:sub>
                        <m:r>
                          <a:rPr lang="en-US" altLang="zh-CN" i="1">
                            <a:latin typeface="Cambria Math" panose="02040503050406030204" pitchFamily="18" charset="0"/>
                            <a:cs typeface="Cambria Math" panose="02040503050406030204" pitchFamily="18" charset="0"/>
                            <a:sym typeface="+mn-ea"/>
                          </a:rPr>
                          <m:t>2</m:t>
                        </m:r>
                      </m:sub>
                    </m:sSub>
                  </m:oMath>
                </a14:m>
                <a:r>
                  <a:rPr lang="zh-CN" altLang="en-US">
                    <a:latin typeface="Cambria Math" panose="02040503050406030204" pitchFamily="18" charset="0"/>
                    <a:cs typeface="Cambria Math" panose="02040503050406030204" pitchFamily="18" charset="0"/>
                    <a:sym typeface="+mn-ea"/>
                  </a:rPr>
                  <a:t>，智能体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oMath>
                </a14:m>
                <a:r>
                  <a:rPr lang="zh-CN" altLang="en-US">
                    <a:latin typeface="Cambria Math" panose="02040503050406030204" pitchFamily="18" charset="0"/>
                    <a:cs typeface="Cambria Math" panose="02040503050406030204" pitchFamily="18" charset="0"/>
                  </a:rPr>
                  <a:t>最终输出的行为也可能是不同的：</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𝑠</m:t>
                        </m:r>
                      </m:e>
                      <m:sub>
                        <m:r>
                          <a:rPr lang="en-US" altLang="zh-CN" i="1">
                            <a:latin typeface="Cambria Math" panose="02040503050406030204" pitchFamily="18" charset="0"/>
                            <a:cs typeface="Cambria Math" panose="02040503050406030204" pitchFamily="18" charset="0"/>
                            <a:sym typeface="+mn-ea"/>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𝜃</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𝑠</m:t>
                        </m:r>
                      </m:e>
                      <m:sub>
                        <m:r>
                          <a:rPr lang="en-US" altLang="zh-CN" i="1">
                            <a:latin typeface="Cambria Math" panose="02040503050406030204" pitchFamily="18" charset="0"/>
                            <a:cs typeface="Cambria Math" panose="02040503050406030204" pitchFamily="18" charset="0"/>
                            <a:sym typeface="+mn-ea"/>
                          </a:rPr>
                          <m:t>2</m:t>
                        </m:r>
                      </m:sub>
                    </m:sSub>
                    <m:r>
                      <a:rPr lang="en-US" altLang="zh-CN" i="1">
                        <a:latin typeface="Cambria Math" panose="02040503050406030204" pitchFamily="18" charset="0"/>
                        <a:cs typeface="Cambria Math" panose="02040503050406030204" pitchFamily="18" charset="0"/>
                      </a:rPr>
                      <m:t>)</m:t>
                    </m:r>
                  </m:oMath>
                </a14:m>
                <a:endParaRPr lang="en-US" altLang="zh-CN">
                  <a:solidFill>
                    <a:schemeClr val="tx1"/>
                  </a:solidFill>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294005" y="1233805"/>
                <a:ext cx="11340465" cy="432054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sym typeface="+mn-ea"/>
              </a:rPr>
              <a:t>Policy-based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custDataLst>
              <p:tags r:id="rId1"/>
            </p:custDataLst>
          </p:nvPr>
        </p:nvSpPr>
        <p:spPr>
          <a:xfrm>
            <a:off x="294005" y="1233805"/>
            <a:ext cx="11340465" cy="2749550"/>
          </a:xfrm>
          <a:prstGeom prst="rect">
            <a:avLst/>
          </a:prstGeom>
          <a:noFill/>
        </p:spPr>
        <p:txBody>
          <a:bodyPr wrap="square" rtlCol="0">
            <a:spAutoFit/>
          </a:bodyPr>
          <a:p>
            <a:r>
              <a:rPr lang="en-US" altLang="zh-CN">
                <a:solidFill>
                  <a:schemeClr val="accent1"/>
                </a:solidFill>
                <a:effectLst>
                  <a:outerShdw blurRad="38100" dist="25400" dir="5400000" algn="ctr" rotWithShape="0">
                    <a:srgbClr val="6E747A">
                      <a:alpha val="43000"/>
                    </a:srgbClr>
                  </a:outerShdw>
                </a:effectLst>
                <a:sym typeface="+mn-ea"/>
              </a:rPr>
              <a:t>Policy-based Method</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优点：</a:t>
            </a:r>
            <a:endParaRPr lang="zh-CN" altLang="en-US">
              <a:solidFill>
                <a:schemeClr val="tx1"/>
              </a:solidFill>
              <a:latin typeface="Cambria Math" panose="02040503050406030204" pitchFamily="18" charset="0"/>
              <a:cs typeface="Cambria Math" panose="02040503050406030204" pitchFamily="18" charset="0"/>
              <a:sym typeface="+mn-ea"/>
            </a:endParaRPr>
          </a:p>
          <a:p>
            <a:pPr>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a:solidFill>
                  <a:schemeClr val="tx1"/>
                </a:solidFill>
                <a:latin typeface="Cambria Math" panose="02040503050406030204" pitchFamily="18" charset="0"/>
                <a:cs typeface="Cambria Math" panose="02040503050406030204" pitchFamily="18" charset="0"/>
                <a:sym typeface="+mn-ea"/>
              </a:rPr>
              <a:t>1</a:t>
            </a:r>
            <a:r>
              <a:rPr lang="zh-CN" altLang="en-US">
                <a:solidFill>
                  <a:schemeClr val="tx1"/>
                </a:solidFill>
                <a:latin typeface="Cambria Math" panose="02040503050406030204" pitchFamily="18" charset="0"/>
                <a:cs typeface="Cambria Math" panose="02040503050406030204" pitchFamily="18" charset="0"/>
                <a:sym typeface="+mn-ea"/>
              </a:rPr>
              <a:t>）可以解决具有高维或连续的动作空间的问题</a:t>
            </a: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lnSpc>
                <a:spcPct val="3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a:solidFill>
                  <a:schemeClr val="tx1"/>
                </a:solidFill>
                <a:latin typeface="Cambria Math" panose="02040503050406030204" pitchFamily="18" charset="0"/>
                <a:cs typeface="Cambria Math" panose="02040503050406030204" pitchFamily="18" charset="0"/>
                <a:sym typeface="+mn-ea"/>
              </a:rPr>
              <a:t>2</a:t>
            </a:r>
            <a:r>
              <a:rPr lang="zh-CN" altLang="en-US">
                <a:solidFill>
                  <a:schemeClr val="tx1"/>
                </a:solidFill>
                <a:latin typeface="Cambria Math" panose="02040503050406030204" pitchFamily="18" charset="0"/>
                <a:cs typeface="Cambria Math" panose="02040503050406030204" pitchFamily="18" charset="0"/>
                <a:sym typeface="+mn-ea"/>
              </a:rPr>
              <a:t>）可以利用梯度信息引导连续的优化过程，可以保证更好的收敛性</a:t>
            </a: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lnSpc>
                <a:spcPct val="3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a:solidFill>
                  <a:schemeClr val="tx1"/>
                </a:solidFill>
                <a:latin typeface="Cambria Math" panose="02040503050406030204" pitchFamily="18" charset="0"/>
                <a:cs typeface="Cambria Math" panose="02040503050406030204" pitchFamily="18" charset="0"/>
                <a:sym typeface="+mn-ea"/>
              </a:rPr>
              <a:t>3</a:t>
            </a:r>
            <a:r>
              <a:rPr lang="zh-CN" altLang="en-US">
                <a:solidFill>
                  <a:schemeClr val="tx1"/>
                </a:solidFill>
                <a:latin typeface="Cambria Math" panose="02040503050406030204" pitchFamily="18" charset="0"/>
                <a:cs typeface="Cambria Math" panose="02040503050406030204" pitchFamily="18" charset="0"/>
                <a:sym typeface="+mn-ea"/>
              </a:rPr>
              <a:t>）可以自然地对随机策略建模，引入随机性</a:t>
            </a: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0">
              <a:buNone/>
            </a:pPr>
            <a:r>
              <a:rPr lang="en-US" altLang="zh-CN">
                <a:solidFill>
                  <a:schemeClr val="accent1"/>
                </a:solidFill>
                <a:effectLst>
                  <a:outerShdw blurRad="38100" dist="25400" dir="5400000" algn="ctr" rotWithShape="0">
                    <a:srgbClr val="6E747A">
                      <a:alpha val="43000"/>
                    </a:srgbClr>
                  </a:outerShdw>
                </a:effectLst>
                <a:sym typeface="+mn-ea"/>
              </a:rPr>
              <a:t>Policy-based Method</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缺点：</a:t>
            </a: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457200">
              <a:lnSpc>
                <a:spcPct val="50000"/>
              </a:lnSpc>
              <a:buNone/>
            </a:pP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457200">
              <a:buNone/>
            </a:pPr>
            <a:r>
              <a:rPr lang="en-US" altLang="zh-CN">
                <a:solidFill>
                  <a:schemeClr val="tx1"/>
                </a:solidFill>
                <a:latin typeface="Cambria Math" panose="02040503050406030204" pitchFamily="18" charset="0"/>
                <a:cs typeface="Cambria Math" panose="02040503050406030204" pitchFamily="18" charset="0"/>
                <a:sym typeface="+mn-ea"/>
              </a:rPr>
              <a:t>策略的更新时仅会在策略某一参数梯度上移动一点点，使得整个的学习比较平滑，因此不够高效。有时计算朝着梯度方向改变的增量也会有较高的方差，以至于拖累了整个算法速度</a:t>
            </a:r>
            <a:endParaRPr lang="zh-CN" altLang="en-US">
              <a:solidFill>
                <a:schemeClr val="tx1"/>
              </a:solidFill>
              <a:latin typeface="Cambria Math" panose="02040503050406030204" pitchFamily="18" charset="0"/>
              <a:cs typeface="Cambria Math" panose="02040503050406030204" pitchFamily="18" charset="0"/>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Value-based Method</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custDataLst>
                  <p:tags r:id="rId1"/>
                </p:custDataLst>
              </p:nvPr>
            </p:nvSpPr>
            <p:spPr>
              <a:xfrm>
                <a:off x="295275" y="1257300"/>
                <a:ext cx="11306175" cy="2239010"/>
              </a:xfrm>
              <a:prstGeom prst="rect">
                <a:avLst/>
              </a:prstGeom>
              <a:noFill/>
            </p:spPr>
            <p:txBody>
              <a:bodyPr wrap="square" rtlCol="0">
                <a:spAutoFit/>
              </a:bodyPr>
              <a:p>
                <a:pPr indent="457200"/>
                <a:r>
                  <a:rPr lang="zh-CN" altLang="en-US"/>
                  <a:t>基于</a:t>
                </a:r>
                <a:r>
                  <a:rPr lang="zh-CN" altLang="en-US">
                    <a:solidFill>
                      <a:schemeClr val="accent1"/>
                    </a:solidFill>
                    <a:effectLst>
                      <a:outerShdw blurRad="38100" dist="25400" dir="5400000" algn="ctr" rotWithShape="0">
                        <a:srgbClr val="6E747A">
                          <a:alpha val="43000"/>
                        </a:srgbClr>
                      </a:outerShdw>
                    </a:effectLst>
                  </a:rPr>
                  <a:t>价值</a:t>
                </a:r>
                <a:r>
                  <a:rPr lang="zh-CN" altLang="en-US"/>
                  <a:t>的方法，对于一个智能体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latin typeface="Cambria Math" panose="02040503050406030204" pitchFamily="18" charset="0"/>
                    <a:cs typeface="Cambria Math" panose="02040503050406030204" pitchFamily="18" charset="0"/>
                  </a:rPr>
                  <a:t>，训练一个价值评估器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rPr>
                  <a:t>，在智能体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latin typeface="Cambria Math" panose="02040503050406030204" pitchFamily="18" charset="0"/>
                    <a:cs typeface="Cambria Math" panose="02040503050406030204" pitchFamily="18" charset="0"/>
                  </a:rPr>
                  <a:t>观察到环境的状态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后，根据价值评估器可以预测从状态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到游戏结束所应得到的累计奖励期望值</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。当智能体不同时，尽管观察到的环境的状态均为</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，得到的</a:t>
                </a:r>
                <a:r>
                  <a:rPr lang="zh-CN" altLang="en-US">
                    <a:latin typeface="Cambria Math" panose="02040503050406030204" pitchFamily="18" charset="0"/>
                    <a:cs typeface="Cambria Math" panose="02040503050406030204" pitchFamily="18" charset="0"/>
                    <a:sym typeface="+mn-ea"/>
                  </a:rPr>
                  <a:t>累计奖励期望值也会不同：</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1</m:t>
                            </m:r>
                          </m:sub>
                        </m:sSub>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2</m:t>
                            </m:r>
                          </m:sub>
                        </m:sSub>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pPr indent="457200"/>
                <a:endParaRPr lang="zh-CN" altLang="en-US">
                  <a:solidFill>
                    <a:schemeClr val="tx1"/>
                  </a:solidFill>
                  <a:latin typeface="Cambria Math" panose="02040503050406030204" pitchFamily="18" charset="0"/>
                  <a:cs typeface="Cambria Math" panose="02040503050406030204" pitchFamily="18" charset="0"/>
                </a:endParaRPr>
              </a:p>
              <a:p>
                <a:pPr indent="457200"/>
                <a:r>
                  <a:rPr lang="zh-CN" altLang="en-US">
                    <a:solidFill>
                      <a:schemeClr val="tx1"/>
                    </a:solidFill>
                    <a:latin typeface="Cambria Math" panose="02040503050406030204" pitchFamily="18" charset="0"/>
                    <a:cs typeface="Cambria Math" panose="02040503050406030204" pitchFamily="18" charset="0"/>
                  </a:rPr>
                  <a:t>训练一个价值评估器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rPr>
                  <a:t>的方法主要有两种：</a:t>
                </a:r>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a:t>
                </a:r>
                <a:r>
                  <a:rPr lang="en-US" altLang="zh-CN">
                    <a:solidFill>
                      <a:schemeClr val="accent1"/>
                    </a:solidFill>
                    <a:effectLst>
                      <a:outerShdw blurRad="38100" dist="25400" dir="5400000" algn="ctr" rotWithShape="0">
                        <a:srgbClr val="6E747A">
                          <a:alpha val="43000"/>
                        </a:srgbClr>
                      </a:outerShdw>
                    </a:effectLst>
                  </a:rPr>
                  <a:t>Monte-Carlo(蒙特卡洛方法)  </a:t>
                </a:r>
                <a:endParaRPr lang="en-US" altLang="zh-CN">
                  <a:solidFill>
                    <a:schemeClr val="accent1"/>
                  </a:solidFill>
                  <a:effectLst>
                    <a:outerShdw blurRad="38100" dist="25400" dir="5400000" algn="ctr" rotWithShape="0">
                      <a:srgbClr val="6E747A">
                        <a:alpha val="43000"/>
                      </a:srgbClr>
                    </a:outerShdw>
                  </a:effectLst>
                </a:endParaRPr>
              </a:p>
              <a:p>
                <a:pPr indent="457200"/>
                <a:r>
                  <a:rPr lang="en-US" altLang="zh-CN" sz="1400"/>
                  <a:t>                                                                                                                      </a:t>
                </a:r>
                <a:r>
                  <a:rPr lang="zh-CN" altLang="en-US" sz="1400" b="1"/>
                  <a:t>把概率现象作为研究对象的数值模拟方法</a:t>
                </a:r>
                <a:r>
                  <a:rPr lang="en-US" altLang="zh-CN" sz="1400" b="1"/>
                  <a:t>,</a:t>
                </a:r>
                <a:r>
                  <a:rPr lang="zh-CN" altLang="en-US" sz="1400" b="1"/>
                  <a:t>按抽样调查法求取统计值来推</a:t>
                </a:r>
                <a:endParaRPr lang="zh-CN" altLang="en-US" sz="1400" b="1"/>
              </a:p>
              <a:p>
                <a:pPr indent="457200"/>
                <a:r>
                  <a:rPr lang="zh-CN" altLang="en-US" sz="1400" b="1"/>
                  <a:t> </a:t>
                </a:r>
                <a:r>
                  <a:rPr lang="en-US" altLang="zh-CN" sz="1400" b="1"/>
                  <a:t>                                                                                                                     </a:t>
                </a:r>
                <a:r>
                  <a:rPr lang="zh-CN" altLang="en-US" sz="1400" b="1"/>
                  <a:t>定未知特性量的计算方法</a:t>
                </a:r>
                <a:endParaRPr lang="zh-CN" altLang="en-US" sz="1400" b="1"/>
              </a:p>
              <a:p>
                <a:pPr indent="457200">
                  <a:lnSpc>
                    <a:spcPct val="20000"/>
                  </a:lnSpc>
                </a:pPr>
                <a:endParaRPr lang="en-US" altLang="zh-CN">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2</a:t>
                </a:r>
                <a:r>
                  <a:rPr lang="zh-CN" altLang="en-US">
                    <a:latin typeface="Cambria Math" panose="02040503050406030204" pitchFamily="18" charset="0"/>
                    <a:cs typeface="Cambria Math" panose="02040503050406030204" pitchFamily="18" charset="0"/>
                  </a:rPr>
                  <a:t>）</a:t>
                </a:r>
                <a:r>
                  <a:rPr lang="en-US" altLang="zh-CN">
                    <a:solidFill>
                      <a:schemeClr val="accent1"/>
                    </a:solidFill>
                    <a:effectLst>
                      <a:outerShdw blurRad="38100" dist="25400" dir="5400000" algn="ctr" rotWithShape="0">
                        <a:srgbClr val="6E747A">
                          <a:alpha val="43000"/>
                        </a:srgbClr>
                      </a:outerShdw>
                    </a:effectLst>
                  </a:rPr>
                  <a:t>Temporal-difference(时间差分方法)</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custDataLst>
                  <p:tags r:id="rId2"/>
                </p:custDataLst>
              </p:nvPr>
            </p:nvSpPr>
            <p:spPr>
              <a:xfrm>
                <a:off x="295275" y="1257300"/>
                <a:ext cx="11306175" cy="223901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01625" y="3379470"/>
                <a:ext cx="11381740" cy="645160"/>
              </a:xfrm>
              <a:prstGeom prst="rect">
                <a:avLst/>
              </a:prstGeom>
              <a:noFill/>
            </p:spPr>
            <p:txBody>
              <a:bodyPr wrap="square" rtlCol="0">
                <a:spAutoFit/>
              </a:bodyPr>
              <a:p>
                <a:r>
                  <a:rPr lang="en-US" altLang="zh-CN">
                    <a:solidFill>
                      <a:schemeClr val="accent1"/>
                    </a:solidFill>
                    <a:effectLst>
                      <a:outerShdw blurRad="38100" dist="25400" dir="5400000" algn="ctr" rotWithShape="0">
                        <a:srgbClr val="6E747A">
                          <a:alpha val="43000"/>
                        </a:srgbClr>
                      </a:outerShdw>
                    </a:effectLst>
                  </a:rPr>
                  <a:t>Monte-Carlo</a:t>
                </a:r>
                <a:r>
                  <a:rPr lang="zh-CN" altLang="en-US"/>
                  <a:t>：让</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oMath>
                </a14:m>
                <a:r>
                  <a:rPr lang="zh-CN" altLang="en-US"/>
                  <a:t>去观察智能体进行游戏，当智能体在观察到环境的状态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sym typeface="+mn-ea"/>
                  </a:rPr>
                  <a:t>后</a:t>
                </a:r>
                <a:r>
                  <a:rPr lang="zh-CN" altLang="en-US"/>
                  <a:t>，到最终游戏结束其得到的累计奖励为</a:t>
                </a:r>
                <a14:m>
                  <m:oMath xmlns:m="http://schemas.openxmlformats.org/officeDocument/2006/math">
                    <m:r>
                      <a:rPr lang="en-US" altLang="zh-CN" i="1">
                        <a:latin typeface="Cambria Math" panose="02040503050406030204" pitchFamily="18" charset="0"/>
                        <a:cs typeface="Cambria Math" panose="02040503050406030204" pitchFamily="18" charset="0"/>
                      </a:rPr>
                      <m:t>𝐺</m:t>
                    </m:r>
                  </m:oMath>
                </a14:m>
                <a:r>
                  <a:rPr lang="zh-CN" altLang="en-US"/>
                  <a:t>，那么就训练价值评估器让其在输入状态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t>时预测出输出</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𝐺</m:t>
                    </m:r>
                  </m:oMath>
                </a14:m>
                <a:r>
                  <a:rPr lang="zh-CN" altLang="en-US"/>
                  <a:t>，这是一个回归问题</a:t>
                </a:r>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301625" y="3379470"/>
                <a:ext cx="11381740" cy="64516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3571240" y="4337685"/>
                <a:ext cx="2718435" cy="234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p>
                        <m:sSupPr>
                          <m:ctrlPr>
                            <a:rPr lang="en-US" altLang="zh-CN" sz="6600" b="1" i="1">
                              <a:latin typeface="Cambria Math" panose="02040503050406030204" pitchFamily="18" charset="0"/>
                              <a:cs typeface="Cambria Math" panose="02040503050406030204" pitchFamily="18" charset="0"/>
                            </a:rPr>
                          </m:ctrlPr>
                        </m:sSupPr>
                        <m:e>
                          <m:r>
                            <a:rPr lang="en-US" altLang="zh-CN" sz="6600" b="1" i="1">
                              <a:latin typeface="Cambria Math" panose="02040503050406030204" pitchFamily="18" charset="0"/>
                              <a:cs typeface="Cambria Math" panose="02040503050406030204" pitchFamily="18" charset="0"/>
                            </a:rPr>
                            <m:t>𝑽</m:t>
                          </m:r>
                        </m:e>
                        <m:sup>
                          <m:r>
                            <a:rPr lang="en-US" altLang="zh-CN" sz="6600" b="1" i="1">
                              <a:latin typeface="Cambria Math" panose="02040503050406030204" pitchFamily="18" charset="0"/>
                              <a:cs typeface="Cambria Math" panose="02040503050406030204" pitchFamily="18" charset="0"/>
                            </a:rPr>
                            <m:t>𝝅</m:t>
                          </m:r>
                        </m:sup>
                      </m:sSup>
                    </m:oMath>
                  </m:oMathPara>
                </a14:m>
                <a:endParaRPr lang="en-US" altLang="zh-CN" sz="6600" b="1" i="1">
                  <a:latin typeface="Cambria Math" panose="02040503050406030204" pitchFamily="18" charset="0"/>
                  <a:cs typeface="Cambria Math" panose="020405030504060302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3571240" y="4337685"/>
                <a:ext cx="2718435" cy="2349500"/>
              </a:xfrm>
              <a:prstGeom prst="rect">
                <a:avLst/>
              </a:prstGeom>
              <a:blipFill rotWithShape="1">
                <a:blip r:embed="rId5"/>
                <a:stretch>
                  <a:fillRect l="-234" t="-270" r="-234" b="-27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p:cNvSpPr/>
              <p:nvPr/>
            </p:nvSpPr>
            <p:spPr>
              <a:xfrm>
                <a:off x="1292860" y="4492625"/>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𝑎</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8" name="椭圆 7"/>
              <p:cNvSpPr>
                <a:spLocks noRot="1" noChangeAspect="1" noMove="1" noResize="1" noEditPoints="1" noAdjustHandles="1" noChangeArrowheads="1" noChangeShapeType="1" noTextEdit="1"/>
              </p:cNvSpPr>
              <p:nvPr/>
            </p:nvSpPr>
            <p:spPr>
              <a:xfrm>
                <a:off x="1292860" y="4492625"/>
                <a:ext cx="720000" cy="720000"/>
              </a:xfrm>
              <a:prstGeom prst="ellipse">
                <a:avLst/>
              </a:prstGeom>
              <a:blipFill rotWithShape="1">
                <a:blip r:embed="rId6"/>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椭圆 8"/>
              <p:cNvSpPr/>
              <p:nvPr>
                <p:custDataLst>
                  <p:tags r:id="rId7"/>
                </p:custDataLst>
              </p:nvPr>
            </p:nvSpPr>
            <p:spPr>
              <a:xfrm>
                <a:off x="1292860" y="5697220"/>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𝑏</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9" name="椭圆 8"/>
              <p:cNvSpPr>
                <a:spLocks noRot="1" noChangeAspect="1" noMove="1" noResize="1" noEditPoints="1" noAdjustHandles="1" noChangeArrowheads="1" noChangeShapeType="1" noTextEdit="1"/>
              </p:cNvSpPr>
              <p:nvPr>
                <p:custDataLst>
                  <p:tags r:id="rId8"/>
                </p:custDataLst>
              </p:nvPr>
            </p:nvSpPr>
            <p:spPr>
              <a:xfrm>
                <a:off x="1292860" y="5697220"/>
                <a:ext cx="720000" cy="720000"/>
              </a:xfrm>
              <a:prstGeom prst="ellipse">
                <a:avLst/>
              </a:prstGeom>
              <a:blipFill rotWithShape="1">
                <a:blip r:embed="rId9"/>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0" name="直接箭头连接符 9"/>
          <p:cNvCxnSpPr>
            <a:stCxn id="8" idx="6"/>
          </p:cNvCxnSpPr>
          <p:nvPr/>
        </p:nvCxnSpPr>
        <p:spPr>
          <a:xfrm>
            <a:off x="2012950" y="4852670"/>
            <a:ext cx="1522730" cy="381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custDataLst>
              <p:tags r:id="rId10"/>
            </p:custDataLst>
          </p:nvPr>
        </p:nvCxnSpPr>
        <p:spPr>
          <a:xfrm>
            <a:off x="2015490" y="6055360"/>
            <a:ext cx="1522730" cy="381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11"/>
            </p:custDataLst>
          </p:nvPr>
        </p:nvCxnSpPr>
        <p:spPr>
          <a:xfrm>
            <a:off x="6294120" y="4856480"/>
            <a:ext cx="1522730" cy="381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12"/>
            </p:custDataLst>
          </p:nvPr>
        </p:nvCxnSpPr>
        <p:spPr>
          <a:xfrm>
            <a:off x="6289675" y="6051550"/>
            <a:ext cx="1522730" cy="381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文本框 13"/>
              <p:cNvSpPr txBox="1"/>
              <p:nvPr/>
            </p:nvSpPr>
            <p:spPr>
              <a:xfrm>
                <a:off x="7847965" y="4591685"/>
                <a:ext cx="1179195"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𝑎</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7847965" y="4591685"/>
                <a:ext cx="1179195" cy="521970"/>
              </a:xfrm>
              <a:prstGeom prst="rect">
                <a:avLst/>
              </a:prstGeom>
              <a:blipFill rotWithShape="1">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custDataLst>
                  <p:tags r:id="rId14"/>
                </p:custDataLst>
              </p:nvPr>
            </p:nvSpPr>
            <p:spPr>
              <a:xfrm>
                <a:off x="7847965" y="5796280"/>
                <a:ext cx="1179195"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𝑏</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5" name="文本框 14"/>
              <p:cNvSpPr txBox="1">
                <a:spLocks noRot="1" noChangeAspect="1" noMove="1" noResize="1" noEditPoints="1" noAdjustHandles="1" noChangeArrowheads="1" noChangeShapeType="1" noTextEdit="1"/>
              </p:cNvSpPr>
              <p:nvPr>
                <p:custDataLst>
                  <p:tags r:id="rId15"/>
                </p:custDataLst>
              </p:nvPr>
            </p:nvSpPr>
            <p:spPr>
              <a:xfrm>
                <a:off x="7847965" y="5796280"/>
                <a:ext cx="1179195" cy="521970"/>
              </a:xfrm>
              <a:prstGeom prst="rect">
                <a:avLst/>
              </a:prstGeom>
              <a:blipFill rotWithShape="1">
                <a:blip r:embed="rId16"/>
                <a:stretch>
                  <a:fillRect/>
                </a:stretch>
              </a:blipFill>
            </p:spPr>
            <p:txBody>
              <a:bodyPr/>
              <a:lstStyle/>
              <a:p>
                <a:r>
                  <a:rPr lang="zh-CN" altLang="en-US">
                    <a:noFill/>
                  </a:rPr>
                  <a:t> </a:t>
                </a:r>
              </a:p>
            </p:txBody>
          </p:sp>
        </mc:Fallback>
      </mc:AlternateContent>
      <p:sp>
        <p:nvSpPr>
          <p:cNvPr id="16" name="左右箭头 15"/>
          <p:cNvSpPr/>
          <p:nvPr/>
        </p:nvSpPr>
        <p:spPr>
          <a:xfrm>
            <a:off x="9143365" y="4660900"/>
            <a:ext cx="881380" cy="3835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左右箭头 16"/>
          <p:cNvSpPr/>
          <p:nvPr>
            <p:custDataLst>
              <p:tags r:id="rId17"/>
            </p:custDataLst>
          </p:nvPr>
        </p:nvSpPr>
        <p:spPr>
          <a:xfrm>
            <a:off x="9143365" y="5861685"/>
            <a:ext cx="881380" cy="3835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8" name="文本框 17"/>
              <p:cNvSpPr txBox="1"/>
              <p:nvPr/>
            </p:nvSpPr>
            <p:spPr>
              <a:xfrm>
                <a:off x="10294556" y="4591939"/>
                <a:ext cx="579755" cy="5219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𝐺</m:t>
                          </m:r>
                        </m:e>
                        <m:sub>
                          <m:r>
                            <a:rPr lang="en-US" altLang="zh-CN" sz="2800" i="1">
                              <a:latin typeface="Cambria Math" panose="02040503050406030204" pitchFamily="18" charset="0"/>
                              <a:cs typeface="Cambria Math" panose="02040503050406030204" pitchFamily="18" charset="0"/>
                            </a:rPr>
                            <m:t>𝑎</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10294556" y="4591939"/>
                <a:ext cx="579755" cy="521970"/>
              </a:xfrm>
              <a:prstGeom prst="rect">
                <a:avLst/>
              </a:prstGeom>
              <a:blipFill rotWithShape="1">
                <a:blip r:embed="rId18"/>
                <a:stretch>
                  <a:fillRect l="-98" t="-49" r="-1216"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custDataLst>
                  <p:tags r:id="rId19"/>
                </p:custDataLst>
              </p:nvPr>
            </p:nvSpPr>
            <p:spPr>
              <a:xfrm>
                <a:off x="10294556" y="5796534"/>
                <a:ext cx="612775" cy="5219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𝐺</m:t>
                          </m:r>
                        </m:e>
                        <m:sub>
                          <m:r>
                            <a:rPr lang="en-US" altLang="zh-CN" sz="2800" i="1">
                              <a:latin typeface="Cambria Math" panose="02040503050406030204" pitchFamily="18" charset="0"/>
                              <a:cs typeface="Cambria Math" panose="02040503050406030204" pitchFamily="18" charset="0"/>
                            </a:rPr>
                            <m:t>𝑏</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9" name="文本框 18"/>
              <p:cNvSpPr txBox="1">
                <a:spLocks noRot="1" noChangeAspect="1" noMove="1" noResize="1" noEditPoints="1" noAdjustHandles="1" noChangeArrowheads="1" noChangeShapeType="1" noTextEdit="1"/>
              </p:cNvSpPr>
              <p:nvPr>
                <p:custDataLst>
                  <p:tags r:id="rId20"/>
                </p:custDataLst>
              </p:nvPr>
            </p:nvSpPr>
            <p:spPr>
              <a:xfrm>
                <a:off x="10294556" y="5796534"/>
                <a:ext cx="612775" cy="521970"/>
              </a:xfrm>
              <a:prstGeom prst="rect">
                <a:avLst/>
              </a:prstGeom>
              <a:blipFill rotWithShape="1">
                <a:blip r:embed="rId21"/>
                <a:stretch>
                  <a:fillRect l="-93" t="-49" r="93" b="4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419735" y="1195070"/>
                <a:ext cx="11080115" cy="922020"/>
              </a:xfrm>
              <a:prstGeom prst="rect">
                <a:avLst/>
              </a:prstGeom>
              <a:noFill/>
            </p:spPr>
            <p:txBody>
              <a:bodyPr wrap="square" rtlCol="0" anchor="t">
                <a:spAutoFit/>
              </a:bodyPr>
              <a:p>
                <a:r>
                  <a:rPr lang="en-US" altLang="zh-CN">
                    <a:solidFill>
                      <a:schemeClr val="accent1"/>
                    </a:solidFill>
                    <a:effectLst>
                      <a:outerShdw blurRad="38100" dist="25400" dir="5400000" algn="ctr" rotWithShape="0">
                        <a:srgbClr val="6E747A">
                          <a:alpha val="43000"/>
                        </a:srgbClr>
                      </a:outerShdw>
                    </a:effectLst>
                    <a:sym typeface="+mn-ea"/>
                  </a:rPr>
                  <a:t>Temporal-difference</a:t>
                </a:r>
                <a:r>
                  <a:rPr lang="zh-CN" altLang="en-US">
                    <a:latin typeface="Cambria Math" panose="02040503050406030204" pitchFamily="18" charset="0"/>
                    <a:cs typeface="Cambria Math" panose="02040503050406030204" pitchFamily="18" charset="0"/>
                    <a:sym typeface="+mn-ea"/>
                  </a:rPr>
                  <a:t>：</a:t>
                </a:r>
                <a:r>
                  <a:rPr lang="en-US" altLang="zh-CN">
                    <a:solidFill>
                      <a:schemeClr val="accent1"/>
                    </a:solidFill>
                    <a:effectLst>
                      <a:outerShdw blurRad="38100" dist="25400" dir="5400000" algn="ctr" rotWithShape="0">
                        <a:srgbClr val="6E747A">
                          <a:alpha val="43000"/>
                        </a:srgbClr>
                      </a:outerShdw>
                    </a:effectLst>
                    <a:sym typeface="+mn-ea"/>
                  </a:rPr>
                  <a:t>Monte-Carlo</a:t>
                </a:r>
                <a:r>
                  <a:rPr lang="zh-CN" altLang="en-US">
                    <a:latin typeface="Cambria Math" panose="02040503050406030204" pitchFamily="18" charset="0"/>
                    <a:cs typeface="Cambria Math" panose="02040503050406030204" pitchFamily="18" charset="0"/>
                    <a:sym typeface="+mn-ea"/>
                  </a:rPr>
                  <a:t>方法存在着一定的弊端，在训练价值评估器时，需要一直等到游戏结束才能获得累计奖励期望值对评估器进行训练，而</a:t>
                </a:r>
                <a:r>
                  <a:rPr lang="en-US" altLang="zh-CN">
                    <a:solidFill>
                      <a:schemeClr val="accent1"/>
                    </a:solidFill>
                    <a:effectLst>
                      <a:outerShdw blurRad="38100" dist="25400" dir="5400000" algn="ctr" rotWithShape="0">
                        <a:srgbClr val="6E747A">
                          <a:alpha val="43000"/>
                        </a:srgbClr>
                      </a:outerShdw>
                    </a:effectLst>
                    <a:sym typeface="+mn-ea"/>
                  </a:rPr>
                  <a:t>Temporal-difference</a:t>
                </a:r>
                <a:r>
                  <a:rPr lang="zh-CN" altLang="en-US">
                    <a:latin typeface="Cambria Math" panose="02040503050406030204" pitchFamily="18" charset="0"/>
                    <a:cs typeface="Cambria Math" panose="02040503050406030204" pitchFamily="18" charset="0"/>
                    <a:sym typeface="+mn-ea"/>
                  </a:rPr>
                  <a:t>方法在训练价值评估器的过程中，只需知道时刻</a:t>
                </a:r>
                <a14:m>
                  <m:oMath xmlns:m="http://schemas.openxmlformats.org/officeDocument/2006/math">
                    <m:r>
                      <m:rPr>
                        <m:sty m:val="p"/>
                      </m:rPr>
                      <a:rPr lang="en-US" altLang="zh-CN">
                        <a:latin typeface="Cambria Math" panose="02040503050406030204" pitchFamily="18" charset="0"/>
                        <a:cs typeface="Cambria Math" panose="02040503050406030204" pitchFamily="18" charset="0"/>
                        <a:sym typeface="+mn-ea"/>
                      </a:rPr>
                      <m:t>t</m:t>
                    </m:r>
                  </m:oMath>
                </a14:m>
                <a:r>
                  <a:rPr lang="zh-CN" altLang="en-US">
                    <a:latin typeface="Cambria Math" panose="02040503050406030204" pitchFamily="18" charset="0"/>
                    <a:cs typeface="Cambria Math" panose="02040503050406030204" pitchFamily="18" charset="0"/>
                    <a:sym typeface="+mn-ea"/>
                  </a:rPr>
                  <a:t>所对应的奖励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𝑡</m:t>
                        </m:r>
                      </m:sub>
                    </m:sSub>
                  </m:oMath>
                </a14:m>
                <a:r>
                  <a:rPr lang="zh-CN" altLang="en-US">
                    <a:latin typeface="Cambria Math" panose="02040503050406030204" pitchFamily="18" charset="0"/>
                    <a:cs typeface="Cambria Math" panose="02040503050406030204" pitchFamily="18" charset="0"/>
                    <a:sym typeface="+mn-ea"/>
                  </a:rPr>
                  <a:t>即可</a:t>
                </a:r>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419735" y="1195070"/>
                <a:ext cx="11080115" cy="92202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496945" y="2373630"/>
                <a:ext cx="4898390" cy="368300"/>
              </a:xfrm>
              <a:prstGeom prst="rect">
                <a:avLst/>
              </a:prstGeom>
              <a:noFill/>
            </p:spPr>
            <p:txBody>
              <a:bodyPr wrap="square" rtlCol="0">
                <a:spAutoFit/>
              </a:bodyPr>
              <a:p>
                <a:r>
                  <a:rPr lang="zh-CN" altLang="en-US"/>
                  <a:t>得到连续两个时刻的信息：</a:t>
                </a:r>
                <a14:m>
                  <m:oMath xmlns:m="http://schemas.openxmlformats.org/officeDocument/2006/math">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𝑟</m:t>
                        </m:r>
                      </m:e>
                      <m:sub>
                        <m:r>
                          <a:rPr lang="en-US" altLang="zh-CN" i="1">
                            <a:latin typeface="Cambria Math" panose="02040503050406030204" pitchFamily="18" charset="0"/>
                            <a:cs typeface="Cambria Math" panose="02040503050406030204" pitchFamily="18" charset="0"/>
                          </a:rPr>
                          <m:t>𝑡</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𝑠</m:t>
                        </m:r>
                      </m:e>
                      <m:sub>
                        <m:r>
                          <a:rPr lang="en-US" altLang="zh-CN" i="1">
                            <a:latin typeface="Cambria Math" panose="02040503050406030204" pitchFamily="18" charset="0"/>
                            <a:cs typeface="Cambria Math" panose="02040503050406030204" pitchFamily="18" charset="0"/>
                          </a:rPr>
                          <m:t>𝑡</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oMath>
                </a14:m>
                <a:endParaRPr lang="en-US" altLang="zh-CN"/>
              </a:p>
            </p:txBody>
          </p:sp>
        </mc:Choice>
        <mc:Fallback>
          <p:sp>
            <p:nvSpPr>
              <p:cNvPr id="6" name="文本框 5"/>
              <p:cNvSpPr txBox="1">
                <a:spLocks noRot="1" noChangeAspect="1" noMove="1" noResize="1" noEditPoints="1" noAdjustHandles="1" noChangeArrowheads="1" noChangeShapeType="1" noTextEdit="1"/>
              </p:cNvSpPr>
              <p:nvPr/>
            </p:nvSpPr>
            <p:spPr>
              <a:xfrm>
                <a:off x="3496945" y="2373630"/>
                <a:ext cx="48983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custDataLst>
                  <p:tags r:id="rId3"/>
                </p:custDataLst>
              </p:nvPr>
            </p:nvSpPr>
            <p:spPr>
              <a:xfrm>
                <a:off x="1532890" y="3223260"/>
                <a:ext cx="2718435" cy="234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p>
                        <m:sSupPr>
                          <m:ctrlPr>
                            <a:rPr lang="en-US" altLang="zh-CN" sz="6600" b="1" i="1">
                              <a:latin typeface="Cambria Math" panose="02040503050406030204" pitchFamily="18" charset="0"/>
                              <a:cs typeface="Cambria Math" panose="02040503050406030204" pitchFamily="18" charset="0"/>
                            </a:rPr>
                          </m:ctrlPr>
                        </m:sSupPr>
                        <m:e>
                          <m:r>
                            <a:rPr lang="en-US" altLang="zh-CN" sz="6600" b="1" i="1">
                              <a:latin typeface="Cambria Math" panose="02040503050406030204" pitchFamily="18" charset="0"/>
                              <a:cs typeface="Cambria Math" panose="02040503050406030204" pitchFamily="18" charset="0"/>
                            </a:rPr>
                            <m:t>𝑽</m:t>
                          </m:r>
                        </m:e>
                        <m:sup>
                          <m:r>
                            <a:rPr lang="en-US" altLang="zh-CN" sz="6600" b="1" i="1">
                              <a:latin typeface="Cambria Math" panose="02040503050406030204" pitchFamily="18" charset="0"/>
                              <a:cs typeface="Cambria Math" panose="02040503050406030204" pitchFamily="18" charset="0"/>
                            </a:rPr>
                            <m:t>𝝅</m:t>
                          </m:r>
                        </m:sup>
                      </m:sSup>
                    </m:oMath>
                  </m:oMathPara>
                </a14:m>
                <a:endParaRPr lang="en-US" altLang="zh-CN" sz="6600" b="1" i="1">
                  <a:latin typeface="Cambria Math" panose="02040503050406030204" pitchFamily="18" charset="0"/>
                  <a:cs typeface="Cambria Math" panose="02040503050406030204" pitchFamily="18" charset="0"/>
                </a:endParaRPr>
              </a:p>
            </p:txBody>
          </p:sp>
        </mc:Choice>
        <mc:Fallback>
          <p:sp>
            <p:nvSpPr>
              <p:cNvPr id="8" name="矩形 7"/>
              <p:cNvSpPr>
                <a:spLocks noRot="1" noChangeAspect="1" noMove="1" noResize="1" noEditPoints="1" noAdjustHandles="1" noChangeArrowheads="1" noChangeShapeType="1" noTextEdit="1"/>
              </p:cNvSpPr>
              <p:nvPr>
                <p:custDataLst>
                  <p:tags r:id="rId4"/>
                </p:custDataLst>
              </p:nvPr>
            </p:nvSpPr>
            <p:spPr>
              <a:xfrm>
                <a:off x="1532890" y="3223260"/>
                <a:ext cx="2718435" cy="2349500"/>
              </a:xfrm>
              <a:prstGeom prst="rect">
                <a:avLst/>
              </a:prstGeom>
              <a:blipFill rotWithShape="1">
                <a:blip r:embed="rId5"/>
                <a:stretch>
                  <a:fillRect l="-234" t="-270" r="-234" b="-27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椭圆 8"/>
              <p:cNvSpPr/>
              <p:nvPr>
                <p:custDataLst>
                  <p:tags r:id="rId6"/>
                </p:custDataLst>
              </p:nvPr>
            </p:nvSpPr>
            <p:spPr>
              <a:xfrm>
                <a:off x="180340" y="3378200"/>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𝑠</m:t>
                          </m:r>
                        </m:e>
                        <m:sub>
                          <m:r>
                            <a:rPr lang="en-US" altLang="zh-CN" sz="2000" i="1">
                              <a:latin typeface="Cambria Math" panose="02040503050406030204" pitchFamily="18" charset="0"/>
                              <a:cs typeface="Cambria Math" panose="02040503050406030204" pitchFamily="18" charset="0"/>
                            </a:rPr>
                            <m:t>𝑡</m:t>
                          </m:r>
                        </m:sub>
                      </m:sSub>
                    </m:oMath>
                  </m:oMathPara>
                </a14:m>
                <a:endParaRPr lang="en-US" altLang="zh-CN" sz="2000" i="1">
                  <a:latin typeface="Cambria Math" panose="02040503050406030204" pitchFamily="18" charset="0"/>
                  <a:cs typeface="Cambria Math" panose="02040503050406030204" pitchFamily="18" charset="0"/>
                </a:endParaRPr>
              </a:p>
            </p:txBody>
          </p:sp>
        </mc:Choice>
        <mc:Fallback>
          <p:sp>
            <p:nvSpPr>
              <p:cNvPr id="9" name="椭圆 8"/>
              <p:cNvSpPr>
                <a:spLocks noRot="1" noChangeAspect="1" noMove="1" noResize="1" noEditPoints="1" noAdjustHandles="1" noChangeArrowheads="1" noChangeShapeType="1" noTextEdit="1"/>
              </p:cNvSpPr>
              <p:nvPr>
                <p:custDataLst>
                  <p:tags r:id="rId7"/>
                </p:custDataLst>
              </p:nvPr>
            </p:nvSpPr>
            <p:spPr>
              <a:xfrm>
                <a:off x="180340" y="3378200"/>
                <a:ext cx="720000" cy="720000"/>
              </a:xfrm>
              <a:prstGeom prst="ellipse">
                <a:avLst/>
              </a:prstGeom>
              <a:blipFill rotWithShape="1">
                <a:blip r:embed="rId8"/>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椭圆 9"/>
              <p:cNvSpPr/>
              <p:nvPr>
                <p:custDataLst>
                  <p:tags r:id="rId9"/>
                </p:custDataLst>
              </p:nvPr>
            </p:nvSpPr>
            <p:spPr>
              <a:xfrm>
                <a:off x="180340" y="4582795"/>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𝑠</m:t>
                          </m:r>
                        </m:e>
                        <m:sub>
                          <m:r>
                            <a:rPr lang="en-US" altLang="zh-CN" sz="2000" i="1">
                              <a:latin typeface="Cambria Math" panose="02040503050406030204" pitchFamily="18" charset="0"/>
                              <a:cs typeface="Cambria Math" panose="02040503050406030204" pitchFamily="18" charset="0"/>
                            </a:rPr>
                            <m:t>𝑡</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m:t>
                          </m:r>
                        </m:sub>
                      </m:sSub>
                    </m:oMath>
                  </m:oMathPara>
                </a14:m>
                <a:endParaRPr lang="en-US" altLang="zh-CN" sz="2000" i="1">
                  <a:latin typeface="Cambria Math" panose="02040503050406030204" pitchFamily="18" charset="0"/>
                  <a:cs typeface="Cambria Math" panose="02040503050406030204" pitchFamily="18" charset="0"/>
                </a:endParaRPr>
              </a:p>
            </p:txBody>
          </p:sp>
        </mc:Choice>
        <mc:Fallback>
          <p:sp>
            <p:nvSpPr>
              <p:cNvPr id="10" name="椭圆 9"/>
              <p:cNvSpPr>
                <a:spLocks noRot="1" noChangeAspect="1" noMove="1" noResize="1" noEditPoints="1" noAdjustHandles="1" noChangeArrowheads="1" noChangeShapeType="1" noTextEdit="1"/>
              </p:cNvSpPr>
              <p:nvPr>
                <p:custDataLst>
                  <p:tags r:id="rId10"/>
                </p:custDataLst>
              </p:nvPr>
            </p:nvSpPr>
            <p:spPr>
              <a:xfrm>
                <a:off x="180340" y="4582795"/>
                <a:ext cx="720000" cy="720000"/>
              </a:xfrm>
              <a:prstGeom prst="ellipse">
                <a:avLst/>
              </a:prstGeom>
              <a:blipFill rotWithShape="1">
                <a:blip r:embed="rId11"/>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1" name="直接箭头连接符 10"/>
          <p:cNvCxnSpPr>
            <a:stCxn id="9" idx="6"/>
          </p:cNvCxnSpPr>
          <p:nvPr>
            <p:custDataLst>
              <p:tags r:id="rId12"/>
            </p:custDataLst>
          </p:nvPr>
        </p:nvCxnSpPr>
        <p:spPr>
          <a:xfrm>
            <a:off x="900430" y="3738245"/>
            <a:ext cx="632460" cy="635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13"/>
            </p:custDataLst>
          </p:nvPr>
        </p:nvCxnSpPr>
        <p:spPr>
          <a:xfrm flipV="1">
            <a:off x="902970" y="4933315"/>
            <a:ext cx="620395" cy="762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14"/>
            </p:custDataLst>
          </p:nvPr>
        </p:nvCxnSpPr>
        <p:spPr>
          <a:xfrm>
            <a:off x="4251325" y="3745865"/>
            <a:ext cx="617220" cy="8255"/>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custDataLst>
              <p:tags r:id="rId15"/>
            </p:custDataLst>
          </p:nvPr>
        </p:nvCxnSpPr>
        <p:spPr>
          <a:xfrm flipV="1">
            <a:off x="4251325" y="4923790"/>
            <a:ext cx="578485" cy="5715"/>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5" name="文本框 14"/>
              <p:cNvSpPr txBox="1"/>
              <p:nvPr>
                <p:custDataLst>
                  <p:tags r:id="rId16"/>
                </p:custDataLst>
              </p:nvPr>
            </p:nvSpPr>
            <p:spPr>
              <a:xfrm>
                <a:off x="4940300" y="3477260"/>
                <a:ext cx="1179195"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𝑡</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5" name="文本框 14"/>
              <p:cNvSpPr txBox="1">
                <a:spLocks noRot="1" noChangeAspect="1" noMove="1" noResize="1" noEditPoints="1" noAdjustHandles="1" noChangeArrowheads="1" noChangeShapeType="1" noTextEdit="1"/>
              </p:cNvSpPr>
              <p:nvPr>
                <p:custDataLst>
                  <p:tags r:id="rId17"/>
                </p:custDataLst>
              </p:nvPr>
            </p:nvSpPr>
            <p:spPr>
              <a:xfrm>
                <a:off x="4940300" y="3477260"/>
                <a:ext cx="1179195" cy="521970"/>
              </a:xfrm>
              <a:prstGeom prst="rect">
                <a:avLst/>
              </a:prstGeom>
              <a:blipFill rotWithShape="1">
                <a:blip r:embed="rId1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custDataLst>
                  <p:tags r:id="rId19"/>
                </p:custDataLst>
              </p:nvPr>
            </p:nvSpPr>
            <p:spPr>
              <a:xfrm>
                <a:off x="4940300" y="4681855"/>
                <a:ext cx="1179195"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𝑡</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6" name="文本框 15"/>
              <p:cNvSpPr txBox="1">
                <a:spLocks noRot="1" noChangeAspect="1" noMove="1" noResize="1" noEditPoints="1" noAdjustHandles="1" noChangeArrowheads="1" noChangeShapeType="1" noTextEdit="1"/>
              </p:cNvSpPr>
              <p:nvPr>
                <p:custDataLst>
                  <p:tags r:id="rId20"/>
                </p:custDataLst>
              </p:nvPr>
            </p:nvSpPr>
            <p:spPr>
              <a:xfrm>
                <a:off x="4940300" y="4681855"/>
                <a:ext cx="1179195" cy="521970"/>
              </a:xfrm>
              <a:prstGeom prst="rect">
                <a:avLst/>
              </a:prstGeom>
              <a:blipFill rotWithShape="1">
                <a:blip r:embed="rId21"/>
                <a:stretch>
                  <a:fillRect r="-19709"/>
                </a:stretch>
              </a:blipFill>
            </p:spPr>
            <p:txBody>
              <a:bodyPr/>
              <a:lstStyle/>
              <a:p>
                <a:r>
                  <a:rPr lang="zh-CN" altLang="en-US">
                    <a:noFill/>
                  </a:rPr>
                  <a:t> </a:t>
                </a:r>
              </a:p>
            </p:txBody>
          </p:sp>
        </mc:Fallback>
      </mc:AlternateContent>
      <p:cxnSp>
        <p:nvCxnSpPr>
          <p:cNvPr id="17" name="直接箭头连接符 16"/>
          <p:cNvCxnSpPr/>
          <p:nvPr>
            <p:custDataLst>
              <p:tags r:id="rId22"/>
            </p:custDataLst>
          </p:nvPr>
        </p:nvCxnSpPr>
        <p:spPr>
          <a:xfrm>
            <a:off x="6053455" y="3745865"/>
            <a:ext cx="824865" cy="42037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custDataLst>
              <p:tags r:id="rId23"/>
            </p:custDataLst>
          </p:nvPr>
        </p:nvCxnSpPr>
        <p:spPr>
          <a:xfrm flipV="1">
            <a:off x="6388735" y="4617085"/>
            <a:ext cx="461010" cy="32385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6964680" y="399923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400" b="1"/>
              <a:t>-</a:t>
            </a:r>
            <a:endParaRPr lang="en-US" altLang="zh-CN" sz="4400" b="1"/>
          </a:p>
        </p:txBody>
      </p:sp>
      <mc:AlternateContent xmlns:mc="http://schemas.openxmlformats.org/markup-compatibility/2006">
        <mc:Choice xmlns:a14="http://schemas.microsoft.com/office/drawing/2010/main" Requires="a14">
          <p:sp>
            <p:nvSpPr>
              <p:cNvPr id="20" name="文本框 19"/>
              <p:cNvSpPr txBox="1"/>
              <p:nvPr>
                <p:custDataLst>
                  <p:tags r:id="rId24"/>
                </p:custDataLst>
              </p:nvPr>
            </p:nvSpPr>
            <p:spPr>
              <a:xfrm>
                <a:off x="7886065" y="4102100"/>
                <a:ext cx="2932430"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𝑡</m:t>
                          </m:r>
                        </m:sub>
                      </m:sSub>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m:t>
                      </m:r>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𝑉</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𝑡</m:t>
                          </m:r>
                          <m:r>
                            <a:rPr lang="en-US" altLang="zh-CN" sz="2800" i="1">
                              <a:latin typeface="Cambria Math" panose="02040503050406030204" pitchFamily="18" charset="0"/>
                              <a:cs typeface="Cambria Math" panose="02040503050406030204" pitchFamily="18" charset="0"/>
                            </a:rPr>
                            <m:t>+</m:t>
                          </m:r>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20" name="文本框 19"/>
              <p:cNvSpPr txBox="1">
                <a:spLocks noRot="1" noChangeAspect="1" noMove="1" noResize="1" noEditPoints="1" noAdjustHandles="1" noChangeArrowheads="1" noChangeShapeType="1" noTextEdit="1"/>
              </p:cNvSpPr>
              <p:nvPr>
                <p:custDataLst>
                  <p:tags r:id="rId25"/>
                </p:custDataLst>
              </p:nvPr>
            </p:nvSpPr>
            <p:spPr>
              <a:xfrm>
                <a:off x="7886065" y="4102100"/>
                <a:ext cx="2932430" cy="521970"/>
              </a:xfrm>
              <a:prstGeom prst="rect">
                <a:avLst/>
              </a:prstGeom>
              <a:blipFill rotWithShape="1">
                <a:blip r:embed="rId26"/>
                <a:stretch>
                  <a:fillRect/>
                </a:stretch>
              </a:blipFill>
            </p:spPr>
            <p:txBody>
              <a:bodyPr/>
              <a:lstStyle/>
              <a:p>
                <a:r>
                  <a:rPr lang="zh-CN" altLang="en-US">
                    <a:noFill/>
                  </a:rPr>
                  <a:t> </a:t>
                </a:r>
              </a:p>
            </p:txBody>
          </p:sp>
        </mc:Fallback>
      </mc:AlternateContent>
      <p:cxnSp>
        <p:nvCxnSpPr>
          <p:cNvPr id="21" name="直接箭头连接符 20"/>
          <p:cNvCxnSpPr/>
          <p:nvPr>
            <p:custDataLst>
              <p:tags r:id="rId27"/>
            </p:custDataLst>
          </p:nvPr>
        </p:nvCxnSpPr>
        <p:spPr>
          <a:xfrm flipV="1">
            <a:off x="7684770" y="4358005"/>
            <a:ext cx="260350" cy="508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2" name="左右箭头 21"/>
          <p:cNvSpPr/>
          <p:nvPr>
            <p:custDataLst>
              <p:tags r:id="rId28"/>
            </p:custDataLst>
          </p:nvPr>
        </p:nvSpPr>
        <p:spPr>
          <a:xfrm>
            <a:off x="10818495" y="4166235"/>
            <a:ext cx="575310" cy="3835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23" name="文本框 22"/>
              <p:cNvSpPr txBox="1"/>
              <p:nvPr/>
            </p:nvSpPr>
            <p:spPr>
              <a:xfrm>
                <a:off x="11317605" y="4060825"/>
                <a:ext cx="699770"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𝑟</m:t>
                          </m:r>
                        </m:e>
                        <m:sub>
                          <m:r>
                            <a:rPr lang="en-US" altLang="zh-CN" sz="2800" i="1">
                              <a:latin typeface="Cambria Math" panose="02040503050406030204" pitchFamily="18" charset="0"/>
                              <a:cs typeface="Cambria Math" panose="02040503050406030204" pitchFamily="18" charset="0"/>
                            </a:rPr>
                            <m:t>𝑡</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11317605" y="4060825"/>
                <a:ext cx="699770" cy="521970"/>
              </a:xfrm>
              <a:prstGeom prst="rect">
                <a:avLst/>
              </a:prstGeom>
              <a:blipFill rotWithShape="1">
                <a:blip r:embed="rId29"/>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53695" y="1223645"/>
                <a:ext cx="11176000" cy="1198880"/>
              </a:xfrm>
              <a:prstGeom prst="rect">
                <a:avLst/>
              </a:prstGeom>
              <a:noFill/>
            </p:spPr>
            <p:txBody>
              <a:bodyPr wrap="square" rtlCol="0">
                <a:spAutoFit/>
              </a:bodyPr>
              <a:p>
                <a:pPr indent="457200"/>
                <a:r>
                  <a:rPr lang="zh-CN" altLang="en-US"/>
                  <a:t>然而上述训练出的价值评估器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𝑉</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rPr>
                  <a:t>智能根据当前状态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判断出对应的累积奖励期望，而并不能根据此来训练智能体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latin typeface="Cambria Math" panose="02040503050406030204" pitchFamily="18" charset="0"/>
                    <a:cs typeface="Cambria Math" panose="02040503050406030204" pitchFamily="18" charset="0"/>
                  </a:rPr>
                  <a:t>在面对状态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时做出更优的行为，</a:t>
                </a:r>
                <a:r>
                  <a:rPr lang="zh-CN" altLang="en-US">
                    <a:latin typeface="Cambria Math" panose="02040503050406030204" pitchFamily="18" charset="0"/>
                    <a:cs typeface="Cambria Math" panose="02040503050406030204" pitchFamily="18" charset="0"/>
                    <a:sym typeface="+mn-ea"/>
                  </a:rPr>
                  <a:t>目前主流的基于价值的方法采用</a:t>
                </a:r>
                <a:r>
                  <a:rPr lang="en-US" altLang="zh-CN">
                    <a:solidFill>
                      <a:schemeClr val="accent1"/>
                    </a:solidFill>
                    <a:effectLst>
                      <a:outerShdw blurRad="38100" dist="25400" dir="5400000" algn="ctr" rotWithShape="0">
                        <a:srgbClr val="6E747A">
                          <a:alpha val="43000"/>
                        </a:srgbClr>
                      </a:outerShdw>
                    </a:effectLst>
                    <a:sym typeface="+mn-ea"/>
                  </a:rPr>
                  <a:t>Q-Learning</a:t>
                </a:r>
                <a:r>
                  <a:rPr lang="zh-CN" altLang="en-US">
                    <a:latin typeface="Cambria Math" panose="02040503050406030204" pitchFamily="18" charset="0"/>
                    <a:cs typeface="Cambria Math" panose="02040503050406030204" pitchFamily="18" charset="0"/>
                    <a:sym typeface="+mn-ea"/>
                  </a:rPr>
                  <a:t>，在价值评估方法的基础上将行为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𝑎</m:t>
                    </m:r>
                  </m:oMath>
                </a14:m>
                <a:r>
                  <a:rPr lang="zh-CN" altLang="en-US">
                    <a:latin typeface="Cambria Math" panose="02040503050406030204" pitchFamily="18" charset="0"/>
                    <a:cs typeface="Cambria Math" panose="02040503050406030204" pitchFamily="18" charset="0"/>
                    <a:sym typeface="+mn-ea"/>
                  </a:rPr>
                  <a:t>引入，形成新的价值评估器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𝑄</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sym typeface="+mn-ea"/>
                  </a:rPr>
                  <a:t>在智能体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latin typeface="Cambria Math" panose="02040503050406030204" pitchFamily="18" charset="0"/>
                    <a:cs typeface="Cambria Math" panose="02040503050406030204" pitchFamily="18" charset="0"/>
                    <a:sym typeface="+mn-ea"/>
                  </a:rPr>
                  <a:t>观察到环境的状态</a:t>
                </a:r>
                <a14:m>
                  <m:oMath xmlns:m="http://schemas.openxmlformats.org/officeDocument/2006/math">
                    <m:r>
                      <a:rPr lang="en-US" altLang="zh-CN" i="1">
                        <a:latin typeface="Cambria Math" panose="02040503050406030204" pitchFamily="18" charset="0"/>
                        <a:cs typeface="Cambria Math" panose="02040503050406030204" pitchFamily="18" charset="0"/>
                      </a:rPr>
                      <m:t>𝑠</m:t>
                    </m:r>
                  </m:oMath>
                </a14:m>
                <a:r>
                  <a:rPr lang="zh-CN" altLang="en-US">
                    <a:latin typeface="Cambria Math" panose="02040503050406030204" pitchFamily="18" charset="0"/>
                    <a:cs typeface="Cambria Math" panose="02040503050406030204" pitchFamily="18" charset="0"/>
                  </a:rPr>
                  <a:t>和采取的行为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𝑎</m:t>
                    </m:r>
                  </m:oMath>
                </a14:m>
                <a:r>
                  <a:rPr lang="zh-CN" altLang="en-US">
                    <a:latin typeface="Cambria Math" panose="02040503050406030204" pitchFamily="18" charset="0"/>
                    <a:cs typeface="Cambria Math" panose="02040503050406030204" pitchFamily="18" charset="0"/>
                    <a:sym typeface="+mn-ea"/>
                  </a:rPr>
                  <a:t>后，根据价值评估器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𝑄</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sym typeface="+mn-ea"/>
                  </a:rPr>
                  <a:t>可以预测从状态</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𝑠</m:t>
                    </m:r>
                  </m:oMath>
                </a14:m>
                <a:r>
                  <a:rPr lang="zh-CN" altLang="en-US">
                    <a:latin typeface="Cambria Math" panose="02040503050406030204" pitchFamily="18" charset="0"/>
                    <a:cs typeface="Cambria Math" panose="02040503050406030204" pitchFamily="18" charset="0"/>
                    <a:sym typeface="+mn-ea"/>
                  </a:rPr>
                  <a:t>到游戏结束所应得到的累计奖励期望值</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𝑄</m:t>
                        </m:r>
                      </m:e>
                      <m:sup>
                        <m:r>
                          <a:rPr lang="en-US" altLang="zh-CN" i="1">
                            <a:latin typeface="Cambria Math" panose="02040503050406030204" pitchFamily="18" charset="0"/>
                            <a:cs typeface="Cambria Math" panose="02040503050406030204" pitchFamily="18" charset="0"/>
                          </a:rPr>
                          <m:t>𝜋</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𝑎</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53695" y="1223645"/>
                <a:ext cx="11176000" cy="119888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custDataLst>
                  <p:tags r:id="rId2"/>
                </p:custDataLst>
              </p:nvPr>
            </p:nvSpPr>
            <p:spPr>
              <a:xfrm>
                <a:off x="3544570" y="3064510"/>
                <a:ext cx="2718435" cy="23495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p>
                        <m:sSupPr>
                          <m:ctrlPr>
                            <a:rPr lang="en-US" altLang="zh-CN" sz="6600" b="1" i="1">
                              <a:latin typeface="Cambria Math" panose="02040503050406030204" pitchFamily="18" charset="0"/>
                              <a:cs typeface="Cambria Math" panose="02040503050406030204" pitchFamily="18" charset="0"/>
                            </a:rPr>
                          </m:ctrlPr>
                        </m:sSupPr>
                        <m:e>
                          <m:r>
                            <a:rPr lang="en-US" altLang="zh-CN" sz="6600" b="1" i="1">
                              <a:latin typeface="Cambria Math" panose="02040503050406030204" pitchFamily="18" charset="0"/>
                              <a:cs typeface="Cambria Math" panose="02040503050406030204" pitchFamily="18" charset="0"/>
                            </a:rPr>
                            <m:t>𝑸</m:t>
                          </m:r>
                        </m:e>
                        <m:sup>
                          <m:r>
                            <a:rPr lang="en-US" altLang="zh-CN" sz="6600" b="1" i="1">
                              <a:latin typeface="Cambria Math" panose="02040503050406030204" pitchFamily="18" charset="0"/>
                              <a:cs typeface="Cambria Math" panose="02040503050406030204" pitchFamily="18" charset="0"/>
                            </a:rPr>
                            <m:t>𝝅</m:t>
                          </m:r>
                        </m:sup>
                      </m:sSup>
                    </m:oMath>
                  </m:oMathPara>
                </a14:m>
                <a:endParaRPr lang="en-US" altLang="zh-CN" sz="6600" b="1" i="1">
                  <a:latin typeface="Cambria Math" panose="02040503050406030204" pitchFamily="18" charset="0"/>
                  <a:cs typeface="Cambria Math" panose="02040503050406030204" pitchFamily="18" charset="0"/>
                </a:endParaRPr>
              </a:p>
            </p:txBody>
          </p:sp>
        </mc:Choice>
        <mc:Fallback>
          <p:sp>
            <p:nvSpPr>
              <p:cNvPr id="7" name="矩形 6"/>
              <p:cNvSpPr>
                <a:spLocks noRot="1" noChangeAspect="1" noMove="1" noResize="1" noEditPoints="1" noAdjustHandles="1" noChangeArrowheads="1" noChangeShapeType="1" noTextEdit="1"/>
              </p:cNvSpPr>
              <p:nvPr>
                <p:custDataLst>
                  <p:tags r:id="rId3"/>
                </p:custDataLst>
              </p:nvPr>
            </p:nvSpPr>
            <p:spPr>
              <a:xfrm>
                <a:off x="3544570" y="3064510"/>
                <a:ext cx="2718435" cy="2349500"/>
              </a:xfrm>
              <a:prstGeom prst="rect">
                <a:avLst/>
              </a:prstGeom>
              <a:blipFill rotWithShape="1">
                <a:blip r:embed="rId4"/>
                <a:stretch>
                  <a:fillRect l="-234" t="-270" r="-234" b="-270"/>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椭圆 7"/>
              <p:cNvSpPr/>
              <p:nvPr>
                <p:custDataLst>
                  <p:tags r:id="rId5"/>
                </p:custDataLst>
              </p:nvPr>
            </p:nvSpPr>
            <p:spPr>
              <a:xfrm>
                <a:off x="1266190" y="3219450"/>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𝑠</m:t>
                        </m:r>
                      </m:e>
                      <m:sub>
                        <m:r>
                          <a:rPr lang="en-US" altLang="zh-CN" sz="2000" i="1">
                            <a:latin typeface="Cambria Math" panose="02040503050406030204" pitchFamily="18" charset="0"/>
                            <a:cs typeface="Cambria Math" panose="02040503050406030204" pitchFamily="18" charset="0"/>
                          </a:rPr>
                          <m:t>1</m:t>
                        </m:r>
                      </m:sub>
                    </m:sSub>
                  </m:oMath>
                </a14:m>
                <a:r>
                  <a:rPr lang="en-US" altLang="zh-CN" sz="2000" i="1">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𝑎</m:t>
                        </m:r>
                      </m:e>
                      <m:sub>
                        <m:r>
                          <a:rPr lang="en-US" altLang="zh-CN" sz="2000" i="1">
                            <a:latin typeface="Cambria Math" panose="02040503050406030204" pitchFamily="18" charset="0"/>
                            <a:cs typeface="Cambria Math" panose="02040503050406030204" pitchFamily="18" charset="0"/>
                          </a:rPr>
                          <m:t>1</m:t>
                        </m:r>
                      </m:sub>
                    </m:sSub>
                  </m:oMath>
                </a14:m>
                <a:endParaRPr lang="en-US" altLang="zh-CN" sz="2000" i="1">
                  <a:latin typeface="Cambria Math" panose="02040503050406030204" pitchFamily="18" charset="0"/>
                  <a:cs typeface="Cambria Math" panose="02040503050406030204" pitchFamily="18" charset="0"/>
                </a:endParaRPr>
              </a:p>
            </p:txBody>
          </p:sp>
        </mc:Choice>
        <mc:Fallback>
          <p:sp>
            <p:nvSpPr>
              <p:cNvPr id="8" name="椭圆 7"/>
              <p:cNvSpPr>
                <a:spLocks noRot="1" noChangeAspect="1" noMove="1" noResize="1" noEditPoints="1" noAdjustHandles="1" noChangeArrowheads="1" noChangeShapeType="1" noTextEdit="1"/>
              </p:cNvSpPr>
              <p:nvPr>
                <p:custDataLst>
                  <p:tags r:id="rId6"/>
                </p:custDataLst>
              </p:nvPr>
            </p:nvSpPr>
            <p:spPr>
              <a:xfrm>
                <a:off x="1266190" y="3219450"/>
                <a:ext cx="720000" cy="720000"/>
              </a:xfrm>
              <a:prstGeom prst="ellipse">
                <a:avLst/>
              </a:prstGeom>
              <a:blipFill rotWithShape="1">
                <a:blip r:embed="rId7"/>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椭圆 8"/>
              <p:cNvSpPr/>
              <p:nvPr>
                <p:custDataLst>
                  <p:tags r:id="rId8"/>
                </p:custDataLst>
              </p:nvPr>
            </p:nvSpPr>
            <p:spPr>
              <a:xfrm>
                <a:off x="1266190" y="4424045"/>
                <a:ext cx="720000" cy="7200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𝑠</m:t>
                          </m:r>
                        </m:e>
                        <m:sub>
                          <m:r>
                            <a:rPr lang="en-US" altLang="zh-CN" sz="2000" i="1">
                              <a:latin typeface="Cambria Math" panose="02040503050406030204" pitchFamily="18" charset="0"/>
                              <a:cs typeface="Cambria Math" panose="02040503050406030204" pitchFamily="18" charset="0"/>
                            </a:rPr>
                            <m:t>2</m:t>
                          </m:r>
                        </m:sub>
                      </m:sSub>
                      <m:r>
                        <a:rPr lang="en-US" altLang="zh-CN" sz="2000" i="1">
                          <a:latin typeface="Cambria Math" panose="02040503050406030204" pitchFamily="18" charset="0"/>
                          <a:cs typeface="Cambria Math" panose="02040503050406030204" pitchFamily="18" charset="0"/>
                        </a:rPr>
                        <m:t>,</m:t>
                      </m:r>
                    </m:oMath>
                  </m:oMathPara>
                </a14:m>
                <a:endParaRPr lang="en-US" altLang="zh-CN" sz="2000" i="1">
                  <a:latin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𝑎</m:t>
                          </m:r>
                        </m:e>
                        <m:sub>
                          <m:r>
                            <a:rPr lang="en-US" altLang="zh-CN" sz="2000" i="1">
                              <a:latin typeface="Cambria Math" panose="02040503050406030204" pitchFamily="18" charset="0"/>
                              <a:cs typeface="Cambria Math" panose="02040503050406030204" pitchFamily="18" charset="0"/>
                            </a:rPr>
                            <m:t>2</m:t>
                          </m:r>
                        </m:sub>
                      </m:sSub>
                    </m:oMath>
                  </m:oMathPara>
                </a14:m>
                <a:endParaRPr lang="en-US" altLang="zh-CN" sz="2000" i="1">
                  <a:latin typeface="Cambria Math" panose="02040503050406030204" pitchFamily="18" charset="0"/>
                  <a:cs typeface="Cambria Math" panose="02040503050406030204" pitchFamily="18" charset="0"/>
                </a:endParaRPr>
              </a:p>
            </p:txBody>
          </p:sp>
        </mc:Choice>
        <mc:Fallback>
          <p:sp>
            <p:nvSpPr>
              <p:cNvPr id="9" name="椭圆 8"/>
              <p:cNvSpPr>
                <a:spLocks noRot="1" noChangeAspect="1" noMove="1" noResize="1" noEditPoints="1" noAdjustHandles="1" noChangeArrowheads="1" noChangeShapeType="1" noTextEdit="1"/>
              </p:cNvSpPr>
              <p:nvPr>
                <p:custDataLst>
                  <p:tags r:id="rId9"/>
                </p:custDataLst>
              </p:nvPr>
            </p:nvSpPr>
            <p:spPr>
              <a:xfrm>
                <a:off x="1266190" y="4424045"/>
                <a:ext cx="720000" cy="720000"/>
              </a:xfrm>
              <a:prstGeom prst="ellipse">
                <a:avLst/>
              </a:prstGeom>
              <a:blipFill rotWithShape="1">
                <a:blip r:embed="rId10"/>
                <a:stretch>
                  <a:fillRect l="-970" t="-970" r="-806" b="-806"/>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10" name="直接箭头连接符 9"/>
          <p:cNvCxnSpPr>
            <a:stCxn id="8" idx="6"/>
          </p:cNvCxnSpPr>
          <p:nvPr>
            <p:custDataLst>
              <p:tags r:id="rId11"/>
            </p:custDataLst>
          </p:nvPr>
        </p:nvCxnSpPr>
        <p:spPr>
          <a:xfrm>
            <a:off x="1986280" y="3579495"/>
            <a:ext cx="1522730" cy="381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custDataLst>
              <p:tags r:id="rId12"/>
            </p:custDataLst>
          </p:nvPr>
        </p:nvCxnSpPr>
        <p:spPr>
          <a:xfrm>
            <a:off x="1988820" y="4782185"/>
            <a:ext cx="1522730" cy="3810"/>
          </a:xfrm>
          <a:prstGeom prst="straightConnector1">
            <a:avLst/>
          </a:prstGeom>
          <a:ln w="25400">
            <a:solidFill>
              <a:schemeClr val="accent2"/>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13"/>
            </p:custDataLst>
          </p:nvPr>
        </p:nvCxnSpPr>
        <p:spPr>
          <a:xfrm>
            <a:off x="6267450" y="3583305"/>
            <a:ext cx="1522730" cy="381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custDataLst>
              <p:tags r:id="rId14"/>
            </p:custDataLst>
          </p:nvPr>
        </p:nvCxnSpPr>
        <p:spPr>
          <a:xfrm>
            <a:off x="6263005" y="4778375"/>
            <a:ext cx="1522730" cy="3810"/>
          </a:xfrm>
          <a:prstGeom prst="straightConnector1">
            <a:avLst/>
          </a:prstGeom>
          <a:ln w="25400">
            <a:solidFill>
              <a:schemeClr val="accent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4" name="文本框 13"/>
              <p:cNvSpPr txBox="1"/>
              <p:nvPr>
                <p:custDataLst>
                  <p:tags r:id="rId15"/>
                </p:custDataLst>
              </p:nvPr>
            </p:nvSpPr>
            <p:spPr>
              <a:xfrm>
                <a:off x="7821295" y="3318510"/>
                <a:ext cx="1677035"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𝑄</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𝑎</m:t>
                          </m:r>
                        </m:e>
                        <m:sub>
                          <m:r>
                            <a:rPr lang="en-US" altLang="zh-CN" sz="2800" i="1">
                              <a:latin typeface="Cambria Math" panose="02040503050406030204" pitchFamily="18" charset="0"/>
                              <a:cs typeface="Cambria Math" panose="02040503050406030204" pitchFamily="18" charset="0"/>
                            </a:rPr>
                            <m:t>1</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custDataLst>
                  <p:tags r:id="rId16"/>
                </p:custDataLst>
              </p:nvPr>
            </p:nvSpPr>
            <p:spPr>
              <a:xfrm>
                <a:off x="7821295" y="3318510"/>
                <a:ext cx="1677035" cy="521970"/>
              </a:xfrm>
              <a:prstGeom prst="rect">
                <a:avLst/>
              </a:prstGeom>
              <a:blipFill rotWithShape="1">
                <a:blip r:embed="rId1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custDataLst>
                  <p:tags r:id="rId18"/>
                </p:custDataLst>
              </p:nvPr>
            </p:nvSpPr>
            <p:spPr>
              <a:xfrm>
                <a:off x="7821295" y="4523105"/>
                <a:ext cx="1648460" cy="52197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𝑄</m:t>
                          </m:r>
                        </m:e>
                        <m:sup>
                          <m:r>
                            <a:rPr lang="en-US" altLang="zh-CN" sz="2800" i="1">
                              <a:latin typeface="Cambria Math" panose="02040503050406030204" pitchFamily="18" charset="0"/>
                              <a:cs typeface="Cambria Math" panose="02040503050406030204" pitchFamily="18" charset="0"/>
                            </a:rPr>
                            <m:t>𝜋</m:t>
                          </m:r>
                        </m:sup>
                      </m:sSup>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𝑠</m:t>
                          </m:r>
                        </m:e>
                        <m:sub>
                          <m:r>
                            <a:rPr lang="en-US" altLang="zh-CN" sz="2800" i="1">
                              <a:latin typeface="Cambria Math" panose="02040503050406030204" pitchFamily="18" charset="0"/>
                              <a:cs typeface="Cambria Math" panose="02040503050406030204" pitchFamily="18" charset="0"/>
                            </a:rPr>
                            <m:t>2</m:t>
                          </m:r>
                        </m:sub>
                      </m:sSub>
                      <m:r>
                        <a:rPr lang="en-US" altLang="zh-CN" sz="2800" i="1">
                          <a:latin typeface="Cambria Math" panose="02040503050406030204" pitchFamily="18" charset="0"/>
                          <a:cs typeface="Cambria Math" panose="02040503050406030204" pitchFamily="18" charset="0"/>
                        </a:rPr>
                        <m:t>,</m:t>
                      </m:r>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𝑎</m:t>
                          </m:r>
                        </m:e>
                        <m:sub>
                          <m:r>
                            <a:rPr lang="en-US" altLang="zh-CN" sz="2800" i="1">
                              <a:latin typeface="Cambria Math" panose="02040503050406030204" pitchFamily="18" charset="0"/>
                              <a:cs typeface="Cambria Math" panose="02040503050406030204" pitchFamily="18" charset="0"/>
                            </a:rPr>
                            <m:t>2</m:t>
                          </m:r>
                        </m:sub>
                      </m:sSub>
                      <m:r>
                        <a:rPr lang="en-US" altLang="zh-CN" sz="2800" i="1">
                          <a:latin typeface="Cambria Math" panose="02040503050406030204" pitchFamily="18" charset="0"/>
                          <a:cs typeface="Cambria Math" panose="02040503050406030204" pitchFamily="18" charset="0"/>
                        </a:rPr>
                        <m:t>)</m:t>
                      </m:r>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5" name="文本框 14"/>
              <p:cNvSpPr txBox="1">
                <a:spLocks noRot="1" noChangeAspect="1" noMove="1" noResize="1" noEditPoints="1" noAdjustHandles="1" noChangeArrowheads="1" noChangeShapeType="1" noTextEdit="1"/>
              </p:cNvSpPr>
              <p:nvPr>
                <p:custDataLst>
                  <p:tags r:id="rId19"/>
                </p:custDataLst>
              </p:nvPr>
            </p:nvSpPr>
            <p:spPr>
              <a:xfrm>
                <a:off x="7821295" y="4523105"/>
                <a:ext cx="1648460" cy="521970"/>
              </a:xfrm>
              <a:prstGeom prst="rect">
                <a:avLst/>
              </a:prstGeom>
              <a:blipFill rotWithShape="1">
                <a:blip r:embed="rId20"/>
                <a:stretch>
                  <a:fillRect/>
                </a:stretch>
              </a:blipFill>
            </p:spPr>
            <p:txBody>
              <a:bodyPr/>
              <a:lstStyle/>
              <a:p>
                <a:r>
                  <a:rPr lang="zh-CN" altLang="en-US">
                    <a:noFill/>
                  </a:rPr>
                  <a:t> </a:t>
                </a:r>
              </a:p>
            </p:txBody>
          </p:sp>
        </mc:Fallback>
      </mc:AlternateContent>
      <p:sp>
        <p:nvSpPr>
          <p:cNvPr id="16" name="左右箭头 15"/>
          <p:cNvSpPr/>
          <p:nvPr>
            <p:custDataLst>
              <p:tags r:id="rId21"/>
            </p:custDataLst>
          </p:nvPr>
        </p:nvSpPr>
        <p:spPr>
          <a:xfrm>
            <a:off x="9566910" y="3387725"/>
            <a:ext cx="881380" cy="3835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左右箭头 16"/>
          <p:cNvSpPr/>
          <p:nvPr>
            <p:custDataLst>
              <p:tags r:id="rId22"/>
            </p:custDataLst>
          </p:nvPr>
        </p:nvSpPr>
        <p:spPr>
          <a:xfrm>
            <a:off x="9566910" y="4588510"/>
            <a:ext cx="881380" cy="3835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8" name="文本框 17"/>
              <p:cNvSpPr txBox="1"/>
              <p:nvPr>
                <p:custDataLst>
                  <p:tags r:id="rId23"/>
                </p:custDataLst>
              </p:nvPr>
            </p:nvSpPr>
            <p:spPr>
              <a:xfrm>
                <a:off x="10718101" y="3318764"/>
                <a:ext cx="573405" cy="5219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𝐺</m:t>
                          </m:r>
                        </m:e>
                        <m:sub>
                          <m:r>
                            <a:rPr lang="en-US" altLang="zh-CN" sz="2800" i="1">
                              <a:latin typeface="Cambria Math" panose="02040503050406030204" pitchFamily="18" charset="0"/>
                              <a:cs typeface="Cambria Math" panose="02040503050406030204" pitchFamily="18" charset="0"/>
                            </a:rPr>
                            <m:t>1</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8" name="文本框 17"/>
              <p:cNvSpPr txBox="1">
                <a:spLocks noRot="1" noChangeAspect="1" noMove="1" noResize="1" noEditPoints="1" noAdjustHandles="1" noChangeArrowheads="1" noChangeShapeType="1" noTextEdit="1"/>
              </p:cNvSpPr>
              <p:nvPr>
                <p:custDataLst>
                  <p:tags r:id="rId24"/>
                </p:custDataLst>
              </p:nvPr>
            </p:nvSpPr>
            <p:spPr>
              <a:xfrm>
                <a:off x="10718101" y="3318764"/>
                <a:ext cx="573405" cy="521970"/>
              </a:xfrm>
              <a:prstGeom prst="rect">
                <a:avLst/>
              </a:prstGeom>
              <a:blipFill rotWithShape="1">
                <a:blip r:embed="rId25"/>
                <a:stretch>
                  <a:fillRect l="-100" t="-49" r="-676"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custDataLst>
                  <p:tags r:id="rId26"/>
                </p:custDataLst>
              </p:nvPr>
            </p:nvSpPr>
            <p:spPr>
              <a:xfrm>
                <a:off x="10718101" y="4523359"/>
                <a:ext cx="589915" cy="52197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cs typeface="Cambria Math" panose="02040503050406030204" pitchFamily="18" charset="0"/>
                            </a:rPr>
                          </m:ctrlPr>
                        </m:sSubPr>
                        <m:e>
                          <m:r>
                            <a:rPr lang="en-US" altLang="zh-CN" sz="2800" i="1">
                              <a:latin typeface="Cambria Math" panose="02040503050406030204" pitchFamily="18" charset="0"/>
                              <a:cs typeface="Cambria Math" panose="02040503050406030204" pitchFamily="18" charset="0"/>
                            </a:rPr>
                            <m:t>𝐺</m:t>
                          </m:r>
                        </m:e>
                        <m:sub>
                          <m:r>
                            <a:rPr lang="en-US" altLang="zh-CN" sz="2800" i="1">
                              <a:latin typeface="Cambria Math" panose="02040503050406030204" pitchFamily="18" charset="0"/>
                              <a:cs typeface="Cambria Math" panose="02040503050406030204" pitchFamily="18" charset="0"/>
                            </a:rPr>
                            <m:t>2</m:t>
                          </m:r>
                        </m:sub>
                      </m:sSub>
                    </m:oMath>
                  </m:oMathPara>
                </a14:m>
                <a:endParaRPr lang="en-US" altLang="zh-CN" sz="2800" i="1">
                  <a:latin typeface="Cambria Math" panose="02040503050406030204" pitchFamily="18" charset="0"/>
                  <a:cs typeface="Cambria Math" panose="02040503050406030204" pitchFamily="18" charset="0"/>
                </a:endParaRPr>
              </a:p>
            </p:txBody>
          </p:sp>
        </mc:Choice>
        <mc:Fallback>
          <p:sp>
            <p:nvSpPr>
              <p:cNvPr id="19" name="文本框 18"/>
              <p:cNvSpPr txBox="1">
                <a:spLocks noRot="1" noChangeAspect="1" noMove="1" noResize="1" noEditPoints="1" noAdjustHandles="1" noChangeArrowheads="1" noChangeShapeType="1" noTextEdit="1"/>
              </p:cNvSpPr>
              <p:nvPr>
                <p:custDataLst>
                  <p:tags r:id="rId27"/>
                </p:custDataLst>
              </p:nvPr>
            </p:nvSpPr>
            <p:spPr>
              <a:xfrm>
                <a:off x="10718101" y="4523359"/>
                <a:ext cx="589915" cy="521970"/>
              </a:xfrm>
              <a:prstGeom prst="rect">
                <a:avLst/>
              </a:prstGeom>
              <a:blipFill rotWithShape="1">
                <a:blip r:embed="rId28"/>
                <a:stretch>
                  <a:fillRect l="-97" t="-49" r="97" b="4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63220" y="1233170"/>
                <a:ext cx="7074535" cy="368300"/>
              </a:xfrm>
              <a:prstGeom prst="rect">
                <a:avLst/>
              </a:prstGeom>
              <a:noFill/>
            </p:spPr>
            <p:txBody>
              <a:bodyPr wrap="square" rtlCol="0">
                <a:spAutoFit/>
              </a:bodyPr>
              <a:p>
                <a:r>
                  <a:rPr lang="zh-CN" altLang="en-US"/>
                  <a:t>那么</a:t>
                </a:r>
                <a:r>
                  <a:rPr lang="en-US" altLang="zh-CN">
                    <a:solidFill>
                      <a:schemeClr val="accent1"/>
                    </a:solidFill>
                    <a:effectLst>
                      <a:outerShdw blurRad="38100" dist="25400" dir="5400000" algn="ctr" rotWithShape="0">
                        <a:srgbClr val="6E747A">
                          <a:alpha val="43000"/>
                        </a:srgbClr>
                      </a:outerShdw>
                    </a:effectLst>
                  </a:rPr>
                  <a:t>Q-Learning</a:t>
                </a:r>
                <a:r>
                  <a:rPr lang="zh-CN" altLang="en-US"/>
                  <a:t>是如何根据价值评估器</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𝑄</m:t>
                        </m:r>
                      </m:e>
                      <m:sup>
                        <m:r>
                          <a:rPr lang="en-US" altLang="zh-CN" i="1">
                            <a:latin typeface="Cambria Math" panose="02040503050406030204" pitchFamily="18" charset="0"/>
                            <a:cs typeface="Cambria Math" panose="02040503050406030204" pitchFamily="18" charset="0"/>
                          </a:rPr>
                          <m:t>𝜋</m:t>
                        </m:r>
                      </m:sup>
                    </m:sSup>
                  </m:oMath>
                </a14:m>
                <a:r>
                  <a:rPr lang="zh-CN" altLang="en-US">
                    <a:latin typeface="Cambria Math" panose="02040503050406030204" pitchFamily="18" charset="0"/>
                    <a:cs typeface="Cambria Math" panose="02040503050406030204" pitchFamily="18" charset="0"/>
                  </a:rPr>
                  <a:t>来对智能体</a:t>
                </a:r>
                <a14:m>
                  <m:oMath xmlns:m="http://schemas.openxmlformats.org/officeDocument/2006/math">
                    <m:r>
                      <a:rPr lang="en-US" altLang="zh-CN" i="1">
                        <a:latin typeface="Cambria Math" panose="02040503050406030204" pitchFamily="18" charset="0"/>
                        <a:cs typeface="Cambria Math" panose="02040503050406030204" pitchFamily="18" charset="0"/>
                      </a:rPr>
                      <m:t>𝜋</m:t>
                    </m:r>
                  </m:oMath>
                </a14:m>
                <a:r>
                  <a:rPr lang="zh-CN" altLang="en-US">
                    <a:latin typeface="Cambria Math" panose="02040503050406030204" pitchFamily="18" charset="0"/>
                    <a:cs typeface="Cambria Math" panose="02040503050406030204" pitchFamily="18" charset="0"/>
                  </a:rPr>
                  <a:t>进行优化的呢？</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63220" y="1233170"/>
                <a:ext cx="7074535"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3939540" y="2105660"/>
                <a:ext cx="4313555" cy="1418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a:t>智能体</a:t>
                </a:r>
                <a14:m>
                  <m:oMath xmlns:m="http://schemas.openxmlformats.org/officeDocument/2006/math">
                    <m:r>
                      <a:rPr lang="en-US" altLang="zh-CN" sz="2800" i="1">
                        <a:latin typeface="Cambria Math" panose="02040503050406030204" pitchFamily="18" charset="0"/>
                        <a:cs typeface="Cambria Math" panose="02040503050406030204" pitchFamily="18" charset="0"/>
                      </a:rPr>
                      <m:t>𝜋</m:t>
                    </m:r>
                  </m:oMath>
                </a14:m>
                <a:r>
                  <a:rPr lang="zh-CN" altLang="en-US" sz="2000"/>
                  <a:t>与环境进行交互</a:t>
                </a:r>
                <a:endParaRPr lang="zh-CN" altLang="en-US" sz="2000"/>
              </a:p>
              <a:p>
                <a:pPr algn="ctr"/>
                <a:r>
                  <a:rPr lang="zh-CN" altLang="en-US" sz="2000"/>
                  <a:t>获得大量的状态</a:t>
                </a:r>
                <a:r>
                  <a:rPr lang="en-US" altLang="zh-CN" sz="2000"/>
                  <a:t>-</a:t>
                </a:r>
                <a:r>
                  <a:rPr lang="zh-CN" altLang="en-US" sz="2000"/>
                  <a:t>行为对</a:t>
                </a:r>
                <a:r>
                  <a:rPr lang="en-US" altLang="zh-CN" sz="2000"/>
                  <a:t>&lt;</a:t>
                </a:r>
                <a14:m>
                  <m:oMath xmlns:m="http://schemas.openxmlformats.org/officeDocument/2006/math">
                    <m:r>
                      <a:rPr lang="en-US" altLang="zh-CN" sz="2000" i="1">
                        <a:latin typeface="Cambria Math" panose="02040503050406030204" pitchFamily="18" charset="0"/>
                        <a:cs typeface="Cambria Math" panose="02040503050406030204" pitchFamily="18" charset="0"/>
                      </a:rPr>
                      <m:t>𝑠</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𝑎</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𝐺</m:t>
                    </m:r>
                  </m:oMath>
                </a14:m>
                <a:r>
                  <a:rPr lang="en-US" altLang="zh-CN" sz="2000"/>
                  <a:t>&gt;</a:t>
                </a:r>
                <a:endParaRPr lang="en-US" altLang="zh-CN" sz="2000"/>
              </a:p>
            </p:txBody>
          </p:sp>
        </mc:Choice>
        <mc:Fallback>
          <p:sp>
            <p:nvSpPr>
              <p:cNvPr id="6" name="矩形 5"/>
              <p:cNvSpPr>
                <a:spLocks noRot="1" noChangeAspect="1" noMove="1" noResize="1" noEditPoints="1" noAdjustHandles="1" noChangeArrowheads="1" noChangeShapeType="1" noTextEdit="1"/>
              </p:cNvSpPr>
              <p:nvPr/>
            </p:nvSpPr>
            <p:spPr>
              <a:xfrm>
                <a:off x="3939540" y="2105660"/>
                <a:ext cx="4313555" cy="1418590"/>
              </a:xfrm>
              <a:prstGeom prst="rect">
                <a:avLst/>
              </a:prstGeom>
              <a:blipFill rotWithShape="1">
                <a:blip r:embed="rId2"/>
                <a:stretch>
                  <a:fillRect l="-162" t="-448" r="-147" b="-448"/>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custDataLst>
                  <p:tags r:id="rId3"/>
                </p:custDataLst>
              </p:nvPr>
            </p:nvSpPr>
            <p:spPr>
              <a:xfrm>
                <a:off x="596900" y="4754880"/>
                <a:ext cx="4313555" cy="141859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2000"/>
                  <a:t>寻找到一个比原有的智能体</a:t>
                </a:r>
                <a14:m>
                  <m:oMath xmlns:m="http://schemas.openxmlformats.org/officeDocument/2006/math">
                    <m:r>
                      <a:rPr lang="en-US" altLang="zh-CN" sz="2800" i="1">
                        <a:latin typeface="Cambria Math" panose="02040503050406030204" pitchFamily="18" charset="0"/>
                        <a:cs typeface="Cambria Math" panose="02040503050406030204" pitchFamily="18" charset="0"/>
                      </a:rPr>
                      <m:t>𝜋</m:t>
                    </m:r>
                  </m:oMath>
                </a14:m>
                <a:endParaRPr lang="en-US" altLang="zh-CN" sz="2000" i="1">
                  <a:latin typeface="Cambria Math" panose="02040503050406030204" pitchFamily="18" charset="0"/>
                  <a:cs typeface="Cambria Math" panose="02040503050406030204" pitchFamily="18" charset="0"/>
                </a:endParaRPr>
              </a:p>
              <a:p>
                <a:pPr algn="ctr"/>
                <a:r>
                  <a:rPr lang="zh-CN" altLang="en-US" sz="2000">
                    <a:latin typeface="Cambria Math" panose="02040503050406030204" pitchFamily="18" charset="0"/>
                    <a:cs typeface="Cambria Math" panose="02040503050406030204" pitchFamily="18" charset="0"/>
                  </a:rPr>
                  <a:t>更好的</a:t>
                </a:r>
                <a:r>
                  <a:rPr lang="zh-CN" sz="2000"/>
                  <a:t>智能体</a:t>
                </a:r>
                <a14:m>
                  <m:oMath xmlns:m="http://schemas.openxmlformats.org/officeDocument/2006/math">
                    <m:sSup>
                      <m:sSupPr>
                        <m:ctrlPr>
                          <a:rPr lang="en-US" altLang="zh-CN" sz="2800" i="1">
                            <a:latin typeface="Cambria Math" panose="02040503050406030204" pitchFamily="18" charset="0"/>
                            <a:cs typeface="Cambria Math" panose="02040503050406030204" pitchFamily="18" charset="0"/>
                          </a:rPr>
                        </m:ctrlPr>
                      </m:sSupPr>
                      <m:e>
                        <m:r>
                          <a:rPr lang="en-US" altLang="zh-CN" sz="2800" i="1">
                            <a:latin typeface="Cambria Math" panose="02040503050406030204" pitchFamily="18" charset="0"/>
                            <a:cs typeface="Cambria Math" panose="02040503050406030204" pitchFamily="18" charset="0"/>
                          </a:rPr>
                          <m:t>𝜋</m:t>
                        </m:r>
                      </m:e>
                      <m:sup>
                        <m:r>
                          <a:rPr lang="en-US" altLang="zh-CN" sz="2800" i="1">
                            <a:latin typeface="Cambria Math" panose="02040503050406030204" pitchFamily="18" charset="0"/>
                            <a:cs typeface="Cambria Math" panose="02040503050406030204" pitchFamily="18" charset="0"/>
                          </a:rPr>
                          <m:t>’</m:t>
                        </m:r>
                      </m:sup>
                    </m:sSup>
                  </m:oMath>
                </a14:m>
                <a:endParaRPr lang="en-US" altLang="zh-CN" sz="2800" i="1">
                  <a:latin typeface="Cambria Math" panose="02040503050406030204" pitchFamily="18" charset="0"/>
                  <a:cs typeface="Cambria Math" panose="02040503050406030204" pitchFamily="18" charset="0"/>
                </a:endParaRPr>
              </a:p>
            </p:txBody>
          </p:sp>
        </mc:Choice>
        <mc:Fallback>
          <p:sp>
            <p:nvSpPr>
              <p:cNvPr id="7" name="矩形 6"/>
              <p:cNvSpPr>
                <a:spLocks noRot="1" noChangeAspect="1" noMove="1" noResize="1" noEditPoints="1" noAdjustHandles="1" noChangeArrowheads="1" noChangeShapeType="1" noTextEdit="1"/>
              </p:cNvSpPr>
              <p:nvPr>
                <p:custDataLst>
                  <p:tags r:id="rId4"/>
                </p:custDataLst>
              </p:nvPr>
            </p:nvSpPr>
            <p:spPr>
              <a:xfrm>
                <a:off x="596900" y="4754880"/>
                <a:ext cx="4313555" cy="1418590"/>
              </a:xfrm>
              <a:prstGeom prst="rect">
                <a:avLst/>
              </a:prstGeom>
              <a:blipFill rotWithShape="1">
                <a:blip r:embed="rId5"/>
                <a:stretch>
                  <a:fillRect l="-162" t="-448" r="-147" b="-448"/>
                </a:stretch>
              </a:bli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custDataLst>
                  <p:tags r:id="rId6"/>
                </p:custDataLst>
              </p:nvPr>
            </p:nvSpPr>
            <p:spPr>
              <a:xfrm>
                <a:off x="7057390" y="4754880"/>
                <a:ext cx="4313555" cy="141859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a:t>根据获得的状态</a:t>
                </a:r>
                <a:r>
                  <a:rPr lang="en-US" altLang="zh-CN" sz="2000"/>
                  <a:t>-</a:t>
                </a:r>
                <a:r>
                  <a:rPr lang="zh-CN" altLang="en-US" sz="2000"/>
                  <a:t>行为对</a:t>
                </a:r>
                <a:r>
                  <a:rPr lang="en-US" altLang="zh-CN" sz="2000"/>
                  <a:t>&lt;</a:t>
                </a:r>
                <a14:m>
                  <m:oMath xmlns:m="http://schemas.openxmlformats.org/officeDocument/2006/math">
                    <m:r>
                      <a:rPr lang="en-US" altLang="zh-CN" sz="2000" i="1">
                        <a:latin typeface="Cambria Math" panose="02040503050406030204" pitchFamily="18" charset="0"/>
                        <a:cs typeface="Cambria Math" panose="02040503050406030204" pitchFamily="18" charset="0"/>
                      </a:rPr>
                      <m:t>𝑠</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𝑎</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𝐺</m:t>
                    </m:r>
                  </m:oMath>
                </a14:m>
                <a:r>
                  <a:rPr lang="en-US" altLang="zh-CN" sz="2000"/>
                  <a:t>&gt;</a:t>
                </a:r>
                <a:endParaRPr lang="en-US" altLang="zh-CN" sz="2000"/>
              </a:p>
              <a:p>
                <a:pPr algn="ctr"/>
                <a:r>
                  <a:rPr lang="zh-CN" altLang="en-US" sz="2000"/>
                  <a:t>学习价值评估器</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𝑄</m:t>
                        </m:r>
                      </m:e>
                      <m:sup>
                        <m:r>
                          <a:rPr lang="en-US" altLang="zh-CN" sz="2000" i="1">
                            <a:latin typeface="Cambria Math" panose="02040503050406030204" pitchFamily="18" charset="0"/>
                            <a:cs typeface="Cambria Math" panose="02040503050406030204" pitchFamily="18" charset="0"/>
                          </a:rPr>
                          <m:t>𝜋</m:t>
                        </m:r>
                      </m:sup>
                    </m:s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𝑠</m:t>
                    </m:r>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𝑎</m:t>
                    </m:r>
                  </m:oMath>
                </a14:m>
                <a:r>
                  <a:rPr lang="en-US" altLang="zh-CN" sz="2000">
                    <a:latin typeface="Cambria Math" panose="02040503050406030204" pitchFamily="18" charset="0"/>
                    <a:cs typeface="Cambria Math" panose="02040503050406030204" pitchFamily="18" charset="0"/>
                    <a:sym typeface="+mn-ea"/>
                  </a:rPr>
                  <a:t>)</a:t>
                </a:r>
                <a:endParaRPr lang="zh-CN" altLang="en-US" sz="2000"/>
              </a:p>
            </p:txBody>
          </p:sp>
        </mc:Choice>
        <mc:Fallback>
          <p:sp>
            <p:nvSpPr>
              <p:cNvPr id="8" name="矩形 7"/>
              <p:cNvSpPr>
                <a:spLocks noRot="1" noChangeAspect="1" noMove="1" noResize="1" noEditPoints="1" noAdjustHandles="1" noChangeArrowheads="1" noChangeShapeType="1" noTextEdit="1"/>
              </p:cNvSpPr>
              <p:nvPr>
                <p:custDataLst>
                  <p:tags r:id="rId7"/>
                </p:custDataLst>
              </p:nvPr>
            </p:nvSpPr>
            <p:spPr>
              <a:xfrm>
                <a:off x="7057390" y="4754880"/>
                <a:ext cx="4313555" cy="1418590"/>
              </a:xfrm>
              <a:prstGeom prst="rect">
                <a:avLst/>
              </a:prstGeom>
              <a:blipFill rotWithShape="1">
                <a:blip r:embed="rId8"/>
                <a:stretch>
                  <a:fillRect l="-147" t="-448" r="-147" b="-448"/>
                </a:stretch>
              </a:bli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9" name="上弧形箭头 8"/>
          <p:cNvSpPr/>
          <p:nvPr/>
        </p:nvSpPr>
        <p:spPr>
          <a:xfrm rot="3300000">
            <a:off x="8491220" y="2697480"/>
            <a:ext cx="2233295" cy="1515745"/>
          </a:xfrm>
          <a:prstGeom prst="curvedDownArrow">
            <a:avLst>
              <a:gd name="adj1" fmla="val 14935"/>
              <a:gd name="adj2" fmla="val 50000"/>
              <a:gd name="adj3" fmla="val 25000"/>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0" name="左箭头 9"/>
          <p:cNvSpPr/>
          <p:nvPr/>
        </p:nvSpPr>
        <p:spPr>
          <a:xfrm>
            <a:off x="5270500" y="5138420"/>
            <a:ext cx="1351280" cy="651510"/>
          </a:xfrm>
          <a:prstGeom prst="leftArrow">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1"/>
              </a:solidFill>
              <a:sym typeface="+mn-ea"/>
            </a:endParaRPr>
          </a:p>
        </p:txBody>
      </p:sp>
      <p:sp>
        <p:nvSpPr>
          <p:cNvPr id="11" name="上弧形箭头 10"/>
          <p:cNvSpPr/>
          <p:nvPr>
            <p:custDataLst>
              <p:tags r:id="rId9"/>
            </p:custDataLst>
          </p:nvPr>
        </p:nvSpPr>
        <p:spPr>
          <a:xfrm rot="18360000">
            <a:off x="1562100" y="2420620"/>
            <a:ext cx="2233295" cy="1515745"/>
          </a:xfrm>
          <a:prstGeom prst="curvedDownArrow">
            <a:avLst>
              <a:gd name="adj1" fmla="val 14935"/>
              <a:gd name="adj2" fmla="val 50000"/>
              <a:gd name="adj3" fmla="val 25000"/>
            </a:avLst>
          </a:prstGeom>
          <a:gradFill>
            <a:gsLst>
              <a:gs pos="0">
                <a:srgbClr val="56A0B9"/>
              </a:gs>
              <a:gs pos="100000">
                <a:srgbClr val="5DBDC3"/>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12" name="文本框 11"/>
          <p:cNvSpPr txBox="1"/>
          <p:nvPr/>
        </p:nvSpPr>
        <p:spPr>
          <a:xfrm>
            <a:off x="10006965" y="2105660"/>
            <a:ext cx="2185035" cy="645160"/>
          </a:xfrm>
          <a:prstGeom prst="rect">
            <a:avLst/>
          </a:prstGeom>
          <a:noFill/>
        </p:spPr>
        <p:txBody>
          <a:bodyPr wrap="square" rtlCol="0">
            <a:spAutoFit/>
          </a:bodyPr>
          <a:p>
            <a:r>
              <a:rPr lang="en-US" b="1">
                <a:gradFill>
                  <a:gsLst>
                    <a:gs pos="0">
                      <a:srgbClr val="007BD3"/>
                    </a:gs>
                    <a:gs pos="100000">
                      <a:srgbClr val="034373"/>
                    </a:gs>
                  </a:gsLst>
                  <a:lin scaled="0"/>
                </a:gradFill>
              </a:rPr>
              <a:t>Monte-Carlo or </a:t>
            </a:r>
            <a:r>
              <a:rPr lang="en-US" b="1">
                <a:gradFill>
                  <a:gsLst>
                    <a:gs pos="0">
                      <a:srgbClr val="007BD3"/>
                    </a:gs>
                    <a:gs pos="100000">
                      <a:srgbClr val="034373"/>
                    </a:gs>
                  </a:gsLst>
                  <a:lin scaled="0"/>
                </a:gradFill>
                <a:sym typeface="+mn-ea"/>
              </a:rPr>
              <a:t>Temporal-difference</a:t>
            </a:r>
            <a:r>
              <a:rPr lang="en-US" altLang="zh-CN" b="1"/>
              <a:t> </a:t>
            </a:r>
            <a:endParaRPr lang="en-US" altLang="zh-CN" b="1"/>
          </a:p>
        </p:txBody>
      </p:sp>
      <mc:AlternateContent xmlns:mc="http://schemas.openxmlformats.org/markup-compatibility/2006">
        <mc:Choice xmlns:a14="http://schemas.microsoft.com/office/drawing/2010/main" Requires="a14">
          <p:sp>
            <p:nvSpPr>
              <p:cNvPr id="13" name="文本框 12"/>
              <p:cNvSpPr txBox="1"/>
              <p:nvPr>
                <p:custDataLst>
                  <p:tags r:id="rId10"/>
                </p:custDataLst>
              </p:nvPr>
            </p:nvSpPr>
            <p:spPr>
              <a:xfrm>
                <a:off x="301625" y="2232025"/>
                <a:ext cx="2019300" cy="392430"/>
              </a:xfrm>
              <a:prstGeom prst="rect">
                <a:avLst/>
              </a:prstGeom>
              <a:noFill/>
            </p:spPr>
            <p:txBody>
              <a:bodyPr wrap="square" rtlCol="0">
                <a:spAutoFit/>
              </a:bodyPr>
              <a:p>
                <a:r>
                  <a:rPr lang="en-US" b="1">
                    <a:gradFill>
                      <a:gsLst>
                        <a:gs pos="0">
                          <a:srgbClr val="007BD3"/>
                        </a:gs>
                        <a:gs pos="100000">
                          <a:srgbClr val="034373"/>
                        </a:gs>
                      </a:gsLst>
                      <a:lin scaled="0"/>
                    </a:gradFill>
                  </a:rPr>
                  <a:t>Use </a:t>
                </a:r>
                <a14:m>
                  <m:oMath xmlns:m="http://schemas.openxmlformats.org/officeDocument/2006/math">
                    <m:sSup>
                      <m:sSupPr>
                        <m:ctrlPr>
                          <a:rPr lang="en-US" altLang="zh-CN" b="1" i="1">
                            <a:gradFill>
                              <a:gsLst>
                                <a:gs pos="0">
                                  <a:srgbClr val="007BD3"/>
                                </a:gs>
                                <a:gs pos="100000">
                                  <a:srgbClr val="034373"/>
                                </a:gs>
                              </a:gsLst>
                              <a:lin scaled="0"/>
                            </a:gradFill>
                            <a:latin typeface="Cambria Math" panose="02040503050406030204" pitchFamily="18" charset="0"/>
                            <a:cs typeface="Cambria Math" panose="02040503050406030204" pitchFamily="18" charset="0"/>
                          </a:rPr>
                        </m:ctrlPr>
                      </m:sSupPr>
                      <m:e>
                        <m:r>
                          <a:rPr lang="en-US" altLang="zh-CN" b="1" i="1">
                            <a:gradFill>
                              <a:gsLst>
                                <a:gs pos="0">
                                  <a:srgbClr val="007BD3"/>
                                </a:gs>
                                <a:gs pos="100000">
                                  <a:srgbClr val="034373"/>
                                </a:gs>
                              </a:gsLst>
                              <a:lin scaled="0"/>
                            </a:gradFill>
                            <a:latin typeface="Cambria Math" panose="02040503050406030204" pitchFamily="18" charset="0"/>
                            <a:cs typeface="Cambria Math" panose="02040503050406030204" pitchFamily="18" charset="0"/>
                          </a:rPr>
                          <m:t>𝝅</m:t>
                        </m:r>
                      </m:e>
                      <m:sup>
                        <m:r>
                          <a:rPr lang="en-US" altLang="zh-CN" b="1" i="1">
                            <a:gradFill>
                              <a:gsLst>
                                <a:gs pos="0">
                                  <a:srgbClr val="007BD3"/>
                                </a:gs>
                                <a:gs pos="100000">
                                  <a:srgbClr val="034373"/>
                                </a:gs>
                              </a:gsLst>
                              <a:lin scaled="0"/>
                            </a:gradFill>
                            <a:latin typeface="Cambria Math" panose="02040503050406030204" pitchFamily="18" charset="0"/>
                            <a:cs typeface="Cambria Math" panose="02040503050406030204" pitchFamily="18" charset="0"/>
                          </a:rPr>
                          <m:t>’</m:t>
                        </m:r>
                      </m:sup>
                    </m:sSup>
                  </m:oMath>
                </a14:m>
                <a:r>
                  <a:rPr lang="en-US" b="1">
                    <a:gradFill>
                      <a:gsLst>
                        <a:gs pos="0">
                          <a:srgbClr val="007BD3"/>
                        </a:gs>
                        <a:gs pos="100000">
                          <a:srgbClr val="034373"/>
                        </a:gs>
                      </a:gsLst>
                      <a:lin scaled="0"/>
                    </a:gradFill>
                  </a:rPr>
                  <a:t> to replace </a:t>
                </a:r>
                <a14:m>
                  <m:oMath xmlns:m="http://schemas.openxmlformats.org/officeDocument/2006/math">
                    <m:r>
                      <a:rPr lang="en-US" altLang="zh-CN" b="1" i="1">
                        <a:gradFill>
                          <a:gsLst>
                            <a:gs pos="0">
                              <a:srgbClr val="007BD3"/>
                            </a:gs>
                            <a:gs pos="100000">
                              <a:srgbClr val="034373"/>
                            </a:gs>
                          </a:gsLst>
                          <a:lin scaled="0"/>
                        </a:gradFill>
                        <a:latin typeface="Cambria Math" panose="02040503050406030204" pitchFamily="18" charset="0"/>
                        <a:cs typeface="Cambria Math" panose="02040503050406030204" pitchFamily="18" charset="0"/>
                      </a:rPr>
                      <m:t>𝝅</m:t>
                    </m:r>
                  </m:oMath>
                </a14:m>
                <a:r>
                  <a:rPr lang="en-US" b="1">
                    <a:gradFill>
                      <a:gsLst>
                        <a:gs pos="0">
                          <a:srgbClr val="007BD3"/>
                        </a:gs>
                        <a:gs pos="100000">
                          <a:srgbClr val="034373"/>
                        </a:gs>
                      </a:gsLst>
                      <a:lin scaled="0"/>
                    </a:gradFill>
                  </a:rPr>
                  <a:t> </a:t>
                </a:r>
                <a:endParaRPr lang="en-US" b="1">
                  <a:gradFill>
                    <a:gsLst>
                      <a:gs pos="0">
                        <a:srgbClr val="007BD3"/>
                      </a:gs>
                      <a:gs pos="100000">
                        <a:srgbClr val="034373"/>
                      </a:gs>
                    </a:gsLst>
                    <a:lin scaled="0"/>
                  </a:gradFill>
                </a:endParaRPr>
              </a:p>
            </p:txBody>
          </p:sp>
        </mc:Choice>
        <mc:Fallback>
          <p:sp>
            <p:nvSpPr>
              <p:cNvPr id="13" name="文本框 12"/>
              <p:cNvSpPr txBox="1">
                <a:spLocks noRot="1" noChangeAspect="1" noMove="1" noResize="1" noEditPoints="1" noAdjustHandles="1" noChangeArrowheads="1" noChangeShapeType="1" noTextEdit="1"/>
              </p:cNvSpPr>
              <p:nvPr>
                <p:custDataLst>
                  <p:tags r:id="rId11"/>
                </p:custDataLst>
              </p:nvPr>
            </p:nvSpPr>
            <p:spPr>
              <a:xfrm>
                <a:off x="301625" y="2232025"/>
                <a:ext cx="2019300" cy="392430"/>
              </a:xfrm>
              <a:prstGeom prst="rect">
                <a:avLst/>
              </a:prstGeom>
              <a:blipFill rotWithShape="1">
                <a:blip r:embed="rId1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custDataLst>
              <p:tags r:id="rId1"/>
            </p:custDataLst>
          </p:nvPr>
        </p:nvSpPr>
        <p:spPr>
          <a:xfrm>
            <a:off x="294005" y="1233805"/>
            <a:ext cx="11340465" cy="2445385"/>
          </a:xfrm>
          <a:prstGeom prst="rect">
            <a:avLst/>
          </a:prstGeom>
          <a:noFill/>
        </p:spPr>
        <p:txBody>
          <a:bodyPr wrap="square" rtlCol="0">
            <a:spAutoFit/>
          </a:bodyPr>
          <a:p>
            <a:r>
              <a:rPr lang="en-US" altLang="zh-CN">
                <a:solidFill>
                  <a:schemeClr val="accent1"/>
                </a:solidFill>
                <a:effectLst>
                  <a:outerShdw blurRad="38100" dist="25400" dir="5400000" algn="ctr" rotWithShape="0">
                    <a:srgbClr val="6E747A">
                      <a:alpha val="43000"/>
                    </a:srgbClr>
                  </a:outerShdw>
                </a:effectLst>
                <a:sym typeface="+mn-ea"/>
              </a:rPr>
              <a:t>Value-based Method</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优点：</a:t>
            </a:r>
            <a:endParaRPr lang="zh-CN" altLang="en-US">
              <a:solidFill>
                <a:schemeClr val="tx1"/>
              </a:solidFill>
              <a:latin typeface="Cambria Math" panose="02040503050406030204" pitchFamily="18" charset="0"/>
              <a:cs typeface="Cambria Math" panose="02040503050406030204" pitchFamily="18" charset="0"/>
              <a:sym typeface="+mn-ea"/>
            </a:endParaRPr>
          </a:p>
          <a:p>
            <a:pPr>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a:solidFill>
                  <a:schemeClr val="tx1"/>
                </a:solidFill>
                <a:latin typeface="Cambria Math" panose="02040503050406030204" pitchFamily="18" charset="0"/>
                <a:cs typeface="Cambria Math" panose="02040503050406030204" pitchFamily="18" charset="0"/>
                <a:sym typeface="+mn-ea"/>
              </a:rPr>
              <a:t>1</a:t>
            </a:r>
            <a:r>
              <a:rPr lang="zh-CN" altLang="en-US">
                <a:solidFill>
                  <a:schemeClr val="tx1"/>
                </a:solidFill>
                <a:latin typeface="Cambria Math" panose="02040503050406030204" pitchFamily="18" charset="0"/>
                <a:cs typeface="Cambria Math" panose="02040503050406030204" pitchFamily="18" charset="0"/>
                <a:sym typeface="+mn-ea"/>
              </a:rPr>
              <a:t>）</a:t>
            </a:r>
            <a:r>
              <a:rPr lang="en-US" altLang="zh-CN">
                <a:solidFill>
                  <a:schemeClr val="accent1"/>
                </a:solidFill>
                <a:effectLst>
                  <a:outerShdw blurRad="38100" dist="25400" dir="5400000" algn="ctr" rotWithShape="0">
                    <a:srgbClr val="6E747A">
                      <a:alpha val="43000"/>
                    </a:srgbClr>
                  </a:outerShdw>
                </a:effectLst>
                <a:sym typeface="+mn-ea"/>
              </a:rPr>
              <a:t>Value-based Method</a:t>
            </a:r>
            <a:r>
              <a:rPr lang="en-US" altLang="zh-CN">
                <a:solidFill>
                  <a:schemeClr val="tx1"/>
                </a:solidFill>
                <a:latin typeface="Cambria Math" panose="02040503050406030204" pitchFamily="18" charset="0"/>
                <a:cs typeface="Cambria Math" panose="02040503050406030204" pitchFamily="18" charset="0"/>
                <a:sym typeface="+mn-ea"/>
              </a:rPr>
              <a:t>样本利用效率高，</a:t>
            </a:r>
            <a:r>
              <a:rPr lang="zh-CN" altLang="en-US">
                <a:solidFill>
                  <a:schemeClr val="tx1"/>
                </a:solidFill>
                <a:latin typeface="Cambria Math" panose="02040503050406030204" pitchFamily="18" charset="0"/>
                <a:cs typeface="Cambria Math" panose="02040503050406030204" pitchFamily="18" charset="0"/>
                <a:sym typeface="+mn-ea"/>
              </a:rPr>
              <a:t>当使用</a:t>
            </a:r>
            <a:r>
              <a:rPr lang="en-US" altLang="zh-CN">
                <a:solidFill>
                  <a:schemeClr val="accent1"/>
                </a:solidFill>
                <a:effectLst>
                  <a:outerShdw blurRad="38100" dist="25400" dir="5400000" algn="ctr" rotWithShape="0">
                    <a:srgbClr val="6E747A">
                      <a:alpha val="43000"/>
                    </a:srgbClr>
                  </a:outerShdw>
                </a:effectLst>
                <a:sym typeface="+mn-ea"/>
              </a:rPr>
              <a:t>Temporal-difference</a:t>
            </a:r>
            <a:r>
              <a:rPr lang="zh-CN" altLang="en-US">
                <a:latin typeface="Cambria Math" panose="02040503050406030204" pitchFamily="18" charset="0"/>
                <a:cs typeface="Cambria Math" panose="02040503050406030204" pitchFamily="18" charset="0"/>
                <a:sym typeface="+mn-ea"/>
              </a:rPr>
              <a:t>来进行价值评估器的训练时，不需要等到最后进行奖励的累计再进行训练，而是中间每步均可进行训练</a:t>
            </a:r>
            <a:endParaRPr lang="zh-CN" altLang="en-US">
              <a:latin typeface="Cambria Math" panose="02040503050406030204" pitchFamily="18" charset="0"/>
              <a:cs typeface="Cambria Math" panose="02040503050406030204" pitchFamily="18" charset="0"/>
              <a:sym typeface="+mn-ea"/>
            </a:endParaRPr>
          </a:p>
          <a:p>
            <a:pPr indent="457200">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a:latin typeface="Cambria Math" panose="02040503050406030204" pitchFamily="18" charset="0"/>
                <a:cs typeface="Cambria Math" panose="02040503050406030204" pitchFamily="18" charset="0"/>
                <a:sym typeface="+mn-ea"/>
              </a:rPr>
              <a:t>2</a:t>
            </a:r>
            <a:r>
              <a:rPr lang="zh-CN" altLang="en-US">
                <a:latin typeface="Cambria Math" panose="02040503050406030204" pitchFamily="18" charset="0"/>
                <a:cs typeface="Cambria Math" panose="02040503050406030204" pitchFamily="18" charset="0"/>
                <a:sym typeface="+mn-ea"/>
              </a:rPr>
              <a:t>）</a:t>
            </a:r>
            <a:r>
              <a:rPr lang="zh-CN" altLang="en-US">
                <a:solidFill>
                  <a:schemeClr val="tx1"/>
                </a:solidFill>
                <a:latin typeface="Cambria Math" panose="02040503050406030204" pitchFamily="18" charset="0"/>
                <a:cs typeface="Cambria Math" panose="02040503050406030204" pitchFamily="18" charset="0"/>
                <a:sym typeface="+mn-ea"/>
              </a:rPr>
              <a:t>通过价值评估器得到的累计奖励值</a:t>
            </a:r>
            <a:r>
              <a:rPr lang="en-US" altLang="zh-CN">
                <a:solidFill>
                  <a:schemeClr val="tx1"/>
                </a:solidFill>
                <a:latin typeface="Cambria Math" panose="02040503050406030204" pitchFamily="18" charset="0"/>
                <a:cs typeface="Cambria Math" panose="02040503050406030204" pitchFamily="18" charset="0"/>
                <a:sym typeface="+mn-ea"/>
              </a:rPr>
              <a:t>估计方差</a:t>
            </a:r>
            <a:r>
              <a:rPr lang="zh-CN" altLang="en-US">
                <a:solidFill>
                  <a:schemeClr val="tx1"/>
                </a:solidFill>
                <a:latin typeface="Cambria Math" panose="02040503050406030204" pitchFamily="18" charset="0"/>
                <a:cs typeface="Cambria Math" panose="02040503050406030204" pitchFamily="18" charset="0"/>
                <a:sym typeface="+mn-ea"/>
              </a:rPr>
              <a:t>较</a:t>
            </a:r>
            <a:r>
              <a:rPr lang="en-US" altLang="zh-CN">
                <a:solidFill>
                  <a:schemeClr val="tx1"/>
                </a:solidFill>
                <a:latin typeface="Cambria Math" panose="02040503050406030204" pitchFamily="18" charset="0"/>
                <a:cs typeface="Cambria Math" panose="02040503050406030204" pitchFamily="18" charset="0"/>
                <a:sym typeface="+mn-ea"/>
              </a:rPr>
              <a:t>小，不易陷入局部最优</a:t>
            </a:r>
            <a:endParaRPr lang="en-US" altLang="zh-CN">
              <a:solidFill>
                <a:schemeClr val="tx1"/>
              </a:solidFill>
              <a:latin typeface="Cambria Math" panose="02040503050406030204" pitchFamily="18" charset="0"/>
              <a:cs typeface="Cambria Math" panose="02040503050406030204" pitchFamily="18" charset="0"/>
              <a:sym typeface="+mn-ea"/>
            </a:endParaRPr>
          </a:p>
          <a:p>
            <a:pPr indent="457200"/>
            <a:endParaRPr>
              <a:solidFill>
                <a:schemeClr val="tx1"/>
              </a:solidFill>
              <a:latin typeface="Cambria Math" panose="02040503050406030204" pitchFamily="18" charset="0"/>
              <a:cs typeface="Cambria Math" panose="02040503050406030204" pitchFamily="18" charset="0"/>
              <a:sym typeface="+mn-ea"/>
            </a:endParaRPr>
          </a:p>
          <a:p>
            <a:pPr marL="0" lvl="0" indent="0">
              <a:buNone/>
            </a:pPr>
            <a:r>
              <a:rPr lang="en-US" altLang="zh-CN">
                <a:solidFill>
                  <a:schemeClr val="accent1"/>
                </a:solidFill>
                <a:effectLst>
                  <a:outerShdw blurRad="38100" dist="25400" dir="5400000" algn="ctr" rotWithShape="0">
                    <a:srgbClr val="6E747A">
                      <a:alpha val="43000"/>
                    </a:srgbClr>
                  </a:outerShdw>
                </a:effectLst>
                <a:sym typeface="+mn-ea"/>
              </a:rPr>
              <a:t>Value-based Method</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缺点：</a:t>
            </a: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457200">
              <a:lnSpc>
                <a:spcPct val="50000"/>
              </a:lnSpc>
              <a:buNone/>
            </a:pP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457200">
              <a:buNone/>
            </a:pPr>
            <a:r>
              <a:rPr lang="zh-CN" altLang="en-US">
                <a:solidFill>
                  <a:schemeClr val="tx1"/>
                </a:solidFill>
                <a:latin typeface="Cambria Math" panose="02040503050406030204" pitchFamily="18" charset="0"/>
                <a:cs typeface="Cambria Math" panose="02040503050406030204" pitchFamily="18" charset="0"/>
                <a:sym typeface="+mn-ea"/>
              </a:rPr>
              <a:t>训练价值评估器时往往需要其行为空间为离散空间，对于连续的行为空间</a:t>
            </a:r>
            <a:r>
              <a:rPr lang="en-US" altLang="zh-CN">
                <a:solidFill>
                  <a:schemeClr val="accent1"/>
                </a:solidFill>
                <a:effectLst>
                  <a:outerShdw blurRad="38100" dist="25400" dir="5400000" algn="ctr" rotWithShape="0">
                    <a:srgbClr val="6E747A">
                      <a:alpha val="43000"/>
                    </a:srgbClr>
                  </a:outerShdw>
                </a:effectLst>
                <a:sym typeface="+mn-ea"/>
              </a:rPr>
              <a:t>Value-based Method</a:t>
            </a:r>
            <a:r>
              <a:rPr lang="zh-CN" altLang="en-US">
                <a:solidFill>
                  <a:schemeClr val="tx1"/>
                </a:solidFill>
                <a:latin typeface="Cambria Math" panose="02040503050406030204" pitchFamily="18" charset="0"/>
                <a:cs typeface="Cambria Math" panose="02040503050406030204" pitchFamily="18" charset="0"/>
                <a:sym typeface="+mn-ea"/>
              </a:rPr>
              <a:t>通常无能为力</a:t>
            </a:r>
            <a:endParaRPr lang="zh-CN" altLang="en-US">
              <a:solidFill>
                <a:schemeClr val="tx1"/>
              </a:solidFill>
              <a:latin typeface="Cambria Math" panose="02040503050406030204" pitchFamily="18" charset="0"/>
              <a:cs typeface="Cambria Math" panose="02040503050406030204" pitchFamily="18" charset="0"/>
              <a:sym typeface="+mn-ea"/>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Value-based Method</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custDataLst>
              <p:tags r:id="rId1"/>
            </p:custDataLst>
          </p:nvPr>
        </p:nvSpPr>
        <p:spPr>
          <a:xfrm>
            <a:off x="294005" y="1233805"/>
            <a:ext cx="11340465" cy="438467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Policy-based Method</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与</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Value-based Method</a:t>
            </a:r>
            <a:r>
              <a:rPr lang="zh-CN" altLang="en-US">
                <a:solidFill>
                  <a:schemeClr val="tx1"/>
                </a:solidFill>
                <a:latin typeface="Cambria Math" panose="02040503050406030204" pitchFamily="18" charset="0"/>
                <a:cs typeface="Cambria Math" panose="02040503050406030204" pitchFamily="18" charset="0"/>
                <a:sym typeface="+mn-ea"/>
              </a:rPr>
              <a:t>的差别：</a:t>
            </a:r>
            <a:endParaRPr lang="zh-CN" altLang="en-US">
              <a:solidFill>
                <a:schemeClr val="tx1"/>
              </a:solidFill>
              <a:latin typeface="Cambria Math" panose="02040503050406030204" pitchFamily="18" charset="0"/>
              <a:cs typeface="Cambria Math" panose="02040503050406030204" pitchFamily="18" charset="0"/>
              <a:sym typeface="+mn-ea"/>
            </a:endParaRPr>
          </a:p>
          <a:p>
            <a:pPr>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b="1">
                <a:solidFill>
                  <a:schemeClr val="tx1"/>
                </a:solidFill>
                <a:latin typeface="Cambria Math" panose="02040503050406030204" pitchFamily="18" charset="0"/>
                <a:cs typeface="Cambria Math" panose="02040503050406030204" pitchFamily="18" charset="0"/>
                <a:sym typeface="+mn-ea"/>
              </a:rPr>
              <a:t>1</a:t>
            </a:r>
            <a:r>
              <a:rPr lang="zh-CN" altLang="en-US" b="1">
                <a:solidFill>
                  <a:schemeClr val="tx1"/>
                </a:solidFill>
                <a:latin typeface="Cambria Math" panose="02040503050406030204" pitchFamily="18" charset="0"/>
                <a:cs typeface="Cambria Math" panose="02040503050406030204" pitchFamily="18" charset="0"/>
                <a:sym typeface="+mn-ea"/>
              </a:rPr>
              <a:t>）</a:t>
            </a:r>
            <a:r>
              <a:rPr lang="zh-CN" altLang="en-US" b="1">
                <a:latin typeface="Cambria Math" panose="02040503050406030204" pitchFamily="18" charset="0"/>
                <a:cs typeface="Cambria Math" panose="02040503050406030204" pitchFamily="18" charset="0"/>
                <a:sym typeface="+mn-ea"/>
              </a:rPr>
              <a:t>生成最终的行为上的差异：一个随机，一个确定</a:t>
            </a:r>
            <a:endParaRPr lang="zh-CN" altLang="en-US" b="1">
              <a:latin typeface="Cambria Math" panose="02040503050406030204" pitchFamily="18" charset="0"/>
              <a:cs typeface="Cambria Math" panose="02040503050406030204" pitchFamily="18" charset="0"/>
              <a:sym typeface="+mn-ea"/>
            </a:endParaRPr>
          </a:p>
          <a:p>
            <a:pPr indent="457200">
              <a:lnSpc>
                <a:spcPct val="50000"/>
              </a:lnSpc>
            </a:pPr>
            <a:endParaRPr lang="zh-CN" altLang="en-US">
              <a:latin typeface="Cambria Math" panose="02040503050406030204" pitchFamily="18" charset="0"/>
              <a:cs typeface="Cambria Math" panose="02040503050406030204" pitchFamily="18" charset="0"/>
              <a:sym typeface="+mn-ea"/>
            </a:endParaRPr>
          </a:p>
          <a:p>
            <a:pPr marL="457200" lvl="1" indent="457200"/>
            <a:r>
              <a:rPr lang="en-US" altLang="zh-CN">
                <a:latin typeface="Cambria Math" panose="02040503050406030204" pitchFamily="18" charset="0"/>
                <a:cs typeface="Cambria Math" panose="02040503050406030204" pitchFamily="18" charset="0"/>
                <a:sym typeface="+mn-ea"/>
              </a:rPr>
              <a:t>-- </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Policy-</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b</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ased</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 Method</a:t>
            </a:r>
            <a:r>
              <a:rPr lang="zh-CN" altLang="en-US">
                <a:latin typeface="Cambria Math" panose="02040503050406030204" pitchFamily="18" charset="0"/>
                <a:cs typeface="Cambria Math" panose="02040503050406030204" pitchFamily="18" charset="0"/>
                <a:sym typeface="+mn-ea"/>
              </a:rPr>
              <a:t>不会收敛到一个确定性的值，而是得到每种行为的概率</a:t>
            </a:r>
            <a:endParaRPr lang="zh-CN" altLang="en-US">
              <a:latin typeface="Cambria Math" panose="02040503050406030204" pitchFamily="18" charset="0"/>
              <a:cs typeface="Cambria Math" panose="02040503050406030204" pitchFamily="18" charset="0"/>
              <a:sym typeface="+mn-ea"/>
            </a:endParaRPr>
          </a:p>
          <a:p>
            <a:pPr marL="457200" lvl="1" indent="457200">
              <a:lnSpc>
                <a:spcPct val="50000"/>
              </a:lnSpc>
            </a:pPr>
            <a:endParaRPr lang="zh-CN" altLang="en-US">
              <a:latin typeface="Cambria Math" panose="02040503050406030204" pitchFamily="18" charset="0"/>
              <a:cs typeface="Cambria Math" panose="02040503050406030204" pitchFamily="18" charset="0"/>
              <a:sym typeface="+mn-ea"/>
            </a:endParaRPr>
          </a:p>
          <a:p>
            <a:pPr marL="457200" lvl="1" indent="457200"/>
            <a:r>
              <a:rPr lang="en-US" altLang="zh-CN">
                <a:latin typeface="Cambria Math" panose="02040503050406030204" pitchFamily="18" charset="0"/>
                <a:cs typeface="Cambria Math" panose="02040503050406030204" pitchFamily="18" charset="0"/>
                <a:sym typeface="+mn-ea"/>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 </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Value-base Method</a:t>
            </a:r>
            <a:r>
              <a:rPr lang="zh-CN" altLang="en-US">
                <a:latin typeface="Cambria Math" panose="02040503050406030204" pitchFamily="18" charset="0"/>
                <a:cs typeface="Cambria Math" panose="02040503050406030204" pitchFamily="18" charset="0"/>
                <a:sym typeface="+mn-ea"/>
              </a:rPr>
              <a:t>中的action-value估计值最终会收敛到对应的true values，因此通常会获得一个确</a:t>
            </a:r>
            <a:endParaRPr lang="zh-CN" altLang="en-US">
              <a:latin typeface="Cambria Math" panose="02040503050406030204" pitchFamily="18" charset="0"/>
              <a:cs typeface="Cambria Math" panose="02040503050406030204" pitchFamily="18" charset="0"/>
              <a:sym typeface="+mn-ea"/>
            </a:endParaRPr>
          </a:p>
          <a:p>
            <a:pPr marL="457200" lvl="1" indent="457200"/>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定的策略</a:t>
            </a:r>
            <a:endParaRPr lang="zh-CN" altLang="en-US">
              <a:latin typeface="Cambria Math" panose="02040503050406030204" pitchFamily="18" charset="0"/>
              <a:cs typeface="Cambria Math" panose="02040503050406030204" pitchFamily="18" charset="0"/>
              <a:sym typeface="+mn-ea"/>
            </a:endParaRPr>
          </a:p>
          <a:p>
            <a:pPr marL="457200" lvl="1" indent="457200"/>
            <a:endParaRPr lang="zh-CN" altLang="en-US">
              <a:solidFill>
                <a:schemeClr val="tx1"/>
              </a:solidFill>
              <a:latin typeface="Cambria Math" panose="02040503050406030204" pitchFamily="18" charset="0"/>
              <a:cs typeface="Cambria Math" panose="02040503050406030204" pitchFamily="18" charset="0"/>
              <a:sym typeface="+mn-ea"/>
            </a:endParaRPr>
          </a:p>
          <a:p>
            <a:pPr indent="457200"/>
            <a:r>
              <a:rPr lang="en-US" altLang="zh-CN" b="1">
                <a:latin typeface="Cambria Math" panose="02040503050406030204" pitchFamily="18" charset="0"/>
                <a:cs typeface="Cambria Math" panose="02040503050406030204" pitchFamily="18" charset="0"/>
                <a:sym typeface="+mn-ea"/>
              </a:rPr>
              <a:t>2</a:t>
            </a:r>
            <a:r>
              <a:rPr lang="zh-CN" altLang="en-US" b="1">
                <a:latin typeface="Cambria Math" panose="02040503050406030204" pitchFamily="18" charset="0"/>
                <a:cs typeface="Cambria Math" panose="02040503050406030204" pitchFamily="18" charset="0"/>
                <a:sym typeface="+mn-ea"/>
              </a:rPr>
              <a:t>）行为空间上的差异：</a:t>
            </a:r>
            <a:r>
              <a:rPr lang="zh-CN" altLang="en-US" b="1">
                <a:solidFill>
                  <a:schemeClr val="tx1"/>
                </a:solidFill>
                <a:latin typeface="Cambria Math" panose="02040503050406030204" pitchFamily="18" charset="0"/>
                <a:cs typeface="Cambria Math" panose="02040503050406030204" pitchFamily="18" charset="0"/>
                <a:sym typeface="+mn-ea"/>
              </a:rPr>
              <a:t>一个连续，一个离散</a:t>
            </a:r>
            <a:endParaRPr lang="zh-CN" altLang="en-US" b="1">
              <a:solidFill>
                <a:schemeClr val="tx1"/>
              </a:solidFill>
              <a:latin typeface="Cambria Math" panose="02040503050406030204" pitchFamily="18" charset="0"/>
              <a:cs typeface="Cambria Math" panose="02040503050406030204" pitchFamily="18" charset="0"/>
              <a:sym typeface="+mn-ea"/>
            </a:endParaRPr>
          </a:p>
          <a:p>
            <a:pPr indent="457200">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marL="457200" lvl="1" indent="457200"/>
            <a:r>
              <a:rPr lang="en-US" altLang="zh-CN">
                <a:solidFill>
                  <a:schemeClr val="tx1"/>
                </a:solidFill>
                <a:latin typeface="Cambria Math" panose="02040503050406030204" pitchFamily="18" charset="0"/>
                <a:cs typeface="Cambria Math" panose="02040503050406030204" pitchFamily="18" charset="0"/>
                <a:sym typeface="+mn-ea"/>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 Policy-based</a:t>
            </a:r>
            <a:r>
              <a:rPr lang="en-US" altLang="zh-CN">
                <a:solidFill>
                  <a:schemeClr val="tx1"/>
                </a:solidFill>
                <a:latin typeface="Cambria Math" panose="02040503050406030204" pitchFamily="18" charset="0"/>
                <a:cs typeface="Cambria Math" panose="02040503050406030204" pitchFamily="18" charset="0"/>
                <a:sym typeface="+mn-ea"/>
              </a:rPr>
              <a:t>适用于连续的动作空间，在连续的动作空间中，可以不用计算每个动作的概率，而是通</a:t>
            </a:r>
            <a:endParaRPr lang="en-US" altLang="zh-CN">
              <a:solidFill>
                <a:schemeClr val="tx1"/>
              </a:solidFill>
              <a:latin typeface="Cambria Math" panose="02040503050406030204" pitchFamily="18" charset="0"/>
              <a:cs typeface="Cambria Math" panose="02040503050406030204" pitchFamily="18" charset="0"/>
              <a:sym typeface="+mn-ea"/>
            </a:endParaRPr>
          </a:p>
          <a:p>
            <a:pPr marL="457200" lvl="1" indent="457200"/>
            <a:r>
              <a:rPr lang="en-US" altLang="zh-CN">
                <a:solidFill>
                  <a:schemeClr val="tx1"/>
                </a:solidFill>
                <a:latin typeface="Cambria Math" panose="02040503050406030204" pitchFamily="18" charset="0"/>
                <a:cs typeface="Cambria Math" panose="02040503050406030204" pitchFamily="18" charset="0"/>
                <a:sym typeface="+mn-ea"/>
              </a:rPr>
              <a:t>    过正态分布</a:t>
            </a:r>
            <a:r>
              <a:rPr lang="zh-CN" altLang="en-US">
                <a:solidFill>
                  <a:schemeClr val="tx1"/>
                </a:solidFill>
                <a:latin typeface="Cambria Math" panose="02040503050406030204" pitchFamily="18" charset="0"/>
                <a:cs typeface="Cambria Math" panose="02040503050406030204" pitchFamily="18" charset="0"/>
                <a:sym typeface="+mn-ea"/>
              </a:rPr>
              <a:t>来</a:t>
            </a:r>
            <a:r>
              <a:rPr lang="en-US" altLang="zh-CN">
                <a:solidFill>
                  <a:schemeClr val="tx1"/>
                </a:solidFill>
                <a:latin typeface="Cambria Math" panose="02040503050406030204" pitchFamily="18" charset="0"/>
                <a:cs typeface="Cambria Math" panose="02040503050406030204" pitchFamily="18" charset="0"/>
                <a:sym typeface="+mn-ea"/>
              </a:rPr>
              <a:t>选择</a:t>
            </a:r>
            <a:r>
              <a:rPr lang="zh-CN" altLang="en-US">
                <a:solidFill>
                  <a:schemeClr val="tx1"/>
                </a:solidFill>
                <a:latin typeface="Cambria Math" panose="02040503050406030204" pitchFamily="18" charset="0"/>
                <a:cs typeface="Cambria Math" panose="02040503050406030204" pitchFamily="18" charset="0"/>
                <a:sym typeface="+mn-ea"/>
              </a:rPr>
              <a:t>行为</a:t>
            </a:r>
            <a:endParaRPr lang="zh-CN" altLang="en-US">
              <a:solidFill>
                <a:schemeClr val="tx1"/>
              </a:solidFill>
              <a:latin typeface="Cambria Math" panose="02040503050406030204" pitchFamily="18" charset="0"/>
              <a:cs typeface="Cambria Math" panose="02040503050406030204" pitchFamily="18" charset="0"/>
              <a:sym typeface="+mn-ea"/>
            </a:endParaRPr>
          </a:p>
          <a:p>
            <a:pPr marL="457200" lvl="1" indent="457200">
              <a:lnSpc>
                <a:spcPct val="5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marL="457200" lvl="1" indent="457200"/>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Value-based</a:t>
            </a:r>
            <a:r>
              <a:rPr lang="en-US" altLang="zh-CN">
                <a:solidFill>
                  <a:schemeClr val="tx1"/>
                </a:solidFill>
                <a:latin typeface="Cambria Math" panose="02040503050406030204" pitchFamily="18" charset="0"/>
                <a:cs typeface="Cambria Math" panose="02040503050406030204" pitchFamily="18" charset="0"/>
                <a:sym typeface="+mn-ea"/>
              </a:rPr>
              <a:t>对于连续动作空间问题，虽然可以将动作空间离散化处理，但离散间距的选取不易确定。</a:t>
            </a:r>
            <a:endParaRPr lang="en-US" altLang="zh-CN">
              <a:solidFill>
                <a:schemeClr val="tx1"/>
              </a:solidFill>
              <a:latin typeface="Cambria Math" panose="02040503050406030204" pitchFamily="18" charset="0"/>
              <a:cs typeface="Cambria Math" panose="02040503050406030204" pitchFamily="18" charset="0"/>
              <a:sym typeface="+mn-ea"/>
            </a:endParaRPr>
          </a:p>
          <a:p>
            <a:pPr marL="457200" lvl="1" indent="457200"/>
            <a:r>
              <a:rPr lang="en-US" altLang="zh-CN">
                <a:solidFill>
                  <a:schemeClr val="tx1"/>
                </a:solidFill>
                <a:latin typeface="Cambria Math" panose="02040503050406030204" pitchFamily="18" charset="0"/>
                <a:cs typeface="Cambria Math" panose="02040503050406030204" pitchFamily="18" charset="0"/>
                <a:sym typeface="+mn-ea"/>
              </a:rPr>
              <a:t>    过大的离散间距会导致算法取不到最优</a:t>
            </a:r>
            <a:r>
              <a:rPr lang="zh-CN" altLang="en-US">
                <a:solidFill>
                  <a:schemeClr val="tx1"/>
                </a:solidFill>
                <a:latin typeface="Cambria Math" panose="02040503050406030204" pitchFamily="18" charset="0"/>
                <a:cs typeface="Cambria Math" panose="02040503050406030204" pitchFamily="18" charset="0"/>
                <a:sym typeface="+mn-ea"/>
              </a:rPr>
              <a:t>行为</a:t>
            </a:r>
            <a:r>
              <a:rPr lang="en-US" altLang="zh-CN">
                <a:solidFill>
                  <a:schemeClr val="tx1"/>
                </a:solidFill>
                <a:latin typeface="Cambria Math" panose="02040503050406030204" pitchFamily="18" charset="0"/>
                <a:cs typeface="Cambria Math" panose="02040503050406030204" pitchFamily="18" charset="0"/>
                <a:sym typeface="+mn-ea"/>
              </a:rPr>
              <a:t>，</a:t>
            </a:r>
            <a:r>
              <a:rPr lang="zh-CN" altLang="en-US">
                <a:solidFill>
                  <a:schemeClr val="tx1"/>
                </a:solidFill>
                <a:latin typeface="Cambria Math" panose="02040503050406030204" pitchFamily="18" charset="0"/>
                <a:cs typeface="Cambria Math" panose="02040503050406030204" pitchFamily="18" charset="0"/>
                <a:sym typeface="+mn-ea"/>
              </a:rPr>
              <a:t>而是在最优</a:t>
            </a:r>
            <a:r>
              <a:rPr lang="en-US" altLang="zh-CN">
                <a:solidFill>
                  <a:schemeClr val="tx1"/>
                </a:solidFill>
                <a:latin typeface="Cambria Math" panose="02040503050406030204" pitchFamily="18" charset="0"/>
                <a:cs typeface="Cambria Math" panose="02040503050406030204" pitchFamily="18" charset="0"/>
                <a:sym typeface="+mn-ea"/>
              </a:rPr>
              <a:t>附近徘徊</a:t>
            </a:r>
            <a:r>
              <a:rPr lang="zh-CN" altLang="en-US">
                <a:solidFill>
                  <a:schemeClr val="tx1"/>
                </a:solidFill>
                <a:latin typeface="Cambria Math" panose="02040503050406030204" pitchFamily="18" charset="0"/>
                <a:cs typeface="Cambria Math" panose="02040503050406030204" pitchFamily="18" charset="0"/>
                <a:sym typeface="+mn-ea"/>
              </a:rPr>
              <a:t>；</a:t>
            </a:r>
            <a:r>
              <a:rPr lang="en-US" altLang="zh-CN">
                <a:solidFill>
                  <a:schemeClr val="tx1"/>
                </a:solidFill>
                <a:latin typeface="Cambria Math" panose="02040503050406030204" pitchFamily="18" charset="0"/>
                <a:cs typeface="Cambria Math" panose="02040503050406030204" pitchFamily="18" charset="0"/>
                <a:sym typeface="+mn-ea"/>
              </a:rPr>
              <a:t>过小的离散间距会使得</a:t>
            </a:r>
            <a:r>
              <a:rPr lang="zh-CN" altLang="en-US">
                <a:solidFill>
                  <a:schemeClr val="tx1"/>
                </a:solidFill>
                <a:latin typeface="Cambria Math" panose="02040503050406030204" pitchFamily="18" charset="0"/>
                <a:cs typeface="Cambria Math" panose="02040503050406030204" pitchFamily="18" charset="0"/>
                <a:sym typeface="+mn-ea"/>
              </a:rPr>
              <a:t>行为</a:t>
            </a:r>
            <a:r>
              <a:rPr lang="en-US" altLang="zh-CN">
                <a:solidFill>
                  <a:schemeClr val="tx1"/>
                </a:solidFill>
                <a:latin typeface="Cambria Math" panose="02040503050406030204" pitchFamily="18" charset="0"/>
                <a:cs typeface="Cambria Math" panose="02040503050406030204" pitchFamily="18" charset="0"/>
                <a:sym typeface="+mn-ea"/>
              </a:rPr>
              <a:t>的</a:t>
            </a:r>
            <a:endParaRPr lang="en-US" altLang="zh-CN">
              <a:solidFill>
                <a:schemeClr val="tx1"/>
              </a:solidFill>
              <a:latin typeface="Cambria Math" panose="02040503050406030204" pitchFamily="18" charset="0"/>
              <a:cs typeface="Cambria Math" panose="02040503050406030204" pitchFamily="18" charset="0"/>
              <a:sym typeface="+mn-ea"/>
            </a:endParaRPr>
          </a:p>
          <a:p>
            <a:pPr marL="457200" lvl="1" indent="457200"/>
            <a:r>
              <a:rPr lang="en-US" altLang="zh-CN">
                <a:solidFill>
                  <a:schemeClr val="tx1"/>
                </a:solidFill>
                <a:latin typeface="Cambria Math" panose="02040503050406030204" pitchFamily="18" charset="0"/>
                <a:cs typeface="Cambria Math" panose="02040503050406030204" pitchFamily="18" charset="0"/>
                <a:sym typeface="+mn-ea"/>
              </a:rPr>
              <a:t>    维度增大，会和高维度动作空间一样导致维度灾难，影响算法的速度</a:t>
            </a:r>
            <a:r>
              <a:rPr lang="zh-CN" altLang="en-US">
                <a:solidFill>
                  <a:schemeClr val="tx1"/>
                </a:solidFill>
                <a:latin typeface="Cambria Math" panose="02040503050406030204" pitchFamily="18" charset="0"/>
                <a:cs typeface="Cambria Math" panose="02040503050406030204" pitchFamily="18" charset="0"/>
                <a:sym typeface="+mn-ea"/>
              </a:rPr>
              <a:t>。因此</a:t>
            </a:r>
            <a:r>
              <a:rPr lang="en-US" altLang="zh-CN">
                <a:solidFill>
                  <a:schemeClr val="tx1"/>
                </a:solidFill>
                <a:latin typeface="Cambria Math" panose="02040503050406030204" pitchFamily="18" charset="0"/>
                <a:cs typeface="Cambria Math" panose="02040503050406030204" pitchFamily="18" charset="0"/>
                <a:sym typeface="+mn-ea"/>
              </a:rPr>
              <a:t>Value-based Method</a:t>
            </a:r>
            <a:r>
              <a:rPr lang="zh-CN" altLang="en-US">
                <a:solidFill>
                  <a:schemeClr val="tx1"/>
                </a:solidFill>
                <a:latin typeface="Cambria Math" panose="02040503050406030204" pitchFamily="18" charset="0"/>
                <a:cs typeface="Cambria Math" panose="02040503050406030204" pitchFamily="18" charset="0"/>
                <a:sym typeface="+mn-ea"/>
              </a:rPr>
              <a:t>通常</a:t>
            </a:r>
            <a:endParaRPr lang="zh-CN" altLang="en-US">
              <a:solidFill>
                <a:schemeClr val="tx1"/>
              </a:solidFill>
              <a:latin typeface="Cambria Math" panose="02040503050406030204" pitchFamily="18" charset="0"/>
              <a:cs typeface="Cambria Math" panose="02040503050406030204" pitchFamily="18" charset="0"/>
              <a:sym typeface="+mn-ea"/>
            </a:endParaRPr>
          </a:p>
          <a:p>
            <a:pPr marL="457200" lvl="1" indent="457200"/>
            <a:r>
              <a:rPr lang="zh-CN" altLang="en-US">
                <a:solidFill>
                  <a:schemeClr val="tx1"/>
                </a:solidFill>
                <a:latin typeface="Cambria Math" panose="02040503050406030204" pitchFamily="18" charset="0"/>
                <a:cs typeface="Cambria Math" panose="02040503050406030204" pitchFamily="18" charset="0"/>
                <a:sym typeface="+mn-ea"/>
              </a:rPr>
              <a:t> </a:t>
            </a:r>
            <a:r>
              <a:rPr lang="en-US" altLang="zh-CN">
                <a:solidFill>
                  <a:schemeClr val="tx1"/>
                </a:solidFill>
                <a:latin typeface="Cambria Math" panose="02040503050406030204" pitchFamily="18" charset="0"/>
                <a:cs typeface="Cambria Math" panose="02040503050406030204" pitchFamily="18" charset="0"/>
                <a:sym typeface="+mn-ea"/>
              </a:rPr>
              <a:t>   </a:t>
            </a:r>
            <a:r>
              <a:rPr lang="zh-CN" altLang="en-US">
                <a:solidFill>
                  <a:schemeClr val="tx1"/>
                </a:solidFill>
                <a:latin typeface="Cambria Math" panose="02040503050406030204" pitchFamily="18" charset="0"/>
                <a:cs typeface="Cambria Math" panose="02040503050406030204" pitchFamily="18" charset="0"/>
                <a:sym typeface="+mn-ea"/>
              </a:rPr>
              <a:t>对于连续动作空间问题无能为力</a:t>
            </a:r>
            <a:endParaRPr lang="zh-CN" altLang="en-US">
              <a:solidFill>
                <a:schemeClr val="tx1"/>
              </a:solidFill>
              <a:latin typeface="Cambria Math" panose="02040503050406030204" pitchFamily="18" charset="0"/>
              <a:cs typeface="Cambria Math" panose="02040503050406030204" pitchFamily="18" charset="0"/>
              <a:sym typeface="+mn-ea"/>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98805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通过逆强化学习反推奖励函数</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44170" y="1223645"/>
                <a:ext cx="11223625" cy="1476375"/>
              </a:xfrm>
              <a:prstGeom prst="rect">
                <a:avLst/>
              </a:prstGeom>
              <a:noFill/>
            </p:spPr>
            <p:txBody>
              <a:bodyPr wrap="square" rtlCol="0">
                <a:spAutoFit/>
              </a:bodyPr>
              <a:p>
                <a:pPr indent="457200"/>
                <a:r>
                  <a:rPr lang="zh-CN" altLang="en-US"/>
                  <a:t>以上进行强化学习时，我们均假设有一套成熟的体系，可以对环境的每个状态下，智能体做出的行为进行评价并给予对应的奖励</a:t>
                </a:r>
                <a14:m>
                  <m:oMath xmlns:m="http://schemas.openxmlformats.org/officeDocument/2006/math">
                    <m:r>
                      <a:rPr lang="en-US" altLang="zh-CN" i="1">
                        <a:latin typeface="Cambria Math" panose="02040503050406030204" pitchFamily="18" charset="0"/>
                        <a:cs typeface="Cambria Math" panose="02040503050406030204" pitchFamily="18" charset="0"/>
                      </a:rPr>
                      <m:t>𝑟</m:t>
                    </m:r>
                  </m:oMath>
                </a14:m>
                <a:r>
                  <a:rPr lang="zh-CN" altLang="en-US"/>
                  <a:t>，然而当环境十分复杂时，我们难以穷尽所有情况得到与之对应的奖励</a:t>
                </a:r>
                <a14:m>
                  <m:oMath xmlns:m="http://schemas.openxmlformats.org/officeDocument/2006/math">
                    <m:r>
                      <a:rPr lang="en-US" altLang="zh-CN" i="1">
                        <a:latin typeface="Cambria Math" panose="02040503050406030204" pitchFamily="18" charset="0"/>
                        <a:cs typeface="Cambria Math" panose="02040503050406030204" pitchFamily="18" charset="0"/>
                      </a:rPr>
                      <m:t>𝑟</m:t>
                    </m:r>
                  </m:oMath>
                </a14:m>
                <a:r>
                  <a:rPr lang="zh-CN" altLang="en-US">
                    <a:latin typeface="Cambria Math" panose="02040503050406030204" pitchFamily="18" charset="0"/>
                    <a:cs typeface="Cambria Math" panose="02040503050406030204" pitchFamily="18" charset="0"/>
                  </a:rPr>
                  <a:t>，那么此时该如何得到奖励函数呢？</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我们先来看一下强化学习模型训练的过程：</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44170" y="1223645"/>
                <a:ext cx="11223625" cy="1476375"/>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矩形 5"/>
          <p:cNvSpPr/>
          <p:nvPr>
            <p:custDataLst>
              <p:tags r:id="rId2"/>
            </p:custDataLst>
          </p:nvPr>
        </p:nvSpPr>
        <p:spPr>
          <a:xfrm>
            <a:off x="4676140" y="2950210"/>
            <a:ext cx="2540635" cy="119507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Environment</a:t>
            </a:r>
            <a:endParaRPr lang="en-US" sz="3200" b="1"/>
          </a:p>
        </p:txBody>
      </p:sp>
      <p:sp>
        <p:nvSpPr>
          <p:cNvPr id="7" name="矩形 6"/>
          <p:cNvSpPr/>
          <p:nvPr>
            <p:custDataLst>
              <p:tags r:id="rId3"/>
            </p:custDataLst>
          </p:nvPr>
        </p:nvSpPr>
        <p:spPr>
          <a:xfrm>
            <a:off x="1002665" y="4802505"/>
            <a:ext cx="2033270" cy="141859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Reward</a:t>
            </a:r>
            <a:endParaRPr lang="en-US" sz="3200" b="1"/>
          </a:p>
          <a:p>
            <a:pPr algn="ctr"/>
            <a:r>
              <a:rPr lang="en-US" sz="3200" b="1"/>
              <a:t>Function</a:t>
            </a:r>
            <a:endParaRPr lang="en-US" sz="3200" b="1"/>
          </a:p>
        </p:txBody>
      </p:sp>
      <p:sp>
        <p:nvSpPr>
          <p:cNvPr id="8" name="矩形 7"/>
          <p:cNvSpPr/>
          <p:nvPr>
            <p:custDataLst>
              <p:tags r:id="rId4"/>
            </p:custDataLst>
          </p:nvPr>
        </p:nvSpPr>
        <p:spPr>
          <a:xfrm>
            <a:off x="4418330" y="4802505"/>
            <a:ext cx="3056890" cy="141859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Reinforcement</a:t>
            </a:r>
            <a:endParaRPr lang="en-US" sz="3200" b="1"/>
          </a:p>
          <a:p>
            <a:pPr algn="ctr"/>
            <a:r>
              <a:rPr lang="en-US" sz="3200" b="1"/>
              <a:t>Learning</a:t>
            </a:r>
            <a:endParaRPr lang="en-US" sz="3200" b="1"/>
          </a:p>
        </p:txBody>
      </p:sp>
      <p:sp>
        <p:nvSpPr>
          <p:cNvPr id="9" name="矩形 8"/>
          <p:cNvSpPr/>
          <p:nvPr>
            <p:custDataLst>
              <p:tags r:id="rId5"/>
            </p:custDataLst>
          </p:nvPr>
        </p:nvSpPr>
        <p:spPr>
          <a:xfrm>
            <a:off x="8969375" y="4802505"/>
            <a:ext cx="2127885" cy="141859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Optimal</a:t>
            </a:r>
            <a:endParaRPr lang="en-US" sz="3200" b="1"/>
          </a:p>
          <a:p>
            <a:pPr algn="ctr"/>
            <a:r>
              <a:rPr lang="en-US" sz="3200" b="1"/>
              <a:t>Agent</a:t>
            </a:r>
            <a:endParaRPr lang="en-US" sz="3200" b="1"/>
          </a:p>
        </p:txBody>
      </p:sp>
      <p:sp>
        <p:nvSpPr>
          <p:cNvPr id="10" name="下箭头 9"/>
          <p:cNvSpPr/>
          <p:nvPr/>
        </p:nvSpPr>
        <p:spPr>
          <a:xfrm>
            <a:off x="5361940" y="4233545"/>
            <a:ext cx="1169670" cy="450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11" name="下箭头 10"/>
          <p:cNvSpPr/>
          <p:nvPr>
            <p:custDataLst>
              <p:tags r:id="rId6"/>
            </p:custDataLst>
          </p:nvPr>
        </p:nvSpPr>
        <p:spPr>
          <a:xfrm rot="16200000">
            <a:off x="3391535" y="5033010"/>
            <a:ext cx="681355" cy="958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12" name="下箭头 11"/>
          <p:cNvSpPr/>
          <p:nvPr>
            <p:custDataLst>
              <p:tags r:id="rId7"/>
            </p:custDataLst>
          </p:nvPr>
        </p:nvSpPr>
        <p:spPr>
          <a:xfrm rot="16200000">
            <a:off x="7881620" y="5033010"/>
            <a:ext cx="681355" cy="958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98805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通过逆强化学习反推奖励函数</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custDataLst>
              <p:tags r:id="rId1"/>
            </p:custDataLst>
          </p:nvPr>
        </p:nvSpPr>
        <p:spPr>
          <a:xfrm>
            <a:off x="344170" y="1223645"/>
            <a:ext cx="11223625" cy="368300"/>
          </a:xfrm>
          <a:prstGeom prst="rect">
            <a:avLst/>
          </a:prstGeom>
          <a:noFill/>
        </p:spPr>
        <p:txBody>
          <a:bodyPr wrap="square" rtlCol="0">
            <a:spAutoFit/>
          </a:bodyPr>
          <a:p>
            <a:pPr indent="457200"/>
            <a:r>
              <a:rPr lang="zh-CN" altLang="en-US">
                <a:latin typeface="Cambria Math" panose="02040503050406030204" pitchFamily="18" charset="0"/>
                <a:cs typeface="Cambria Math" panose="02040503050406030204" pitchFamily="18" charset="0"/>
              </a:rPr>
              <a:t>逆强化学习就是将强化学习的训练过程反置：</a:t>
            </a:r>
            <a:endParaRPr lang="zh-CN" altLang="en-US">
              <a:latin typeface="Cambria Math" panose="02040503050406030204" pitchFamily="18" charset="0"/>
              <a:cs typeface="Cambria Math" panose="02040503050406030204" pitchFamily="18" charset="0"/>
            </a:endParaRPr>
          </a:p>
        </p:txBody>
      </p:sp>
      <p:sp>
        <p:nvSpPr>
          <p:cNvPr id="6" name="矩形 5"/>
          <p:cNvSpPr/>
          <p:nvPr>
            <p:custDataLst>
              <p:tags r:id="rId2"/>
            </p:custDataLst>
          </p:nvPr>
        </p:nvSpPr>
        <p:spPr>
          <a:xfrm>
            <a:off x="4618355" y="2045970"/>
            <a:ext cx="2540635" cy="119507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Environment</a:t>
            </a:r>
            <a:endParaRPr lang="en-US" sz="3200" b="1"/>
          </a:p>
        </p:txBody>
      </p:sp>
      <p:sp>
        <p:nvSpPr>
          <p:cNvPr id="7" name="矩形 6"/>
          <p:cNvSpPr/>
          <p:nvPr>
            <p:custDataLst>
              <p:tags r:id="rId3"/>
            </p:custDataLst>
          </p:nvPr>
        </p:nvSpPr>
        <p:spPr>
          <a:xfrm>
            <a:off x="944880" y="3898265"/>
            <a:ext cx="2033270" cy="141859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Reward</a:t>
            </a:r>
            <a:endParaRPr lang="en-US" sz="3200" b="1"/>
          </a:p>
          <a:p>
            <a:pPr algn="ctr"/>
            <a:r>
              <a:rPr lang="en-US" sz="3200" b="1"/>
              <a:t>Function</a:t>
            </a:r>
            <a:endParaRPr lang="en-US" sz="3200" b="1"/>
          </a:p>
        </p:txBody>
      </p:sp>
      <p:sp>
        <p:nvSpPr>
          <p:cNvPr id="8" name="矩形 7"/>
          <p:cNvSpPr/>
          <p:nvPr>
            <p:custDataLst>
              <p:tags r:id="rId4"/>
            </p:custDataLst>
          </p:nvPr>
        </p:nvSpPr>
        <p:spPr>
          <a:xfrm>
            <a:off x="4427855" y="3867785"/>
            <a:ext cx="3056890" cy="180975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Inverse</a:t>
            </a:r>
            <a:endParaRPr lang="en-US" sz="3200" b="1"/>
          </a:p>
          <a:p>
            <a:pPr algn="ctr"/>
            <a:r>
              <a:rPr lang="en-US" sz="3200" b="1"/>
              <a:t>Reinforcement</a:t>
            </a:r>
            <a:endParaRPr lang="en-US" sz="3200" b="1"/>
          </a:p>
          <a:p>
            <a:pPr algn="ctr"/>
            <a:r>
              <a:rPr lang="en-US" sz="3200" b="1"/>
              <a:t>Learning</a:t>
            </a:r>
            <a:endParaRPr lang="en-US" sz="3200" b="1"/>
          </a:p>
        </p:txBody>
      </p:sp>
      <p:sp>
        <p:nvSpPr>
          <p:cNvPr id="9" name="矩形 8"/>
          <p:cNvSpPr/>
          <p:nvPr>
            <p:custDataLst>
              <p:tags r:id="rId5"/>
            </p:custDataLst>
          </p:nvPr>
        </p:nvSpPr>
        <p:spPr>
          <a:xfrm>
            <a:off x="8911590" y="3898265"/>
            <a:ext cx="2127885" cy="141859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3200" b="1"/>
              <a:t>Expert</a:t>
            </a:r>
            <a:endParaRPr lang="en-US" sz="3200" b="1"/>
          </a:p>
        </p:txBody>
      </p:sp>
      <p:sp>
        <p:nvSpPr>
          <p:cNvPr id="10" name="下箭头 9"/>
          <p:cNvSpPr/>
          <p:nvPr>
            <p:custDataLst>
              <p:tags r:id="rId6"/>
            </p:custDataLst>
          </p:nvPr>
        </p:nvSpPr>
        <p:spPr>
          <a:xfrm>
            <a:off x="5304155" y="3329305"/>
            <a:ext cx="1169670" cy="450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11" name="下箭头 10"/>
          <p:cNvSpPr/>
          <p:nvPr>
            <p:custDataLst>
              <p:tags r:id="rId7"/>
            </p:custDataLst>
          </p:nvPr>
        </p:nvSpPr>
        <p:spPr>
          <a:xfrm rot="5400000">
            <a:off x="3333750" y="4128770"/>
            <a:ext cx="681355" cy="958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
        <p:nvSpPr>
          <p:cNvPr id="12" name="下箭头 11"/>
          <p:cNvSpPr/>
          <p:nvPr>
            <p:custDataLst>
              <p:tags r:id="rId8"/>
            </p:custDataLst>
          </p:nvPr>
        </p:nvSpPr>
        <p:spPr>
          <a:xfrm rot="5400000">
            <a:off x="7823835" y="4128770"/>
            <a:ext cx="681355" cy="958215"/>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98805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通过逆强化学习反推奖励函数</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custDataLst>
                  <p:tags r:id="rId1"/>
                </p:custDataLst>
              </p:nvPr>
            </p:nvSpPr>
            <p:spPr>
              <a:xfrm>
                <a:off x="269875" y="1223645"/>
                <a:ext cx="11297920" cy="922020"/>
              </a:xfrm>
              <a:prstGeom prst="rect">
                <a:avLst/>
              </a:prstGeom>
              <a:noFill/>
            </p:spPr>
            <p:txBody>
              <a:bodyPr wrap="square" rtlCol="0">
                <a:spAutoFit/>
              </a:bodyPr>
              <a:p>
                <a:pPr indent="457200"/>
                <a:r>
                  <a:rPr lang="zh-CN" altLang="en-US">
                    <a:latin typeface="Cambria Math" panose="02040503050406030204" pitchFamily="18" charset="0"/>
                    <a:cs typeface="Cambria Math" panose="02040503050406030204" pitchFamily="18" charset="0"/>
                  </a:rPr>
                  <a:t>逆强化学习中将</a:t>
                </a:r>
                <a:r>
                  <a:rPr lang="en-US" altLang="zh-CN">
                    <a:latin typeface="Cambria Math" panose="02040503050406030204" pitchFamily="18" charset="0"/>
                    <a:cs typeface="Cambria Math" panose="02040503050406030204" pitchFamily="18" charset="0"/>
                  </a:rPr>
                  <a:t>optimal Agent</a:t>
                </a:r>
                <a:r>
                  <a:rPr lang="zh-CN" altLang="en-US">
                    <a:latin typeface="Cambria Math" panose="02040503050406030204" pitchFamily="18" charset="0"/>
                    <a:cs typeface="Cambria Math" panose="02040503050406030204" pitchFamily="18" charset="0"/>
                  </a:rPr>
                  <a:t>替换为了</a:t>
                </a:r>
                <a:r>
                  <a:rPr lang="en-US" altLang="zh-CN">
                    <a:latin typeface="Cambria Math" panose="02040503050406030204" pitchFamily="18" charset="0"/>
                    <a:cs typeface="Cambria Math" panose="02040503050406030204" pitchFamily="18" charset="0"/>
                  </a:rPr>
                  <a:t>Expert</a:t>
                </a:r>
                <a:r>
                  <a:rPr lang="zh-CN" altLang="en-US">
                    <a:latin typeface="Cambria Math" panose="02040503050406030204" pitchFamily="18" charset="0"/>
                    <a:cs typeface="Cambria Math" panose="02040503050406030204" pitchFamily="18" charset="0"/>
                  </a:rPr>
                  <a:t>，这个</a:t>
                </a:r>
                <a:r>
                  <a:rPr lang="en-US" altLang="zh-CN">
                    <a:latin typeface="Cambria Math" panose="02040503050406030204" pitchFamily="18" charset="0"/>
                    <a:cs typeface="Cambria Math" panose="02040503050406030204" pitchFamily="18" charset="0"/>
                  </a:rPr>
                  <a:t>Expert</a:t>
                </a:r>
                <a:r>
                  <a:rPr lang="zh-CN" altLang="en-US">
                    <a:latin typeface="Cambria Math" panose="02040503050406030204" pitchFamily="18" charset="0"/>
                    <a:cs typeface="Cambria Math" panose="02040503050406030204" pitchFamily="18" charset="0"/>
                  </a:rPr>
                  <a:t>是一些认为给定的智能体与环境进行交互时的轨迹</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1</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2</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𝑠</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𝑎</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𝑟</m:t>
                        </m:r>
                      </m:e>
                      <m:sub>
                        <m:r>
                          <a:rPr lang="en-US" altLang="zh-CN" i="1">
                            <a:solidFill>
                              <a:schemeClr val="tx1"/>
                            </a:solidFill>
                            <a:latin typeface="Cambria Math" panose="02040503050406030204" pitchFamily="18" charset="0"/>
                            <a:cs typeface="Cambria Math" panose="02040503050406030204" pitchFamily="18" charset="0"/>
                          </a:rPr>
                          <m:t>𝑇</m:t>
                        </m:r>
                      </m:sub>
                    </m:sSub>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，这里我们有一个前提假设：</a:t>
                </a:r>
                <a:r>
                  <a:rPr lang="en-US" altLang="zh-CN">
                    <a:latin typeface="Cambria Math" panose="02040503050406030204" pitchFamily="18" charset="0"/>
                    <a:cs typeface="Cambria Math" panose="02040503050406030204" pitchFamily="18" charset="0"/>
                  </a:rPr>
                  <a:t>Expert</a:t>
                </a:r>
                <a:r>
                  <a:rPr lang="zh-CN" altLang="en-US">
                    <a:latin typeface="Cambria Math" panose="02040503050406030204" pitchFamily="18" charset="0"/>
                    <a:cs typeface="Cambria Math" panose="02040503050406030204" pitchFamily="18" charset="0"/>
                  </a:rPr>
                  <a:t>中提供的交互过程轨迹是最优的，在这个前提假设下，我们便可训练得到</a:t>
                </a:r>
                <a:r>
                  <a:rPr lang="en-US" altLang="zh-CN">
                    <a:latin typeface="Cambria Math" panose="02040503050406030204" pitchFamily="18" charset="0"/>
                    <a:cs typeface="Cambria Math" panose="02040503050406030204" pitchFamily="18" charset="0"/>
                  </a:rPr>
                  <a:t>Reward Function</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custDataLst>
                  <p:tags r:id="rId2"/>
                </p:custDataLst>
              </p:nvPr>
            </p:nvSpPr>
            <p:spPr>
              <a:xfrm>
                <a:off x="269875" y="1223645"/>
                <a:ext cx="11297920" cy="922020"/>
              </a:xfrm>
              <a:prstGeom prst="rect">
                <a:avLst/>
              </a:prstGeom>
              <a:blipFill rotWithShape="1">
                <a:blip r:embed="rId3"/>
                <a:stretch>
                  <a:fillRect/>
                </a:stretch>
              </a:blipFill>
            </p:spPr>
            <p:txBody>
              <a:bodyPr/>
              <a:lstStyle/>
              <a:p>
                <a:r>
                  <a:rPr lang="zh-CN" altLang="en-US">
                    <a:noFill/>
                  </a:rPr>
                  <a:t> </a:t>
                </a:r>
              </a:p>
            </p:txBody>
          </p:sp>
        </mc:Fallback>
      </mc:AlternateContent>
      <p:sp>
        <p:nvSpPr>
          <p:cNvPr id="13" name="文本框 12"/>
          <p:cNvSpPr txBox="1"/>
          <p:nvPr/>
        </p:nvSpPr>
        <p:spPr>
          <a:xfrm>
            <a:off x="1849120" y="2354580"/>
            <a:ext cx="8233410" cy="2832735"/>
          </a:xfrm>
          <a:prstGeom prst="rect">
            <a:avLst/>
          </a:prstGeom>
          <a:noFill/>
        </p:spPr>
        <p:txBody>
          <a:bodyPr wrap="square" rtlCol="0">
            <a:spAutoFit/>
          </a:bodyPr>
          <a:p>
            <a:r>
              <a:rPr lang="en-US" altLang="zh-CN"/>
              <a:t>-- </a:t>
            </a:r>
            <a:r>
              <a:rPr lang="zh-CN" altLang="en-US"/>
              <a:t>初始化一个智能体</a:t>
            </a:r>
            <a:endParaRPr lang="zh-CN" altLang="en-US"/>
          </a:p>
          <a:p>
            <a:pPr>
              <a:lnSpc>
                <a:spcPct val="70000"/>
              </a:lnSpc>
            </a:pPr>
            <a:endParaRPr lang="zh-CN" altLang="en-US"/>
          </a:p>
          <a:p>
            <a:r>
              <a:rPr lang="en-US" altLang="zh-CN"/>
              <a:t>-- </a:t>
            </a:r>
            <a:r>
              <a:rPr lang="zh-CN" altLang="en-US"/>
              <a:t>在每个循环中：</a:t>
            </a:r>
            <a:endParaRPr lang="zh-CN" altLang="en-US"/>
          </a:p>
          <a:p>
            <a:pPr>
              <a:lnSpc>
                <a:spcPct val="50000"/>
              </a:lnSpc>
            </a:pPr>
            <a:endParaRPr lang="zh-CN" altLang="en-US"/>
          </a:p>
          <a:p>
            <a:pPr indent="457200"/>
            <a:r>
              <a:rPr lang="en-US" altLang="zh-CN"/>
              <a:t>-- </a:t>
            </a:r>
            <a:r>
              <a:rPr lang="zh-CN" altLang="en-US"/>
              <a:t>智能体与环境进行交互得到一些轨迹</a:t>
            </a:r>
            <a:endParaRPr lang="zh-CN" altLang="en-US"/>
          </a:p>
          <a:p>
            <a:pPr indent="457200">
              <a:lnSpc>
                <a:spcPct val="50000"/>
              </a:lnSpc>
            </a:pPr>
            <a:endParaRPr lang="zh-CN" altLang="en-US"/>
          </a:p>
          <a:p>
            <a:pPr indent="457200"/>
            <a:r>
              <a:rPr lang="en-US" altLang="zh-CN"/>
              <a:t>-- </a:t>
            </a:r>
            <a:r>
              <a:rPr lang="zh-CN" altLang="en-US"/>
              <a:t>训练一个</a:t>
            </a:r>
            <a:r>
              <a:rPr lang="en-US" altLang="zh-CN"/>
              <a:t>Reward Function</a:t>
            </a:r>
            <a:r>
              <a:rPr lang="zh-CN" altLang="en-US"/>
              <a:t>使得</a:t>
            </a:r>
            <a:r>
              <a:rPr lang="en-US" altLang="zh-CN"/>
              <a:t>Expert</a:t>
            </a:r>
            <a:r>
              <a:rPr lang="zh-CN" altLang="en-US"/>
              <a:t>中的轨迹所得到的累计奖励值大于智</a:t>
            </a:r>
            <a:endParaRPr lang="zh-CN" altLang="en-US"/>
          </a:p>
          <a:p>
            <a:pPr indent="457200"/>
            <a:r>
              <a:rPr lang="zh-CN" altLang="en-US"/>
              <a:t> </a:t>
            </a:r>
            <a:r>
              <a:rPr lang="en-US" altLang="zh-CN"/>
              <a:t>   </a:t>
            </a:r>
            <a:r>
              <a:rPr lang="zh-CN" altLang="en-US"/>
              <a:t>能体交互得到的轨迹的累计奖励值</a:t>
            </a:r>
            <a:endParaRPr lang="zh-CN" altLang="en-US"/>
          </a:p>
          <a:p>
            <a:pPr indent="457200">
              <a:lnSpc>
                <a:spcPct val="50000"/>
              </a:lnSpc>
            </a:pPr>
            <a:endParaRPr lang="zh-CN" altLang="en-US"/>
          </a:p>
          <a:p>
            <a:pPr indent="457200"/>
            <a:r>
              <a:rPr lang="en-US" altLang="zh-CN"/>
              <a:t>-- </a:t>
            </a:r>
            <a:r>
              <a:rPr lang="zh-CN" altLang="en-US"/>
              <a:t>智能体基于新的</a:t>
            </a:r>
            <a:r>
              <a:rPr lang="en-US" altLang="zh-CN"/>
              <a:t>Reward Function</a:t>
            </a:r>
            <a:r>
              <a:rPr lang="zh-CN" altLang="en-US"/>
              <a:t>最大化自己的累计奖励值</a:t>
            </a:r>
            <a:endParaRPr lang="zh-CN" altLang="en-US"/>
          </a:p>
          <a:p>
            <a:pPr indent="457200">
              <a:lnSpc>
                <a:spcPct val="70000"/>
              </a:lnSpc>
            </a:pPr>
            <a:endParaRPr lang="zh-CN" altLang="en-US"/>
          </a:p>
          <a:p>
            <a:pPr marL="0" lvl="0" indent="0">
              <a:buNone/>
            </a:pPr>
            <a:r>
              <a:rPr lang="en-US" altLang="zh-CN">
                <a:solidFill>
                  <a:schemeClr val="tx1"/>
                </a:solidFill>
              </a:rPr>
              <a:t>-- </a:t>
            </a:r>
            <a:r>
              <a:rPr lang="zh-CN" altLang="en-US">
                <a:solidFill>
                  <a:schemeClr val="tx1"/>
                </a:solidFill>
              </a:rPr>
              <a:t>达到某些条件后，输出最终迭代出的</a:t>
            </a:r>
            <a:r>
              <a:rPr lang="en-US" altLang="zh-CN">
                <a:solidFill>
                  <a:schemeClr val="tx1"/>
                </a:solidFill>
              </a:rPr>
              <a:t>Reward Function</a:t>
            </a:r>
            <a:endParaRPr lang="zh-CN" altLang="en-US">
              <a:solidFill>
                <a:schemeClr val="tx1"/>
              </a:solidFill>
            </a:endParaRPr>
          </a:p>
        </p:txBody>
      </p:sp>
      <p:sp>
        <p:nvSpPr>
          <p:cNvPr id="14" name="文本框 13"/>
          <p:cNvSpPr txBox="1"/>
          <p:nvPr/>
        </p:nvSpPr>
        <p:spPr>
          <a:xfrm>
            <a:off x="1016635" y="5680710"/>
            <a:ext cx="9805035" cy="398780"/>
          </a:xfrm>
          <a:prstGeom prst="rect">
            <a:avLst/>
          </a:prstGeom>
          <a:noFill/>
        </p:spPr>
        <p:txBody>
          <a:bodyPr wrap="square" rtlCol="0">
            <a:spAutoFit/>
          </a:bodyPr>
          <a:p>
            <a:r>
              <a:rPr lang="zh-CN" altLang="en-US" sz="2000">
                <a:solidFill>
                  <a:schemeClr val="accent1"/>
                </a:solidFill>
                <a:effectLst>
                  <a:outerShdw blurRad="38100" dist="25400" dir="5400000" algn="ctr" rotWithShape="0">
                    <a:srgbClr val="6E747A">
                      <a:alpha val="43000"/>
                    </a:srgbClr>
                  </a:outerShdw>
                </a:effectLst>
              </a:rPr>
              <a:t>逆强化学习通过</a:t>
            </a:r>
            <a:r>
              <a:rPr lang="en-US" altLang="zh-CN" sz="2000">
                <a:solidFill>
                  <a:schemeClr val="accent1"/>
                </a:solidFill>
                <a:effectLst>
                  <a:outerShdw blurRad="38100" dist="25400" dir="5400000" algn="ctr" rotWithShape="0">
                    <a:srgbClr val="6E747A">
                      <a:alpha val="43000"/>
                    </a:srgbClr>
                  </a:outerShdw>
                </a:effectLst>
              </a:rPr>
              <a:t>“</a:t>
            </a:r>
            <a:r>
              <a:rPr lang="zh-CN" altLang="en-US" sz="2000">
                <a:solidFill>
                  <a:schemeClr val="accent1"/>
                </a:solidFill>
                <a:effectLst>
                  <a:outerShdw blurRad="38100" dist="25400" dir="5400000" algn="ctr" rotWithShape="0">
                    <a:srgbClr val="6E747A">
                      <a:alpha val="43000"/>
                    </a:srgbClr>
                  </a:outerShdw>
                </a:effectLst>
              </a:rPr>
              <a:t>先射箭，再画靶</a:t>
            </a:r>
            <a:r>
              <a:rPr lang="en-US" altLang="zh-CN" sz="2000">
                <a:solidFill>
                  <a:schemeClr val="accent1"/>
                </a:solidFill>
                <a:effectLst>
                  <a:outerShdw blurRad="38100" dist="25400" dir="5400000" algn="ctr" rotWithShape="0">
                    <a:srgbClr val="6E747A">
                      <a:alpha val="43000"/>
                    </a:srgbClr>
                  </a:outerShdw>
                </a:effectLst>
              </a:rPr>
              <a:t>”</a:t>
            </a:r>
            <a:r>
              <a:rPr lang="zh-CN" altLang="en-US" sz="2000">
                <a:solidFill>
                  <a:schemeClr val="accent1"/>
                </a:solidFill>
                <a:effectLst>
                  <a:outerShdw blurRad="38100" dist="25400" dir="5400000" algn="ctr" rotWithShape="0">
                    <a:srgbClr val="6E747A">
                      <a:alpha val="43000"/>
                    </a:srgbClr>
                  </a:outerShdw>
                </a:effectLst>
              </a:rPr>
              <a:t>这样的思路，训练得到复杂环境下的</a:t>
            </a:r>
            <a:r>
              <a:rPr lang="en-US" altLang="zh-CN" sz="2000">
                <a:solidFill>
                  <a:schemeClr val="accent1"/>
                </a:solidFill>
                <a:effectLst>
                  <a:outerShdw blurRad="38100" dist="25400" dir="5400000" algn="ctr" rotWithShape="0">
                    <a:srgbClr val="6E747A">
                      <a:alpha val="43000"/>
                    </a:srgbClr>
                  </a:outerShdw>
                </a:effectLst>
              </a:rPr>
              <a:t>Reward Function</a:t>
            </a:r>
            <a:endParaRPr lang="en-US" altLang="zh-CN" sz="200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强化学习目前的应用</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3829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强化学习目前的应用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63220" y="1242695"/>
            <a:ext cx="11309985" cy="1368425"/>
          </a:xfrm>
          <a:prstGeom prst="rect">
            <a:avLst/>
          </a:prstGeom>
          <a:noFill/>
        </p:spPr>
        <p:txBody>
          <a:bodyPr wrap="square" rtlCol="0">
            <a:spAutoFit/>
          </a:bodyPr>
          <a:p>
            <a:r>
              <a:rPr lang="en-US" altLang="zh-CN" sz="2000" b="1" i="1"/>
              <a:t>1. </a:t>
            </a:r>
            <a:r>
              <a:rPr lang="zh-CN" altLang="en-US" sz="2000" b="1" i="1"/>
              <a:t>强化学习在无人驾驶中的应用：</a:t>
            </a:r>
            <a:endParaRPr lang="zh-CN" altLang="en-US" sz="2000" b="1" i="1"/>
          </a:p>
          <a:p>
            <a:pPr indent="457200">
              <a:lnSpc>
                <a:spcPct val="50000"/>
              </a:lnSpc>
            </a:pPr>
            <a:endParaRPr lang="zh-CN" altLang="en-US"/>
          </a:p>
          <a:p>
            <a:pPr indent="457200"/>
            <a:r>
              <a:rPr lang="zh-CN" altLang="en-US"/>
              <a:t>强化学习模型在动态环境中进行训练，方法是根据自身经验学习策略，遵循搜索和利用原则，最大限度地减少对交通的干扰。自动驾驶汽车有很多方面需要考虑，具体取决于它做出的最佳决策，其中驾驶区域、交通处理、保持限速、避免碰撞是重要因素</a:t>
            </a:r>
            <a:endParaRPr lang="zh-CN" altLang="en-US"/>
          </a:p>
        </p:txBody>
      </p:sp>
      <p:pic>
        <p:nvPicPr>
          <p:cNvPr id="6" name="图片 5" descr="无人驾驶"/>
          <p:cNvPicPr>
            <a:picLocks noChangeAspect="1"/>
          </p:cNvPicPr>
          <p:nvPr/>
        </p:nvPicPr>
        <p:blipFill>
          <a:blip r:embed="rId1"/>
          <a:stretch>
            <a:fillRect/>
          </a:stretch>
        </p:blipFill>
        <p:spPr>
          <a:xfrm>
            <a:off x="2951480" y="2880360"/>
            <a:ext cx="6134100" cy="342900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3829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强化学习目前的应用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63220" y="1242695"/>
            <a:ext cx="11309985" cy="1091565"/>
          </a:xfrm>
          <a:prstGeom prst="rect">
            <a:avLst/>
          </a:prstGeom>
          <a:noFill/>
        </p:spPr>
        <p:txBody>
          <a:bodyPr wrap="square" rtlCol="0">
            <a:spAutoFit/>
          </a:bodyPr>
          <a:p>
            <a:r>
              <a:rPr lang="en-US" altLang="zh-CN" sz="2000" b="1" i="1"/>
              <a:t>2. </a:t>
            </a:r>
            <a:r>
              <a:rPr lang="zh-CN" altLang="en-US" sz="2000" b="1" i="1"/>
              <a:t>强化学习在机器人中的应用：</a:t>
            </a:r>
            <a:endParaRPr lang="zh-CN" altLang="en-US" sz="2000" b="1" i="1"/>
          </a:p>
          <a:p>
            <a:pPr indent="457200">
              <a:lnSpc>
                <a:spcPct val="50000"/>
              </a:lnSpc>
            </a:pPr>
            <a:endParaRPr lang="zh-CN" altLang="en-US"/>
          </a:p>
          <a:p>
            <a:pPr indent="457200"/>
            <a:r>
              <a:rPr lang="zh-CN" altLang="en-US"/>
              <a:t>通过深度学习和强化学习方法训练机器人，可以使其能够抓取各种物体，甚至是训练中未出现过的物体，因此可将其用于装配线上产品的制造</a:t>
            </a:r>
            <a:endParaRPr lang="zh-CN" altLang="en-US"/>
          </a:p>
        </p:txBody>
      </p:sp>
      <p:pic>
        <p:nvPicPr>
          <p:cNvPr id="7" name="图片 6" descr="机器人"/>
          <p:cNvPicPr>
            <a:picLocks noChangeAspect="1"/>
          </p:cNvPicPr>
          <p:nvPr/>
        </p:nvPicPr>
        <p:blipFill>
          <a:blip r:embed="rId1"/>
          <a:stretch>
            <a:fillRect/>
          </a:stretch>
        </p:blipFill>
        <p:spPr>
          <a:xfrm>
            <a:off x="2547620" y="2539365"/>
            <a:ext cx="6941185" cy="389890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3829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强化学习目前的应用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63220" y="1242695"/>
            <a:ext cx="11309985" cy="1091565"/>
          </a:xfrm>
          <a:prstGeom prst="rect">
            <a:avLst/>
          </a:prstGeom>
          <a:noFill/>
        </p:spPr>
        <p:txBody>
          <a:bodyPr wrap="square" rtlCol="0">
            <a:spAutoFit/>
          </a:bodyPr>
          <a:p>
            <a:r>
              <a:rPr lang="en-US" altLang="zh-CN" sz="2000" b="1" i="1"/>
              <a:t>3. </a:t>
            </a:r>
            <a:r>
              <a:rPr lang="zh-CN" altLang="en-US" sz="2000" b="1" i="1"/>
              <a:t>强化学习在新闻推荐中的应用：</a:t>
            </a:r>
            <a:endParaRPr lang="zh-CN" altLang="en-US" sz="2000" b="1" i="1"/>
          </a:p>
          <a:p>
            <a:pPr indent="457200">
              <a:lnSpc>
                <a:spcPct val="50000"/>
              </a:lnSpc>
            </a:pPr>
            <a:endParaRPr lang="zh-CN" altLang="en-US"/>
          </a:p>
          <a:p>
            <a:pPr indent="457200"/>
            <a:r>
              <a:rPr lang="zh-CN" altLang="en-US"/>
              <a:t>在新闻推荐领域，用户的喜好不是一成不变的，仅仅基于评论和历史喜好向用户推荐新闻无法一劳永逸。基于强化学习的系统则可以动态跟踪读者反馈并更新推荐</a:t>
            </a:r>
            <a:endParaRPr lang="zh-CN" altLang="en-US"/>
          </a:p>
        </p:txBody>
      </p:sp>
      <p:pic>
        <p:nvPicPr>
          <p:cNvPr id="7" name="图片 6" descr="新闻推荐"/>
          <p:cNvPicPr>
            <a:picLocks noChangeAspect="1"/>
          </p:cNvPicPr>
          <p:nvPr/>
        </p:nvPicPr>
        <p:blipFill>
          <a:blip r:embed="rId1"/>
          <a:stretch>
            <a:fillRect/>
          </a:stretch>
        </p:blipFill>
        <p:spPr>
          <a:xfrm>
            <a:off x="2995295" y="2701925"/>
            <a:ext cx="6046470" cy="3536315"/>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3829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强化学习目前的应用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63220" y="1242695"/>
            <a:ext cx="11309985" cy="1368425"/>
          </a:xfrm>
          <a:prstGeom prst="rect">
            <a:avLst/>
          </a:prstGeom>
          <a:noFill/>
        </p:spPr>
        <p:txBody>
          <a:bodyPr wrap="square" rtlCol="0">
            <a:spAutoFit/>
          </a:bodyPr>
          <a:p>
            <a:r>
              <a:rPr lang="en-US" altLang="zh-CN" sz="2000" b="1" i="1"/>
              <a:t>4. </a:t>
            </a:r>
            <a:r>
              <a:rPr lang="zh-CN" altLang="en-US" sz="2000" b="1" i="1"/>
              <a:t>强化学习在游戏领域中的应用：</a:t>
            </a:r>
            <a:endParaRPr lang="zh-CN" altLang="en-US" sz="2000" b="1" i="1"/>
          </a:p>
          <a:p>
            <a:pPr indent="457200">
              <a:lnSpc>
                <a:spcPct val="50000"/>
              </a:lnSpc>
            </a:pPr>
            <a:endParaRPr lang="zh-CN" altLang="en-US"/>
          </a:p>
          <a:p>
            <a:pPr indent="457200"/>
            <a:r>
              <a:rPr lang="zh-CN" altLang="en-US"/>
              <a:t>通过将游戏中的环境状态、玩家动作视为强化学习中的环境和代理来进行学习。强化学习可以在游戏中根据不同玩家的动作验证某策略的准确性。而游戏中最重要的动作为玩家的策略决策，强化学习可以极大地在较复杂的游戏环境中避免人为经验的不足，为玩家提供较高奖励的策略</a:t>
            </a:r>
            <a:endParaRPr lang="zh-CN" altLang="en-US"/>
          </a:p>
        </p:txBody>
      </p:sp>
      <p:pic>
        <p:nvPicPr>
          <p:cNvPr id="6" name="图片 5" descr="游戏"/>
          <p:cNvPicPr>
            <a:picLocks noChangeAspect="1"/>
          </p:cNvPicPr>
          <p:nvPr/>
        </p:nvPicPr>
        <p:blipFill>
          <a:blip r:embed="rId1"/>
          <a:stretch>
            <a:fillRect/>
          </a:stretch>
        </p:blipFill>
        <p:spPr>
          <a:xfrm>
            <a:off x="2994660" y="2796540"/>
            <a:ext cx="6415405" cy="360553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4445" cy="449897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mc:AlternateContent xmlns:mc="http://schemas.openxmlformats.org/markup-compatibility/2006">
        <mc:Choice xmlns:a14="http://schemas.microsoft.com/office/drawing/2010/main" Requires="a14">
          <p:sp>
            <p:nvSpPr>
              <p:cNvPr id="2" name="文本框 1"/>
              <p:cNvSpPr txBox="1"/>
              <p:nvPr/>
            </p:nvSpPr>
            <p:spPr>
              <a:xfrm>
                <a:off x="4094480" y="1411605"/>
                <a:ext cx="6861175" cy="4686300"/>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什么是强化学习？</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sym typeface="+mn-ea"/>
                  </a:rPr>
                  <a:t>有监督学习与强化学习区别</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𝝐</m:t>
                    </m:r>
                  </m:oMath>
                </a14:m>
                <a:r>
                  <a:rPr lang="en-US" altLang="zh-CN" sz="2800" b="1" spc="200" dirty="0">
                    <a:uFillTx/>
                    <a:latin typeface="宋体" panose="02010600030101010101" pitchFamily="2" charset="-122"/>
                    <a:ea typeface="宋体" panose="02010600030101010101" pitchFamily="2" charset="-122"/>
                    <a:cs typeface="+mj-cs"/>
                  </a:rPr>
                  <a:t>-</a:t>
                </a:r>
                <a:r>
                  <a:rPr lang="zh-CN" altLang="en-US" sz="2800" b="1" spc="200" dirty="0">
                    <a:uFillTx/>
                    <a:latin typeface="宋体" panose="02010600030101010101" pitchFamily="2" charset="-122"/>
                    <a:ea typeface="宋体" panose="02010600030101010101" pitchFamily="2" charset="-122"/>
                    <a:cs typeface="+mj-cs"/>
                  </a:rPr>
                  <a:t>贪心算法与</a:t>
                </a:r>
                <a14:m>
                  <m:oMath xmlns:m="http://schemas.openxmlformats.org/officeDocument/2006/math">
                    <m:r>
                      <a:rPr lang="en-US" altLang="zh-CN" sz="2800" b="1" i="1" spc="200" dirty="0">
                        <a:uFillTx/>
                        <a:latin typeface="Cambria Math" panose="02040503050406030204" pitchFamily="18" charset="0"/>
                        <a:ea typeface="宋体" panose="02010600030101010101" pitchFamily="2" charset="-122"/>
                        <a:cs typeface="Cambria Math" panose="02040503050406030204" pitchFamily="18" charset="0"/>
                      </a:rPr>
                      <m:t>𝑺𝒐𝒇𝒕𝒎𝒂𝒙</m:t>
                    </m:r>
                  </m:oMath>
                </a14:m>
                <a:r>
                  <a:rPr lang="zh-CN" altLang="en-US" sz="2800" b="1" spc="200" dirty="0">
                    <a:uFillTx/>
                    <a:latin typeface="宋体" panose="02010600030101010101" pitchFamily="2" charset="-122"/>
                    <a:ea typeface="宋体" panose="02010600030101010101" pitchFamily="2" charset="-122"/>
                    <a:cs typeface="+mj-cs"/>
                  </a:rPr>
                  <a:t>算法</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Policy-based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Value-based Method</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通过逆强化学习反推奖励函数</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强化学习目前的应用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思考题</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p:txBody>
          </p:sp>
        </mc:Choice>
        <mc:Fallback>
          <p:sp>
            <p:nvSpPr>
              <p:cNvPr id="2" name="文本框 1"/>
              <p:cNvSpPr txBox="1">
                <a:spLocks noRot="1" noChangeAspect="1" noMove="1" noResize="1" noEditPoints="1" noAdjustHandles="1" noChangeArrowheads="1" noChangeShapeType="1" noTextEdit="1"/>
              </p:cNvSpPr>
              <p:nvPr/>
            </p:nvSpPr>
            <p:spPr>
              <a:xfrm>
                <a:off x="4094480" y="1411605"/>
                <a:ext cx="6861175" cy="46863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195070"/>
            <a:ext cx="8510905" cy="1476375"/>
          </a:xfrm>
          <a:prstGeom prst="rect">
            <a:avLst/>
          </a:prstGeom>
          <a:noFill/>
        </p:spPr>
        <p:txBody>
          <a:bodyPr wrap="square" rtlCol="0" anchor="t">
            <a:spAutoFit/>
          </a:bodyPr>
          <a:p>
            <a:r>
              <a:rPr lang="en-US" altLang="zh-CN" b="1">
                <a:sym typeface="+mn-ea"/>
              </a:rPr>
              <a:t>7-1 </a:t>
            </a:r>
            <a:r>
              <a:rPr lang="zh-CN" altLang="en-US">
                <a:sym typeface="+mn-ea"/>
              </a:rPr>
              <a:t>强化学习的推理</a:t>
            </a:r>
            <a:r>
              <a:rPr lang="zh-CN" altLang="en-US">
                <a:sym typeface="+mn-ea"/>
              </a:rPr>
              <a:t>过程是什么？</a:t>
            </a:r>
            <a:endParaRPr lang="zh-CN" altLang="en-US">
              <a:sym typeface="+mn-ea"/>
            </a:endParaRPr>
          </a:p>
          <a:p>
            <a:endParaRPr lang="zh-CN" altLang="en-US">
              <a:sym typeface="+mn-ea"/>
            </a:endParaRPr>
          </a:p>
          <a:p>
            <a:endParaRPr lang="zh-CN" altLang="en-US">
              <a:sym typeface="+mn-ea"/>
            </a:endParaRPr>
          </a:p>
          <a:p>
            <a:endParaRPr lang="zh-CN" altLang="en-US">
              <a:sym typeface="+mn-ea"/>
            </a:endParaRPr>
          </a:p>
          <a:p>
            <a:r>
              <a:rPr lang="en-US" altLang="zh-CN" b="1">
                <a:sym typeface="+mn-ea"/>
              </a:rPr>
              <a:t>7-2 </a:t>
            </a:r>
            <a:r>
              <a:rPr lang="zh-CN" altLang="en-US">
                <a:sym typeface="+mn-ea"/>
              </a:rPr>
              <a:t>Policy-based Method 与 Value-based Method的差别</a:t>
            </a:r>
            <a:r>
              <a:rPr lang="zh-CN" altLang="en-US">
                <a:sym typeface="+mn-ea"/>
              </a:rPr>
              <a:t>是什么？</a:t>
            </a:r>
            <a:endParaRPr lang="zh-CN" altLang="en-US">
              <a:sym typeface="+mn-e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195070"/>
            <a:ext cx="11322050" cy="3415030"/>
          </a:xfrm>
          <a:prstGeom prst="rect">
            <a:avLst/>
          </a:prstGeom>
          <a:noFill/>
        </p:spPr>
        <p:txBody>
          <a:bodyPr wrap="square" rtlCol="0" anchor="t">
            <a:spAutoFit/>
          </a:bodyPr>
          <a:p>
            <a:pPr>
              <a:lnSpc>
                <a:spcPct val="150000"/>
              </a:lnSpc>
            </a:pPr>
            <a:r>
              <a:rPr lang="en-US" altLang="zh-CN" b="1">
                <a:sym typeface="+mn-ea"/>
              </a:rPr>
              <a:t>7-3  </a:t>
            </a:r>
            <a:r>
              <a:rPr lang="zh-CN" altLang="en-US">
                <a:sym typeface="+mn-ea"/>
              </a:rPr>
              <a:t>实现一个简单的Q-learning算法</a:t>
            </a:r>
            <a:endParaRPr lang="zh-CN" altLang="en-US">
              <a:sym typeface="+mn-ea"/>
            </a:endParaRPr>
          </a:p>
          <a:p>
            <a:pPr indent="457200">
              <a:lnSpc>
                <a:spcPct val="150000"/>
              </a:lnSpc>
            </a:pPr>
            <a:r>
              <a:rPr lang="zh-CN" altLang="en-US" b="1">
                <a:sym typeface="+mn-ea"/>
              </a:rPr>
              <a:t>背景</a:t>
            </a:r>
            <a:r>
              <a:rPr lang="zh-CN" altLang="en-US">
                <a:sym typeface="+mn-ea"/>
              </a:rPr>
              <a:t>： 你将实现一个简单的Q-learning算法，用于解决一个迷宫环境。迷宫由一个5x5的网格构成，智能体（Agent）从起点(0, 0)开始，目标是到达终点(4, 4)。在这个环境中，智能体可以选择向上、向下、向左和向右移动。每次移动都会获得奖励：到达终点时奖励+1，走出边界或撞到墙壁时奖励-1，其余情况下奖励为0。</a:t>
            </a:r>
            <a:endParaRPr lang="zh-CN" altLang="en-US">
              <a:sym typeface="+mn-ea"/>
            </a:endParaRPr>
          </a:p>
          <a:p>
            <a:pPr indent="457200">
              <a:lnSpc>
                <a:spcPct val="150000"/>
              </a:lnSpc>
            </a:pPr>
            <a:r>
              <a:rPr lang="zh-CN" altLang="en-US" b="1">
                <a:sym typeface="+mn-ea"/>
              </a:rPr>
              <a:t>要求</a:t>
            </a:r>
            <a:r>
              <a:rPr lang="zh-CN" altLang="en-US">
                <a:sym typeface="+mn-ea"/>
              </a:rPr>
              <a:t>：</a:t>
            </a:r>
            <a:endParaRPr lang="zh-CN" altLang="en-US">
              <a:sym typeface="+mn-ea"/>
            </a:endParaRPr>
          </a:p>
          <a:p>
            <a:pPr marL="800100" lvl="1" indent="-342900">
              <a:lnSpc>
                <a:spcPct val="150000"/>
              </a:lnSpc>
              <a:buFont typeface="+mj-lt"/>
              <a:buAutoNum type="arabicPeriod"/>
            </a:pPr>
            <a:r>
              <a:rPr lang="zh-CN" altLang="en-US">
                <a:sym typeface="+mn-ea"/>
              </a:rPr>
              <a:t>使用Q-learning算法来训练智能体。</a:t>
            </a:r>
            <a:endParaRPr lang="zh-CN" altLang="en-US">
              <a:sym typeface="+mn-ea"/>
            </a:endParaRPr>
          </a:p>
          <a:p>
            <a:pPr marL="800100" lvl="1" indent="-342900">
              <a:lnSpc>
                <a:spcPct val="150000"/>
              </a:lnSpc>
              <a:buFont typeface="+mj-lt"/>
              <a:buAutoNum type="arabicPeriod"/>
            </a:pPr>
            <a:r>
              <a:rPr lang="zh-CN" altLang="en-US">
                <a:sym typeface="+mn-ea"/>
              </a:rPr>
              <a:t>输出训练过程中智能体的Q值表。</a:t>
            </a:r>
            <a:endParaRPr lang="zh-CN" altLang="en-US">
              <a:sym typeface="+mn-ea"/>
            </a:endParaRPr>
          </a:p>
          <a:p>
            <a:pPr marL="800100" lvl="1" indent="-342900">
              <a:lnSpc>
                <a:spcPct val="150000"/>
              </a:lnSpc>
              <a:buFont typeface="+mj-lt"/>
              <a:buAutoNum type="arabicPeriod"/>
            </a:pPr>
            <a:r>
              <a:rPr lang="zh-CN" altLang="en-US">
                <a:sym typeface="+mn-ea"/>
              </a:rPr>
              <a:t>测试训练后的智能体，输出到达终点的路径。</a:t>
            </a:r>
            <a:endParaRPr lang="zh-CN" altLang="en-US">
              <a:sym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custDataLst>
              <p:tags r:id="rId1"/>
            </p:custDataLst>
          </p:nvPr>
        </p:nvSpPr>
        <p:spPr>
          <a:xfrm>
            <a:off x="301625" y="1195070"/>
            <a:ext cx="11322050" cy="5323840"/>
          </a:xfrm>
          <a:prstGeom prst="rect">
            <a:avLst/>
          </a:prstGeom>
          <a:noFill/>
        </p:spPr>
        <p:txBody>
          <a:bodyPr wrap="square" rtlCol="0" anchor="t">
            <a:spAutoFit/>
          </a:bodyPr>
          <a:p>
            <a:r>
              <a:rPr lang="en-US" altLang="zh-CN" b="1">
                <a:sym typeface="+mn-ea"/>
              </a:rPr>
              <a:t>7-1 </a:t>
            </a:r>
            <a:r>
              <a:rPr lang="zh-CN" altLang="en-US">
                <a:sym typeface="+mn-ea"/>
              </a:rPr>
              <a:t>强化学习的推理</a:t>
            </a:r>
            <a:r>
              <a:rPr lang="zh-CN" altLang="en-US">
                <a:sym typeface="+mn-ea"/>
              </a:rPr>
              <a:t>过程是什么？</a:t>
            </a:r>
            <a:endParaRPr lang="zh-CN" altLang="en-US">
              <a:sym typeface="+mn-ea"/>
            </a:endParaRPr>
          </a:p>
          <a:p>
            <a:pPr>
              <a:lnSpc>
                <a:spcPct val="40000"/>
              </a:lnSpc>
            </a:pPr>
            <a:endParaRPr lang="zh-CN" altLang="en-US">
              <a:sym typeface="+mn-ea"/>
            </a:endParaRPr>
          </a:p>
          <a:p>
            <a:r>
              <a:rPr lang="en-US" altLang="zh-CN">
                <a:sym typeface="+mn-ea"/>
              </a:rPr>
              <a:t>1</a:t>
            </a:r>
            <a:r>
              <a:rPr lang="zh-CN" altLang="en-US">
                <a:sym typeface="+mn-ea"/>
              </a:rPr>
              <a:t>）智能体通过观察环境得到环境中针对于当前任务所关心的当前状态</a:t>
            </a:r>
            <a:endParaRPr lang="zh-CN" altLang="en-US"/>
          </a:p>
          <a:p>
            <a:pPr>
              <a:lnSpc>
                <a:spcPct val="30000"/>
              </a:lnSpc>
            </a:pPr>
            <a:endParaRPr lang="zh-CN" altLang="en-US"/>
          </a:p>
          <a:p>
            <a:r>
              <a:rPr lang="en-US" altLang="zh-CN">
                <a:sym typeface="+mn-ea"/>
              </a:rPr>
              <a:t>2</a:t>
            </a:r>
            <a:r>
              <a:rPr lang="zh-CN" altLang="en-US">
                <a:sym typeface="+mn-ea"/>
              </a:rPr>
              <a:t>）根据环境的当前状态，智能体产生对应的行为作用于环境上，改变环境</a:t>
            </a:r>
            <a:endParaRPr lang="zh-CN" altLang="en-US"/>
          </a:p>
          <a:p>
            <a:pPr>
              <a:lnSpc>
                <a:spcPct val="30000"/>
              </a:lnSpc>
            </a:pPr>
            <a:endParaRPr lang="zh-CN" altLang="en-US"/>
          </a:p>
          <a:p>
            <a:r>
              <a:rPr lang="en-US" altLang="zh-CN">
                <a:sym typeface="+mn-ea"/>
              </a:rPr>
              <a:t>3</a:t>
            </a:r>
            <a:r>
              <a:rPr lang="zh-CN" altLang="en-US">
                <a:sym typeface="+mn-ea"/>
              </a:rPr>
              <a:t>）环境根据自身的改变产生对应的奖励反馈给智能体</a:t>
            </a:r>
            <a:endParaRPr lang="zh-CN" altLang="en-US"/>
          </a:p>
          <a:p>
            <a:endParaRPr lang="zh-CN" altLang="en-US">
              <a:sym typeface="+mn-ea"/>
            </a:endParaRPr>
          </a:p>
          <a:p>
            <a:r>
              <a:rPr lang="en-US" altLang="zh-CN" b="1">
                <a:sym typeface="+mn-ea"/>
              </a:rPr>
              <a:t>7-2 </a:t>
            </a:r>
            <a:r>
              <a:rPr lang="zh-CN" altLang="en-US">
                <a:sym typeface="+mn-ea"/>
              </a:rPr>
              <a:t>Policy-based Method 与 Value-based Method的差别</a:t>
            </a:r>
            <a:r>
              <a:rPr lang="zh-CN" altLang="en-US">
                <a:sym typeface="+mn-ea"/>
              </a:rPr>
              <a:t>是什么？</a:t>
            </a:r>
            <a:endParaRPr lang="zh-CN" altLang="en-US">
              <a:sym typeface="+mn-ea"/>
            </a:endParaRPr>
          </a:p>
          <a:p>
            <a:pPr>
              <a:lnSpc>
                <a:spcPct val="30000"/>
              </a:lnSpc>
            </a:pPr>
            <a:endParaRPr lang="zh-CN" altLang="en-US">
              <a:sym typeface="+mn-ea"/>
            </a:endParaRPr>
          </a:p>
          <a:p>
            <a:r>
              <a:rPr lang="zh-CN" altLang="en-US">
                <a:sym typeface="+mn-ea"/>
              </a:rPr>
              <a:t>1）生成最终的行为上的差异：一个随机，一个确定</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Policy-based Method不会收敛到一个确定性的值，而是得到每种行为的概率</a:t>
            </a:r>
            <a:endParaRPr lang="zh-CN" altLang="en-US">
              <a:sym typeface="+mn-ea"/>
            </a:endParaRPr>
          </a:p>
          <a:p>
            <a:pPr indent="457200">
              <a:lnSpc>
                <a:spcPct val="20000"/>
              </a:lnSpc>
            </a:pP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Value-base Method中的action-value估计值最终会收敛到对应的true values，因此通常会获得一个确定的</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策略</a:t>
            </a:r>
            <a:endParaRPr lang="zh-CN" altLang="en-US">
              <a:sym typeface="+mn-ea"/>
            </a:endParaRPr>
          </a:p>
          <a:p>
            <a:pPr indent="457200">
              <a:lnSpc>
                <a:spcPct val="20000"/>
              </a:lnSpc>
            </a:pPr>
            <a:endParaRPr lang="zh-CN" altLang="en-US">
              <a:sym typeface="+mn-ea"/>
            </a:endParaRPr>
          </a:p>
          <a:p>
            <a:pPr marL="0" lvl="0" indent="0">
              <a:lnSpc>
                <a:spcPct val="50000"/>
              </a:lnSpc>
              <a:buNone/>
            </a:pPr>
            <a:endParaRPr lang="zh-CN" altLang="en-US">
              <a:solidFill>
                <a:schemeClr val="tx1"/>
              </a:solidFill>
              <a:sym typeface="+mn-ea"/>
            </a:endParaRPr>
          </a:p>
          <a:p>
            <a:pPr marL="0" lvl="0" indent="0">
              <a:lnSpc>
                <a:spcPct val="50000"/>
              </a:lnSpc>
              <a:buNone/>
            </a:pPr>
            <a:r>
              <a:rPr lang="zh-CN" altLang="en-US">
                <a:solidFill>
                  <a:schemeClr val="tx1"/>
                </a:solidFill>
                <a:sym typeface="+mn-ea"/>
              </a:rPr>
              <a:t>2</a:t>
            </a:r>
            <a:r>
              <a:rPr lang="zh-CN" altLang="en-US">
                <a:sym typeface="+mn-ea"/>
              </a:rPr>
              <a:t>）行为空间上的差异：一个连续，一个离散</a:t>
            </a:r>
            <a:endParaRPr lang="zh-CN" altLang="en-US">
              <a:solidFill>
                <a:schemeClr val="tx1"/>
              </a:solidFill>
              <a:sym typeface="+mn-ea"/>
            </a:endParaRPr>
          </a:p>
          <a:p>
            <a:pPr indent="457200">
              <a:lnSpc>
                <a:spcPct val="50000"/>
              </a:lnSpc>
            </a:pPr>
            <a:endParaRPr lang="zh-CN" altLang="en-US">
              <a:sym typeface="+mn-ea"/>
            </a:endParaRPr>
          </a:p>
          <a:p>
            <a:pPr indent="457200">
              <a:lnSpc>
                <a:spcPct val="50000"/>
              </a:lnSpc>
            </a:pPr>
            <a:r>
              <a:rPr lang="zh-CN" altLang="en-US">
                <a:sym typeface="+mn-ea"/>
              </a:rPr>
              <a:t>-- Policy-based适用于连续的动作空间，在连续的动作空间中，可以不用计算每个动作的概率，而是通过正</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态分布来选择行为</a:t>
            </a:r>
            <a:endParaRPr lang="zh-CN" altLang="en-US">
              <a:sym typeface="+mn-ea"/>
            </a:endParaRPr>
          </a:p>
          <a:p>
            <a:pPr indent="457200">
              <a:lnSpc>
                <a:spcPct val="20000"/>
              </a:lnSpc>
            </a:pP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Value-based对于连续动作空间问题，虽然可以将动作空间离散化处理，但离散间距的选取不易确定。过</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大的离散间距会导致算法取不到最优行为，而是在最优附近徘徊；过小的离散间距会使得行为的维度增大，</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会和高维度动作空间一样导致维度灾难，影响算法的速度。因此Value-based Method通常对于连续动作空</a:t>
            </a:r>
            <a:endParaRPr lang="zh-CN" altLang="en-US">
              <a:sym typeface="+mn-ea"/>
            </a:endParaRPr>
          </a:p>
          <a:p>
            <a:pPr indent="457200">
              <a:lnSpc>
                <a:spcPct val="50000"/>
              </a:lnSpc>
            </a:pPr>
            <a:endParaRPr lang="zh-CN" altLang="en-US">
              <a:sym typeface="+mn-ea"/>
            </a:endParaRPr>
          </a:p>
          <a:p>
            <a:pPr indent="457200">
              <a:lnSpc>
                <a:spcPct val="50000"/>
              </a:lnSpc>
            </a:pPr>
            <a:r>
              <a:rPr lang="zh-CN" altLang="en-US">
                <a:sym typeface="+mn-ea"/>
              </a:rPr>
              <a:t>    间问题无能为力</a:t>
            </a:r>
            <a:endParaRPr lang="zh-CN" altLang="en-US">
              <a:sym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custDataLst>
              <p:tags r:id="rId1"/>
            </p:custDataLst>
          </p:nvPr>
        </p:nvSpPr>
        <p:spPr>
          <a:xfrm>
            <a:off x="269240" y="1026160"/>
            <a:ext cx="1040765" cy="368300"/>
          </a:xfrm>
          <a:prstGeom prst="rect">
            <a:avLst/>
          </a:prstGeom>
          <a:noFill/>
        </p:spPr>
        <p:txBody>
          <a:bodyPr wrap="square" rtlCol="0" anchor="t">
            <a:spAutoFit/>
          </a:bodyPr>
          <a:p>
            <a:r>
              <a:rPr lang="en-US" altLang="zh-CN" b="1">
                <a:sym typeface="+mn-ea"/>
              </a:rPr>
              <a:t>7-3 </a:t>
            </a:r>
            <a:r>
              <a:rPr lang="zh-CN" altLang="en-US" b="1">
                <a:sym typeface="+mn-ea"/>
              </a:rPr>
              <a:t>答案</a:t>
            </a:r>
            <a:r>
              <a:rPr lang="en-US" altLang="zh-CN" b="1">
                <a:sym typeface="+mn-ea"/>
              </a:rPr>
              <a:t> </a:t>
            </a:r>
            <a:endParaRPr lang="zh-CN" altLang="en-US">
              <a:sym typeface="+mn-ea"/>
            </a:endParaRPr>
          </a:p>
        </p:txBody>
      </p:sp>
      <p:pic>
        <p:nvPicPr>
          <p:cNvPr id="6" name="图片 5"/>
          <p:cNvPicPr>
            <a:picLocks noChangeAspect="1"/>
          </p:cNvPicPr>
          <p:nvPr/>
        </p:nvPicPr>
        <p:blipFill>
          <a:blip r:embed="rId2"/>
          <a:stretch>
            <a:fillRect/>
          </a:stretch>
        </p:blipFill>
        <p:spPr>
          <a:xfrm>
            <a:off x="1508125" y="1026160"/>
            <a:ext cx="4126865" cy="5763260"/>
          </a:xfrm>
          <a:prstGeom prst="rect">
            <a:avLst/>
          </a:prstGeom>
        </p:spPr>
      </p:pic>
      <p:pic>
        <p:nvPicPr>
          <p:cNvPr id="7" name="图片 6"/>
          <p:cNvPicPr>
            <a:picLocks noChangeAspect="1"/>
          </p:cNvPicPr>
          <p:nvPr/>
        </p:nvPicPr>
        <p:blipFill>
          <a:blip r:embed="rId3"/>
          <a:stretch>
            <a:fillRect/>
          </a:stretch>
        </p:blipFill>
        <p:spPr>
          <a:xfrm>
            <a:off x="6313805" y="1465580"/>
            <a:ext cx="3463925" cy="46736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27025" y="1250315"/>
            <a:ext cx="11299190" cy="2712720"/>
          </a:xfrm>
          <a:prstGeom prst="rect">
            <a:avLst/>
          </a:prstGeom>
          <a:noFill/>
        </p:spPr>
        <p:txBody>
          <a:bodyPr wrap="square" rtlCol="0">
            <a:spAutoFit/>
          </a:bodyPr>
          <a:p>
            <a:pPr indent="457200"/>
            <a:r>
              <a:rPr lang="zh-CN" altLang="en-US"/>
              <a:t>在现实任务中，我们往往有多种学习算法可供选择，甚至对同一个学习算法，当使用不同的参数配置时，也会产生不同的模型。那么我们该选用哪一个学习算法，使用哪一种参数配置呢？</a:t>
            </a:r>
            <a:endParaRPr lang="zh-CN" altLang="en-US"/>
          </a:p>
          <a:p>
            <a:pPr indent="457200">
              <a:lnSpc>
                <a:spcPct val="20000"/>
              </a:lnSpc>
            </a:pPr>
            <a:endParaRPr lang="zh-CN" altLang="en-US"/>
          </a:p>
          <a:p>
            <a:pPr indent="457200"/>
            <a:r>
              <a:rPr lang="en-US" altLang="zh-CN"/>
              <a:t>-- </a:t>
            </a:r>
            <a:r>
              <a:rPr lang="zh-CN" altLang="en-US"/>
              <a:t>理想的解决方案：对候选模型的泛化误差进行评估，选择</a:t>
            </a:r>
            <a:r>
              <a:rPr lang="zh-CN" altLang="en-US">
                <a:solidFill>
                  <a:schemeClr val="accent1"/>
                </a:solidFill>
                <a:effectLst>
                  <a:outerShdw blurRad="38100" dist="25400" dir="5400000" algn="ctr" rotWithShape="0">
                    <a:srgbClr val="6E747A">
                      <a:alpha val="43000"/>
                    </a:srgbClr>
                  </a:outerShdw>
                </a:effectLst>
              </a:rPr>
              <a:t>泛化误差</a:t>
            </a:r>
            <a:r>
              <a:rPr lang="zh-CN" altLang="en-US"/>
              <a:t>最小的模型</a:t>
            </a:r>
            <a:endParaRPr lang="zh-CN" altLang="en-US"/>
          </a:p>
          <a:p>
            <a:pPr indent="457200">
              <a:lnSpc>
                <a:spcPct val="20000"/>
              </a:lnSpc>
            </a:pPr>
            <a:r>
              <a:rPr lang="en-US" altLang="zh-CN"/>
              <a:t>                                        </a:t>
            </a:r>
            <a:endParaRPr lang="en-US" altLang="zh-CN"/>
          </a:p>
          <a:p>
            <a:pPr indent="457200"/>
            <a:r>
              <a:rPr lang="en-US" altLang="zh-CN"/>
              <a:t>                                        </a:t>
            </a:r>
            <a:r>
              <a:rPr lang="zh-CN" altLang="en-US" sz="1600">
                <a:solidFill>
                  <a:schemeClr val="accent1"/>
                </a:solidFill>
                <a:effectLst>
                  <a:outerShdw blurRad="38100" dist="25400" dir="5400000" algn="ctr" rotWithShape="0">
                    <a:srgbClr val="6E747A">
                      <a:alpha val="43000"/>
                    </a:srgbClr>
                  </a:outerShdw>
                </a:effectLst>
              </a:rPr>
              <a:t>误差</a:t>
            </a:r>
            <a:r>
              <a:rPr lang="zh-CN" altLang="en-US" sz="1600"/>
              <a:t>：学习器的实际预测输出与样本的真实输出之间的差异</a:t>
            </a:r>
            <a:endParaRPr lang="zh-CN" altLang="en-US" sz="1600"/>
          </a:p>
          <a:p>
            <a:pPr indent="457200"/>
            <a:r>
              <a:rPr lang="zh-CN" altLang="en-US" sz="1600"/>
              <a:t> </a:t>
            </a:r>
            <a:r>
              <a:rPr lang="en-US" altLang="zh-CN" sz="1600"/>
              <a:t>                                            </a:t>
            </a:r>
            <a:r>
              <a:rPr lang="zh-CN" altLang="en-US" sz="1600">
                <a:solidFill>
                  <a:schemeClr val="accent1"/>
                </a:solidFill>
                <a:effectLst>
                  <a:outerShdw blurRad="38100" dist="25400" dir="5400000" algn="ctr" rotWithShape="0">
                    <a:srgbClr val="6E747A">
                      <a:alpha val="43000"/>
                    </a:srgbClr>
                  </a:outerShdw>
                </a:effectLst>
              </a:rPr>
              <a:t>泛化误差</a:t>
            </a:r>
            <a:r>
              <a:rPr lang="zh-CN" altLang="en-US" sz="1600"/>
              <a:t>：在训练集以外的新样本上的误差</a:t>
            </a:r>
            <a:endParaRPr lang="zh-CN" altLang="en-US" sz="1600"/>
          </a:p>
          <a:p>
            <a:pPr indent="457200">
              <a:lnSpc>
                <a:spcPct val="50000"/>
              </a:lnSpc>
            </a:pPr>
            <a:endParaRPr lang="zh-CN" altLang="en-US" sz="1600"/>
          </a:p>
          <a:p>
            <a:pPr indent="457200"/>
            <a:r>
              <a:rPr lang="en-US" altLang="zh-CN" sz="1600"/>
              <a:t>-- </a:t>
            </a:r>
            <a:r>
              <a:rPr lang="zh-CN" altLang="en-US" sz="1600"/>
              <a:t>实际情况：我们事先并不知道新样本是什么样，无法直接获得</a:t>
            </a:r>
            <a:r>
              <a:rPr lang="zh-CN" altLang="en-US" sz="1600">
                <a:solidFill>
                  <a:schemeClr val="accent1"/>
                </a:solidFill>
                <a:effectLst>
                  <a:outerShdw blurRad="38100" dist="25400" dir="5400000" algn="ctr" rotWithShape="0">
                    <a:srgbClr val="6E747A">
                      <a:alpha val="43000"/>
                    </a:srgbClr>
                  </a:outerShdw>
                </a:effectLst>
              </a:rPr>
              <a:t>泛化误差</a:t>
            </a:r>
            <a:endParaRPr lang="zh-CN" altLang="en-US" sz="1600">
              <a:solidFill>
                <a:schemeClr val="accent1"/>
              </a:solidFill>
              <a:effectLst>
                <a:outerShdw blurRad="38100" dist="25400" dir="5400000" algn="ctr" rotWithShape="0">
                  <a:srgbClr val="6E747A">
                    <a:alpha val="43000"/>
                  </a:srgbClr>
                </a:outerShdw>
              </a:effectLst>
            </a:endParaRPr>
          </a:p>
          <a:p>
            <a:pPr indent="457200"/>
            <a:endParaRPr lang="zh-CN" altLang="en-US" sz="1600">
              <a:solidFill>
                <a:schemeClr val="accent1"/>
              </a:solidFill>
              <a:effectLst>
                <a:outerShdw blurRad="38100" dist="25400" dir="5400000" algn="ctr" rotWithShape="0">
                  <a:srgbClr val="6E747A">
                    <a:alpha val="43000"/>
                  </a:srgbClr>
                </a:outerShdw>
              </a:effectLst>
            </a:endParaRPr>
          </a:p>
          <a:p>
            <a:pPr indent="457200"/>
            <a:r>
              <a:rPr lang="zh-CN" altLang="en-US" sz="1600"/>
              <a:t>那么在现实情况中，我们如何进行模型评估与选择呢？</a:t>
            </a:r>
            <a:endParaRPr lang="zh-CN" altLang="en-US" sz="1600"/>
          </a:p>
          <a:p>
            <a:pPr indent="457200">
              <a:lnSpc>
                <a:spcPct val="20000"/>
              </a:lnSpc>
            </a:pPr>
            <a:endParaRPr lang="zh-CN" altLang="en-US" sz="1600"/>
          </a:p>
          <a:p>
            <a:pPr indent="457200"/>
            <a:r>
              <a:rPr lang="en-US" altLang="zh-CN" sz="1600"/>
              <a:t>-- </a:t>
            </a:r>
            <a:r>
              <a:rPr lang="zh-CN" altLang="en-US" sz="1600"/>
              <a:t>我们需要找到合适的</a:t>
            </a:r>
            <a:r>
              <a:rPr lang="zh-CN" altLang="en-US" sz="1600">
                <a:solidFill>
                  <a:srgbClr val="00B050"/>
                </a:solidFill>
                <a:effectLst>
                  <a:outerShdw blurRad="38100" dist="25400" dir="5400000" algn="ctr" rotWithShape="0">
                    <a:srgbClr val="6E747A">
                      <a:alpha val="43000"/>
                    </a:srgbClr>
                  </a:outerShdw>
                </a:effectLst>
              </a:rPr>
              <a:t>评估方法</a:t>
            </a:r>
            <a:r>
              <a:rPr lang="en-US" altLang="zh-CN" sz="1600"/>
              <a:t>+</a:t>
            </a:r>
            <a:r>
              <a:rPr lang="zh-CN" altLang="en-US" sz="1600">
                <a:solidFill>
                  <a:schemeClr val="accent2"/>
                </a:solidFill>
              </a:rPr>
              <a:t>性能度量</a:t>
            </a:r>
            <a:endParaRPr lang="zh-CN" altLang="en-US" sz="1600">
              <a:solidFill>
                <a:schemeClr val="accent2"/>
              </a:solidFill>
            </a:endParaRPr>
          </a:p>
        </p:txBody>
      </p:sp>
      <p:pic>
        <p:nvPicPr>
          <p:cNvPr id="6" name="图片 5" descr="过拟合2"/>
          <p:cNvPicPr>
            <a:picLocks noChangeAspect="1"/>
          </p:cNvPicPr>
          <p:nvPr>
            <p:custDataLst>
              <p:tags r:id="rId1"/>
            </p:custDataLst>
          </p:nvPr>
        </p:nvPicPr>
        <p:blipFill>
          <a:blip r:embed="rId2"/>
          <a:stretch>
            <a:fillRect/>
          </a:stretch>
        </p:blipFill>
        <p:spPr>
          <a:xfrm>
            <a:off x="1155700" y="4110355"/>
            <a:ext cx="6490335" cy="2498725"/>
          </a:xfrm>
          <a:prstGeom prst="rect">
            <a:avLst/>
          </a:prstGeom>
        </p:spPr>
      </p:pic>
      <p:sp>
        <p:nvSpPr>
          <p:cNvPr id="7" name="文本框 6"/>
          <p:cNvSpPr txBox="1"/>
          <p:nvPr/>
        </p:nvSpPr>
        <p:spPr>
          <a:xfrm>
            <a:off x="7843520" y="4832350"/>
            <a:ext cx="4100830" cy="368300"/>
          </a:xfrm>
          <a:prstGeom prst="rect">
            <a:avLst/>
          </a:prstGeom>
          <a:noFill/>
        </p:spPr>
        <p:txBody>
          <a:bodyPr wrap="square" rtlCol="0">
            <a:spAutoFit/>
          </a:bodyPr>
          <a:p>
            <a:r>
              <a:rPr lang="zh-CN" altLang="en-US"/>
              <a:t>欠拟合与过拟合均会造成泛化误差较大</a:t>
            </a:r>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6" name="文本框 5"/>
              <p:cNvSpPr txBox="1"/>
              <p:nvPr/>
            </p:nvSpPr>
            <p:spPr>
              <a:xfrm>
                <a:off x="294005" y="1160145"/>
                <a:ext cx="11332210" cy="5409565"/>
              </a:xfrm>
              <a:prstGeom prst="rect">
                <a:avLst/>
              </a:prstGeom>
              <a:noFill/>
            </p:spPr>
            <p:txBody>
              <a:bodyPr wrap="square" rtlCol="0">
                <a:spAutoFit/>
              </a:bodyPr>
              <a:p>
                <a:r>
                  <a:rPr lang="zh-CN" altLang="en-US"/>
                  <a:t>评估方法：通过实验测试来对学习器的</a:t>
                </a:r>
                <a:r>
                  <a:rPr lang="zh-CN" altLang="en-US">
                    <a:solidFill>
                      <a:schemeClr val="accent1"/>
                    </a:solidFill>
                    <a:effectLst>
                      <a:outerShdw blurRad="38100" dist="25400" dir="5400000" algn="ctr" rotWithShape="0">
                        <a:srgbClr val="6E747A">
                          <a:alpha val="43000"/>
                        </a:srgbClr>
                      </a:outerShdw>
                    </a:effectLst>
                  </a:rPr>
                  <a:t>泛化误差</a:t>
                </a:r>
                <a:r>
                  <a:rPr lang="zh-CN" altLang="en-US"/>
                  <a:t>进行评估并进而做出选择。采用测试集来测试学习器对新样本</a:t>
                </a:r>
                <a:endParaRPr lang="zh-CN" altLang="en-US"/>
              </a:p>
              <a:p>
                <a:r>
                  <a:rPr lang="zh-CN" altLang="en-US"/>
                  <a:t> </a:t>
                </a:r>
                <a:r>
                  <a:rPr lang="en-US" altLang="zh-CN"/>
                  <a:t>                     </a:t>
                </a:r>
                <a:r>
                  <a:rPr lang="zh-CN" altLang="en-US"/>
                  <a:t>的判别能力，以测试集上的测试误差作为</a:t>
                </a:r>
                <a:r>
                  <a:rPr lang="zh-CN" altLang="en-US">
                    <a:solidFill>
                      <a:schemeClr val="accent1"/>
                    </a:solidFill>
                    <a:effectLst>
                      <a:outerShdw blurRad="38100" dist="25400" dir="5400000" algn="ctr" rotWithShape="0">
                        <a:srgbClr val="6E747A">
                          <a:alpha val="43000"/>
                        </a:srgbClr>
                      </a:outerShdw>
                    </a:effectLst>
                  </a:rPr>
                  <a:t>泛化误差</a:t>
                </a:r>
                <a:r>
                  <a:rPr lang="zh-CN" altLang="en-US"/>
                  <a:t>的近似，测试集中的样本应尽可能与训练集</a:t>
                </a:r>
                <a:r>
                  <a:rPr lang="zh-CN" altLang="en-US">
                    <a:solidFill>
                      <a:schemeClr val="accent1"/>
                    </a:solidFill>
                    <a:effectLst>
                      <a:outerShdw blurRad="38100" dist="25400" dir="5400000" algn="ctr" rotWithShape="0">
                        <a:srgbClr val="6E747A">
                          <a:alpha val="43000"/>
                        </a:srgbClr>
                      </a:outerShdw>
                    </a:effectLst>
                  </a:rPr>
                  <a:t>互斥</a:t>
                </a:r>
                <a:r>
                  <a:rPr lang="zh-CN" altLang="en-US"/>
                  <a:t>。</a:t>
                </a:r>
                <a:endParaRPr lang="zh-CN" altLang="en-US"/>
              </a:p>
              <a:p>
                <a:r>
                  <a:rPr lang="zh-CN" altLang="en-US"/>
                  <a:t> </a:t>
                </a:r>
                <a:r>
                  <a:rPr lang="en-US" altLang="zh-CN"/>
                  <a:t>                     </a:t>
                </a:r>
                <a:endParaRPr lang="en-US" altLang="zh-CN"/>
              </a:p>
              <a:p>
                <a:r>
                  <a:rPr lang="zh-CN" altLang="en-US"/>
                  <a:t>那么如何将一个数据集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进行划分得到训练集</a:t>
                </a:r>
                <a14:m>
                  <m:oMath xmlns:m="http://schemas.openxmlformats.org/officeDocument/2006/math">
                    <m:r>
                      <a:rPr lang="en-US" altLang="zh-CN" i="1">
                        <a:latin typeface="Cambria Math" panose="02040503050406030204" pitchFamily="18" charset="0"/>
                        <a:cs typeface="Cambria Math" panose="02040503050406030204" pitchFamily="18" charset="0"/>
                      </a:rPr>
                      <m:t>𝑆</m:t>
                    </m:r>
                  </m:oMath>
                </a14:m>
                <a:r>
                  <a:rPr lang="zh-CN" altLang="en-US">
                    <a:latin typeface="Cambria Math" panose="02040503050406030204" pitchFamily="18" charset="0"/>
                    <a:cs typeface="Cambria Math" panose="02040503050406030204" pitchFamily="18" charset="0"/>
                  </a:rPr>
                  <a:t>和测试集</a:t>
                </a:r>
                <a14:m>
                  <m:oMath xmlns:m="http://schemas.openxmlformats.org/officeDocument/2006/math">
                    <m:r>
                      <a:rPr lang="en-US" altLang="zh-CN" i="1">
                        <a:latin typeface="Cambria Math" panose="02040503050406030204" pitchFamily="18" charset="0"/>
                        <a:cs typeface="Cambria Math" panose="02040503050406030204" pitchFamily="18" charset="0"/>
                      </a:rPr>
                      <m:t>𝑇</m:t>
                    </m:r>
                  </m:oMath>
                </a14:m>
                <a:r>
                  <a:rPr lang="zh-CN" altLang="en-US">
                    <a:latin typeface="Cambria Math" panose="02040503050406030204" pitchFamily="18" charset="0"/>
                    <a:cs typeface="Cambria Math" panose="02040503050406030204" pitchFamily="18" charset="0"/>
                  </a:rPr>
                  <a:t>呢？</a:t>
                </a:r>
                <a:endParaRPr lang="zh-CN" altLang="en-US">
                  <a:latin typeface="Cambria Math" panose="02040503050406030204" pitchFamily="18" charset="0"/>
                  <a:cs typeface="Cambria Math" panose="02040503050406030204" pitchFamily="18" charset="0"/>
                </a:endParaRPr>
              </a:p>
              <a:p>
                <a:pPr>
                  <a:lnSpc>
                    <a:spcPct val="20000"/>
                  </a:lnSpc>
                </a:pPr>
                <a:endParaRPr lang="zh-CN" altLang="en-US">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常见的做法有：</a:t>
                </a:r>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留出法</a:t>
                </a:r>
                <a:r>
                  <a:rPr lang="en-US" altLang="zh-CN">
                    <a:latin typeface="Cambria Math" panose="02040503050406030204" pitchFamily="18" charset="0"/>
                    <a:cs typeface="Cambria Math" panose="02040503050406030204" pitchFamily="18" charset="0"/>
                  </a:rPr>
                  <a:t>  2</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交叉验证法</a:t>
                </a:r>
                <a:r>
                  <a:rPr lang="en-US" altLang="zh-CN">
                    <a:latin typeface="Cambria Math" panose="02040503050406030204" pitchFamily="18" charset="0"/>
                    <a:cs typeface="Cambria Math" panose="02040503050406030204" pitchFamily="18" charset="0"/>
                  </a:rPr>
                  <a:t>  3</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自助法</a:t>
                </a:r>
                <a:endParaRPr lang="zh-CN" altLang="en-US">
                  <a:latin typeface="Cambria Math" panose="02040503050406030204" pitchFamily="18" charset="0"/>
                  <a:cs typeface="Cambria Math" panose="02040503050406030204" pitchFamily="18" charset="0"/>
                </a:endParaRPr>
              </a:p>
              <a:p>
                <a:pPr indent="457200"/>
                <a:br>
                  <a:rPr lang="zh-CN" altLang="en-US">
                    <a:latin typeface="Cambria Math" panose="02040503050406030204" pitchFamily="18" charset="0"/>
                    <a:cs typeface="Cambria Math" panose="02040503050406030204" pitchFamily="18" charset="0"/>
                  </a:rPr>
                </a:br>
                <a:r>
                  <a:rPr lang="zh-CN" altLang="en-US">
                    <a:solidFill>
                      <a:schemeClr val="accent1"/>
                    </a:solidFill>
                    <a:effectLst>
                      <a:outerShdw blurRad="38100" dist="25400" dir="5400000" algn="ctr" rotWithShape="0">
                        <a:srgbClr val="6E747A">
                          <a:alpha val="43000"/>
                        </a:srgbClr>
                      </a:outerShdw>
                    </a:effectLst>
                  </a:rPr>
                  <a:t>留出法</a:t>
                </a:r>
                <a:r>
                  <a:rPr lang="zh-CN" altLang="en-US">
                    <a:latin typeface="Cambria Math" panose="02040503050406030204" pitchFamily="18" charset="0"/>
                    <a:cs typeface="Cambria Math" panose="02040503050406030204" pitchFamily="18" charset="0"/>
                  </a:rPr>
                  <a:t>：直接将数据集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按照一定的比例划分为两个</a:t>
                </a:r>
                <a:r>
                  <a:rPr lang="zh-CN" altLang="en-US">
                    <a:solidFill>
                      <a:schemeClr val="accent1"/>
                    </a:solidFill>
                    <a:effectLst>
                      <a:outerShdw blurRad="38100" dist="25400" dir="5400000" algn="ctr" rotWithShape="0">
                        <a:srgbClr val="6E747A">
                          <a:alpha val="43000"/>
                        </a:srgbClr>
                      </a:outerShdw>
                    </a:effectLst>
                  </a:rPr>
                  <a:t>互斥</a:t>
                </a:r>
                <a:r>
                  <a:rPr lang="zh-CN" altLang="en-US">
                    <a:latin typeface="Cambria Math" panose="02040503050406030204" pitchFamily="18" charset="0"/>
                    <a:cs typeface="Cambria Math" panose="02040503050406030204" pitchFamily="18" charset="0"/>
                  </a:rPr>
                  <a:t>的集合，其中一个集合作为训练集</a:t>
                </a:r>
                <a14:m>
                  <m:oMath xmlns:m="http://schemas.openxmlformats.org/officeDocument/2006/math">
                    <m:r>
                      <a:rPr lang="en-US" altLang="zh-CN" i="1">
                        <a:latin typeface="Cambria Math" panose="02040503050406030204" pitchFamily="18" charset="0"/>
                        <a:cs typeface="Cambria Math" panose="02040503050406030204" pitchFamily="18" charset="0"/>
                      </a:rPr>
                      <m:t>𝑆</m:t>
                    </m:r>
                  </m:oMath>
                </a14:m>
                <a:r>
                  <a:rPr lang="zh-CN" altLang="en-US">
                    <a:latin typeface="Cambria Math" panose="02040503050406030204" pitchFamily="18" charset="0"/>
                    <a:cs typeface="Cambria Math" panose="02040503050406030204" pitchFamily="18" charset="0"/>
                  </a:rPr>
                  <a:t>，另一个集合作为</a:t>
                </a: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测试集</a:t>
                </a:r>
                <a14:m>
                  <m:oMath xmlns:m="http://schemas.openxmlformats.org/officeDocument/2006/math">
                    <m:r>
                      <a:rPr lang="en-US" altLang="zh-CN" i="1">
                        <a:latin typeface="Cambria Math" panose="02040503050406030204" pitchFamily="18" charset="0"/>
                        <a:cs typeface="Cambria Math" panose="02040503050406030204" pitchFamily="18" charset="0"/>
                      </a:rPr>
                      <m:t>𝑇</m:t>
                    </m:r>
                  </m:oMath>
                </a14:m>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𝑆</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𝑇</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𝑆</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𝑇</m:t>
                    </m:r>
                    <m:r>
                      <a:rPr lang="en-US" altLang="zh-CN" i="1">
                        <a:latin typeface="Cambria Math" panose="02040503050406030204" pitchFamily="18" charset="0"/>
                        <a:cs typeface="Cambria Math" panose="02040503050406030204" pitchFamily="18" charset="0"/>
                      </a:rPr>
                      <m:t>=</m:t>
                    </m:r>
                  </m:oMath>
                </a14:m>
                <a:r>
                  <a:rPr lang="en-US" altLang="zh-CN">
                    <a:latin typeface="Cambria Math" panose="02040503050406030204" pitchFamily="18" charset="0"/>
                    <a:cs typeface="Cambria Math" panose="02040503050406030204" pitchFamily="18" charset="0"/>
                  </a:rPr>
                  <a:t>Ø</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。训练</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测试集的划分应尽可能</a:t>
                </a:r>
                <a:r>
                  <a:rPr lang="zh-CN" altLang="en-US">
                    <a:solidFill>
                      <a:schemeClr val="accent1"/>
                    </a:solidFill>
                    <a:effectLst>
                      <a:outerShdw blurRad="38100" dist="25400" dir="5400000" algn="ctr" rotWithShape="0">
                        <a:srgbClr val="6E747A">
                          <a:alpha val="43000"/>
                        </a:srgbClr>
                      </a:outerShdw>
                    </a:effectLst>
                  </a:rPr>
                  <a:t>保持数据分布的一致性</a:t>
                </a:r>
                <a:r>
                  <a:rPr lang="zh-CN" altLang="en-US">
                    <a:latin typeface="Cambria Math" panose="02040503050406030204" pitchFamily="18" charset="0"/>
                    <a:cs typeface="Cambria Math" panose="02040503050406030204" pitchFamily="18" charset="0"/>
                  </a:rPr>
                  <a:t>，避免因数据划分过程引入额外的偏差</a:t>
                </a: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而对最终结果产生影响。例如在分类任务中，至少要</a:t>
                </a:r>
                <a:r>
                  <a:rPr lang="zh-CN" altLang="en-US">
                    <a:solidFill>
                      <a:schemeClr val="accent1"/>
                    </a:solidFill>
                    <a:effectLst>
                      <a:outerShdw blurRad="38100" dist="25400" dir="5400000" algn="ctr" rotWithShape="0">
                        <a:srgbClr val="6E747A">
                          <a:alpha val="43000"/>
                        </a:srgbClr>
                      </a:outerShdw>
                    </a:effectLst>
                  </a:rPr>
                  <a:t>保持样本的类别比例相似</a:t>
                </a:r>
                <a:r>
                  <a:rPr lang="zh-CN" altLang="en-US">
                    <a:latin typeface="Cambria Math" panose="02040503050406030204" pitchFamily="18" charset="0"/>
                    <a:cs typeface="Cambria Math" panose="02040503050406030204" pitchFamily="18" charset="0"/>
                  </a:rPr>
                  <a:t>，从采样的角度来看待</a:t>
                </a: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数据集的划分过程，则保留类别比例的采样方式通常称为</a:t>
                </a:r>
                <a:r>
                  <a:rPr lang="zh-CN" altLang="en-US">
                    <a:solidFill>
                      <a:schemeClr val="accent1"/>
                    </a:solidFill>
                    <a:effectLst>
                      <a:outerShdw blurRad="38100" dist="25400" dir="5400000" algn="ctr" rotWithShape="0">
                        <a:srgbClr val="6E747A">
                          <a:alpha val="43000"/>
                        </a:srgbClr>
                      </a:outerShdw>
                    </a:effectLst>
                  </a:rPr>
                  <a:t>分层采样</a:t>
                </a:r>
                <a:endParaRPr lang="zh-CN" altLang="en-US">
                  <a:solidFill>
                    <a:schemeClr val="accent1"/>
                  </a:solidFill>
                  <a:effectLst>
                    <a:outerShdw blurRad="38100" dist="25400" dir="5400000" algn="ctr" rotWithShape="0">
                      <a:srgbClr val="6E747A">
                        <a:alpha val="43000"/>
                      </a:srgbClr>
                    </a:outerShdw>
                  </a:effectLst>
                </a:endParaRPr>
              </a:p>
              <a:p>
                <a:pPr indent="457200"/>
                <a:endParaRPr lang="zh-CN" altLang="en-US">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建立多个训练</a:t>
                </a:r>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tx1"/>
                    </a:solidFill>
                    <a:latin typeface="Cambria Math" panose="02040503050406030204" pitchFamily="18" charset="0"/>
                    <a:cs typeface="Cambria Math" panose="02040503050406030204" pitchFamily="18" charset="0"/>
                  </a:rPr>
                  <a:t>测试集：在使用</a:t>
                </a:r>
                <a:r>
                  <a:rPr lang="zh-CN" altLang="en-US">
                    <a:solidFill>
                      <a:schemeClr val="accent1"/>
                    </a:solidFill>
                    <a:effectLst>
                      <a:outerShdw blurRad="38100" dist="25400" dir="5400000" algn="ctr" rotWithShape="0">
                        <a:srgbClr val="6E747A">
                          <a:alpha val="43000"/>
                        </a:srgbClr>
                      </a:outerShdw>
                    </a:effectLst>
                  </a:rPr>
                  <a:t>留出法</a:t>
                </a:r>
                <a:r>
                  <a:rPr lang="zh-CN" altLang="en-US">
                    <a:solidFill>
                      <a:schemeClr val="tx1"/>
                    </a:solidFill>
                    <a:latin typeface="Cambria Math" panose="02040503050406030204" pitchFamily="18" charset="0"/>
                    <a:cs typeface="Cambria Math" panose="02040503050406030204" pitchFamily="18" charset="0"/>
                  </a:rPr>
                  <a:t>时，一般要采用若干次随机划分，重复进行实验评估后取平均值作为</a:t>
                </a:r>
                <a:r>
                  <a:rPr lang="zh-CN" altLang="en-US">
                    <a:solidFill>
                      <a:schemeClr val="accent1"/>
                    </a:solidFill>
                    <a:effectLst>
                      <a:outerShdw blurRad="38100" dist="25400" dir="5400000" algn="ctr" rotWithShape="0">
                        <a:srgbClr val="6E747A">
                          <a:alpha val="43000"/>
                        </a:srgbClr>
                      </a:outerShdw>
                    </a:effectLst>
                  </a:rPr>
                  <a:t>留出</a:t>
                </a:r>
                <a:endParaRPr lang="zh-CN" altLang="en-US">
                  <a:solidFill>
                    <a:schemeClr val="accent1"/>
                  </a:solidFill>
                  <a:effectLst>
                    <a:outerShdw blurRad="38100" dist="25400" dir="5400000" algn="ctr" rotWithShape="0">
                      <a:srgbClr val="6E747A">
                        <a:alpha val="43000"/>
                      </a:srgbClr>
                    </a:outerShdw>
                  </a:effectLst>
                </a:endParaRPr>
              </a:p>
              <a:p>
                <a:pPr marL="0" lvl="0" indent="0">
                  <a:buNone/>
                </a:pPr>
                <a:r>
                  <a:rPr lang="zh-CN" altLang="en-US">
                    <a:solidFill>
                      <a:schemeClr val="accent1"/>
                    </a:solidFill>
                    <a:effectLst>
                      <a:outerShdw blurRad="38100" dist="25400" dir="5400000" algn="ctr" rotWithShape="0">
                        <a:srgbClr val="6E747A">
                          <a:alpha val="43000"/>
                        </a:srgbClr>
                      </a:outerShdw>
                    </a:effectLst>
                  </a:rPr>
                  <a:t>                                               法</a:t>
                </a:r>
                <a:r>
                  <a:rPr lang="zh-CN" altLang="en-US">
                    <a:solidFill>
                      <a:schemeClr val="tx1"/>
                    </a:solidFill>
                    <a:latin typeface="Cambria Math" panose="02040503050406030204" pitchFamily="18" charset="0"/>
                    <a:cs typeface="Cambria Math" panose="02040503050406030204" pitchFamily="18" charset="0"/>
                  </a:rPr>
                  <a:t>的评估结果</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latin typeface="Cambria Math" panose="02040503050406030204" pitchFamily="18" charset="0"/>
                    <a:cs typeface="Cambria Math" panose="02040503050406030204" pitchFamily="18" charset="0"/>
                  </a:rPr>
                  <a:t>留出法窘境</a:t>
                </a:r>
                <a:r>
                  <a:rPr lang="zh-CN" altLang="en-US">
                    <a:solidFill>
                      <a:schemeClr val="tx1"/>
                    </a:solidFill>
                    <a:latin typeface="Cambria Math" panose="02040503050406030204" pitchFamily="18" charset="0"/>
                    <a:cs typeface="Cambria Math" panose="02040503050406030204" pitchFamily="18" charset="0"/>
                  </a:rPr>
                  <a:t>：若令训练集</a:t>
                </a:r>
                <a14:m>
                  <m:oMath xmlns:m="http://schemas.openxmlformats.org/officeDocument/2006/math">
                    <m:r>
                      <a:rPr lang="en-US" altLang="zh-CN" i="1">
                        <a:latin typeface="Cambria Math" panose="02040503050406030204" pitchFamily="18" charset="0"/>
                        <a:cs typeface="Cambria Math" panose="02040503050406030204" pitchFamily="18" charset="0"/>
                      </a:rPr>
                      <m:t>𝑆</m:t>
                    </m:r>
                  </m:oMath>
                </a14:m>
                <a:r>
                  <a:rPr lang="zh-CN" altLang="en-US">
                    <a:latin typeface="Cambria Math" panose="02040503050406030204" pitchFamily="18" charset="0"/>
                    <a:cs typeface="Cambria Math" panose="02040503050406030204" pitchFamily="18" charset="0"/>
                  </a:rPr>
                  <a:t>包含绝大多数样本，则训练出的模型比较接近于用数据集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训练出的模型，但由于测</a:t>
                </a:r>
                <a:endParaRPr lang="zh-CN" altLang="en-US">
                  <a:latin typeface="Cambria Math" panose="02040503050406030204" pitchFamily="18" charset="0"/>
                  <a:cs typeface="Cambria Math" panose="02040503050406030204" pitchFamily="18" charset="0"/>
                </a:endParaRPr>
              </a:p>
              <a:p>
                <a:pPr marL="0" lvl="0" indent="0">
                  <a:buNone/>
                </a:pPr>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试集</a:t>
                </a:r>
                <a14:m>
                  <m:oMath xmlns:m="http://schemas.openxmlformats.org/officeDocument/2006/math">
                    <m:r>
                      <a:rPr lang="en-US" altLang="zh-CN" i="1">
                        <a:latin typeface="Cambria Math" panose="02040503050406030204" pitchFamily="18" charset="0"/>
                        <a:cs typeface="Cambria Math" panose="02040503050406030204" pitchFamily="18" charset="0"/>
                      </a:rPr>
                      <m:t>𝑇</m:t>
                    </m:r>
                  </m:oMath>
                </a14:m>
                <a:r>
                  <a:rPr lang="zh-CN" altLang="en-US">
                    <a:latin typeface="Cambria Math" panose="02040503050406030204" pitchFamily="18" charset="0"/>
                    <a:cs typeface="Cambria Math" panose="02040503050406030204" pitchFamily="18" charset="0"/>
                  </a:rPr>
                  <a:t>较小，评估结果不够稳定准确；若令测试集</a:t>
                </a:r>
                <a14:m>
                  <m:oMath xmlns:m="http://schemas.openxmlformats.org/officeDocument/2006/math">
                    <m:r>
                      <a:rPr lang="en-US" altLang="zh-CN" i="1">
                        <a:latin typeface="Cambria Math" panose="02040503050406030204" pitchFamily="18" charset="0"/>
                        <a:cs typeface="Cambria Math" panose="02040503050406030204" pitchFamily="18" charset="0"/>
                      </a:rPr>
                      <m:t>𝑇</m:t>
                    </m:r>
                  </m:oMath>
                </a14:m>
                <a:r>
                  <a:rPr lang="zh-CN" altLang="en-US">
                    <a:latin typeface="Cambria Math" panose="02040503050406030204" pitchFamily="18" charset="0"/>
                    <a:cs typeface="Cambria Math" panose="02040503050406030204" pitchFamily="18" charset="0"/>
                  </a:rPr>
                  <a:t>包含多一些样本，则训练集</a:t>
                </a:r>
                <a14:m>
                  <m:oMath xmlns:m="http://schemas.openxmlformats.org/officeDocument/2006/math">
                    <m:r>
                      <a:rPr lang="en-US" altLang="zh-CN" i="1">
                        <a:latin typeface="Cambria Math" panose="02040503050406030204" pitchFamily="18" charset="0"/>
                        <a:cs typeface="Cambria Math" panose="02040503050406030204" pitchFamily="18" charset="0"/>
                      </a:rPr>
                      <m:t>𝑆</m:t>
                    </m:r>
                  </m:oMath>
                </a14:m>
                <a:r>
                  <a:rPr lang="zh-CN" altLang="en-US">
                    <a:latin typeface="Cambria Math" panose="02040503050406030204" pitchFamily="18" charset="0"/>
                    <a:cs typeface="Cambria Math" panose="02040503050406030204" pitchFamily="18" charset="0"/>
                  </a:rPr>
                  <a:t>训练出的模型与</a:t>
                </a:r>
                <a:r>
                  <a:rPr lang="zh-CN" altLang="en-US">
                    <a:latin typeface="Cambria Math" panose="02040503050406030204" pitchFamily="18" charset="0"/>
                    <a:cs typeface="Cambria Math" panose="02040503050406030204" pitchFamily="18" charset="0"/>
                    <a:sym typeface="+mn-ea"/>
                  </a:rPr>
                  <a:t>数</a:t>
                </a:r>
                <a:endParaRPr lang="zh-CN" altLang="en-US">
                  <a:latin typeface="Cambria Math" panose="02040503050406030204" pitchFamily="18" charset="0"/>
                  <a:cs typeface="Cambria Math" panose="02040503050406030204" pitchFamily="18" charset="0"/>
                  <a:sym typeface="+mn-ea"/>
                </a:endParaRPr>
              </a:p>
              <a:p>
                <a:pPr marL="0" lvl="0" indent="0">
                  <a:buNone/>
                </a:pPr>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据集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sym typeface="+mn-ea"/>
                  </a:rPr>
                  <a:t>训练出的模型会有较大差别，从而降低了评估结果的保真性。这个窘境没有完美的解决方案，</a:t>
                </a:r>
                <a:endParaRPr lang="zh-CN" altLang="en-US">
                  <a:latin typeface="Cambria Math" panose="02040503050406030204" pitchFamily="18" charset="0"/>
                  <a:cs typeface="Cambria Math" panose="02040503050406030204" pitchFamily="18" charset="0"/>
                  <a:sym typeface="+mn-ea"/>
                </a:endParaRPr>
              </a:p>
              <a:p>
                <a:pPr marL="0" lvl="0" indent="0">
                  <a:buNone/>
                </a:pPr>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常见的做法是将大约</a:t>
                </a:r>
                <a:r>
                  <a:rPr lang="zh-CN" altLang="en-US">
                    <a:solidFill>
                      <a:schemeClr val="accent1"/>
                    </a:solidFill>
                    <a:effectLst>
                      <a:outerShdw blurRad="38100" dist="25400" dir="5400000" algn="ctr" rotWithShape="0">
                        <a:srgbClr val="6E747A">
                          <a:alpha val="43000"/>
                        </a:srgbClr>
                      </a:outerShdw>
                    </a:effectLst>
                    <a:sym typeface="+mn-ea"/>
                  </a:rPr>
                  <a:t>2/3~4/5</a:t>
                </a:r>
                <a:r>
                  <a:rPr lang="zh-CN" altLang="en-US">
                    <a:latin typeface="Cambria Math" panose="02040503050406030204" pitchFamily="18" charset="0"/>
                    <a:cs typeface="Cambria Math" panose="02040503050406030204" pitchFamily="18" charset="0"/>
                    <a:sym typeface="+mn-ea"/>
                  </a:rPr>
                  <a:t>的样本用于训练，剩余样本用于测试</a:t>
                </a:r>
                <a:endParaRPr lang="zh-CN" altLang="en-US">
                  <a:solidFill>
                    <a:schemeClr val="tx1"/>
                  </a:solidFill>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94005" y="1160145"/>
                <a:ext cx="11332210" cy="5409565"/>
              </a:xfrm>
              <a:prstGeom prst="rect">
                <a:avLst/>
              </a:prstGeom>
              <a:blipFill rotWithShape="1">
                <a:blip r:embed="rId1"/>
                <a:stretch>
                  <a:fillRect r="-807"/>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1625" y="1195070"/>
                <a:ext cx="11322050" cy="2308225"/>
              </a:xfrm>
              <a:prstGeom prst="rect">
                <a:avLst/>
              </a:prstGeom>
              <a:noFill/>
            </p:spPr>
            <p:txBody>
              <a:bodyPr wrap="square" rtlCol="0" anchor="t">
                <a:spAutoFit/>
              </a:bodyPr>
              <a:p>
                <a14:m>
                  <m:oMath xmlns:m="http://schemas.openxmlformats.org/officeDocument/2006/math">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sym typeface="+mn-ea"/>
                      </a:rPr>
                      <m:t>𝑘</m:t>
                    </m:r>
                  </m:oMath>
                </a14:m>
                <a:r>
                  <a:rPr lang="zh-CN" altLang="en-US">
                    <a:solidFill>
                      <a:schemeClr val="accent1"/>
                    </a:solidFill>
                    <a:effectLst>
                      <a:outerShdw blurRad="38100" dist="25400" dir="5400000" algn="ctr" rotWithShape="0">
                        <a:srgbClr val="6E747A">
                          <a:alpha val="43000"/>
                        </a:srgbClr>
                      </a:outerShdw>
                    </a:effectLst>
                    <a:sym typeface="+mn-ea"/>
                  </a:rPr>
                  <a:t>折</a:t>
                </a:r>
                <a:r>
                  <a:rPr lang="zh-CN" altLang="en-US">
                    <a:solidFill>
                      <a:schemeClr val="accent1"/>
                    </a:solidFill>
                    <a:effectLst>
                      <a:outerShdw blurRad="38100" dist="25400" dir="5400000" algn="ctr" rotWithShape="0">
                        <a:srgbClr val="6E747A">
                          <a:alpha val="43000"/>
                        </a:srgbClr>
                      </a:outerShdw>
                    </a:effectLst>
                    <a:sym typeface="+mn-ea"/>
                  </a:rPr>
                  <a:t>交叉验证法</a:t>
                </a:r>
                <a:r>
                  <a:rPr lang="zh-CN" altLang="en-US">
                    <a:latin typeface="Cambria Math" panose="02040503050406030204" pitchFamily="18" charset="0"/>
                    <a:cs typeface="Cambria Math" panose="02040503050406030204" pitchFamily="18" charset="0"/>
                    <a:sym typeface="+mn-ea"/>
                  </a:rPr>
                  <a:t>：将数据集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划分为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个大小相似的互斥子集</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1</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2</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𝑘</m:t>
                        </m:r>
                      </m:sub>
                    </m:sSub>
                  </m:oMath>
                </a14:m>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𝑗</m:t>
                        </m:r>
                      </m:sub>
                    </m:sSub>
                    <m:r>
                      <a:rPr lang="en-US" altLang="zh-CN" i="1">
                        <a:latin typeface="Cambria Math" panose="02040503050406030204" pitchFamily="18" charset="0"/>
                        <a:cs typeface="Cambria Math" panose="02040503050406030204" pitchFamily="18" charset="0"/>
                        <a:sym typeface="+mn-ea"/>
                      </a:rPr>
                      <m:t>=</m:t>
                    </m:r>
                  </m:oMath>
                </a14:m>
                <a:r>
                  <a:rPr lang="en-US" altLang="zh-CN">
                    <a:latin typeface="Cambria Math" panose="02040503050406030204" pitchFamily="18" charset="0"/>
                    <a:cs typeface="Cambria Math" panose="02040503050406030204" pitchFamily="18" charset="0"/>
                    <a:sym typeface="+mn-ea"/>
                  </a:rPr>
                  <a:t>Ø)</a:t>
                </a:r>
                <a:r>
                  <a:rPr lang="zh-CN" altLang="en-US">
                    <a:latin typeface="Cambria Math" panose="02040503050406030204" pitchFamily="18" charset="0"/>
                    <a:cs typeface="Cambria Math" panose="02040503050406030204" pitchFamily="18" charset="0"/>
                    <a:sym typeface="+mn-ea"/>
                  </a:rPr>
                  <a:t>，每个子集</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𝑖</m:t>
                        </m:r>
                      </m:sub>
                    </m:sSub>
                  </m:oMath>
                </a14:m>
                <a:endParaRPr lang="en-US" altLang="zh-CN" i="1">
                  <a:latin typeface="Cambria Math" panose="02040503050406030204" pitchFamily="18" charset="0"/>
                  <a:cs typeface="Cambria Math" panose="02040503050406030204" pitchFamily="18" charset="0"/>
                  <a:sym typeface="+mn-ea"/>
                </a:endParaRPr>
              </a:p>
              <a:p>
                <a:r>
                  <a:rPr lang="en-US" altLang="zh-CN" i="1">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都尽可能保持数据分布的一致性，即从</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中通过分层采样得到。每次选择</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r>
                  <a:rPr lang="zh-CN" altLang="en-US">
                    <a:latin typeface="Cambria Math" panose="02040503050406030204" pitchFamily="18" charset="0"/>
                    <a:cs typeface="Cambria Math" panose="02040503050406030204" pitchFamily="18" charset="0"/>
                    <a:sym typeface="+mn-ea"/>
                  </a:rPr>
                  <a:t>个子集的并集作</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为训练集，余下的一个子集作为测试集，通过这种方式可以获得</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组训练</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测试集，从而进行</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endParaRPr lang="en-US" altLang="zh-CN" i="1">
                  <a:latin typeface="Cambria Math" panose="02040503050406030204" pitchFamily="18" charset="0"/>
                  <a:cs typeface="Cambria Math" panose="02040503050406030204" pitchFamily="18" charset="0"/>
                  <a:sym typeface="+mn-ea"/>
                </a:endParaRPr>
              </a:p>
              <a:p>
                <a:r>
                  <a:rPr lang="en-US" altLang="zh-CN" i="1">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次训练</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测试，最终返回的是这</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个测试结果的均值</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最终的评估结果的稳定性和保真性很大程</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度上取决于</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的取值，一般取</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10</m:t>
                    </m:r>
                  </m:oMath>
                </a14:m>
                <a:r>
                  <a:rPr lang="en-US" altLang="zh-CN">
                    <a:latin typeface="Cambria Math" panose="02040503050406030204" pitchFamily="18" charset="0"/>
                    <a:cs typeface="Cambria Math" panose="02040503050406030204" pitchFamily="18" charset="0"/>
                    <a:sym typeface="+mn-ea"/>
                  </a:rPr>
                  <a:t>)</a:t>
                </a:r>
                <a:endParaRPr lang="zh-CN" altLang="en-US">
                  <a:latin typeface="Cambria Math" panose="02040503050406030204" pitchFamily="18" charset="0"/>
                  <a:cs typeface="Cambria Math" panose="02040503050406030204" pitchFamily="18" charset="0"/>
                  <a:sym typeface="+mn-ea"/>
                </a:endParaRPr>
              </a:p>
              <a:p>
                <a:endParaRPr lang="zh-CN" altLang="en-US">
                  <a:latin typeface="Cambria Math" panose="02040503050406030204" pitchFamily="18" charset="0"/>
                  <a:cs typeface="Cambria Math" panose="02040503050406030204" pitchFamily="18" charset="0"/>
                  <a:sym typeface="+mn-ea"/>
                </a:endParaRPr>
              </a:p>
              <a:p>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𝑝</m:t>
                    </m:r>
                  </m:oMath>
                </a14:m>
                <a:r>
                  <a:rPr lang="zh-CN" altLang="en-US">
                    <a:latin typeface="Cambria Math" panose="02040503050406030204" pitchFamily="18" charset="0"/>
                    <a:cs typeface="Cambria Math" panose="02040503050406030204" pitchFamily="18" charset="0"/>
                    <a:sym typeface="+mn-ea"/>
                  </a:rPr>
                  <a:t>次</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折交叉验证：将数据集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划分为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个子集存在多种划分方式，为减少因样本划分不同而引入的差别，</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折交</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叉验证通常随机使用不同的划分重复</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𝑝</m:t>
                    </m:r>
                  </m:oMath>
                </a14:m>
                <a:r>
                  <a:rPr lang="zh-CN" altLang="en-US">
                    <a:latin typeface="Cambria Math" panose="02040503050406030204" pitchFamily="18" charset="0"/>
                    <a:cs typeface="Cambria Math" panose="02040503050406030204" pitchFamily="18" charset="0"/>
                    <a:sym typeface="+mn-ea"/>
                  </a:rPr>
                  <a:t>次，最终的评估结果是这</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𝑝</m:t>
                    </m:r>
                  </m:oMath>
                </a14:m>
                <a:r>
                  <a:rPr lang="zh-CN" altLang="en-US">
                    <a:latin typeface="Cambria Math" panose="02040503050406030204" pitchFamily="18" charset="0"/>
                    <a:cs typeface="Cambria Math" panose="02040503050406030204" pitchFamily="18" charset="0"/>
                    <a:sym typeface="+mn-ea"/>
                  </a:rPr>
                  <a:t>次</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折交叉验证结果的均值</a:t>
                </a:r>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95070"/>
                <a:ext cx="11322050" cy="2308225"/>
              </a:xfrm>
              <a:prstGeom prst="rect">
                <a:avLst/>
              </a:prstGeom>
              <a:blipFill rotWithShape="1">
                <a:blip r:embed="rId1"/>
                <a:stretch>
                  <a:fillRect/>
                </a:stretch>
              </a:blipFill>
            </p:spPr>
            <p:txBody>
              <a:bodyPr/>
              <a:lstStyle/>
              <a:p>
                <a:r>
                  <a:rPr lang="zh-CN" altLang="en-US">
                    <a:noFill/>
                  </a:rPr>
                  <a:t> </a:t>
                </a:r>
              </a:p>
            </p:txBody>
          </p:sp>
        </mc:Fallback>
      </mc:AlternateContent>
      <p:pic>
        <p:nvPicPr>
          <p:cNvPr id="8" name="图片 7" descr="模型评估与选择--p次k折"/>
          <p:cNvPicPr>
            <a:picLocks noChangeAspect="1"/>
          </p:cNvPicPr>
          <p:nvPr/>
        </p:nvPicPr>
        <p:blipFill>
          <a:blip r:embed="rId2"/>
          <a:stretch>
            <a:fillRect/>
          </a:stretch>
        </p:blipFill>
        <p:spPr>
          <a:xfrm>
            <a:off x="2919095" y="3573145"/>
            <a:ext cx="6353810" cy="304355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custDataLst>
                  <p:tags r:id="rId1"/>
                </p:custDataLst>
              </p:nvPr>
            </p:nvSpPr>
            <p:spPr>
              <a:xfrm>
                <a:off x="301625" y="1195070"/>
                <a:ext cx="11322050" cy="363982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sym typeface="+mn-ea"/>
                  </a:rPr>
                  <a:t>自助</a:t>
                </a:r>
                <a:r>
                  <a:rPr lang="zh-CN" altLang="en-US">
                    <a:solidFill>
                      <a:schemeClr val="accent1"/>
                    </a:solidFill>
                    <a:effectLst>
                      <a:outerShdw blurRad="38100" dist="25400" dir="5400000" algn="ctr" rotWithShape="0">
                        <a:srgbClr val="6E747A">
                          <a:alpha val="43000"/>
                        </a:srgbClr>
                      </a:outerShdw>
                    </a:effectLst>
                    <a:sym typeface="+mn-ea"/>
                  </a:rPr>
                  <a:t>法</a:t>
                </a:r>
                <a:r>
                  <a:rPr lang="zh-CN" altLang="en-US">
                    <a:latin typeface="Cambria Math" panose="02040503050406030204" pitchFamily="18" charset="0"/>
                    <a:cs typeface="Cambria Math" panose="02040503050406030204" pitchFamily="18" charset="0"/>
                    <a:sym typeface="+mn-ea"/>
                  </a:rPr>
                  <a:t>：当数据集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中样本数量较少时，采用留出法或</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𝑘</m:t>
                    </m:r>
                  </m:oMath>
                </a14:m>
                <a:r>
                  <a:rPr lang="zh-CN" altLang="en-US">
                    <a:latin typeface="Cambria Math" panose="02040503050406030204" pitchFamily="18" charset="0"/>
                    <a:cs typeface="Cambria Math" panose="02040503050406030204" pitchFamily="18" charset="0"/>
                    <a:sym typeface="+mn-ea"/>
                  </a:rPr>
                  <a:t>折交叉验证法得到的训练集样本数量会进一步减少，此</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时采取自助法是一个比较好的解决方案。给定</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个样本的数据集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，对其进行采样产生数据集</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：每次</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随机从</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中挑选一个样本，将其拷贝放入</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，然后再将该样本放回初始数据集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中，使得该样本在下次</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采样时仍有可能被采到；这个过程反复进行</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次后，我们就可以得到一个包含</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个样本的数据集</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，而</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由于</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中一部分样本会多次出现，而另一部分样本不会出现，数据集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中样本在</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次采集中始终不被采</a:t>
                </a: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到的概率是</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1</m:t>
                            </m:r>
                          </m:num>
                          <m:den>
                            <m:r>
                              <a:rPr lang="en-US" altLang="zh-CN" i="1">
                                <a:latin typeface="Cambria Math" panose="02040503050406030204" pitchFamily="18" charset="0"/>
                                <a:cs typeface="Cambria Math" panose="02040503050406030204" pitchFamily="18" charset="0"/>
                                <a:sym typeface="+mn-ea"/>
                              </a:rPr>
                              <m:t>𝑚</m:t>
                            </m:r>
                          </m:den>
                        </m:f>
                        <m:r>
                          <a:rPr lang="en-US" altLang="zh-CN" i="1">
                            <a:latin typeface="Cambria Math" panose="02040503050406030204" pitchFamily="18" charset="0"/>
                            <a:cs typeface="Cambria Math" panose="02040503050406030204" pitchFamily="18" charset="0"/>
                            <a:sym typeface="+mn-ea"/>
                          </a:rPr>
                          <m:t>)</m:t>
                        </m:r>
                      </m:e>
                      <m:sup>
                        <m:r>
                          <a:rPr lang="en-US" altLang="zh-CN" i="1">
                            <a:latin typeface="Cambria Math" panose="02040503050406030204" pitchFamily="18" charset="0"/>
                            <a:cs typeface="Cambria Math" panose="02040503050406030204" pitchFamily="18" charset="0"/>
                            <a:sym typeface="+mn-ea"/>
                          </a:rPr>
                          <m:t>𝑚</m:t>
                        </m:r>
                      </m:sup>
                    </m:sSup>
                  </m:oMath>
                </a14:m>
                <a:r>
                  <a:rPr lang="zh-CN" altLang="en-US">
                    <a:latin typeface="Cambria Math" panose="02040503050406030204" pitchFamily="18" charset="0"/>
                    <a:cs typeface="Cambria Math" panose="02040503050406030204" pitchFamily="18" charset="0"/>
                    <a:sym typeface="+mn-ea"/>
                  </a:rPr>
                  <a:t>，对</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取极限可得：</a:t>
                </a: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pitchFamily="18" charset="0"/>
                              <a:cs typeface="Cambria Math" panose="02040503050406030204" pitchFamily="18" charset="0"/>
                              <a:sym typeface="+mn-ea"/>
                            </a:rPr>
                          </m:ctrlPr>
                        </m:funcPr>
                        <m:fName>
                          <m:limLow>
                            <m:limLowPr>
                              <m:ctrlPr>
                                <a:rPr lang="en-US" altLang="zh-CN">
                                  <a:latin typeface="Cambria Math" panose="02040503050406030204" pitchFamily="18" charset="0"/>
                                  <a:cs typeface="Cambria Math" panose="02040503050406030204" pitchFamily="18" charset="0"/>
                                  <a:sym typeface="+mn-ea"/>
                                </a:rPr>
                              </m:ctrlPr>
                            </m:limLowPr>
                            <m:e>
                              <m:r>
                                <m:rPr>
                                  <m:sty m:val="p"/>
                                </m:rPr>
                                <a:rPr lang="en-US" altLang="zh-CN">
                                  <a:latin typeface="Cambria Math" panose="02040503050406030204" pitchFamily="18" charset="0"/>
                                  <a:cs typeface="Cambria Math" panose="02040503050406030204" pitchFamily="18" charset="0"/>
                                  <a:sym typeface="+mn-ea"/>
                                </a:rPr>
                                <m:t>lim</m:t>
                              </m:r>
                            </m:e>
                            <m:lim>
                              <m:r>
                                <a:rPr lang="en-US" altLang="zh-CN" i="1">
                                  <a:latin typeface="Cambria Math" panose="02040503050406030204" pitchFamily="18" charset="0"/>
                                  <a:cs typeface="Cambria Math" panose="02040503050406030204" pitchFamily="18" charset="0"/>
                                  <a:sym typeface="+mn-ea"/>
                                </a:rPr>
                                <m:t>𝑚</m:t>
                              </m:r>
                              <m:r>
                                <a:rPr lang="en-US" altLang="zh-CN" i="1">
                                  <a:latin typeface="Cambria Math" panose="02040503050406030204" pitchFamily="18" charset="0"/>
                                  <a:cs typeface="Cambria Math" panose="02040503050406030204" pitchFamily="18" charset="0"/>
                                  <a:sym typeface="+mn-ea"/>
                                </a:rPr>
                                <m:t>→ ∞</m:t>
                              </m:r>
                            </m:lim>
                          </m:limLow>
                        </m:fName>
                        <m:e>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1</m:t>
                                  </m:r>
                                </m:num>
                                <m:den>
                                  <m:r>
                                    <a:rPr lang="en-US" altLang="zh-CN" i="1">
                                      <a:latin typeface="Cambria Math" panose="02040503050406030204" pitchFamily="18" charset="0"/>
                                      <a:cs typeface="Cambria Math" panose="02040503050406030204" pitchFamily="18" charset="0"/>
                                      <a:sym typeface="+mn-ea"/>
                                    </a:rPr>
                                    <m:t>𝑚</m:t>
                                  </m:r>
                                </m:den>
                              </m:f>
                              <m:r>
                                <a:rPr lang="en-US" altLang="zh-CN" i="1">
                                  <a:latin typeface="Cambria Math" panose="02040503050406030204" pitchFamily="18" charset="0"/>
                                  <a:cs typeface="Cambria Math" panose="02040503050406030204" pitchFamily="18" charset="0"/>
                                  <a:sym typeface="+mn-ea"/>
                                </a:rPr>
                                <m:t>)</m:t>
                              </m:r>
                            </m:e>
                            <m:sup>
                              <m:r>
                                <a:rPr lang="en-US" altLang="zh-CN" i="1">
                                  <a:latin typeface="Cambria Math" panose="02040503050406030204" pitchFamily="18" charset="0"/>
                                  <a:cs typeface="Cambria Math" panose="02040503050406030204" pitchFamily="18" charset="0"/>
                                  <a:sym typeface="+mn-ea"/>
                                </a:rPr>
                                <m:t>𝑚</m:t>
                              </m:r>
                            </m:sup>
                          </m:sSup>
                        </m:e>
                      </m:func>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1</m:t>
                          </m:r>
                        </m:num>
                        <m:den>
                          <m:r>
                            <a:rPr lang="en-US" altLang="zh-CN" i="1">
                              <a:latin typeface="Cambria Math" panose="02040503050406030204" pitchFamily="18" charset="0"/>
                              <a:cs typeface="Cambria Math" panose="02040503050406030204" pitchFamily="18" charset="0"/>
                              <a:sym typeface="+mn-ea"/>
                            </a:rPr>
                            <m:t>𝑒</m:t>
                          </m:r>
                        </m:den>
                      </m:f>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368</m:t>
                      </m:r>
                    </m:oMath>
                  </m:oMathPara>
                </a14:m>
                <a:endParaRPr lang="en-US" altLang="zh-CN" i="1">
                  <a:latin typeface="Cambria Math" panose="02040503050406030204" pitchFamily="18" charset="0"/>
                  <a:cs typeface="Cambria Math" panose="02040503050406030204" pitchFamily="18" charset="0"/>
                  <a:sym typeface="+mn-ea"/>
                </a:endParaRPr>
              </a:p>
              <a:p>
                <a:endParaRPr lang="en-US" altLang="zh-CN">
                  <a:latin typeface="Cambria Math" panose="02040503050406030204" pitchFamily="18" charset="0"/>
                  <a:cs typeface="Cambria Math" panose="02040503050406030204" pitchFamily="18" charset="0"/>
                  <a:sym typeface="+mn-ea"/>
                </a:endParaRPr>
              </a:p>
              <a:p>
                <a:pPr indent="457200"/>
                <a:r>
                  <a:rPr lang="zh-CN" altLang="en-US">
                    <a:latin typeface="Cambria Math" panose="02040503050406030204" pitchFamily="18" charset="0"/>
                    <a:cs typeface="Cambria Math" panose="02040503050406030204" pitchFamily="18" charset="0"/>
                    <a:sym typeface="+mn-ea"/>
                  </a:rPr>
                  <a:t>我们可将</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作为训练集，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zh-CN" altLang="en-US">
                    <a:latin typeface="Cambria Math" panose="02040503050406030204" pitchFamily="18" charset="0"/>
                    <a:cs typeface="Cambria Math" panose="02040503050406030204" pitchFamily="18" charset="0"/>
                    <a:sym typeface="+mn-ea"/>
                  </a:rPr>
                  <a:t>作为测试集，通过这种方式我们可从一个样本数为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的数据集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中得到样本数为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的训练集</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sym typeface="+mn-ea"/>
                          </a:rPr>
                        </m:ctrlPr>
                      </m:sSupPr>
                      <m:e>
                        <m:r>
                          <a:rPr lang="en-US" altLang="zh-CN" i="1">
                            <a:latin typeface="Cambria Math" panose="02040503050406030204" pitchFamily="18" charset="0"/>
                            <a:cs typeface="Cambria Math" panose="02040503050406030204" pitchFamily="18" charset="0"/>
                            <a:sym typeface="+mn-ea"/>
                          </a:rPr>
                          <m:t>𝐷</m:t>
                        </m:r>
                      </m:e>
                      <m:sup>
                        <m:r>
                          <a:rPr lang="en-US" altLang="zh-CN" i="1">
                            <a:latin typeface="Cambria Math" panose="02040503050406030204" pitchFamily="18" charset="0"/>
                            <a:cs typeface="Cambria Math" panose="02040503050406030204" pitchFamily="18" charset="0"/>
                            <a:sym typeface="+mn-ea"/>
                          </a:rPr>
                          <m:t>’</m:t>
                        </m:r>
                      </m:sup>
                    </m:sSup>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样本数大约为</a:t>
                </a:r>
                <a:r>
                  <a:rPr lang="en-US" altLang="zh-CN">
                    <a:latin typeface="Cambria Math" panose="02040503050406030204" pitchFamily="18" charset="0"/>
                    <a:cs typeface="Cambria Math" panose="02040503050406030204" pitchFamily="18" charset="0"/>
                    <a:sym typeface="+mn-ea"/>
                  </a:rPr>
                  <a:t>0.368</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𝑚</m:t>
                    </m:r>
                  </m:oMath>
                </a14:m>
                <a:r>
                  <a:rPr lang="zh-CN" altLang="en-US">
                    <a:latin typeface="Cambria Math" panose="02040503050406030204" pitchFamily="18" charset="0"/>
                    <a:cs typeface="Cambria Math" panose="02040503050406030204" pitchFamily="18" charset="0"/>
                    <a:sym typeface="+mn-ea"/>
                  </a:rPr>
                  <a:t>的测试集。</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sym typeface="+mn-ea"/>
                  </a:rPr>
                  <a:t>自助法</a:t>
                </a:r>
                <a:r>
                  <a:rPr lang="zh-CN" altLang="en-US">
                    <a:latin typeface="Cambria Math" panose="02040503050406030204" pitchFamily="18" charset="0"/>
                    <a:cs typeface="Cambria Math" panose="02040503050406030204" pitchFamily="18" charset="0"/>
                    <a:sym typeface="+mn-ea"/>
                  </a:rPr>
                  <a:t>在数据集较小、难以有效划分训练</a:t>
                </a:r>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测试集时很有用，但同时</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sym typeface="+mn-ea"/>
                  </a:rPr>
                  <a:t>自助法</a:t>
                </a:r>
                <a:r>
                  <a:rPr lang="zh-CN" altLang="en-US">
                    <a:latin typeface="Cambria Math" panose="02040503050406030204" pitchFamily="18" charset="0"/>
                    <a:cs typeface="Cambria Math" panose="02040503050406030204" pitchFamily="18" charset="0"/>
                    <a:sym typeface="+mn-ea"/>
                  </a:rPr>
                  <a:t>产生的数据集改变了原始数据集</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𝐷</m:t>
                    </m:r>
                  </m:oMath>
                </a14:m>
                <a:r>
                  <a:rPr lang="zh-CN" altLang="en-US">
                    <a:latin typeface="Cambria Math" panose="02040503050406030204" pitchFamily="18" charset="0"/>
                    <a:cs typeface="Cambria Math" panose="02040503050406030204" pitchFamily="18" charset="0"/>
                    <a:sym typeface="+mn-ea"/>
                  </a:rPr>
                  <a:t>的样本分布，这会引入估计偏差</a:t>
                </a:r>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custDataLst>
                  <p:tags r:id="rId2"/>
                </p:custDataLst>
              </p:nvPr>
            </p:nvSpPr>
            <p:spPr>
              <a:xfrm>
                <a:off x="301625" y="1195070"/>
                <a:ext cx="11322050" cy="363982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1625" y="1061720"/>
                <a:ext cx="11299825" cy="1558925"/>
              </a:xfrm>
              <a:prstGeom prst="rect">
                <a:avLst/>
              </a:prstGeom>
              <a:noFill/>
            </p:spPr>
            <p:txBody>
              <a:bodyPr wrap="square" rtlCol="0">
                <a:spAutoFit/>
              </a:bodyPr>
              <a:p>
                <a:pPr indent="457200"/>
                <a:r>
                  <a:rPr lang="zh-CN" altLang="en-US"/>
                  <a:t>对学习器的性能进行评估，不仅需要有效可行的实验估计方法，还需要有衡量模型</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泛化能力</a:t>
                </a:r>
                <a:r>
                  <a:rPr lang="zh-CN" altLang="en-US"/>
                  <a:t>的评价标准，称之为</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性能度量</a:t>
                </a:r>
                <a:r>
                  <a:rPr lang="zh-CN" altLang="en-US"/>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性能度量</a:t>
                </a:r>
                <a:r>
                  <a:rPr lang="zh-CN" altLang="en-US"/>
                  <a:t>反映了任务需求，在对比不同模型的能力时，使用不同的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性能度量</a:t>
                </a:r>
                <a:r>
                  <a:rPr lang="zh-CN" altLang="en-US"/>
                  <a:t>往往会导致不同的评判结果；这意味着模型的好坏是相对的，什么样的模型是好的不仅取决于算法和数据，还取决于任务需求</a:t>
                </a:r>
                <a:endParaRPr lang="zh-CN" altLang="en-US"/>
              </a:p>
              <a:p>
                <a:pPr indent="457200">
                  <a:lnSpc>
                    <a:spcPct val="30000"/>
                  </a:lnSpc>
                </a:pPr>
                <a:endParaRPr lang="en-US" altLang="zh-CN"/>
              </a:p>
              <a:p>
                <a:pPr marL="0" lvl="0" indent="457200">
                  <a:buNone/>
                </a:pPr>
                <a:r>
                  <a:rPr lang="en-US" altLang="zh-CN">
                    <a:solidFill>
                      <a:schemeClr val="tx1"/>
                    </a:solidFill>
                  </a:rPr>
                  <a:t>-- </a:t>
                </a:r>
                <a:r>
                  <a:rPr lang="zh-CN" altLang="en-US"/>
                  <a:t>常见的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性能度量</a:t>
                </a:r>
                <a:r>
                  <a:rPr lang="zh-CN" altLang="en-US"/>
                  <a:t>：</a:t>
                </a:r>
                <a:r>
                  <a:rPr lang="en-US" altLang="zh-CN"/>
                  <a:t>1</a:t>
                </a:r>
                <a:r>
                  <a:rPr lang="zh-CN" altLang="en-US"/>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错误率与精度</a:t>
                </a:r>
                <a:r>
                  <a:rPr lang="en-US" altLang="zh-CN"/>
                  <a:t>  </a:t>
                </a:r>
                <a:endParaRPr lang="en-US" altLang="zh-CN"/>
              </a:p>
              <a:p>
                <a:pPr marL="0" lvl="0" indent="457200">
                  <a:buNone/>
                </a:pPr>
                <a:r>
                  <a:rPr lang="en-US" altLang="zh-CN"/>
                  <a:t>                                       2</a:t>
                </a:r>
                <a:r>
                  <a:rPr lang="zh-CN" altLang="en-US"/>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查准率、查全率与</a:t>
                </a:r>
                <a14:m>
                  <m:oMath xmlns:m="http://schemas.openxmlformats.org/officeDocument/2006/math">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oMath>
                </a14:m>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061720"/>
                <a:ext cx="11299825" cy="155892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90855" y="3174365"/>
                <a:ext cx="11200765" cy="359473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错误率与精度</a:t>
                </a:r>
                <a:r>
                  <a:rPr lang="zh-CN" altLang="en-US"/>
                  <a:t>：</a:t>
                </a:r>
                <a:endParaRPr lang="zh-CN" altLang="en-US"/>
              </a:p>
              <a:p>
                <a:pPr indent="457200">
                  <a:lnSpc>
                    <a:spcPct val="20000"/>
                  </a:lnSpc>
                </a:pPr>
                <a:endParaRPr lang="zh-CN" altLang="en-US"/>
              </a:p>
              <a:p>
                <a:pPr indent="457200"/>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错误率</a:t>
                </a:r>
                <a:r>
                  <a:rPr lang="zh-CN" altLang="en-US"/>
                  <a:t>是分类错误的样本数占样本总数的比例，</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精度</a:t>
                </a:r>
                <a:r>
                  <a:rPr lang="zh-CN" altLang="en-US"/>
                  <a:t>则是分类正确的样本数占总数的比例，对样例集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，分类</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错误率</a:t>
                </a:r>
                <a:r>
                  <a:rPr lang="zh-CN" altLang="en-US">
                    <a:latin typeface="Cambria Math" panose="02040503050406030204" pitchFamily="18" charset="0"/>
                    <a:cs typeface="Cambria Math" panose="02040503050406030204" pitchFamily="18" charset="0"/>
                  </a:rPr>
                  <a:t>定义为：</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𝐸</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𝑚</m:t>
                          </m:r>
                        </m:den>
                      </m:f>
                      <m:nary>
                        <m:naryPr>
                          <m:chr m:val="∑"/>
                          <m:limLoc m:val="undOvr"/>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𝑖</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up>
                          <m:r>
                            <a:rPr lang="en-US" altLang="zh-CN" sz="1600" i="1">
                              <a:latin typeface="Cambria Math" panose="02040503050406030204" pitchFamily="18" charset="0"/>
                              <a:cs typeface="Cambria Math" panose="02040503050406030204" pitchFamily="18" charset="0"/>
                            </a:rPr>
                            <m:t>𝑚</m:t>
                          </m:r>
                        </m:sup>
                        <m:e>
                          <m:r>
                            <a:rPr lang="en-US" altLang="zh-CN" sz="1600" i="1">
                              <a:latin typeface="Cambria Math" panose="02040503050406030204" pitchFamily="18" charset="0"/>
                              <a:cs typeface="Cambria Math" panose="02040503050406030204" pitchFamily="18" charset="0"/>
                            </a:rPr>
                            <m:t>𝛱</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sSub>
                            <m:sSubPr>
                              <m:ctrlPr>
                                <a:rPr lang="en-US" altLang="zh-CN" sz="1600" b="1" i="1">
                                  <a:latin typeface="Cambria Math" panose="02040503050406030204" pitchFamily="18" charset="0"/>
                                  <a:cs typeface="Cambria Math" panose="02040503050406030204" pitchFamily="18" charset="0"/>
                                </a:rPr>
                              </m:ctrlPr>
                            </m:sSubPr>
                            <m:e>
                              <m:r>
                                <a:rPr lang="en-US" altLang="zh-CN" sz="1600" b="1" i="1">
                                  <a:latin typeface="Cambria Math" panose="02040503050406030204" pitchFamily="18" charset="0"/>
                                  <a:cs typeface="Cambria Math" panose="02040503050406030204" pitchFamily="18" charset="0"/>
                                </a:rPr>
                                <m:t>𝒙</m:t>
                              </m:r>
                            </m:e>
                            <m:sub>
                              <m:r>
                                <a:rPr lang="en-US" altLang="zh-CN" sz="1600" b="1" i="1">
                                  <a:latin typeface="Cambria Math" panose="02040503050406030204" pitchFamily="18" charset="0"/>
                                  <a:cs typeface="Cambria Math" panose="02040503050406030204" pitchFamily="18" charset="0"/>
                                </a:rPr>
                                <m:t>𝒊</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𝑦</m:t>
                              </m:r>
                            </m:e>
                            <m:sub>
                              <m:r>
                                <a:rPr lang="en-US" altLang="zh-CN" sz="1600" i="1">
                                  <a:latin typeface="Cambria Math" panose="02040503050406030204" pitchFamily="18" charset="0"/>
                                  <a:cs typeface="Cambria Math" panose="02040503050406030204" pitchFamily="18" charset="0"/>
                                </a:rPr>
                                <m:t>𝑖</m:t>
                              </m:r>
                            </m:sub>
                          </m:sSub>
                          <m:r>
                            <a:rPr lang="en-US" altLang="zh-CN" sz="1600" i="1">
                              <a:latin typeface="Cambria Math" panose="02040503050406030204" pitchFamily="18" charset="0"/>
                              <a:cs typeface="Cambria Math" panose="02040503050406030204" pitchFamily="18" charset="0"/>
                            </a:rPr>
                            <m:t>)</m:t>
                          </m:r>
                        </m:e>
                      </m:nary>
                    </m:oMath>
                  </m:oMathPara>
                </a14:m>
                <a:endParaRPr lang="en-US" altLang="zh-CN" sz="1600" i="1">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𝐸</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nary>
                        <m:naryPr>
                          <m:limLoc m:val="subSup"/>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sub>
                        <m:sup>
                          <m:r>
                            <a:rPr lang="en-US" altLang="zh-CN" sz="1600" i="1">
                              <a:latin typeface="Cambria Math" panose="02040503050406030204" pitchFamily="18" charset="0"/>
                              <a:cs typeface="Cambria Math" panose="02040503050406030204" pitchFamily="18" charset="0"/>
                            </a:rPr>
                            <m:t>.</m:t>
                          </m:r>
                        </m:sup>
                        <m:e>
                          <m:r>
                            <a:rPr lang="en-US" altLang="zh-CN" sz="1600" i="1">
                              <a:latin typeface="Cambria Math" panose="02040503050406030204" pitchFamily="18" charset="0"/>
                              <a:cs typeface="Cambria Math" panose="02040503050406030204" pitchFamily="18" charset="0"/>
                            </a:rPr>
                            <m:t>𝛱</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b="1" i="1">
                              <a:latin typeface="Cambria Math" panose="02040503050406030204" pitchFamily="18" charset="0"/>
                              <a:cs typeface="Cambria Math" panose="02040503050406030204" pitchFamily="18" charset="0"/>
                            </a:rPr>
                            <m:t>𝒙</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𝑝</m:t>
                          </m:r>
                          <m:r>
                            <a:rPr lang="en-US" altLang="zh-CN" sz="1600" i="1">
                              <a:latin typeface="Cambria Math" panose="02040503050406030204" pitchFamily="18" charset="0"/>
                              <a:cs typeface="Cambria Math" panose="02040503050406030204" pitchFamily="18" charset="0"/>
                            </a:rPr>
                            <m:t>(</m:t>
                          </m:r>
                          <m:r>
                            <a:rPr lang="en-US" altLang="zh-CN" sz="1600" b="1" i="1">
                              <a:latin typeface="Cambria Math" panose="02040503050406030204" pitchFamily="18" charset="0"/>
                              <a:cs typeface="Cambria Math" panose="02040503050406030204" pitchFamily="18" charset="0"/>
                            </a:rPr>
                            <m:t>𝒙</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𝑑𝑥</m:t>
                          </m:r>
                        </m:e>
                      </m:nary>
                    </m:oMath>
                  </m:oMathPara>
                </a14:m>
                <a:endParaRPr lang="en-US" altLang="zh-CN" i="1">
                  <a:latin typeface="Cambria Math" panose="02040503050406030204" pitchFamily="18" charset="0"/>
                  <a:cs typeface="Cambria Math" panose="02040503050406030204" pitchFamily="18" charset="0"/>
                </a:endParaRPr>
              </a:p>
              <a:p>
                <a:pPr indent="457200"/>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精度</a:t>
                </a:r>
                <a:r>
                  <a:rPr lang="zh-CN" altLang="en-US">
                    <a:latin typeface="Cambria Math" panose="02040503050406030204" pitchFamily="18" charset="0"/>
                    <a:cs typeface="Cambria Math" panose="02040503050406030204" pitchFamily="18" charset="0"/>
                  </a:rPr>
                  <a:t>则定义为</a:t>
                </a:r>
                <a:r>
                  <a:rPr lang="en-US" altLang="zh-CN">
                    <a:latin typeface="Cambria Math" panose="02040503050406030204" pitchFamily="18" charset="0"/>
                    <a:cs typeface="Cambria Math" panose="02040503050406030204" pitchFamily="18" charset="0"/>
                  </a:rPr>
                  <a:t>:</a:t>
                </a:r>
                <a:endParaRPr lang="en-US" altLang="zh-CN">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𝑎𝑐𝑐</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f>
                        <m:fPr>
                          <m:ctrlPr>
                            <a:rPr lang="en-US" altLang="zh-CN" sz="1600" i="1">
                              <a:latin typeface="Cambria Math" panose="02040503050406030204" pitchFamily="18" charset="0"/>
                              <a:cs typeface="Cambria Math" panose="02040503050406030204" pitchFamily="18" charset="0"/>
                            </a:rPr>
                          </m:ctrlPr>
                        </m:fPr>
                        <m:num>
                          <m:r>
                            <a:rPr lang="en-US" altLang="zh-CN" sz="1600" i="1">
                              <a:latin typeface="Cambria Math" panose="02040503050406030204" pitchFamily="18" charset="0"/>
                              <a:cs typeface="Cambria Math" panose="02040503050406030204" pitchFamily="18" charset="0"/>
                            </a:rPr>
                            <m:t>1</m:t>
                          </m:r>
                        </m:num>
                        <m:den>
                          <m:r>
                            <a:rPr lang="en-US" altLang="zh-CN" sz="1600" i="1">
                              <a:latin typeface="Cambria Math" panose="02040503050406030204" pitchFamily="18" charset="0"/>
                              <a:cs typeface="Cambria Math" panose="02040503050406030204" pitchFamily="18" charset="0"/>
                            </a:rPr>
                            <m:t>𝑚</m:t>
                          </m:r>
                        </m:den>
                      </m:f>
                      <m:nary>
                        <m:naryPr>
                          <m:chr m:val="∑"/>
                          <m:limLoc m:val="undOvr"/>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𝑖</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sub>
                        <m:sup>
                          <m:r>
                            <a:rPr lang="en-US" altLang="zh-CN" sz="1600" i="1">
                              <a:latin typeface="Cambria Math" panose="02040503050406030204" pitchFamily="18" charset="0"/>
                              <a:cs typeface="Cambria Math" panose="02040503050406030204" pitchFamily="18" charset="0"/>
                            </a:rPr>
                            <m:t>𝑚</m:t>
                          </m:r>
                        </m:sup>
                        <m:e>
                          <m:r>
                            <a:rPr lang="en-US" altLang="zh-CN" sz="1600" i="1">
                              <a:latin typeface="Cambria Math" panose="02040503050406030204" pitchFamily="18" charset="0"/>
                              <a:cs typeface="Cambria Math" panose="02040503050406030204" pitchFamily="18" charset="0"/>
                            </a:rPr>
                            <m:t>𝛱</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sSub>
                            <m:sSubPr>
                              <m:ctrlPr>
                                <a:rPr lang="en-US" altLang="zh-CN" sz="1600" b="1" i="1">
                                  <a:latin typeface="Cambria Math" panose="02040503050406030204" pitchFamily="18" charset="0"/>
                                  <a:cs typeface="Cambria Math" panose="02040503050406030204" pitchFamily="18" charset="0"/>
                                </a:rPr>
                              </m:ctrlPr>
                            </m:sSubPr>
                            <m:e>
                              <m:r>
                                <a:rPr lang="en-US" altLang="zh-CN" sz="1600" b="1" i="1">
                                  <a:latin typeface="Cambria Math" panose="02040503050406030204" pitchFamily="18" charset="0"/>
                                  <a:cs typeface="Cambria Math" panose="02040503050406030204" pitchFamily="18" charset="0"/>
                                </a:rPr>
                                <m:t>𝒙</m:t>
                              </m:r>
                            </m:e>
                            <m:sub>
                              <m:r>
                                <a:rPr lang="en-US" altLang="zh-CN" sz="1600" b="1" i="1">
                                  <a:latin typeface="Cambria Math" panose="02040503050406030204" pitchFamily="18" charset="0"/>
                                  <a:cs typeface="Cambria Math" panose="02040503050406030204" pitchFamily="18" charset="0"/>
                                </a:rPr>
                                <m:t>𝒊</m:t>
                              </m:r>
                            </m:sub>
                          </m:sSub>
                          <m:r>
                            <a:rPr lang="en-US" altLang="zh-CN" sz="1600" i="1">
                              <a:latin typeface="Cambria Math" panose="02040503050406030204" pitchFamily="18" charset="0"/>
                              <a:cs typeface="Cambria Math" panose="02040503050406030204" pitchFamily="18" charset="0"/>
                            </a:rPr>
                            <m:t>)=</m:t>
                          </m:r>
                          <m:sSub>
                            <m:sSubPr>
                              <m:ctrlPr>
                                <a:rPr lang="en-US" altLang="zh-CN" sz="1600" i="1">
                                  <a:latin typeface="Cambria Math" panose="02040503050406030204" pitchFamily="18" charset="0"/>
                                  <a:cs typeface="Cambria Math" panose="02040503050406030204" pitchFamily="18" charset="0"/>
                                </a:rPr>
                              </m:ctrlPr>
                            </m:sSubPr>
                            <m:e>
                              <m:r>
                                <a:rPr lang="en-US" altLang="zh-CN" sz="1600" i="1">
                                  <a:latin typeface="Cambria Math" panose="02040503050406030204" pitchFamily="18" charset="0"/>
                                  <a:cs typeface="Cambria Math" panose="02040503050406030204" pitchFamily="18" charset="0"/>
                                </a:rPr>
                                <m:t>𝑦</m:t>
                              </m:r>
                            </m:e>
                            <m:sub>
                              <m:r>
                                <a:rPr lang="en-US" altLang="zh-CN" sz="1600" i="1">
                                  <a:latin typeface="Cambria Math" panose="02040503050406030204" pitchFamily="18" charset="0"/>
                                  <a:cs typeface="Cambria Math" panose="02040503050406030204" pitchFamily="18" charset="0"/>
                                </a:rPr>
                                <m:t>𝑖</m:t>
                              </m:r>
                            </m:sub>
                          </m:sSub>
                          <m:r>
                            <a:rPr lang="en-US" altLang="zh-CN" sz="1600" i="1">
                              <a:latin typeface="Cambria Math" panose="02040503050406030204" pitchFamily="18" charset="0"/>
                              <a:cs typeface="Cambria Math" panose="02040503050406030204" pitchFamily="18" charset="0"/>
                            </a:rPr>
                            <m:t>)</m:t>
                          </m:r>
                        </m:e>
                      </m:nary>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𝐸</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oMath>
                  </m:oMathPara>
                </a14:m>
                <a:endParaRPr lang="en-US" altLang="zh-CN" sz="1600" i="1">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𝑎𝑐𝑐</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nary>
                        <m:naryPr>
                          <m:limLoc m:val="subSup"/>
                          <m:ctrlPr>
                            <a:rPr lang="en-US" altLang="zh-CN" sz="1600" i="1">
                              <a:latin typeface="Cambria Math" panose="02040503050406030204" pitchFamily="18" charset="0"/>
                              <a:cs typeface="Cambria Math" panose="02040503050406030204" pitchFamily="18" charset="0"/>
                            </a:rPr>
                          </m:ctrlPr>
                        </m:naryPr>
                        <m:sub>
                          <m:r>
                            <a:rPr lang="en-US" altLang="zh-CN" sz="1600" i="1">
                              <a:latin typeface="Cambria Math" panose="02040503050406030204" pitchFamily="18" charset="0"/>
                              <a:cs typeface="Cambria Math" panose="02040503050406030204" pitchFamily="18" charset="0"/>
                            </a:rPr>
                            <m:t>𝑥</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sub>
                        <m:sup>
                          <m:r>
                            <a:rPr lang="en-US" altLang="zh-CN" sz="1600" i="1">
                              <a:latin typeface="Cambria Math" panose="02040503050406030204" pitchFamily="18" charset="0"/>
                              <a:cs typeface="Cambria Math" panose="02040503050406030204" pitchFamily="18" charset="0"/>
                            </a:rPr>
                            <m:t>.</m:t>
                          </m:r>
                        </m:sup>
                        <m:e>
                          <m:r>
                            <a:rPr lang="en-US" altLang="zh-CN" sz="1600" i="1">
                              <a:latin typeface="Cambria Math" panose="02040503050406030204" pitchFamily="18" charset="0"/>
                              <a:cs typeface="Cambria Math" panose="02040503050406030204" pitchFamily="18" charset="0"/>
                            </a:rPr>
                            <m:t>𝛱</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b="1" i="1">
                              <a:latin typeface="Cambria Math" panose="02040503050406030204" pitchFamily="18" charset="0"/>
                              <a:cs typeface="Cambria Math" panose="02040503050406030204" pitchFamily="18" charset="0"/>
                            </a:rPr>
                            <m:t>𝒙</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𝑦</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𝑝</m:t>
                          </m:r>
                          <m:r>
                            <a:rPr lang="en-US" altLang="zh-CN" sz="1600" i="1">
                              <a:latin typeface="Cambria Math" panose="02040503050406030204" pitchFamily="18" charset="0"/>
                              <a:cs typeface="Cambria Math" panose="02040503050406030204" pitchFamily="18" charset="0"/>
                            </a:rPr>
                            <m:t>(</m:t>
                          </m:r>
                          <m:r>
                            <a:rPr lang="en-US" altLang="zh-CN" sz="1600" b="1" i="1">
                              <a:latin typeface="Cambria Math" panose="02040503050406030204" pitchFamily="18" charset="0"/>
                              <a:cs typeface="Cambria Math" panose="02040503050406030204" pitchFamily="18" charset="0"/>
                            </a:rPr>
                            <m:t>𝒙</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𝑑𝑥</m:t>
                          </m:r>
                        </m:e>
                      </m:nary>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1</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𝐸</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𝐷</m:t>
                      </m:r>
                      <m:r>
                        <a:rPr lang="en-US" altLang="zh-CN" sz="1600" i="1">
                          <a:latin typeface="Cambria Math" panose="02040503050406030204" pitchFamily="18" charset="0"/>
                          <a:cs typeface="Cambria Math" panose="02040503050406030204" pitchFamily="18" charset="0"/>
                        </a:rPr>
                        <m:t>)</m:t>
                      </m:r>
                    </m:oMath>
                  </m:oMathPara>
                </a14:m>
                <a:endParaRPr lang="en-US" altLang="zh-CN" sz="1600"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490855" y="3174365"/>
                <a:ext cx="11200765" cy="359473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301625" y="1026160"/>
                <a:ext cx="11200765" cy="550037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准确率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、查全率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召回率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与</a:t>
                </a:r>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𝐹</m:t>
                    </m:r>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1</m:t>
                    </m:r>
                  </m:oMath>
                </a14:m>
                <a:r>
                  <a:rPr lang="zh-CN" altLang="en-US"/>
                  <a:t>：</a:t>
                </a:r>
                <a:endParaRPr lang="zh-CN" altLang="en-US"/>
              </a:p>
              <a:p>
                <a:pPr indent="457200">
                  <a:lnSpc>
                    <a:spcPct val="20000"/>
                  </a:lnSpc>
                </a:pPr>
                <a:endParaRPr lang="zh-CN" altLang="en-US"/>
              </a:p>
              <a:p>
                <a:pPr indent="457200"/>
                <a:r>
                  <a:rPr lang="zh-CN" altLang="en-US">
                    <a:latin typeface="Cambria Math" panose="02040503050406030204" pitchFamily="18" charset="0"/>
                    <a:cs typeface="Cambria Math" panose="02040503050406030204" pitchFamily="18" charset="0"/>
                  </a:rPr>
                  <a:t>对于二分类问题，可将样例根据其真实类别与学习器预测类别的组合划分为</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真正例</a:t>
                </a:r>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𝑡𝑟𝑢𝑒</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𝑝𝑜𝑠𝑖𝑡𝑖𝑣𝑒</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𝑇𝑃</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假正例</a:t>
                </a:r>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𝑓𝑎𝑙𝑠𝑒</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𝑝𝑜𝑠𝑖𝑡𝑖𝑣𝑒</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𝐹𝑃</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真反例</a:t>
                </a:r>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𝑡𝑟𝑢𝑒</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𝑛𝑒𝑔𝑎𝑡𝑖𝑣𝑒</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𝑇𝑁</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假反例</a:t>
                </a:r>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𝑓𝑎𝑙𝑠𝑒</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𝑛𝑒𝑔𝑎𝑡𝑖𝑣𝑒</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𝐹𝑁</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，显然有</a:t>
                </a:r>
                <a14:m>
                  <m:oMath xmlns:m="http://schemas.openxmlformats.org/officeDocument/2006/math">
                    <m:r>
                      <a:rPr lang="en-US" altLang="zh-CN" i="1">
                        <a:latin typeface="Cambria Math" panose="02040503050406030204" pitchFamily="18" charset="0"/>
                        <a:cs typeface="Cambria Math" panose="02040503050406030204" pitchFamily="18" charset="0"/>
                      </a:rPr>
                      <m:t>𝑇𝑃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𝑇𝑁</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𝐹𝑁</m:t>
                    </m:r>
                    <m:r>
                      <a:rPr lang="en-US" altLang="zh-CN" i="1">
                        <a:latin typeface="Cambria Math" panose="02040503050406030204" pitchFamily="18" charset="0"/>
                        <a:cs typeface="Cambria Math" panose="02040503050406030204" pitchFamily="18" charset="0"/>
                      </a:rPr>
                      <m:t>=</m:t>
                    </m:r>
                  </m:oMath>
                </a14:m>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样例总数，分类结果的混淆矩阵可表示为：</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a:t>
                </a:r>
                <a14:m>
                  <m:oMath xmlns:m="http://schemas.openxmlformats.org/officeDocument/2006/math">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𝑃</m:t>
                    </m:r>
                  </m:oMath>
                </a14:m>
                <a:r>
                  <a:rPr lang="zh-CN" altLang="en-US">
                    <a:latin typeface="Cambria Math" panose="02040503050406030204" pitchFamily="18" charset="0"/>
                    <a:cs typeface="Cambria Math" panose="02040503050406030204" pitchFamily="18" charset="0"/>
                  </a:rPr>
                  <a:t>代表模型检测出的正例中有多少是真正的正例；</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查全率</a:t>
                </a:r>
                <a14:m>
                  <m:oMath xmlns:m="http://schemas.openxmlformats.org/officeDocument/2006/math">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𝑅</m:t>
                    </m:r>
                  </m:oMath>
                </a14:m>
                <a:r>
                  <a:rPr lang="zh-CN" altLang="en-US">
                    <a:latin typeface="Cambria Math" panose="02040503050406030204" pitchFamily="18" charset="0"/>
                    <a:cs typeface="Cambria Math" panose="02040503050406030204" pitchFamily="18" charset="0"/>
                  </a:rPr>
                  <a:t>代</a:t>
                </a:r>
                <a:r>
                  <a:rPr lang="zh-CN" altLang="en-US">
                    <a:latin typeface="Cambria Math" panose="02040503050406030204" pitchFamily="18" charset="0"/>
                    <a:cs typeface="Cambria Math" panose="02040503050406030204" pitchFamily="18" charset="0"/>
                  </a:rPr>
                  <a:t>表真正的正例有多少被模型检测出来，分别可定义为：</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𝑇𝑃</m:t>
                          </m:r>
                        </m:num>
                        <m:den>
                          <m:r>
                            <a:rPr lang="en-US" altLang="zh-CN" i="1">
                              <a:latin typeface="Cambria Math" panose="02040503050406030204" pitchFamily="18" charset="0"/>
                              <a:cs typeface="Cambria Math" panose="02040503050406030204" pitchFamily="18" charset="0"/>
                            </a:rPr>
                            <m:t>𝑇𝑃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𝐹𝑃</m:t>
                          </m:r>
                        </m:den>
                      </m:f>
                    </m:oMath>
                  </m:oMathPara>
                </a14:m>
                <a:endParaRPr lang="en-US" altLang="zh-CN" i="1">
                  <a:latin typeface="Cambria Math" panose="02040503050406030204" pitchFamily="18" charset="0"/>
                  <a:cs typeface="Cambria Math" panose="02040503050406030204" pitchFamily="18" charset="0"/>
                </a:endParaRPr>
              </a:p>
              <a:p>
                <a:pPr indent="457200">
                  <a:lnSpc>
                    <a:spcPct val="70000"/>
                  </a:lnSpc>
                </a:pPr>
                <a:endParaRPr lang="en-US" altLang="zh-CN" i="1">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𝑇𝑃</m:t>
                          </m:r>
                        </m:num>
                        <m:den>
                          <m:r>
                            <a:rPr lang="en-US" altLang="zh-CN" i="1">
                              <a:latin typeface="Cambria Math" panose="02040503050406030204" pitchFamily="18" charset="0"/>
                              <a:cs typeface="Cambria Math" panose="02040503050406030204" pitchFamily="18" charset="0"/>
                            </a:rPr>
                            <m:t>𝑇𝑃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𝐹𝑁</m:t>
                          </m:r>
                        </m:den>
                      </m:f>
                    </m:oMath>
                  </m:oMathPara>
                </a14:m>
                <a:endParaRPr lang="zh-CN" altLang="en-US">
                  <a:latin typeface="Cambria Math" panose="02040503050406030204" pitchFamily="18" charset="0"/>
                  <a:cs typeface="Cambria Math" panose="02040503050406030204" pitchFamily="18" charset="0"/>
                </a:endParaRPr>
              </a:p>
              <a:p>
                <a:pPr indent="457200"/>
                <a:endParaRPr lang="en-US" altLang="zh-CN" sz="1600"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301625" y="1026160"/>
                <a:ext cx="11200765" cy="5500370"/>
              </a:xfrm>
              <a:prstGeom prst="rect">
                <a:avLst/>
              </a:prstGeom>
              <a:blipFill rotWithShape="1">
                <a:blip r:embed="rId3"/>
                <a:stretch>
                  <a:fillRect/>
                </a:stretch>
              </a:blipFill>
            </p:spPr>
            <p:txBody>
              <a:bodyPr/>
              <a:lstStyle/>
              <a:p>
                <a:r>
                  <a:rPr lang="zh-CN" altLang="en-US">
                    <a:noFill/>
                  </a:rPr>
                  <a:t> </a:t>
                </a:r>
              </a:p>
            </p:txBody>
          </p:sp>
        </mc:Fallback>
      </mc:AlternateContent>
      <p:pic>
        <p:nvPicPr>
          <p:cNvPr id="5" name="图片 4" descr="混淆矩阵"/>
          <p:cNvPicPr>
            <a:picLocks noChangeAspect="1"/>
          </p:cNvPicPr>
          <p:nvPr/>
        </p:nvPicPr>
        <p:blipFill>
          <a:blip r:embed="rId4"/>
          <a:stretch>
            <a:fillRect/>
          </a:stretch>
        </p:blipFill>
        <p:spPr>
          <a:xfrm>
            <a:off x="3660140" y="2278380"/>
            <a:ext cx="4871085" cy="2127885"/>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301625" y="1026160"/>
                <a:ext cx="11200765" cy="78359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准确率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、查全率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召回率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与</a:t>
                </a:r>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𝐹</m:t>
                    </m:r>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1</m:t>
                    </m:r>
                  </m:oMath>
                </a14:m>
                <a:r>
                  <a:rPr lang="zh-CN" altLang="en-US"/>
                  <a:t>：</a:t>
                </a:r>
                <a:endParaRPr lang="zh-CN" altLang="en-US"/>
              </a:p>
              <a:p>
                <a:pPr>
                  <a:lnSpc>
                    <a:spcPct val="50000"/>
                  </a:lnSpc>
                </a:pPr>
                <a:endParaRPr lang="zh-CN" altLang="en-US" sz="1800">
                  <a:latin typeface="Cambria Math" panose="02040503050406030204" pitchFamily="18" charset="0"/>
                  <a:cs typeface="Cambria Math" panose="02040503050406030204" pitchFamily="18" charset="0"/>
                </a:endParaRPr>
              </a:p>
              <a:p>
                <a:pPr indent="457200"/>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a:t>
                </a:r>
                <a:r>
                  <a:rPr lang="zh-CN" altLang="en-US" sz="1800">
                    <a:latin typeface="Cambria Math" panose="02040503050406030204" pitchFamily="18" charset="0"/>
                    <a:cs typeface="Cambria Math" panose="02040503050406030204" pitchFamily="18" charset="0"/>
                  </a:rPr>
                  <a:t>和</a:t>
                </a:r>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查全率</a:t>
                </a:r>
                <a:r>
                  <a:rPr lang="zh-CN" altLang="en-US" sz="1800">
                    <a:latin typeface="Cambria Math" panose="02040503050406030204" pitchFamily="18" charset="0"/>
                    <a:cs typeface="Cambria Math" panose="02040503050406030204" pitchFamily="18" charset="0"/>
                  </a:rPr>
                  <a:t>是一对矛盾的度量，</a:t>
                </a:r>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查准率-查全率曲线(P-R曲线)</a:t>
                </a:r>
                <a:r>
                  <a:rPr lang="zh-CN" altLang="en-US" sz="1800">
                    <a:latin typeface="Cambria Math" panose="02040503050406030204" pitchFamily="18" charset="0"/>
                    <a:cs typeface="Cambria Math" panose="02040503050406030204" pitchFamily="18" charset="0"/>
                  </a:rPr>
                  <a:t>可表示为：</a:t>
                </a:r>
                <a:endParaRPr lang="zh-CN" altLang="en-US" sz="1800">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301625" y="1026160"/>
                <a:ext cx="11200765" cy="783590"/>
              </a:xfrm>
              <a:prstGeom prst="rect">
                <a:avLst/>
              </a:prstGeom>
              <a:blipFill rotWithShape="1">
                <a:blip r:embed="rId3"/>
                <a:stretch>
                  <a:fillRect/>
                </a:stretch>
              </a:blipFill>
            </p:spPr>
            <p:txBody>
              <a:bodyPr/>
              <a:lstStyle/>
              <a:p>
                <a:r>
                  <a:rPr lang="zh-CN" altLang="en-US">
                    <a:noFill/>
                  </a:rPr>
                  <a:t> </a:t>
                </a:r>
              </a:p>
            </p:txBody>
          </p:sp>
        </mc:Fallback>
      </mc:AlternateContent>
      <p:pic>
        <p:nvPicPr>
          <p:cNvPr id="6" name="图片 5" descr="P-R曲线"/>
          <p:cNvPicPr>
            <a:picLocks noChangeAspect="1"/>
          </p:cNvPicPr>
          <p:nvPr/>
        </p:nvPicPr>
        <p:blipFill>
          <a:blip r:embed="rId4"/>
          <a:stretch>
            <a:fillRect/>
          </a:stretch>
        </p:blipFill>
        <p:spPr>
          <a:xfrm>
            <a:off x="4040505" y="2014855"/>
            <a:ext cx="4110990" cy="3418840"/>
          </a:xfrm>
          <a:prstGeom prst="rect">
            <a:avLst/>
          </a:prstGeom>
        </p:spPr>
      </p:pic>
      <p:sp>
        <p:nvSpPr>
          <p:cNvPr id="8" name="文本框 7"/>
          <p:cNvSpPr txBox="1"/>
          <p:nvPr/>
        </p:nvSpPr>
        <p:spPr>
          <a:xfrm>
            <a:off x="499110" y="5598160"/>
            <a:ext cx="11496040" cy="922020"/>
          </a:xfrm>
          <a:prstGeom prst="rect">
            <a:avLst/>
          </a:prstGeom>
          <a:noFill/>
        </p:spPr>
        <p:txBody>
          <a:bodyPr wrap="square" rtlCol="0">
            <a:spAutoFit/>
          </a:bodyPr>
          <a:p>
            <a:r>
              <a:rPr lang="zh-CN" altLang="en-US"/>
              <a:t>当一个学习器的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P-R曲线</a:t>
            </a:r>
            <a:r>
              <a:rPr lang="zh-CN" altLang="en-US"/>
              <a:t>完全被另一个学习器的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P-R曲线</a:t>
            </a:r>
            <a:r>
              <a:rPr lang="zh-CN" altLang="en-US"/>
              <a:t>包住时</a:t>
            </a:r>
            <a:r>
              <a:rPr lang="en-US" altLang="zh-CN"/>
              <a:t>(A</a:t>
            </a:r>
            <a:r>
              <a:rPr lang="zh-CN" altLang="en-US"/>
              <a:t>包住</a:t>
            </a:r>
            <a:r>
              <a:rPr lang="en-US" altLang="zh-CN"/>
              <a:t>C</a:t>
            </a:r>
            <a:r>
              <a:rPr lang="zh-CN" altLang="en-US"/>
              <a:t>，</a:t>
            </a:r>
            <a:r>
              <a:rPr lang="en-US" altLang="zh-CN"/>
              <a:t>B</a:t>
            </a:r>
            <a:r>
              <a:rPr lang="zh-CN" altLang="en-US"/>
              <a:t>包住</a:t>
            </a:r>
            <a:r>
              <a:rPr lang="en-US" altLang="zh-CN"/>
              <a:t>C)</a:t>
            </a:r>
            <a:r>
              <a:rPr lang="zh-CN" altLang="en-US"/>
              <a:t>，可断言后者的性能优于前者；当二者没有明显的谁包住谁时</a:t>
            </a:r>
            <a:r>
              <a:rPr lang="en-US" altLang="zh-CN"/>
              <a:t>(A</a:t>
            </a:r>
            <a:r>
              <a:rPr lang="zh-CN" altLang="en-US"/>
              <a:t>与</a:t>
            </a:r>
            <a:r>
              <a:rPr lang="en-US" altLang="zh-CN"/>
              <a:t>B)</a:t>
            </a:r>
            <a:r>
              <a:rPr lang="zh-CN" altLang="en-US"/>
              <a:t>，需要判断二者</a:t>
            </a:r>
            <a:r>
              <a:rPr lang="en-US" altLang="zh-CN"/>
              <a:t>P-R</a:t>
            </a:r>
            <a:r>
              <a:rPr lang="zh-CN" altLang="en-US"/>
              <a:t>曲线下的面积大小，面积大的性能更优，或通过</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平衡点</a:t>
            </a:r>
            <a:r>
              <a:rPr lang="zh-CN" altLang="en-US"/>
              <a:t>来判断，即查准率</a:t>
            </a:r>
            <a:r>
              <a:rPr lang="en-US" altLang="zh-CN"/>
              <a:t>=</a:t>
            </a:r>
            <a:r>
              <a:rPr lang="zh-CN" altLang="en-US"/>
              <a:t>查全率时的取值，平衡点的取值越大性能越优</a:t>
            </a:r>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301625" y="1026160"/>
                <a:ext cx="11200765" cy="416750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查准率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准确率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、查全率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召回率</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a:t>与</a:t>
                </a:r>
                <a14:m>
                  <m:oMath xmlns:m="http://schemas.openxmlformats.org/officeDocument/2006/math">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𝐹</m:t>
                    </m:r>
                    <m:r>
                      <a:rPr lang="en-US" altLang="zh-CN" i="1">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m:t>1</m:t>
                    </m:r>
                  </m:oMath>
                </a14:m>
                <a:r>
                  <a:rPr lang="zh-CN" altLang="en-US"/>
                  <a:t>：</a:t>
                </a:r>
                <a:endParaRPr lang="zh-CN" altLang="en-US"/>
              </a:p>
              <a:p>
                <a:pPr>
                  <a:lnSpc>
                    <a:spcPct val="50000"/>
                  </a:lnSpc>
                </a:pPr>
                <a:endParaRPr lang="zh-CN" altLang="en-US" sz="1800">
                  <a:latin typeface="Cambria Math" panose="02040503050406030204" pitchFamily="18" charset="0"/>
                  <a:cs typeface="Cambria Math" panose="02040503050406030204" pitchFamily="18" charset="0"/>
                </a:endParaRPr>
              </a:p>
              <a:p>
                <a:pPr indent="457200"/>
                <a:r>
                  <a:rPr lang="zh-CN" sz="1800">
                    <a:latin typeface="Cambria Math" panose="02040503050406030204" pitchFamily="18" charset="0"/>
                    <a:cs typeface="Cambria Math" panose="02040503050406030204" pitchFamily="18" charset="0"/>
                  </a:rPr>
                  <a:t>此外还可以通过</a:t>
                </a:r>
                <a14:m>
                  <m:oMath xmlns:m="http://schemas.openxmlformats.org/officeDocument/2006/math">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oMath>
                </a14:m>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度量</a:t>
                </a:r>
                <a:r>
                  <a:rPr lang="zh-CN" sz="1800">
                    <a:latin typeface="Cambria Math" panose="02040503050406030204" pitchFamily="18" charset="0"/>
                    <a:cs typeface="Cambria Math" panose="02040503050406030204" pitchFamily="18" charset="0"/>
                  </a:rPr>
                  <a:t>来判断学习器性能的优劣</a:t>
                </a:r>
                <a:r>
                  <a:rPr lang="zh-CN" altLang="en-US" sz="1800">
                    <a:latin typeface="Cambria Math" panose="02040503050406030204" pitchFamily="18" charset="0"/>
                    <a:cs typeface="Cambria Math" panose="02040503050406030204" pitchFamily="18" charset="0"/>
                  </a:rPr>
                  <a:t>：</a:t>
                </a:r>
                <a:endParaRPr lang="zh-CN" altLang="en-US" sz="1800">
                  <a:latin typeface="Cambria Math" panose="02040503050406030204" pitchFamily="18" charset="0"/>
                  <a:cs typeface="Cambria Math" panose="02040503050406030204" pitchFamily="18" charset="0"/>
                </a:endParaRPr>
              </a:p>
              <a:p>
                <a:pPr indent="457200">
                  <a:lnSpc>
                    <a:spcPct val="50000"/>
                  </a:lnSpc>
                </a:pPr>
                <a:endParaRPr lang="zh-CN" altLang="en-US" sz="1800">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𝐹</m:t>
                          </m:r>
                          <m:r>
                            <a:rPr lang="en-US" altLang="zh-CN" sz="1800" i="1">
                              <a:latin typeface="Cambria Math" panose="02040503050406030204" pitchFamily="18" charset="0"/>
                              <a:cs typeface="Cambria Math" panose="02040503050406030204" pitchFamily="18" charset="0"/>
                            </a:rPr>
                            <m:t>1</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2</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𝑃</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𝑅</m:t>
                          </m:r>
                        </m:den>
                      </m:f>
                      <m:r>
                        <a:rPr lang="en-US" altLang="zh-CN" sz="1800" i="1">
                          <a:latin typeface="Cambria Math" panose="02040503050406030204" pitchFamily="18" charset="0"/>
                          <a:cs typeface="Cambria Math" panose="02040503050406030204" pitchFamily="18" charset="0"/>
                        </a:rPr>
                        <m:t>)</m:t>
                      </m:r>
                    </m:oMath>
                  </m:oMathPara>
                </a14:m>
                <a:endParaRPr lang="zh-CN" altLang="en-US" sz="1800">
                  <a:latin typeface="Cambria Math" panose="02040503050406030204" pitchFamily="18" charset="0"/>
                  <a:cs typeface="Cambria Math" panose="02040503050406030204" pitchFamily="18" charset="0"/>
                </a:endParaRPr>
              </a:p>
              <a:p>
                <a:pPr indent="457200">
                  <a:lnSpc>
                    <a:spcPct val="50000"/>
                  </a:lnSpc>
                </a:pPr>
                <a:endParaRPr lang="zh-CN" altLang="en-US" sz="1800">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Cambria Math" panose="02040503050406030204" pitchFamily="18" charset="0"/>
                        </a:rPr>
                        <m:t>𝐹</m:t>
                      </m:r>
                      <m:r>
                        <a:rPr lang="en-US" altLang="zh-CN" sz="1800" i="1">
                          <a:latin typeface="Cambria Math" panose="02040503050406030204" pitchFamily="18" charset="0"/>
                          <a:cs typeface="Cambria Math" panose="02040503050406030204" pitchFamily="18" charset="0"/>
                        </a:rPr>
                        <m:t>1</m:t>
                      </m:r>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𝑅</m:t>
                          </m:r>
                        </m:num>
                        <m:den>
                          <m:r>
                            <a:rPr lang="en-US" altLang="zh-CN" sz="1800" i="1">
                              <a:latin typeface="Cambria Math" panose="02040503050406030204" pitchFamily="18" charset="0"/>
                              <a:cs typeface="Cambria Math" panose="02040503050406030204" pitchFamily="18" charset="0"/>
                            </a:rPr>
                            <m:t>𝑃</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𝑅</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2</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𝑇𝑃</m:t>
                          </m:r>
                        </m:num>
                        <m:den>
                          <m:r>
                            <a:rPr lang="en-US" altLang="zh-CN" sz="1800" i="1">
                              <a:latin typeface="Cambria Math" panose="02040503050406030204" pitchFamily="18" charset="0"/>
                              <a:cs typeface="Cambria Math" panose="02040503050406030204" pitchFamily="18" charset="0"/>
                            </a:rPr>
                            <m:t>样例总数+</m:t>
                          </m:r>
                          <m:r>
                            <a:rPr lang="en-US" altLang="zh-CN" sz="1800" i="1">
                              <a:latin typeface="Cambria Math" panose="02040503050406030204" pitchFamily="18" charset="0"/>
                              <a:cs typeface="Cambria Math" panose="02040503050406030204" pitchFamily="18" charset="0"/>
                            </a:rPr>
                            <m:t>𝑇𝑃</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𝑇𝑁</m:t>
                          </m:r>
                        </m:den>
                      </m:f>
                    </m:oMath>
                  </m:oMathPara>
                </a14:m>
                <a:endParaRPr lang="en-US" altLang="zh-CN" sz="1800" i="1">
                  <a:latin typeface="Cambria Math" panose="02040503050406030204" pitchFamily="18" charset="0"/>
                  <a:cs typeface="Cambria Math" panose="02040503050406030204" pitchFamily="18" charset="0"/>
                </a:endParaRPr>
              </a:p>
              <a:p>
                <a:pPr indent="457200"/>
                <a:endParaRPr lang="zh-CN" altLang="en-US" sz="1800">
                  <a:latin typeface="Cambria Math" panose="02040503050406030204" pitchFamily="18" charset="0"/>
                  <a:cs typeface="Cambria Math" panose="02040503050406030204" pitchFamily="18" charset="0"/>
                </a:endParaRPr>
              </a:p>
              <a:p>
                <a:pPr indent="457200"/>
                <a:r>
                  <a:rPr lang="zh-CN" altLang="en-US" sz="1800">
                    <a:latin typeface="Cambria Math" panose="02040503050406030204" pitchFamily="18" charset="0"/>
                    <a:cs typeface="Cambria Math" panose="02040503050406030204" pitchFamily="18" charset="0"/>
                  </a:rPr>
                  <a:t>当对查准率和查全率的重视程度不同时，通过</a:t>
                </a:r>
                <a14:m>
                  <m:oMath xmlns:m="http://schemas.openxmlformats.org/officeDocument/2006/math">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oMath>
                </a14:m>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度量</a:t>
                </a:r>
                <a:r>
                  <a:rPr lang="zh-CN" altLang="en-US" sz="1800">
                    <a:latin typeface="Cambria Math" panose="02040503050406030204" pitchFamily="18" charset="0"/>
                    <a:cs typeface="Cambria Math" panose="02040503050406030204" pitchFamily="18" charset="0"/>
                  </a:rPr>
                  <a:t>的一般形式</a:t>
                </a:r>
                <a14:m>
                  <m:oMath xmlns:m="http://schemas.openxmlformats.org/officeDocument/2006/math">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m:t>𝛽</m:t>
                    </m:r>
                  </m:oMath>
                </a14:m>
                <a:r>
                  <a:rPr lang="zh-CN" altLang="en-US" sz="1800">
                    <a:solidFill>
                      <a:schemeClr val="accent1"/>
                    </a:solidFill>
                    <a:effectLst>
                      <a:outerShdw blurRad="38100" dist="25400" dir="5400000" algn="ctr" rotWithShape="0">
                        <a:srgbClr val="6E747A">
                          <a:alpha val="43000"/>
                        </a:srgbClr>
                      </a:outerShdw>
                    </a:effectLst>
                    <a:latin typeface="Cambria Math" panose="02040503050406030204" pitchFamily="18" charset="0"/>
                  </a:rPr>
                  <a:t>度量</a:t>
                </a:r>
                <a:r>
                  <a:rPr lang="zh-CN" altLang="en-US" sz="1800">
                    <a:latin typeface="Cambria Math" panose="02040503050406030204" pitchFamily="18" charset="0"/>
                    <a:cs typeface="Cambria Math" panose="02040503050406030204" pitchFamily="18" charset="0"/>
                  </a:rPr>
                  <a:t>来判断学习器性能的优劣：</a:t>
                </a:r>
                <a:endParaRPr lang="zh-CN" altLang="en-US" sz="1800">
                  <a:latin typeface="Cambria Math" panose="02040503050406030204" pitchFamily="18" charset="0"/>
                  <a:cs typeface="Cambria Math" panose="02040503050406030204" pitchFamily="18" charset="0"/>
                </a:endParaRPr>
              </a:p>
              <a:p>
                <a:pPr indent="457200">
                  <a:lnSpc>
                    <a:spcPct val="50000"/>
                  </a:lnSpc>
                </a:pPr>
                <a:endParaRPr lang="zh-CN" altLang="en-US" sz="1800">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𝐹</m:t>
                          </m:r>
                          <m:r>
                            <a:rPr lang="en-US" altLang="zh-CN" sz="1800" i="1">
                              <a:latin typeface="Cambria Math" panose="02040503050406030204" pitchFamily="18" charset="0"/>
                              <a:cs typeface="Cambria Math" panose="02040503050406030204" pitchFamily="18" charset="0"/>
                            </a:rPr>
                            <m:t>𝛽</m:t>
                          </m:r>
                        </m:den>
                      </m:f>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1</m:t>
                          </m:r>
                        </m:num>
                        <m:den>
                          <m:r>
                            <a:rPr lang="en-US" altLang="zh-CN" sz="1800" i="1">
                              <a:latin typeface="Cambria Math" panose="02040503050406030204" pitchFamily="18" charset="0"/>
                              <a:cs typeface="Cambria Math" panose="02040503050406030204" pitchFamily="18" charset="0"/>
                            </a:rPr>
                            <m:t>1</m:t>
                          </m:r>
                          <m:r>
                            <a:rPr lang="en-US" altLang="zh-CN" sz="1800" i="1">
                              <a:latin typeface="Cambria Math" panose="02040503050406030204" pitchFamily="18" charset="0"/>
                              <a:cs typeface="Cambria Math" panose="02040503050406030204" pitchFamily="18" charset="0"/>
                            </a:rPr>
                            <m:t>+</m:t>
                          </m:r>
                          <m:sSup>
                            <m:sSupPr>
                              <m:ctrlPr>
                                <a:rPr lang="en-US" altLang="zh-CN" sz="1800" i="1">
                                  <a:latin typeface="Cambria Math" panose="02040503050406030204" pitchFamily="18" charset="0"/>
                                  <a:cs typeface="Cambria Math" panose="02040503050406030204" pitchFamily="18" charset="0"/>
                                </a:rPr>
                              </m:ctrlPr>
                            </m:sSupPr>
                            <m:e>
                              <m:r>
                                <a:rPr lang="en-US" altLang="zh-CN" sz="1800" i="1">
                                  <a:latin typeface="Cambria Math" panose="02040503050406030204" pitchFamily="18" charset="0"/>
                                  <a:cs typeface="Cambria Math" panose="02040503050406030204" pitchFamily="18" charset="0"/>
                                </a:rPr>
                                <m:t>𝛽</m:t>
                              </m:r>
                            </m:e>
                            <m:sup>
                              <m:r>
                                <a:rPr lang="en-US" altLang="zh-CN" sz="1800" i="1">
                                  <a:latin typeface="Cambria Math" panose="02040503050406030204" pitchFamily="18" charset="0"/>
                                  <a:cs typeface="Cambria Math" panose="02040503050406030204" pitchFamily="18" charset="0"/>
                                </a:rPr>
                                <m:t>2</m:t>
                              </m:r>
                            </m:sup>
                          </m:sSup>
                        </m:den>
                      </m:f>
                      <m:r>
                        <a:rPr lang="en-US" altLang="zh-CN" sz="1800"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𝑃</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𝛽</m:t>
                              </m:r>
                            </m:e>
                            <m:sup>
                              <m:r>
                                <a:rPr lang="en-US" altLang="zh-CN" i="1">
                                  <a:latin typeface="Cambria Math" panose="02040503050406030204" pitchFamily="18" charset="0"/>
                                  <a:cs typeface="Cambria Math" panose="02040503050406030204" pitchFamily="18" charset="0"/>
                                </a:rPr>
                                <m:t>2</m:t>
                              </m:r>
                            </m:sup>
                          </m:sSup>
                        </m:num>
                        <m:den>
                          <m:r>
                            <a:rPr lang="en-US" altLang="zh-CN" i="1">
                              <a:latin typeface="Cambria Math" panose="02040503050406030204" pitchFamily="18" charset="0"/>
                              <a:cs typeface="Cambria Math" panose="02040503050406030204" pitchFamily="18" charset="0"/>
                            </a:rPr>
                            <m:t>𝑅</m:t>
                          </m:r>
                        </m:den>
                      </m:f>
                      <m:r>
                        <a:rPr lang="en-US" altLang="zh-CN" sz="1800" i="1">
                          <a:latin typeface="Cambria Math" panose="02040503050406030204" pitchFamily="18" charset="0"/>
                          <a:cs typeface="Cambria Math" panose="02040503050406030204" pitchFamily="18" charset="0"/>
                        </a:rPr>
                        <m:t>)</m:t>
                      </m:r>
                    </m:oMath>
                  </m:oMathPara>
                </a14:m>
                <a:endParaRPr lang="en-US" altLang="zh-CN" sz="1800" i="1">
                  <a:latin typeface="Cambria Math" panose="02040503050406030204" pitchFamily="18" charset="0"/>
                  <a:cs typeface="Cambria Math" panose="02040503050406030204" pitchFamily="18" charset="0"/>
                </a:endParaRPr>
              </a:p>
              <a:p>
                <a:pPr indent="457200">
                  <a:lnSpc>
                    <a:spcPct val="50000"/>
                  </a:lnSpc>
                </a:pPr>
                <a:endParaRPr lang="zh-CN" altLang="en-US" sz="1800">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Cambria Math" panose="02040503050406030204" pitchFamily="18" charset="0"/>
                        </a:rPr>
                        <m:t>𝐹</m:t>
                      </m:r>
                      <m:r>
                        <a:rPr lang="en-US" altLang="zh-CN" sz="1800" i="1">
                          <a:latin typeface="Cambria Math" panose="02040503050406030204" pitchFamily="18" charset="0"/>
                          <a:cs typeface="Cambria Math" panose="02040503050406030204" pitchFamily="18" charset="0"/>
                        </a:rPr>
                        <m:t>𝛽</m:t>
                      </m:r>
                      <m:r>
                        <a:rPr lang="en-US" altLang="zh-CN" sz="1800" i="1">
                          <a:latin typeface="Cambria Math" panose="02040503050406030204" pitchFamily="18" charset="0"/>
                          <a:cs typeface="Cambria Math" panose="02040503050406030204" pitchFamily="18" charset="0"/>
                        </a:rPr>
                        <m:t>=</m:t>
                      </m:r>
                      <m:f>
                        <m:fPr>
                          <m:ctrlPr>
                            <a:rPr lang="en-US" altLang="zh-CN" sz="1800" i="1">
                              <a:latin typeface="Cambria Math" panose="02040503050406030204" pitchFamily="18" charset="0"/>
                              <a:cs typeface="Cambria Math" panose="02040503050406030204" pitchFamily="18" charset="0"/>
                            </a:rPr>
                          </m:ctrlPr>
                        </m:fPr>
                        <m:num>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1</m:t>
                          </m:r>
                          <m:r>
                            <a:rPr lang="en-US" altLang="zh-CN" sz="1800"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𝛽</m:t>
                              </m:r>
                            </m:e>
                            <m:sup>
                              <m:r>
                                <a:rPr lang="en-US" altLang="zh-CN" i="1">
                                  <a:latin typeface="Cambria Math" panose="02040503050406030204" pitchFamily="18" charset="0"/>
                                  <a:cs typeface="Cambria Math" panose="02040503050406030204" pitchFamily="18" charset="0"/>
                                </a:rPr>
                                <m:t>2</m:t>
                              </m:r>
                            </m:sup>
                          </m:sSup>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𝑃</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𝑅</m:t>
                          </m:r>
                        </m:num>
                        <m:den>
                          <m:r>
                            <a:rPr lang="en-US" altLang="zh-CN" sz="1800"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𝛽</m:t>
                              </m:r>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𝑅</m:t>
                          </m:r>
                        </m:den>
                      </m:f>
                    </m:oMath>
                  </m:oMathPara>
                </a14:m>
                <a:endParaRPr lang="zh-CN" altLang="en-US" sz="1800">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301625" y="1026160"/>
                <a:ext cx="11200765" cy="416750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544449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补充内容：模型评估与选择</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10515" y="1026160"/>
            <a:ext cx="11313160" cy="344233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偏差与方差</a:t>
            </a:r>
            <a:endParaRPr lang="zh-CN" altLang="en-US">
              <a:solidFill>
                <a:schemeClr val="accent1"/>
              </a:solidFill>
              <a:effectLst>
                <a:outerShdw blurRad="38100" dist="25400" dir="5400000" algn="ctr" rotWithShape="0">
                  <a:srgbClr val="6E747A">
                    <a:alpha val="43000"/>
                  </a:srgbClr>
                </a:outerShdw>
              </a:effectLst>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endParaRPr>
          </a:p>
          <a:p>
            <a:pPr indent="457200"/>
            <a:r>
              <a:rPr lang="zh-CN" altLang="en-US">
                <a:latin typeface="Cambria Math" panose="02040503050406030204" pitchFamily="18" charset="0"/>
                <a:cs typeface="Cambria Math" panose="02040503050406030204" pitchFamily="18" charset="0"/>
              </a:rPr>
              <a:t>对学习算法除了通过实验估计其</a:t>
            </a:r>
            <a:r>
              <a:rPr lang="zh-CN" altLang="en-US">
                <a:solidFill>
                  <a:schemeClr val="accent1"/>
                </a:solidFill>
                <a:effectLst>
                  <a:outerShdw blurRad="38100" dist="25400" dir="5400000" algn="ctr" rotWithShape="0">
                    <a:srgbClr val="6E747A">
                      <a:alpha val="43000"/>
                    </a:srgbClr>
                  </a:outerShdw>
                </a:effectLst>
              </a:rPr>
              <a:t>泛化性能</a:t>
            </a:r>
            <a:r>
              <a:rPr lang="zh-CN" altLang="en-US">
                <a:latin typeface="Cambria Math" panose="02040503050406030204" pitchFamily="18" charset="0"/>
                <a:cs typeface="Cambria Math" panose="02040503050406030204" pitchFamily="18" charset="0"/>
              </a:rPr>
              <a:t>，人们往往希望了解它为什么具有这样的性能。具体来说，泛化误差可分解为</a:t>
            </a:r>
            <a:r>
              <a:rPr lang="zh-CN" altLang="en-US">
                <a:solidFill>
                  <a:schemeClr val="accent1"/>
                </a:solidFill>
                <a:effectLst>
                  <a:outerShdw blurRad="38100" dist="25400" dir="5400000" algn="ctr" rotWithShape="0">
                    <a:srgbClr val="6E747A">
                      <a:alpha val="43000"/>
                    </a:srgbClr>
                  </a:outerShdw>
                </a:effectLst>
              </a:rPr>
              <a:t>偏差</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方差</a:t>
            </a:r>
            <a:r>
              <a:rPr lang="zh-CN" altLang="en-US">
                <a:latin typeface="Cambria Math" panose="02040503050406030204" pitchFamily="18" charset="0"/>
                <a:cs typeface="Cambria Math" panose="02040503050406030204" pitchFamily="18" charset="0"/>
              </a:rPr>
              <a:t>与</a:t>
            </a:r>
            <a:r>
              <a:rPr lang="zh-CN" altLang="en-US">
                <a:solidFill>
                  <a:schemeClr val="accent1"/>
                </a:solidFill>
                <a:effectLst>
                  <a:outerShdw blurRad="38100" dist="25400" dir="5400000" algn="ctr" rotWithShape="0">
                    <a:srgbClr val="6E747A">
                      <a:alpha val="43000"/>
                    </a:srgbClr>
                  </a:outerShdw>
                </a:effectLst>
              </a:rPr>
              <a:t>噪声</a:t>
            </a:r>
            <a:r>
              <a:rPr lang="zh-CN" altLang="en-US">
                <a:latin typeface="Cambria Math" panose="02040503050406030204" pitchFamily="18" charset="0"/>
                <a:cs typeface="Cambria Math" panose="02040503050406030204" pitchFamily="18" charset="0"/>
              </a:rPr>
              <a:t>之和：</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1"/>
                </a:solidFill>
                <a:effectLst>
                  <a:outerShdw blurRad="38100" dist="25400" dir="5400000" algn="ctr" rotWithShape="0">
                    <a:srgbClr val="6E747A">
                      <a:alpha val="43000"/>
                    </a:srgbClr>
                  </a:outerShdw>
                </a:effectLst>
              </a:rPr>
              <a:t>偏差</a:t>
            </a:r>
            <a:r>
              <a:rPr lang="zh-CN" altLang="en-US">
                <a:latin typeface="Cambria Math" panose="02040503050406030204" pitchFamily="18" charset="0"/>
                <a:cs typeface="Cambria Math" panose="02040503050406030204" pitchFamily="18" charset="0"/>
              </a:rPr>
              <a:t>：度量学习算法的期望预测与真实结果的偏离程度，即刻画了学习算法本身的拟合能力</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1"/>
                </a:solidFill>
                <a:effectLst>
                  <a:outerShdw blurRad="38100" dist="25400" dir="5400000" algn="ctr" rotWithShape="0">
                    <a:srgbClr val="6E747A">
                      <a:alpha val="43000"/>
                    </a:srgbClr>
                  </a:outerShdw>
                </a:effectLst>
              </a:rPr>
              <a:t>方差</a:t>
            </a:r>
            <a:r>
              <a:rPr lang="zh-CN" altLang="en-US">
                <a:latin typeface="Cambria Math" panose="02040503050406030204" pitchFamily="18" charset="0"/>
                <a:cs typeface="Cambria Math" panose="02040503050406030204" pitchFamily="18" charset="0"/>
              </a:rPr>
              <a:t>：度量了同样大小的训练集的变动所导致的学习性能的变化，即刻画了数据扰动所造成的影响</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1"/>
                </a:solidFill>
                <a:effectLst>
                  <a:outerShdw blurRad="38100" dist="25400" dir="5400000" algn="ctr" rotWithShape="0">
                    <a:srgbClr val="6E747A">
                      <a:alpha val="43000"/>
                    </a:srgbClr>
                  </a:outerShdw>
                </a:effectLst>
              </a:rPr>
              <a:t>噪声</a:t>
            </a:r>
            <a:r>
              <a:rPr lang="zh-CN" altLang="en-US">
                <a:latin typeface="Cambria Math" panose="02040503050406030204" pitchFamily="18" charset="0"/>
                <a:cs typeface="Cambria Math" panose="02040503050406030204" pitchFamily="18" charset="0"/>
              </a:rPr>
              <a:t>：表达在当前任务上任何学习算法所能达到的期望泛化误差的下界，即刻画了学习问题本身的难度</a:t>
            </a:r>
            <a:endParaRPr lang="zh-CN" altLang="en-US">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endParaRPr>
          </a:p>
          <a:p>
            <a:pPr marL="0" lvl="0" indent="457200">
              <a:buNone/>
            </a:pPr>
            <a:r>
              <a:rPr lang="zh-CN" altLang="en-US">
                <a:solidFill>
                  <a:schemeClr val="accent1"/>
                </a:solidFill>
                <a:effectLst>
                  <a:outerShdw blurRad="38100" dist="25400" dir="5400000" algn="ctr" rotWithShape="0">
                    <a:srgbClr val="6E747A">
                      <a:alpha val="43000"/>
                    </a:srgbClr>
                  </a:outerShdw>
                </a:effectLst>
              </a:rPr>
              <a:t>泛化性能</a:t>
            </a:r>
            <a:r>
              <a:rPr lang="zh-CN" altLang="en-US">
                <a:solidFill>
                  <a:schemeClr val="tx1"/>
                </a:solidFill>
                <a:latin typeface="Cambria Math" panose="02040503050406030204" pitchFamily="18" charset="0"/>
                <a:cs typeface="Cambria Math" panose="02040503050406030204" pitchFamily="18" charset="0"/>
              </a:rPr>
              <a:t>是由学习算法的能力、数据的充分性以及学习任务本身的难度所共同决定，给定学习任务，为了取得好的</a:t>
            </a:r>
            <a:r>
              <a:rPr lang="zh-CN" altLang="en-US">
                <a:solidFill>
                  <a:schemeClr val="accent1"/>
                </a:solidFill>
                <a:effectLst>
                  <a:outerShdw blurRad="38100" dist="25400" dir="5400000" algn="ctr" rotWithShape="0">
                    <a:srgbClr val="6E747A">
                      <a:alpha val="43000"/>
                    </a:srgbClr>
                  </a:outerShdw>
                </a:effectLst>
              </a:rPr>
              <a:t>泛化性能</a:t>
            </a:r>
            <a:r>
              <a:rPr lang="zh-CN" altLang="en-US">
                <a:solidFill>
                  <a:schemeClr val="tx1"/>
                </a:solidFill>
                <a:latin typeface="Cambria Math" panose="02040503050406030204" pitchFamily="18" charset="0"/>
                <a:cs typeface="Cambria Math" panose="02040503050406030204" pitchFamily="18" charset="0"/>
              </a:rPr>
              <a:t>需使</a:t>
            </a:r>
            <a:r>
              <a:rPr lang="zh-CN" altLang="en-US">
                <a:solidFill>
                  <a:schemeClr val="accent1"/>
                </a:solidFill>
                <a:effectLst>
                  <a:outerShdw blurRad="38100" dist="25400" dir="5400000" algn="ctr" rotWithShape="0">
                    <a:srgbClr val="6E747A">
                      <a:alpha val="43000"/>
                    </a:srgbClr>
                  </a:outerShdw>
                </a:effectLst>
              </a:rPr>
              <a:t>偏差</a:t>
            </a:r>
            <a:r>
              <a:rPr lang="zh-CN" altLang="en-US">
                <a:solidFill>
                  <a:schemeClr val="tx1"/>
                </a:solidFill>
                <a:latin typeface="Cambria Math" panose="02040503050406030204" pitchFamily="18" charset="0"/>
                <a:cs typeface="Cambria Math" panose="02040503050406030204" pitchFamily="18" charset="0"/>
              </a:rPr>
              <a:t>较小，即能充分拟合数据；还需使</a:t>
            </a:r>
            <a:r>
              <a:rPr lang="zh-CN" altLang="en-US">
                <a:solidFill>
                  <a:schemeClr val="accent1"/>
                </a:solidFill>
                <a:effectLst>
                  <a:outerShdw blurRad="38100" dist="25400" dir="5400000" algn="ctr" rotWithShape="0">
                    <a:srgbClr val="6E747A">
                      <a:alpha val="43000"/>
                    </a:srgbClr>
                  </a:outerShdw>
                </a:effectLst>
              </a:rPr>
              <a:t>方差</a:t>
            </a:r>
            <a:r>
              <a:rPr lang="zh-CN" altLang="en-US">
                <a:solidFill>
                  <a:schemeClr val="tx1"/>
                </a:solidFill>
                <a:latin typeface="Cambria Math" panose="02040503050406030204" pitchFamily="18" charset="0"/>
                <a:cs typeface="Cambria Math" panose="02040503050406030204" pitchFamily="18" charset="0"/>
              </a:rPr>
              <a:t>较小，即使数据扰动产生的影响较小</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accent1"/>
                </a:solidFill>
                <a:effectLst>
                  <a:outerShdw blurRad="38100" dist="25400" dir="5400000" algn="ctr" rotWithShape="0">
                    <a:srgbClr val="6E747A">
                      <a:alpha val="43000"/>
                    </a:srgbClr>
                  </a:outerShdw>
                </a:effectLst>
              </a:rPr>
              <a:t>偏差</a:t>
            </a:r>
            <a:r>
              <a:rPr lang="zh-CN" altLang="en-US">
                <a:solidFill>
                  <a:schemeClr val="tx1"/>
                </a:solidFill>
                <a:latin typeface="Cambria Math" panose="02040503050406030204" pitchFamily="18" charset="0"/>
                <a:cs typeface="Cambria Math" panose="02040503050406030204" pitchFamily="18" charset="0"/>
              </a:rPr>
              <a:t>与</a:t>
            </a:r>
            <a:r>
              <a:rPr lang="zh-CN" altLang="en-US">
                <a:solidFill>
                  <a:schemeClr val="accent1"/>
                </a:solidFill>
                <a:effectLst>
                  <a:outerShdw blurRad="38100" dist="25400" dir="5400000" algn="ctr" rotWithShape="0">
                    <a:srgbClr val="6E747A">
                      <a:alpha val="43000"/>
                    </a:srgbClr>
                  </a:outerShdw>
                </a:effectLst>
              </a:rPr>
              <a:t>方差</a:t>
            </a:r>
            <a:r>
              <a:rPr lang="zh-CN" altLang="en-US">
                <a:solidFill>
                  <a:schemeClr val="tx1"/>
                </a:solidFill>
                <a:latin typeface="Cambria Math" panose="02040503050406030204" pitchFamily="18" charset="0"/>
                <a:cs typeface="Cambria Math" panose="02040503050406030204" pitchFamily="18" charset="0"/>
              </a:rPr>
              <a:t>存在冲突，称之为</a:t>
            </a:r>
            <a:r>
              <a:rPr lang="zh-CN" altLang="en-US">
                <a:solidFill>
                  <a:schemeClr val="accent1"/>
                </a:solidFill>
                <a:effectLst>
                  <a:outerShdw blurRad="38100" dist="25400" dir="5400000" algn="ctr" rotWithShape="0">
                    <a:srgbClr val="6E747A">
                      <a:alpha val="43000"/>
                    </a:srgbClr>
                  </a:outerShdw>
                </a:effectLst>
              </a:rPr>
              <a:t>偏差-方差窘境</a:t>
            </a:r>
            <a:r>
              <a:rPr lang="zh-CN" altLang="en-US">
                <a:solidFill>
                  <a:schemeClr val="tx1"/>
                </a:solidFill>
                <a:latin typeface="Cambria Math" panose="02040503050406030204" pitchFamily="18" charset="0"/>
                <a:cs typeface="Cambria Math" panose="02040503050406030204" pitchFamily="18" charset="0"/>
              </a:rPr>
              <a:t>。给定学习任务，训练不足时，</a:t>
            </a:r>
            <a:r>
              <a:rPr lang="zh-CN" altLang="en-US">
                <a:solidFill>
                  <a:schemeClr val="accent1"/>
                </a:solidFill>
                <a:effectLst>
                  <a:outerShdw blurRad="38100" dist="25400" dir="5400000" algn="ctr" rotWithShape="0">
                    <a:srgbClr val="6E747A">
                      <a:alpha val="43000"/>
                    </a:srgbClr>
                  </a:outerShdw>
                </a:effectLst>
              </a:rPr>
              <a:t>偏差</a:t>
            </a:r>
            <a:r>
              <a:rPr lang="zh-CN" altLang="en-US">
                <a:solidFill>
                  <a:schemeClr val="tx1"/>
                </a:solidFill>
                <a:latin typeface="Cambria Math" panose="02040503050406030204" pitchFamily="18" charset="0"/>
                <a:cs typeface="Cambria Math" panose="02040503050406030204" pitchFamily="18" charset="0"/>
              </a:rPr>
              <a:t>较大</a:t>
            </a:r>
            <a:r>
              <a:rPr lang="zh-CN" altLang="en-US">
                <a:solidFill>
                  <a:schemeClr val="accent1"/>
                </a:solidFill>
                <a:effectLst>
                  <a:outerShdw blurRad="38100" dist="25400" dir="5400000" algn="ctr" rotWithShape="0">
                    <a:srgbClr val="6E747A">
                      <a:alpha val="43000"/>
                    </a:srgbClr>
                  </a:outerShdw>
                </a:effectLst>
              </a:rPr>
              <a:t>方差</a:t>
            </a:r>
            <a:r>
              <a:rPr lang="zh-CN" altLang="en-US">
                <a:solidFill>
                  <a:schemeClr val="tx1"/>
                </a:solidFill>
                <a:latin typeface="Cambria Math" panose="02040503050406030204" pitchFamily="18" charset="0"/>
                <a:cs typeface="Cambria Math" panose="02040503050406030204" pitchFamily="18" charset="0"/>
              </a:rPr>
              <a:t>较小</a:t>
            </a:r>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欠拟合</a:t>
            </a:r>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tx1"/>
                </a:solidFill>
                <a:latin typeface="Cambria Math" panose="02040503050406030204" pitchFamily="18" charset="0"/>
                <a:cs typeface="Cambria Math" panose="02040503050406030204" pitchFamily="18" charset="0"/>
              </a:rPr>
              <a:t>；训练过多时，</a:t>
            </a:r>
            <a:r>
              <a:rPr lang="zh-CN" altLang="en-US">
                <a:solidFill>
                  <a:schemeClr val="accent1"/>
                </a:solidFill>
                <a:effectLst>
                  <a:outerShdw blurRad="38100" dist="25400" dir="5400000" algn="ctr" rotWithShape="0">
                    <a:srgbClr val="6E747A">
                      <a:alpha val="43000"/>
                    </a:srgbClr>
                  </a:outerShdw>
                </a:effectLst>
              </a:rPr>
              <a:t>方差</a:t>
            </a:r>
            <a:r>
              <a:rPr lang="zh-CN" altLang="en-US">
                <a:solidFill>
                  <a:schemeClr val="tx1"/>
                </a:solidFill>
                <a:latin typeface="Cambria Math" panose="02040503050406030204" pitchFamily="18" charset="0"/>
                <a:cs typeface="Cambria Math" panose="02040503050406030204" pitchFamily="18" charset="0"/>
              </a:rPr>
              <a:t>较大</a:t>
            </a:r>
            <a:r>
              <a:rPr lang="zh-CN" altLang="en-US">
                <a:solidFill>
                  <a:schemeClr val="accent1"/>
                </a:solidFill>
                <a:effectLst>
                  <a:outerShdw blurRad="38100" dist="25400" dir="5400000" algn="ctr" rotWithShape="0">
                    <a:srgbClr val="6E747A">
                      <a:alpha val="43000"/>
                    </a:srgbClr>
                  </a:outerShdw>
                </a:effectLst>
              </a:rPr>
              <a:t>偏差</a:t>
            </a:r>
            <a:r>
              <a:rPr lang="zh-CN" altLang="en-US">
                <a:solidFill>
                  <a:schemeClr val="tx1"/>
                </a:solidFill>
                <a:latin typeface="Cambria Math" panose="02040503050406030204" pitchFamily="18" charset="0"/>
                <a:cs typeface="Cambria Math" panose="02040503050406030204" pitchFamily="18" charset="0"/>
              </a:rPr>
              <a:t>较小</a:t>
            </a:r>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过拟合</a:t>
            </a:r>
            <a:r>
              <a:rPr lang="en-US" altLang="zh-CN">
                <a:solidFill>
                  <a:schemeClr val="tx1"/>
                </a:solidFill>
                <a:latin typeface="Cambria Math" panose="02040503050406030204" pitchFamily="18" charset="0"/>
                <a:cs typeface="Cambria Math" panose="02040503050406030204" pitchFamily="18" charset="0"/>
              </a:rPr>
              <a:t>)</a:t>
            </a:r>
            <a:r>
              <a:rPr lang="zh-CN" altLang="en-US">
                <a:solidFill>
                  <a:schemeClr val="tx1"/>
                </a:solidFill>
                <a:latin typeface="Cambria Math" panose="02040503050406030204" pitchFamily="18" charset="0"/>
                <a:cs typeface="Cambria Math" panose="02040503050406030204" pitchFamily="18" charset="0"/>
              </a:rPr>
              <a:t>：</a:t>
            </a:r>
            <a:endParaRPr lang="zh-CN" altLang="en-US">
              <a:solidFill>
                <a:schemeClr val="tx1"/>
              </a:solidFill>
              <a:latin typeface="Cambria Math" panose="02040503050406030204" pitchFamily="18" charset="0"/>
              <a:cs typeface="Cambria Math" panose="02040503050406030204" pitchFamily="18" charset="0"/>
            </a:endParaRPr>
          </a:p>
        </p:txBody>
      </p:sp>
      <p:pic>
        <p:nvPicPr>
          <p:cNvPr id="6" name="图片 5" descr="方差偏差窘境"/>
          <p:cNvPicPr>
            <a:picLocks noChangeAspect="1"/>
          </p:cNvPicPr>
          <p:nvPr/>
        </p:nvPicPr>
        <p:blipFill>
          <a:blip r:embed="rId1"/>
          <a:stretch>
            <a:fillRect/>
          </a:stretch>
        </p:blipFill>
        <p:spPr>
          <a:xfrm>
            <a:off x="4864735" y="4287520"/>
            <a:ext cx="3362960" cy="2447925"/>
          </a:xfrm>
          <a:prstGeom prst="rect">
            <a:avLst/>
          </a:prstGeom>
        </p:spPr>
      </p:pic>
      <p:cxnSp>
        <p:nvCxnSpPr>
          <p:cNvPr id="7" name="直接连接符 6"/>
          <p:cNvCxnSpPr/>
          <p:nvPr/>
        </p:nvCxnSpPr>
        <p:spPr>
          <a:xfrm>
            <a:off x="6108065" y="4239260"/>
            <a:ext cx="0" cy="2546350"/>
          </a:xfrm>
          <a:prstGeom prst="line">
            <a:avLst/>
          </a:prstGeom>
          <a:ln w="19050">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330825" y="4287520"/>
            <a:ext cx="727710" cy="306705"/>
          </a:xfrm>
          <a:prstGeom prst="rect">
            <a:avLst/>
          </a:prstGeom>
          <a:noFill/>
        </p:spPr>
        <p:txBody>
          <a:bodyPr wrap="square" rtlCol="0">
            <a:spAutoFit/>
            <a:scene3d>
              <a:camera prst="orthographicFront"/>
              <a:lightRig rig="threePt" dir="t"/>
            </a:scene3d>
          </a:bodyPr>
          <a:p>
            <a:r>
              <a:rPr lang="zh-CN" altLang="en-US" sz="1400">
                <a:solidFill>
                  <a:schemeClr val="accent1"/>
                </a:solidFill>
                <a:effectLst>
                  <a:outerShdw blurRad="38100" dist="25400" dir="5400000" algn="ctr" rotWithShape="0">
                    <a:srgbClr val="6E747A">
                      <a:alpha val="43000"/>
                    </a:srgbClr>
                  </a:outerShdw>
                </a:effectLst>
              </a:rPr>
              <a:t>欠拟合</a:t>
            </a:r>
            <a:endParaRPr lang="zh-CN" altLang="en-US" sz="1400">
              <a:solidFill>
                <a:schemeClr val="accent1"/>
              </a:solidFill>
              <a:effectLst>
                <a:outerShdw blurRad="38100" dist="25400" dir="5400000" algn="ctr" rotWithShape="0">
                  <a:srgbClr val="6E747A">
                    <a:alpha val="43000"/>
                  </a:srgbClr>
                </a:outerShdw>
              </a:effectLst>
            </a:endParaRPr>
          </a:p>
        </p:txBody>
      </p:sp>
      <p:sp>
        <p:nvSpPr>
          <p:cNvPr id="9" name="文本框 8"/>
          <p:cNvSpPr txBox="1"/>
          <p:nvPr>
            <p:custDataLst>
              <p:tags r:id="rId2"/>
            </p:custDataLst>
          </p:nvPr>
        </p:nvSpPr>
        <p:spPr>
          <a:xfrm>
            <a:off x="7553960" y="4287520"/>
            <a:ext cx="727710" cy="306705"/>
          </a:xfrm>
          <a:prstGeom prst="rect">
            <a:avLst/>
          </a:prstGeom>
          <a:noFill/>
        </p:spPr>
        <p:txBody>
          <a:bodyPr wrap="square" rtlCol="0">
            <a:spAutoFit/>
            <a:scene3d>
              <a:camera prst="orthographicFront"/>
              <a:lightRig rig="threePt" dir="t"/>
            </a:scene3d>
          </a:bodyPr>
          <a:p>
            <a:r>
              <a:rPr lang="zh-CN" altLang="en-US" sz="1400">
                <a:solidFill>
                  <a:schemeClr val="accent1"/>
                </a:solidFill>
                <a:effectLst>
                  <a:outerShdw blurRad="38100" dist="25400" dir="5400000" algn="ctr" rotWithShape="0">
                    <a:srgbClr val="6E747A">
                      <a:alpha val="43000"/>
                    </a:srgbClr>
                  </a:outerShdw>
                </a:effectLst>
              </a:rPr>
              <a:t>过拟合</a:t>
            </a:r>
            <a:endParaRPr lang="zh-CN" altLang="en-US" sz="140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 name="KSO_WM_UNIT_PLACING_PICTURE_USER_VIEWPORT" val="{&quot;height&quot;:5105,&quot;width&quot;:5245}"/>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 name="KSO_WM_UNIT_PLACING_PICTURE_USER_VIEWPORT" val="{&quot;height&quot;:5105,&quot;width&quot;:5245}"/>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UNIT_PLACING_PICTURE_USER_VIEWPORT" val="{&quot;height&quot;:4620,&quot;width&quot;:12000}"/>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PP_MARK_KEY" val="ce225390-6514-4faa-84f2-e89cbf6ee03a"/>
  <p:tag name="COMMONDATA" val="eyJoZGlkIjoiNWRiN2EzOTIwNTFkMWRjYjlhM2M2MjEwMTAzOTAyMTAifQ=="/>
  <p:tag name="commondata" val="eyJoZGlkIjoiNGZlOTEyN2FjOTYyM2RkZDFhMzc2OGZlNDc3OTZmY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17284</Words>
  <Application>WPS 演示</Application>
  <PresentationFormat>宽屏</PresentationFormat>
  <Paragraphs>840</Paragraphs>
  <Slides>57</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57</vt:i4>
      </vt:variant>
    </vt:vector>
  </HeadingPairs>
  <TitlesOfParts>
    <vt:vector size="69" baseType="lpstr">
      <vt:lpstr>Arial</vt:lpstr>
      <vt:lpstr>宋体</vt:lpstr>
      <vt:lpstr>Wingdings</vt:lpstr>
      <vt:lpstr>黑体</vt:lpstr>
      <vt:lpstr>Times New Roman</vt:lpstr>
      <vt:lpstr>微软雅黑</vt:lpstr>
      <vt:lpstr>华文琥珀</vt:lpstr>
      <vt:lpstr>Cambria Math</vt:lpstr>
      <vt:lpstr>微软雅黑 Light</vt:lpstr>
      <vt:lpstr>Arial Unicode MS</vt:lpstr>
      <vt:lpstr>Calibri</vt:lpstr>
      <vt:lpstr>Office 主题</vt:lpstr>
      <vt:lpstr>PowerPoint 演示文稿</vt:lpstr>
      <vt:lpstr>本课程内容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周意尧</cp:lastModifiedBy>
  <cp:revision>343</cp:revision>
  <dcterms:created xsi:type="dcterms:W3CDTF">2022-04-13T13:21:00Z</dcterms:created>
  <dcterms:modified xsi:type="dcterms:W3CDTF">2025-01-08T08:26:21Z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